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2" d="100"/>
          <a:sy n="82" d="100"/>
        </p:scale>
        <p:origin x="691"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 present the verified August position using positive, phase-aware language.</a:t>
            </a:r>
          </a:p>
          <a:p>
            <a:endParaRPr/>
          </a:p>
          <a:p>
            <a:r>
              <a:t>[Sources]</a:t>
            </a:r>
          </a:p>
          <a:p>
            <a:r>
              <a:t>- Learner-Tracker-Investec-Aug-2026 (1).html — statuses, learner observations and attendance matrix as at 13 August 2026</a:t>
            </a:r>
          </a:p>
          <a:p>
            <a:r>
              <a:t>- Attendance Register INVESTEC.pdf — signed registers supporting the earlier contact-session record</a:t>
            </a:r>
          </a:p>
          <a:p>
            <a:r>
              <a:t>- Learnership-Progress-Report-Investec-Aug-2026.pdf — earlier delivery, assessment and learner-progress position</a:t>
            </a:r>
          </a:p>
          <a:p>
            <a:r>
              <a:t>- Register28August2026 Investec.pdf — 12 of 12 learners attended US 114051 training on 28 August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2: present the verified August position using positive, phase-aware language.</a:t>
            </a:r>
          </a:p>
          <a:p>
            <a:endParaRPr/>
          </a:p>
          <a:p>
            <a:r>
              <a:t>[Sources]</a:t>
            </a:r>
          </a:p>
          <a:p>
            <a:r>
              <a:t>- Learner-Tracker-Investec-Aug-2026 (1).html — statuses, learner observations and attendance matrix as at 13 August 2026</a:t>
            </a:r>
          </a:p>
          <a:p>
            <a:r>
              <a:t>- Attendance Register INVESTEC.pdf — signed registers supporting the earlier contact-session record</a:t>
            </a:r>
          </a:p>
          <a:p>
            <a:r>
              <a:t>- Learnership-Progress-Report-Investec-Aug-2026.pdf — earlier delivery, assessment and learner-progress position</a:t>
            </a:r>
          </a:p>
          <a:p>
            <a:r>
              <a:t>- Register28August2026 Investec.pdf — 12 of 12 learners attended US 114051 training on 28 August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3: present the verified August position using positive, phase-aware language.</a:t>
            </a:r>
          </a:p>
          <a:p>
            <a:endParaRPr/>
          </a:p>
          <a:p>
            <a:r>
              <a:t>[Sources]</a:t>
            </a:r>
          </a:p>
          <a:p>
            <a:r>
              <a:t>- Learner-Tracker-Investec-Aug-2026 (1).html — statuses, learner observations and attendance matrix as at 13 August 2026</a:t>
            </a:r>
          </a:p>
          <a:p>
            <a:r>
              <a:t>- Attendance Register INVESTEC.pdf — signed registers supporting the earlier contact-session record</a:t>
            </a:r>
          </a:p>
          <a:p>
            <a:r>
              <a:t>- Learnership-Progress-Report-Investec-Aug-2026.pdf — earlier delivery, assessment and learner-progress position</a:t>
            </a:r>
          </a:p>
          <a:p>
            <a:r>
              <a:t>- Register28August2026 Investec.pdf — 12 of 12 learners attended US 114051 training on 28 August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4: present the verified August position using positive, phase-aware language.</a:t>
            </a:r>
          </a:p>
          <a:p>
            <a:endParaRPr/>
          </a:p>
          <a:p>
            <a:r>
              <a:t>[Sources]</a:t>
            </a:r>
          </a:p>
          <a:p>
            <a:r>
              <a:t>- Learner-Tracker-Investec-Aug-2026 (1).html — statuses, learner observations and attendance matrix as at 13 August 2026</a:t>
            </a:r>
          </a:p>
          <a:p>
            <a:r>
              <a:t>- Attendance Register INVESTEC.pdf — signed registers supporting the earlier contact-session record</a:t>
            </a:r>
          </a:p>
          <a:p>
            <a:r>
              <a:t>- Learnership-Progress-Report-Investec-Aug-2026.pdf — earlier delivery, assessment and learner-progress position</a:t>
            </a:r>
          </a:p>
          <a:p>
            <a:r>
              <a:t>- Register28August2026 Investec.pdf — 12 of 12 learners attended US 114051 training on 28 August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5: present the verified August position using positive, phase-aware language.</a:t>
            </a:r>
          </a:p>
          <a:p>
            <a:endParaRPr/>
          </a:p>
          <a:p>
            <a:r>
              <a:t>[Sources]</a:t>
            </a:r>
          </a:p>
          <a:p>
            <a:r>
              <a:t>- Learner-Tracker-Investec-Aug-2026 (1).html — statuses, learner observations and attendance matrix as at 13 August 2026</a:t>
            </a:r>
          </a:p>
          <a:p>
            <a:r>
              <a:t>- Attendance Register INVESTEC.pdf — signed registers supporting the earlier contact-session record</a:t>
            </a:r>
          </a:p>
          <a:p>
            <a:r>
              <a:t>- Learnership-Progress-Report-Investec-Aug-2026.pdf — earlier delivery, assessment and learner-progress position</a:t>
            </a:r>
          </a:p>
          <a:p>
            <a:r>
              <a:t>- Register28August2026 Investec.pdf — 12 of 12 learners attended US 114051 training on 28 August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6: present the verified August position using positive, phase-aware language.</a:t>
            </a:r>
          </a:p>
          <a:p>
            <a:endParaRPr/>
          </a:p>
          <a:p>
            <a:r>
              <a:t>[Sources]</a:t>
            </a:r>
          </a:p>
          <a:p>
            <a:r>
              <a:t>- Learner-Tracker-Investec-Aug-2026 (1).html — statuses, learner observations and attendance matrix as at 13 August 2026</a:t>
            </a:r>
          </a:p>
          <a:p>
            <a:r>
              <a:t>- Attendance Register INVESTEC.pdf — signed registers supporting the earlier contact-session record</a:t>
            </a:r>
          </a:p>
          <a:p>
            <a:r>
              <a:t>- Learnership-Progress-Report-Investec-Aug-2026.pdf — earlier delivery, assessment and learner-progress position</a:t>
            </a:r>
          </a:p>
          <a:p>
            <a:r>
              <a:t>- Register28August2026 Investec.pdf — 12 of 12 learners attended US 114051 training on 28 August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7: present the verified August position using positive, phase-aware language.</a:t>
            </a:r>
          </a:p>
          <a:p>
            <a:endParaRPr/>
          </a:p>
          <a:p>
            <a:r>
              <a:t>[Sources]</a:t>
            </a:r>
          </a:p>
          <a:p>
            <a:r>
              <a:t>- Learner-Tracker-Investec-Aug-2026 (1).html — statuses, learner observations and attendance matrix as at 13 August 2026</a:t>
            </a:r>
          </a:p>
          <a:p>
            <a:r>
              <a:t>- Attendance Register INVESTEC.pdf — signed registers supporting the earlier contact-session record</a:t>
            </a:r>
          </a:p>
          <a:p>
            <a:r>
              <a:t>- Learnership-Progress-Report-Investec-Aug-2026.pdf — earlier delivery, assessment and learner-progress position</a:t>
            </a:r>
          </a:p>
          <a:p>
            <a:r>
              <a:t>- Register28August2026 Investec.pdf — 12 of 12 learners attended US 114051 training on 28 August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8: present the verified August position using positive, phase-aware language.</a:t>
            </a:r>
          </a:p>
          <a:p>
            <a:endParaRPr/>
          </a:p>
          <a:p>
            <a:r>
              <a:t>[Sources]</a:t>
            </a:r>
          </a:p>
          <a:p>
            <a:r>
              <a:t>- Learner-Tracker-Investec-Aug-2026 (1).html — statuses, learner observations and attendance matrix as at 13 August 2026</a:t>
            </a:r>
          </a:p>
          <a:p>
            <a:r>
              <a:t>- Attendance Register INVESTEC.pdf — signed registers supporting the earlier contact-session record</a:t>
            </a:r>
          </a:p>
          <a:p>
            <a:r>
              <a:t>- Learnership-Progress-Report-Investec-Aug-2026.pdf — earlier delivery, assessment and learner-progress position</a:t>
            </a:r>
          </a:p>
          <a:p>
            <a:r>
              <a:t>- Register28August2026 Investec.pdf — 12 of 12 learners attended US 114051 training on 28 August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8" name="Rectangle 37">
            <a:extLst>
              <a:ext uri="{FF2B5EF4-FFF2-40B4-BE49-F238E27FC236}">
                <a16:creationId xmlns:a16="http://schemas.microsoft.com/office/drawing/2014/main" id="{D00F8460-151C-43F6-89F6-00055EF06237}"/>
              </a:ext>
            </a:extLst>
          </p:cNvPr>
          <p:cNvSpPr>
            <a:spLocks noGrp="1"/>
          </p:cNvSpPr>
          <p:nvPr/>
        </p:nvSpPr>
        <p:spPr>
          <a:xfrm>
            <a:off x="0" y="0"/>
            <a:ext cx="12192000" cy="209550"/>
          </a:xfrm>
          <a:prstGeom prst="rect">
            <a:avLst/>
          </a:prstGeom>
          <a:solidFill>
            <a:srgbClr val="F0872B"/>
          </a:solidFill>
          <a:ln w="9525">
            <a:solidFill>
              <a:srgbClr val="F0872B"/>
            </a:solidFill>
            <a:prstDash val="solid"/>
          </a:ln>
        </p:spPr>
      </p:sp>
      <p:sp>
        <p:nvSpPr>
          <p:cNvPr id="2" name="Rectangle 1">
            <a:extLst>
              <a:ext uri="{FF2B5EF4-FFF2-40B4-BE49-F238E27FC236}">
                <a16:creationId xmlns:a16="http://schemas.microsoft.com/office/drawing/2014/main" id="{AC221D18-6278-4DD1-B965-29D3F1DE2A9B}"/>
              </a:ext>
            </a:extLst>
          </p:cNvPr>
          <p:cNvSpPr>
            <a:spLocks noGrp="1"/>
          </p:cNvSpPr>
          <p:nvPr/>
        </p:nvSpPr>
        <p:spPr>
          <a:xfrm>
            <a:off x="0" y="209550"/>
            <a:ext cx="12192000" cy="76200"/>
          </a:xfrm>
          <a:prstGeom prst="rect">
            <a:avLst/>
          </a:prstGeom>
          <a:solidFill>
            <a:srgbClr val="2E9B7A"/>
          </a:solidFill>
          <a:ln w="9525">
            <a:solidFill>
              <a:srgbClr val="2E9B7A"/>
            </a:solidFill>
            <a:prstDash val="solid"/>
          </a:ln>
        </p:spPr>
      </p:sp>
      <p:pic>
        <p:nvPicPr>
          <p:cNvPr id="42" name="Picture 41"/>
          <p:cNvPicPr>
            <a:picLocks noChangeAspect="1"/>
          </p:cNvPicPr>
          <p:nvPr/>
        </p:nvPicPr>
        <p:blipFill>
          <a:blip r:embed="rId3"/>
          <a:stretch/>
        </p:blipFill>
        <p:spPr>
          <a:xfrm>
            <a:off x="666750" y="529475"/>
            <a:ext cx="3143250" cy="1188951"/>
          </a:xfrm>
          <a:prstGeom prst="rect">
            <a:avLst/>
          </a:prstGeom>
        </p:spPr>
      </p:pic>
      <p:sp>
        <p:nvSpPr>
          <p:cNvPr id="4" name="Rectangle 3">
            <a:extLst>
              <a:ext uri="{FF2B5EF4-FFF2-40B4-BE49-F238E27FC236}">
                <a16:creationId xmlns:a16="http://schemas.microsoft.com/office/drawing/2014/main" id="{3059A125-542B-456C-841E-B8A145E9A398}"/>
              </a:ext>
            </a:extLst>
          </p:cNvPr>
          <p:cNvSpPr>
            <a:spLocks noGrp="1"/>
          </p:cNvSpPr>
          <p:nvPr/>
        </p:nvSpPr>
        <p:spPr>
          <a:xfrm>
            <a:off x="685800" y="1924050"/>
            <a:ext cx="7429500" cy="285750"/>
          </a:xfrm>
          <a:prstGeom prst="rect">
            <a:avLst/>
          </a:prstGeom>
          <a:noFill/>
          <a:ln w="0">
            <a:noFill/>
            <a:prstDash val="solid"/>
          </a:ln>
        </p:spPr>
        <p:txBody>
          <a:bodyPr anchor="ctr"/>
          <a:lstStyle/>
          <a:p>
            <a:pPr algn="l">
              <a:buNone/>
              <a:defRPr sz="1350" b="1">
                <a:solidFill>
                  <a:srgbClr val="2E9B7A"/>
                </a:solidFill>
              </a:defRPr>
            </a:pPr>
            <a:r>
              <a:rPr sz="1350" b="1">
                <a:solidFill>
                  <a:srgbClr val="2E9B7A"/>
                </a:solidFill>
              </a:rPr>
              <a:t>INVESTEC</a:t>
            </a:r>
          </a:p>
        </p:txBody>
      </p:sp>
      <p:sp>
        <p:nvSpPr>
          <p:cNvPr id="5" name="Rectangle 4">
            <a:extLst>
              <a:ext uri="{FF2B5EF4-FFF2-40B4-BE49-F238E27FC236}">
                <a16:creationId xmlns:a16="http://schemas.microsoft.com/office/drawing/2014/main" id="{A86293CA-2C5A-43FD-94C8-4FB451708B17}"/>
              </a:ext>
            </a:extLst>
          </p:cNvPr>
          <p:cNvSpPr>
            <a:spLocks noGrp="1"/>
          </p:cNvSpPr>
          <p:nvPr/>
        </p:nvSpPr>
        <p:spPr>
          <a:xfrm>
            <a:off x="685800" y="2305050"/>
            <a:ext cx="10001250" cy="685800"/>
          </a:xfrm>
          <a:prstGeom prst="rect">
            <a:avLst/>
          </a:prstGeom>
          <a:noFill/>
          <a:ln w="0">
            <a:noFill/>
            <a:prstDash val="solid"/>
          </a:ln>
        </p:spPr>
        <p:txBody>
          <a:bodyPr anchor="ctr"/>
          <a:lstStyle/>
          <a:p>
            <a:pPr algn="l">
              <a:buNone/>
              <a:defRPr sz="3450" b="1">
                <a:solidFill>
                  <a:srgbClr val="171717"/>
                </a:solidFill>
              </a:defRPr>
            </a:pPr>
            <a:r>
              <a:rPr sz="3450" b="1">
                <a:solidFill>
                  <a:srgbClr val="171717"/>
                </a:solidFill>
              </a:rPr>
              <a:t>August Learnership Progress Report</a:t>
            </a:r>
          </a:p>
        </p:txBody>
      </p:sp>
      <p:sp>
        <p:nvSpPr>
          <p:cNvPr id="6" name="Rectangle 5">
            <a:extLst>
              <a:ext uri="{FF2B5EF4-FFF2-40B4-BE49-F238E27FC236}">
                <a16:creationId xmlns:a16="http://schemas.microsoft.com/office/drawing/2014/main" id="{1BAE45FF-3C7C-4B68-979A-817AFE6EF65B}"/>
              </a:ext>
            </a:extLst>
          </p:cNvPr>
          <p:cNvSpPr>
            <a:spLocks noGrp="1"/>
          </p:cNvSpPr>
          <p:nvPr/>
        </p:nvSpPr>
        <p:spPr>
          <a:xfrm>
            <a:off x="685800" y="3076575"/>
            <a:ext cx="10287000" cy="323850"/>
          </a:xfrm>
          <a:prstGeom prst="rect">
            <a:avLst/>
          </a:prstGeom>
          <a:noFill/>
          <a:ln w="0">
            <a:noFill/>
            <a:prstDash val="solid"/>
          </a:ln>
        </p:spPr>
        <p:txBody>
          <a:bodyPr anchor="ctr"/>
          <a:lstStyle/>
          <a:p>
            <a:pPr algn="l">
              <a:buNone/>
              <a:defRPr sz="1425" b="0">
                <a:solidFill>
                  <a:srgbClr val="62676B"/>
                </a:solidFill>
              </a:defRPr>
            </a:pPr>
            <a:r>
              <a:rPr sz="1425" b="0">
                <a:solidFill>
                  <a:srgbClr val="62676B"/>
                </a:solidFill>
              </a:rPr>
              <a:t>National Certificate: Information Technology - Systems Support • August 2026</a:t>
            </a:r>
          </a:p>
        </p:txBody>
      </p:sp>
      <p:sp>
        <p:nvSpPr>
          <p:cNvPr id="7" name="Rectangle 6">
            <a:extLst>
              <a:ext uri="{FF2B5EF4-FFF2-40B4-BE49-F238E27FC236}">
                <a16:creationId xmlns:a16="http://schemas.microsoft.com/office/drawing/2014/main" id="{3B997778-FD4E-410C-9CDE-E96C85E96DC8}"/>
              </a:ext>
            </a:extLst>
          </p:cNvPr>
          <p:cNvSpPr>
            <a:spLocks noGrp="1"/>
          </p:cNvSpPr>
          <p:nvPr/>
        </p:nvSpPr>
        <p:spPr>
          <a:xfrm>
            <a:off x="685800" y="3743325"/>
            <a:ext cx="2476500" cy="361950"/>
          </a:xfrm>
          <a:prstGeom prst="rect">
            <a:avLst/>
          </a:prstGeom>
          <a:solidFill>
            <a:srgbClr val="2E9B7A"/>
          </a:solidFill>
          <a:ln w="9525">
            <a:solidFill>
              <a:srgbClr val="363636"/>
            </a:solidFill>
            <a:prstDash val="solid"/>
          </a:ln>
        </p:spPr>
      </p:sp>
      <p:sp>
        <p:nvSpPr>
          <p:cNvPr id="8" name="Rectangle 7">
            <a:extLst>
              <a:ext uri="{FF2B5EF4-FFF2-40B4-BE49-F238E27FC236}">
                <a16:creationId xmlns:a16="http://schemas.microsoft.com/office/drawing/2014/main" id="{CC2E777D-344A-4C19-9F05-EA81FF54D83C}"/>
              </a:ext>
            </a:extLst>
          </p:cNvPr>
          <p:cNvSpPr>
            <a:spLocks noGrp="1"/>
          </p:cNvSpPr>
          <p:nvPr/>
        </p:nvSpPr>
        <p:spPr>
          <a:xfrm>
            <a:off x="3162300" y="3743325"/>
            <a:ext cx="5429250" cy="361950"/>
          </a:xfrm>
          <a:prstGeom prst="rect">
            <a:avLst/>
          </a:prstGeom>
          <a:solidFill>
            <a:srgbClr val="FFFFFF"/>
          </a:solidFill>
          <a:ln w="9525">
            <a:solidFill>
              <a:srgbClr val="363636"/>
            </a:solidFill>
            <a:prstDash val="solid"/>
          </a:ln>
        </p:spPr>
      </p:sp>
      <p:sp>
        <p:nvSpPr>
          <p:cNvPr id="9" name="Rectangle 8">
            <a:extLst>
              <a:ext uri="{FF2B5EF4-FFF2-40B4-BE49-F238E27FC236}">
                <a16:creationId xmlns:a16="http://schemas.microsoft.com/office/drawing/2014/main" id="{01C943B1-58B3-474D-99A6-5F856420CB31}"/>
              </a:ext>
            </a:extLst>
          </p:cNvPr>
          <p:cNvSpPr>
            <a:spLocks noGrp="1"/>
          </p:cNvSpPr>
          <p:nvPr/>
        </p:nvSpPr>
        <p:spPr>
          <a:xfrm>
            <a:off x="838200" y="3752850"/>
            <a:ext cx="2171700" cy="342900"/>
          </a:xfrm>
          <a:prstGeom prst="rect">
            <a:avLst/>
          </a:prstGeom>
          <a:noFill/>
          <a:ln w="0">
            <a:noFill/>
            <a:prstDash val="solid"/>
          </a:ln>
        </p:spPr>
        <p:txBody>
          <a:bodyPr anchor="ctr"/>
          <a:lstStyle/>
          <a:p>
            <a:pPr algn="l">
              <a:buNone/>
              <a:defRPr sz="1050" b="1">
                <a:solidFill>
                  <a:srgbClr val="FFFFFF"/>
                </a:solidFill>
              </a:defRPr>
            </a:pPr>
            <a:r>
              <a:rPr sz="1050" b="1">
                <a:solidFill>
                  <a:srgbClr val="FFFFFF"/>
                </a:solidFill>
              </a:rPr>
              <a:t>SAQA ID</a:t>
            </a:r>
          </a:p>
        </p:txBody>
      </p:sp>
      <p:sp>
        <p:nvSpPr>
          <p:cNvPr id="10" name="Rectangle 9">
            <a:extLst>
              <a:ext uri="{FF2B5EF4-FFF2-40B4-BE49-F238E27FC236}">
                <a16:creationId xmlns:a16="http://schemas.microsoft.com/office/drawing/2014/main" id="{FF6FDA56-0985-498F-B826-984093CB2D27}"/>
              </a:ext>
            </a:extLst>
          </p:cNvPr>
          <p:cNvSpPr>
            <a:spLocks noGrp="1"/>
          </p:cNvSpPr>
          <p:nvPr/>
        </p:nvSpPr>
        <p:spPr>
          <a:xfrm>
            <a:off x="3314700" y="3752850"/>
            <a:ext cx="5124450" cy="342900"/>
          </a:xfrm>
          <a:prstGeom prst="rect">
            <a:avLst/>
          </a:prstGeom>
          <a:noFill/>
          <a:ln w="0">
            <a:noFill/>
            <a:prstDash val="solid"/>
          </a:ln>
        </p:spPr>
        <p:txBody>
          <a:bodyPr anchor="ctr"/>
          <a:lstStyle/>
          <a:p>
            <a:pPr algn="l">
              <a:buNone/>
              <a:defRPr sz="1050" b="0">
                <a:solidFill>
                  <a:srgbClr val="171717"/>
                </a:solidFill>
              </a:defRPr>
            </a:pPr>
            <a:r>
              <a:rPr sz="1050" b="0">
                <a:solidFill>
                  <a:srgbClr val="171717"/>
                </a:solidFill>
              </a:rPr>
              <a:t>48573</a:t>
            </a:r>
          </a:p>
        </p:txBody>
      </p:sp>
      <p:sp>
        <p:nvSpPr>
          <p:cNvPr id="11" name="Rectangle 10">
            <a:extLst>
              <a:ext uri="{FF2B5EF4-FFF2-40B4-BE49-F238E27FC236}">
                <a16:creationId xmlns:a16="http://schemas.microsoft.com/office/drawing/2014/main" id="{DE87B61E-6D6B-4EAA-B5CF-93DA60A4A220}"/>
              </a:ext>
            </a:extLst>
          </p:cNvPr>
          <p:cNvSpPr>
            <a:spLocks noGrp="1"/>
          </p:cNvSpPr>
          <p:nvPr/>
        </p:nvSpPr>
        <p:spPr>
          <a:xfrm>
            <a:off x="685800" y="4105275"/>
            <a:ext cx="2476500" cy="361950"/>
          </a:xfrm>
          <a:prstGeom prst="rect">
            <a:avLst/>
          </a:prstGeom>
          <a:solidFill>
            <a:srgbClr val="2E9B7A"/>
          </a:solidFill>
          <a:ln w="9525">
            <a:solidFill>
              <a:srgbClr val="363636"/>
            </a:solidFill>
            <a:prstDash val="solid"/>
          </a:ln>
        </p:spPr>
      </p:sp>
      <p:sp>
        <p:nvSpPr>
          <p:cNvPr id="12" name="Rectangle 11">
            <a:extLst>
              <a:ext uri="{FF2B5EF4-FFF2-40B4-BE49-F238E27FC236}">
                <a16:creationId xmlns:a16="http://schemas.microsoft.com/office/drawing/2014/main" id="{FA252929-422B-45AB-BE69-D1CCF492537F}"/>
              </a:ext>
            </a:extLst>
          </p:cNvPr>
          <p:cNvSpPr>
            <a:spLocks noGrp="1"/>
          </p:cNvSpPr>
          <p:nvPr/>
        </p:nvSpPr>
        <p:spPr>
          <a:xfrm>
            <a:off x="3162300" y="4105275"/>
            <a:ext cx="5429250" cy="361950"/>
          </a:xfrm>
          <a:prstGeom prst="rect">
            <a:avLst/>
          </a:prstGeom>
          <a:solidFill>
            <a:srgbClr val="FFFFFF"/>
          </a:solidFill>
          <a:ln w="9525">
            <a:solidFill>
              <a:srgbClr val="363636"/>
            </a:solidFill>
            <a:prstDash val="solid"/>
          </a:ln>
        </p:spPr>
      </p:sp>
      <p:sp>
        <p:nvSpPr>
          <p:cNvPr id="13" name="Rectangle 12">
            <a:extLst>
              <a:ext uri="{FF2B5EF4-FFF2-40B4-BE49-F238E27FC236}">
                <a16:creationId xmlns:a16="http://schemas.microsoft.com/office/drawing/2014/main" id="{2F82824C-AE51-402E-B4A9-380421E61DF5}"/>
              </a:ext>
            </a:extLst>
          </p:cNvPr>
          <p:cNvSpPr>
            <a:spLocks noGrp="1"/>
          </p:cNvSpPr>
          <p:nvPr/>
        </p:nvSpPr>
        <p:spPr>
          <a:xfrm>
            <a:off x="838200" y="4114800"/>
            <a:ext cx="2171700" cy="342900"/>
          </a:xfrm>
          <a:prstGeom prst="rect">
            <a:avLst/>
          </a:prstGeom>
          <a:noFill/>
          <a:ln w="0">
            <a:noFill/>
            <a:prstDash val="solid"/>
          </a:ln>
        </p:spPr>
        <p:txBody>
          <a:bodyPr anchor="ctr"/>
          <a:lstStyle/>
          <a:p>
            <a:pPr algn="l">
              <a:buNone/>
              <a:defRPr sz="1050" b="1">
                <a:solidFill>
                  <a:srgbClr val="FFFFFF"/>
                </a:solidFill>
              </a:defRPr>
            </a:pPr>
            <a:r>
              <a:rPr sz="1050" b="1">
                <a:solidFill>
                  <a:srgbClr val="FFFFFF"/>
                </a:solidFill>
              </a:rPr>
              <a:t>Sponsor</a:t>
            </a:r>
          </a:p>
        </p:txBody>
      </p:sp>
      <p:sp>
        <p:nvSpPr>
          <p:cNvPr id="14" name="Rectangle 13">
            <a:extLst>
              <a:ext uri="{FF2B5EF4-FFF2-40B4-BE49-F238E27FC236}">
                <a16:creationId xmlns:a16="http://schemas.microsoft.com/office/drawing/2014/main" id="{5D88719F-08FB-401F-9F32-3F0DF0FB82A8}"/>
              </a:ext>
            </a:extLst>
          </p:cNvPr>
          <p:cNvSpPr>
            <a:spLocks noGrp="1"/>
          </p:cNvSpPr>
          <p:nvPr/>
        </p:nvSpPr>
        <p:spPr>
          <a:xfrm>
            <a:off x="3314700" y="4114800"/>
            <a:ext cx="5124450" cy="342900"/>
          </a:xfrm>
          <a:prstGeom prst="rect">
            <a:avLst/>
          </a:prstGeom>
          <a:noFill/>
          <a:ln w="0">
            <a:noFill/>
            <a:prstDash val="solid"/>
          </a:ln>
        </p:spPr>
        <p:txBody>
          <a:bodyPr anchor="ctr"/>
          <a:lstStyle/>
          <a:p>
            <a:pPr algn="l">
              <a:buNone/>
              <a:defRPr sz="1050" b="0">
                <a:solidFill>
                  <a:srgbClr val="171717"/>
                </a:solidFill>
              </a:defRPr>
            </a:pPr>
            <a:r>
              <a:rPr sz="1050" b="0">
                <a:solidFill>
                  <a:srgbClr val="171717"/>
                </a:solidFill>
              </a:rPr>
              <a:t>Investec Group</a:t>
            </a:r>
          </a:p>
        </p:txBody>
      </p:sp>
      <p:sp>
        <p:nvSpPr>
          <p:cNvPr id="15" name="Rectangle 14">
            <a:extLst>
              <a:ext uri="{FF2B5EF4-FFF2-40B4-BE49-F238E27FC236}">
                <a16:creationId xmlns:a16="http://schemas.microsoft.com/office/drawing/2014/main" id="{7344B637-5AEB-4B71-ABBB-EB113566C28D}"/>
              </a:ext>
            </a:extLst>
          </p:cNvPr>
          <p:cNvSpPr>
            <a:spLocks noGrp="1"/>
          </p:cNvSpPr>
          <p:nvPr/>
        </p:nvSpPr>
        <p:spPr>
          <a:xfrm>
            <a:off x="685800" y="4467225"/>
            <a:ext cx="2476500" cy="361950"/>
          </a:xfrm>
          <a:prstGeom prst="rect">
            <a:avLst/>
          </a:prstGeom>
          <a:solidFill>
            <a:srgbClr val="2E9B7A"/>
          </a:solidFill>
          <a:ln w="9525">
            <a:solidFill>
              <a:srgbClr val="363636"/>
            </a:solidFill>
            <a:prstDash val="solid"/>
          </a:ln>
        </p:spPr>
      </p:sp>
      <p:sp>
        <p:nvSpPr>
          <p:cNvPr id="16" name="Rectangle 15">
            <a:extLst>
              <a:ext uri="{FF2B5EF4-FFF2-40B4-BE49-F238E27FC236}">
                <a16:creationId xmlns:a16="http://schemas.microsoft.com/office/drawing/2014/main" id="{D679159E-E56F-43FE-BADF-1D45759257AE}"/>
              </a:ext>
            </a:extLst>
          </p:cNvPr>
          <p:cNvSpPr>
            <a:spLocks noGrp="1"/>
          </p:cNvSpPr>
          <p:nvPr/>
        </p:nvSpPr>
        <p:spPr>
          <a:xfrm>
            <a:off x="3162300" y="4467225"/>
            <a:ext cx="5429250" cy="361950"/>
          </a:xfrm>
          <a:prstGeom prst="rect">
            <a:avLst/>
          </a:prstGeom>
          <a:solidFill>
            <a:srgbClr val="FFFFFF"/>
          </a:solidFill>
          <a:ln w="9525">
            <a:solidFill>
              <a:srgbClr val="363636"/>
            </a:solidFill>
            <a:prstDash val="solid"/>
          </a:ln>
        </p:spPr>
      </p:sp>
      <p:sp>
        <p:nvSpPr>
          <p:cNvPr id="17" name="Rectangle 16">
            <a:extLst>
              <a:ext uri="{FF2B5EF4-FFF2-40B4-BE49-F238E27FC236}">
                <a16:creationId xmlns:a16="http://schemas.microsoft.com/office/drawing/2014/main" id="{68ABFE9B-0164-4AF5-BB9C-E896AE5D8530}"/>
              </a:ext>
            </a:extLst>
          </p:cNvPr>
          <p:cNvSpPr>
            <a:spLocks noGrp="1"/>
          </p:cNvSpPr>
          <p:nvPr/>
        </p:nvSpPr>
        <p:spPr>
          <a:xfrm>
            <a:off x="838200" y="4476750"/>
            <a:ext cx="2171700" cy="342900"/>
          </a:xfrm>
          <a:prstGeom prst="rect">
            <a:avLst/>
          </a:prstGeom>
          <a:noFill/>
          <a:ln w="0">
            <a:noFill/>
            <a:prstDash val="solid"/>
          </a:ln>
        </p:spPr>
        <p:txBody>
          <a:bodyPr anchor="ctr"/>
          <a:lstStyle/>
          <a:p>
            <a:pPr algn="l">
              <a:buNone/>
              <a:defRPr sz="1050" b="1">
                <a:solidFill>
                  <a:srgbClr val="FFFFFF"/>
                </a:solidFill>
              </a:defRPr>
            </a:pPr>
            <a:r>
              <a:rPr sz="1050" b="1">
                <a:solidFill>
                  <a:srgbClr val="FFFFFF"/>
                </a:solidFill>
              </a:rPr>
              <a:t>NQF level</a:t>
            </a:r>
          </a:p>
        </p:txBody>
      </p:sp>
      <p:sp>
        <p:nvSpPr>
          <p:cNvPr id="18" name="Rectangle 17">
            <a:extLst>
              <a:ext uri="{FF2B5EF4-FFF2-40B4-BE49-F238E27FC236}">
                <a16:creationId xmlns:a16="http://schemas.microsoft.com/office/drawing/2014/main" id="{5ADE35E5-FBB9-49F7-BB0D-BD76FC942514}"/>
              </a:ext>
            </a:extLst>
          </p:cNvPr>
          <p:cNvSpPr>
            <a:spLocks noGrp="1"/>
          </p:cNvSpPr>
          <p:nvPr/>
        </p:nvSpPr>
        <p:spPr>
          <a:xfrm>
            <a:off x="3314700" y="4476750"/>
            <a:ext cx="5124450" cy="342900"/>
          </a:xfrm>
          <a:prstGeom prst="rect">
            <a:avLst/>
          </a:prstGeom>
          <a:noFill/>
          <a:ln w="0">
            <a:noFill/>
            <a:prstDash val="solid"/>
          </a:ln>
        </p:spPr>
        <p:txBody>
          <a:bodyPr anchor="ctr"/>
          <a:lstStyle/>
          <a:p>
            <a:pPr algn="l">
              <a:buNone/>
              <a:defRPr sz="1050" b="0">
                <a:solidFill>
                  <a:srgbClr val="171717"/>
                </a:solidFill>
              </a:defRPr>
            </a:pPr>
            <a:r>
              <a:rPr sz="1050" b="0">
                <a:solidFill>
                  <a:srgbClr val="171717"/>
                </a:solidFill>
              </a:rPr>
              <a:t>Level 5 • 148 credits</a:t>
            </a:r>
          </a:p>
        </p:txBody>
      </p:sp>
      <p:sp>
        <p:nvSpPr>
          <p:cNvPr id="19" name="Rectangle 18">
            <a:extLst>
              <a:ext uri="{FF2B5EF4-FFF2-40B4-BE49-F238E27FC236}">
                <a16:creationId xmlns:a16="http://schemas.microsoft.com/office/drawing/2014/main" id="{F9824E41-0A4A-43CA-B94E-BFF9883447F6}"/>
              </a:ext>
            </a:extLst>
          </p:cNvPr>
          <p:cNvSpPr>
            <a:spLocks noGrp="1"/>
          </p:cNvSpPr>
          <p:nvPr/>
        </p:nvSpPr>
        <p:spPr>
          <a:xfrm>
            <a:off x="685800" y="4829175"/>
            <a:ext cx="2476500" cy="361950"/>
          </a:xfrm>
          <a:prstGeom prst="rect">
            <a:avLst/>
          </a:prstGeom>
          <a:solidFill>
            <a:srgbClr val="2E9B7A"/>
          </a:solidFill>
          <a:ln w="9525">
            <a:solidFill>
              <a:srgbClr val="363636"/>
            </a:solidFill>
            <a:prstDash val="solid"/>
          </a:ln>
        </p:spPr>
      </p:sp>
      <p:sp>
        <p:nvSpPr>
          <p:cNvPr id="20" name="Rectangle 19">
            <a:extLst>
              <a:ext uri="{FF2B5EF4-FFF2-40B4-BE49-F238E27FC236}">
                <a16:creationId xmlns:a16="http://schemas.microsoft.com/office/drawing/2014/main" id="{0977C306-B856-4F72-BC6A-1C1CF7895CF3}"/>
              </a:ext>
            </a:extLst>
          </p:cNvPr>
          <p:cNvSpPr>
            <a:spLocks noGrp="1"/>
          </p:cNvSpPr>
          <p:nvPr/>
        </p:nvSpPr>
        <p:spPr>
          <a:xfrm>
            <a:off x="3162300" y="4829175"/>
            <a:ext cx="5429250" cy="361950"/>
          </a:xfrm>
          <a:prstGeom prst="rect">
            <a:avLst/>
          </a:prstGeom>
          <a:solidFill>
            <a:srgbClr val="FFFFFF"/>
          </a:solidFill>
          <a:ln w="9525">
            <a:solidFill>
              <a:srgbClr val="363636"/>
            </a:solidFill>
            <a:prstDash val="solid"/>
          </a:ln>
        </p:spPr>
      </p:sp>
      <p:sp>
        <p:nvSpPr>
          <p:cNvPr id="21" name="Rectangle 20">
            <a:extLst>
              <a:ext uri="{FF2B5EF4-FFF2-40B4-BE49-F238E27FC236}">
                <a16:creationId xmlns:a16="http://schemas.microsoft.com/office/drawing/2014/main" id="{E28F9B28-F47D-4021-A9FE-D17B5BCA8EDF}"/>
              </a:ext>
            </a:extLst>
          </p:cNvPr>
          <p:cNvSpPr>
            <a:spLocks noGrp="1"/>
          </p:cNvSpPr>
          <p:nvPr/>
        </p:nvSpPr>
        <p:spPr>
          <a:xfrm>
            <a:off x="838200" y="4838700"/>
            <a:ext cx="2171700" cy="342900"/>
          </a:xfrm>
          <a:prstGeom prst="rect">
            <a:avLst/>
          </a:prstGeom>
          <a:noFill/>
          <a:ln w="0">
            <a:noFill/>
            <a:prstDash val="solid"/>
          </a:ln>
        </p:spPr>
        <p:txBody>
          <a:bodyPr anchor="ctr"/>
          <a:lstStyle/>
          <a:p>
            <a:pPr algn="l">
              <a:buNone/>
              <a:defRPr sz="1050" b="1">
                <a:solidFill>
                  <a:srgbClr val="FFFFFF"/>
                </a:solidFill>
              </a:defRPr>
            </a:pPr>
            <a:r>
              <a:rPr sz="1050" b="1">
                <a:solidFill>
                  <a:srgbClr val="FFFFFF"/>
                </a:solidFill>
              </a:rPr>
              <a:t>Reporting period</a:t>
            </a:r>
          </a:p>
        </p:txBody>
      </p:sp>
      <p:sp>
        <p:nvSpPr>
          <p:cNvPr id="22" name="Rectangle 21">
            <a:extLst>
              <a:ext uri="{FF2B5EF4-FFF2-40B4-BE49-F238E27FC236}">
                <a16:creationId xmlns:a16="http://schemas.microsoft.com/office/drawing/2014/main" id="{8FBF5DF6-EDF4-4D3A-BB11-AB7EBDBFBFE1}"/>
              </a:ext>
            </a:extLst>
          </p:cNvPr>
          <p:cNvSpPr>
            <a:spLocks noGrp="1"/>
          </p:cNvSpPr>
          <p:nvPr/>
        </p:nvSpPr>
        <p:spPr>
          <a:xfrm>
            <a:off x="3314700" y="4838700"/>
            <a:ext cx="5124450" cy="342900"/>
          </a:xfrm>
          <a:prstGeom prst="rect">
            <a:avLst/>
          </a:prstGeom>
          <a:noFill/>
          <a:ln w="0">
            <a:noFill/>
            <a:prstDash val="solid"/>
          </a:ln>
        </p:spPr>
        <p:txBody>
          <a:bodyPr anchor="ctr"/>
          <a:lstStyle/>
          <a:p>
            <a:pPr algn="l">
              <a:buNone/>
              <a:defRPr sz="1050" b="0">
                <a:solidFill>
                  <a:srgbClr val="171717"/>
                </a:solidFill>
              </a:defRPr>
            </a:pPr>
            <a:r>
              <a:rPr sz="1050" b="0">
                <a:solidFill>
                  <a:srgbClr val="171717"/>
                </a:solidFill>
              </a:rPr>
              <a:t>1–31 August 2026</a:t>
            </a:r>
          </a:p>
        </p:txBody>
      </p:sp>
      <p:sp>
        <p:nvSpPr>
          <p:cNvPr id="23" name="Rectangle 22">
            <a:extLst>
              <a:ext uri="{FF2B5EF4-FFF2-40B4-BE49-F238E27FC236}">
                <a16:creationId xmlns:a16="http://schemas.microsoft.com/office/drawing/2014/main" id="{3704FAE6-188B-49EA-BC9C-28FDCE6489C8}"/>
              </a:ext>
            </a:extLst>
          </p:cNvPr>
          <p:cNvSpPr>
            <a:spLocks noGrp="1"/>
          </p:cNvSpPr>
          <p:nvPr/>
        </p:nvSpPr>
        <p:spPr>
          <a:xfrm>
            <a:off x="685800" y="5191125"/>
            <a:ext cx="2476500" cy="361950"/>
          </a:xfrm>
          <a:prstGeom prst="rect">
            <a:avLst/>
          </a:prstGeom>
          <a:solidFill>
            <a:srgbClr val="2E9B7A"/>
          </a:solidFill>
          <a:ln w="9525">
            <a:solidFill>
              <a:srgbClr val="363636"/>
            </a:solidFill>
            <a:prstDash val="solid"/>
          </a:ln>
        </p:spPr>
      </p:sp>
      <p:sp>
        <p:nvSpPr>
          <p:cNvPr id="24" name="Rectangle 23">
            <a:extLst>
              <a:ext uri="{FF2B5EF4-FFF2-40B4-BE49-F238E27FC236}">
                <a16:creationId xmlns:a16="http://schemas.microsoft.com/office/drawing/2014/main" id="{94C2FC36-BC0D-4E1A-BBFC-A90D638F7A49}"/>
              </a:ext>
            </a:extLst>
          </p:cNvPr>
          <p:cNvSpPr>
            <a:spLocks noGrp="1"/>
          </p:cNvSpPr>
          <p:nvPr/>
        </p:nvSpPr>
        <p:spPr>
          <a:xfrm>
            <a:off x="3162300" y="5191125"/>
            <a:ext cx="5429250" cy="361950"/>
          </a:xfrm>
          <a:prstGeom prst="rect">
            <a:avLst/>
          </a:prstGeom>
          <a:solidFill>
            <a:srgbClr val="FFFFFF"/>
          </a:solidFill>
          <a:ln w="9525">
            <a:solidFill>
              <a:srgbClr val="363636"/>
            </a:solidFill>
            <a:prstDash val="solid"/>
          </a:ln>
        </p:spPr>
      </p:sp>
      <p:sp>
        <p:nvSpPr>
          <p:cNvPr id="25" name="Rectangle 24">
            <a:extLst>
              <a:ext uri="{FF2B5EF4-FFF2-40B4-BE49-F238E27FC236}">
                <a16:creationId xmlns:a16="http://schemas.microsoft.com/office/drawing/2014/main" id="{6E875CEA-BFFD-4B63-81C6-A25E7D39AA06}"/>
              </a:ext>
            </a:extLst>
          </p:cNvPr>
          <p:cNvSpPr>
            <a:spLocks noGrp="1"/>
          </p:cNvSpPr>
          <p:nvPr/>
        </p:nvSpPr>
        <p:spPr>
          <a:xfrm>
            <a:off x="838200" y="5200650"/>
            <a:ext cx="2171700" cy="342900"/>
          </a:xfrm>
          <a:prstGeom prst="rect">
            <a:avLst/>
          </a:prstGeom>
          <a:noFill/>
          <a:ln w="0">
            <a:noFill/>
            <a:prstDash val="solid"/>
          </a:ln>
        </p:spPr>
        <p:txBody>
          <a:bodyPr anchor="ctr"/>
          <a:lstStyle/>
          <a:p>
            <a:pPr algn="l">
              <a:buNone/>
              <a:defRPr sz="1050" b="1">
                <a:solidFill>
                  <a:srgbClr val="FFFFFF"/>
                </a:solidFill>
              </a:defRPr>
            </a:pPr>
            <a:r>
              <a:rPr sz="1050" b="1">
                <a:solidFill>
                  <a:srgbClr val="FFFFFF"/>
                </a:solidFill>
              </a:rPr>
              <a:t>Facilitator</a:t>
            </a:r>
          </a:p>
        </p:txBody>
      </p:sp>
      <p:sp>
        <p:nvSpPr>
          <p:cNvPr id="26" name="Rectangle 25">
            <a:extLst>
              <a:ext uri="{FF2B5EF4-FFF2-40B4-BE49-F238E27FC236}">
                <a16:creationId xmlns:a16="http://schemas.microsoft.com/office/drawing/2014/main" id="{DC6B7E42-20A9-415F-A3FB-66255FDCC0AA}"/>
              </a:ext>
            </a:extLst>
          </p:cNvPr>
          <p:cNvSpPr>
            <a:spLocks noGrp="1"/>
          </p:cNvSpPr>
          <p:nvPr/>
        </p:nvSpPr>
        <p:spPr>
          <a:xfrm>
            <a:off x="3314700" y="5200650"/>
            <a:ext cx="5124450" cy="342900"/>
          </a:xfrm>
          <a:prstGeom prst="rect">
            <a:avLst/>
          </a:prstGeom>
          <a:noFill/>
          <a:ln w="0">
            <a:noFill/>
            <a:prstDash val="solid"/>
          </a:ln>
        </p:spPr>
        <p:txBody>
          <a:bodyPr anchor="ctr"/>
          <a:lstStyle/>
          <a:p>
            <a:pPr algn="l">
              <a:buNone/>
              <a:defRPr sz="1050" b="0">
                <a:solidFill>
                  <a:srgbClr val="171717"/>
                </a:solidFill>
              </a:defRPr>
            </a:pPr>
            <a:r>
              <a:rPr sz="1050" b="0">
                <a:solidFill>
                  <a:srgbClr val="171717"/>
                </a:solidFill>
              </a:rPr>
              <a:t>Andre Snell</a:t>
            </a:r>
          </a:p>
        </p:txBody>
      </p:sp>
      <p:sp>
        <p:nvSpPr>
          <p:cNvPr id="27" name="Rectangle 26">
            <a:extLst>
              <a:ext uri="{FF2B5EF4-FFF2-40B4-BE49-F238E27FC236}">
                <a16:creationId xmlns:a16="http://schemas.microsoft.com/office/drawing/2014/main" id="{21305ECC-DF93-4073-8EF1-2C4CD23F4163}"/>
              </a:ext>
            </a:extLst>
          </p:cNvPr>
          <p:cNvSpPr>
            <a:spLocks noGrp="1"/>
          </p:cNvSpPr>
          <p:nvPr/>
        </p:nvSpPr>
        <p:spPr>
          <a:xfrm>
            <a:off x="685800" y="5553075"/>
            <a:ext cx="2476500" cy="361950"/>
          </a:xfrm>
          <a:prstGeom prst="rect">
            <a:avLst/>
          </a:prstGeom>
          <a:solidFill>
            <a:srgbClr val="2E9B7A"/>
          </a:solidFill>
          <a:ln w="9525">
            <a:solidFill>
              <a:srgbClr val="363636"/>
            </a:solidFill>
            <a:prstDash val="solid"/>
          </a:ln>
        </p:spPr>
      </p:sp>
      <p:sp>
        <p:nvSpPr>
          <p:cNvPr id="28" name="Rectangle 27">
            <a:extLst>
              <a:ext uri="{FF2B5EF4-FFF2-40B4-BE49-F238E27FC236}">
                <a16:creationId xmlns:a16="http://schemas.microsoft.com/office/drawing/2014/main" id="{2C70FDF5-2D39-4B5C-BA12-2E4396241B17}"/>
              </a:ext>
            </a:extLst>
          </p:cNvPr>
          <p:cNvSpPr>
            <a:spLocks noGrp="1"/>
          </p:cNvSpPr>
          <p:nvPr/>
        </p:nvSpPr>
        <p:spPr>
          <a:xfrm>
            <a:off x="3162300" y="5553075"/>
            <a:ext cx="5429250" cy="361950"/>
          </a:xfrm>
          <a:prstGeom prst="rect">
            <a:avLst/>
          </a:prstGeom>
          <a:solidFill>
            <a:srgbClr val="FFFFFF"/>
          </a:solidFill>
          <a:ln w="9525">
            <a:solidFill>
              <a:srgbClr val="363636"/>
            </a:solidFill>
            <a:prstDash val="solid"/>
          </a:ln>
        </p:spPr>
      </p:sp>
      <p:sp>
        <p:nvSpPr>
          <p:cNvPr id="29" name="Rectangle 28">
            <a:extLst>
              <a:ext uri="{FF2B5EF4-FFF2-40B4-BE49-F238E27FC236}">
                <a16:creationId xmlns:a16="http://schemas.microsoft.com/office/drawing/2014/main" id="{405160D9-C63A-43D4-80FB-C2BCB655EBBD}"/>
              </a:ext>
            </a:extLst>
          </p:cNvPr>
          <p:cNvSpPr>
            <a:spLocks noGrp="1"/>
          </p:cNvSpPr>
          <p:nvPr/>
        </p:nvSpPr>
        <p:spPr>
          <a:xfrm>
            <a:off x="838200" y="5562600"/>
            <a:ext cx="2171700" cy="342900"/>
          </a:xfrm>
          <a:prstGeom prst="rect">
            <a:avLst/>
          </a:prstGeom>
          <a:noFill/>
          <a:ln w="0">
            <a:noFill/>
            <a:prstDash val="solid"/>
          </a:ln>
        </p:spPr>
        <p:txBody>
          <a:bodyPr anchor="ctr"/>
          <a:lstStyle/>
          <a:p>
            <a:pPr algn="l">
              <a:buNone/>
              <a:defRPr sz="1050" b="1">
                <a:solidFill>
                  <a:srgbClr val="FFFFFF"/>
                </a:solidFill>
              </a:defRPr>
            </a:pPr>
            <a:r>
              <a:rPr sz="1050" b="1">
                <a:solidFill>
                  <a:srgbClr val="FFFFFF"/>
                </a:solidFill>
              </a:rPr>
              <a:t>Cohort</a:t>
            </a:r>
          </a:p>
        </p:txBody>
      </p:sp>
      <p:sp>
        <p:nvSpPr>
          <p:cNvPr id="30" name="Rectangle 29">
            <a:extLst>
              <a:ext uri="{FF2B5EF4-FFF2-40B4-BE49-F238E27FC236}">
                <a16:creationId xmlns:a16="http://schemas.microsoft.com/office/drawing/2014/main" id="{792362F3-957B-44FF-894E-2F5669E2EA6B}"/>
              </a:ext>
            </a:extLst>
          </p:cNvPr>
          <p:cNvSpPr>
            <a:spLocks noGrp="1"/>
          </p:cNvSpPr>
          <p:nvPr/>
        </p:nvSpPr>
        <p:spPr>
          <a:xfrm>
            <a:off x="3314700" y="5562600"/>
            <a:ext cx="5124450" cy="342900"/>
          </a:xfrm>
          <a:prstGeom prst="rect">
            <a:avLst/>
          </a:prstGeom>
          <a:noFill/>
          <a:ln w="0">
            <a:noFill/>
            <a:prstDash val="solid"/>
          </a:ln>
        </p:spPr>
        <p:txBody>
          <a:bodyPr anchor="ctr"/>
          <a:lstStyle/>
          <a:p>
            <a:pPr algn="l">
              <a:buNone/>
              <a:defRPr sz="1050" b="0">
                <a:solidFill>
                  <a:srgbClr val="171717"/>
                </a:solidFill>
              </a:defRPr>
            </a:pPr>
            <a:r>
              <a:rPr sz="1050" b="0">
                <a:solidFill>
                  <a:srgbClr val="171717"/>
                </a:solidFill>
              </a:rPr>
              <a:t>12 learners</a:t>
            </a:r>
          </a:p>
        </p:txBody>
      </p:sp>
      <p:sp>
        <p:nvSpPr>
          <p:cNvPr id="31" name="Rectangle: Rounded Corners 30">
            <a:extLst>
              <a:ext uri="{FF2B5EF4-FFF2-40B4-BE49-F238E27FC236}">
                <a16:creationId xmlns:a16="http://schemas.microsoft.com/office/drawing/2014/main" id="{CE7F8DD2-0739-4C8E-953D-1F24852D2C11}"/>
              </a:ext>
            </a:extLst>
          </p:cNvPr>
          <p:cNvSpPr>
            <a:spLocks noGrp="1"/>
          </p:cNvSpPr>
          <p:nvPr/>
        </p:nvSpPr>
        <p:spPr>
          <a:xfrm>
            <a:off x="9029700" y="3743325"/>
            <a:ext cx="2476500" cy="2171700"/>
          </a:xfrm>
          <a:prstGeom prst="roundRect">
            <a:avLst>
              <a:gd name="adj" fmla="val 3509"/>
            </a:avLst>
          </a:prstGeom>
          <a:solidFill>
            <a:srgbClr val="F7F5F1"/>
          </a:solidFill>
          <a:ln w="0">
            <a:noFill/>
            <a:prstDash val="solid"/>
          </a:ln>
        </p:spPr>
      </p:sp>
      <p:sp>
        <p:nvSpPr>
          <p:cNvPr id="32" name="Rectangle 31">
            <a:extLst>
              <a:ext uri="{FF2B5EF4-FFF2-40B4-BE49-F238E27FC236}">
                <a16:creationId xmlns:a16="http://schemas.microsoft.com/office/drawing/2014/main" id="{24D2AF71-3EF9-4014-91C7-CF382B2CA0AC}"/>
              </a:ext>
            </a:extLst>
          </p:cNvPr>
          <p:cNvSpPr>
            <a:spLocks noGrp="1"/>
          </p:cNvSpPr>
          <p:nvPr/>
        </p:nvSpPr>
        <p:spPr>
          <a:xfrm>
            <a:off x="9277350" y="3981450"/>
            <a:ext cx="2000250" cy="209550"/>
          </a:xfrm>
          <a:prstGeom prst="rect">
            <a:avLst/>
          </a:prstGeom>
          <a:noFill/>
          <a:ln w="0">
            <a:noFill/>
            <a:prstDash val="solid"/>
          </a:ln>
        </p:spPr>
        <p:txBody>
          <a:bodyPr anchor="ctr"/>
          <a:lstStyle/>
          <a:p>
            <a:pPr algn="l">
              <a:buNone/>
              <a:defRPr sz="975" b="1">
                <a:solidFill>
                  <a:srgbClr val="F0872B"/>
                </a:solidFill>
              </a:defRPr>
            </a:pPr>
            <a:r>
              <a:rPr sz="975" b="1">
                <a:solidFill>
                  <a:srgbClr val="F0872B"/>
                </a:solidFill>
              </a:rPr>
              <a:t>HR MANAGEMENT VIEW</a:t>
            </a:r>
          </a:p>
        </p:txBody>
      </p:sp>
      <p:sp>
        <p:nvSpPr>
          <p:cNvPr id="33" name="Rectangle 32">
            <a:extLst>
              <a:ext uri="{FF2B5EF4-FFF2-40B4-BE49-F238E27FC236}">
                <a16:creationId xmlns:a16="http://schemas.microsoft.com/office/drawing/2014/main" id="{974DF4C1-FE42-4888-AE22-ACDF59239392}"/>
              </a:ext>
            </a:extLst>
          </p:cNvPr>
          <p:cNvSpPr>
            <a:spLocks noGrp="1"/>
          </p:cNvSpPr>
          <p:nvPr/>
        </p:nvSpPr>
        <p:spPr>
          <a:xfrm>
            <a:off x="9277350" y="4333875"/>
            <a:ext cx="1952625" cy="685800"/>
          </a:xfrm>
          <a:prstGeom prst="rect">
            <a:avLst/>
          </a:prstGeom>
          <a:noFill/>
          <a:ln w="0">
            <a:noFill/>
            <a:prstDash val="solid"/>
          </a:ln>
        </p:spPr>
        <p:txBody>
          <a:bodyPr anchor="t"/>
          <a:lstStyle/>
          <a:p>
            <a:pPr algn="l">
              <a:buNone/>
              <a:defRPr sz="1350" b="1">
                <a:solidFill>
                  <a:srgbClr val="171717"/>
                </a:solidFill>
              </a:defRPr>
            </a:pPr>
            <a:r>
              <a:rPr sz="1350" b="1">
                <a:solidFill>
                  <a:srgbClr val="171717"/>
                </a:solidFill>
              </a:rPr>
              <a:t>Attendance, delivery, assessment progress and learner engagement</a:t>
            </a:r>
          </a:p>
        </p:txBody>
      </p:sp>
      <p:sp>
        <p:nvSpPr>
          <p:cNvPr id="34" name="Rectangle 33">
            <a:extLst>
              <a:ext uri="{FF2B5EF4-FFF2-40B4-BE49-F238E27FC236}">
                <a16:creationId xmlns:a16="http://schemas.microsoft.com/office/drawing/2014/main" id="{F2419A7E-E717-41F2-BB98-9F0295CC3B31}"/>
              </a:ext>
            </a:extLst>
          </p:cNvPr>
          <p:cNvSpPr>
            <a:spLocks noGrp="1"/>
          </p:cNvSpPr>
          <p:nvPr/>
        </p:nvSpPr>
        <p:spPr>
          <a:xfrm>
            <a:off x="9277350" y="5162550"/>
            <a:ext cx="1952625" cy="590550"/>
          </a:xfrm>
          <a:prstGeom prst="rect">
            <a:avLst/>
          </a:prstGeom>
          <a:noFill/>
          <a:ln w="0">
            <a:noFill/>
            <a:prstDash val="solid"/>
          </a:ln>
        </p:spPr>
        <p:txBody>
          <a:bodyPr anchor="t"/>
          <a:lstStyle/>
          <a:p>
            <a:pPr algn="l">
              <a:buNone/>
              <a:defRPr sz="938" b="0">
                <a:solidFill>
                  <a:srgbClr val="62676B"/>
                </a:solidFill>
              </a:defRPr>
            </a:pPr>
            <a:r>
              <a:rPr sz="938" b="0">
                <a:solidFill>
                  <a:srgbClr val="62676B"/>
                </a:solidFill>
              </a:rPr>
              <a:t>A clear view of achievement, current activity and the focused support that will sustain momentum.</a:t>
            </a:r>
          </a:p>
        </p:txBody>
      </p:sp>
      <p:sp>
        <p:nvSpPr>
          <p:cNvPr id="35" name="Rectangle 34">
            <a:extLst>
              <a:ext uri="{FF2B5EF4-FFF2-40B4-BE49-F238E27FC236}">
                <a16:creationId xmlns:a16="http://schemas.microsoft.com/office/drawing/2014/main" id="{6B09AF36-031E-4F1C-8170-99EDBA14C432}"/>
              </a:ext>
            </a:extLst>
          </p:cNvPr>
          <p:cNvSpPr>
            <a:spLocks noGrp="1"/>
          </p:cNvSpPr>
          <p:nvPr/>
        </p:nvSpPr>
        <p:spPr>
          <a:xfrm>
            <a:off x="590550" y="6477000"/>
            <a:ext cx="11010900" cy="9525"/>
          </a:xfrm>
          <a:prstGeom prst="rect">
            <a:avLst/>
          </a:prstGeom>
          <a:solidFill>
            <a:srgbClr val="DCC0A0"/>
          </a:solidFill>
          <a:ln w="9525">
            <a:solidFill>
              <a:srgbClr val="DCC0A0"/>
            </a:solidFill>
            <a:prstDash val="solid"/>
          </a:ln>
        </p:spPr>
      </p:sp>
      <p:sp>
        <p:nvSpPr>
          <p:cNvPr id="36" name="Rectangle 35">
            <a:extLst>
              <a:ext uri="{FF2B5EF4-FFF2-40B4-BE49-F238E27FC236}">
                <a16:creationId xmlns:a16="http://schemas.microsoft.com/office/drawing/2014/main" id="{236FF89C-EC8D-4C65-AA54-817A67F3D786}"/>
              </a:ext>
            </a:extLst>
          </p:cNvPr>
          <p:cNvSpPr>
            <a:spLocks noGrp="1"/>
          </p:cNvSpPr>
          <p:nvPr/>
        </p:nvSpPr>
        <p:spPr>
          <a:xfrm>
            <a:off x="590550" y="6553200"/>
            <a:ext cx="4762500" cy="171450"/>
          </a:xfrm>
          <a:prstGeom prst="rect">
            <a:avLst/>
          </a:prstGeom>
          <a:noFill/>
          <a:ln w="0">
            <a:noFill/>
            <a:prstDash val="solid"/>
          </a:ln>
        </p:spPr>
        <p:txBody>
          <a:bodyPr anchor="ctr"/>
          <a:lstStyle/>
          <a:p>
            <a:pPr algn="l">
              <a:buNone/>
              <a:defRPr sz="825" b="0">
                <a:solidFill>
                  <a:srgbClr val="62676B"/>
                </a:solidFill>
              </a:defRPr>
            </a:pPr>
            <a:r>
              <a:rPr sz="825" b="0">
                <a:solidFill>
                  <a:srgbClr val="62676B"/>
                </a:solidFill>
              </a:rPr>
              <a:t>Eruditio • Empower · Develop · Transform</a:t>
            </a:r>
          </a:p>
        </p:txBody>
      </p:sp>
      <p:sp>
        <p:nvSpPr>
          <p:cNvPr id="37" name="Rectangle 36">
            <a:extLst>
              <a:ext uri="{FF2B5EF4-FFF2-40B4-BE49-F238E27FC236}">
                <a16:creationId xmlns:a16="http://schemas.microsoft.com/office/drawing/2014/main" id="{D5A38C94-5079-41E0-A24E-FC1EBC11A000}"/>
              </a:ext>
            </a:extLst>
          </p:cNvPr>
          <p:cNvSpPr>
            <a:spLocks noGrp="1"/>
          </p:cNvSpPr>
          <p:nvPr/>
        </p:nvSpPr>
        <p:spPr>
          <a:xfrm>
            <a:off x="11049000" y="6534150"/>
            <a:ext cx="552450" cy="171450"/>
          </a:xfrm>
          <a:prstGeom prst="rect">
            <a:avLst/>
          </a:prstGeom>
          <a:noFill/>
          <a:ln w="0">
            <a:noFill/>
            <a:prstDash val="solid"/>
          </a:ln>
        </p:spPr>
        <p:txBody>
          <a:bodyPr anchor="ctr"/>
          <a:lstStyle/>
          <a:p>
            <a:pPr algn="r">
              <a:buNone/>
              <a:defRPr sz="900" b="1">
                <a:solidFill>
                  <a:srgbClr val="F0872B"/>
                </a:solidFill>
              </a:defRPr>
            </a:pPr>
            <a:r>
              <a:rPr sz="900" b="1">
                <a:solidFill>
                  <a:srgbClr val="F0872B"/>
                </a:solidFill>
              </a:rPr>
              <a:t>01</a:t>
            </a:r>
          </a:p>
        </p:txBody>
      </p:sp>
    </p:spTree>
    <p:extLst>
      <p:ext uri="{BB962C8B-B14F-4D97-AF65-F5344CB8AC3E}">
        <p14:creationId xmlns:p14="http://schemas.microsoft.com/office/powerpoint/2010/main" val="15122159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1CE343A7-BF52-4AF0-836F-EE6359CCB0EA}"/>
              </a:ext>
            </a:extLst>
          </p:cNvPr>
          <p:cNvSpPr>
            <a:spLocks noGrp="1"/>
          </p:cNvSpPr>
          <p:nvPr/>
        </p:nvSpPr>
        <p:spPr>
          <a:xfrm>
            <a:off x="0" y="0"/>
            <a:ext cx="12192000" cy="133350"/>
          </a:xfrm>
          <a:prstGeom prst="rect">
            <a:avLst/>
          </a:prstGeom>
          <a:solidFill>
            <a:srgbClr val="F0872B"/>
          </a:solidFill>
          <a:ln w="9525">
            <a:solidFill>
              <a:srgbClr val="F0872B"/>
            </a:solidFill>
            <a:prstDash val="solid"/>
          </a:ln>
        </p:spPr>
      </p:sp>
      <p:sp>
        <p:nvSpPr>
          <p:cNvPr id="2" name="Rectangle 1">
            <a:extLst>
              <a:ext uri="{FF2B5EF4-FFF2-40B4-BE49-F238E27FC236}">
                <a16:creationId xmlns:a16="http://schemas.microsoft.com/office/drawing/2014/main" id="{99B9AC8F-E449-4A20-8E50-F0060AFB90EE}"/>
              </a:ext>
            </a:extLst>
          </p:cNvPr>
          <p:cNvSpPr>
            <a:spLocks noGrp="1"/>
          </p:cNvSpPr>
          <p:nvPr/>
        </p:nvSpPr>
        <p:spPr>
          <a:xfrm>
            <a:off x="0" y="133350"/>
            <a:ext cx="12192000" cy="66675"/>
          </a:xfrm>
          <a:prstGeom prst="rect">
            <a:avLst/>
          </a:prstGeom>
          <a:solidFill>
            <a:srgbClr val="2E9B7A"/>
          </a:solidFill>
          <a:ln w="9525">
            <a:solidFill>
              <a:srgbClr val="2E9B7A"/>
            </a:solidFill>
            <a:prstDash val="solid"/>
          </a:ln>
        </p:spPr>
      </p:sp>
      <p:sp>
        <p:nvSpPr>
          <p:cNvPr id="3" name="Rectangle 2">
            <a:extLst>
              <a:ext uri="{FF2B5EF4-FFF2-40B4-BE49-F238E27FC236}">
                <a16:creationId xmlns:a16="http://schemas.microsoft.com/office/drawing/2014/main" id="{5A74D07C-D384-4F11-9D7B-AFE0A89CE3B8}"/>
              </a:ext>
            </a:extLst>
          </p:cNvPr>
          <p:cNvSpPr>
            <a:spLocks noGrp="1"/>
          </p:cNvSpPr>
          <p:nvPr/>
        </p:nvSpPr>
        <p:spPr>
          <a:xfrm>
            <a:off x="590550" y="361950"/>
            <a:ext cx="6858000" cy="228600"/>
          </a:xfrm>
          <a:prstGeom prst="rect">
            <a:avLst/>
          </a:prstGeom>
          <a:noFill/>
          <a:ln w="0">
            <a:noFill/>
            <a:prstDash val="solid"/>
          </a:ln>
        </p:spPr>
        <p:txBody>
          <a:bodyPr anchor="ctr"/>
          <a:lstStyle/>
          <a:p>
            <a:pPr algn="l">
              <a:buNone/>
              <a:defRPr sz="975" b="1">
                <a:solidFill>
                  <a:srgbClr val="2E9B7A"/>
                </a:solidFill>
              </a:defRPr>
            </a:pPr>
            <a:r>
              <a:rPr sz="975" b="1">
                <a:solidFill>
                  <a:srgbClr val="2E9B7A"/>
                </a:solidFill>
              </a:rPr>
              <a:t>INVESTEC • AUGUST LEARNERSHIP REPORT</a:t>
            </a:r>
          </a:p>
        </p:txBody>
      </p:sp>
      <p:sp>
        <p:nvSpPr>
          <p:cNvPr id="4" name="Rectangle 3">
            <a:extLst>
              <a:ext uri="{FF2B5EF4-FFF2-40B4-BE49-F238E27FC236}">
                <a16:creationId xmlns:a16="http://schemas.microsoft.com/office/drawing/2014/main" id="{7E04F0A8-474A-430E-B4FF-12C7429DA0DA}"/>
              </a:ext>
            </a:extLst>
          </p:cNvPr>
          <p:cNvSpPr>
            <a:spLocks noGrp="1"/>
          </p:cNvSpPr>
          <p:nvPr/>
        </p:nvSpPr>
        <p:spPr>
          <a:xfrm>
            <a:off x="590550" y="704850"/>
            <a:ext cx="8572500" cy="533400"/>
          </a:xfrm>
          <a:prstGeom prst="rect">
            <a:avLst/>
          </a:prstGeom>
          <a:noFill/>
          <a:ln w="0">
            <a:noFill/>
            <a:prstDash val="solid"/>
          </a:ln>
        </p:spPr>
        <p:txBody>
          <a:bodyPr anchor="ctr"/>
          <a:lstStyle/>
          <a:p>
            <a:pPr algn="l">
              <a:buNone/>
              <a:defRPr sz="2550" b="1">
                <a:solidFill>
                  <a:srgbClr val="171717"/>
                </a:solidFill>
              </a:defRPr>
            </a:pPr>
            <a:r>
              <a:rPr sz="2550" b="1">
                <a:solidFill>
                  <a:srgbClr val="171717"/>
                </a:solidFill>
              </a:rPr>
              <a:t>The programme maintained strong attendance through month-end</a:t>
            </a:r>
          </a:p>
        </p:txBody>
      </p:sp>
      <p:pic>
        <p:nvPicPr>
          <p:cNvPr id="40" name="Picture 39"/>
          <p:cNvPicPr>
            <a:picLocks noChangeAspect="1"/>
          </p:cNvPicPr>
          <p:nvPr/>
        </p:nvPicPr>
        <p:blipFill>
          <a:blip r:embed="rId3"/>
          <a:stretch/>
        </p:blipFill>
        <p:spPr>
          <a:xfrm>
            <a:off x="9620250" y="269398"/>
            <a:ext cx="2000250" cy="756605"/>
          </a:xfrm>
          <a:prstGeom prst="rect">
            <a:avLst/>
          </a:prstGeom>
        </p:spPr>
      </p:pic>
      <p:sp>
        <p:nvSpPr>
          <p:cNvPr id="6" name="Rectangle 5">
            <a:extLst>
              <a:ext uri="{FF2B5EF4-FFF2-40B4-BE49-F238E27FC236}">
                <a16:creationId xmlns:a16="http://schemas.microsoft.com/office/drawing/2014/main" id="{4718DA3E-F3BC-4E98-98B8-3581C84719CA}"/>
              </a:ext>
            </a:extLst>
          </p:cNvPr>
          <p:cNvSpPr>
            <a:spLocks noGrp="1"/>
          </p:cNvSpPr>
          <p:nvPr/>
        </p:nvSpPr>
        <p:spPr>
          <a:xfrm>
            <a:off x="590550" y="1352550"/>
            <a:ext cx="11010900" cy="28575"/>
          </a:xfrm>
          <a:prstGeom prst="rect">
            <a:avLst/>
          </a:prstGeom>
          <a:solidFill>
            <a:srgbClr val="F0872B"/>
          </a:solidFill>
          <a:ln w="9525">
            <a:solidFill>
              <a:srgbClr val="F0872B"/>
            </a:solidFill>
            <a:prstDash val="solid"/>
          </a:ln>
        </p:spPr>
      </p:sp>
      <p:sp>
        <p:nvSpPr>
          <p:cNvPr id="7" name="Rectangle: Rounded Corners 6">
            <a:extLst>
              <a:ext uri="{FF2B5EF4-FFF2-40B4-BE49-F238E27FC236}">
                <a16:creationId xmlns:a16="http://schemas.microsoft.com/office/drawing/2014/main" id="{87791EE4-CE19-4F13-97B2-8535DE501E83}"/>
              </a:ext>
            </a:extLst>
          </p:cNvPr>
          <p:cNvSpPr>
            <a:spLocks noGrp="1"/>
          </p:cNvSpPr>
          <p:nvPr/>
        </p:nvSpPr>
        <p:spPr>
          <a:xfrm>
            <a:off x="590550" y="1714500"/>
            <a:ext cx="2524125" cy="1428750"/>
          </a:xfrm>
          <a:prstGeom prst="roundRect">
            <a:avLst>
              <a:gd name="adj" fmla="val 5333"/>
            </a:avLst>
          </a:prstGeom>
          <a:solidFill>
            <a:srgbClr val="FFFFFF"/>
          </a:solidFill>
          <a:ln w="9525">
            <a:solidFill>
              <a:srgbClr val="DED9D1"/>
            </a:solidFill>
            <a:prstDash val="solid"/>
          </a:ln>
        </p:spPr>
      </p:sp>
      <p:sp>
        <p:nvSpPr>
          <p:cNvPr id="8" name="Rectangle 7">
            <a:extLst>
              <a:ext uri="{FF2B5EF4-FFF2-40B4-BE49-F238E27FC236}">
                <a16:creationId xmlns:a16="http://schemas.microsoft.com/office/drawing/2014/main" id="{B0505405-65D2-4A05-99B3-F2DB5665AC0C}"/>
              </a:ext>
            </a:extLst>
          </p:cNvPr>
          <p:cNvSpPr>
            <a:spLocks noGrp="1"/>
          </p:cNvSpPr>
          <p:nvPr/>
        </p:nvSpPr>
        <p:spPr>
          <a:xfrm>
            <a:off x="590550" y="1714500"/>
            <a:ext cx="2524125" cy="85725"/>
          </a:xfrm>
          <a:prstGeom prst="rect">
            <a:avLst/>
          </a:prstGeom>
          <a:solidFill>
            <a:srgbClr val="2E9B7A"/>
          </a:solidFill>
          <a:ln w="9525">
            <a:solidFill>
              <a:srgbClr val="2E9B7A"/>
            </a:solidFill>
            <a:prstDash val="solid"/>
          </a:ln>
        </p:spPr>
      </p:sp>
      <p:sp>
        <p:nvSpPr>
          <p:cNvPr id="9" name="Rectangle 8">
            <a:extLst>
              <a:ext uri="{FF2B5EF4-FFF2-40B4-BE49-F238E27FC236}">
                <a16:creationId xmlns:a16="http://schemas.microsoft.com/office/drawing/2014/main" id="{43714DB5-58FC-4711-A9EF-8F1607175EF2}"/>
              </a:ext>
            </a:extLst>
          </p:cNvPr>
          <p:cNvSpPr>
            <a:spLocks noGrp="1"/>
          </p:cNvSpPr>
          <p:nvPr/>
        </p:nvSpPr>
        <p:spPr>
          <a:xfrm>
            <a:off x="819150" y="1905000"/>
            <a:ext cx="2066925" cy="552450"/>
          </a:xfrm>
          <a:prstGeom prst="rect">
            <a:avLst/>
          </a:prstGeom>
          <a:noFill/>
          <a:ln w="0">
            <a:noFill/>
            <a:prstDash val="solid"/>
          </a:ln>
        </p:spPr>
        <p:txBody>
          <a:bodyPr anchor="ctr"/>
          <a:lstStyle/>
          <a:p>
            <a:pPr algn="l">
              <a:buNone/>
              <a:defRPr sz="3150" b="1">
                <a:solidFill>
                  <a:srgbClr val="2E9B7A"/>
                </a:solidFill>
              </a:defRPr>
            </a:pPr>
            <a:r>
              <a:rPr sz="3150" b="1">
                <a:solidFill>
                  <a:srgbClr val="2E9B7A"/>
                </a:solidFill>
              </a:rPr>
              <a:t>12</a:t>
            </a:r>
          </a:p>
        </p:txBody>
      </p:sp>
      <p:sp>
        <p:nvSpPr>
          <p:cNvPr id="10" name="Rectangle 9">
            <a:extLst>
              <a:ext uri="{FF2B5EF4-FFF2-40B4-BE49-F238E27FC236}">
                <a16:creationId xmlns:a16="http://schemas.microsoft.com/office/drawing/2014/main" id="{E5EF0D18-1475-4772-96DF-5BBAE19B5E69}"/>
              </a:ext>
            </a:extLst>
          </p:cNvPr>
          <p:cNvSpPr>
            <a:spLocks noGrp="1"/>
          </p:cNvSpPr>
          <p:nvPr/>
        </p:nvSpPr>
        <p:spPr>
          <a:xfrm>
            <a:off x="819150" y="2447925"/>
            <a:ext cx="2066925" cy="238125"/>
          </a:xfrm>
          <a:prstGeom prst="rect">
            <a:avLst/>
          </a:prstGeom>
          <a:noFill/>
          <a:ln w="0">
            <a:noFill/>
            <a:prstDash val="solid"/>
          </a:ln>
        </p:spPr>
        <p:txBody>
          <a:bodyPr anchor="ctr"/>
          <a:lstStyle/>
          <a:p>
            <a:pPr algn="l">
              <a:buNone/>
              <a:defRPr sz="1275" b="1">
                <a:solidFill>
                  <a:srgbClr val="171717"/>
                </a:solidFill>
              </a:defRPr>
            </a:pPr>
            <a:r>
              <a:rPr sz="1275" b="1">
                <a:solidFill>
                  <a:srgbClr val="171717"/>
                </a:solidFill>
              </a:rPr>
              <a:t>Learners enrolled</a:t>
            </a:r>
          </a:p>
        </p:txBody>
      </p:sp>
      <p:sp>
        <p:nvSpPr>
          <p:cNvPr id="11" name="Rectangle 10">
            <a:extLst>
              <a:ext uri="{FF2B5EF4-FFF2-40B4-BE49-F238E27FC236}">
                <a16:creationId xmlns:a16="http://schemas.microsoft.com/office/drawing/2014/main" id="{A1F54513-81CD-4F62-B70C-F2D3A039D242}"/>
              </a:ext>
            </a:extLst>
          </p:cNvPr>
          <p:cNvSpPr>
            <a:spLocks noGrp="1"/>
          </p:cNvSpPr>
          <p:nvPr/>
        </p:nvSpPr>
        <p:spPr>
          <a:xfrm>
            <a:off x="819150" y="2733675"/>
            <a:ext cx="2066925" cy="285750"/>
          </a:xfrm>
          <a:prstGeom prst="rect">
            <a:avLst/>
          </a:prstGeom>
          <a:noFill/>
          <a:ln w="0">
            <a:noFill/>
            <a:prstDash val="solid"/>
          </a:ln>
        </p:spPr>
        <p:txBody>
          <a:bodyPr anchor="ctr"/>
          <a:lstStyle/>
          <a:p>
            <a:pPr algn="l">
              <a:buNone/>
              <a:defRPr sz="975" b="0">
                <a:solidFill>
                  <a:srgbClr val="62676B"/>
                </a:solidFill>
              </a:defRPr>
            </a:pPr>
            <a:r>
              <a:rPr sz="975" b="0">
                <a:solidFill>
                  <a:srgbClr val="62676B"/>
                </a:solidFill>
              </a:rPr>
              <a:t>Full programme complement</a:t>
            </a:r>
          </a:p>
        </p:txBody>
      </p:sp>
      <p:sp>
        <p:nvSpPr>
          <p:cNvPr id="12" name="Rectangle: Rounded Corners 11">
            <a:extLst>
              <a:ext uri="{FF2B5EF4-FFF2-40B4-BE49-F238E27FC236}">
                <a16:creationId xmlns:a16="http://schemas.microsoft.com/office/drawing/2014/main" id="{D7C95E27-CA00-4228-9155-A3F6DA78D499}"/>
              </a:ext>
            </a:extLst>
          </p:cNvPr>
          <p:cNvSpPr>
            <a:spLocks noGrp="1"/>
          </p:cNvSpPr>
          <p:nvPr/>
        </p:nvSpPr>
        <p:spPr>
          <a:xfrm>
            <a:off x="3352800" y="1714500"/>
            <a:ext cx="2524125" cy="1428750"/>
          </a:xfrm>
          <a:prstGeom prst="roundRect">
            <a:avLst>
              <a:gd name="adj" fmla="val 5333"/>
            </a:avLst>
          </a:prstGeom>
          <a:solidFill>
            <a:srgbClr val="FFFFFF"/>
          </a:solidFill>
          <a:ln w="9525">
            <a:solidFill>
              <a:srgbClr val="DED9D1"/>
            </a:solidFill>
            <a:prstDash val="solid"/>
          </a:ln>
        </p:spPr>
      </p:sp>
      <p:sp>
        <p:nvSpPr>
          <p:cNvPr id="13" name="Rectangle 12">
            <a:extLst>
              <a:ext uri="{FF2B5EF4-FFF2-40B4-BE49-F238E27FC236}">
                <a16:creationId xmlns:a16="http://schemas.microsoft.com/office/drawing/2014/main" id="{A087C32B-ED5D-4D59-8B26-22FF66C22506}"/>
              </a:ext>
            </a:extLst>
          </p:cNvPr>
          <p:cNvSpPr>
            <a:spLocks noGrp="1"/>
          </p:cNvSpPr>
          <p:nvPr/>
        </p:nvSpPr>
        <p:spPr>
          <a:xfrm>
            <a:off x="3352800" y="1714500"/>
            <a:ext cx="2524125" cy="85725"/>
          </a:xfrm>
          <a:prstGeom prst="rect">
            <a:avLst/>
          </a:prstGeom>
          <a:solidFill>
            <a:srgbClr val="F0872B"/>
          </a:solidFill>
          <a:ln w="9525">
            <a:solidFill>
              <a:srgbClr val="F0872B"/>
            </a:solidFill>
            <a:prstDash val="solid"/>
          </a:ln>
        </p:spPr>
      </p:sp>
      <p:sp>
        <p:nvSpPr>
          <p:cNvPr id="14" name="Rectangle 13">
            <a:extLst>
              <a:ext uri="{FF2B5EF4-FFF2-40B4-BE49-F238E27FC236}">
                <a16:creationId xmlns:a16="http://schemas.microsoft.com/office/drawing/2014/main" id="{57DC0D07-8CFA-4CD3-8BEB-EDEE0A1829CF}"/>
              </a:ext>
            </a:extLst>
          </p:cNvPr>
          <p:cNvSpPr>
            <a:spLocks noGrp="1"/>
          </p:cNvSpPr>
          <p:nvPr/>
        </p:nvSpPr>
        <p:spPr>
          <a:xfrm>
            <a:off x="3581400" y="1905000"/>
            <a:ext cx="2066925" cy="552450"/>
          </a:xfrm>
          <a:prstGeom prst="rect">
            <a:avLst/>
          </a:prstGeom>
          <a:noFill/>
          <a:ln w="0">
            <a:noFill/>
            <a:prstDash val="solid"/>
          </a:ln>
        </p:spPr>
        <p:txBody>
          <a:bodyPr anchor="ctr"/>
          <a:lstStyle/>
          <a:p>
            <a:pPr algn="l">
              <a:buNone/>
              <a:defRPr sz="3150" b="1">
                <a:solidFill>
                  <a:srgbClr val="F0872B"/>
                </a:solidFill>
              </a:defRPr>
            </a:pPr>
            <a:r>
              <a:rPr sz="3150" b="1">
                <a:solidFill>
                  <a:srgbClr val="F0872B"/>
                </a:solidFill>
              </a:rPr>
              <a:t>100%</a:t>
            </a:r>
          </a:p>
        </p:txBody>
      </p:sp>
      <p:sp>
        <p:nvSpPr>
          <p:cNvPr id="15" name="Rectangle 14">
            <a:extLst>
              <a:ext uri="{FF2B5EF4-FFF2-40B4-BE49-F238E27FC236}">
                <a16:creationId xmlns:a16="http://schemas.microsoft.com/office/drawing/2014/main" id="{15E35850-2481-42C9-B8DB-10215B24A7AD}"/>
              </a:ext>
            </a:extLst>
          </p:cNvPr>
          <p:cNvSpPr>
            <a:spLocks noGrp="1"/>
          </p:cNvSpPr>
          <p:nvPr/>
        </p:nvSpPr>
        <p:spPr>
          <a:xfrm>
            <a:off x="3581400" y="2447925"/>
            <a:ext cx="2066925" cy="238125"/>
          </a:xfrm>
          <a:prstGeom prst="rect">
            <a:avLst/>
          </a:prstGeom>
          <a:noFill/>
          <a:ln w="0">
            <a:noFill/>
            <a:prstDash val="solid"/>
          </a:ln>
        </p:spPr>
        <p:txBody>
          <a:bodyPr anchor="ctr"/>
          <a:lstStyle/>
          <a:p>
            <a:pPr algn="l">
              <a:buNone/>
              <a:defRPr sz="1275" b="1">
                <a:solidFill>
                  <a:srgbClr val="171717"/>
                </a:solidFill>
              </a:defRPr>
            </a:pPr>
            <a:r>
              <a:rPr sz="1275" b="1">
                <a:solidFill>
                  <a:srgbClr val="171717"/>
                </a:solidFill>
              </a:rPr>
              <a:t>Recorded attendance</a:t>
            </a:r>
          </a:p>
        </p:txBody>
      </p:sp>
      <p:sp>
        <p:nvSpPr>
          <p:cNvPr id="16" name="Rectangle 15">
            <a:extLst>
              <a:ext uri="{FF2B5EF4-FFF2-40B4-BE49-F238E27FC236}">
                <a16:creationId xmlns:a16="http://schemas.microsoft.com/office/drawing/2014/main" id="{2468C9A6-666C-4210-B691-64568BB40F94}"/>
              </a:ext>
            </a:extLst>
          </p:cNvPr>
          <p:cNvSpPr>
            <a:spLocks noGrp="1"/>
          </p:cNvSpPr>
          <p:nvPr/>
        </p:nvSpPr>
        <p:spPr>
          <a:xfrm>
            <a:off x="3581400" y="2733675"/>
            <a:ext cx="2066925" cy="285750"/>
          </a:xfrm>
          <a:prstGeom prst="rect">
            <a:avLst/>
          </a:prstGeom>
          <a:noFill/>
          <a:ln w="0">
            <a:noFill/>
            <a:prstDash val="solid"/>
          </a:ln>
        </p:spPr>
        <p:txBody>
          <a:bodyPr anchor="ctr"/>
          <a:lstStyle/>
          <a:p>
            <a:pPr algn="l">
              <a:buNone/>
              <a:defRPr sz="975" b="0">
                <a:solidFill>
                  <a:srgbClr val="62676B"/>
                </a:solidFill>
              </a:defRPr>
            </a:pPr>
            <a:r>
              <a:rPr sz="975" b="0">
                <a:solidFill>
                  <a:srgbClr val="62676B"/>
                </a:solidFill>
              </a:rPr>
              <a:t>Across four August sessions</a:t>
            </a:r>
          </a:p>
        </p:txBody>
      </p:sp>
      <p:sp>
        <p:nvSpPr>
          <p:cNvPr id="17" name="Rectangle: Rounded Corners 16">
            <a:extLst>
              <a:ext uri="{FF2B5EF4-FFF2-40B4-BE49-F238E27FC236}">
                <a16:creationId xmlns:a16="http://schemas.microsoft.com/office/drawing/2014/main" id="{D0100F1C-7503-4D20-93A3-898D713B8333}"/>
              </a:ext>
            </a:extLst>
          </p:cNvPr>
          <p:cNvSpPr>
            <a:spLocks noGrp="1"/>
          </p:cNvSpPr>
          <p:nvPr/>
        </p:nvSpPr>
        <p:spPr>
          <a:xfrm>
            <a:off x="6115050" y="1714500"/>
            <a:ext cx="2524125" cy="1428750"/>
          </a:xfrm>
          <a:prstGeom prst="roundRect">
            <a:avLst>
              <a:gd name="adj" fmla="val 5333"/>
            </a:avLst>
          </a:prstGeom>
          <a:solidFill>
            <a:srgbClr val="FFFFFF"/>
          </a:solidFill>
          <a:ln w="9525">
            <a:solidFill>
              <a:srgbClr val="DED9D1"/>
            </a:solidFill>
            <a:prstDash val="solid"/>
          </a:ln>
        </p:spPr>
      </p:sp>
      <p:sp>
        <p:nvSpPr>
          <p:cNvPr id="18" name="Rectangle 17">
            <a:extLst>
              <a:ext uri="{FF2B5EF4-FFF2-40B4-BE49-F238E27FC236}">
                <a16:creationId xmlns:a16="http://schemas.microsoft.com/office/drawing/2014/main" id="{A31798B9-67EE-46CE-ABC0-56508E323AD9}"/>
              </a:ext>
            </a:extLst>
          </p:cNvPr>
          <p:cNvSpPr>
            <a:spLocks noGrp="1"/>
          </p:cNvSpPr>
          <p:nvPr/>
        </p:nvSpPr>
        <p:spPr>
          <a:xfrm>
            <a:off x="6115050" y="1714500"/>
            <a:ext cx="2524125" cy="85725"/>
          </a:xfrm>
          <a:prstGeom prst="rect">
            <a:avLst/>
          </a:prstGeom>
          <a:solidFill>
            <a:srgbClr val="F5D24C"/>
          </a:solidFill>
          <a:ln w="9525">
            <a:solidFill>
              <a:srgbClr val="F5D24C"/>
            </a:solidFill>
            <a:prstDash val="solid"/>
          </a:ln>
        </p:spPr>
      </p:sp>
      <p:sp>
        <p:nvSpPr>
          <p:cNvPr id="19" name="Rectangle 18">
            <a:extLst>
              <a:ext uri="{FF2B5EF4-FFF2-40B4-BE49-F238E27FC236}">
                <a16:creationId xmlns:a16="http://schemas.microsoft.com/office/drawing/2014/main" id="{F76BC447-8CD3-442C-8EC5-05B23A993797}"/>
              </a:ext>
            </a:extLst>
          </p:cNvPr>
          <p:cNvSpPr>
            <a:spLocks noGrp="1"/>
          </p:cNvSpPr>
          <p:nvPr/>
        </p:nvSpPr>
        <p:spPr>
          <a:xfrm>
            <a:off x="6343650" y="1905000"/>
            <a:ext cx="2066925" cy="552450"/>
          </a:xfrm>
          <a:prstGeom prst="rect">
            <a:avLst/>
          </a:prstGeom>
          <a:noFill/>
          <a:ln w="0">
            <a:noFill/>
            <a:prstDash val="solid"/>
          </a:ln>
        </p:spPr>
        <p:txBody>
          <a:bodyPr anchor="ctr"/>
          <a:lstStyle/>
          <a:p>
            <a:pPr algn="l">
              <a:buNone/>
              <a:defRPr sz="3150" b="1">
                <a:solidFill>
                  <a:srgbClr val="F5D24C"/>
                </a:solidFill>
              </a:defRPr>
            </a:pPr>
            <a:r>
              <a:rPr sz="3150" b="1">
                <a:solidFill>
                  <a:srgbClr val="F5D24C"/>
                </a:solidFill>
              </a:rPr>
              <a:t>95%</a:t>
            </a:r>
          </a:p>
        </p:txBody>
      </p:sp>
      <p:sp>
        <p:nvSpPr>
          <p:cNvPr id="20" name="Rectangle 19">
            <a:extLst>
              <a:ext uri="{FF2B5EF4-FFF2-40B4-BE49-F238E27FC236}">
                <a16:creationId xmlns:a16="http://schemas.microsoft.com/office/drawing/2014/main" id="{2E143DF0-7AE1-4026-980A-196E7D21F4F7}"/>
              </a:ext>
            </a:extLst>
          </p:cNvPr>
          <p:cNvSpPr>
            <a:spLocks noGrp="1"/>
          </p:cNvSpPr>
          <p:nvPr/>
        </p:nvSpPr>
        <p:spPr>
          <a:xfrm>
            <a:off x="6343650" y="2447925"/>
            <a:ext cx="2066925" cy="238125"/>
          </a:xfrm>
          <a:prstGeom prst="rect">
            <a:avLst/>
          </a:prstGeom>
          <a:noFill/>
          <a:ln w="0">
            <a:noFill/>
            <a:prstDash val="solid"/>
          </a:ln>
        </p:spPr>
        <p:txBody>
          <a:bodyPr anchor="ctr"/>
          <a:lstStyle/>
          <a:p>
            <a:pPr algn="l">
              <a:buNone/>
              <a:defRPr sz="1275" b="1">
                <a:solidFill>
                  <a:srgbClr val="171717"/>
                </a:solidFill>
              </a:defRPr>
            </a:pPr>
            <a:r>
              <a:rPr sz="1275" b="1">
                <a:solidFill>
                  <a:srgbClr val="171717"/>
                </a:solidFill>
              </a:rPr>
              <a:t>First knowledge quiz</a:t>
            </a:r>
          </a:p>
        </p:txBody>
      </p:sp>
      <p:sp>
        <p:nvSpPr>
          <p:cNvPr id="21" name="Rectangle 20">
            <a:extLst>
              <a:ext uri="{FF2B5EF4-FFF2-40B4-BE49-F238E27FC236}">
                <a16:creationId xmlns:a16="http://schemas.microsoft.com/office/drawing/2014/main" id="{FE8DE4EE-5D27-4A21-B9DD-3E8C0E7C8280}"/>
              </a:ext>
            </a:extLst>
          </p:cNvPr>
          <p:cNvSpPr>
            <a:spLocks noGrp="1"/>
          </p:cNvSpPr>
          <p:nvPr/>
        </p:nvSpPr>
        <p:spPr>
          <a:xfrm>
            <a:off x="6343650" y="2733675"/>
            <a:ext cx="2066925" cy="285750"/>
          </a:xfrm>
          <a:prstGeom prst="rect">
            <a:avLst/>
          </a:prstGeom>
          <a:noFill/>
          <a:ln w="0">
            <a:noFill/>
            <a:prstDash val="solid"/>
          </a:ln>
        </p:spPr>
        <p:txBody>
          <a:bodyPr anchor="ctr"/>
          <a:lstStyle/>
          <a:p>
            <a:pPr algn="l">
              <a:buNone/>
              <a:defRPr sz="975" b="0">
                <a:solidFill>
                  <a:srgbClr val="62676B"/>
                </a:solidFill>
              </a:defRPr>
            </a:pPr>
            <a:r>
              <a:rPr sz="975" b="0">
                <a:solidFill>
                  <a:srgbClr val="62676B"/>
                </a:solidFill>
              </a:rPr>
              <a:t>Cohort average</a:t>
            </a:r>
          </a:p>
        </p:txBody>
      </p:sp>
      <p:sp>
        <p:nvSpPr>
          <p:cNvPr id="22" name="Rectangle: Rounded Corners 21">
            <a:extLst>
              <a:ext uri="{FF2B5EF4-FFF2-40B4-BE49-F238E27FC236}">
                <a16:creationId xmlns:a16="http://schemas.microsoft.com/office/drawing/2014/main" id="{B9A8AB42-5FCB-429D-8D9A-98A9E83A2286}"/>
              </a:ext>
            </a:extLst>
          </p:cNvPr>
          <p:cNvSpPr>
            <a:spLocks noGrp="1"/>
          </p:cNvSpPr>
          <p:nvPr/>
        </p:nvSpPr>
        <p:spPr>
          <a:xfrm>
            <a:off x="8877300" y="1714500"/>
            <a:ext cx="2724150" cy="1428750"/>
          </a:xfrm>
          <a:prstGeom prst="roundRect">
            <a:avLst>
              <a:gd name="adj" fmla="val 5333"/>
            </a:avLst>
          </a:prstGeom>
          <a:solidFill>
            <a:srgbClr val="FFFFFF"/>
          </a:solidFill>
          <a:ln w="9525">
            <a:solidFill>
              <a:srgbClr val="DED9D1"/>
            </a:solidFill>
            <a:prstDash val="solid"/>
          </a:ln>
        </p:spPr>
      </p:sp>
      <p:sp>
        <p:nvSpPr>
          <p:cNvPr id="23" name="Rectangle 22">
            <a:extLst>
              <a:ext uri="{FF2B5EF4-FFF2-40B4-BE49-F238E27FC236}">
                <a16:creationId xmlns:a16="http://schemas.microsoft.com/office/drawing/2014/main" id="{3AB888B6-445D-470F-8440-0AAAD5AC4371}"/>
              </a:ext>
            </a:extLst>
          </p:cNvPr>
          <p:cNvSpPr>
            <a:spLocks noGrp="1"/>
          </p:cNvSpPr>
          <p:nvPr/>
        </p:nvSpPr>
        <p:spPr>
          <a:xfrm>
            <a:off x="8877300" y="1714500"/>
            <a:ext cx="2724150" cy="85725"/>
          </a:xfrm>
          <a:prstGeom prst="rect">
            <a:avLst/>
          </a:prstGeom>
          <a:solidFill>
            <a:srgbClr val="2E9B7A"/>
          </a:solidFill>
          <a:ln w="9525">
            <a:solidFill>
              <a:srgbClr val="2E9B7A"/>
            </a:solidFill>
            <a:prstDash val="solid"/>
          </a:ln>
        </p:spPr>
      </p:sp>
      <p:sp>
        <p:nvSpPr>
          <p:cNvPr id="24" name="Rectangle 23">
            <a:extLst>
              <a:ext uri="{FF2B5EF4-FFF2-40B4-BE49-F238E27FC236}">
                <a16:creationId xmlns:a16="http://schemas.microsoft.com/office/drawing/2014/main" id="{6B3298D9-B337-4943-8189-A4CBF1008E51}"/>
              </a:ext>
            </a:extLst>
          </p:cNvPr>
          <p:cNvSpPr>
            <a:spLocks noGrp="1"/>
          </p:cNvSpPr>
          <p:nvPr/>
        </p:nvSpPr>
        <p:spPr>
          <a:xfrm>
            <a:off x="9105900" y="1905000"/>
            <a:ext cx="2266950" cy="552450"/>
          </a:xfrm>
          <a:prstGeom prst="rect">
            <a:avLst/>
          </a:prstGeom>
          <a:noFill/>
          <a:ln w="0">
            <a:noFill/>
            <a:prstDash val="solid"/>
          </a:ln>
        </p:spPr>
        <p:txBody>
          <a:bodyPr anchor="ctr"/>
          <a:lstStyle/>
          <a:p>
            <a:pPr algn="l">
              <a:buNone/>
              <a:defRPr sz="3150" b="1">
                <a:solidFill>
                  <a:srgbClr val="2E9B7A"/>
                </a:solidFill>
              </a:defRPr>
            </a:pPr>
            <a:r>
              <a:rPr sz="3150" b="1">
                <a:solidFill>
                  <a:srgbClr val="2E9B7A"/>
                </a:solidFill>
              </a:rPr>
              <a:t>11/12</a:t>
            </a:r>
          </a:p>
        </p:txBody>
      </p:sp>
      <p:sp>
        <p:nvSpPr>
          <p:cNvPr id="25" name="Rectangle 24">
            <a:extLst>
              <a:ext uri="{FF2B5EF4-FFF2-40B4-BE49-F238E27FC236}">
                <a16:creationId xmlns:a16="http://schemas.microsoft.com/office/drawing/2014/main" id="{84BBA1F6-7661-47ED-9207-B571E2E3A155}"/>
              </a:ext>
            </a:extLst>
          </p:cNvPr>
          <p:cNvSpPr>
            <a:spLocks noGrp="1"/>
          </p:cNvSpPr>
          <p:nvPr/>
        </p:nvSpPr>
        <p:spPr>
          <a:xfrm>
            <a:off x="9105900" y="2447925"/>
            <a:ext cx="2266950" cy="238125"/>
          </a:xfrm>
          <a:prstGeom prst="rect">
            <a:avLst/>
          </a:prstGeom>
          <a:noFill/>
          <a:ln w="0">
            <a:noFill/>
            <a:prstDash val="solid"/>
          </a:ln>
        </p:spPr>
        <p:txBody>
          <a:bodyPr anchor="ctr"/>
          <a:lstStyle/>
          <a:p>
            <a:pPr algn="l">
              <a:buNone/>
              <a:defRPr sz="1275" b="1">
                <a:solidFill>
                  <a:srgbClr val="171717"/>
                </a:solidFill>
              </a:defRPr>
            </a:pPr>
            <a:r>
              <a:rPr sz="1275" b="1">
                <a:solidFill>
                  <a:srgbClr val="171717"/>
                </a:solidFill>
              </a:rPr>
              <a:t>At or above 80%</a:t>
            </a:r>
          </a:p>
        </p:txBody>
      </p:sp>
      <p:sp>
        <p:nvSpPr>
          <p:cNvPr id="26" name="Rectangle 25">
            <a:extLst>
              <a:ext uri="{FF2B5EF4-FFF2-40B4-BE49-F238E27FC236}">
                <a16:creationId xmlns:a16="http://schemas.microsoft.com/office/drawing/2014/main" id="{E9F8F636-EF05-4B56-B216-CA12C945C3C5}"/>
              </a:ext>
            </a:extLst>
          </p:cNvPr>
          <p:cNvSpPr>
            <a:spLocks noGrp="1"/>
          </p:cNvSpPr>
          <p:nvPr/>
        </p:nvSpPr>
        <p:spPr>
          <a:xfrm>
            <a:off x="9105900" y="2733675"/>
            <a:ext cx="2266950" cy="285750"/>
          </a:xfrm>
          <a:prstGeom prst="rect">
            <a:avLst/>
          </a:prstGeom>
          <a:noFill/>
          <a:ln w="0">
            <a:noFill/>
            <a:prstDash val="solid"/>
          </a:ln>
        </p:spPr>
        <p:txBody>
          <a:bodyPr anchor="ctr"/>
          <a:lstStyle/>
          <a:p>
            <a:pPr algn="l">
              <a:buNone/>
              <a:defRPr sz="975" b="0">
                <a:solidFill>
                  <a:srgbClr val="62676B"/>
                </a:solidFill>
              </a:defRPr>
            </a:pPr>
            <a:r>
              <a:rPr sz="975" b="0">
                <a:solidFill>
                  <a:srgbClr val="62676B"/>
                </a:solidFill>
              </a:rPr>
              <a:t>Across marked activity to date</a:t>
            </a:r>
          </a:p>
        </p:txBody>
      </p:sp>
      <p:sp>
        <p:nvSpPr>
          <p:cNvPr id="27" name="Rectangle: Rounded Corners 26">
            <a:extLst>
              <a:ext uri="{FF2B5EF4-FFF2-40B4-BE49-F238E27FC236}">
                <a16:creationId xmlns:a16="http://schemas.microsoft.com/office/drawing/2014/main" id="{F08C2C44-5425-48EF-8175-36C6AC128A6D}"/>
              </a:ext>
            </a:extLst>
          </p:cNvPr>
          <p:cNvSpPr>
            <a:spLocks noGrp="1"/>
          </p:cNvSpPr>
          <p:nvPr/>
        </p:nvSpPr>
        <p:spPr>
          <a:xfrm>
            <a:off x="590550" y="3476625"/>
            <a:ext cx="11010900" cy="2095500"/>
          </a:xfrm>
          <a:prstGeom prst="roundRect">
            <a:avLst>
              <a:gd name="adj" fmla="val 3636"/>
            </a:avLst>
          </a:prstGeom>
          <a:solidFill>
            <a:srgbClr val="F7F5F1"/>
          </a:solidFill>
          <a:ln w="0">
            <a:noFill/>
            <a:prstDash val="solid"/>
          </a:ln>
        </p:spPr>
      </p:sp>
      <p:sp>
        <p:nvSpPr>
          <p:cNvPr id="28" name="Rectangle 27">
            <a:extLst>
              <a:ext uri="{FF2B5EF4-FFF2-40B4-BE49-F238E27FC236}">
                <a16:creationId xmlns:a16="http://schemas.microsoft.com/office/drawing/2014/main" id="{EDEB5FB2-5516-4357-ADB1-B05F0058E226}"/>
              </a:ext>
            </a:extLst>
          </p:cNvPr>
          <p:cNvSpPr>
            <a:spLocks noGrp="1"/>
          </p:cNvSpPr>
          <p:nvPr/>
        </p:nvSpPr>
        <p:spPr>
          <a:xfrm>
            <a:off x="857250" y="3733800"/>
            <a:ext cx="4095750" cy="247650"/>
          </a:xfrm>
          <a:prstGeom prst="rect">
            <a:avLst/>
          </a:prstGeom>
          <a:noFill/>
          <a:ln w="0">
            <a:noFill/>
            <a:prstDash val="solid"/>
          </a:ln>
        </p:spPr>
        <p:txBody>
          <a:bodyPr anchor="ctr"/>
          <a:lstStyle/>
          <a:p>
            <a:pPr algn="l">
              <a:buNone/>
              <a:defRPr sz="1050" b="1">
                <a:solidFill>
                  <a:srgbClr val="2E9B7A"/>
                </a:solidFill>
              </a:defRPr>
            </a:pPr>
            <a:r>
              <a:rPr sz="1050" b="1">
                <a:solidFill>
                  <a:srgbClr val="2E9B7A"/>
                </a:solidFill>
              </a:rPr>
              <a:t>HR EXECUTIVE POSITION</a:t>
            </a:r>
          </a:p>
        </p:txBody>
      </p:sp>
      <p:sp>
        <p:nvSpPr>
          <p:cNvPr id="29" name="Rectangle 28">
            <a:extLst>
              <a:ext uri="{FF2B5EF4-FFF2-40B4-BE49-F238E27FC236}">
                <a16:creationId xmlns:a16="http://schemas.microsoft.com/office/drawing/2014/main" id="{C914890D-C641-4F21-AB6F-DF06E1334865}"/>
              </a:ext>
            </a:extLst>
          </p:cNvPr>
          <p:cNvSpPr>
            <a:spLocks noGrp="1"/>
          </p:cNvSpPr>
          <p:nvPr/>
        </p:nvSpPr>
        <p:spPr>
          <a:xfrm>
            <a:off x="857250" y="4114800"/>
            <a:ext cx="10001250" cy="381000"/>
          </a:xfrm>
          <a:prstGeom prst="rect">
            <a:avLst/>
          </a:prstGeom>
          <a:noFill/>
          <a:ln w="0">
            <a:noFill/>
            <a:prstDash val="solid"/>
          </a:ln>
        </p:spPr>
        <p:txBody>
          <a:bodyPr anchor="ctr"/>
          <a:lstStyle/>
          <a:p>
            <a:pPr algn="l">
              <a:buNone/>
              <a:defRPr sz="2100" b="1">
                <a:solidFill>
                  <a:srgbClr val="171717"/>
                </a:solidFill>
              </a:defRPr>
            </a:pPr>
            <a:r>
              <a:rPr sz="2100" b="1">
                <a:solidFill>
                  <a:srgbClr val="171717"/>
                </a:solidFill>
              </a:rPr>
              <a:t>Learner work is complete and marked; assessor finalisation is now in progress.</a:t>
            </a:r>
          </a:p>
        </p:txBody>
      </p:sp>
      <p:sp>
        <p:nvSpPr>
          <p:cNvPr id="30" name="Rectangle 29">
            <a:extLst>
              <a:ext uri="{FF2B5EF4-FFF2-40B4-BE49-F238E27FC236}">
                <a16:creationId xmlns:a16="http://schemas.microsoft.com/office/drawing/2014/main" id="{3D43D039-2585-490B-B2FE-DAF6A6C3AE74}"/>
              </a:ext>
            </a:extLst>
          </p:cNvPr>
          <p:cNvSpPr>
            <a:spLocks noGrp="1"/>
          </p:cNvSpPr>
          <p:nvPr/>
        </p:nvSpPr>
        <p:spPr>
          <a:xfrm>
            <a:off x="857250" y="4648200"/>
            <a:ext cx="9906000" cy="666750"/>
          </a:xfrm>
          <a:prstGeom prst="rect">
            <a:avLst/>
          </a:prstGeom>
          <a:noFill/>
          <a:ln w="0">
            <a:noFill/>
            <a:prstDash val="solid"/>
          </a:ln>
        </p:spPr>
        <p:txBody>
          <a:bodyPr anchor="t"/>
          <a:lstStyle/>
          <a:p>
            <a:pPr algn="l">
              <a:buNone/>
              <a:defRPr sz="1275" b="0">
                <a:solidFill>
                  <a:srgbClr val="62676B"/>
                </a:solidFill>
              </a:defRPr>
            </a:pPr>
            <a:r>
              <a:rPr sz="1275" b="0">
                <a:solidFill>
                  <a:srgbClr val="62676B"/>
                </a:solidFill>
              </a:rPr>
              <a:t>Completed Unit Standard activities and quizzes are marked and stored on the LMS. On 28 August, all 12 learners attended the US 114051 training session. “In Progress” may remain while the assessor completes logbook marking, submission review and documentation.</a:t>
            </a:r>
          </a:p>
        </p:txBody>
      </p:sp>
      <p:sp>
        <p:nvSpPr>
          <p:cNvPr id="31" name="Rectangle 30">
            <a:extLst>
              <a:ext uri="{FF2B5EF4-FFF2-40B4-BE49-F238E27FC236}">
                <a16:creationId xmlns:a16="http://schemas.microsoft.com/office/drawing/2014/main" id="{21FFDE23-BE1C-4C6D-8ADC-0469EB996853}"/>
              </a:ext>
            </a:extLst>
          </p:cNvPr>
          <p:cNvSpPr>
            <a:spLocks noGrp="1"/>
          </p:cNvSpPr>
          <p:nvPr/>
        </p:nvSpPr>
        <p:spPr>
          <a:xfrm>
            <a:off x="590550" y="6477000"/>
            <a:ext cx="11010900" cy="9525"/>
          </a:xfrm>
          <a:prstGeom prst="rect">
            <a:avLst/>
          </a:prstGeom>
          <a:solidFill>
            <a:srgbClr val="DCC0A0"/>
          </a:solidFill>
          <a:ln w="9525">
            <a:solidFill>
              <a:srgbClr val="DCC0A0"/>
            </a:solidFill>
            <a:prstDash val="solid"/>
          </a:ln>
        </p:spPr>
      </p:sp>
      <p:sp>
        <p:nvSpPr>
          <p:cNvPr id="32" name="Rectangle 31">
            <a:extLst>
              <a:ext uri="{FF2B5EF4-FFF2-40B4-BE49-F238E27FC236}">
                <a16:creationId xmlns:a16="http://schemas.microsoft.com/office/drawing/2014/main" id="{660D135A-7314-41E0-ACFD-A137CFAFDAFB}"/>
              </a:ext>
            </a:extLst>
          </p:cNvPr>
          <p:cNvSpPr>
            <a:spLocks noGrp="1"/>
          </p:cNvSpPr>
          <p:nvPr/>
        </p:nvSpPr>
        <p:spPr>
          <a:xfrm>
            <a:off x="590550" y="6553200"/>
            <a:ext cx="4762500" cy="171450"/>
          </a:xfrm>
          <a:prstGeom prst="rect">
            <a:avLst/>
          </a:prstGeom>
          <a:noFill/>
          <a:ln w="0">
            <a:noFill/>
            <a:prstDash val="solid"/>
          </a:ln>
        </p:spPr>
        <p:txBody>
          <a:bodyPr anchor="ctr"/>
          <a:lstStyle/>
          <a:p>
            <a:pPr algn="l">
              <a:buNone/>
              <a:defRPr sz="825" b="0">
                <a:solidFill>
                  <a:srgbClr val="62676B"/>
                </a:solidFill>
              </a:defRPr>
            </a:pPr>
            <a:r>
              <a:rPr sz="825" b="0">
                <a:solidFill>
                  <a:srgbClr val="62676B"/>
                </a:solidFill>
              </a:rPr>
              <a:t>Eruditio • Empower · Develop · Transform</a:t>
            </a:r>
          </a:p>
        </p:txBody>
      </p:sp>
      <p:sp>
        <p:nvSpPr>
          <p:cNvPr id="33" name="Rectangle 32">
            <a:extLst>
              <a:ext uri="{FF2B5EF4-FFF2-40B4-BE49-F238E27FC236}">
                <a16:creationId xmlns:a16="http://schemas.microsoft.com/office/drawing/2014/main" id="{2AB9C9A0-F67B-467B-B2CB-3D9E7F0DD07A}"/>
              </a:ext>
            </a:extLst>
          </p:cNvPr>
          <p:cNvSpPr>
            <a:spLocks noGrp="1"/>
          </p:cNvSpPr>
          <p:nvPr/>
        </p:nvSpPr>
        <p:spPr>
          <a:xfrm>
            <a:off x="11049000" y="6534150"/>
            <a:ext cx="552450" cy="171450"/>
          </a:xfrm>
          <a:prstGeom prst="rect">
            <a:avLst/>
          </a:prstGeom>
          <a:noFill/>
          <a:ln w="0">
            <a:noFill/>
            <a:prstDash val="solid"/>
          </a:ln>
        </p:spPr>
        <p:txBody>
          <a:bodyPr anchor="ctr"/>
          <a:lstStyle/>
          <a:p>
            <a:pPr algn="r">
              <a:buNone/>
              <a:defRPr sz="900" b="1">
                <a:solidFill>
                  <a:srgbClr val="F0872B"/>
                </a:solidFill>
              </a:defRPr>
            </a:pPr>
            <a:r>
              <a:rPr sz="900" b="1">
                <a:solidFill>
                  <a:srgbClr val="F0872B"/>
                </a:solidFill>
              </a:rPr>
              <a:t>02</a:t>
            </a:r>
          </a:p>
        </p:txBody>
      </p:sp>
    </p:spTree>
    <p:extLst>
      <p:ext uri="{BB962C8B-B14F-4D97-AF65-F5344CB8AC3E}">
        <p14:creationId xmlns:p14="http://schemas.microsoft.com/office/powerpoint/2010/main" val="14287767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BE215694-3DC6-47AE-89F1-EEAEFD318FFC}"/>
              </a:ext>
            </a:extLst>
          </p:cNvPr>
          <p:cNvSpPr>
            <a:spLocks noGrp="1"/>
          </p:cNvSpPr>
          <p:nvPr/>
        </p:nvSpPr>
        <p:spPr>
          <a:xfrm>
            <a:off x="0" y="0"/>
            <a:ext cx="12192000" cy="133350"/>
          </a:xfrm>
          <a:prstGeom prst="rect">
            <a:avLst/>
          </a:prstGeom>
          <a:solidFill>
            <a:srgbClr val="F0872B"/>
          </a:solidFill>
          <a:ln w="9525">
            <a:solidFill>
              <a:srgbClr val="F0872B"/>
            </a:solidFill>
            <a:prstDash val="solid"/>
          </a:ln>
        </p:spPr>
      </p:sp>
      <p:sp>
        <p:nvSpPr>
          <p:cNvPr id="2" name="Rectangle 1">
            <a:extLst>
              <a:ext uri="{FF2B5EF4-FFF2-40B4-BE49-F238E27FC236}">
                <a16:creationId xmlns:a16="http://schemas.microsoft.com/office/drawing/2014/main" id="{64FC294E-323D-4025-BBBD-968C606DD39D}"/>
              </a:ext>
            </a:extLst>
          </p:cNvPr>
          <p:cNvSpPr>
            <a:spLocks noGrp="1"/>
          </p:cNvSpPr>
          <p:nvPr/>
        </p:nvSpPr>
        <p:spPr>
          <a:xfrm>
            <a:off x="0" y="133350"/>
            <a:ext cx="12192000" cy="66675"/>
          </a:xfrm>
          <a:prstGeom prst="rect">
            <a:avLst/>
          </a:prstGeom>
          <a:solidFill>
            <a:srgbClr val="2E9B7A"/>
          </a:solidFill>
          <a:ln w="9525">
            <a:solidFill>
              <a:srgbClr val="2E9B7A"/>
            </a:solidFill>
            <a:prstDash val="solid"/>
          </a:ln>
        </p:spPr>
      </p:sp>
      <p:sp>
        <p:nvSpPr>
          <p:cNvPr id="3" name="Rectangle 2">
            <a:extLst>
              <a:ext uri="{FF2B5EF4-FFF2-40B4-BE49-F238E27FC236}">
                <a16:creationId xmlns:a16="http://schemas.microsoft.com/office/drawing/2014/main" id="{E541FB7A-9845-4B5D-8EBE-133478A7797E}"/>
              </a:ext>
            </a:extLst>
          </p:cNvPr>
          <p:cNvSpPr>
            <a:spLocks noGrp="1"/>
          </p:cNvSpPr>
          <p:nvPr/>
        </p:nvSpPr>
        <p:spPr>
          <a:xfrm>
            <a:off x="590550" y="361950"/>
            <a:ext cx="6858000" cy="228600"/>
          </a:xfrm>
          <a:prstGeom prst="rect">
            <a:avLst/>
          </a:prstGeom>
          <a:noFill/>
          <a:ln w="0">
            <a:noFill/>
            <a:prstDash val="solid"/>
          </a:ln>
        </p:spPr>
        <p:txBody>
          <a:bodyPr anchor="ctr"/>
          <a:lstStyle/>
          <a:p>
            <a:pPr algn="l">
              <a:buNone/>
              <a:defRPr sz="975" b="1">
                <a:solidFill>
                  <a:srgbClr val="2E9B7A"/>
                </a:solidFill>
              </a:defRPr>
            </a:pPr>
            <a:r>
              <a:rPr sz="975" b="1">
                <a:solidFill>
                  <a:srgbClr val="2E9B7A"/>
                </a:solidFill>
              </a:rPr>
              <a:t>INVESTEC • AUGUST LEARNERSHIP REPORT</a:t>
            </a:r>
          </a:p>
        </p:txBody>
      </p:sp>
      <p:sp>
        <p:nvSpPr>
          <p:cNvPr id="4" name="Rectangle 3">
            <a:extLst>
              <a:ext uri="{FF2B5EF4-FFF2-40B4-BE49-F238E27FC236}">
                <a16:creationId xmlns:a16="http://schemas.microsoft.com/office/drawing/2014/main" id="{F51DABCC-A540-467F-AD22-522C881AC1AB}"/>
              </a:ext>
            </a:extLst>
          </p:cNvPr>
          <p:cNvSpPr>
            <a:spLocks noGrp="1"/>
          </p:cNvSpPr>
          <p:nvPr/>
        </p:nvSpPr>
        <p:spPr>
          <a:xfrm>
            <a:off x="590550" y="704850"/>
            <a:ext cx="8572500" cy="533400"/>
          </a:xfrm>
          <a:prstGeom prst="rect">
            <a:avLst/>
          </a:prstGeom>
          <a:noFill/>
          <a:ln w="0">
            <a:noFill/>
            <a:prstDash val="solid"/>
          </a:ln>
        </p:spPr>
        <p:txBody>
          <a:bodyPr anchor="ctr"/>
          <a:lstStyle/>
          <a:p>
            <a:pPr algn="l">
              <a:buNone/>
              <a:defRPr sz="2550" b="1">
                <a:solidFill>
                  <a:srgbClr val="171717"/>
                </a:solidFill>
              </a:defRPr>
            </a:pPr>
            <a:r>
              <a:rPr sz="2550" b="1">
                <a:solidFill>
                  <a:srgbClr val="171717"/>
                </a:solidFill>
              </a:rPr>
              <a:t>Attendance demonstrates exceptional learner commitment</a:t>
            </a:r>
          </a:p>
        </p:txBody>
      </p:sp>
      <p:pic>
        <p:nvPicPr>
          <p:cNvPr id="41" name="Picture 40"/>
          <p:cNvPicPr>
            <a:picLocks noChangeAspect="1"/>
          </p:cNvPicPr>
          <p:nvPr/>
        </p:nvPicPr>
        <p:blipFill>
          <a:blip r:embed="rId3"/>
          <a:stretch/>
        </p:blipFill>
        <p:spPr>
          <a:xfrm>
            <a:off x="9620250" y="269398"/>
            <a:ext cx="2000250" cy="756605"/>
          </a:xfrm>
          <a:prstGeom prst="rect">
            <a:avLst/>
          </a:prstGeom>
        </p:spPr>
      </p:pic>
      <p:sp>
        <p:nvSpPr>
          <p:cNvPr id="6" name="Rectangle 5">
            <a:extLst>
              <a:ext uri="{FF2B5EF4-FFF2-40B4-BE49-F238E27FC236}">
                <a16:creationId xmlns:a16="http://schemas.microsoft.com/office/drawing/2014/main" id="{58299C01-14B2-4DA7-AA2A-BB0EFF3BBB57}"/>
              </a:ext>
            </a:extLst>
          </p:cNvPr>
          <p:cNvSpPr>
            <a:spLocks noGrp="1"/>
          </p:cNvSpPr>
          <p:nvPr/>
        </p:nvSpPr>
        <p:spPr>
          <a:xfrm>
            <a:off x="590550" y="1352550"/>
            <a:ext cx="11010900" cy="28575"/>
          </a:xfrm>
          <a:prstGeom prst="rect">
            <a:avLst/>
          </a:prstGeom>
          <a:solidFill>
            <a:srgbClr val="F0872B"/>
          </a:solidFill>
          <a:ln w="9525">
            <a:solidFill>
              <a:srgbClr val="F0872B"/>
            </a:solidFill>
            <a:prstDash val="solid"/>
          </a:ln>
        </p:spPr>
      </p:sp>
      <p:sp>
        <p:nvSpPr>
          <p:cNvPr id="7" name="Rectangle 6">
            <a:extLst>
              <a:ext uri="{FF2B5EF4-FFF2-40B4-BE49-F238E27FC236}">
                <a16:creationId xmlns:a16="http://schemas.microsoft.com/office/drawing/2014/main" id="{B60B163B-E384-44B2-850B-3680EA3A4420}"/>
              </a:ext>
            </a:extLst>
          </p:cNvPr>
          <p:cNvSpPr>
            <a:spLocks noGrp="1"/>
          </p:cNvSpPr>
          <p:nvPr/>
        </p:nvSpPr>
        <p:spPr>
          <a:xfrm>
            <a:off x="590550" y="1638300"/>
            <a:ext cx="3905250" cy="228600"/>
          </a:xfrm>
          <a:prstGeom prst="rect">
            <a:avLst/>
          </a:prstGeom>
          <a:noFill/>
          <a:ln w="0">
            <a:noFill/>
            <a:prstDash val="solid"/>
          </a:ln>
        </p:spPr>
        <p:txBody>
          <a:bodyPr anchor="ctr"/>
          <a:lstStyle/>
          <a:p>
            <a:pPr algn="l">
              <a:buNone/>
              <a:defRPr sz="1050" b="1">
                <a:solidFill>
                  <a:srgbClr val="2E9B7A"/>
                </a:solidFill>
              </a:defRPr>
            </a:pPr>
            <a:r>
              <a:rPr sz="1050" b="1">
                <a:solidFill>
                  <a:srgbClr val="2E9B7A"/>
                </a:solidFill>
              </a:rPr>
              <a:t>SIGNED ATTENDANCE BY CONTACT SESSION</a:t>
            </a:r>
          </a:p>
        </p:txBody>
      </p:sp>
      <p:sp>
        <p:nvSpPr>
          <p:cNvPr id="8" name="Rectangle 7">
            <a:extLst>
              <a:ext uri="{FF2B5EF4-FFF2-40B4-BE49-F238E27FC236}">
                <a16:creationId xmlns:a16="http://schemas.microsoft.com/office/drawing/2014/main" id="{7B6836F9-5B18-44A6-8081-58F1CE68BE3A}"/>
              </a:ext>
            </a:extLst>
          </p:cNvPr>
          <p:cNvSpPr>
            <a:spLocks noGrp="1"/>
          </p:cNvSpPr>
          <p:nvPr/>
        </p:nvSpPr>
        <p:spPr>
          <a:xfrm>
            <a:off x="590550" y="2095500"/>
            <a:ext cx="2286000" cy="342900"/>
          </a:xfrm>
          <a:prstGeom prst="rect">
            <a:avLst/>
          </a:prstGeom>
          <a:noFill/>
          <a:ln w="0">
            <a:noFill/>
            <a:prstDash val="solid"/>
          </a:ln>
        </p:spPr>
        <p:txBody>
          <a:bodyPr anchor="ctr"/>
          <a:lstStyle/>
          <a:p>
            <a:pPr algn="l">
              <a:buNone/>
              <a:defRPr sz="1200" b="1">
                <a:solidFill>
                  <a:srgbClr val="171717"/>
                </a:solidFill>
              </a:defRPr>
            </a:pPr>
            <a:r>
              <a:rPr sz="1200" b="1">
                <a:solidFill>
                  <a:srgbClr val="171717"/>
                </a:solidFill>
              </a:rPr>
              <a:t>5 August</a:t>
            </a:r>
          </a:p>
        </p:txBody>
      </p:sp>
      <p:sp>
        <p:nvSpPr>
          <p:cNvPr id="9" name="Rectangle: Rounded Corners 8">
            <a:extLst>
              <a:ext uri="{FF2B5EF4-FFF2-40B4-BE49-F238E27FC236}">
                <a16:creationId xmlns:a16="http://schemas.microsoft.com/office/drawing/2014/main" id="{676E75A1-F557-4548-800A-579A69C3BCF8}"/>
              </a:ext>
            </a:extLst>
          </p:cNvPr>
          <p:cNvSpPr>
            <a:spLocks noGrp="1"/>
          </p:cNvSpPr>
          <p:nvPr/>
        </p:nvSpPr>
        <p:spPr>
          <a:xfrm>
            <a:off x="2914650" y="2171700"/>
            <a:ext cx="5619750" cy="238125"/>
          </a:xfrm>
          <a:prstGeom prst="roundRect">
            <a:avLst>
              <a:gd name="adj" fmla="val 32000"/>
            </a:avLst>
          </a:prstGeom>
          <a:solidFill>
            <a:srgbClr val="F7F5F1"/>
          </a:solidFill>
          <a:ln w="0">
            <a:noFill/>
            <a:prstDash val="solid"/>
          </a:ln>
        </p:spPr>
      </p:sp>
      <p:sp>
        <p:nvSpPr>
          <p:cNvPr id="10" name="Rectangle: Rounded Corners 9">
            <a:extLst>
              <a:ext uri="{FF2B5EF4-FFF2-40B4-BE49-F238E27FC236}">
                <a16:creationId xmlns:a16="http://schemas.microsoft.com/office/drawing/2014/main" id="{38C985AE-289D-44C2-B691-5FF83AD00ACB}"/>
              </a:ext>
            </a:extLst>
          </p:cNvPr>
          <p:cNvSpPr>
            <a:spLocks noGrp="1"/>
          </p:cNvSpPr>
          <p:nvPr/>
        </p:nvSpPr>
        <p:spPr>
          <a:xfrm>
            <a:off x="2914650" y="2171700"/>
            <a:ext cx="5619750" cy="238125"/>
          </a:xfrm>
          <a:prstGeom prst="roundRect">
            <a:avLst>
              <a:gd name="adj" fmla="val 32000"/>
            </a:avLst>
          </a:prstGeom>
          <a:solidFill>
            <a:srgbClr val="2E9B7A"/>
          </a:solidFill>
          <a:ln w="9525">
            <a:solidFill>
              <a:srgbClr val="2E9B7A"/>
            </a:solidFill>
            <a:prstDash val="solid"/>
          </a:ln>
        </p:spPr>
      </p:sp>
      <p:sp>
        <p:nvSpPr>
          <p:cNvPr id="11" name="Rectangle 10">
            <a:extLst>
              <a:ext uri="{FF2B5EF4-FFF2-40B4-BE49-F238E27FC236}">
                <a16:creationId xmlns:a16="http://schemas.microsoft.com/office/drawing/2014/main" id="{DF70A4B6-C22C-4D71-8AA2-8CC5B5AF9BEE}"/>
              </a:ext>
            </a:extLst>
          </p:cNvPr>
          <p:cNvSpPr>
            <a:spLocks noGrp="1"/>
          </p:cNvSpPr>
          <p:nvPr/>
        </p:nvSpPr>
        <p:spPr>
          <a:xfrm>
            <a:off x="8715375" y="2095500"/>
            <a:ext cx="666750" cy="342900"/>
          </a:xfrm>
          <a:prstGeom prst="rect">
            <a:avLst/>
          </a:prstGeom>
          <a:noFill/>
          <a:ln w="0">
            <a:noFill/>
            <a:prstDash val="solid"/>
          </a:ln>
        </p:spPr>
        <p:txBody>
          <a:bodyPr anchor="ctr"/>
          <a:lstStyle/>
          <a:p>
            <a:pPr algn="r">
              <a:buNone/>
              <a:defRPr sz="1275" b="1">
                <a:solidFill>
                  <a:srgbClr val="2E9B7A"/>
                </a:solidFill>
              </a:defRPr>
            </a:pPr>
            <a:r>
              <a:rPr sz="1275" b="1">
                <a:solidFill>
                  <a:srgbClr val="2E9B7A"/>
                </a:solidFill>
              </a:rPr>
              <a:t>12 / 12</a:t>
            </a:r>
          </a:p>
        </p:txBody>
      </p:sp>
      <p:sp>
        <p:nvSpPr>
          <p:cNvPr id="12" name="Rectangle 11">
            <a:extLst>
              <a:ext uri="{FF2B5EF4-FFF2-40B4-BE49-F238E27FC236}">
                <a16:creationId xmlns:a16="http://schemas.microsoft.com/office/drawing/2014/main" id="{A8629CA5-717B-4F84-9B4C-8B7B7F7F2BB4}"/>
              </a:ext>
            </a:extLst>
          </p:cNvPr>
          <p:cNvSpPr>
            <a:spLocks noGrp="1"/>
          </p:cNvSpPr>
          <p:nvPr/>
        </p:nvSpPr>
        <p:spPr>
          <a:xfrm>
            <a:off x="590550" y="2676525"/>
            <a:ext cx="2286000" cy="342900"/>
          </a:xfrm>
          <a:prstGeom prst="rect">
            <a:avLst/>
          </a:prstGeom>
          <a:noFill/>
          <a:ln w="0">
            <a:noFill/>
            <a:prstDash val="solid"/>
          </a:ln>
        </p:spPr>
        <p:txBody>
          <a:bodyPr anchor="ctr"/>
          <a:lstStyle/>
          <a:p>
            <a:pPr algn="l">
              <a:buNone/>
              <a:defRPr sz="1200" b="0">
                <a:solidFill>
                  <a:srgbClr val="171717"/>
                </a:solidFill>
              </a:defRPr>
            </a:pPr>
            <a:r>
              <a:rPr sz="1200" b="0">
                <a:solidFill>
                  <a:srgbClr val="171717"/>
                </a:solidFill>
              </a:rPr>
              <a:t>6 August</a:t>
            </a:r>
          </a:p>
        </p:txBody>
      </p:sp>
      <p:sp>
        <p:nvSpPr>
          <p:cNvPr id="13" name="Rectangle: Rounded Corners 12">
            <a:extLst>
              <a:ext uri="{FF2B5EF4-FFF2-40B4-BE49-F238E27FC236}">
                <a16:creationId xmlns:a16="http://schemas.microsoft.com/office/drawing/2014/main" id="{6F6E2DF3-0D04-460A-BA1C-E361D3554D1B}"/>
              </a:ext>
            </a:extLst>
          </p:cNvPr>
          <p:cNvSpPr>
            <a:spLocks noGrp="1"/>
          </p:cNvSpPr>
          <p:nvPr/>
        </p:nvSpPr>
        <p:spPr>
          <a:xfrm>
            <a:off x="2914650" y="2752725"/>
            <a:ext cx="5619750" cy="238125"/>
          </a:xfrm>
          <a:prstGeom prst="roundRect">
            <a:avLst>
              <a:gd name="adj" fmla="val 32000"/>
            </a:avLst>
          </a:prstGeom>
          <a:solidFill>
            <a:srgbClr val="2E9B7A"/>
          </a:solidFill>
          <a:ln w="0">
            <a:noFill/>
            <a:prstDash val="solid"/>
          </a:ln>
        </p:spPr>
      </p:sp>
      <p:sp>
        <p:nvSpPr>
          <p:cNvPr id="14" name="Rectangle 13">
            <a:extLst>
              <a:ext uri="{FF2B5EF4-FFF2-40B4-BE49-F238E27FC236}">
                <a16:creationId xmlns:a16="http://schemas.microsoft.com/office/drawing/2014/main" id="{0192AC67-03A1-4E05-91FD-03F33C2F09D9}"/>
              </a:ext>
            </a:extLst>
          </p:cNvPr>
          <p:cNvSpPr>
            <a:spLocks noGrp="1"/>
          </p:cNvSpPr>
          <p:nvPr/>
        </p:nvSpPr>
        <p:spPr>
          <a:xfrm>
            <a:off x="8715375" y="2676525"/>
            <a:ext cx="666750" cy="342900"/>
          </a:xfrm>
          <a:prstGeom prst="rect">
            <a:avLst/>
          </a:prstGeom>
          <a:noFill/>
          <a:ln w="0">
            <a:noFill/>
            <a:prstDash val="solid"/>
          </a:ln>
        </p:spPr>
        <p:txBody>
          <a:bodyPr anchor="ctr"/>
          <a:lstStyle/>
          <a:p>
            <a:pPr algn="r">
              <a:buNone/>
              <a:defRPr sz="1275" b="1">
                <a:solidFill>
                  <a:srgbClr val="62676B"/>
                </a:solidFill>
              </a:defRPr>
            </a:pPr>
            <a:r>
              <a:rPr sz="1275" b="1">
                <a:solidFill>
                  <a:srgbClr val="62676B"/>
                </a:solidFill>
              </a:rPr>
              <a:t>12 / 12</a:t>
            </a:r>
          </a:p>
        </p:txBody>
      </p:sp>
      <p:sp>
        <p:nvSpPr>
          <p:cNvPr id="15" name="Rectangle 14">
            <a:extLst>
              <a:ext uri="{FF2B5EF4-FFF2-40B4-BE49-F238E27FC236}">
                <a16:creationId xmlns:a16="http://schemas.microsoft.com/office/drawing/2014/main" id="{814AF555-15F7-4E2C-9910-BE52E245E1BD}"/>
              </a:ext>
            </a:extLst>
          </p:cNvPr>
          <p:cNvSpPr>
            <a:spLocks noGrp="1"/>
          </p:cNvSpPr>
          <p:nvPr/>
        </p:nvSpPr>
        <p:spPr>
          <a:xfrm>
            <a:off x="590550" y="3257550"/>
            <a:ext cx="2286000" cy="342900"/>
          </a:xfrm>
          <a:prstGeom prst="rect">
            <a:avLst/>
          </a:prstGeom>
          <a:noFill/>
          <a:ln w="0">
            <a:noFill/>
            <a:prstDash val="solid"/>
          </a:ln>
        </p:spPr>
        <p:txBody>
          <a:bodyPr anchor="ctr"/>
          <a:lstStyle/>
          <a:p>
            <a:pPr algn="l">
              <a:buNone/>
              <a:defRPr sz="1200" b="0">
                <a:solidFill>
                  <a:srgbClr val="171717"/>
                </a:solidFill>
              </a:defRPr>
            </a:pPr>
            <a:r>
              <a:rPr sz="1200" b="0">
                <a:solidFill>
                  <a:srgbClr val="171717"/>
                </a:solidFill>
              </a:rPr>
              <a:t>7 August</a:t>
            </a:r>
          </a:p>
        </p:txBody>
      </p:sp>
      <p:sp>
        <p:nvSpPr>
          <p:cNvPr id="16" name="Rectangle: Rounded Corners 15">
            <a:extLst>
              <a:ext uri="{FF2B5EF4-FFF2-40B4-BE49-F238E27FC236}">
                <a16:creationId xmlns:a16="http://schemas.microsoft.com/office/drawing/2014/main" id="{4114D530-F9CC-41AB-B456-572B5A350071}"/>
              </a:ext>
            </a:extLst>
          </p:cNvPr>
          <p:cNvSpPr>
            <a:spLocks noGrp="1"/>
          </p:cNvSpPr>
          <p:nvPr/>
        </p:nvSpPr>
        <p:spPr>
          <a:xfrm>
            <a:off x="2914650" y="3333750"/>
            <a:ext cx="5619750" cy="238125"/>
          </a:xfrm>
          <a:prstGeom prst="roundRect">
            <a:avLst>
              <a:gd name="adj" fmla="val 32000"/>
            </a:avLst>
          </a:prstGeom>
          <a:solidFill>
            <a:srgbClr val="2E9B7A"/>
          </a:solidFill>
          <a:ln w="0">
            <a:noFill/>
            <a:prstDash val="solid"/>
          </a:ln>
        </p:spPr>
      </p:sp>
      <p:sp>
        <p:nvSpPr>
          <p:cNvPr id="17" name="Rectangle 16">
            <a:extLst>
              <a:ext uri="{FF2B5EF4-FFF2-40B4-BE49-F238E27FC236}">
                <a16:creationId xmlns:a16="http://schemas.microsoft.com/office/drawing/2014/main" id="{A24A866C-CFF8-41CF-B4A0-7E3F2F50C303}"/>
              </a:ext>
            </a:extLst>
          </p:cNvPr>
          <p:cNvSpPr>
            <a:spLocks noGrp="1"/>
          </p:cNvSpPr>
          <p:nvPr/>
        </p:nvSpPr>
        <p:spPr>
          <a:xfrm>
            <a:off x="8715375" y="3257550"/>
            <a:ext cx="666750" cy="342900"/>
          </a:xfrm>
          <a:prstGeom prst="rect">
            <a:avLst/>
          </a:prstGeom>
          <a:noFill/>
          <a:ln w="0">
            <a:noFill/>
            <a:prstDash val="solid"/>
          </a:ln>
        </p:spPr>
        <p:txBody>
          <a:bodyPr anchor="ctr"/>
          <a:lstStyle/>
          <a:p>
            <a:pPr algn="r">
              <a:buNone/>
              <a:defRPr sz="1275" b="1">
                <a:solidFill>
                  <a:srgbClr val="62676B"/>
                </a:solidFill>
              </a:defRPr>
            </a:pPr>
            <a:r>
              <a:rPr sz="1275" b="1">
                <a:solidFill>
                  <a:srgbClr val="62676B"/>
                </a:solidFill>
              </a:rPr>
              <a:t>12 / 12</a:t>
            </a:r>
          </a:p>
        </p:txBody>
      </p:sp>
      <p:sp>
        <p:nvSpPr>
          <p:cNvPr id="18" name="Rectangle 17">
            <a:extLst>
              <a:ext uri="{FF2B5EF4-FFF2-40B4-BE49-F238E27FC236}">
                <a16:creationId xmlns:a16="http://schemas.microsoft.com/office/drawing/2014/main" id="{908E2C47-997E-4343-8D7A-1F50A567D450}"/>
              </a:ext>
            </a:extLst>
          </p:cNvPr>
          <p:cNvSpPr>
            <a:spLocks noGrp="1"/>
          </p:cNvSpPr>
          <p:nvPr/>
        </p:nvSpPr>
        <p:spPr>
          <a:xfrm>
            <a:off x="590550" y="3838575"/>
            <a:ext cx="2286000" cy="342900"/>
          </a:xfrm>
          <a:prstGeom prst="rect">
            <a:avLst/>
          </a:prstGeom>
          <a:noFill/>
          <a:ln w="0">
            <a:noFill/>
            <a:prstDash val="solid"/>
          </a:ln>
        </p:spPr>
        <p:txBody>
          <a:bodyPr anchor="ctr"/>
          <a:lstStyle/>
          <a:p>
            <a:pPr algn="l">
              <a:buNone/>
              <a:defRPr sz="1200" b="0">
                <a:solidFill>
                  <a:srgbClr val="171717"/>
                </a:solidFill>
              </a:defRPr>
            </a:pPr>
            <a:r>
              <a:rPr sz="1200" b="0">
                <a:solidFill>
                  <a:srgbClr val="171717"/>
                </a:solidFill>
              </a:rPr>
              <a:t>28 August</a:t>
            </a:r>
          </a:p>
        </p:txBody>
      </p:sp>
      <p:sp>
        <p:nvSpPr>
          <p:cNvPr id="19" name="Rectangle: Rounded Corners 18">
            <a:extLst>
              <a:ext uri="{FF2B5EF4-FFF2-40B4-BE49-F238E27FC236}">
                <a16:creationId xmlns:a16="http://schemas.microsoft.com/office/drawing/2014/main" id="{1630B2E4-A633-4FF9-84CD-7B5352D25415}"/>
              </a:ext>
            </a:extLst>
          </p:cNvPr>
          <p:cNvSpPr>
            <a:spLocks noGrp="1"/>
          </p:cNvSpPr>
          <p:nvPr/>
        </p:nvSpPr>
        <p:spPr>
          <a:xfrm>
            <a:off x="2914650" y="3914775"/>
            <a:ext cx="5619750" cy="238125"/>
          </a:xfrm>
          <a:prstGeom prst="roundRect">
            <a:avLst>
              <a:gd name="adj" fmla="val 32000"/>
            </a:avLst>
          </a:prstGeom>
          <a:solidFill>
            <a:srgbClr val="2E9B7A"/>
          </a:solidFill>
          <a:ln w="0">
            <a:noFill/>
            <a:prstDash val="solid"/>
          </a:ln>
        </p:spPr>
      </p:sp>
      <p:sp>
        <p:nvSpPr>
          <p:cNvPr id="20" name="Rectangle 19">
            <a:extLst>
              <a:ext uri="{FF2B5EF4-FFF2-40B4-BE49-F238E27FC236}">
                <a16:creationId xmlns:a16="http://schemas.microsoft.com/office/drawing/2014/main" id="{16C7AA03-3D05-4956-97C2-CDB7E97A5E2C}"/>
              </a:ext>
            </a:extLst>
          </p:cNvPr>
          <p:cNvSpPr>
            <a:spLocks noGrp="1"/>
          </p:cNvSpPr>
          <p:nvPr/>
        </p:nvSpPr>
        <p:spPr>
          <a:xfrm>
            <a:off x="8715375" y="3838575"/>
            <a:ext cx="666750" cy="342900"/>
          </a:xfrm>
          <a:prstGeom prst="rect">
            <a:avLst/>
          </a:prstGeom>
          <a:noFill/>
          <a:ln w="0">
            <a:noFill/>
            <a:prstDash val="solid"/>
          </a:ln>
        </p:spPr>
        <p:txBody>
          <a:bodyPr anchor="ctr"/>
          <a:lstStyle/>
          <a:p>
            <a:pPr algn="r">
              <a:buNone/>
              <a:defRPr sz="1275" b="1">
                <a:solidFill>
                  <a:srgbClr val="62676B"/>
                </a:solidFill>
              </a:defRPr>
            </a:pPr>
            <a:r>
              <a:rPr sz="1275" b="1">
                <a:solidFill>
                  <a:srgbClr val="62676B"/>
                </a:solidFill>
              </a:rPr>
              <a:t>12 / 12</a:t>
            </a:r>
          </a:p>
        </p:txBody>
      </p:sp>
      <p:sp>
        <p:nvSpPr>
          <p:cNvPr id="21" name="Rectangle 20">
            <a:extLst>
              <a:ext uri="{FF2B5EF4-FFF2-40B4-BE49-F238E27FC236}">
                <a16:creationId xmlns:a16="http://schemas.microsoft.com/office/drawing/2014/main" id="{2DACA074-EA74-42B2-8636-F4407EA215E0}"/>
              </a:ext>
            </a:extLst>
          </p:cNvPr>
          <p:cNvSpPr>
            <a:spLocks noGrp="1"/>
          </p:cNvSpPr>
          <p:nvPr/>
        </p:nvSpPr>
        <p:spPr>
          <a:xfrm>
            <a:off x="590550" y="4419600"/>
            <a:ext cx="2286000" cy="342900"/>
          </a:xfrm>
          <a:prstGeom prst="rect">
            <a:avLst/>
          </a:prstGeom>
          <a:noFill/>
          <a:ln w="0">
            <a:noFill/>
            <a:prstDash val="solid"/>
          </a:ln>
        </p:spPr>
        <p:txBody>
          <a:bodyPr anchor="ctr"/>
          <a:lstStyle/>
          <a:p>
            <a:pPr algn="l">
              <a:buNone/>
              <a:defRPr sz="1200" b="0">
                <a:solidFill>
                  <a:srgbClr val="171717"/>
                </a:solidFill>
              </a:defRPr>
            </a:pPr>
            <a:r>
              <a:rPr sz="1200" b="0">
                <a:solidFill>
                  <a:srgbClr val="171717"/>
                </a:solidFill>
              </a:rPr>
              <a:t>August total</a:t>
            </a:r>
          </a:p>
        </p:txBody>
      </p:sp>
      <p:sp>
        <p:nvSpPr>
          <p:cNvPr id="22" name="Rectangle: Rounded Corners 21">
            <a:extLst>
              <a:ext uri="{FF2B5EF4-FFF2-40B4-BE49-F238E27FC236}">
                <a16:creationId xmlns:a16="http://schemas.microsoft.com/office/drawing/2014/main" id="{5C400AD8-88BB-4590-BF1E-DA6AB1359AEC}"/>
              </a:ext>
            </a:extLst>
          </p:cNvPr>
          <p:cNvSpPr>
            <a:spLocks noGrp="1"/>
          </p:cNvSpPr>
          <p:nvPr/>
        </p:nvSpPr>
        <p:spPr>
          <a:xfrm>
            <a:off x="2914650" y="4495800"/>
            <a:ext cx="5619750" cy="238125"/>
          </a:xfrm>
          <a:prstGeom prst="roundRect">
            <a:avLst>
              <a:gd name="adj" fmla="val 32000"/>
            </a:avLst>
          </a:prstGeom>
          <a:solidFill>
            <a:srgbClr val="2E9B7A"/>
          </a:solidFill>
          <a:ln w="0">
            <a:noFill/>
            <a:prstDash val="solid"/>
          </a:ln>
        </p:spPr>
      </p:sp>
      <p:sp>
        <p:nvSpPr>
          <p:cNvPr id="23" name="Rectangle 22">
            <a:extLst>
              <a:ext uri="{FF2B5EF4-FFF2-40B4-BE49-F238E27FC236}">
                <a16:creationId xmlns:a16="http://schemas.microsoft.com/office/drawing/2014/main" id="{7747D8EC-433B-418E-B1C0-718319552598}"/>
              </a:ext>
            </a:extLst>
          </p:cNvPr>
          <p:cNvSpPr>
            <a:spLocks noGrp="1"/>
          </p:cNvSpPr>
          <p:nvPr/>
        </p:nvSpPr>
        <p:spPr>
          <a:xfrm>
            <a:off x="8715375" y="4419600"/>
            <a:ext cx="666750" cy="342900"/>
          </a:xfrm>
          <a:prstGeom prst="rect">
            <a:avLst/>
          </a:prstGeom>
          <a:noFill/>
          <a:ln w="0">
            <a:noFill/>
            <a:prstDash val="solid"/>
          </a:ln>
        </p:spPr>
        <p:txBody>
          <a:bodyPr anchor="ctr"/>
          <a:lstStyle/>
          <a:p>
            <a:pPr algn="r">
              <a:buNone/>
              <a:defRPr sz="1275" b="1">
                <a:solidFill>
                  <a:srgbClr val="62676B"/>
                </a:solidFill>
              </a:defRPr>
            </a:pPr>
            <a:r>
              <a:rPr sz="1275" b="1">
                <a:solidFill>
                  <a:srgbClr val="62676B"/>
                </a:solidFill>
              </a:rPr>
              <a:t>48 / 48</a:t>
            </a:r>
          </a:p>
        </p:txBody>
      </p:sp>
      <p:sp>
        <p:nvSpPr>
          <p:cNvPr id="24" name="Rectangle: Rounded Corners 23">
            <a:extLst>
              <a:ext uri="{FF2B5EF4-FFF2-40B4-BE49-F238E27FC236}">
                <a16:creationId xmlns:a16="http://schemas.microsoft.com/office/drawing/2014/main" id="{95319F9A-EFDE-47CB-A35C-8E9B4FCA56D5}"/>
              </a:ext>
            </a:extLst>
          </p:cNvPr>
          <p:cNvSpPr>
            <a:spLocks noGrp="1"/>
          </p:cNvSpPr>
          <p:nvPr/>
        </p:nvSpPr>
        <p:spPr>
          <a:xfrm>
            <a:off x="9620250" y="1790700"/>
            <a:ext cx="1981200" cy="3257550"/>
          </a:xfrm>
          <a:prstGeom prst="roundRect">
            <a:avLst>
              <a:gd name="adj" fmla="val 3846"/>
            </a:avLst>
          </a:prstGeom>
          <a:solidFill>
            <a:srgbClr val="EDF7F3"/>
          </a:solidFill>
          <a:ln w="0">
            <a:noFill/>
            <a:prstDash val="solid"/>
          </a:ln>
        </p:spPr>
      </p:sp>
      <p:sp>
        <p:nvSpPr>
          <p:cNvPr id="25" name="Rectangle 24">
            <a:extLst>
              <a:ext uri="{FF2B5EF4-FFF2-40B4-BE49-F238E27FC236}">
                <a16:creationId xmlns:a16="http://schemas.microsoft.com/office/drawing/2014/main" id="{89031D51-418D-4458-A980-3415B89A7A8E}"/>
              </a:ext>
            </a:extLst>
          </p:cNvPr>
          <p:cNvSpPr>
            <a:spLocks noGrp="1"/>
          </p:cNvSpPr>
          <p:nvPr/>
        </p:nvSpPr>
        <p:spPr>
          <a:xfrm>
            <a:off x="9867900" y="2076450"/>
            <a:ext cx="1485900" cy="647700"/>
          </a:xfrm>
          <a:prstGeom prst="rect">
            <a:avLst/>
          </a:prstGeom>
          <a:noFill/>
          <a:ln w="0">
            <a:noFill/>
            <a:prstDash val="solid"/>
          </a:ln>
        </p:spPr>
        <p:txBody>
          <a:bodyPr anchor="ctr"/>
          <a:lstStyle/>
          <a:p>
            <a:pPr algn="ctr">
              <a:buNone/>
              <a:defRPr sz="3600" b="1">
                <a:solidFill>
                  <a:srgbClr val="2E9B7A"/>
                </a:solidFill>
              </a:defRPr>
            </a:pPr>
            <a:r>
              <a:rPr sz="3600" b="1">
                <a:solidFill>
                  <a:srgbClr val="2E9B7A"/>
                </a:solidFill>
              </a:rPr>
              <a:t>100%</a:t>
            </a:r>
          </a:p>
        </p:txBody>
      </p:sp>
      <p:sp>
        <p:nvSpPr>
          <p:cNvPr id="26" name="Rectangle 25">
            <a:extLst>
              <a:ext uri="{FF2B5EF4-FFF2-40B4-BE49-F238E27FC236}">
                <a16:creationId xmlns:a16="http://schemas.microsoft.com/office/drawing/2014/main" id="{73AF7732-363D-4A31-B736-5EEDCD82DF2B}"/>
              </a:ext>
            </a:extLst>
          </p:cNvPr>
          <p:cNvSpPr>
            <a:spLocks noGrp="1"/>
          </p:cNvSpPr>
          <p:nvPr/>
        </p:nvSpPr>
        <p:spPr>
          <a:xfrm>
            <a:off x="9867900" y="2724150"/>
            <a:ext cx="1485900" cy="571500"/>
          </a:xfrm>
          <a:prstGeom prst="rect">
            <a:avLst/>
          </a:prstGeom>
          <a:noFill/>
          <a:ln w="0">
            <a:noFill/>
            <a:prstDash val="solid"/>
          </a:ln>
        </p:spPr>
        <p:txBody>
          <a:bodyPr anchor="ctr"/>
          <a:lstStyle/>
          <a:p>
            <a:pPr algn="ctr">
              <a:buNone/>
              <a:defRPr sz="1350" b="1">
                <a:solidFill>
                  <a:srgbClr val="171717"/>
                </a:solidFill>
              </a:defRPr>
            </a:pPr>
            <a:r>
              <a:rPr sz="1350" b="1">
                <a:solidFill>
                  <a:srgbClr val="171717"/>
                </a:solidFill>
              </a:rPr>
              <a:t>recorded attendance</a:t>
            </a:r>
          </a:p>
        </p:txBody>
      </p:sp>
      <p:sp>
        <p:nvSpPr>
          <p:cNvPr id="27" name="Rectangle 26">
            <a:extLst>
              <a:ext uri="{FF2B5EF4-FFF2-40B4-BE49-F238E27FC236}">
                <a16:creationId xmlns:a16="http://schemas.microsoft.com/office/drawing/2014/main" id="{D3365107-22E6-49C7-BA08-1349E6883581}"/>
              </a:ext>
            </a:extLst>
          </p:cNvPr>
          <p:cNvSpPr>
            <a:spLocks noGrp="1"/>
          </p:cNvSpPr>
          <p:nvPr/>
        </p:nvSpPr>
        <p:spPr>
          <a:xfrm>
            <a:off x="9867900" y="3524250"/>
            <a:ext cx="1485900" cy="19050"/>
          </a:xfrm>
          <a:prstGeom prst="rect">
            <a:avLst/>
          </a:prstGeom>
          <a:solidFill>
            <a:srgbClr val="F0872B"/>
          </a:solidFill>
          <a:ln w="9525">
            <a:solidFill>
              <a:srgbClr val="F0872B"/>
            </a:solidFill>
            <a:prstDash val="solid"/>
          </a:ln>
        </p:spPr>
      </p:sp>
      <p:sp>
        <p:nvSpPr>
          <p:cNvPr id="28" name="Rectangle 27">
            <a:extLst>
              <a:ext uri="{FF2B5EF4-FFF2-40B4-BE49-F238E27FC236}">
                <a16:creationId xmlns:a16="http://schemas.microsoft.com/office/drawing/2014/main" id="{AF982B6E-62B7-4B8E-A9BE-A25F6AF2DDC2}"/>
              </a:ext>
            </a:extLst>
          </p:cNvPr>
          <p:cNvSpPr>
            <a:spLocks noGrp="1"/>
          </p:cNvSpPr>
          <p:nvPr/>
        </p:nvSpPr>
        <p:spPr>
          <a:xfrm>
            <a:off x="9867900" y="3752850"/>
            <a:ext cx="1485900" cy="228600"/>
          </a:xfrm>
          <a:prstGeom prst="rect">
            <a:avLst/>
          </a:prstGeom>
          <a:noFill/>
          <a:ln w="0">
            <a:noFill/>
            <a:prstDash val="solid"/>
          </a:ln>
        </p:spPr>
        <p:txBody>
          <a:bodyPr anchor="ctr"/>
          <a:lstStyle/>
          <a:p>
            <a:pPr algn="ctr">
              <a:buNone/>
              <a:defRPr sz="1050" b="1">
                <a:solidFill>
                  <a:srgbClr val="F0872B"/>
                </a:solidFill>
              </a:defRPr>
            </a:pPr>
            <a:r>
              <a:rPr sz="1050" b="1">
                <a:solidFill>
                  <a:srgbClr val="F0872B"/>
                </a:solidFill>
              </a:rPr>
              <a:t>Signed registers</a:t>
            </a:r>
          </a:p>
        </p:txBody>
      </p:sp>
      <p:sp>
        <p:nvSpPr>
          <p:cNvPr id="29" name="Rectangle 28">
            <a:extLst>
              <a:ext uri="{FF2B5EF4-FFF2-40B4-BE49-F238E27FC236}">
                <a16:creationId xmlns:a16="http://schemas.microsoft.com/office/drawing/2014/main" id="{84D66F08-4FC1-4C1C-B6B3-E639E72BF552}"/>
              </a:ext>
            </a:extLst>
          </p:cNvPr>
          <p:cNvSpPr>
            <a:spLocks noGrp="1"/>
          </p:cNvSpPr>
          <p:nvPr/>
        </p:nvSpPr>
        <p:spPr>
          <a:xfrm>
            <a:off x="9867900" y="4057650"/>
            <a:ext cx="1485900" cy="552450"/>
          </a:xfrm>
          <a:prstGeom prst="rect">
            <a:avLst/>
          </a:prstGeom>
          <a:noFill/>
          <a:ln w="0">
            <a:noFill/>
            <a:prstDash val="solid"/>
          </a:ln>
        </p:spPr>
        <p:txBody>
          <a:bodyPr anchor="t"/>
          <a:lstStyle/>
          <a:p>
            <a:pPr algn="ctr">
              <a:buNone/>
              <a:defRPr sz="1200" b="1">
                <a:solidFill>
                  <a:srgbClr val="171717"/>
                </a:solidFill>
              </a:defRPr>
            </a:pPr>
            <a:r>
              <a:rPr sz="1200" b="1">
                <a:solidFill>
                  <a:srgbClr val="171717"/>
                </a:solidFill>
              </a:rPr>
              <a:t>Four August sessions on file</a:t>
            </a:r>
          </a:p>
        </p:txBody>
      </p:sp>
      <p:sp>
        <p:nvSpPr>
          <p:cNvPr id="30" name="Rectangle 29">
            <a:extLst>
              <a:ext uri="{FF2B5EF4-FFF2-40B4-BE49-F238E27FC236}">
                <a16:creationId xmlns:a16="http://schemas.microsoft.com/office/drawing/2014/main" id="{97810922-D5C0-4EFA-9C5A-09B6669CDD1C}"/>
              </a:ext>
            </a:extLst>
          </p:cNvPr>
          <p:cNvSpPr>
            <a:spLocks noGrp="1"/>
          </p:cNvSpPr>
          <p:nvPr/>
        </p:nvSpPr>
        <p:spPr>
          <a:xfrm>
            <a:off x="590550" y="5467350"/>
            <a:ext cx="11010900" cy="647700"/>
          </a:xfrm>
          <a:prstGeom prst="rect">
            <a:avLst/>
          </a:prstGeom>
          <a:solidFill>
            <a:srgbClr val="F0872B"/>
          </a:solidFill>
          <a:ln w="9525">
            <a:solidFill>
              <a:srgbClr val="F0872B"/>
            </a:solidFill>
            <a:prstDash val="solid"/>
          </a:ln>
        </p:spPr>
      </p:sp>
      <p:sp>
        <p:nvSpPr>
          <p:cNvPr id="31" name="Rectangle 30">
            <a:extLst>
              <a:ext uri="{FF2B5EF4-FFF2-40B4-BE49-F238E27FC236}">
                <a16:creationId xmlns:a16="http://schemas.microsoft.com/office/drawing/2014/main" id="{97C4FD29-955D-4806-B390-326D19B5F4B9}"/>
              </a:ext>
            </a:extLst>
          </p:cNvPr>
          <p:cNvSpPr>
            <a:spLocks noGrp="1"/>
          </p:cNvSpPr>
          <p:nvPr/>
        </p:nvSpPr>
        <p:spPr>
          <a:xfrm>
            <a:off x="800100" y="5562600"/>
            <a:ext cx="10572750" cy="457200"/>
          </a:xfrm>
          <a:prstGeom prst="rect">
            <a:avLst/>
          </a:prstGeom>
          <a:noFill/>
          <a:ln w="0">
            <a:noFill/>
            <a:prstDash val="solid"/>
          </a:ln>
        </p:spPr>
        <p:txBody>
          <a:bodyPr anchor="ctr"/>
          <a:lstStyle/>
          <a:p>
            <a:pPr algn="l">
              <a:buNone/>
              <a:defRPr sz="1200" b="1">
                <a:solidFill>
                  <a:srgbClr val="FFFFFF"/>
                </a:solidFill>
              </a:defRPr>
            </a:pPr>
            <a:r>
              <a:rPr sz="1200" b="1">
                <a:solidFill>
                  <a:srgbClr val="FFFFFF"/>
                </a:solidFill>
              </a:rPr>
              <a:t>All four August contact sessions were fully attended. The 28 August register confirms 12 of 12 learners present for US 114051, sustaining 100% recorded attendance for the month.</a:t>
            </a:r>
          </a:p>
        </p:txBody>
      </p:sp>
      <p:sp>
        <p:nvSpPr>
          <p:cNvPr id="32" name="Rectangle 31">
            <a:extLst>
              <a:ext uri="{FF2B5EF4-FFF2-40B4-BE49-F238E27FC236}">
                <a16:creationId xmlns:a16="http://schemas.microsoft.com/office/drawing/2014/main" id="{5CD3F8DD-DE95-4E72-88C5-7F00BB59B687}"/>
              </a:ext>
            </a:extLst>
          </p:cNvPr>
          <p:cNvSpPr>
            <a:spLocks noGrp="1"/>
          </p:cNvSpPr>
          <p:nvPr/>
        </p:nvSpPr>
        <p:spPr>
          <a:xfrm>
            <a:off x="590550" y="6477000"/>
            <a:ext cx="11010900" cy="9525"/>
          </a:xfrm>
          <a:prstGeom prst="rect">
            <a:avLst/>
          </a:prstGeom>
          <a:solidFill>
            <a:srgbClr val="DCC0A0"/>
          </a:solidFill>
          <a:ln w="9525">
            <a:solidFill>
              <a:srgbClr val="DCC0A0"/>
            </a:solidFill>
            <a:prstDash val="solid"/>
          </a:ln>
        </p:spPr>
      </p:sp>
      <p:sp>
        <p:nvSpPr>
          <p:cNvPr id="33" name="Rectangle 32">
            <a:extLst>
              <a:ext uri="{FF2B5EF4-FFF2-40B4-BE49-F238E27FC236}">
                <a16:creationId xmlns:a16="http://schemas.microsoft.com/office/drawing/2014/main" id="{6DCCB94E-C706-46DF-BC34-51392BB1405B}"/>
              </a:ext>
            </a:extLst>
          </p:cNvPr>
          <p:cNvSpPr>
            <a:spLocks noGrp="1"/>
          </p:cNvSpPr>
          <p:nvPr/>
        </p:nvSpPr>
        <p:spPr>
          <a:xfrm>
            <a:off x="590550" y="6553200"/>
            <a:ext cx="4762500" cy="171450"/>
          </a:xfrm>
          <a:prstGeom prst="rect">
            <a:avLst/>
          </a:prstGeom>
          <a:noFill/>
          <a:ln w="0">
            <a:noFill/>
            <a:prstDash val="solid"/>
          </a:ln>
        </p:spPr>
        <p:txBody>
          <a:bodyPr anchor="ctr"/>
          <a:lstStyle/>
          <a:p>
            <a:pPr algn="l">
              <a:buNone/>
              <a:defRPr sz="825" b="0">
                <a:solidFill>
                  <a:srgbClr val="62676B"/>
                </a:solidFill>
              </a:defRPr>
            </a:pPr>
            <a:r>
              <a:rPr sz="825" b="0">
                <a:solidFill>
                  <a:srgbClr val="62676B"/>
                </a:solidFill>
              </a:rPr>
              <a:t>Eruditio • Empower · Develop · Transform</a:t>
            </a:r>
          </a:p>
        </p:txBody>
      </p:sp>
      <p:sp>
        <p:nvSpPr>
          <p:cNvPr id="34" name="Rectangle 33">
            <a:extLst>
              <a:ext uri="{FF2B5EF4-FFF2-40B4-BE49-F238E27FC236}">
                <a16:creationId xmlns:a16="http://schemas.microsoft.com/office/drawing/2014/main" id="{63D2BA71-2625-412A-AED6-32C559C8D5A9}"/>
              </a:ext>
            </a:extLst>
          </p:cNvPr>
          <p:cNvSpPr>
            <a:spLocks noGrp="1"/>
          </p:cNvSpPr>
          <p:nvPr/>
        </p:nvSpPr>
        <p:spPr>
          <a:xfrm>
            <a:off x="11049000" y="6534150"/>
            <a:ext cx="552450" cy="171450"/>
          </a:xfrm>
          <a:prstGeom prst="rect">
            <a:avLst/>
          </a:prstGeom>
          <a:noFill/>
          <a:ln w="0">
            <a:noFill/>
            <a:prstDash val="solid"/>
          </a:ln>
        </p:spPr>
        <p:txBody>
          <a:bodyPr anchor="ctr"/>
          <a:lstStyle/>
          <a:p>
            <a:pPr algn="r">
              <a:buNone/>
              <a:defRPr sz="900" b="1">
                <a:solidFill>
                  <a:srgbClr val="F0872B"/>
                </a:solidFill>
              </a:defRPr>
            </a:pPr>
            <a:r>
              <a:rPr sz="900" b="1">
                <a:solidFill>
                  <a:srgbClr val="F0872B"/>
                </a:solidFill>
              </a:rPr>
              <a:t>03</a:t>
            </a:r>
          </a:p>
        </p:txBody>
      </p:sp>
    </p:spTree>
    <p:extLst>
      <p:ext uri="{BB962C8B-B14F-4D97-AF65-F5344CB8AC3E}">
        <p14:creationId xmlns:p14="http://schemas.microsoft.com/office/powerpoint/2010/main" val="2306667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8" name="Rectangle 57">
            <a:extLst>
              <a:ext uri="{FF2B5EF4-FFF2-40B4-BE49-F238E27FC236}">
                <a16:creationId xmlns:a16="http://schemas.microsoft.com/office/drawing/2014/main" id="{DDF73464-30B3-4E06-8FE1-AFBF8EFE8CAD}"/>
              </a:ext>
            </a:extLst>
          </p:cNvPr>
          <p:cNvSpPr>
            <a:spLocks noGrp="1"/>
          </p:cNvSpPr>
          <p:nvPr/>
        </p:nvSpPr>
        <p:spPr>
          <a:xfrm>
            <a:off x="0" y="0"/>
            <a:ext cx="12192000" cy="133350"/>
          </a:xfrm>
          <a:prstGeom prst="rect">
            <a:avLst/>
          </a:prstGeom>
          <a:solidFill>
            <a:srgbClr val="F0872B"/>
          </a:solidFill>
          <a:ln w="9525">
            <a:solidFill>
              <a:srgbClr val="F0872B"/>
            </a:solidFill>
            <a:prstDash val="solid"/>
          </a:ln>
        </p:spPr>
      </p:sp>
      <p:sp>
        <p:nvSpPr>
          <p:cNvPr id="2" name="Rectangle 1">
            <a:extLst>
              <a:ext uri="{FF2B5EF4-FFF2-40B4-BE49-F238E27FC236}">
                <a16:creationId xmlns:a16="http://schemas.microsoft.com/office/drawing/2014/main" id="{033EDA81-F074-4F0F-BF9A-A4D553072999}"/>
              </a:ext>
            </a:extLst>
          </p:cNvPr>
          <p:cNvSpPr>
            <a:spLocks noGrp="1"/>
          </p:cNvSpPr>
          <p:nvPr/>
        </p:nvSpPr>
        <p:spPr>
          <a:xfrm>
            <a:off x="0" y="133350"/>
            <a:ext cx="12192000" cy="66675"/>
          </a:xfrm>
          <a:prstGeom prst="rect">
            <a:avLst/>
          </a:prstGeom>
          <a:solidFill>
            <a:srgbClr val="2E9B7A"/>
          </a:solidFill>
          <a:ln w="9525">
            <a:solidFill>
              <a:srgbClr val="2E9B7A"/>
            </a:solidFill>
            <a:prstDash val="solid"/>
          </a:ln>
        </p:spPr>
      </p:sp>
      <p:sp>
        <p:nvSpPr>
          <p:cNvPr id="3" name="Rectangle 2">
            <a:extLst>
              <a:ext uri="{FF2B5EF4-FFF2-40B4-BE49-F238E27FC236}">
                <a16:creationId xmlns:a16="http://schemas.microsoft.com/office/drawing/2014/main" id="{4A196787-57DD-442B-B1AA-8A3900DFE37B}"/>
              </a:ext>
            </a:extLst>
          </p:cNvPr>
          <p:cNvSpPr>
            <a:spLocks noGrp="1"/>
          </p:cNvSpPr>
          <p:nvPr/>
        </p:nvSpPr>
        <p:spPr>
          <a:xfrm>
            <a:off x="590550" y="361950"/>
            <a:ext cx="6858000" cy="228600"/>
          </a:xfrm>
          <a:prstGeom prst="rect">
            <a:avLst/>
          </a:prstGeom>
          <a:noFill/>
          <a:ln w="0">
            <a:noFill/>
            <a:prstDash val="solid"/>
          </a:ln>
        </p:spPr>
        <p:txBody>
          <a:bodyPr anchor="ctr"/>
          <a:lstStyle/>
          <a:p>
            <a:pPr algn="l">
              <a:buNone/>
              <a:defRPr sz="975" b="1">
                <a:solidFill>
                  <a:srgbClr val="2E9B7A"/>
                </a:solidFill>
              </a:defRPr>
            </a:pPr>
            <a:r>
              <a:rPr sz="975" b="1">
                <a:solidFill>
                  <a:srgbClr val="2E9B7A"/>
                </a:solidFill>
              </a:rPr>
              <a:t>INVESTEC • AUGUST LEARNERSHIP REPORT</a:t>
            </a:r>
          </a:p>
        </p:txBody>
      </p:sp>
      <p:sp>
        <p:nvSpPr>
          <p:cNvPr id="4" name="Rectangle 3">
            <a:extLst>
              <a:ext uri="{FF2B5EF4-FFF2-40B4-BE49-F238E27FC236}">
                <a16:creationId xmlns:a16="http://schemas.microsoft.com/office/drawing/2014/main" id="{C250F5C1-4DFA-47C3-8B46-D036EB94C6E7}"/>
              </a:ext>
            </a:extLst>
          </p:cNvPr>
          <p:cNvSpPr>
            <a:spLocks noGrp="1"/>
          </p:cNvSpPr>
          <p:nvPr/>
        </p:nvSpPr>
        <p:spPr>
          <a:xfrm>
            <a:off x="590550" y="704850"/>
            <a:ext cx="8572500" cy="533400"/>
          </a:xfrm>
          <a:prstGeom prst="rect">
            <a:avLst/>
          </a:prstGeom>
          <a:noFill/>
          <a:ln w="0">
            <a:noFill/>
            <a:prstDash val="solid"/>
          </a:ln>
        </p:spPr>
        <p:txBody>
          <a:bodyPr anchor="ctr"/>
          <a:lstStyle/>
          <a:p>
            <a:pPr algn="l">
              <a:buNone/>
              <a:defRPr sz="2550" b="1">
                <a:solidFill>
                  <a:srgbClr val="171717"/>
                </a:solidFill>
              </a:defRPr>
            </a:pPr>
            <a:r>
              <a:rPr sz="2550" b="1">
                <a:solidFill>
                  <a:srgbClr val="171717"/>
                </a:solidFill>
              </a:rPr>
              <a:t>Delivery remained on schedule through month-end</a:t>
            </a:r>
          </a:p>
        </p:txBody>
      </p:sp>
      <p:pic>
        <p:nvPicPr>
          <p:cNvPr id="64" name="Picture 63"/>
          <p:cNvPicPr>
            <a:picLocks noChangeAspect="1"/>
          </p:cNvPicPr>
          <p:nvPr/>
        </p:nvPicPr>
        <p:blipFill>
          <a:blip r:embed="rId3"/>
          <a:stretch/>
        </p:blipFill>
        <p:spPr>
          <a:xfrm>
            <a:off x="9620250" y="269398"/>
            <a:ext cx="2000250" cy="756605"/>
          </a:xfrm>
          <a:prstGeom prst="rect">
            <a:avLst/>
          </a:prstGeom>
        </p:spPr>
      </p:pic>
      <p:sp>
        <p:nvSpPr>
          <p:cNvPr id="6" name="Rectangle 5">
            <a:extLst>
              <a:ext uri="{FF2B5EF4-FFF2-40B4-BE49-F238E27FC236}">
                <a16:creationId xmlns:a16="http://schemas.microsoft.com/office/drawing/2014/main" id="{4EF1AAD0-FDF5-4F8E-BA59-67644B3D661B}"/>
              </a:ext>
            </a:extLst>
          </p:cNvPr>
          <p:cNvSpPr>
            <a:spLocks noGrp="1"/>
          </p:cNvSpPr>
          <p:nvPr/>
        </p:nvSpPr>
        <p:spPr>
          <a:xfrm>
            <a:off x="590550" y="1352550"/>
            <a:ext cx="11010900" cy="28575"/>
          </a:xfrm>
          <a:prstGeom prst="rect">
            <a:avLst/>
          </a:prstGeom>
          <a:solidFill>
            <a:srgbClr val="F0872B"/>
          </a:solidFill>
          <a:ln w="9525">
            <a:solidFill>
              <a:srgbClr val="F0872B"/>
            </a:solidFill>
            <a:prstDash val="solid"/>
          </a:ln>
        </p:spPr>
      </p:sp>
      <p:sp>
        <p:nvSpPr>
          <p:cNvPr id="7" name="Rectangle 6">
            <a:extLst>
              <a:ext uri="{FF2B5EF4-FFF2-40B4-BE49-F238E27FC236}">
                <a16:creationId xmlns:a16="http://schemas.microsoft.com/office/drawing/2014/main" id="{E372097F-4649-442D-B119-CE119D20A646}"/>
              </a:ext>
            </a:extLst>
          </p:cNvPr>
          <p:cNvSpPr>
            <a:spLocks noGrp="1"/>
          </p:cNvSpPr>
          <p:nvPr/>
        </p:nvSpPr>
        <p:spPr>
          <a:xfrm>
            <a:off x="590550" y="1638300"/>
            <a:ext cx="4000500" cy="228600"/>
          </a:xfrm>
          <a:prstGeom prst="rect">
            <a:avLst/>
          </a:prstGeom>
          <a:noFill/>
          <a:ln w="0">
            <a:noFill/>
            <a:prstDash val="solid"/>
          </a:ln>
        </p:spPr>
        <p:txBody>
          <a:bodyPr anchor="ctr"/>
          <a:lstStyle/>
          <a:p>
            <a:pPr algn="l">
              <a:buNone/>
              <a:defRPr sz="1050" b="1">
                <a:solidFill>
                  <a:srgbClr val="2E9B7A"/>
                </a:solidFill>
              </a:defRPr>
            </a:pPr>
            <a:r>
              <a:rPr sz="1050" b="1">
                <a:solidFill>
                  <a:srgbClr val="2E9B7A"/>
                </a:solidFill>
              </a:rPr>
              <a:t>CURRICULUM PROGRESSION</a:t>
            </a:r>
          </a:p>
        </p:txBody>
      </p:sp>
      <p:sp>
        <p:nvSpPr>
          <p:cNvPr id="8" name="Rectangle: Rounded Corners 7">
            <a:extLst>
              <a:ext uri="{FF2B5EF4-FFF2-40B4-BE49-F238E27FC236}">
                <a16:creationId xmlns:a16="http://schemas.microsoft.com/office/drawing/2014/main" id="{CF8665C3-5178-4F26-97A6-A76E1468EBA9}"/>
              </a:ext>
            </a:extLst>
          </p:cNvPr>
          <p:cNvSpPr>
            <a:spLocks noGrp="1"/>
          </p:cNvSpPr>
          <p:nvPr/>
        </p:nvSpPr>
        <p:spPr>
          <a:xfrm>
            <a:off x="590550" y="2038350"/>
            <a:ext cx="10382250" cy="419100"/>
          </a:xfrm>
          <a:prstGeom prst="roundRect">
            <a:avLst>
              <a:gd name="adj" fmla="val 18182"/>
            </a:avLst>
          </a:prstGeom>
          <a:solidFill>
            <a:srgbClr val="F7F5F1"/>
          </a:solidFill>
          <a:ln w="0">
            <a:noFill/>
            <a:prstDash val="solid"/>
          </a:ln>
        </p:spPr>
      </p:sp>
      <p:sp>
        <p:nvSpPr>
          <p:cNvPr id="9" name="Rectangle: Rounded Corners 8">
            <a:extLst>
              <a:ext uri="{FF2B5EF4-FFF2-40B4-BE49-F238E27FC236}">
                <a16:creationId xmlns:a16="http://schemas.microsoft.com/office/drawing/2014/main" id="{DB0BDE45-6B52-44A6-8F85-65941EF0245A}"/>
              </a:ext>
            </a:extLst>
          </p:cNvPr>
          <p:cNvSpPr>
            <a:spLocks noGrp="1"/>
          </p:cNvSpPr>
          <p:nvPr/>
        </p:nvSpPr>
        <p:spPr>
          <a:xfrm>
            <a:off x="590550" y="2038350"/>
            <a:ext cx="5191125" cy="419100"/>
          </a:xfrm>
          <a:prstGeom prst="roundRect">
            <a:avLst>
              <a:gd name="adj" fmla="val 18182"/>
            </a:avLst>
          </a:prstGeom>
          <a:solidFill>
            <a:srgbClr val="2E9B7A"/>
          </a:solidFill>
          <a:ln w="9525">
            <a:solidFill>
              <a:srgbClr val="2E9B7A"/>
            </a:solidFill>
            <a:prstDash val="solid"/>
          </a:ln>
        </p:spPr>
      </p:sp>
      <p:sp>
        <p:nvSpPr>
          <p:cNvPr id="10" name="Rectangle 9">
            <a:extLst>
              <a:ext uri="{FF2B5EF4-FFF2-40B4-BE49-F238E27FC236}">
                <a16:creationId xmlns:a16="http://schemas.microsoft.com/office/drawing/2014/main" id="{ACCD6BC2-3AA4-4357-B9D4-1499C5206A22}"/>
              </a:ext>
            </a:extLst>
          </p:cNvPr>
          <p:cNvSpPr>
            <a:spLocks noGrp="1"/>
          </p:cNvSpPr>
          <p:nvPr/>
        </p:nvSpPr>
        <p:spPr>
          <a:xfrm>
            <a:off x="742950" y="2095500"/>
            <a:ext cx="2190750" cy="285750"/>
          </a:xfrm>
          <a:prstGeom prst="rect">
            <a:avLst/>
          </a:prstGeom>
          <a:noFill/>
          <a:ln w="0">
            <a:noFill/>
            <a:prstDash val="solid"/>
          </a:ln>
        </p:spPr>
        <p:txBody>
          <a:bodyPr anchor="ctr"/>
          <a:lstStyle/>
          <a:p>
            <a:pPr algn="l">
              <a:buNone/>
              <a:defRPr sz="1200" b="1">
                <a:solidFill>
                  <a:srgbClr val="FFFFFF"/>
                </a:solidFill>
              </a:defRPr>
            </a:pPr>
            <a:r>
              <a:rPr sz="1200" b="1">
                <a:solidFill>
                  <a:srgbClr val="FFFFFF"/>
                </a:solidFill>
              </a:rPr>
              <a:t>Completed delivery</a:t>
            </a:r>
          </a:p>
        </p:txBody>
      </p:sp>
      <p:sp>
        <p:nvSpPr>
          <p:cNvPr id="11" name="Rectangle 10">
            <a:extLst>
              <a:ext uri="{FF2B5EF4-FFF2-40B4-BE49-F238E27FC236}">
                <a16:creationId xmlns:a16="http://schemas.microsoft.com/office/drawing/2014/main" id="{11143E4F-E258-4996-81E3-E47A6AF59A8D}"/>
              </a:ext>
            </a:extLst>
          </p:cNvPr>
          <p:cNvSpPr>
            <a:spLocks noGrp="1"/>
          </p:cNvSpPr>
          <p:nvPr/>
        </p:nvSpPr>
        <p:spPr>
          <a:xfrm>
            <a:off x="8096250" y="2095500"/>
            <a:ext cx="2714625" cy="285750"/>
          </a:xfrm>
          <a:prstGeom prst="rect">
            <a:avLst/>
          </a:prstGeom>
          <a:noFill/>
          <a:ln w="0">
            <a:noFill/>
            <a:prstDash val="solid"/>
          </a:ln>
        </p:spPr>
        <p:txBody>
          <a:bodyPr anchor="ctr"/>
          <a:lstStyle/>
          <a:p>
            <a:pPr algn="r">
              <a:buNone/>
              <a:defRPr sz="1200" b="1">
                <a:solidFill>
                  <a:srgbClr val="171717"/>
                </a:solidFill>
              </a:defRPr>
            </a:pPr>
            <a:r>
              <a:rPr sz="1200" b="1">
                <a:solidFill>
                  <a:srgbClr val="171717"/>
                </a:solidFill>
              </a:rPr>
              <a:t>Next standard scheduled</a:t>
            </a:r>
          </a:p>
        </p:txBody>
      </p:sp>
      <p:sp>
        <p:nvSpPr>
          <p:cNvPr id="12" name="Rectangle 11">
            <a:extLst>
              <a:ext uri="{FF2B5EF4-FFF2-40B4-BE49-F238E27FC236}">
                <a16:creationId xmlns:a16="http://schemas.microsoft.com/office/drawing/2014/main" id="{74CABA22-CA46-4252-BFAF-D37F2EE07E23}"/>
              </a:ext>
            </a:extLst>
          </p:cNvPr>
          <p:cNvSpPr>
            <a:spLocks noGrp="1"/>
          </p:cNvSpPr>
          <p:nvPr/>
        </p:nvSpPr>
        <p:spPr>
          <a:xfrm>
            <a:off x="590550" y="2562225"/>
            <a:ext cx="7620000" cy="247650"/>
          </a:xfrm>
          <a:prstGeom prst="rect">
            <a:avLst/>
          </a:prstGeom>
          <a:noFill/>
          <a:ln w="0">
            <a:noFill/>
            <a:prstDash val="solid"/>
          </a:ln>
        </p:spPr>
        <p:txBody>
          <a:bodyPr anchor="ctr"/>
          <a:lstStyle/>
          <a:p>
            <a:pPr algn="l">
              <a:buNone/>
              <a:defRPr sz="1125" b="0">
                <a:solidFill>
                  <a:srgbClr val="62676B"/>
                </a:solidFill>
              </a:defRPr>
            </a:pPr>
            <a:r>
              <a:rPr sz="1125" b="0">
                <a:solidFill>
                  <a:srgbClr val="62676B"/>
                </a:solidFill>
              </a:rPr>
              <a:t>Completed work is marked on the LMS; US 114051 training was delivered on 28 August.</a:t>
            </a:r>
          </a:p>
        </p:txBody>
      </p:sp>
      <p:sp>
        <p:nvSpPr>
          <p:cNvPr id="13" name="Rectangle 12">
            <a:extLst>
              <a:ext uri="{FF2B5EF4-FFF2-40B4-BE49-F238E27FC236}">
                <a16:creationId xmlns:a16="http://schemas.microsoft.com/office/drawing/2014/main" id="{E601B9D5-D070-4663-860F-A900C1C750BA}"/>
              </a:ext>
            </a:extLst>
          </p:cNvPr>
          <p:cNvSpPr>
            <a:spLocks noGrp="1"/>
          </p:cNvSpPr>
          <p:nvPr/>
        </p:nvSpPr>
        <p:spPr>
          <a:xfrm>
            <a:off x="590550" y="3219450"/>
            <a:ext cx="2457450" cy="457200"/>
          </a:xfrm>
          <a:prstGeom prst="rect">
            <a:avLst/>
          </a:prstGeom>
          <a:solidFill>
            <a:srgbClr val="2E9B7A"/>
          </a:solidFill>
          <a:ln w="9525">
            <a:solidFill>
              <a:srgbClr val="363636"/>
            </a:solidFill>
            <a:prstDash val="solid"/>
          </a:ln>
        </p:spPr>
      </p:sp>
      <p:sp>
        <p:nvSpPr>
          <p:cNvPr id="14" name="Rectangle 13">
            <a:extLst>
              <a:ext uri="{FF2B5EF4-FFF2-40B4-BE49-F238E27FC236}">
                <a16:creationId xmlns:a16="http://schemas.microsoft.com/office/drawing/2014/main" id="{0855FE23-3B46-4C4F-8652-6718FA053389}"/>
              </a:ext>
            </a:extLst>
          </p:cNvPr>
          <p:cNvSpPr>
            <a:spLocks noGrp="1"/>
          </p:cNvSpPr>
          <p:nvPr/>
        </p:nvSpPr>
        <p:spPr>
          <a:xfrm>
            <a:off x="685800" y="3248025"/>
            <a:ext cx="2266950" cy="400050"/>
          </a:xfrm>
          <a:prstGeom prst="rect">
            <a:avLst/>
          </a:prstGeom>
          <a:noFill/>
          <a:ln w="0">
            <a:noFill/>
            <a:prstDash val="solid"/>
          </a:ln>
        </p:spPr>
        <p:txBody>
          <a:bodyPr anchor="ctr"/>
          <a:lstStyle/>
          <a:p>
            <a:pPr algn="l">
              <a:buNone/>
              <a:defRPr sz="1050" b="1">
                <a:solidFill>
                  <a:srgbClr val="FFFFFF"/>
                </a:solidFill>
              </a:defRPr>
            </a:pPr>
            <a:r>
              <a:rPr sz="1050" b="1">
                <a:solidFill>
                  <a:srgbClr val="FFFFFF"/>
                </a:solidFill>
              </a:rPr>
              <a:t>Delivery point</a:t>
            </a:r>
          </a:p>
        </p:txBody>
      </p:sp>
      <p:sp>
        <p:nvSpPr>
          <p:cNvPr id="15" name="Rectangle 14">
            <a:extLst>
              <a:ext uri="{FF2B5EF4-FFF2-40B4-BE49-F238E27FC236}">
                <a16:creationId xmlns:a16="http://schemas.microsoft.com/office/drawing/2014/main" id="{FA7AE107-4A81-4F01-8EC1-61552B0DF5E3}"/>
              </a:ext>
            </a:extLst>
          </p:cNvPr>
          <p:cNvSpPr>
            <a:spLocks noGrp="1"/>
          </p:cNvSpPr>
          <p:nvPr/>
        </p:nvSpPr>
        <p:spPr>
          <a:xfrm>
            <a:off x="3048000" y="3219450"/>
            <a:ext cx="1428750" cy="457200"/>
          </a:xfrm>
          <a:prstGeom prst="rect">
            <a:avLst/>
          </a:prstGeom>
          <a:solidFill>
            <a:srgbClr val="2E9B7A"/>
          </a:solidFill>
          <a:ln w="9525">
            <a:solidFill>
              <a:srgbClr val="363636"/>
            </a:solidFill>
            <a:prstDash val="solid"/>
          </a:ln>
        </p:spPr>
      </p:sp>
      <p:sp>
        <p:nvSpPr>
          <p:cNvPr id="16" name="Rectangle 15">
            <a:extLst>
              <a:ext uri="{FF2B5EF4-FFF2-40B4-BE49-F238E27FC236}">
                <a16:creationId xmlns:a16="http://schemas.microsoft.com/office/drawing/2014/main" id="{D2A40BA6-4DC2-4DB2-9014-73564C375E61}"/>
              </a:ext>
            </a:extLst>
          </p:cNvPr>
          <p:cNvSpPr>
            <a:spLocks noGrp="1"/>
          </p:cNvSpPr>
          <p:nvPr/>
        </p:nvSpPr>
        <p:spPr>
          <a:xfrm>
            <a:off x="3143250" y="3248025"/>
            <a:ext cx="1238250" cy="400050"/>
          </a:xfrm>
          <a:prstGeom prst="rect">
            <a:avLst/>
          </a:prstGeom>
          <a:noFill/>
          <a:ln w="0">
            <a:noFill/>
            <a:prstDash val="solid"/>
          </a:ln>
        </p:spPr>
        <p:txBody>
          <a:bodyPr anchor="ctr"/>
          <a:lstStyle/>
          <a:p>
            <a:pPr algn="l">
              <a:buNone/>
              <a:defRPr sz="1050" b="1">
                <a:solidFill>
                  <a:srgbClr val="FFFFFF"/>
                </a:solidFill>
              </a:defRPr>
            </a:pPr>
            <a:r>
              <a:rPr sz="1050" b="1">
                <a:solidFill>
                  <a:srgbClr val="FFFFFF"/>
                </a:solidFill>
              </a:rPr>
              <a:t>Timing</a:t>
            </a:r>
          </a:p>
        </p:txBody>
      </p:sp>
      <p:sp>
        <p:nvSpPr>
          <p:cNvPr id="17" name="Rectangle 16">
            <a:extLst>
              <a:ext uri="{FF2B5EF4-FFF2-40B4-BE49-F238E27FC236}">
                <a16:creationId xmlns:a16="http://schemas.microsoft.com/office/drawing/2014/main" id="{30398C12-5609-444C-9293-F931BB9AB09B}"/>
              </a:ext>
            </a:extLst>
          </p:cNvPr>
          <p:cNvSpPr>
            <a:spLocks noGrp="1"/>
          </p:cNvSpPr>
          <p:nvPr/>
        </p:nvSpPr>
        <p:spPr>
          <a:xfrm>
            <a:off x="4476750" y="3219450"/>
            <a:ext cx="1714500" cy="457200"/>
          </a:xfrm>
          <a:prstGeom prst="rect">
            <a:avLst/>
          </a:prstGeom>
          <a:solidFill>
            <a:srgbClr val="2E9B7A"/>
          </a:solidFill>
          <a:ln w="9525">
            <a:solidFill>
              <a:srgbClr val="363636"/>
            </a:solidFill>
            <a:prstDash val="solid"/>
          </a:ln>
        </p:spPr>
      </p:sp>
      <p:sp>
        <p:nvSpPr>
          <p:cNvPr id="18" name="Rectangle 17">
            <a:extLst>
              <a:ext uri="{FF2B5EF4-FFF2-40B4-BE49-F238E27FC236}">
                <a16:creationId xmlns:a16="http://schemas.microsoft.com/office/drawing/2014/main" id="{A0F7756C-4595-4683-B883-7171CDA6E89B}"/>
              </a:ext>
            </a:extLst>
          </p:cNvPr>
          <p:cNvSpPr>
            <a:spLocks noGrp="1"/>
          </p:cNvSpPr>
          <p:nvPr/>
        </p:nvSpPr>
        <p:spPr>
          <a:xfrm>
            <a:off x="4572000" y="3248025"/>
            <a:ext cx="1524000" cy="400050"/>
          </a:xfrm>
          <a:prstGeom prst="rect">
            <a:avLst/>
          </a:prstGeom>
          <a:noFill/>
          <a:ln w="0">
            <a:noFill/>
            <a:prstDash val="solid"/>
          </a:ln>
        </p:spPr>
        <p:txBody>
          <a:bodyPr anchor="ctr"/>
          <a:lstStyle/>
          <a:p>
            <a:pPr algn="l">
              <a:buNone/>
              <a:defRPr sz="1050" b="1">
                <a:solidFill>
                  <a:srgbClr val="FFFFFF"/>
                </a:solidFill>
              </a:defRPr>
            </a:pPr>
            <a:r>
              <a:rPr sz="1050" b="1">
                <a:solidFill>
                  <a:srgbClr val="FFFFFF"/>
                </a:solidFill>
              </a:rPr>
              <a:t>Learning position</a:t>
            </a:r>
          </a:p>
        </p:txBody>
      </p:sp>
      <p:sp>
        <p:nvSpPr>
          <p:cNvPr id="19" name="Rectangle 18">
            <a:extLst>
              <a:ext uri="{FF2B5EF4-FFF2-40B4-BE49-F238E27FC236}">
                <a16:creationId xmlns:a16="http://schemas.microsoft.com/office/drawing/2014/main" id="{A3AD7154-9C2D-4EFB-A7D5-27E429B25FA3}"/>
              </a:ext>
            </a:extLst>
          </p:cNvPr>
          <p:cNvSpPr>
            <a:spLocks noGrp="1"/>
          </p:cNvSpPr>
          <p:nvPr/>
        </p:nvSpPr>
        <p:spPr>
          <a:xfrm>
            <a:off x="6191250" y="3219450"/>
            <a:ext cx="2876550" cy="457200"/>
          </a:xfrm>
          <a:prstGeom prst="rect">
            <a:avLst/>
          </a:prstGeom>
          <a:solidFill>
            <a:srgbClr val="2E9B7A"/>
          </a:solidFill>
          <a:ln w="9525">
            <a:solidFill>
              <a:srgbClr val="363636"/>
            </a:solidFill>
            <a:prstDash val="solid"/>
          </a:ln>
        </p:spPr>
      </p:sp>
      <p:sp>
        <p:nvSpPr>
          <p:cNvPr id="20" name="Rectangle 19">
            <a:extLst>
              <a:ext uri="{FF2B5EF4-FFF2-40B4-BE49-F238E27FC236}">
                <a16:creationId xmlns:a16="http://schemas.microsoft.com/office/drawing/2014/main" id="{C63FA7E1-CB78-4055-96D3-850781795E11}"/>
              </a:ext>
            </a:extLst>
          </p:cNvPr>
          <p:cNvSpPr>
            <a:spLocks noGrp="1"/>
          </p:cNvSpPr>
          <p:nvPr/>
        </p:nvSpPr>
        <p:spPr>
          <a:xfrm>
            <a:off x="6286500" y="3248025"/>
            <a:ext cx="2686050" cy="400050"/>
          </a:xfrm>
          <a:prstGeom prst="rect">
            <a:avLst/>
          </a:prstGeom>
          <a:noFill/>
          <a:ln w="0">
            <a:noFill/>
            <a:prstDash val="solid"/>
          </a:ln>
        </p:spPr>
        <p:txBody>
          <a:bodyPr anchor="ctr"/>
          <a:lstStyle/>
          <a:p>
            <a:pPr algn="l">
              <a:buNone/>
              <a:defRPr sz="1050" b="1">
                <a:solidFill>
                  <a:srgbClr val="FFFFFF"/>
                </a:solidFill>
              </a:defRPr>
            </a:pPr>
            <a:r>
              <a:rPr sz="1050" b="1">
                <a:solidFill>
                  <a:srgbClr val="FFFFFF"/>
                </a:solidFill>
              </a:rPr>
              <a:t>Evidence position</a:t>
            </a:r>
          </a:p>
        </p:txBody>
      </p:sp>
      <p:sp>
        <p:nvSpPr>
          <p:cNvPr id="21" name="Rectangle 20">
            <a:extLst>
              <a:ext uri="{FF2B5EF4-FFF2-40B4-BE49-F238E27FC236}">
                <a16:creationId xmlns:a16="http://schemas.microsoft.com/office/drawing/2014/main" id="{11D3FF3E-C11C-4996-AA54-791587D80E08}"/>
              </a:ext>
            </a:extLst>
          </p:cNvPr>
          <p:cNvSpPr>
            <a:spLocks noGrp="1"/>
          </p:cNvSpPr>
          <p:nvPr/>
        </p:nvSpPr>
        <p:spPr>
          <a:xfrm>
            <a:off x="9067800" y="3219450"/>
            <a:ext cx="2533650" cy="457200"/>
          </a:xfrm>
          <a:prstGeom prst="rect">
            <a:avLst/>
          </a:prstGeom>
          <a:solidFill>
            <a:srgbClr val="2E9B7A"/>
          </a:solidFill>
          <a:ln w="9525">
            <a:solidFill>
              <a:srgbClr val="363636"/>
            </a:solidFill>
            <a:prstDash val="solid"/>
          </a:ln>
        </p:spPr>
      </p:sp>
      <p:sp>
        <p:nvSpPr>
          <p:cNvPr id="22" name="Rectangle 21">
            <a:extLst>
              <a:ext uri="{FF2B5EF4-FFF2-40B4-BE49-F238E27FC236}">
                <a16:creationId xmlns:a16="http://schemas.microsoft.com/office/drawing/2014/main" id="{966F8EC8-CC36-4364-9051-69212FBAF4EB}"/>
              </a:ext>
            </a:extLst>
          </p:cNvPr>
          <p:cNvSpPr>
            <a:spLocks noGrp="1"/>
          </p:cNvSpPr>
          <p:nvPr/>
        </p:nvSpPr>
        <p:spPr>
          <a:xfrm>
            <a:off x="9163050" y="3248025"/>
            <a:ext cx="2343150" cy="400050"/>
          </a:xfrm>
          <a:prstGeom prst="rect">
            <a:avLst/>
          </a:prstGeom>
          <a:noFill/>
          <a:ln w="0">
            <a:noFill/>
            <a:prstDash val="solid"/>
          </a:ln>
        </p:spPr>
        <p:txBody>
          <a:bodyPr anchor="ctr"/>
          <a:lstStyle/>
          <a:p>
            <a:pPr algn="l">
              <a:buNone/>
              <a:defRPr sz="1050" b="1">
                <a:solidFill>
                  <a:srgbClr val="FFFFFF"/>
                </a:solidFill>
              </a:defRPr>
            </a:pPr>
            <a:r>
              <a:rPr sz="1050" b="1">
                <a:solidFill>
                  <a:srgbClr val="FFFFFF"/>
                </a:solidFill>
              </a:rPr>
              <a:t>HR view</a:t>
            </a:r>
          </a:p>
        </p:txBody>
      </p:sp>
      <p:sp>
        <p:nvSpPr>
          <p:cNvPr id="23" name="Rectangle 22">
            <a:extLst>
              <a:ext uri="{FF2B5EF4-FFF2-40B4-BE49-F238E27FC236}">
                <a16:creationId xmlns:a16="http://schemas.microsoft.com/office/drawing/2014/main" id="{1952C864-E95E-453A-84FA-B71322B98612}"/>
              </a:ext>
            </a:extLst>
          </p:cNvPr>
          <p:cNvSpPr>
            <a:spLocks noGrp="1"/>
          </p:cNvSpPr>
          <p:nvPr/>
        </p:nvSpPr>
        <p:spPr>
          <a:xfrm>
            <a:off x="590550" y="3676650"/>
            <a:ext cx="2457450" cy="581025"/>
          </a:xfrm>
          <a:prstGeom prst="rect">
            <a:avLst/>
          </a:prstGeom>
          <a:solidFill>
            <a:srgbClr val="FFFFFF"/>
          </a:solidFill>
          <a:ln w="9525">
            <a:solidFill>
              <a:srgbClr val="363636"/>
            </a:solidFill>
            <a:prstDash val="solid"/>
          </a:ln>
        </p:spPr>
      </p:sp>
      <p:sp>
        <p:nvSpPr>
          <p:cNvPr id="24" name="Rectangle 23">
            <a:extLst>
              <a:ext uri="{FF2B5EF4-FFF2-40B4-BE49-F238E27FC236}">
                <a16:creationId xmlns:a16="http://schemas.microsoft.com/office/drawing/2014/main" id="{C286336A-D25D-49AD-B28E-DC692127856F}"/>
              </a:ext>
            </a:extLst>
          </p:cNvPr>
          <p:cNvSpPr>
            <a:spLocks noGrp="1"/>
          </p:cNvSpPr>
          <p:nvPr/>
        </p:nvSpPr>
        <p:spPr>
          <a:xfrm>
            <a:off x="685800" y="3714750"/>
            <a:ext cx="2266950" cy="504825"/>
          </a:xfrm>
          <a:prstGeom prst="rect">
            <a:avLst/>
          </a:prstGeom>
          <a:noFill/>
          <a:ln w="0">
            <a:noFill/>
            <a:prstDash val="solid"/>
          </a:ln>
        </p:spPr>
        <p:txBody>
          <a:bodyPr anchor="ctr"/>
          <a:lstStyle/>
          <a:p>
            <a:pPr algn="l">
              <a:buNone/>
              <a:defRPr sz="1050" b="0">
                <a:solidFill>
                  <a:srgbClr val="171717"/>
                </a:solidFill>
              </a:defRPr>
            </a:pPr>
            <a:r>
              <a:rPr sz="1050" b="0">
                <a:solidFill>
                  <a:srgbClr val="171717"/>
                </a:solidFill>
              </a:rPr>
              <a:t>US 8252</a:t>
            </a:r>
          </a:p>
        </p:txBody>
      </p:sp>
      <p:sp>
        <p:nvSpPr>
          <p:cNvPr id="25" name="Rectangle 24">
            <a:extLst>
              <a:ext uri="{FF2B5EF4-FFF2-40B4-BE49-F238E27FC236}">
                <a16:creationId xmlns:a16="http://schemas.microsoft.com/office/drawing/2014/main" id="{A4CC115F-C653-4724-A059-4C42E6A7870F}"/>
              </a:ext>
            </a:extLst>
          </p:cNvPr>
          <p:cNvSpPr>
            <a:spLocks noGrp="1"/>
          </p:cNvSpPr>
          <p:nvPr/>
        </p:nvSpPr>
        <p:spPr>
          <a:xfrm>
            <a:off x="3048000" y="3676650"/>
            <a:ext cx="1428750" cy="581025"/>
          </a:xfrm>
          <a:prstGeom prst="rect">
            <a:avLst/>
          </a:prstGeom>
          <a:solidFill>
            <a:srgbClr val="FFFFFF"/>
          </a:solidFill>
          <a:ln w="9525">
            <a:solidFill>
              <a:srgbClr val="363636"/>
            </a:solidFill>
            <a:prstDash val="solid"/>
          </a:ln>
        </p:spPr>
      </p:sp>
      <p:sp>
        <p:nvSpPr>
          <p:cNvPr id="26" name="Rectangle 25">
            <a:extLst>
              <a:ext uri="{FF2B5EF4-FFF2-40B4-BE49-F238E27FC236}">
                <a16:creationId xmlns:a16="http://schemas.microsoft.com/office/drawing/2014/main" id="{0E171BC0-1D2D-4316-AC9C-605904DF61A0}"/>
              </a:ext>
            </a:extLst>
          </p:cNvPr>
          <p:cNvSpPr>
            <a:spLocks noGrp="1"/>
          </p:cNvSpPr>
          <p:nvPr/>
        </p:nvSpPr>
        <p:spPr>
          <a:xfrm>
            <a:off x="3143250" y="3714750"/>
            <a:ext cx="1238250" cy="504825"/>
          </a:xfrm>
          <a:prstGeom prst="rect">
            <a:avLst/>
          </a:prstGeom>
          <a:noFill/>
          <a:ln w="0">
            <a:noFill/>
            <a:prstDash val="solid"/>
          </a:ln>
        </p:spPr>
        <p:txBody>
          <a:bodyPr anchor="ctr"/>
          <a:lstStyle/>
          <a:p>
            <a:pPr algn="l">
              <a:buNone/>
              <a:defRPr sz="1050" b="0">
                <a:solidFill>
                  <a:srgbClr val="171717"/>
                </a:solidFill>
              </a:defRPr>
            </a:pPr>
            <a:r>
              <a:rPr sz="1050" b="0">
                <a:solidFill>
                  <a:srgbClr val="171717"/>
                </a:solidFill>
              </a:rPr>
              <a:t>17 July</a:t>
            </a:r>
          </a:p>
        </p:txBody>
      </p:sp>
      <p:sp>
        <p:nvSpPr>
          <p:cNvPr id="27" name="Rectangle 26">
            <a:extLst>
              <a:ext uri="{FF2B5EF4-FFF2-40B4-BE49-F238E27FC236}">
                <a16:creationId xmlns:a16="http://schemas.microsoft.com/office/drawing/2014/main" id="{F5C0B92B-BB4B-47C2-9CFD-AD13F11A2F89}"/>
              </a:ext>
            </a:extLst>
          </p:cNvPr>
          <p:cNvSpPr>
            <a:spLocks noGrp="1"/>
          </p:cNvSpPr>
          <p:nvPr/>
        </p:nvSpPr>
        <p:spPr>
          <a:xfrm>
            <a:off x="4476750" y="3676650"/>
            <a:ext cx="1714500" cy="581025"/>
          </a:xfrm>
          <a:prstGeom prst="rect">
            <a:avLst/>
          </a:prstGeom>
          <a:solidFill>
            <a:srgbClr val="FFFFFF"/>
          </a:solidFill>
          <a:ln w="9525">
            <a:solidFill>
              <a:srgbClr val="363636"/>
            </a:solidFill>
            <a:prstDash val="solid"/>
          </a:ln>
        </p:spPr>
      </p:sp>
      <p:sp>
        <p:nvSpPr>
          <p:cNvPr id="28" name="Rectangle 27">
            <a:extLst>
              <a:ext uri="{FF2B5EF4-FFF2-40B4-BE49-F238E27FC236}">
                <a16:creationId xmlns:a16="http://schemas.microsoft.com/office/drawing/2014/main" id="{CF0625BE-A7E6-4C15-BE43-8224DA99BFAD}"/>
              </a:ext>
            </a:extLst>
          </p:cNvPr>
          <p:cNvSpPr>
            <a:spLocks noGrp="1"/>
          </p:cNvSpPr>
          <p:nvPr/>
        </p:nvSpPr>
        <p:spPr>
          <a:xfrm>
            <a:off x="4572000" y="3714750"/>
            <a:ext cx="1524000" cy="504825"/>
          </a:xfrm>
          <a:prstGeom prst="rect">
            <a:avLst/>
          </a:prstGeom>
          <a:noFill/>
          <a:ln w="0">
            <a:noFill/>
            <a:prstDash val="solid"/>
          </a:ln>
        </p:spPr>
        <p:txBody>
          <a:bodyPr anchor="ctr"/>
          <a:lstStyle/>
          <a:p>
            <a:pPr algn="l">
              <a:buNone/>
              <a:defRPr sz="1050" b="0">
                <a:solidFill>
                  <a:srgbClr val="171717"/>
                </a:solidFill>
              </a:defRPr>
            </a:pPr>
            <a:r>
              <a:rPr sz="1050" b="0">
                <a:solidFill>
                  <a:srgbClr val="171717"/>
                </a:solidFill>
              </a:rPr>
              <a:t>Learner work complete</a:t>
            </a:r>
          </a:p>
        </p:txBody>
      </p:sp>
      <p:sp>
        <p:nvSpPr>
          <p:cNvPr id="29" name="Rectangle 28">
            <a:extLst>
              <a:ext uri="{FF2B5EF4-FFF2-40B4-BE49-F238E27FC236}">
                <a16:creationId xmlns:a16="http://schemas.microsoft.com/office/drawing/2014/main" id="{70C0C3C9-2D70-4E5F-A4DF-251A514E78C6}"/>
              </a:ext>
            </a:extLst>
          </p:cNvPr>
          <p:cNvSpPr>
            <a:spLocks noGrp="1"/>
          </p:cNvSpPr>
          <p:nvPr/>
        </p:nvSpPr>
        <p:spPr>
          <a:xfrm>
            <a:off x="6191250" y="3676650"/>
            <a:ext cx="2876550" cy="581025"/>
          </a:xfrm>
          <a:prstGeom prst="rect">
            <a:avLst/>
          </a:prstGeom>
          <a:solidFill>
            <a:srgbClr val="B7E3A5"/>
          </a:solidFill>
          <a:ln w="9525">
            <a:solidFill>
              <a:srgbClr val="363636"/>
            </a:solidFill>
            <a:prstDash val="solid"/>
          </a:ln>
        </p:spPr>
      </p:sp>
      <p:sp>
        <p:nvSpPr>
          <p:cNvPr id="30" name="Rectangle 29">
            <a:extLst>
              <a:ext uri="{FF2B5EF4-FFF2-40B4-BE49-F238E27FC236}">
                <a16:creationId xmlns:a16="http://schemas.microsoft.com/office/drawing/2014/main" id="{5A57F9F7-4294-4983-AD04-527B352A8FD7}"/>
              </a:ext>
            </a:extLst>
          </p:cNvPr>
          <p:cNvSpPr>
            <a:spLocks noGrp="1"/>
          </p:cNvSpPr>
          <p:nvPr/>
        </p:nvSpPr>
        <p:spPr>
          <a:xfrm>
            <a:off x="6286500" y="3714750"/>
            <a:ext cx="2686050" cy="504825"/>
          </a:xfrm>
          <a:prstGeom prst="rect">
            <a:avLst/>
          </a:prstGeom>
          <a:noFill/>
          <a:ln w="0">
            <a:noFill/>
            <a:prstDash val="solid"/>
          </a:ln>
        </p:spPr>
        <p:txBody>
          <a:bodyPr anchor="ctr"/>
          <a:lstStyle/>
          <a:p>
            <a:pPr algn="l">
              <a:buNone/>
              <a:defRPr sz="1050" b="1">
                <a:solidFill>
                  <a:srgbClr val="171717"/>
                </a:solidFill>
              </a:defRPr>
            </a:pPr>
            <a:r>
              <a:rPr sz="1050" b="1">
                <a:solidFill>
                  <a:srgbClr val="171717"/>
                </a:solidFill>
              </a:rPr>
              <a:t>Marked &amp; stored on LMS</a:t>
            </a:r>
          </a:p>
        </p:txBody>
      </p:sp>
      <p:sp>
        <p:nvSpPr>
          <p:cNvPr id="31" name="Rectangle 30">
            <a:extLst>
              <a:ext uri="{FF2B5EF4-FFF2-40B4-BE49-F238E27FC236}">
                <a16:creationId xmlns:a16="http://schemas.microsoft.com/office/drawing/2014/main" id="{19258F45-C666-4BA3-8565-577F9D35D3A3}"/>
              </a:ext>
            </a:extLst>
          </p:cNvPr>
          <p:cNvSpPr>
            <a:spLocks noGrp="1"/>
          </p:cNvSpPr>
          <p:nvPr/>
        </p:nvSpPr>
        <p:spPr>
          <a:xfrm>
            <a:off x="9067800" y="3676650"/>
            <a:ext cx="2533650" cy="581025"/>
          </a:xfrm>
          <a:prstGeom prst="rect">
            <a:avLst/>
          </a:prstGeom>
          <a:solidFill>
            <a:srgbClr val="FFFFFF"/>
          </a:solidFill>
          <a:ln w="9525">
            <a:solidFill>
              <a:srgbClr val="363636"/>
            </a:solidFill>
            <a:prstDash val="solid"/>
          </a:ln>
        </p:spPr>
      </p:sp>
      <p:sp>
        <p:nvSpPr>
          <p:cNvPr id="32" name="Rectangle 31">
            <a:extLst>
              <a:ext uri="{FF2B5EF4-FFF2-40B4-BE49-F238E27FC236}">
                <a16:creationId xmlns:a16="http://schemas.microsoft.com/office/drawing/2014/main" id="{8E72A6E7-D84D-4B50-BCE6-0F08C56911BA}"/>
              </a:ext>
            </a:extLst>
          </p:cNvPr>
          <p:cNvSpPr>
            <a:spLocks noGrp="1"/>
          </p:cNvSpPr>
          <p:nvPr/>
        </p:nvSpPr>
        <p:spPr>
          <a:xfrm>
            <a:off x="9163050" y="3714750"/>
            <a:ext cx="2343150" cy="504825"/>
          </a:xfrm>
          <a:prstGeom prst="rect">
            <a:avLst/>
          </a:prstGeom>
          <a:noFill/>
          <a:ln w="0">
            <a:noFill/>
            <a:prstDash val="solid"/>
          </a:ln>
        </p:spPr>
        <p:txBody>
          <a:bodyPr anchor="ctr"/>
          <a:lstStyle/>
          <a:p>
            <a:pPr algn="l">
              <a:buNone/>
              <a:defRPr sz="1050" b="1">
                <a:solidFill>
                  <a:srgbClr val="171717"/>
                </a:solidFill>
              </a:defRPr>
            </a:pPr>
            <a:r>
              <a:rPr sz="1050" b="1">
                <a:solidFill>
                  <a:srgbClr val="171717"/>
                </a:solidFill>
              </a:rPr>
              <a:t>Assessor finalisation</a:t>
            </a:r>
          </a:p>
        </p:txBody>
      </p:sp>
      <p:sp>
        <p:nvSpPr>
          <p:cNvPr id="33" name="Rectangle 32">
            <a:extLst>
              <a:ext uri="{FF2B5EF4-FFF2-40B4-BE49-F238E27FC236}">
                <a16:creationId xmlns:a16="http://schemas.microsoft.com/office/drawing/2014/main" id="{E3B3B85A-E7DC-4FCD-97B6-3EE58DFBCA2C}"/>
              </a:ext>
            </a:extLst>
          </p:cNvPr>
          <p:cNvSpPr>
            <a:spLocks noGrp="1"/>
          </p:cNvSpPr>
          <p:nvPr/>
        </p:nvSpPr>
        <p:spPr>
          <a:xfrm>
            <a:off x="590550" y="4257675"/>
            <a:ext cx="2457450" cy="581025"/>
          </a:xfrm>
          <a:prstGeom prst="rect">
            <a:avLst/>
          </a:prstGeom>
          <a:solidFill>
            <a:srgbClr val="FFFFFF"/>
          </a:solidFill>
          <a:ln w="9525">
            <a:solidFill>
              <a:srgbClr val="363636"/>
            </a:solidFill>
            <a:prstDash val="solid"/>
          </a:ln>
        </p:spPr>
      </p:sp>
      <p:sp>
        <p:nvSpPr>
          <p:cNvPr id="34" name="Rectangle 33">
            <a:extLst>
              <a:ext uri="{FF2B5EF4-FFF2-40B4-BE49-F238E27FC236}">
                <a16:creationId xmlns:a16="http://schemas.microsoft.com/office/drawing/2014/main" id="{47405066-C719-4C86-AD2A-4F08833BB008}"/>
              </a:ext>
            </a:extLst>
          </p:cNvPr>
          <p:cNvSpPr>
            <a:spLocks noGrp="1"/>
          </p:cNvSpPr>
          <p:nvPr/>
        </p:nvSpPr>
        <p:spPr>
          <a:xfrm>
            <a:off x="685800" y="4295775"/>
            <a:ext cx="2266950" cy="504825"/>
          </a:xfrm>
          <a:prstGeom prst="rect">
            <a:avLst/>
          </a:prstGeom>
          <a:noFill/>
          <a:ln w="0">
            <a:noFill/>
            <a:prstDash val="solid"/>
          </a:ln>
        </p:spPr>
        <p:txBody>
          <a:bodyPr anchor="ctr"/>
          <a:lstStyle/>
          <a:p>
            <a:pPr algn="l">
              <a:buNone/>
              <a:defRPr sz="1050" b="0">
                <a:solidFill>
                  <a:srgbClr val="171717"/>
                </a:solidFill>
              </a:defRPr>
            </a:pPr>
            <a:r>
              <a:rPr sz="1050" b="0">
                <a:solidFill>
                  <a:srgbClr val="171717"/>
                </a:solidFill>
              </a:rPr>
              <a:t>US 10135</a:t>
            </a:r>
          </a:p>
        </p:txBody>
      </p:sp>
      <p:sp>
        <p:nvSpPr>
          <p:cNvPr id="35" name="Rectangle 34">
            <a:extLst>
              <a:ext uri="{FF2B5EF4-FFF2-40B4-BE49-F238E27FC236}">
                <a16:creationId xmlns:a16="http://schemas.microsoft.com/office/drawing/2014/main" id="{7A8C2E83-C73A-4796-A8D7-D943105FB83C}"/>
              </a:ext>
            </a:extLst>
          </p:cNvPr>
          <p:cNvSpPr>
            <a:spLocks noGrp="1"/>
          </p:cNvSpPr>
          <p:nvPr/>
        </p:nvSpPr>
        <p:spPr>
          <a:xfrm>
            <a:off x="3048000" y="4257675"/>
            <a:ext cx="1428750" cy="581025"/>
          </a:xfrm>
          <a:prstGeom prst="rect">
            <a:avLst/>
          </a:prstGeom>
          <a:solidFill>
            <a:srgbClr val="FFFFFF"/>
          </a:solidFill>
          <a:ln w="9525">
            <a:solidFill>
              <a:srgbClr val="363636"/>
            </a:solidFill>
            <a:prstDash val="solid"/>
          </a:ln>
        </p:spPr>
      </p:sp>
      <p:sp>
        <p:nvSpPr>
          <p:cNvPr id="36" name="Rectangle 35">
            <a:extLst>
              <a:ext uri="{FF2B5EF4-FFF2-40B4-BE49-F238E27FC236}">
                <a16:creationId xmlns:a16="http://schemas.microsoft.com/office/drawing/2014/main" id="{DE1E6B24-8695-460D-994D-3F854D229D82}"/>
              </a:ext>
            </a:extLst>
          </p:cNvPr>
          <p:cNvSpPr>
            <a:spLocks noGrp="1"/>
          </p:cNvSpPr>
          <p:nvPr/>
        </p:nvSpPr>
        <p:spPr>
          <a:xfrm>
            <a:off x="3143250" y="4295775"/>
            <a:ext cx="1238250" cy="504825"/>
          </a:xfrm>
          <a:prstGeom prst="rect">
            <a:avLst/>
          </a:prstGeom>
          <a:noFill/>
          <a:ln w="0">
            <a:noFill/>
            <a:prstDash val="solid"/>
          </a:ln>
        </p:spPr>
        <p:txBody>
          <a:bodyPr anchor="ctr"/>
          <a:lstStyle/>
          <a:p>
            <a:pPr algn="l">
              <a:buNone/>
              <a:defRPr sz="1050" b="0">
                <a:solidFill>
                  <a:srgbClr val="171717"/>
                </a:solidFill>
              </a:defRPr>
            </a:pPr>
            <a:r>
              <a:rPr sz="1050" b="0">
                <a:solidFill>
                  <a:srgbClr val="171717"/>
                </a:solidFill>
              </a:rPr>
              <a:t>24 Jul &amp; 7 Aug</a:t>
            </a:r>
          </a:p>
        </p:txBody>
      </p:sp>
      <p:sp>
        <p:nvSpPr>
          <p:cNvPr id="37" name="Rectangle 36">
            <a:extLst>
              <a:ext uri="{FF2B5EF4-FFF2-40B4-BE49-F238E27FC236}">
                <a16:creationId xmlns:a16="http://schemas.microsoft.com/office/drawing/2014/main" id="{54D5CEEB-BABC-45E9-A664-66F3780AD97D}"/>
              </a:ext>
            </a:extLst>
          </p:cNvPr>
          <p:cNvSpPr>
            <a:spLocks noGrp="1"/>
          </p:cNvSpPr>
          <p:nvPr/>
        </p:nvSpPr>
        <p:spPr>
          <a:xfrm>
            <a:off x="4476750" y="4257675"/>
            <a:ext cx="1714500" cy="581025"/>
          </a:xfrm>
          <a:prstGeom prst="rect">
            <a:avLst/>
          </a:prstGeom>
          <a:solidFill>
            <a:srgbClr val="FFFFFF"/>
          </a:solidFill>
          <a:ln w="9525">
            <a:solidFill>
              <a:srgbClr val="363636"/>
            </a:solidFill>
            <a:prstDash val="solid"/>
          </a:ln>
        </p:spPr>
      </p:sp>
      <p:sp>
        <p:nvSpPr>
          <p:cNvPr id="38" name="Rectangle 37">
            <a:extLst>
              <a:ext uri="{FF2B5EF4-FFF2-40B4-BE49-F238E27FC236}">
                <a16:creationId xmlns:a16="http://schemas.microsoft.com/office/drawing/2014/main" id="{0C199D35-2320-4610-81D7-B78D9C4231D9}"/>
              </a:ext>
            </a:extLst>
          </p:cNvPr>
          <p:cNvSpPr>
            <a:spLocks noGrp="1"/>
          </p:cNvSpPr>
          <p:nvPr/>
        </p:nvSpPr>
        <p:spPr>
          <a:xfrm>
            <a:off x="4572000" y="4295775"/>
            <a:ext cx="1524000" cy="504825"/>
          </a:xfrm>
          <a:prstGeom prst="rect">
            <a:avLst/>
          </a:prstGeom>
          <a:noFill/>
          <a:ln w="0">
            <a:noFill/>
            <a:prstDash val="solid"/>
          </a:ln>
        </p:spPr>
        <p:txBody>
          <a:bodyPr anchor="ctr"/>
          <a:lstStyle/>
          <a:p>
            <a:pPr algn="l">
              <a:buNone/>
              <a:defRPr sz="1050" b="0">
                <a:solidFill>
                  <a:srgbClr val="171717"/>
                </a:solidFill>
              </a:defRPr>
            </a:pPr>
            <a:r>
              <a:rPr sz="1050" b="0">
                <a:solidFill>
                  <a:srgbClr val="171717"/>
                </a:solidFill>
              </a:rPr>
              <a:t>Learner work complete</a:t>
            </a:r>
          </a:p>
        </p:txBody>
      </p:sp>
      <p:sp>
        <p:nvSpPr>
          <p:cNvPr id="39" name="Rectangle 38">
            <a:extLst>
              <a:ext uri="{FF2B5EF4-FFF2-40B4-BE49-F238E27FC236}">
                <a16:creationId xmlns:a16="http://schemas.microsoft.com/office/drawing/2014/main" id="{125FB4AB-01B3-4C73-94AF-B9A2BB626C1E}"/>
              </a:ext>
            </a:extLst>
          </p:cNvPr>
          <p:cNvSpPr>
            <a:spLocks noGrp="1"/>
          </p:cNvSpPr>
          <p:nvPr/>
        </p:nvSpPr>
        <p:spPr>
          <a:xfrm>
            <a:off x="6191250" y="4257675"/>
            <a:ext cx="2876550" cy="581025"/>
          </a:xfrm>
          <a:prstGeom prst="rect">
            <a:avLst/>
          </a:prstGeom>
          <a:solidFill>
            <a:srgbClr val="FFFFFF"/>
          </a:solidFill>
          <a:ln w="9525">
            <a:solidFill>
              <a:srgbClr val="363636"/>
            </a:solidFill>
            <a:prstDash val="solid"/>
          </a:ln>
        </p:spPr>
      </p:sp>
      <p:sp>
        <p:nvSpPr>
          <p:cNvPr id="40" name="Rectangle 39">
            <a:extLst>
              <a:ext uri="{FF2B5EF4-FFF2-40B4-BE49-F238E27FC236}">
                <a16:creationId xmlns:a16="http://schemas.microsoft.com/office/drawing/2014/main" id="{4DE6AAC8-88B2-432F-932A-1EB8AA950079}"/>
              </a:ext>
            </a:extLst>
          </p:cNvPr>
          <p:cNvSpPr>
            <a:spLocks noGrp="1"/>
          </p:cNvSpPr>
          <p:nvPr/>
        </p:nvSpPr>
        <p:spPr>
          <a:xfrm>
            <a:off x="6286500" y="4295775"/>
            <a:ext cx="2686050" cy="504825"/>
          </a:xfrm>
          <a:prstGeom prst="rect">
            <a:avLst/>
          </a:prstGeom>
          <a:noFill/>
          <a:ln w="0">
            <a:noFill/>
            <a:prstDash val="solid"/>
          </a:ln>
        </p:spPr>
        <p:txBody>
          <a:bodyPr anchor="ctr"/>
          <a:lstStyle/>
          <a:p>
            <a:pPr algn="l">
              <a:buNone/>
              <a:defRPr sz="1050" b="0">
                <a:solidFill>
                  <a:srgbClr val="171717"/>
                </a:solidFill>
              </a:defRPr>
            </a:pPr>
            <a:r>
              <a:rPr sz="1050" b="0">
                <a:solidFill>
                  <a:srgbClr val="171717"/>
                </a:solidFill>
              </a:rPr>
              <a:t>Marked &amp; stored on LMS</a:t>
            </a:r>
          </a:p>
        </p:txBody>
      </p:sp>
      <p:sp>
        <p:nvSpPr>
          <p:cNvPr id="41" name="Rectangle 40">
            <a:extLst>
              <a:ext uri="{FF2B5EF4-FFF2-40B4-BE49-F238E27FC236}">
                <a16:creationId xmlns:a16="http://schemas.microsoft.com/office/drawing/2014/main" id="{425EA79B-6C28-446D-A946-D63BEEE2F5C7}"/>
              </a:ext>
            </a:extLst>
          </p:cNvPr>
          <p:cNvSpPr>
            <a:spLocks noGrp="1"/>
          </p:cNvSpPr>
          <p:nvPr/>
        </p:nvSpPr>
        <p:spPr>
          <a:xfrm>
            <a:off x="9067800" y="4257675"/>
            <a:ext cx="2533650" cy="581025"/>
          </a:xfrm>
          <a:prstGeom prst="rect">
            <a:avLst/>
          </a:prstGeom>
          <a:solidFill>
            <a:srgbClr val="FFFFFF"/>
          </a:solidFill>
          <a:ln w="9525">
            <a:solidFill>
              <a:srgbClr val="363636"/>
            </a:solidFill>
            <a:prstDash val="solid"/>
          </a:ln>
        </p:spPr>
      </p:sp>
      <p:sp>
        <p:nvSpPr>
          <p:cNvPr id="42" name="Rectangle 41">
            <a:extLst>
              <a:ext uri="{FF2B5EF4-FFF2-40B4-BE49-F238E27FC236}">
                <a16:creationId xmlns:a16="http://schemas.microsoft.com/office/drawing/2014/main" id="{D3EB1C16-AD6D-4A33-BA9D-BBB5B46650AA}"/>
              </a:ext>
            </a:extLst>
          </p:cNvPr>
          <p:cNvSpPr>
            <a:spLocks noGrp="1"/>
          </p:cNvSpPr>
          <p:nvPr/>
        </p:nvSpPr>
        <p:spPr>
          <a:xfrm>
            <a:off x="9163050" y="4295775"/>
            <a:ext cx="2343150" cy="504825"/>
          </a:xfrm>
          <a:prstGeom prst="rect">
            <a:avLst/>
          </a:prstGeom>
          <a:noFill/>
          <a:ln w="0">
            <a:noFill/>
            <a:prstDash val="solid"/>
          </a:ln>
        </p:spPr>
        <p:txBody>
          <a:bodyPr anchor="ctr"/>
          <a:lstStyle/>
          <a:p>
            <a:pPr algn="l">
              <a:buNone/>
              <a:defRPr sz="1050" b="0">
                <a:solidFill>
                  <a:srgbClr val="171717"/>
                </a:solidFill>
              </a:defRPr>
            </a:pPr>
            <a:r>
              <a:rPr sz="1050" b="0">
                <a:solidFill>
                  <a:srgbClr val="171717"/>
                </a:solidFill>
              </a:rPr>
              <a:t>Assessor finalisation</a:t>
            </a:r>
          </a:p>
        </p:txBody>
      </p:sp>
      <p:sp>
        <p:nvSpPr>
          <p:cNvPr id="43" name="Rectangle 42">
            <a:extLst>
              <a:ext uri="{FF2B5EF4-FFF2-40B4-BE49-F238E27FC236}">
                <a16:creationId xmlns:a16="http://schemas.microsoft.com/office/drawing/2014/main" id="{B34AE8AC-F765-4341-8316-398448031AF0}"/>
              </a:ext>
            </a:extLst>
          </p:cNvPr>
          <p:cNvSpPr>
            <a:spLocks noGrp="1"/>
          </p:cNvSpPr>
          <p:nvPr/>
        </p:nvSpPr>
        <p:spPr>
          <a:xfrm>
            <a:off x="590550" y="4838700"/>
            <a:ext cx="2457450" cy="581025"/>
          </a:xfrm>
          <a:prstGeom prst="rect">
            <a:avLst/>
          </a:prstGeom>
          <a:solidFill>
            <a:srgbClr val="FFFFFF"/>
          </a:solidFill>
          <a:ln w="9525">
            <a:solidFill>
              <a:srgbClr val="363636"/>
            </a:solidFill>
            <a:prstDash val="solid"/>
          </a:ln>
        </p:spPr>
      </p:sp>
      <p:sp>
        <p:nvSpPr>
          <p:cNvPr id="44" name="Rectangle 43">
            <a:extLst>
              <a:ext uri="{FF2B5EF4-FFF2-40B4-BE49-F238E27FC236}">
                <a16:creationId xmlns:a16="http://schemas.microsoft.com/office/drawing/2014/main" id="{4C82D150-FDD6-441C-97FB-26F1D9A5FCE3}"/>
              </a:ext>
            </a:extLst>
          </p:cNvPr>
          <p:cNvSpPr>
            <a:spLocks noGrp="1"/>
          </p:cNvSpPr>
          <p:nvPr/>
        </p:nvSpPr>
        <p:spPr>
          <a:xfrm>
            <a:off x="685800" y="4876800"/>
            <a:ext cx="2266950" cy="504825"/>
          </a:xfrm>
          <a:prstGeom prst="rect">
            <a:avLst/>
          </a:prstGeom>
          <a:noFill/>
          <a:ln w="0">
            <a:noFill/>
            <a:prstDash val="solid"/>
          </a:ln>
        </p:spPr>
        <p:txBody>
          <a:bodyPr anchor="ctr"/>
          <a:lstStyle/>
          <a:p>
            <a:pPr algn="l">
              <a:buNone/>
              <a:defRPr sz="1050" b="0">
                <a:solidFill>
                  <a:srgbClr val="171717"/>
                </a:solidFill>
              </a:defRPr>
            </a:pPr>
            <a:r>
              <a:rPr sz="1050" b="0">
                <a:solidFill>
                  <a:srgbClr val="171717"/>
                </a:solidFill>
              </a:rPr>
              <a:t>US 114051</a:t>
            </a:r>
          </a:p>
        </p:txBody>
      </p:sp>
      <p:sp>
        <p:nvSpPr>
          <p:cNvPr id="45" name="Rectangle 44">
            <a:extLst>
              <a:ext uri="{FF2B5EF4-FFF2-40B4-BE49-F238E27FC236}">
                <a16:creationId xmlns:a16="http://schemas.microsoft.com/office/drawing/2014/main" id="{B337EC1C-4EC4-43DD-9B0F-BA12AACBB771}"/>
              </a:ext>
            </a:extLst>
          </p:cNvPr>
          <p:cNvSpPr>
            <a:spLocks noGrp="1"/>
          </p:cNvSpPr>
          <p:nvPr/>
        </p:nvSpPr>
        <p:spPr>
          <a:xfrm>
            <a:off x="3048000" y="4838700"/>
            <a:ext cx="1428750" cy="581025"/>
          </a:xfrm>
          <a:prstGeom prst="rect">
            <a:avLst/>
          </a:prstGeom>
          <a:solidFill>
            <a:srgbClr val="FFFFFF"/>
          </a:solidFill>
          <a:ln w="9525">
            <a:solidFill>
              <a:srgbClr val="363636"/>
            </a:solidFill>
            <a:prstDash val="solid"/>
          </a:ln>
        </p:spPr>
      </p:sp>
      <p:sp>
        <p:nvSpPr>
          <p:cNvPr id="46" name="Rectangle 45">
            <a:extLst>
              <a:ext uri="{FF2B5EF4-FFF2-40B4-BE49-F238E27FC236}">
                <a16:creationId xmlns:a16="http://schemas.microsoft.com/office/drawing/2014/main" id="{4FB0D059-53EB-4E69-A0AD-F1AE01F7B48C}"/>
              </a:ext>
            </a:extLst>
          </p:cNvPr>
          <p:cNvSpPr>
            <a:spLocks noGrp="1"/>
          </p:cNvSpPr>
          <p:nvPr/>
        </p:nvSpPr>
        <p:spPr>
          <a:xfrm>
            <a:off x="3143250" y="4876800"/>
            <a:ext cx="1238250" cy="504825"/>
          </a:xfrm>
          <a:prstGeom prst="rect">
            <a:avLst/>
          </a:prstGeom>
          <a:noFill/>
          <a:ln w="0">
            <a:noFill/>
            <a:prstDash val="solid"/>
          </a:ln>
        </p:spPr>
        <p:txBody>
          <a:bodyPr anchor="ctr"/>
          <a:lstStyle/>
          <a:p>
            <a:pPr algn="l">
              <a:buNone/>
              <a:defRPr sz="1050" b="0">
                <a:solidFill>
                  <a:srgbClr val="171717"/>
                </a:solidFill>
              </a:defRPr>
            </a:pPr>
            <a:r>
              <a:rPr sz="1050" b="0">
                <a:solidFill>
                  <a:srgbClr val="171717"/>
                </a:solidFill>
              </a:rPr>
              <a:t>28 August</a:t>
            </a:r>
          </a:p>
        </p:txBody>
      </p:sp>
      <p:sp>
        <p:nvSpPr>
          <p:cNvPr id="47" name="Rectangle 46">
            <a:extLst>
              <a:ext uri="{FF2B5EF4-FFF2-40B4-BE49-F238E27FC236}">
                <a16:creationId xmlns:a16="http://schemas.microsoft.com/office/drawing/2014/main" id="{BE27D364-34AE-451A-8FDF-06AE74D49845}"/>
              </a:ext>
            </a:extLst>
          </p:cNvPr>
          <p:cNvSpPr>
            <a:spLocks noGrp="1"/>
          </p:cNvSpPr>
          <p:nvPr/>
        </p:nvSpPr>
        <p:spPr>
          <a:xfrm>
            <a:off x="4476750" y="4838700"/>
            <a:ext cx="1714500" cy="581025"/>
          </a:xfrm>
          <a:prstGeom prst="rect">
            <a:avLst/>
          </a:prstGeom>
          <a:solidFill>
            <a:srgbClr val="FFFFFF"/>
          </a:solidFill>
          <a:ln w="9525">
            <a:solidFill>
              <a:srgbClr val="363636"/>
            </a:solidFill>
            <a:prstDash val="solid"/>
          </a:ln>
        </p:spPr>
      </p:sp>
      <p:sp>
        <p:nvSpPr>
          <p:cNvPr id="48" name="Rectangle 47">
            <a:extLst>
              <a:ext uri="{FF2B5EF4-FFF2-40B4-BE49-F238E27FC236}">
                <a16:creationId xmlns:a16="http://schemas.microsoft.com/office/drawing/2014/main" id="{A81106F8-BBD5-4919-9BE5-44506EEE1B97}"/>
              </a:ext>
            </a:extLst>
          </p:cNvPr>
          <p:cNvSpPr>
            <a:spLocks noGrp="1"/>
          </p:cNvSpPr>
          <p:nvPr/>
        </p:nvSpPr>
        <p:spPr>
          <a:xfrm>
            <a:off x="4572000" y="4876800"/>
            <a:ext cx="1524000" cy="504825"/>
          </a:xfrm>
          <a:prstGeom prst="rect">
            <a:avLst/>
          </a:prstGeom>
          <a:noFill/>
          <a:ln w="0">
            <a:noFill/>
            <a:prstDash val="solid"/>
          </a:ln>
        </p:spPr>
        <p:txBody>
          <a:bodyPr anchor="ctr"/>
          <a:lstStyle/>
          <a:p>
            <a:pPr algn="l">
              <a:buNone/>
              <a:defRPr sz="1050" b="0">
                <a:solidFill>
                  <a:srgbClr val="171717"/>
                </a:solidFill>
              </a:defRPr>
            </a:pPr>
            <a:r>
              <a:rPr sz="1050" b="0">
                <a:solidFill>
                  <a:srgbClr val="171717"/>
                </a:solidFill>
              </a:rPr>
              <a:t>Training delivered</a:t>
            </a:r>
          </a:p>
        </p:txBody>
      </p:sp>
      <p:sp>
        <p:nvSpPr>
          <p:cNvPr id="49" name="Rectangle 48">
            <a:extLst>
              <a:ext uri="{FF2B5EF4-FFF2-40B4-BE49-F238E27FC236}">
                <a16:creationId xmlns:a16="http://schemas.microsoft.com/office/drawing/2014/main" id="{3B795FF2-0350-4A94-A277-1EF5CC4EDA79}"/>
              </a:ext>
            </a:extLst>
          </p:cNvPr>
          <p:cNvSpPr>
            <a:spLocks noGrp="1"/>
          </p:cNvSpPr>
          <p:nvPr/>
        </p:nvSpPr>
        <p:spPr>
          <a:xfrm>
            <a:off x="6191250" y="4838700"/>
            <a:ext cx="2876550" cy="581025"/>
          </a:xfrm>
          <a:prstGeom prst="rect">
            <a:avLst/>
          </a:prstGeom>
          <a:solidFill>
            <a:srgbClr val="FFFFFF"/>
          </a:solidFill>
          <a:ln w="9525">
            <a:solidFill>
              <a:srgbClr val="363636"/>
            </a:solidFill>
            <a:prstDash val="solid"/>
          </a:ln>
        </p:spPr>
      </p:sp>
      <p:sp>
        <p:nvSpPr>
          <p:cNvPr id="50" name="Rectangle 49">
            <a:extLst>
              <a:ext uri="{FF2B5EF4-FFF2-40B4-BE49-F238E27FC236}">
                <a16:creationId xmlns:a16="http://schemas.microsoft.com/office/drawing/2014/main" id="{53190BA0-5F4C-4E34-A7E9-FB9B4DB04ED3}"/>
              </a:ext>
            </a:extLst>
          </p:cNvPr>
          <p:cNvSpPr>
            <a:spLocks noGrp="1"/>
          </p:cNvSpPr>
          <p:nvPr/>
        </p:nvSpPr>
        <p:spPr>
          <a:xfrm>
            <a:off x="6286500" y="4876800"/>
            <a:ext cx="2686050" cy="504825"/>
          </a:xfrm>
          <a:prstGeom prst="rect">
            <a:avLst/>
          </a:prstGeom>
          <a:noFill/>
          <a:ln w="0">
            <a:noFill/>
            <a:prstDash val="solid"/>
          </a:ln>
        </p:spPr>
        <p:txBody>
          <a:bodyPr anchor="ctr"/>
          <a:lstStyle/>
          <a:p>
            <a:pPr algn="l">
              <a:buNone/>
              <a:defRPr sz="1050" b="0">
                <a:solidFill>
                  <a:srgbClr val="171717"/>
                </a:solidFill>
              </a:defRPr>
            </a:pPr>
            <a:r>
              <a:rPr sz="1050" b="0">
                <a:solidFill>
                  <a:srgbClr val="171717"/>
                </a:solidFill>
              </a:rPr>
              <a:t>Register on file</a:t>
            </a:r>
          </a:p>
        </p:txBody>
      </p:sp>
      <p:sp>
        <p:nvSpPr>
          <p:cNvPr id="51" name="Rectangle 50">
            <a:extLst>
              <a:ext uri="{FF2B5EF4-FFF2-40B4-BE49-F238E27FC236}">
                <a16:creationId xmlns:a16="http://schemas.microsoft.com/office/drawing/2014/main" id="{512CB38D-4090-4C5C-BE29-EE143602F093}"/>
              </a:ext>
            </a:extLst>
          </p:cNvPr>
          <p:cNvSpPr>
            <a:spLocks noGrp="1"/>
          </p:cNvSpPr>
          <p:nvPr/>
        </p:nvSpPr>
        <p:spPr>
          <a:xfrm>
            <a:off x="9067800" y="4838700"/>
            <a:ext cx="2533650" cy="581025"/>
          </a:xfrm>
          <a:prstGeom prst="rect">
            <a:avLst/>
          </a:prstGeom>
          <a:solidFill>
            <a:srgbClr val="FFFFFF"/>
          </a:solidFill>
          <a:ln w="9525">
            <a:solidFill>
              <a:srgbClr val="363636"/>
            </a:solidFill>
            <a:prstDash val="solid"/>
          </a:ln>
        </p:spPr>
      </p:sp>
      <p:sp>
        <p:nvSpPr>
          <p:cNvPr id="52" name="Rectangle 51">
            <a:extLst>
              <a:ext uri="{FF2B5EF4-FFF2-40B4-BE49-F238E27FC236}">
                <a16:creationId xmlns:a16="http://schemas.microsoft.com/office/drawing/2014/main" id="{C9C93658-4B93-402C-BC0F-C7F76CCC3010}"/>
              </a:ext>
            </a:extLst>
          </p:cNvPr>
          <p:cNvSpPr>
            <a:spLocks noGrp="1"/>
          </p:cNvSpPr>
          <p:nvPr/>
        </p:nvSpPr>
        <p:spPr>
          <a:xfrm>
            <a:off x="9163050" y="4876800"/>
            <a:ext cx="2343150" cy="504825"/>
          </a:xfrm>
          <a:prstGeom prst="rect">
            <a:avLst/>
          </a:prstGeom>
          <a:noFill/>
          <a:ln w="0">
            <a:noFill/>
            <a:prstDash val="solid"/>
          </a:ln>
        </p:spPr>
        <p:txBody>
          <a:bodyPr anchor="ctr"/>
          <a:lstStyle/>
          <a:p>
            <a:pPr algn="l">
              <a:buNone/>
              <a:defRPr sz="1050" b="0">
                <a:solidFill>
                  <a:srgbClr val="171717"/>
                </a:solidFill>
              </a:defRPr>
            </a:pPr>
            <a:r>
              <a:rPr sz="1050" b="0">
                <a:solidFill>
                  <a:srgbClr val="171717"/>
                </a:solidFill>
              </a:rPr>
              <a:t>12 / 12 attended</a:t>
            </a:r>
          </a:p>
        </p:txBody>
      </p:sp>
      <p:sp>
        <p:nvSpPr>
          <p:cNvPr id="53" name="Rectangle: Rounded Corners 52">
            <a:extLst>
              <a:ext uri="{FF2B5EF4-FFF2-40B4-BE49-F238E27FC236}">
                <a16:creationId xmlns:a16="http://schemas.microsoft.com/office/drawing/2014/main" id="{7B76591C-EE4E-4FD2-9F63-415F05381DDA}"/>
              </a:ext>
            </a:extLst>
          </p:cNvPr>
          <p:cNvSpPr>
            <a:spLocks noGrp="1"/>
          </p:cNvSpPr>
          <p:nvPr/>
        </p:nvSpPr>
        <p:spPr>
          <a:xfrm>
            <a:off x="590550" y="5619750"/>
            <a:ext cx="11010900" cy="533400"/>
          </a:xfrm>
          <a:prstGeom prst="roundRect">
            <a:avLst>
              <a:gd name="adj" fmla="val 14286"/>
            </a:avLst>
          </a:prstGeom>
          <a:solidFill>
            <a:srgbClr val="EDF7F3"/>
          </a:solidFill>
          <a:ln w="0">
            <a:noFill/>
            <a:prstDash val="solid"/>
          </a:ln>
        </p:spPr>
      </p:sp>
      <p:sp>
        <p:nvSpPr>
          <p:cNvPr id="54" name="Rectangle 53">
            <a:extLst>
              <a:ext uri="{FF2B5EF4-FFF2-40B4-BE49-F238E27FC236}">
                <a16:creationId xmlns:a16="http://schemas.microsoft.com/office/drawing/2014/main" id="{5E3AB35F-870A-45B3-B326-7BC0686EF174}"/>
              </a:ext>
            </a:extLst>
          </p:cNvPr>
          <p:cNvSpPr>
            <a:spLocks noGrp="1"/>
          </p:cNvSpPr>
          <p:nvPr/>
        </p:nvSpPr>
        <p:spPr>
          <a:xfrm>
            <a:off x="800100" y="5695950"/>
            <a:ext cx="10572750" cy="381000"/>
          </a:xfrm>
          <a:prstGeom prst="rect">
            <a:avLst/>
          </a:prstGeom>
          <a:noFill/>
          <a:ln w="0">
            <a:noFill/>
            <a:prstDash val="solid"/>
          </a:ln>
        </p:spPr>
        <p:txBody>
          <a:bodyPr anchor="ctr"/>
          <a:lstStyle/>
          <a:p>
            <a:pPr algn="l">
              <a:buNone/>
              <a:defRPr sz="1200" b="1">
                <a:solidFill>
                  <a:srgbClr val="171717"/>
                </a:solidFill>
              </a:defRPr>
            </a:pPr>
            <a:r>
              <a:rPr sz="1200" b="1">
                <a:solidFill>
                  <a:srgbClr val="171717"/>
                </a:solidFill>
              </a:rPr>
              <a:t>Month-end delivery is confirmed: US 114051 was delivered on 28 August with 12 of 12 learners present; US 114046 is scheduled for early September.</a:t>
            </a:r>
          </a:p>
        </p:txBody>
      </p:sp>
      <p:sp>
        <p:nvSpPr>
          <p:cNvPr id="55" name="Rectangle 54">
            <a:extLst>
              <a:ext uri="{FF2B5EF4-FFF2-40B4-BE49-F238E27FC236}">
                <a16:creationId xmlns:a16="http://schemas.microsoft.com/office/drawing/2014/main" id="{B02AB4D5-1375-4F0E-BC98-BDE7C05D7CC4}"/>
              </a:ext>
            </a:extLst>
          </p:cNvPr>
          <p:cNvSpPr>
            <a:spLocks noGrp="1"/>
          </p:cNvSpPr>
          <p:nvPr/>
        </p:nvSpPr>
        <p:spPr>
          <a:xfrm>
            <a:off x="590550" y="6477000"/>
            <a:ext cx="11010900" cy="9525"/>
          </a:xfrm>
          <a:prstGeom prst="rect">
            <a:avLst/>
          </a:prstGeom>
          <a:solidFill>
            <a:srgbClr val="DCC0A0"/>
          </a:solidFill>
          <a:ln w="9525">
            <a:solidFill>
              <a:srgbClr val="DCC0A0"/>
            </a:solidFill>
            <a:prstDash val="solid"/>
          </a:ln>
        </p:spPr>
      </p:sp>
      <p:sp>
        <p:nvSpPr>
          <p:cNvPr id="56" name="Rectangle 55">
            <a:extLst>
              <a:ext uri="{FF2B5EF4-FFF2-40B4-BE49-F238E27FC236}">
                <a16:creationId xmlns:a16="http://schemas.microsoft.com/office/drawing/2014/main" id="{9DD2273A-44D8-49EF-9FAB-0FAC4BD2D20F}"/>
              </a:ext>
            </a:extLst>
          </p:cNvPr>
          <p:cNvSpPr>
            <a:spLocks noGrp="1"/>
          </p:cNvSpPr>
          <p:nvPr/>
        </p:nvSpPr>
        <p:spPr>
          <a:xfrm>
            <a:off x="590550" y="6553200"/>
            <a:ext cx="4762500" cy="171450"/>
          </a:xfrm>
          <a:prstGeom prst="rect">
            <a:avLst/>
          </a:prstGeom>
          <a:noFill/>
          <a:ln w="0">
            <a:noFill/>
            <a:prstDash val="solid"/>
          </a:ln>
        </p:spPr>
        <p:txBody>
          <a:bodyPr anchor="ctr"/>
          <a:lstStyle/>
          <a:p>
            <a:pPr algn="l">
              <a:buNone/>
              <a:defRPr sz="825" b="0">
                <a:solidFill>
                  <a:srgbClr val="62676B"/>
                </a:solidFill>
              </a:defRPr>
            </a:pPr>
            <a:r>
              <a:rPr sz="825" b="0">
                <a:solidFill>
                  <a:srgbClr val="62676B"/>
                </a:solidFill>
              </a:rPr>
              <a:t>Eruditio • Empower · Develop · Transform</a:t>
            </a:r>
          </a:p>
        </p:txBody>
      </p:sp>
      <p:sp>
        <p:nvSpPr>
          <p:cNvPr id="57" name="Rectangle 56">
            <a:extLst>
              <a:ext uri="{FF2B5EF4-FFF2-40B4-BE49-F238E27FC236}">
                <a16:creationId xmlns:a16="http://schemas.microsoft.com/office/drawing/2014/main" id="{CBC0AFCA-37CE-4E21-8647-9F714A52DFB4}"/>
              </a:ext>
            </a:extLst>
          </p:cNvPr>
          <p:cNvSpPr>
            <a:spLocks noGrp="1"/>
          </p:cNvSpPr>
          <p:nvPr/>
        </p:nvSpPr>
        <p:spPr>
          <a:xfrm>
            <a:off x="11049000" y="6534150"/>
            <a:ext cx="552450" cy="171450"/>
          </a:xfrm>
          <a:prstGeom prst="rect">
            <a:avLst/>
          </a:prstGeom>
          <a:noFill/>
          <a:ln w="0">
            <a:noFill/>
            <a:prstDash val="solid"/>
          </a:ln>
        </p:spPr>
        <p:txBody>
          <a:bodyPr anchor="ctr"/>
          <a:lstStyle/>
          <a:p>
            <a:pPr algn="r">
              <a:buNone/>
              <a:defRPr sz="900" b="1">
                <a:solidFill>
                  <a:srgbClr val="F0872B"/>
                </a:solidFill>
              </a:defRPr>
            </a:pPr>
            <a:r>
              <a:rPr sz="900" b="1">
                <a:solidFill>
                  <a:srgbClr val="F0872B"/>
                </a:solidFill>
              </a:rPr>
              <a:t>04</a:t>
            </a:r>
          </a:p>
        </p:txBody>
      </p:sp>
    </p:spTree>
    <p:extLst>
      <p:ext uri="{BB962C8B-B14F-4D97-AF65-F5344CB8AC3E}">
        <p14:creationId xmlns:p14="http://schemas.microsoft.com/office/powerpoint/2010/main" val="21061122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7" name="Rectangle 96">
            <a:extLst>
              <a:ext uri="{FF2B5EF4-FFF2-40B4-BE49-F238E27FC236}">
                <a16:creationId xmlns:a16="http://schemas.microsoft.com/office/drawing/2014/main" id="{808FC692-0994-485A-938A-9F05A6053A2C}"/>
              </a:ext>
            </a:extLst>
          </p:cNvPr>
          <p:cNvSpPr>
            <a:spLocks noGrp="1"/>
          </p:cNvSpPr>
          <p:nvPr/>
        </p:nvSpPr>
        <p:spPr>
          <a:xfrm>
            <a:off x="0" y="0"/>
            <a:ext cx="12192000" cy="133350"/>
          </a:xfrm>
          <a:prstGeom prst="rect">
            <a:avLst/>
          </a:prstGeom>
          <a:solidFill>
            <a:srgbClr val="F0872B"/>
          </a:solidFill>
          <a:ln w="9525">
            <a:solidFill>
              <a:srgbClr val="F0872B"/>
            </a:solidFill>
            <a:prstDash val="solid"/>
          </a:ln>
        </p:spPr>
      </p:sp>
      <p:sp>
        <p:nvSpPr>
          <p:cNvPr id="2" name="Rectangle 1">
            <a:extLst>
              <a:ext uri="{FF2B5EF4-FFF2-40B4-BE49-F238E27FC236}">
                <a16:creationId xmlns:a16="http://schemas.microsoft.com/office/drawing/2014/main" id="{EA846312-33AD-4569-8BA4-3FEC3D45891F}"/>
              </a:ext>
            </a:extLst>
          </p:cNvPr>
          <p:cNvSpPr>
            <a:spLocks noGrp="1"/>
          </p:cNvSpPr>
          <p:nvPr/>
        </p:nvSpPr>
        <p:spPr>
          <a:xfrm>
            <a:off x="0" y="133350"/>
            <a:ext cx="12192000" cy="66675"/>
          </a:xfrm>
          <a:prstGeom prst="rect">
            <a:avLst/>
          </a:prstGeom>
          <a:solidFill>
            <a:srgbClr val="2E9B7A"/>
          </a:solidFill>
          <a:ln w="9525">
            <a:solidFill>
              <a:srgbClr val="2E9B7A"/>
            </a:solidFill>
            <a:prstDash val="solid"/>
          </a:ln>
        </p:spPr>
      </p:sp>
      <p:sp>
        <p:nvSpPr>
          <p:cNvPr id="3" name="Rectangle 2">
            <a:extLst>
              <a:ext uri="{FF2B5EF4-FFF2-40B4-BE49-F238E27FC236}">
                <a16:creationId xmlns:a16="http://schemas.microsoft.com/office/drawing/2014/main" id="{899B36C4-A4F8-4E2D-9DD1-320C2439E6AF}"/>
              </a:ext>
            </a:extLst>
          </p:cNvPr>
          <p:cNvSpPr>
            <a:spLocks noGrp="1"/>
          </p:cNvSpPr>
          <p:nvPr/>
        </p:nvSpPr>
        <p:spPr>
          <a:xfrm>
            <a:off x="590550" y="361950"/>
            <a:ext cx="6858000" cy="228600"/>
          </a:xfrm>
          <a:prstGeom prst="rect">
            <a:avLst/>
          </a:prstGeom>
          <a:noFill/>
          <a:ln w="0">
            <a:noFill/>
            <a:prstDash val="solid"/>
          </a:ln>
        </p:spPr>
        <p:txBody>
          <a:bodyPr anchor="ctr"/>
          <a:lstStyle/>
          <a:p>
            <a:pPr algn="l">
              <a:buNone/>
              <a:defRPr sz="975" b="1">
                <a:solidFill>
                  <a:srgbClr val="2E9B7A"/>
                </a:solidFill>
              </a:defRPr>
            </a:pPr>
            <a:r>
              <a:rPr sz="975" b="1">
                <a:solidFill>
                  <a:srgbClr val="2E9B7A"/>
                </a:solidFill>
              </a:rPr>
              <a:t>INVESTEC • AUGUST LEARNERSHIP REPORT</a:t>
            </a:r>
          </a:p>
        </p:txBody>
      </p:sp>
      <p:sp>
        <p:nvSpPr>
          <p:cNvPr id="4" name="Rectangle 3">
            <a:extLst>
              <a:ext uri="{FF2B5EF4-FFF2-40B4-BE49-F238E27FC236}">
                <a16:creationId xmlns:a16="http://schemas.microsoft.com/office/drawing/2014/main" id="{4CF0C93A-E5CD-4291-B13C-CD8D49A64641}"/>
              </a:ext>
            </a:extLst>
          </p:cNvPr>
          <p:cNvSpPr>
            <a:spLocks noGrp="1"/>
          </p:cNvSpPr>
          <p:nvPr/>
        </p:nvSpPr>
        <p:spPr>
          <a:xfrm>
            <a:off x="590550" y="704850"/>
            <a:ext cx="8572500" cy="533400"/>
          </a:xfrm>
          <a:prstGeom prst="rect">
            <a:avLst/>
          </a:prstGeom>
          <a:noFill/>
          <a:ln w="0">
            <a:noFill/>
            <a:prstDash val="solid"/>
          </a:ln>
        </p:spPr>
        <p:txBody>
          <a:bodyPr anchor="ctr"/>
          <a:lstStyle/>
          <a:p>
            <a:pPr algn="l">
              <a:buNone/>
              <a:defRPr sz="2550" b="1">
                <a:solidFill>
                  <a:srgbClr val="171717"/>
                </a:solidFill>
              </a:defRPr>
            </a:pPr>
            <a:r>
              <a:rPr sz="2550" b="1">
                <a:solidFill>
                  <a:srgbClr val="171717"/>
                </a:solidFill>
              </a:rPr>
              <a:t>Early results show strong competence and momentum</a:t>
            </a:r>
          </a:p>
        </p:txBody>
      </p:sp>
      <p:pic>
        <p:nvPicPr>
          <p:cNvPr id="103" name="Picture 102"/>
          <p:cNvPicPr>
            <a:picLocks noChangeAspect="1"/>
          </p:cNvPicPr>
          <p:nvPr/>
        </p:nvPicPr>
        <p:blipFill>
          <a:blip r:embed="rId3"/>
          <a:stretch/>
        </p:blipFill>
        <p:spPr>
          <a:xfrm>
            <a:off x="9620250" y="269398"/>
            <a:ext cx="2000250" cy="756605"/>
          </a:xfrm>
          <a:prstGeom prst="rect">
            <a:avLst/>
          </a:prstGeom>
        </p:spPr>
      </p:pic>
      <p:sp>
        <p:nvSpPr>
          <p:cNvPr id="6" name="Rectangle 5">
            <a:extLst>
              <a:ext uri="{FF2B5EF4-FFF2-40B4-BE49-F238E27FC236}">
                <a16:creationId xmlns:a16="http://schemas.microsoft.com/office/drawing/2014/main" id="{1DB32FFA-F512-46D2-ABB3-55F4E6FBA59F}"/>
              </a:ext>
            </a:extLst>
          </p:cNvPr>
          <p:cNvSpPr>
            <a:spLocks noGrp="1"/>
          </p:cNvSpPr>
          <p:nvPr/>
        </p:nvSpPr>
        <p:spPr>
          <a:xfrm>
            <a:off x="590550" y="1352550"/>
            <a:ext cx="11010900" cy="28575"/>
          </a:xfrm>
          <a:prstGeom prst="rect">
            <a:avLst/>
          </a:prstGeom>
          <a:solidFill>
            <a:srgbClr val="F0872B"/>
          </a:solidFill>
          <a:ln w="9525">
            <a:solidFill>
              <a:srgbClr val="F0872B"/>
            </a:solidFill>
            <a:prstDash val="solid"/>
          </a:ln>
        </p:spPr>
      </p:sp>
      <p:sp>
        <p:nvSpPr>
          <p:cNvPr id="7" name="Rectangle 6">
            <a:extLst>
              <a:ext uri="{FF2B5EF4-FFF2-40B4-BE49-F238E27FC236}">
                <a16:creationId xmlns:a16="http://schemas.microsoft.com/office/drawing/2014/main" id="{17DD3E93-B85F-4895-9F7A-809E536B2160}"/>
              </a:ext>
            </a:extLst>
          </p:cNvPr>
          <p:cNvSpPr>
            <a:spLocks noGrp="1"/>
          </p:cNvSpPr>
          <p:nvPr/>
        </p:nvSpPr>
        <p:spPr>
          <a:xfrm>
            <a:off x="590550" y="1657350"/>
            <a:ext cx="952500" cy="400050"/>
          </a:xfrm>
          <a:prstGeom prst="rect">
            <a:avLst/>
          </a:prstGeom>
          <a:solidFill>
            <a:srgbClr val="2E9B7A"/>
          </a:solidFill>
          <a:ln w="9525">
            <a:solidFill>
              <a:srgbClr val="363636"/>
            </a:solidFill>
            <a:prstDash val="solid"/>
          </a:ln>
        </p:spPr>
      </p:sp>
      <p:sp>
        <p:nvSpPr>
          <p:cNvPr id="8" name="Rectangle 7">
            <a:extLst>
              <a:ext uri="{FF2B5EF4-FFF2-40B4-BE49-F238E27FC236}">
                <a16:creationId xmlns:a16="http://schemas.microsoft.com/office/drawing/2014/main" id="{BD38EAE3-9388-4FE5-9C94-F98236296E93}"/>
              </a:ext>
            </a:extLst>
          </p:cNvPr>
          <p:cNvSpPr>
            <a:spLocks noGrp="1"/>
          </p:cNvSpPr>
          <p:nvPr/>
        </p:nvSpPr>
        <p:spPr>
          <a:xfrm>
            <a:off x="666750" y="1685925"/>
            <a:ext cx="800100" cy="342900"/>
          </a:xfrm>
          <a:prstGeom prst="rect">
            <a:avLst/>
          </a:prstGeom>
          <a:noFill/>
          <a:ln w="0">
            <a:noFill/>
            <a:prstDash val="solid"/>
          </a:ln>
        </p:spPr>
        <p:txBody>
          <a:bodyPr anchor="ctr"/>
          <a:lstStyle/>
          <a:p>
            <a:pPr algn="l">
              <a:buNone/>
              <a:defRPr sz="975" b="1">
                <a:solidFill>
                  <a:srgbClr val="FFFFFF"/>
                </a:solidFill>
              </a:defRPr>
            </a:pPr>
            <a:r>
              <a:rPr sz="975" b="1">
                <a:solidFill>
                  <a:srgbClr val="FFFFFF"/>
                </a:solidFill>
              </a:rPr>
              <a:t>Measure</a:t>
            </a:r>
          </a:p>
        </p:txBody>
      </p:sp>
      <p:sp>
        <p:nvSpPr>
          <p:cNvPr id="9" name="Rectangle 8">
            <a:extLst>
              <a:ext uri="{FF2B5EF4-FFF2-40B4-BE49-F238E27FC236}">
                <a16:creationId xmlns:a16="http://schemas.microsoft.com/office/drawing/2014/main" id="{621DA709-5019-4298-B2DF-707B99DC5AD6}"/>
              </a:ext>
            </a:extLst>
          </p:cNvPr>
          <p:cNvSpPr>
            <a:spLocks noGrp="1"/>
          </p:cNvSpPr>
          <p:nvPr/>
        </p:nvSpPr>
        <p:spPr>
          <a:xfrm>
            <a:off x="1543050" y="1657350"/>
            <a:ext cx="3714750" cy="400050"/>
          </a:xfrm>
          <a:prstGeom prst="rect">
            <a:avLst/>
          </a:prstGeom>
          <a:solidFill>
            <a:srgbClr val="2E9B7A"/>
          </a:solidFill>
          <a:ln w="9525">
            <a:solidFill>
              <a:srgbClr val="363636"/>
            </a:solidFill>
            <a:prstDash val="solid"/>
          </a:ln>
        </p:spPr>
      </p:sp>
      <p:sp>
        <p:nvSpPr>
          <p:cNvPr id="10" name="Rectangle 9">
            <a:extLst>
              <a:ext uri="{FF2B5EF4-FFF2-40B4-BE49-F238E27FC236}">
                <a16:creationId xmlns:a16="http://schemas.microsoft.com/office/drawing/2014/main" id="{93BABD85-7F1F-4B25-807D-436E99EEF139}"/>
              </a:ext>
            </a:extLst>
          </p:cNvPr>
          <p:cNvSpPr>
            <a:spLocks noGrp="1"/>
          </p:cNvSpPr>
          <p:nvPr/>
        </p:nvSpPr>
        <p:spPr>
          <a:xfrm>
            <a:off x="1619250" y="1685925"/>
            <a:ext cx="3562350" cy="342900"/>
          </a:xfrm>
          <a:prstGeom prst="rect">
            <a:avLst/>
          </a:prstGeom>
          <a:noFill/>
          <a:ln w="0">
            <a:noFill/>
            <a:prstDash val="solid"/>
          </a:ln>
        </p:spPr>
        <p:txBody>
          <a:bodyPr anchor="ctr"/>
          <a:lstStyle/>
          <a:p>
            <a:pPr algn="l">
              <a:buNone/>
              <a:defRPr sz="975" b="1">
                <a:solidFill>
                  <a:srgbClr val="FFFFFF"/>
                </a:solidFill>
              </a:defRPr>
            </a:pPr>
            <a:r>
              <a:rPr sz="975" b="1">
                <a:solidFill>
                  <a:srgbClr val="FFFFFF"/>
                </a:solidFill>
              </a:rPr>
              <a:t>Performance indicator</a:t>
            </a:r>
          </a:p>
        </p:txBody>
      </p:sp>
      <p:sp>
        <p:nvSpPr>
          <p:cNvPr id="11" name="Rectangle 10">
            <a:extLst>
              <a:ext uri="{FF2B5EF4-FFF2-40B4-BE49-F238E27FC236}">
                <a16:creationId xmlns:a16="http://schemas.microsoft.com/office/drawing/2014/main" id="{D191D8D8-A0A5-4EBD-88AD-EDAB27942FEF}"/>
              </a:ext>
            </a:extLst>
          </p:cNvPr>
          <p:cNvSpPr>
            <a:spLocks noGrp="1"/>
          </p:cNvSpPr>
          <p:nvPr/>
        </p:nvSpPr>
        <p:spPr>
          <a:xfrm>
            <a:off x="5257800" y="1657350"/>
            <a:ext cx="666750" cy="400050"/>
          </a:xfrm>
          <a:prstGeom prst="rect">
            <a:avLst/>
          </a:prstGeom>
          <a:solidFill>
            <a:srgbClr val="2E9B7A"/>
          </a:solidFill>
          <a:ln w="9525">
            <a:solidFill>
              <a:srgbClr val="363636"/>
            </a:solidFill>
            <a:prstDash val="solid"/>
          </a:ln>
        </p:spPr>
      </p:sp>
      <p:sp>
        <p:nvSpPr>
          <p:cNvPr id="12" name="Rectangle 11">
            <a:extLst>
              <a:ext uri="{FF2B5EF4-FFF2-40B4-BE49-F238E27FC236}">
                <a16:creationId xmlns:a16="http://schemas.microsoft.com/office/drawing/2014/main" id="{54DDA9D3-6373-40F0-9384-36087CFEF9DA}"/>
              </a:ext>
            </a:extLst>
          </p:cNvPr>
          <p:cNvSpPr>
            <a:spLocks noGrp="1"/>
          </p:cNvSpPr>
          <p:nvPr/>
        </p:nvSpPr>
        <p:spPr>
          <a:xfrm>
            <a:off x="5334000" y="1685925"/>
            <a:ext cx="514350" cy="342900"/>
          </a:xfrm>
          <a:prstGeom prst="rect">
            <a:avLst/>
          </a:prstGeom>
          <a:noFill/>
          <a:ln w="0">
            <a:noFill/>
            <a:prstDash val="solid"/>
          </a:ln>
        </p:spPr>
        <p:txBody>
          <a:bodyPr anchor="ctr"/>
          <a:lstStyle/>
          <a:p>
            <a:pPr algn="l">
              <a:buNone/>
              <a:defRPr sz="975" b="1">
                <a:solidFill>
                  <a:srgbClr val="FFFFFF"/>
                </a:solidFill>
              </a:defRPr>
            </a:pPr>
            <a:r>
              <a:rPr sz="975" b="1">
                <a:solidFill>
                  <a:srgbClr val="FFFFFF"/>
                </a:solidFill>
              </a:rPr>
              <a:t>Value</a:t>
            </a:r>
          </a:p>
        </p:txBody>
      </p:sp>
      <p:sp>
        <p:nvSpPr>
          <p:cNvPr id="13" name="Rectangle 12">
            <a:extLst>
              <a:ext uri="{FF2B5EF4-FFF2-40B4-BE49-F238E27FC236}">
                <a16:creationId xmlns:a16="http://schemas.microsoft.com/office/drawing/2014/main" id="{8D1539FF-71DA-44C1-B3BC-4DE5540368EA}"/>
              </a:ext>
            </a:extLst>
          </p:cNvPr>
          <p:cNvSpPr>
            <a:spLocks noGrp="1"/>
          </p:cNvSpPr>
          <p:nvPr/>
        </p:nvSpPr>
        <p:spPr>
          <a:xfrm>
            <a:off x="590550" y="2057400"/>
            <a:ext cx="952500" cy="581025"/>
          </a:xfrm>
          <a:prstGeom prst="rect">
            <a:avLst/>
          </a:prstGeom>
          <a:solidFill>
            <a:srgbClr val="F7F5F1"/>
          </a:solidFill>
          <a:ln w="9525">
            <a:solidFill>
              <a:srgbClr val="363636"/>
            </a:solidFill>
            <a:prstDash val="solid"/>
          </a:ln>
        </p:spPr>
      </p:sp>
      <p:sp>
        <p:nvSpPr>
          <p:cNvPr id="14" name="Rectangle 13">
            <a:extLst>
              <a:ext uri="{FF2B5EF4-FFF2-40B4-BE49-F238E27FC236}">
                <a16:creationId xmlns:a16="http://schemas.microsoft.com/office/drawing/2014/main" id="{A6819437-2711-4A88-842A-73D38675F5BE}"/>
              </a:ext>
            </a:extLst>
          </p:cNvPr>
          <p:cNvSpPr>
            <a:spLocks noGrp="1"/>
          </p:cNvSpPr>
          <p:nvPr/>
        </p:nvSpPr>
        <p:spPr>
          <a:xfrm>
            <a:off x="666750" y="2095500"/>
            <a:ext cx="800100" cy="504825"/>
          </a:xfrm>
          <a:prstGeom prst="rect">
            <a:avLst/>
          </a:prstGeom>
          <a:noFill/>
          <a:ln w="0">
            <a:noFill/>
            <a:prstDash val="solid"/>
          </a:ln>
        </p:spPr>
        <p:txBody>
          <a:bodyPr anchor="ctr"/>
          <a:lstStyle/>
          <a:p>
            <a:pPr algn="l">
              <a:buNone/>
              <a:defRPr sz="975" b="1">
                <a:solidFill>
                  <a:srgbClr val="F0872B"/>
                </a:solidFill>
              </a:defRPr>
            </a:pPr>
            <a:r>
              <a:rPr sz="975" b="1">
                <a:solidFill>
                  <a:srgbClr val="F0872B"/>
                </a:solidFill>
              </a:rPr>
              <a:t>First quiz</a:t>
            </a:r>
          </a:p>
        </p:txBody>
      </p:sp>
      <p:sp>
        <p:nvSpPr>
          <p:cNvPr id="15" name="Rectangle 14">
            <a:extLst>
              <a:ext uri="{FF2B5EF4-FFF2-40B4-BE49-F238E27FC236}">
                <a16:creationId xmlns:a16="http://schemas.microsoft.com/office/drawing/2014/main" id="{04167C18-BB20-45A5-9798-FBE7FC9912D7}"/>
              </a:ext>
            </a:extLst>
          </p:cNvPr>
          <p:cNvSpPr>
            <a:spLocks noGrp="1"/>
          </p:cNvSpPr>
          <p:nvPr/>
        </p:nvSpPr>
        <p:spPr>
          <a:xfrm>
            <a:off x="1543050" y="2057400"/>
            <a:ext cx="3714750" cy="581025"/>
          </a:xfrm>
          <a:prstGeom prst="rect">
            <a:avLst/>
          </a:prstGeom>
          <a:solidFill>
            <a:srgbClr val="FFFFFF"/>
          </a:solidFill>
          <a:ln w="9525">
            <a:solidFill>
              <a:srgbClr val="363636"/>
            </a:solidFill>
            <a:prstDash val="solid"/>
          </a:ln>
        </p:spPr>
      </p:sp>
      <p:sp>
        <p:nvSpPr>
          <p:cNvPr id="16" name="Rectangle 15">
            <a:extLst>
              <a:ext uri="{FF2B5EF4-FFF2-40B4-BE49-F238E27FC236}">
                <a16:creationId xmlns:a16="http://schemas.microsoft.com/office/drawing/2014/main" id="{509873A2-5D60-4C45-90E1-34ADA691CE1B}"/>
              </a:ext>
            </a:extLst>
          </p:cNvPr>
          <p:cNvSpPr>
            <a:spLocks noGrp="1"/>
          </p:cNvSpPr>
          <p:nvPr/>
        </p:nvSpPr>
        <p:spPr>
          <a:xfrm>
            <a:off x="1619250" y="2095500"/>
            <a:ext cx="3562350" cy="504825"/>
          </a:xfrm>
          <a:prstGeom prst="rect">
            <a:avLst/>
          </a:prstGeom>
          <a:noFill/>
          <a:ln w="0">
            <a:noFill/>
            <a:prstDash val="solid"/>
          </a:ln>
        </p:spPr>
        <p:txBody>
          <a:bodyPr anchor="t"/>
          <a:lstStyle/>
          <a:p>
            <a:pPr algn="l">
              <a:buNone/>
              <a:defRPr sz="938" b="0">
                <a:solidFill>
                  <a:srgbClr val="171717"/>
                </a:solidFill>
              </a:defRPr>
            </a:pPr>
            <a:r>
              <a:rPr sz="938" b="0">
                <a:solidFill>
                  <a:srgbClr val="171717"/>
                </a:solidFill>
              </a:rPr>
              <a:t>Cohort average</a:t>
            </a:r>
          </a:p>
        </p:txBody>
      </p:sp>
      <p:sp>
        <p:nvSpPr>
          <p:cNvPr id="17" name="Rectangle 16">
            <a:extLst>
              <a:ext uri="{FF2B5EF4-FFF2-40B4-BE49-F238E27FC236}">
                <a16:creationId xmlns:a16="http://schemas.microsoft.com/office/drawing/2014/main" id="{E2446144-AEA9-4036-B05E-F507B1D361A0}"/>
              </a:ext>
            </a:extLst>
          </p:cNvPr>
          <p:cNvSpPr>
            <a:spLocks noGrp="1"/>
          </p:cNvSpPr>
          <p:nvPr/>
        </p:nvSpPr>
        <p:spPr>
          <a:xfrm>
            <a:off x="5257800" y="2057400"/>
            <a:ext cx="666750" cy="581025"/>
          </a:xfrm>
          <a:prstGeom prst="rect">
            <a:avLst/>
          </a:prstGeom>
          <a:solidFill>
            <a:srgbClr val="FFFFFF"/>
          </a:solidFill>
          <a:ln w="9525">
            <a:solidFill>
              <a:srgbClr val="363636"/>
            </a:solidFill>
            <a:prstDash val="solid"/>
          </a:ln>
        </p:spPr>
      </p:sp>
      <p:sp>
        <p:nvSpPr>
          <p:cNvPr id="18" name="Rectangle 17">
            <a:extLst>
              <a:ext uri="{FF2B5EF4-FFF2-40B4-BE49-F238E27FC236}">
                <a16:creationId xmlns:a16="http://schemas.microsoft.com/office/drawing/2014/main" id="{916C926D-C715-4B03-835A-A052D5EB9FE0}"/>
              </a:ext>
            </a:extLst>
          </p:cNvPr>
          <p:cNvSpPr>
            <a:spLocks noGrp="1"/>
          </p:cNvSpPr>
          <p:nvPr/>
        </p:nvSpPr>
        <p:spPr>
          <a:xfrm>
            <a:off x="5334000" y="2095500"/>
            <a:ext cx="514350" cy="504825"/>
          </a:xfrm>
          <a:prstGeom prst="rect">
            <a:avLst/>
          </a:prstGeom>
          <a:noFill/>
          <a:ln w="0">
            <a:noFill/>
            <a:prstDash val="solid"/>
          </a:ln>
        </p:spPr>
        <p:txBody>
          <a:bodyPr anchor="ctr"/>
          <a:lstStyle/>
          <a:p>
            <a:pPr algn="l">
              <a:buNone/>
              <a:defRPr sz="975" b="0">
                <a:solidFill>
                  <a:srgbClr val="171717"/>
                </a:solidFill>
              </a:defRPr>
            </a:pPr>
            <a:r>
              <a:rPr sz="975" b="0">
                <a:solidFill>
                  <a:srgbClr val="171717"/>
                </a:solidFill>
              </a:rPr>
              <a:t>95%</a:t>
            </a:r>
          </a:p>
        </p:txBody>
      </p:sp>
      <p:sp>
        <p:nvSpPr>
          <p:cNvPr id="19" name="Rectangle 18">
            <a:extLst>
              <a:ext uri="{FF2B5EF4-FFF2-40B4-BE49-F238E27FC236}">
                <a16:creationId xmlns:a16="http://schemas.microsoft.com/office/drawing/2014/main" id="{5CA025A2-A9C1-4378-81C7-5AE86F42CCFA}"/>
              </a:ext>
            </a:extLst>
          </p:cNvPr>
          <p:cNvSpPr>
            <a:spLocks noGrp="1"/>
          </p:cNvSpPr>
          <p:nvPr/>
        </p:nvSpPr>
        <p:spPr>
          <a:xfrm>
            <a:off x="590550" y="2638425"/>
            <a:ext cx="952500" cy="581025"/>
          </a:xfrm>
          <a:prstGeom prst="rect">
            <a:avLst/>
          </a:prstGeom>
          <a:solidFill>
            <a:srgbClr val="F7F5F1"/>
          </a:solidFill>
          <a:ln w="9525">
            <a:solidFill>
              <a:srgbClr val="363636"/>
            </a:solidFill>
            <a:prstDash val="solid"/>
          </a:ln>
        </p:spPr>
      </p:sp>
      <p:sp>
        <p:nvSpPr>
          <p:cNvPr id="20" name="Rectangle 19">
            <a:extLst>
              <a:ext uri="{FF2B5EF4-FFF2-40B4-BE49-F238E27FC236}">
                <a16:creationId xmlns:a16="http://schemas.microsoft.com/office/drawing/2014/main" id="{94F04AD6-1177-49C7-8E3C-B12E8EFB09CB}"/>
              </a:ext>
            </a:extLst>
          </p:cNvPr>
          <p:cNvSpPr>
            <a:spLocks noGrp="1"/>
          </p:cNvSpPr>
          <p:nvPr/>
        </p:nvSpPr>
        <p:spPr>
          <a:xfrm>
            <a:off x="666750" y="2676525"/>
            <a:ext cx="800100" cy="504825"/>
          </a:xfrm>
          <a:prstGeom prst="rect">
            <a:avLst/>
          </a:prstGeom>
          <a:noFill/>
          <a:ln w="0">
            <a:noFill/>
            <a:prstDash val="solid"/>
          </a:ln>
        </p:spPr>
        <p:txBody>
          <a:bodyPr anchor="ctr"/>
          <a:lstStyle/>
          <a:p>
            <a:pPr algn="l">
              <a:buNone/>
              <a:defRPr sz="975" b="1">
                <a:solidFill>
                  <a:srgbClr val="F0872B"/>
                </a:solidFill>
              </a:defRPr>
            </a:pPr>
            <a:r>
              <a:rPr sz="975" b="1">
                <a:solidFill>
                  <a:srgbClr val="F0872B"/>
                </a:solidFill>
              </a:rPr>
              <a:t>Both standards</a:t>
            </a:r>
          </a:p>
        </p:txBody>
      </p:sp>
      <p:sp>
        <p:nvSpPr>
          <p:cNvPr id="21" name="Rectangle 20">
            <a:extLst>
              <a:ext uri="{FF2B5EF4-FFF2-40B4-BE49-F238E27FC236}">
                <a16:creationId xmlns:a16="http://schemas.microsoft.com/office/drawing/2014/main" id="{C292FE0F-B6CA-4483-9970-1BE66690FDF3}"/>
              </a:ext>
            </a:extLst>
          </p:cNvPr>
          <p:cNvSpPr>
            <a:spLocks noGrp="1"/>
          </p:cNvSpPr>
          <p:nvPr/>
        </p:nvSpPr>
        <p:spPr>
          <a:xfrm>
            <a:off x="1543050" y="2638425"/>
            <a:ext cx="3714750" cy="581025"/>
          </a:xfrm>
          <a:prstGeom prst="rect">
            <a:avLst/>
          </a:prstGeom>
          <a:solidFill>
            <a:srgbClr val="FFFFFF"/>
          </a:solidFill>
          <a:ln w="9525">
            <a:solidFill>
              <a:srgbClr val="363636"/>
            </a:solidFill>
            <a:prstDash val="solid"/>
          </a:ln>
        </p:spPr>
      </p:sp>
      <p:sp>
        <p:nvSpPr>
          <p:cNvPr id="22" name="Rectangle 21">
            <a:extLst>
              <a:ext uri="{FF2B5EF4-FFF2-40B4-BE49-F238E27FC236}">
                <a16:creationId xmlns:a16="http://schemas.microsoft.com/office/drawing/2014/main" id="{CCF3D401-7885-4148-B4C2-FC13F88F5F61}"/>
              </a:ext>
            </a:extLst>
          </p:cNvPr>
          <p:cNvSpPr>
            <a:spLocks noGrp="1"/>
          </p:cNvSpPr>
          <p:nvPr/>
        </p:nvSpPr>
        <p:spPr>
          <a:xfrm>
            <a:off x="1619250" y="2676525"/>
            <a:ext cx="3562350" cy="504825"/>
          </a:xfrm>
          <a:prstGeom prst="rect">
            <a:avLst/>
          </a:prstGeom>
          <a:noFill/>
          <a:ln w="0">
            <a:noFill/>
            <a:prstDash val="solid"/>
          </a:ln>
        </p:spPr>
        <p:txBody>
          <a:bodyPr anchor="t"/>
          <a:lstStyle/>
          <a:p>
            <a:pPr algn="l">
              <a:buNone/>
              <a:defRPr sz="938" b="0">
                <a:solidFill>
                  <a:srgbClr val="171717"/>
                </a:solidFill>
              </a:defRPr>
            </a:pPr>
            <a:r>
              <a:rPr sz="938" b="0">
                <a:solidFill>
                  <a:srgbClr val="171717"/>
                </a:solidFill>
              </a:rPr>
              <a:t>Average marked activity</a:t>
            </a:r>
          </a:p>
        </p:txBody>
      </p:sp>
      <p:sp>
        <p:nvSpPr>
          <p:cNvPr id="23" name="Rectangle 22">
            <a:extLst>
              <a:ext uri="{FF2B5EF4-FFF2-40B4-BE49-F238E27FC236}">
                <a16:creationId xmlns:a16="http://schemas.microsoft.com/office/drawing/2014/main" id="{644AF020-82C4-408B-B80F-889567ED1CA1}"/>
              </a:ext>
            </a:extLst>
          </p:cNvPr>
          <p:cNvSpPr>
            <a:spLocks noGrp="1"/>
          </p:cNvSpPr>
          <p:nvPr/>
        </p:nvSpPr>
        <p:spPr>
          <a:xfrm>
            <a:off x="5257800" y="2638425"/>
            <a:ext cx="666750" cy="581025"/>
          </a:xfrm>
          <a:prstGeom prst="rect">
            <a:avLst/>
          </a:prstGeom>
          <a:solidFill>
            <a:srgbClr val="FFFFFF"/>
          </a:solidFill>
          <a:ln w="9525">
            <a:solidFill>
              <a:srgbClr val="363636"/>
            </a:solidFill>
            <a:prstDash val="solid"/>
          </a:ln>
        </p:spPr>
      </p:sp>
      <p:sp>
        <p:nvSpPr>
          <p:cNvPr id="24" name="Rectangle 23">
            <a:extLst>
              <a:ext uri="{FF2B5EF4-FFF2-40B4-BE49-F238E27FC236}">
                <a16:creationId xmlns:a16="http://schemas.microsoft.com/office/drawing/2014/main" id="{04E75CB0-80AD-4A83-BE92-943E180CCA2B}"/>
              </a:ext>
            </a:extLst>
          </p:cNvPr>
          <p:cNvSpPr>
            <a:spLocks noGrp="1"/>
          </p:cNvSpPr>
          <p:nvPr/>
        </p:nvSpPr>
        <p:spPr>
          <a:xfrm>
            <a:off x="5334000" y="2676525"/>
            <a:ext cx="514350" cy="504825"/>
          </a:xfrm>
          <a:prstGeom prst="rect">
            <a:avLst/>
          </a:prstGeom>
          <a:noFill/>
          <a:ln w="0">
            <a:noFill/>
            <a:prstDash val="solid"/>
          </a:ln>
        </p:spPr>
        <p:txBody>
          <a:bodyPr anchor="ctr"/>
          <a:lstStyle/>
          <a:p>
            <a:pPr algn="l">
              <a:buNone/>
              <a:defRPr sz="975" b="0">
                <a:solidFill>
                  <a:srgbClr val="171717"/>
                </a:solidFill>
              </a:defRPr>
            </a:pPr>
            <a:r>
              <a:rPr sz="975" b="0">
                <a:solidFill>
                  <a:srgbClr val="171717"/>
                </a:solidFill>
              </a:rPr>
              <a:t>92%</a:t>
            </a:r>
          </a:p>
        </p:txBody>
      </p:sp>
      <p:sp>
        <p:nvSpPr>
          <p:cNvPr id="25" name="Rectangle 24">
            <a:extLst>
              <a:ext uri="{FF2B5EF4-FFF2-40B4-BE49-F238E27FC236}">
                <a16:creationId xmlns:a16="http://schemas.microsoft.com/office/drawing/2014/main" id="{C70883B0-B6A5-436F-BDD4-2B7A7BFFFCF7}"/>
              </a:ext>
            </a:extLst>
          </p:cNvPr>
          <p:cNvSpPr>
            <a:spLocks noGrp="1"/>
          </p:cNvSpPr>
          <p:nvPr/>
        </p:nvSpPr>
        <p:spPr>
          <a:xfrm>
            <a:off x="590550" y="3219450"/>
            <a:ext cx="952500" cy="581025"/>
          </a:xfrm>
          <a:prstGeom prst="rect">
            <a:avLst/>
          </a:prstGeom>
          <a:solidFill>
            <a:srgbClr val="F7F5F1"/>
          </a:solidFill>
          <a:ln w="9525">
            <a:solidFill>
              <a:srgbClr val="363636"/>
            </a:solidFill>
            <a:prstDash val="solid"/>
          </a:ln>
        </p:spPr>
      </p:sp>
      <p:sp>
        <p:nvSpPr>
          <p:cNvPr id="26" name="Rectangle 25">
            <a:extLst>
              <a:ext uri="{FF2B5EF4-FFF2-40B4-BE49-F238E27FC236}">
                <a16:creationId xmlns:a16="http://schemas.microsoft.com/office/drawing/2014/main" id="{0E39B2A6-57DE-435B-B5BC-8EC40CB0E858}"/>
              </a:ext>
            </a:extLst>
          </p:cNvPr>
          <p:cNvSpPr>
            <a:spLocks noGrp="1"/>
          </p:cNvSpPr>
          <p:nvPr/>
        </p:nvSpPr>
        <p:spPr>
          <a:xfrm>
            <a:off x="666750" y="3257550"/>
            <a:ext cx="800100" cy="504825"/>
          </a:xfrm>
          <a:prstGeom prst="rect">
            <a:avLst/>
          </a:prstGeom>
          <a:noFill/>
          <a:ln w="0">
            <a:noFill/>
            <a:prstDash val="solid"/>
          </a:ln>
        </p:spPr>
        <p:txBody>
          <a:bodyPr anchor="ctr"/>
          <a:lstStyle/>
          <a:p>
            <a:pPr algn="l">
              <a:buNone/>
              <a:defRPr sz="975" b="1">
                <a:solidFill>
                  <a:srgbClr val="F0872B"/>
                </a:solidFill>
              </a:defRPr>
            </a:pPr>
            <a:r>
              <a:rPr sz="975" b="1">
                <a:solidFill>
                  <a:srgbClr val="F0872B"/>
                </a:solidFill>
              </a:rPr>
              <a:t>Threshold</a:t>
            </a:r>
          </a:p>
        </p:txBody>
      </p:sp>
      <p:sp>
        <p:nvSpPr>
          <p:cNvPr id="27" name="Rectangle 26">
            <a:extLst>
              <a:ext uri="{FF2B5EF4-FFF2-40B4-BE49-F238E27FC236}">
                <a16:creationId xmlns:a16="http://schemas.microsoft.com/office/drawing/2014/main" id="{5AF61252-0CF0-4F49-A49F-52AD3F56FF28}"/>
              </a:ext>
            </a:extLst>
          </p:cNvPr>
          <p:cNvSpPr>
            <a:spLocks noGrp="1"/>
          </p:cNvSpPr>
          <p:nvPr/>
        </p:nvSpPr>
        <p:spPr>
          <a:xfrm>
            <a:off x="1543050" y="3219450"/>
            <a:ext cx="3714750" cy="581025"/>
          </a:xfrm>
          <a:prstGeom prst="rect">
            <a:avLst/>
          </a:prstGeom>
          <a:solidFill>
            <a:srgbClr val="FFFFFF"/>
          </a:solidFill>
          <a:ln w="9525">
            <a:solidFill>
              <a:srgbClr val="363636"/>
            </a:solidFill>
            <a:prstDash val="solid"/>
          </a:ln>
        </p:spPr>
      </p:sp>
      <p:sp>
        <p:nvSpPr>
          <p:cNvPr id="28" name="Rectangle 27">
            <a:extLst>
              <a:ext uri="{FF2B5EF4-FFF2-40B4-BE49-F238E27FC236}">
                <a16:creationId xmlns:a16="http://schemas.microsoft.com/office/drawing/2014/main" id="{A26C9D8E-D2F1-4235-82A3-0B122D28E8E0}"/>
              </a:ext>
            </a:extLst>
          </p:cNvPr>
          <p:cNvSpPr>
            <a:spLocks noGrp="1"/>
          </p:cNvSpPr>
          <p:nvPr/>
        </p:nvSpPr>
        <p:spPr>
          <a:xfrm>
            <a:off x="1619250" y="3257550"/>
            <a:ext cx="3562350" cy="504825"/>
          </a:xfrm>
          <a:prstGeom prst="rect">
            <a:avLst/>
          </a:prstGeom>
          <a:noFill/>
          <a:ln w="0">
            <a:noFill/>
            <a:prstDash val="solid"/>
          </a:ln>
        </p:spPr>
        <p:txBody>
          <a:bodyPr anchor="t"/>
          <a:lstStyle/>
          <a:p>
            <a:pPr algn="l">
              <a:buNone/>
              <a:defRPr sz="938" b="0">
                <a:solidFill>
                  <a:srgbClr val="171717"/>
                </a:solidFill>
              </a:defRPr>
            </a:pPr>
            <a:r>
              <a:rPr sz="938" b="0">
                <a:solidFill>
                  <a:srgbClr val="171717"/>
                </a:solidFill>
              </a:rPr>
              <a:t>Learners at / above 80%</a:t>
            </a:r>
          </a:p>
        </p:txBody>
      </p:sp>
      <p:sp>
        <p:nvSpPr>
          <p:cNvPr id="29" name="Rectangle 28">
            <a:extLst>
              <a:ext uri="{FF2B5EF4-FFF2-40B4-BE49-F238E27FC236}">
                <a16:creationId xmlns:a16="http://schemas.microsoft.com/office/drawing/2014/main" id="{235C54B3-C466-4A83-B3FB-E143441DDB92}"/>
              </a:ext>
            </a:extLst>
          </p:cNvPr>
          <p:cNvSpPr>
            <a:spLocks noGrp="1"/>
          </p:cNvSpPr>
          <p:nvPr/>
        </p:nvSpPr>
        <p:spPr>
          <a:xfrm>
            <a:off x="5257800" y="3219450"/>
            <a:ext cx="666750" cy="581025"/>
          </a:xfrm>
          <a:prstGeom prst="rect">
            <a:avLst/>
          </a:prstGeom>
          <a:solidFill>
            <a:srgbClr val="FFFFFF"/>
          </a:solidFill>
          <a:ln w="9525">
            <a:solidFill>
              <a:srgbClr val="363636"/>
            </a:solidFill>
            <a:prstDash val="solid"/>
          </a:ln>
        </p:spPr>
      </p:sp>
      <p:sp>
        <p:nvSpPr>
          <p:cNvPr id="30" name="Rectangle 29">
            <a:extLst>
              <a:ext uri="{FF2B5EF4-FFF2-40B4-BE49-F238E27FC236}">
                <a16:creationId xmlns:a16="http://schemas.microsoft.com/office/drawing/2014/main" id="{3350B839-F0E6-466C-BD68-A21D87692C56}"/>
              </a:ext>
            </a:extLst>
          </p:cNvPr>
          <p:cNvSpPr>
            <a:spLocks noGrp="1"/>
          </p:cNvSpPr>
          <p:nvPr/>
        </p:nvSpPr>
        <p:spPr>
          <a:xfrm>
            <a:off x="5334000" y="3257550"/>
            <a:ext cx="514350" cy="504825"/>
          </a:xfrm>
          <a:prstGeom prst="rect">
            <a:avLst/>
          </a:prstGeom>
          <a:noFill/>
          <a:ln w="0">
            <a:noFill/>
            <a:prstDash val="solid"/>
          </a:ln>
        </p:spPr>
        <p:txBody>
          <a:bodyPr anchor="ctr"/>
          <a:lstStyle/>
          <a:p>
            <a:pPr algn="l">
              <a:buNone/>
              <a:defRPr sz="975" b="0">
                <a:solidFill>
                  <a:srgbClr val="171717"/>
                </a:solidFill>
              </a:defRPr>
            </a:pPr>
            <a:r>
              <a:rPr sz="975" b="0">
                <a:solidFill>
                  <a:srgbClr val="171717"/>
                </a:solidFill>
              </a:rPr>
              <a:t>11/12</a:t>
            </a:r>
          </a:p>
        </p:txBody>
      </p:sp>
      <p:sp>
        <p:nvSpPr>
          <p:cNvPr id="31" name="Rectangle 30">
            <a:extLst>
              <a:ext uri="{FF2B5EF4-FFF2-40B4-BE49-F238E27FC236}">
                <a16:creationId xmlns:a16="http://schemas.microsoft.com/office/drawing/2014/main" id="{DCA1A1B4-149D-44F2-A35D-F7BCD4E69DAF}"/>
              </a:ext>
            </a:extLst>
          </p:cNvPr>
          <p:cNvSpPr>
            <a:spLocks noGrp="1"/>
          </p:cNvSpPr>
          <p:nvPr/>
        </p:nvSpPr>
        <p:spPr>
          <a:xfrm>
            <a:off x="590550" y="3800475"/>
            <a:ext cx="952500" cy="581025"/>
          </a:xfrm>
          <a:prstGeom prst="rect">
            <a:avLst/>
          </a:prstGeom>
          <a:solidFill>
            <a:srgbClr val="F7F5F1"/>
          </a:solidFill>
          <a:ln w="9525">
            <a:solidFill>
              <a:srgbClr val="363636"/>
            </a:solidFill>
            <a:prstDash val="solid"/>
          </a:ln>
        </p:spPr>
      </p:sp>
      <p:sp>
        <p:nvSpPr>
          <p:cNvPr id="32" name="Rectangle 31">
            <a:extLst>
              <a:ext uri="{FF2B5EF4-FFF2-40B4-BE49-F238E27FC236}">
                <a16:creationId xmlns:a16="http://schemas.microsoft.com/office/drawing/2014/main" id="{D74D3ABE-32FE-4F2E-9A75-816CD9E354DC}"/>
              </a:ext>
            </a:extLst>
          </p:cNvPr>
          <p:cNvSpPr>
            <a:spLocks noGrp="1"/>
          </p:cNvSpPr>
          <p:nvPr/>
        </p:nvSpPr>
        <p:spPr>
          <a:xfrm>
            <a:off x="666750" y="3838575"/>
            <a:ext cx="800100" cy="504825"/>
          </a:xfrm>
          <a:prstGeom prst="rect">
            <a:avLst/>
          </a:prstGeom>
          <a:noFill/>
          <a:ln w="0">
            <a:noFill/>
            <a:prstDash val="solid"/>
          </a:ln>
        </p:spPr>
        <p:txBody>
          <a:bodyPr anchor="ctr"/>
          <a:lstStyle/>
          <a:p>
            <a:pPr algn="l">
              <a:buNone/>
              <a:defRPr sz="975" b="1">
                <a:solidFill>
                  <a:srgbClr val="F0872B"/>
                </a:solidFill>
              </a:defRPr>
            </a:pPr>
            <a:r>
              <a:rPr sz="975" b="1">
                <a:solidFill>
                  <a:srgbClr val="F0872B"/>
                </a:solidFill>
              </a:rPr>
              <a:t>Mastery</a:t>
            </a:r>
          </a:p>
        </p:txBody>
      </p:sp>
      <p:sp>
        <p:nvSpPr>
          <p:cNvPr id="33" name="Rectangle 32">
            <a:extLst>
              <a:ext uri="{FF2B5EF4-FFF2-40B4-BE49-F238E27FC236}">
                <a16:creationId xmlns:a16="http://schemas.microsoft.com/office/drawing/2014/main" id="{EFAB6780-6D04-4F97-ADE7-4595AB1D1EA1}"/>
              </a:ext>
            </a:extLst>
          </p:cNvPr>
          <p:cNvSpPr>
            <a:spLocks noGrp="1"/>
          </p:cNvSpPr>
          <p:nvPr/>
        </p:nvSpPr>
        <p:spPr>
          <a:xfrm>
            <a:off x="1543050" y="3800475"/>
            <a:ext cx="3714750" cy="581025"/>
          </a:xfrm>
          <a:prstGeom prst="rect">
            <a:avLst/>
          </a:prstGeom>
          <a:solidFill>
            <a:srgbClr val="FFFFFF"/>
          </a:solidFill>
          <a:ln w="9525">
            <a:solidFill>
              <a:srgbClr val="363636"/>
            </a:solidFill>
            <a:prstDash val="solid"/>
          </a:ln>
        </p:spPr>
      </p:sp>
      <p:sp>
        <p:nvSpPr>
          <p:cNvPr id="34" name="Rectangle 33">
            <a:extLst>
              <a:ext uri="{FF2B5EF4-FFF2-40B4-BE49-F238E27FC236}">
                <a16:creationId xmlns:a16="http://schemas.microsoft.com/office/drawing/2014/main" id="{429C69E3-28E1-49EE-99A1-875C0B9CB6F6}"/>
              </a:ext>
            </a:extLst>
          </p:cNvPr>
          <p:cNvSpPr>
            <a:spLocks noGrp="1"/>
          </p:cNvSpPr>
          <p:nvPr/>
        </p:nvSpPr>
        <p:spPr>
          <a:xfrm>
            <a:off x="1619250" y="3838575"/>
            <a:ext cx="3562350" cy="504825"/>
          </a:xfrm>
          <a:prstGeom prst="rect">
            <a:avLst/>
          </a:prstGeom>
          <a:noFill/>
          <a:ln w="0">
            <a:noFill/>
            <a:prstDash val="solid"/>
          </a:ln>
        </p:spPr>
        <p:txBody>
          <a:bodyPr anchor="t"/>
          <a:lstStyle/>
          <a:p>
            <a:pPr algn="l">
              <a:buNone/>
              <a:defRPr sz="938" b="0">
                <a:solidFill>
                  <a:srgbClr val="171717"/>
                </a:solidFill>
              </a:defRPr>
            </a:pPr>
            <a:r>
              <a:rPr sz="938" b="0">
                <a:solidFill>
                  <a:srgbClr val="171717"/>
                </a:solidFill>
              </a:rPr>
              <a:t>Perfect quiz scores</a:t>
            </a:r>
          </a:p>
        </p:txBody>
      </p:sp>
      <p:sp>
        <p:nvSpPr>
          <p:cNvPr id="35" name="Rectangle 34">
            <a:extLst>
              <a:ext uri="{FF2B5EF4-FFF2-40B4-BE49-F238E27FC236}">
                <a16:creationId xmlns:a16="http://schemas.microsoft.com/office/drawing/2014/main" id="{A8C35B61-63D3-4559-AC6C-6A6DBCCC3716}"/>
              </a:ext>
            </a:extLst>
          </p:cNvPr>
          <p:cNvSpPr>
            <a:spLocks noGrp="1"/>
          </p:cNvSpPr>
          <p:nvPr/>
        </p:nvSpPr>
        <p:spPr>
          <a:xfrm>
            <a:off x="5257800" y="3800475"/>
            <a:ext cx="666750" cy="581025"/>
          </a:xfrm>
          <a:prstGeom prst="rect">
            <a:avLst/>
          </a:prstGeom>
          <a:solidFill>
            <a:srgbClr val="FFFFFF"/>
          </a:solidFill>
          <a:ln w="9525">
            <a:solidFill>
              <a:srgbClr val="363636"/>
            </a:solidFill>
            <a:prstDash val="solid"/>
          </a:ln>
        </p:spPr>
      </p:sp>
      <p:sp>
        <p:nvSpPr>
          <p:cNvPr id="36" name="Rectangle 35">
            <a:extLst>
              <a:ext uri="{FF2B5EF4-FFF2-40B4-BE49-F238E27FC236}">
                <a16:creationId xmlns:a16="http://schemas.microsoft.com/office/drawing/2014/main" id="{121577F8-FDCA-4F5A-8DB9-A948AF946E8E}"/>
              </a:ext>
            </a:extLst>
          </p:cNvPr>
          <p:cNvSpPr>
            <a:spLocks noGrp="1"/>
          </p:cNvSpPr>
          <p:nvPr/>
        </p:nvSpPr>
        <p:spPr>
          <a:xfrm>
            <a:off x="5334000" y="3838575"/>
            <a:ext cx="514350" cy="504825"/>
          </a:xfrm>
          <a:prstGeom prst="rect">
            <a:avLst/>
          </a:prstGeom>
          <a:noFill/>
          <a:ln w="0">
            <a:noFill/>
            <a:prstDash val="solid"/>
          </a:ln>
        </p:spPr>
        <p:txBody>
          <a:bodyPr anchor="ctr"/>
          <a:lstStyle/>
          <a:p>
            <a:pPr algn="l">
              <a:buNone/>
              <a:defRPr sz="975" b="0">
                <a:solidFill>
                  <a:srgbClr val="171717"/>
                </a:solidFill>
              </a:defRPr>
            </a:pPr>
            <a:r>
              <a:rPr sz="975" b="0">
                <a:solidFill>
                  <a:srgbClr val="171717"/>
                </a:solidFill>
              </a:rPr>
              <a:t>6</a:t>
            </a:r>
          </a:p>
        </p:txBody>
      </p:sp>
      <p:sp>
        <p:nvSpPr>
          <p:cNvPr id="37" name="Rectangle 36">
            <a:extLst>
              <a:ext uri="{FF2B5EF4-FFF2-40B4-BE49-F238E27FC236}">
                <a16:creationId xmlns:a16="http://schemas.microsoft.com/office/drawing/2014/main" id="{B6788D01-3A24-47E8-8A82-A343A0F212BD}"/>
              </a:ext>
            </a:extLst>
          </p:cNvPr>
          <p:cNvSpPr>
            <a:spLocks noGrp="1"/>
          </p:cNvSpPr>
          <p:nvPr/>
        </p:nvSpPr>
        <p:spPr>
          <a:xfrm>
            <a:off x="590550" y="4381500"/>
            <a:ext cx="952500" cy="581025"/>
          </a:xfrm>
          <a:prstGeom prst="rect">
            <a:avLst/>
          </a:prstGeom>
          <a:solidFill>
            <a:srgbClr val="F7F5F1"/>
          </a:solidFill>
          <a:ln w="9525">
            <a:solidFill>
              <a:srgbClr val="363636"/>
            </a:solidFill>
            <a:prstDash val="solid"/>
          </a:ln>
        </p:spPr>
      </p:sp>
      <p:sp>
        <p:nvSpPr>
          <p:cNvPr id="38" name="Rectangle 37">
            <a:extLst>
              <a:ext uri="{FF2B5EF4-FFF2-40B4-BE49-F238E27FC236}">
                <a16:creationId xmlns:a16="http://schemas.microsoft.com/office/drawing/2014/main" id="{7D178560-BA42-46F6-A7B3-EF27C3CE6946}"/>
              </a:ext>
            </a:extLst>
          </p:cNvPr>
          <p:cNvSpPr>
            <a:spLocks noGrp="1"/>
          </p:cNvSpPr>
          <p:nvPr/>
        </p:nvSpPr>
        <p:spPr>
          <a:xfrm>
            <a:off x="666750" y="4419600"/>
            <a:ext cx="800100" cy="504825"/>
          </a:xfrm>
          <a:prstGeom prst="rect">
            <a:avLst/>
          </a:prstGeom>
          <a:noFill/>
          <a:ln w="0">
            <a:noFill/>
            <a:prstDash val="solid"/>
          </a:ln>
        </p:spPr>
        <p:txBody>
          <a:bodyPr anchor="ctr"/>
          <a:lstStyle/>
          <a:p>
            <a:pPr algn="l">
              <a:buNone/>
              <a:defRPr sz="975" b="1">
                <a:solidFill>
                  <a:srgbClr val="F0872B"/>
                </a:solidFill>
              </a:defRPr>
            </a:pPr>
            <a:r>
              <a:rPr sz="975" b="1">
                <a:solidFill>
                  <a:srgbClr val="F0872B"/>
                </a:solidFill>
              </a:rPr>
              <a:t>Quiz result</a:t>
            </a:r>
          </a:p>
        </p:txBody>
      </p:sp>
      <p:sp>
        <p:nvSpPr>
          <p:cNvPr id="39" name="Rectangle 38">
            <a:extLst>
              <a:ext uri="{FF2B5EF4-FFF2-40B4-BE49-F238E27FC236}">
                <a16:creationId xmlns:a16="http://schemas.microsoft.com/office/drawing/2014/main" id="{E25275A5-6139-4460-9F86-8527776F8234}"/>
              </a:ext>
            </a:extLst>
          </p:cNvPr>
          <p:cNvSpPr>
            <a:spLocks noGrp="1"/>
          </p:cNvSpPr>
          <p:nvPr/>
        </p:nvSpPr>
        <p:spPr>
          <a:xfrm>
            <a:off x="1543050" y="4381500"/>
            <a:ext cx="3714750" cy="581025"/>
          </a:xfrm>
          <a:prstGeom prst="rect">
            <a:avLst/>
          </a:prstGeom>
          <a:solidFill>
            <a:srgbClr val="FFFFFF"/>
          </a:solidFill>
          <a:ln w="9525">
            <a:solidFill>
              <a:srgbClr val="363636"/>
            </a:solidFill>
            <a:prstDash val="solid"/>
          </a:ln>
        </p:spPr>
      </p:sp>
      <p:sp>
        <p:nvSpPr>
          <p:cNvPr id="40" name="Rectangle 39">
            <a:extLst>
              <a:ext uri="{FF2B5EF4-FFF2-40B4-BE49-F238E27FC236}">
                <a16:creationId xmlns:a16="http://schemas.microsoft.com/office/drawing/2014/main" id="{87997A83-81A9-4BA8-81DA-1DB0EDAEC5A2}"/>
              </a:ext>
            </a:extLst>
          </p:cNvPr>
          <p:cNvSpPr>
            <a:spLocks noGrp="1"/>
          </p:cNvSpPr>
          <p:nvPr/>
        </p:nvSpPr>
        <p:spPr>
          <a:xfrm>
            <a:off x="1619250" y="4419600"/>
            <a:ext cx="3562350" cy="504825"/>
          </a:xfrm>
          <a:prstGeom prst="rect">
            <a:avLst/>
          </a:prstGeom>
          <a:noFill/>
          <a:ln w="0">
            <a:noFill/>
            <a:prstDash val="solid"/>
          </a:ln>
        </p:spPr>
        <p:txBody>
          <a:bodyPr anchor="t"/>
          <a:lstStyle/>
          <a:p>
            <a:pPr algn="l">
              <a:buNone/>
              <a:defRPr sz="938" b="0">
                <a:solidFill>
                  <a:srgbClr val="171717"/>
                </a:solidFill>
              </a:defRPr>
            </a:pPr>
            <a:r>
              <a:rPr sz="938" b="0">
                <a:solidFill>
                  <a:srgbClr val="171717"/>
                </a:solidFill>
              </a:rPr>
              <a:t>Below 80%</a:t>
            </a:r>
          </a:p>
        </p:txBody>
      </p:sp>
      <p:sp>
        <p:nvSpPr>
          <p:cNvPr id="41" name="Rectangle 40">
            <a:extLst>
              <a:ext uri="{FF2B5EF4-FFF2-40B4-BE49-F238E27FC236}">
                <a16:creationId xmlns:a16="http://schemas.microsoft.com/office/drawing/2014/main" id="{B6EF0F07-A996-4263-8260-65EC335F2790}"/>
              </a:ext>
            </a:extLst>
          </p:cNvPr>
          <p:cNvSpPr>
            <a:spLocks noGrp="1"/>
          </p:cNvSpPr>
          <p:nvPr/>
        </p:nvSpPr>
        <p:spPr>
          <a:xfrm>
            <a:off x="5257800" y="4381500"/>
            <a:ext cx="666750" cy="581025"/>
          </a:xfrm>
          <a:prstGeom prst="rect">
            <a:avLst/>
          </a:prstGeom>
          <a:solidFill>
            <a:srgbClr val="FFFFFF"/>
          </a:solidFill>
          <a:ln w="9525">
            <a:solidFill>
              <a:srgbClr val="363636"/>
            </a:solidFill>
            <a:prstDash val="solid"/>
          </a:ln>
        </p:spPr>
      </p:sp>
      <p:sp>
        <p:nvSpPr>
          <p:cNvPr id="42" name="Rectangle 41">
            <a:extLst>
              <a:ext uri="{FF2B5EF4-FFF2-40B4-BE49-F238E27FC236}">
                <a16:creationId xmlns:a16="http://schemas.microsoft.com/office/drawing/2014/main" id="{A31B63CD-69AE-41EA-86D7-7F569AD7F091}"/>
              </a:ext>
            </a:extLst>
          </p:cNvPr>
          <p:cNvSpPr>
            <a:spLocks noGrp="1"/>
          </p:cNvSpPr>
          <p:nvPr/>
        </p:nvSpPr>
        <p:spPr>
          <a:xfrm>
            <a:off x="5334000" y="4419600"/>
            <a:ext cx="514350" cy="504825"/>
          </a:xfrm>
          <a:prstGeom prst="rect">
            <a:avLst/>
          </a:prstGeom>
          <a:noFill/>
          <a:ln w="0">
            <a:noFill/>
            <a:prstDash val="solid"/>
          </a:ln>
        </p:spPr>
        <p:txBody>
          <a:bodyPr anchor="ctr"/>
          <a:lstStyle/>
          <a:p>
            <a:pPr algn="l">
              <a:buNone/>
              <a:defRPr sz="975" b="0">
                <a:solidFill>
                  <a:srgbClr val="171717"/>
                </a:solidFill>
              </a:defRPr>
            </a:pPr>
            <a:r>
              <a:rPr sz="975" b="0">
                <a:solidFill>
                  <a:srgbClr val="171717"/>
                </a:solidFill>
              </a:rPr>
              <a:t>0</a:t>
            </a:r>
          </a:p>
        </p:txBody>
      </p:sp>
      <p:sp>
        <p:nvSpPr>
          <p:cNvPr id="43" name="Rectangle 42">
            <a:extLst>
              <a:ext uri="{FF2B5EF4-FFF2-40B4-BE49-F238E27FC236}">
                <a16:creationId xmlns:a16="http://schemas.microsoft.com/office/drawing/2014/main" id="{BDD335C2-876C-4253-B536-8EFD47CCC569}"/>
              </a:ext>
            </a:extLst>
          </p:cNvPr>
          <p:cNvSpPr>
            <a:spLocks noGrp="1"/>
          </p:cNvSpPr>
          <p:nvPr/>
        </p:nvSpPr>
        <p:spPr>
          <a:xfrm>
            <a:off x="590550" y="4962525"/>
            <a:ext cx="952500" cy="581025"/>
          </a:xfrm>
          <a:prstGeom prst="rect">
            <a:avLst/>
          </a:prstGeom>
          <a:solidFill>
            <a:srgbClr val="F7F5F1"/>
          </a:solidFill>
          <a:ln w="9525">
            <a:solidFill>
              <a:srgbClr val="363636"/>
            </a:solidFill>
            <a:prstDash val="solid"/>
          </a:ln>
        </p:spPr>
      </p:sp>
      <p:sp>
        <p:nvSpPr>
          <p:cNvPr id="44" name="Rectangle 43">
            <a:extLst>
              <a:ext uri="{FF2B5EF4-FFF2-40B4-BE49-F238E27FC236}">
                <a16:creationId xmlns:a16="http://schemas.microsoft.com/office/drawing/2014/main" id="{856ED6B7-090C-4304-8939-3563FAC4FC47}"/>
              </a:ext>
            </a:extLst>
          </p:cNvPr>
          <p:cNvSpPr>
            <a:spLocks noGrp="1"/>
          </p:cNvSpPr>
          <p:nvPr/>
        </p:nvSpPr>
        <p:spPr>
          <a:xfrm>
            <a:off x="666750" y="5000625"/>
            <a:ext cx="800100" cy="504825"/>
          </a:xfrm>
          <a:prstGeom prst="rect">
            <a:avLst/>
          </a:prstGeom>
          <a:noFill/>
          <a:ln w="0">
            <a:noFill/>
            <a:prstDash val="solid"/>
          </a:ln>
        </p:spPr>
        <p:txBody>
          <a:bodyPr anchor="ctr"/>
          <a:lstStyle/>
          <a:p>
            <a:pPr algn="l">
              <a:buNone/>
              <a:defRPr sz="975" b="1">
                <a:solidFill>
                  <a:srgbClr val="F0872B"/>
                </a:solidFill>
              </a:defRPr>
            </a:pPr>
            <a:r>
              <a:rPr sz="975" b="1">
                <a:solidFill>
                  <a:srgbClr val="F0872B"/>
                </a:solidFill>
              </a:rPr>
              <a:t>Retry practice</a:t>
            </a:r>
          </a:p>
        </p:txBody>
      </p:sp>
      <p:sp>
        <p:nvSpPr>
          <p:cNvPr id="45" name="Rectangle 44">
            <a:extLst>
              <a:ext uri="{FF2B5EF4-FFF2-40B4-BE49-F238E27FC236}">
                <a16:creationId xmlns:a16="http://schemas.microsoft.com/office/drawing/2014/main" id="{7661F086-C840-46BD-A6DD-74463BC27ADD}"/>
              </a:ext>
            </a:extLst>
          </p:cNvPr>
          <p:cNvSpPr>
            <a:spLocks noGrp="1"/>
          </p:cNvSpPr>
          <p:nvPr/>
        </p:nvSpPr>
        <p:spPr>
          <a:xfrm>
            <a:off x="1543050" y="4962525"/>
            <a:ext cx="3714750" cy="581025"/>
          </a:xfrm>
          <a:prstGeom prst="rect">
            <a:avLst/>
          </a:prstGeom>
          <a:solidFill>
            <a:srgbClr val="FFFFFF"/>
          </a:solidFill>
          <a:ln w="9525">
            <a:solidFill>
              <a:srgbClr val="363636"/>
            </a:solidFill>
            <a:prstDash val="solid"/>
          </a:ln>
        </p:spPr>
      </p:sp>
      <p:sp>
        <p:nvSpPr>
          <p:cNvPr id="46" name="Rectangle 45">
            <a:extLst>
              <a:ext uri="{FF2B5EF4-FFF2-40B4-BE49-F238E27FC236}">
                <a16:creationId xmlns:a16="http://schemas.microsoft.com/office/drawing/2014/main" id="{2F6C434F-CCFD-4A39-8D1F-FB24972B5456}"/>
              </a:ext>
            </a:extLst>
          </p:cNvPr>
          <p:cNvSpPr>
            <a:spLocks noGrp="1"/>
          </p:cNvSpPr>
          <p:nvPr/>
        </p:nvSpPr>
        <p:spPr>
          <a:xfrm>
            <a:off x="1619250" y="5000625"/>
            <a:ext cx="3562350" cy="504825"/>
          </a:xfrm>
          <a:prstGeom prst="rect">
            <a:avLst/>
          </a:prstGeom>
          <a:noFill/>
          <a:ln w="0">
            <a:noFill/>
            <a:prstDash val="solid"/>
          </a:ln>
        </p:spPr>
        <p:txBody>
          <a:bodyPr anchor="t"/>
          <a:lstStyle/>
          <a:p>
            <a:pPr algn="l">
              <a:buNone/>
              <a:defRPr sz="938" b="0">
                <a:solidFill>
                  <a:srgbClr val="171717"/>
                </a:solidFill>
              </a:defRPr>
            </a:pPr>
            <a:r>
              <a:rPr sz="938" b="0">
                <a:solidFill>
                  <a:srgbClr val="171717"/>
                </a:solidFill>
              </a:rPr>
              <a:t>Average formative attempts</a:t>
            </a:r>
          </a:p>
        </p:txBody>
      </p:sp>
      <p:sp>
        <p:nvSpPr>
          <p:cNvPr id="47" name="Rectangle 46">
            <a:extLst>
              <a:ext uri="{FF2B5EF4-FFF2-40B4-BE49-F238E27FC236}">
                <a16:creationId xmlns:a16="http://schemas.microsoft.com/office/drawing/2014/main" id="{5401CCE8-5FB5-40CD-AD85-030E445951D0}"/>
              </a:ext>
            </a:extLst>
          </p:cNvPr>
          <p:cNvSpPr>
            <a:spLocks noGrp="1"/>
          </p:cNvSpPr>
          <p:nvPr/>
        </p:nvSpPr>
        <p:spPr>
          <a:xfrm>
            <a:off x="5257800" y="4962525"/>
            <a:ext cx="666750" cy="581025"/>
          </a:xfrm>
          <a:prstGeom prst="rect">
            <a:avLst/>
          </a:prstGeom>
          <a:solidFill>
            <a:srgbClr val="FFFFFF"/>
          </a:solidFill>
          <a:ln w="9525">
            <a:solidFill>
              <a:srgbClr val="363636"/>
            </a:solidFill>
            <a:prstDash val="solid"/>
          </a:ln>
        </p:spPr>
      </p:sp>
      <p:sp>
        <p:nvSpPr>
          <p:cNvPr id="48" name="Rectangle 47">
            <a:extLst>
              <a:ext uri="{FF2B5EF4-FFF2-40B4-BE49-F238E27FC236}">
                <a16:creationId xmlns:a16="http://schemas.microsoft.com/office/drawing/2014/main" id="{6D82D395-A94B-4E8C-B25A-5FD3434ECF28}"/>
              </a:ext>
            </a:extLst>
          </p:cNvPr>
          <p:cNvSpPr>
            <a:spLocks noGrp="1"/>
          </p:cNvSpPr>
          <p:nvPr/>
        </p:nvSpPr>
        <p:spPr>
          <a:xfrm>
            <a:off x="5334000" y="5000625"/>
            <a:ext cx="514350" cy="504825"/>
          </a:xfrm>
          <a:prstGeom prst="rect">
            <a:avLst/>
          </a:prstGeom>
          <a:noFill/>
          <a:ln w="0">
            <a:noFill/>
            <a:prstDash val="solid"/>
          </a:ln>
        </p:spPr>
        <p:txBody>
          <a:bodyPr anchor="ctr"/>
          <a:lstStyle/>
          <a:p>
            <a:pPr algn="l">
              <a:buNone/>
              <a:defRPr sz="975" b="0">
                <a:solidFill>
                  <a:srgbClr val="171717"/>
                </a:solidFill>
              </a:defRPr>
            </a:pPr>
            <a:r>
              <a:rPr sz="975" b="0">
                <a:solidFill>
                  <a:srgbClr val="171717"/>
                </a:solidFill>
              </a:rPr>
              <a:t>2.8</a:t>
            </a:r>
          </a:p>
        </p:txBody>
      </p:sp>
      <p:sp>
        <p:nvSpPr>
          <p:cNvPr id="49" name="Rectangle 48">
            <a:extLst>
              <a:ext uri="{FF2B5EF4-FFF2-40B4-BE49-F238E27FC236}">
                <a16:creationId xmlns:a16="http://schemas.microsoft.com/office/drawing/2014/main" id="{4675C77D-52C6-4B30-8FD2-4537E3CA3B7B}"/>
              </a:ext>
            </a:extLst>
          </p:cNvPr>
          <p:cNvSpPr>
            <a:spLocks noGrp="1"/>
          </p:cNvSpPr>
          <p:nvPr/>
        </p:nvSpPr>
        <p:spPr>
          <a:xfrm>
            <a:off x="6267450" y="1657350"/>
            <a:ext cx="952500" cy="400050"/>
          </a:xfrm>
          <a:prstGeom prst="rect">
            <a:avLst/>
          </a:prstGeom>
          <a:solidFill>
            <a:srgbClr val="2E9B7A"/>
          </a:solidFill>
          <a:ln w="9525">
            <a:solidFill>
              <a:srgbClr val="363636"/>
            </a:solidFill>
            <a:prstDash val="solid"/>
          </a:ln>
        </p:spPr>
      </p:sp>
      <p:sp>
        <p:nvSpPr>
          <p:cNvPr id="50" name="Rectangle 49">
            <a:extLst>
              <a:ext uri="{FF2B5EF4-FFF2-40B4-BE49-F238E27FC236}">
                <a16:creationId xmlns:a16="http://schemas.microsoft.com/office/drawing/2014/main" id="{288947B2-2FBC-4FDA-A1C1-D760DD92702E}"/>
              </a:ext>
            </a:extLst>
          </p:cNvPr>
          <p:cNvSpPr>
            <a:spLocks noGrp="1"/>
          </p:cNvSpPr>
          <p:nvPr/>
        </p:nvSpPr>
        <p:spPr>
          <a:xfrm>
            <a:off x="6343650" y="1685925"/>
            <a:ext cx="800100" cy="342900"/>
          </a:xfrm>
          <a:prstGeom prst="rect">
            <a:avLst/>
          </a:prstGeom>
          <a:noFill/>
          <a:ln w="0">
            <a:noFill/>
            <a:prstDash val="solid"/>
          </a:ln>
        </p:spPr>
        <p:txBody>
          <a:bodyPr anchor="ctr"/>
          <a:lstStyle/>
          <a:p>
            <a:pPr algn="l">
              <a:buNone/>
              <a:defRPr sz="975" b="1">
                <a:solidFill>
                  <a:srgbClr val="FFFFFF"/>
                </a:solidFill>
              </a:defRPr>
            </a:pPr>
            <a:r>
              <a:rPr sz="975" b="1">
                <a:solidFill>
                  <a:srgbClr val="FFFFFF"/>
                </a:solidFill>
              </a:rPr>
              <a:t>Measure</a:t>
            </a:r>
          </a:p>
        </p:txBody>
      </p:sp>
      <p:sp>
        <p:nvSpPr>
          <p:cNvPr id="51" name="Rectangle 50">
            <a:extLst>
              <a:ext uri="{FF2B5EF4-FFF2-40B4-BE49-F238E27FC236}">
                <a16:creationId xmlns:a16="http://schemas.microsoft.com/office/drawing/2014/main" id="{580B8580-26DF-4646-8285-19914A824FB6}"/>
              </a:ext>
            </a:extLst>
          </p:cNvPr>
          <p:cNvSpPr>
            <a:spLocks noGrp="1"/>
          </p:cNvSpPr>
          <p:nvPr/>
        </p:nvSpPr>
        <p:spPr>
          <a:xfrm>
            <a:off x="7219950" y="1657350"/>
            <a:ext cx="3714750" cy="400050"/>
          </a:xfrm>
          <a:prstGeom prst="rect">
            <a:avLst/>
          </a:prstGeom>
          <a:solidFill>
            <a:srgbClr val="2E9B7A"/>
          </a:solidFill>
          <a:ln w="9525">
            <a:solidFill>
              <a:srgbClr val="363636"/>
            </a:solidFill>
            <a:prstDash val="solid"/>
          </a:ln>
        </p:spPr>
      </p:sp>
      <p:sp>
        <p:nvSpPr>
          <p:cNvPr id="52" name="Rectangle 51">
            <a:extLst>
              <a:ext uri="{FF2B5EF4-FFF2-40B4-BE49-F238E27FC236}">
                <a16:creationId xmlns:a16="http://schemas.microsoft.com/office/drawing/2014/main" id="{32602076-288E-471F-886D-EB06F025424E}"/>
              </a:ext>
            </a:extLst>
          </p:cNvPr>
          <p:cNvSpPr>
            <a:spLocks noGrp="1"/>
          </p:cNvSpPr>
          <p:nvPr/>
        </p:nvSpPr>
        <p:spPr>
          <a:xfrm>
            <a:off x="7296150" y="1685925"/>
            <a:ext cx="3562350" cy="342900"/>
          </a:xfrm>
          <a:prstGeom prst="rect">
            <a:avLst/>
          </a:prstGeom>
          <a:noFill/>
          <a:ln w="0">
            <a:noFill/>
            <a:prstDash val="solid"/>
          </a:ln>
        </p:spPr>
        <p:txBody>
          <a:bodyPr anchor="ctr"/>
          <a:lstStyle/>
          <a:p>
            <a:pPr algn="l">
              <a:buNone/>
              <a:defRPr sz="975" b="1">
                <a:solidFill>
                  <a:srgbClr val="FFFFFF"/>
                </a:solidFill>
              </a:defRPr>
            </a:pPr>
            <a:r>
              <a:rPr sz="975" b="1">
                <a:solidFill>
                  <a:srgbClr val="FFFFFF"/>
                </a:solidFill>
              </a:rPr>
              <a:t>Performance indicator</a:t>
            </a:r>
          </a:p>
        </p:txBody>
      </p:sp>
      <p:sp>
        <p:nvSpPr>
          <p:cNvPr id="53" name="Rectangle 52">
            <a:extLst>
              <a:ext uri="{FF2B5EF4-FFF2-40B4-BE49-F238E27FC236}">
                <a16:creationId xmlns:a16="http://schemas.microsoft.com/office/drawing/2014/main" id="{C3C3B751-6323-47A7-A637-49486646F03F}"/>
              </a:ext>
            </a:extLst>
          </p:cNvPr>
          <p:cNvSpPr>
            <a:spLocks noGrp="1"/>
          </p:cNvSpPr>
          <p:nvPr/>
        </p:nvSpPr>
        <p:spPr>
          <a:xfrm>
            <a:off x="10934700" y="1657350"/>
            <a:ext cx="666750" cy="400050"/>
          </a:xfrm>
          <a:prstGeom prst="rect">
            <a:avLst/>
          </a:prstGeom>
          <a:solidFill>
            <a:srgbClr val="2E9B7A"/>
          </a:solidFill>
          <a:ln w="9525">
            <a:solidFill>
              <a:srgbClr val="363636"/>
            </a:solidFill>
            <a:prstDash val="solid"/>
          </a:ln>
        </p:spPr>
      </p:sp>
      <p:sp>
        <p:nvSpPr>
          <p:cNvPr id="54" name="Rectangle 53">
            <a:extLst>
              <a:ext uri="{FF2B5EF4-FFF2-40B4-BE49-F238E27FC236}">
                <a16:creationId xmlns:a16="http://schemas.microsoft.com/office/drawing/2014/main" id="{660430B8-817A-44AE-BC06-F2483D02975D}"/>
              </a:ext>
            </a:extLst>
          </p:cNvPr>
          <p:cNvSpPr>
            <a:spLocks noGrp="1"/>
          </p:cNvSpPr>
          <p:nvPr/>
        </p:nvSpPr>
        <p:spPr>
          <a:xfrm>
            <a:off x="11010900" y="1685925"/>
            <a:ext cx="514350" cy="342900"/>
          </a:xfrm>
          <a:prstGeom prst="rect">
            <a:avLst/>
          </a:prstGeom>
          <a:noFill/>
          <a:ln w="0">
            <a:noFill/>
            <a:prstDash val="solid"/>
          </a:ln>
        </p:spPr>
        <p:txBody>
          <a:bodyPr anchor="ctr"/>
          <a:lstStyle/>
          <a:p>
            <a:pPr algn="l">
              <a:buNone/>
              <a:defRPr sz="975" b="1">
                <a:solidFill>
                  <a:srgbClr val="FFFFFF"/>
                </a:solidFill>
              </a:defRPr>
            </a:pPr>
            <a:r>
              <a:rPr sz="975" b="1">
                <a:solidFill>
                  <a:srgbClr val="FFFFFF"/>
                </a:solidFill>
              </a:rPr>
              <a:t>Value</a:t>
            </a:r>
          </a:p>
        </p:txBody>
      </p:sp>
      <p:sp>
        <p:nvSpPr>
          <p:cNvPr id="55" name="Rectangle 54">
            <a:extLst>
              <a:ext uri="{FF2B5EF4-FFF2-40B4-BE49-F238E27FC236}">
                <a16:creationId xmlns:a16="http://schemas.microsoft.com/office/drawing/2014/main" id="{F9DA0EF5-E1D0-4E62-803E-C6CEE408B01B}"/>
              </a:ext>
            </a:extLst>
          </p:cNvPr>
          <p:cNvSpPr>
            <a:spLocks noGrp="1"/>
          </p:cNvSpPr>
          <p:nvPr/>
        </p:nvSpPr>
        <p:spPr>
          <a:xfrm>
            <a:off x="6267450" y="2057400"/>
            <a:ext cx="952500" cy="581025"/>
          </a:xfrm>
          <a:prstGeom prst="rect">
            <a:avLst/>
          </a:prstGeom>
          <a:solidFill>
            <a:srgbClr val="F7F5F1"/>
          </a:solidFill>
          <a:ln w="9525">
            <a:solidFill>
              <a:srgbClr val="363636"/>
            </a:solidFill>
            <a:prstDash val="solid"/>
          </a:ln>
        </p:spPr>
      </p:sp>
      <p:sp>
        <p:nvSpPr>
          <p:cNvPr id="56" name="Rectangle 55">
            <a:extLst>
              <a:ext uri="{FF2B5EF4-FFF2-40B4-BE49-F238E27FC236}">
                <a16:creationId xmlns:a16="http://schemas.microsoft.com/office/drawing/2014/main" id="{1FCA5D94-7600-405C-B5FF-BD3B7A34B1C2}"/>
              </a:ext>
            </a:extLst>
          </p:cNvPr>
          <p:cNvSpPr>
            <a:spLocks noGrp="1"/>
          </p:cNvSpPr>
          <p:nvPr/>
        </p:nvSpPr>
        <p:spPr>
          <a:xfrm>
            <a:off x="6343650" y="2095500"/>
            <a:ext cx="800100" cy="504825"/>
          </a:xfrm>
          <a:prstGeom prst="rect">
            <a:avLst/>
          </a:prstGeom>
          <a:noFill/>
          <a:ln w="0">
            <a:noFill/>
            <a:prstDash val="solid"/>
          </a:ln>
        </p:spPr>
        <p:txBody>
          <a:bodyPr anchor="ctr"/>
          <a:lstStyle/>
          <a:p>
            <a:pPr algn="l">
              <a:buNone/>
              <a:defRPr sz="975" b="1">
                <a:solidFill>
                  <a:srgbClr val="F0872B"/>
                </a:solidFill>
              </a:defRPr>
            </a:pPr>
            <a:r>
              <a:rPr sz="975" b="1">
                <a:solidFill>
                  <a:srgbClr val="F0872B"/>
                </a:solidFill>
              </a:rPr>
              <a:t>US10135 Q1</a:t>
            </a:r>
          </a:p>
        </p:txBody>
      </p:sp>
      <p:sp>
        <p:nvSpPr>
          <p:cNvPr id="57" name="Rectangle 56">
            <a:extLst>
              <a:ext uri="{FF2B5EF4-FFF2-40B4-BE49-F238E27FC236}">
                <a16:creationId xmlns:a16="http://schemas.microsoft.com/office/drawing/2014/main" id="{34E502EA-04A9-49A9-9203-366CD9107B03}"/>
              </a:ext>
            </a:extLst>
          </p:cNvPr>
          <p:cNvSpPr>
            <a:spLocks noGrp="1"/>
          </p:cNvSpPr>
          <p:nvPr/>
        </p:nvSpPr>
        <p:spPr>
          <a:xfrm>
            <a:off x="7219950" y="2057400"/>
            <a:ext cx="3714750" cy="581025"/>
          </a:xfrm>
          <a:prstGeom prst="rect">
            <a:avLst/>
          </a:prstGeom>
          <a:solidFill>
            <a:srgbClr val="FFFFFF"/>
          </a:solidFill>
          <a:ln w="9525">
            <a:solidFill>
              <a:srgbClr val="363636"/>
            </a:solidFill>
            <a:prstDash val="solid"/>
          </a:ln>
        </p:spPr>
      </p:sp>
      <p:sp>
        <p:nvSpPr>
          <p:cNvPr id="58" name="Rectangle 57">
            <a:extLst>
              <a:ext uri="{FF2B5EF4-FFF2-40B4-BE49-F238E27FC236}">
                <a16:creationId xmlns:a16="http://schemas.microsoft.com/office/drawing/2014/main" id="{11385FC4-026E-4791-8504-A6D372033335}"/>
              </a:ext>
            </a:extLst>
          </p:cNvPr>
          <p:cNvSpPr>
            <a:spLocks noGrp="1"/>
          </p:cNvSpPr>
          <p:nvPr/>
        </p:nvSpPr>
        <p:spPr>
          <a:xfrm>
            <a:off x="7296150" y="2095500"/>
            <a:ext cx="3562350" cy="504825"/>
          </a:xfrm>
          <a:prstGeom prst="rect">
            <a:avLst/>
          </a:prstGeom>
          <a:noFill/>
          <a:ln w="0">
            <a:noFill/>
            <a:prstDash val="solid"/>
          </a:ln>
        </p:spPr>
        <p:txBody>
          <a:bodyPr anchor="t"/>
          <a:lstStyle/>
          <a:p>
            <a:pPr algn="l">
              <a:buNone/>
              <a:defRPr sz="938" b="0">
                <a:solidFill>
                  <a:srgbClr val="171717"/>
                </a:solidFill>
              </a:defRPr>
            </a:pPr>
            <a:r>
              <a:rPr sz="938" b="0">
                <a:solidFill>
                  <a:srgbClr val="171717"/>
                </a:solidFill>
              </a:rPr>
              <a:t>Teamwork &amp; autonomy mean</a:t>
            </a:r>
          </a:p>
        </p:txBody>
      </p:sp>
      <p:sp>
        <p:nvSpPr>
          <p:cNvPr id="59" name="Rectangle 58">
            <a:extLst>
              <a:ext uri="{FF2B5EF4-FFF2-40B4-BE49-F238E27FC236}">
                <a16:creationId xmlns:a16="http://schemas.microsoft.com/office/drawing/2014/main" id="{F86AB870-F0E0-489D-B13B-0B59FA94957F}"/>
              </a:ext>
            </a:extLst>
          </p:cNvPr>
          <p:cNvSpPr>
            <a:spLocks noGrp="1"/>
          </p:cNvSpPr>
          <p:nvPr/>
        </p:nvSpPr>
        <p:spPr>
          <a:xfrm>
            <a:off x="10934700" y="2057400"/>
            <a:ext cx="666750" cy="581025"/>
          </a:xfrm>
          <a:prstGeom prst="rect">
            <a:avLst/>
          </a:prstGeom>
          <a:solidFill>
            <a:srgbClr val="FFFFFF"/>
          </a:solidFill>
          <a:ln w="9525">
            <a:solidFill>
              <a:srgbClr val="363636"/>
            </a:solidFill>
            <a:prstDash val="solid"/>
          </a:ln>
        </p:spPr>
      </p:sp>
      <p:sp>
        <p:nvSpPr>
          <p:cNvPr id="60" name="Rectangle 59">
            <a:extLst>
              <a:ext uri="{FF2B5EF4-FFF2-40B4-BE49-F238E27FC236}">
                <a16:creationId xmlns:a16="http://schemas.microsoft.com/office/drawing/2014/main" id="{A38E673F-8403-4AD7-B42E-66EDE468412C}"/>
              </a:ext>
            </a:extLst>
          </p:cNvPr>
          <p:cNvSpPr>
            <a:spLocks noGrp="1"/>
          </p:cNvSpPr>
          <p:nvPr/>
        </p:nvSpPr>
        <p:spPr>
          <a:xfrm>
            <a:off x="11010900" y="2095500"/>
            <a:ext cx="514350" cy="504825"/>
          </a:xfrm>
          <a:prstGeom prst="rect">
            <a:avLst/>
          </a:prstGeom>
          <a:noFill/>
          <a:ln w="0">
            <a:noFill/>
            <a:prstDash val="solid"/>
          </a:ln>
        </p:spPr>
        <p:txBody>
          <a:bodyPr anchor="ctr"/>
          <a:lstStyle/>
          <a:p>
            <a:pPr algn="l">
              <a:buNone/>
              <a:defRPr sz="975" b="0">
                <a:solidFill>
                  <a:srgbClr val="171717"/>
                </a:solidFill>
              </a:defRPr>
            </a:pPr>
            <a:r>
              <a:rPr sz="975" b="0">
                <a:solidFill>
                  <a:srgbClr val="171717"/>
                </a:solidFill>
              </a:rPr>
              <a:t>91.3</a:t>
            </a:r>
          </a:p>
        </p:txBody>
      </p:sp>
      <p:sp>
        <p:nvSpPr>
          <p:cNvPr id="61" name="Rectangle 60">
            <a:extLst>
              <a:ext uri="{FF2B5EF4-FFF2-40B4-BE49-F238E27FC236}">
                <a16:creationId xmlns:a16="http://schemas.microsoft.com/office/drawing/2014/main" id="{9741090A-59B3-4133-9EE2-682299952ED9}"/>
              </a:ext>
            </a:extLst>
          </p:cNvPr>
          <p:cNvSpPr>
            <a:spLocks noGrp="1"/>
          </p:cNvSpPr>
          <p:nvPr/>
        </p:nvSpPr>
        <p:spPr>
          <a:xfrm>
            <a:off x="6267450" y="2638425"/>
            <a:ext cx="952500" cy="581025"/>
          </a:xfrm>
          <a:prstGeom prst="rect">
            <a:avLst/>
          </a:prstGeom>
          <a:solidFill>
            <a:srgbClr val="F7F5F1"/>
          </a:solidFill>
          <a:ln w="9525">
            <a:solidFill>
              <a:srgbClr val="363636"/>
            </a:solidFill>
            <a:prstDash val="solid"/>
          </a:ln>
        </p:spPr>
      </p:sp>
      <p:sp>
        <p:nvSpPr>
          <p:cNvPr id="62" name="Rectangle 61">
            <a:extLst>
              <a:ext uri="{FF2B5EF4-FFF2-40B4-BE49-F238E27FC236}">
                <a16:creationId xmlns:a16="http://schemas.microsoft.com/office/drawing/2014/main" id="{895F66C9-9C46-481D-AEF4-CF714C15F94D}"/>
              </a:ext>
            </a:extLst>
          </p:cNvPr>
          <p:cNvSpPr>
            <a:spLocks noGrp="1"/>
          </p:cNvSpPr>
          <p:nvPr/>
        </p:nvSpPr>
        <p:spPr>
          <a:xfrm>
            <a:off x="6343650" y="2676525"/>
            <a:ext cx="800100" cy="504825"/>
          </a:xfrm>
          <a:prstGeom prst="rect">
            <a:avLst/>
          </a:prstGeom>
          <a:noFill/>
          <a:ln w="0">
            <a:noFill/>
            <a:prstDash val="solid"/>
          </a:ln>
        </p:spPr>
        <p:txBody>
          <a:bodyPr anchor="ctr"/>
          <a:lstStyle/>
          <a:p>
            <a:pPr algn="l">
              <a:buNone/>
              <a:defRPr sz="975" b="1">
                <a:solidFill>
                  <a:srgbClr val="F0872B"/>
                </a:solidFill>
              </a:defRPr>
            </a:pPr>
            <a:r>
              <a:rPr sz="975" b="1">
                <a:solidFill>
                  <a:srgbClr val="F0872B"/>
                </a:solidFill>
              </a:rPr>
              <a:t>US10135 Q2</a:t>
            </a:r>
          </a:p>
        </p:txBody>
      </p:sp>
      <p:sp>
        <p:nvSpPr>
          <p:cNvPr id="63" name="Rectangle 62">
            <a:extLst>
              <a:ext uri="{FF2B5EF4-FFF2-40B4-BE49-F238E27FC236}">
                <a16:creationId xmlns:a16="http://schemas.microsoft.com/office/drawing/2014/main" id="{0BB3AD2C-2ED4-4EBB-9B72-DAC9874F4043}"/>
              </a:ext>
            </a:extLst>
          </p:cNvPr>
          <p:cNvSpPr>
            <a:spLocks noGrp="1"/>
          </p:cNvSpPr>
          <p:nvPr/>
        </p:nvSpPr>
        <p:spPr>
          <a:xfrm>
            <a:off x="7219950" y="2638425"/>
            <a:ext cx="3714750" cy="581025"/>
          </a:xfrm>
          <a:prstGeom prst="rect">
            <a:avLst/>
          </a:prstGeom>
          <a:solidFill>
            <a:srgbClr val="FFFFFF"/>
          </a:solidFill>
          <a:ln w="9525">
            <a:solidFill>
              <a:srgbClr val="363636"/>
            </a:solidFill>
            <a:prstDash val="solid"/>
          </a:ln>
        </p:spPr>
      </p:sp>
      <p:sp>
        <p:nvSpPr>
          <p:cNvPr id="64" name="Rectangle 63">
            <a:extLst>
              <a:ext uri="{FF2B5EF4-FFF2-40B4-BE49-F238E27FC236}">
                <a16:creationId xmlns:a16="http://schemas.microsoft.com/office/drawing/2014/main" id="{BEAA9F36-5030-4186-9FA6-5DA526625480}"/>
              </a:ext>
            </a:extLst>
          </p:cNvPr>
          <p:cNvSpPr>
            <a:spLocks noGrp="1"/>
          </p:cNvSpPr>
          <p:nvPr/>
        </p:nvSpPr>
        <p:spPr>
          <a:xfrm>
            <a:off x="7296150" y="2676525"/>
            <a:ext cx="3562350" cy="504825"/>
          </a:xfrm>
          <a:prstGeom prst="rect">
            <a:avLst/>
          </a:prstGeom>
          <a:noFill/>
          <a:ln w="0">
            <a:noFill/>
            <a:prstDash val="solid"/>
          </a:ln>
        </p:spPr>
        <p:txBody>
          <a:bodyPr anchor="t"/>
          <a:lstStyle/>
          <a:p>
            <a:pPr algn="l">
              <a:buNone/>
              <a:defRPr sz="938" b="0">
                <a:solidFill>
                  <a:srgbClr val="171717"/>
                </a:solidFill>
              </a:defRPr>
            </a:pPr>
            <a:r>
              <a:rPr sz="938" b="0">
                <a:solidFill>
                  <a:srgbClr val="171717"/>
                </a:solidFill>
              </a:rPr>
              <a:t>Coherence &amp; respect mean</a:t>
            </a:r>
          </a:p>
        </p:txBody>
      </p:sp>
      <p:sp>
        <p:nvSpPr>
          <p:cNvPr id="65" name="Rectangle 64">
            <a:extLst>
              <a:ext uri="{FF2B5EF4-FFF2-40B4-BE49-F238E27FC236}">
                <a16:creationId xmlns:a16="http://schemas.microsoft.com/office/drawing/2014/main" id="{C004CC9E-01C3-45ED-995F-0552C76554E7}"/>
              </a:ext>
            </a:extLst>
          </p:cNvPr>
          <p:cNvSpPr>
            <a:spLocks noGrp="1"/>
          </p:cNvSpPr>
          <p:nvPr/>
        </p:nvSpPr>
        <p:spPr>
          <a:xfrm>
            <a:off x="10934700" y="2638425"/>
            <a:ext cx="666750" cy="581025"/>
          </a:xfrm>
          <a:prstGeom prst="rect">
            <a:avLst/>
          </a:prstGeom>
          <a:solidFill>
            <a:srgbClr val="FFFFFF"/>
          </a:solidFill>
          <a:ln w="9525">
            <a:solidFill>
              <a:srgbClr val="363636"/>
            </a:solidFill>
            <a:prstDash val="solid"/>
          </a:ln>
        </p:spPr>
      </p:sp>
      <p:sp>
        <p:nvSpPr>
          <p:cNvPr id="66" name="Rectangle 65">
            <a:extLst>
              <a:ext uri="{FF2B5EF4-FFF2-40B4-BE49-F238E27FC236}">
                <a16:creationId xmlns:a16="http://schemas.microsoft.com/office/drawing/2014/main" id="{E5BDE267-E6F7-4C08-8EDA-91D0C4B0A7A4}"/>
              </a:ext>
            </a:extLst>
          </p:cNvPr>
          <p:cNvSpPr>
            <a:spLocks noGrp="1"/>
          </p:cNvSpPr>
          <p:nvPr/>
        </p:nvSpPr>
        <p:spPr>
          <a:xfrm>
            <a:off x="11010900" y="2676525"/>
            <a:ext cx="514350" cy="504825"/>
          </a:xfrm>
          <a:prstGeom prst="rect">
            <a:avLst/>
          </a:prstGeom>
          <a:noFill/>
          <a:ln w="0">
            <a:noFill/>
            <a:prstDash val="solid"/>
          </a:ln>
        </p:spPr>
        <p:txBody>
          <a:bodyPr anchor="ctr"/>
          <a:lstStyle/>
          <a:p>
            <a:pPr algn="l">
              <a:buNone/>
              <a:defRPr sz="975" b="0">
                <a:solidFill>
                  <a:srgbClr val="171717"/>
                </a:solidFill>
              </a:defRPr>
            </a:pPr>
            <a:r>
              <a:rPr sz="975" b="0">
                <a:solidFill>
                  <a:srgbClr val="171717"/>
                </a:solidFill>
              </a:rPr>
              <a:t>91.1</a:t>
            </a:r>
          </a:p>
        </p:txBody>
      </p:sp>
      <p:sp>
        <p:nvSpPr>
          <p:cNvPr id="67" name="Rectangle 66">
            <a:extLst>
              <a:ext uri="{FF2B5EF4-FFF2-40B4-BE49-F238E27FC236}">
                <a16:creationId xmlns:a16="http://schemas.microsoft.com/office/drawing/2014/main" id="{E67A614C-F877-4E72-9969-17FAF1ED6F41}"/>
              </a:ext>
            </a:extLst>
          </p:cNvPr>
          <p:cNvSpPr>
            <a:spLocks noGrp="1"/>
          </p:cNvSpPr>
          <p:nvPr/>
        </p:nvSpPr>
        <p:spPr>
          <a:xfrm>
            <a:off x="6267450" y="3219450"/>
            <a:ext cx="952500" cy="581025"/>
          </a:xfrm>
          <a:prstGeom prst="rect">
            <a:avLst/>
          </a:prstGeom>
          <a:solidFill>
            <a:srgbClr val="F7F5F1"/>
          </a:solidFill>
          <a:ln w="9525">
            <a:solidFill>
              <a:srgbClr val="363636"/>
            </a:solidFill>
            <a:prstDash val="solid"/>
          </a:ln>
        </p:spPr>
      </p:sp>
      <p:sp>
        <p:nvSpPr>
          <p:cNvPr id="68" name="Rectangle 67">
            <a:extLst>
              <a:ext uri="{FF2B5EF4-FFF2-40B4-BE49-F238E27FC236}">
                <a16:creationId xmlns:a16="http://schemas.microsoft.com/office/drawing/2014/main" id="{A60F6072-0D0C-4AAF-98D7-634CF9C17363}"/>
              </a:ext>
            </a:extLst>
          </p:cNvPr>
          <p:cNvSpPr>
            <a:spLocks noGrp="1"/>
          </p:cNvSpPr>
          <p:nvPr/>
        </p:nvSpPr>
        <p:spPr>
          <a:xfrm>
            <a:off x="6343650" y="3257550"/>
            <a:ext cx="800100" cy="504825"/>
          </a:xfrm>
          <a:prstGeom prst="rect">
            <a:avLst/>
          </a:prstGeom>
          <a:noFill/>
          <a:ln w="0">
            <a:noFill/>
            <a:prstDash val="solid"/>
          </a:ln>
        </p:spPr>
        <p:txBody>
          <a:bodyPr anchor="ctr"/>
          <a:lstStyle/>
          <a:p>
            <a:pPr algn="l">
              <a:buNone/>
              <a:defRPr sz="975" b="1">
                <a:solidFill>
                  <a:srgbClr val="F0872B"/>
                </a:solidFill>
              </a:defRPr>
            </a:pPr>
            <a:r>
              <a:rPr sz="975" b="1">
                <a:solidFill>
                  <a:srgbClr val="F0872B"/>
                </a:solidFill>
              </a:rPr>
              <a:t>US10135 Q3</a:t>
            </a:r>
          </a:p>
        </p:txBody>
      </p:sp>
      <p:sp>
        <p:nvSpPr>
          <p:cNvPr id="69" name="Rectangle 68">
            <a:extLst>
              <a:ext uri="{FF2B5EF4-FFF2-40B4-BE49-F238E27FC236}">
                <a16:creationId xmlns:a16="http://schemas.microsoft.com/office/drawing/2014/main" id="{B8A505B9-C519-4641-8037-B02F039EAB14}"/>
              </a:ext>
            </a:extLst>
          </p:cNvPr>
          <p:cNvSpPr>
            <a:spLocks noGrp="1"/>
          </p:cNvSpPr>
          <p:nvPr/>
        </p:nvSpPr>
        <p:spPr>
          <a:xfrm>
            <a:off x="7219950" y="3219450"/>
            <a:ext cx="3714750" cy="581025"/>
          </a:xfrm>
          <a:prstGeom prst="rect">
            <a:avLst/>
          </a:prstGeom>
          <a:solidFill>
            <a:srgbClr val="FFFFFF"/>
          </a:solidFill>
          <a:ln w="9525">
            <a:solidFill>
              <a:srgbClr val="363636"/>
            </a:solidFill>
            <a:prstDash val="solid"/>
          </a:ln>
        </p:spPr>
      </p:sp>
      <p:sp>
        <p:nvSpPr>
          <p:cNvPr id="70" name="Rectangle 69">
            <a:extLst>
              <a:ext uri="{FF2B5EF4-FFF2-40B4-BE49-F238E27FC236}">
                <a16:creationId xmlns:a16="http://schemas.microsoft.com/office/drawing/2014/main" id="{5FCC057F-AA1C-4730-8E63-E229F500CC7B}"/>
              </a:ext>
            </a:extLst>
          </p:cNvPr>
          <p:cNvSpPr>
            <a:spLocks noGrp="1"/>
          </p:cNvSpPr>
          <p:nvPr/>
        </p:nvSpPr>
        <p:spPr>
          <a:xfrm>
            <a:off x="7296150" y="3257550"/>
            <a:ext cx="3562350" cy="504825"/>
          </a:xfrm>
          <a:prstGeom prst="rect">
            <a:avLst/>
          </a:prstGeom>
          <a:noFill/>
          <a:ln w="0">
            <a:noFill/>
            <a:prstDash val="solid"/>
          </a:ln>
        </p:spPr>
        <p:txBody>
          <a:bodyPr anchor="t"/>
          <a:lstStyle/>
          <a:p>
            <a:pPr algn="l">
              <a:buNone/>
              <a:defRPr sz="938" b="0">
                <a:solidFill>
                  <a:srgbClr val="171717"/>
                </a:solidFill>
              </a:defRPr>
            </a:pPr>
            <a:r>
              <a:rPr sz="938" b="0">
                <a:solidFill>
                  <a:srgbClr val="171717"/>
                </a:solidFill>
              </a:rPr>
              <a:t>Stakeholder relations mean</a:t>
            </a:r>
          </a:p>
        </p:txBody>
      </p:sp>
      <p:sp>
        <p:nvSpPr>
          <p:cNvPr id="71" name="Rectangle 70">
            <a:extLst>
              <a:ext uri="{FF2B5EF4-FFF2-40B4-BE49-F238E27FC236}">
                <a16:creationId xmlns:a16="http://schemas.microsoft.com/office/drawing/2014/main" id="{F9598D74-85AF-4356-9E59-0B86798A4040}"/>
              </a:ext>
            </a:extLst>
          </p:cNvPr>
          <p:cNvSpPr>
            <a:spLocks noGrp="1"/>
          </p:cNvSpPr>
          <p:nvPr/>
        </p:nvSpPr>
        <p:spPr>
          <a:xfrm>
            <a:off x="10934700" y="3219450"/>
            <a:ext cx="666750" cy="581025"/>
          </a:xfrm>
          <a:prstGeom prst="rect">
            <a:avLst/>
          </a:prstGeom>
          <a:solidFill>
            <a:srgbClr val="FFFFFF"/>
          </a:solidFill>
          <a:ln w="9525">
            <a:solidFill>
              <a:srgbClr val="363636"/>
            </a:solidFill>
            <a:prstDash val="solid"/>
          </a:ln>
        </p:spPr>
      </p:sp>
      <p:sp>
        <p:nvSpPr>
          <p:cNvPr id="72" name="Rectangle 71">
            <a:extLst>
              <a:ext uri="{FF2B5EF4-FFF2-40B4-BE49-F238E27FC236}">
                <a16:creationId xmlns:a16="http://schemas.microsoft.com/office/drawing/2014/main" id="{A7DC2124-5C99-4015-B5FE-C0F4D03CC2CE}"/>
              </a:ext>
            </a:extLst>
          </p:cNvPr>
          <p:cNvSpPr>
            <a:spLocks noGrp="1"/>
          </p:cNvSpPr>
          <p:nvPr/>
        </p:nvSpPr>
        <p:spPr>
          <a:xfrm>
            <a:off x="11010900" y="3257550"/>
            <a:ext cx="514350" cy="504825"/>
          </a:xfrm>
          <a:prstGeom prst="rect">
            <a:avLst/>
          </a:prstGeom>
          <a:noFill/>
          <a:ln w="0">
            <a:noFill/>
            <a:prstDash val="solid"/>
          </a:ln>
        </p:spPr>
        <p:txBody>
          <a:bodyPr anchor="ctr"/>
          <a:lstStyle/>
          <a:p>
            <a:pPr algn="l">
              <a:buNone/>
              <a:defRPr sz="975" b="0">
                <a:solidFill>
                  <a:srgbClr val="171717"/>
                </a:solidFill>
              </a:defRPr>
            </a:pPr>
            <a:r>
              <a:rPr sz="975" b="0">
                <a:solidFill>
                  <a:srgbClr val="171717"/>
                </a:solidFill>
              </a:rPr>
              <a:t>84.8</a:t>
            </a:r>
          </a:p>
        </p:txBody>
      </p:sp>
      <p:sp>
        <p:nvSpPr>
          <p:cNvPr id="73" name="Rectangle 72">
            <a:extLst>
              <a:ext uri="{FF2B5EF4-FFF2-40B4-BE49-F238E27FC236}">
                <a16:creationId xmlns:a16="http://schemas.microsoft.com/office/drawing/2014/main" id="{0C747787-DCE5-4379-BE5E-72F53ABA4786}"/>
              </a:ext>
            </a:extLst>
          </p:cNvPr>
          <p:cNvSpPr>
            <a:spLocks noGrp="1"/>
          </p:cNvSpPr>
          <p:nvPr/>
        </p:nvSpPr>
        <p:spPr>
          <a:xfrm>
            <a:off x="6267450" y="3800475"/>
            <a:ext cx="952500" cy="581025"/>
          </a:xfrm>
          <a:prstGeom prst="rect">
            <a:avLst/>
          </a:prstGeom>
          <a:solidFill>
            <a:srgbClr val="F7F5F1"/>
          </a:solidFill>
          <a:ln w="9525">
            <a:solidFill>
              <a:srgbClr val="363636"/>
            </a:solidFill>
            <a:prstDash val="solid"/>
          </a:ln>
        </p:spPr>
      </p:sp>
      <p:sp>
        <p:nvSpPr>
          <p:cNvPr id="74" name="Rectangle 73">
            <a:extLst>
              <a:ext uri="{FF2B5EF4-FFF2-40B4-BE49-F238E27FC236}">
                <a16:creationId xmlns:a16="http://schemas.microsoft.com/office/drawing/2014/main" id="{AEC00971-0F9D-4765-A568-11FDDDB381E4}"/>
              </a:ext>
            </a:extLst>
          </p:cNvPr>
          <p:cNvSpPr>
            <a:spLocks noGrp="1"/>
          </p:cNvSpPr>
          <p:nvPr/>
        </p:nvSpPr>
        <p:spPr>
          <a:xfrm>
            <a:off x="6343650" y="3838575"/>
            <a:ext cx="800100" cy="504825"/>
          </a:xfrm>
          <a:prstGeom prst="rect">
            <a:avLst/>
          </a:prstGeom>
          <a:noFill/>
          <a:ln w="0">
            <a:noFill/>
            <a:prstDash val="solid"/>
          </a:ln>
        </p:spPr>
        <p:txBody>
          <a:bodyPr anchor="ctr"/>
          <a:lstStyle/>
          <a:p>
            <a:pPr algn="l">
              <a:buNone/>
              <a:defRPr sz="975" b="1">
                <a:solidFill>
                  <a:srgbClr val="F0872B"/>
                </a:solidFill>
              </a:defRPr>
            </a:pPr>
            <a:r>
              <a:rPr sz="975" b="1">
                <a:solidFill>
                  <a:srgbClr val="F0872B"/>
                </a:solidFill>
              </a:rPr>
              <a:t>Platform</a:t>
            </a:r>
          </a:p>
        </p:txBody>
      </p:sp>
      <p:sp>
        <p:nvSpPr>
          <p:cNvPr id="75" name="Rectangle 74">
            <a:extLst>
              <a:ext uri="{FF2B5EF4-FFF2-40B4-BE49-F238E27FC236}">
                <a16:creationId xmlns:a16="http://schemas.microsoft.com/office/drawing/2014/main" id="{C8CC72B7-3F89-41ED-9C24-1D282D0E6323}"/>
              </a:ext>
            </a:extLst>
          </p:cNvPr>
          <p:cNvSpPr>
            <a:spLocks noGrp="1"/>
          </p:cNvSpPr>
          <p:nvPr/>
        </p:nvSpPr>
        <p:spPr>
          <a:xfrm>
            <a:off x="7219950" y="3800475"/>
            <a:ext cx="3714750" cy="581025"/>
          </a:xfrm>
          <a:prstGeom prst="rect">
            <a:avLst/>
          </a:prstGeom>
          <a:solidFill>
            <a:srgbClr val="FFFFFF"/>
          </a:solidFill>
          <a:ln w="9525">
            <a:solidFill>
              <a:srgbClr val="363636"/>
            </a:solidFill>
            <a:prstDash val="solid"/>
          </a:ln>
        </p:spPr>
      </p:sp>
      <p:sp>
        <p:nvSpPr>
          <p:cNvPr id="76" name="Rectangle 75">
            <a:extLst>
              <a:ext uri="{FF2B5EF4-FFF2-40B4-BE49-F238E27FC236}">
                <a16:creationId xmlns:a16="http://schemas.microsoft.com/office/drawing/2014/main" id="{29D600F3-155F-4AED-AEA3-355AB8EBD67D}"/>
              </a:ext>
            </a:extLst>
          </p:cNvPr>
          <p:cNvSpPr>
            <a:spLocks noGrp="1"/>
          </p:cNvSpPr>
          <p:nvPr/>
        </p:nvSpPr>
        <p:spPr>
          <a:xfrm>
            <a:off x="7296150" y="3838575"/>
            <a:ext cx="3562350" cy="504825"/>
          </a:xfrm>
          <a:prstGeom prst="rect">
            <a:avLst/>
          </a:prstGeom>
          <a:noFill/>
          <a:ln w="0">
            <a:noFill/>
            <a:prstDash val="solid"/>
          </a:ln>
        </p:spPr>
        <p:txBody>
          <a:bodyPr anchor="t"/>
          <a:lstStyle/>
          <a:p>
            <a:pPr algn="l">
              <a:buNone/>
              <a:defRPr sz="938" b="0">
                <a:solidFill>
                  <a:srgbClr val="171717"/>
                </a:solidFill>
              </a:defRPr>
            </a:pPr>
            <a:r>
              <a:rPr sz="938" b="0">
                <a:solidFill>
                  <a:srgbClr val="171717"/>
                </a:solidFill>
              </a:rPr>
              <a:t>Active within last 24 hours</a:t>
            </a:r>
          </a:p>
        </p:txBody>
      </p:sp>
      <p:sp>
        <p:nvSpPr>
          <p:cNvPr id="77" name="Rectangle 76">
            <a:extLst>
              <a:ext uri="{FF2B5EF4-FFF2-40B4-BE49-F238E27FC236}">
                <a16:creationId xmlns:a16="http://schemas.microsoft.com/office/drawing/2014/main" id="{829E3A3E-27AD-4D95-99E4-48C7365D3415}"/>
              </a:ext>
            </a:extLst>
          </p:cNvPr>
          <p:cNvSpPr>
            <a:spLocks noGrp="1"/>
          </p:cNvSpPr>
          <p:nvPr/>
        </p:nvSpPr>
        <p:spPr>
          <a:xfrm>
            <a:off x="10934700" y="3800475"/>
            <a:ext cx="666750" cy="581025"/>
          </a:xfrm>
          <a:prstGeom prst="rect">
            <a:avLst/>
          </a:prstGeom>
          <a:solidFill>
            <a:srgbClr val="FFFFFF"/>
          </a:solidFill>
          <a:ln w="9525">
            <a:solidFill>
              <a:srgbClr val="363636"/>
            </a:solidFill>
            <a:prstDash val="solid"/>
          </a:ln>
        </p:spPr>
      </p:sp>
      <p:sp>
        <p:nvSpPr>
          <p:cNvPr id="78" name="Rectangle 77">
            <a:extLst>
              <a:ext uri="{FF2B5EF4-FFF2-40B4-BE49-F238E27FC236}">
                <a16:creationId xmlns:a16="http://schemas.microsoft.com/office/drawing/2014/main" id="{6E524C48-74E3-4103-B377-67ADA02EA4DA}"/>
              </a:ext>
            </a:extLst>
          </p:cNvPr>
          <p:cNvSpPr>
            <a:spLocks noGrp="1"/>
          </p:cNvSpPr>
          <p:nvPr/>
        </p:nvSpPr>
        <p:spPr>
          <a:xfrm>
            <a:off x="11010900" y="3838575"/>
            <a:ext cx="514350" cy="504825"/>
          </a:xfrm>
          <a:prstGeom prst="rect">
            <a:avLst/>
          </a:prstGeom>
          <a:noFill/>
          <a:ln w="0">
            <a:noFill/>
            <a:prstDash val="solid"/>
          </a:ln>
        </p:spPr>
        <p:txBody>
          <a:bodyPr anchor="ctr"/>
          <a:lstStyle/>
          <a:p>
            <a:pPr algn="l">
              <a:buNone/>
              <a:defRPr sz="975" b="0">
                <a:solidFill>
                  <a:srgbClr val="171717"/>
                </a:solidFill>
              </a:defRPr>
            </a:pPr>
            <a:r>
              <a:rPr sz="975" b="0">
                <a:solidFill>
                  <a:srgbClr val="171717"/>
                </a:solidFill>
              </a:rPr>
              <a:t>50%</a:t>
            </a:r>
          </a:p>
        </p:txBody>
      </p:sp>
      <p:sp>
        <p:nvSpPr>
          <p:cNvPr id="79" name="Rectangle 78">
            <a:extLst>
              <a:ext uri="{FF2B5EF4-FFF2-40B4-BE49-F238E27FC236}">
                <a16:creationId xmlns:a16="http://schemas.microsoft.com/office/drawing/2014/main" id="{8257CB0E-65A4-457B-A672-B01C579C4E68}"/>
              </a:ext>
            </a:extLst>
          </p:cNvPr>
          <p:cNvSpPr>
            <a:spLocks noGrp="1"/>
          </p:cNvSpPr>
          <p:nvPr/>
        </p:nvSpPr>
        <p:spPr>
          <a:xfrm>
            <a:off x="6267450" y="4381500"/>
            <a:ext cx="952500" cy="581025"/>
          </a:xfrm>
          <a:prstGeom prst="rect">
            <a:avLst/>
          </a:prstGeom>
          <a:solidFill>
            <a:srgbClr val="F7F5F1"/>
          </a:solidFill>
          <a:ln w="9525">
            <a:solidFill>
              <a:srgbClr val="363636"/>
            </a:solidFill>
            <a:prstDash val="solid"/>
          </a:ln>
        </p:spPr>
      </p:sp>
      <p:sp>
        <p:nvSpPr>
          <p:cNvPr id="80" name="Rectangle 79">
            <a:extLst>
              <a:ext uri="{FF2B5EF4-FFF2-40B4-BE49-F238E27FC236}">
                <a16:creationId xmlns:a16="http://schemas.microsoft.com/office/drawing/2014/main" id="{2ADFC11A-0827-483D-BEA7-8AC829D2CC6B}"/>
              </a:ext>
            </a:extLst>
          </p:cNvPr>
          <p:cNvSpPr>
            <a:spLocks noGrp="1"/>
          </p:cNvSpPr>
          <p:nvPr/>
        </p:nvSpPr>
        <p:spPr>
          <a:xfrm>
            <a:off x="6343650" y="4419600"/>
            <a:ext cx="800100" cy="504825"/>
          </a:xfrm>
          <a:prstGeom prst="rect">
            <a:avLst/>
          </a:prstGeom>
          <a:noFill/>
          <a:ln w="0">
            <a:noFill/>
            <a:prstDash val="solid"/>
          </a:ln>
        </p:spPr>
        <p:txBody>
          <a:bodyPr anchor="ctr"/>
          <a:lstStyle/>
          <a:p>
            <a:pPr algn="l">
              <a:buNone/>
              <a:defRPr sz="975" b="1">
                <a:solidFill>
                  <a:srgbClr val="F0872B"/>
                </a:solidFill>
              </a:defRPr>
            </a:pPr>
            <a:r>
              <a:rPr sz="975" b="1">
                <a:solidFill>
                  <a:srgbClr val="F0872B"/>
                </a:solidFill>
              </a:rPr>
              <a:t>Attend.</a:t>
            </a:r>
          </a:p>
        </p:txBody>
      </p:sp>
      <p:sp>
        <p:nvSpPr>
          <p:cNvPr id="81" name="Rectangle 80">
            <a:extLst>
              <a:ext uri="{FF2B5EF4-FFF2-40B4-BE49-F238E27FC236}">
                <a16:creationId xmlns:a16="http://schemas.microsoft.com/office/drawing/2014/main" id="{26126B7E-EA81-46C8-ADC5-49F9821A1204}"/>
              </a:ext>
            </a:extLst>
          </p:cNvPr>
          <p:cNvSpPr>
            <a:spLocks noGrp="1"/>
          </p:cNvSpPr>
          <p:nvPr/>
        </p:nvSpPr>
        <p:spPr>
          <a:xfrm>
            <a:off x="7219950" y="4381500"/>
            <a:ext cx="3714750" cy="581025"/>
          </a:xfrm>
          <a:prstGeom prst="rect">
            <a:avLst/>
          </a:prstGeom>
          <a:solidFill>
            <a:srgbClr val="FFFFFF"/>
          </a:solidFill>
          <a:ln w="9525">
            <a:solidFill>
              <a:srgbClr val="363636"/>
            </a:solidFill>
            <a:prstDash val="solid"/>
          </a:ln>
        </p:spPr>
      </p:sp>
      <p:sp>
        <p:nvSpPr>
          <p:cNvPr id="82" name="Rectangle 81">
            <a:extLst>
              <a:ext uri="{FF2B5EF4-FFF2-40B4-BE49-F238E27FC236}">
                <a16:creationId xmlns:a16="http://schemas.microsoft.com/office/drawing/2014/main" id="{3CF03418-224A-4CD2-827C-99B822D645A7}"/>
              </a:ext>
            </a:extLst>
          </p:cNvPr>
          <p:cNvSpPr>
            <a:spLocks noGrp="1"/>
          </p:cNvSpPr>
          <p:nvPr/>
        </p:nvSpPr>
        <p:spPr>
          <a:xfrm>
            <a:off x="7296150" y="4419600"/>
            <a:ext cx="3562350" cy="504825"/>
          </a:xfrm>
          <a:prstGeom prst="rect">
            <a:avLst/>
          </a:prstGeom>
          <a:noFill/>
          <a:ln w="0">
            <a:noFill/>
            <a:prstDash val="solid"/>
          </a:ln>
        </p:spPr>
        <p:txBody>
          <a:bodyPr anchor="t"/>
          <a:lstStyle/>
          <a:p>
            <a:pPr algn="l">
              <a:buNone/>
              <a:defRPr sz="938" b="0">
                <a:solidFill>
                  <a:srgbClr val="171717"/>
                </a:solidFill>
              </a:defRPr>
            </a:pPr>
            <a:r>
              <a:rPr sz="938" b="0">
                <a:solidFill>
                  <a:srgbClr val="171717"/>
                </a:solidFill>
              </a:rPr>
              <a:t>Facilitated sessions</a:t>
            </a:r>
          </a:p>
        </p:txBody>
      </p:sp>
      <p:sp>
        <p:nvSpPr>
          <p:cNvPr id="83" name="Rectangle 82">
            <a:extLst>
              <a:ext uri="{FF2B5EF4-FFF2-40B4-BE49-F238E27FC236}">
                <a16:creationId xmlns:a16="http://schemas.microsoft.com/office/drawing/2014/main" id="{60B93215-488F-4A82-8FB6-00B139949C32}"/>
              </a:ext>
            </a:extLst>
          </p:cNvPr>
          <p:cNvSpPr>
            <a:spLocks noGrp="1"/>
          </p:cNvSpPr>
          <p:nvPr/>
        </p:nvSpPr>
        <p:spPr>
          <a:xfrm>
            <a:off x="10934700" y="4381500"/>
            <a:ext cx="666750" cy="581025"/>
          </a:xfrm>
          <a:prstGeom prst="rect">
            <a:avLst/>
          </a:prstGeom>
          <a:solidFill>
            <a:srgbClr val="FFFFFF"/>
          </a:solidFill>
          <a:ln w="9525">
            <a:solidFill>
              <a:srgbClr val="363636"/>
            </a:solidFill>
            <a:prstDash val="solid"/>
          </a:ln>
        </p:spPr>
      </p:sp>
      <p:sp>
        <p:nvSpPr>
          <p:cNvPr id="84" name="Rectangle 83">
            <a:extLst>
              <a:ext uri="{FF2B5EF4-FFF2-40B4-BE49-F238E27FC236}">
                <a16:creationId xmlns:a16="http://schemas.microsoft.com/office/drawing/2014/main" id="{75145DF4-0A7B-43FD-9502-B0BA478FA0EC}"/>
              </a:ext>
            </a:extLst>
          </p:cNvPr>
          <p:cNvSpPr>
            <a:spLocks noGrp="1"/>
          </p:cNvSpPr>
          <p:nvPr/>
        </p:nvSpPr>
        <p:spPr>
          <a:xfrm>
            <a:off x="11010900" y="4419600"/>
            <a:ext cx="514350" cy="504825"/>
          </a:xfrm>
          <a:prstGeom prst="rect">
            <a:avLst/>
          </a:prstGeom>
          <a:noFill/>
          <a:ln w="0">
            <a:noFill/>
            <a:prstDash val="solid"/>
          </a:ln>
        </p:spPr>
        <p:txBody>
          <a:bodyPr anchor="ctr"/>
          <a:lstStyle/>
          <a:p>
            <a:pPr algn="l">
              <a:buNone/>
              <a:defRPr sz="975" b="0">
                <a:solidFill>
                  <a:srgbClr val="171717"/>
                </a:solidFill>
              </a:defRPr>
            </a:pPr>
            <a:r>
              <a:rPr sz="975" b="0">
                <a:solidFill>
                  <a:srgbClr val="171717"/>
                </a:solidFill>
              </a:rPr>
              <a:t>100%</a:t>
            </a:r>
          </a:p>
        </p:txBody>
      </p:sp>
      <p:sp>
        <p:nvSpPr>
          <p:cNvPr id="85" name="Rectangle 84">
            <a:extLst>
              <a:ext uri="{FF2B5EF4-FFF2-40B4-BE49-F238E27FC236}">
                <a16:creationId xmlns:a16="http://schemas.microsoft.com/office/drawing/2014/main" id="{74A82159-7514-484F-AE85-4AF6A87EE978}"/>
              </a:ext>
            </a:extLst>
          </p:cNvPr>
          <p:cNvSpPr>
            <a:spLocks noGrp="1"/>
          </p:cNvSpPr>
          <p:nvPr/>
        </p:nvSpPr>
        <p:spPr>
          <a:xfrm>
            <a:off x="6267450" y="4962525"/>
            <a:ext cx="952500" cy="581025"/>
          </a:xfrm>
          <a:prstGeom prst="rect">
            <a:avLst/>
          </a:prstGeom>
          <a:solidFill>
            <a:srgbClr val="F7F5F1"/>
          </a:solidFill>
          <a:ln w="9525">
            <a:solidFill>
              <a:srgbClr val="363636"/>
            </a:solidFill>
            <a:prstDash val="solid"/>
          </a:ln>
        </p:spPr>
      </p:sp>
      <p:sp>
        <p:nvSpPr>
          <p:cNvPr id="86" name="Rectangle 85">
            <a:extLst>
              <a:ext uri="{FF2B5EF4-FFF2-40B4-BE49-F238E27FC236}">
                <a16:creationId xmlns:a16="http://schemas.microsoft.com/office/drawing/2014/main" id="{71C53329-0BFA-4B29-B6FC-FEB6064AB224}"/>
              </a:ext>
            </a:extLst>
          </p:cNvPr>
          <p:cNvSpPr>
            <a:spLocks noGrp="1"/>
          </p:cNvSpPr>
          <p:nvPr/>
        </p:nvSpPr>
        <p:spPr>
          <a:xfrm>
            <a:off x="6343650" y="5000625"/>
            <a:ext cx="800100" cy="504825"/>
          </a:xfrm>
          <a:prstGeom prst="rect">
            <a:avLst/>
          </a:prstGeom>
          <a:noFill/>
          <a:ln w="0">
            <a:noFill/>
            <a:prstDash val="solid"/>
          </a:ln>
        </p:spPr>
        <p:txBody>
          <a:bodyPr anchor="ctr"/>
          <a:lstStyle/>
          <a:p>
            <a:pPr algn="l">
              <a:buNone/>
              <a:defRPr sz="975" b="1">
                <a:solidFill>
                  <a:srgbClr val="F0872B"/>
                </a:solidFill>
              </a:defRPr>
            </a:pPr>
            <a:r>
              <a:rPr sz="975" b="1">
                <a:solidFill>
                  <a:srgbClr val="F0872B"/>
                </a:solidFill>
              </a:rPr>
              <a:t>Cohort</a:t>
            </a:r>
          </a:p>
        </p:txBody>
      </p:sp>
      <p:sp>
        <p:nvSpPr>
          <p:cNvPr id="87" name="Rectangle 86">
            <a:extLst>
              <a:ext uri="{FF2B5EF4-FFF2-40B4-BE49-F238E27FC236}">
                <a16:creationId xmlns:a16="http://schemas.microsoft.com/office/drawing/2014/main" id="{7F1FF8DF-D553-482C-A5F1-D38C9D57A661}"/>
              </a:ext>
            </a:extLst>
          </p:cNvPr>
          <p:cNvSpPr>
            <a:spLocks noGrp="1"/>
          </p:cNvSpPr>
          <p:nvPr/>
        </p:nvSpPr>
        <p:spPr>
          <a:xfrm>
            <a:off x="7219950" y="4962525"/>
            <a:ext cx="3714750" cy="581025"/>
          </a:xfrm>
          <a:prstGeom prst="rect">
            <a:avLst/>
          </a:prstGeom>
          <a:solidFill>
            <a:srgbClr val="FFFFFF"/>
          </a:solidFill>
          <a:ln w="9525">
            <a:solidFill>
              <a:srgbClr val="363636"/>
            </a:solidFill>
            <a:prstDash val="solid"/>
          </a:ln>
        </p:spPr>
      </p:sp>
      <p:sp>
        <p:nvSpPr>
          <p:cNvPr id="88" name="Rectangle 87">
            <a:extLst>
              <a:ext uri="{FF2B5EF4-FFF2-40B4-BE49-F238E27FC236}">
                <a16:creationId xmlns:a16="http://schemas.microsoft.com/office/drawing/2014/main" id="{5DA467E3-D697-4E30-9F1F-C1363EE5B02E}"/>
              </a:ext>
            </a:extLst>
          </p:cNvPr>
          <p:cNvSpPr>
            <a:spLocks noGrp="1"/>
          </p:cNvSpPr>
          <p:nvPr/>
        </p:nvSpPr>
        <p:spPr>
          <a:xfrm>
            <a:off x="7296150" y="5000625"/>
            <a:ext cx="3562350" cy="504825"/>
          </a:xfrm>
          <a:prstGeom prst="rect">
            <a:avLst/>
          </a:prstGeom>
          <a:noFill/>
          <a:ln w="0">
            <a:noFill/>
            <a:prstDash val="solid"/>
          </a:ln>
        </p:spPr>
        <p:txBody>
          <a:bodyPr anchor="t"/>
          <a:lstStyle/>
          <a:p>
            <a:pPr algn="l">
              <a:buNone/>
              <a:defRPr sz="938" b="0">
                <a:solidFill>
                  <a:srgbClr val="171717"/>
                </a:solidFill>
              </a:defRPr>
            </a:pPr>
            <a:r>
              <a:rPr sz="938" b="0">
                <a:solidFill>
                  <a:srgbClr val="171717"/>
                </a:solidFill>
              </a:rPr>
              <a:t>Full programme complement</a:t>
            </a:r>
          </a:p>
        </p:txBody>
      </p:sp>
      <p:sp>
        <p:nvSpPr>
          <p:cNvPr id="89" name="Rectangle 88">
            <a:extLst>
              <a:ext uri="{FF2B5EF4-FFF2-40B4-BE49-F238E27FC236}">
                <a16:creationId xmlns:a16="http://schemas.microsoft.com/office/drawing/2014/main" id="{EE9F4780-E295-4A8D-A026-7BD0D29CEF63}"/>
              </a:ext>
            </a:extLst>
          </p:cNvPr>
          <p:cNvSpPr>
            <a:spLocks noGrp="1"/>
          </p:cNvSpPr>
          <p:nvPr/>
        </p:nvSpPr>
        <p:spPr>
          <a:xfrm>
            <a:off x="10934700" y="4962525"/>
            <a:ext cx="666750" cy="581025"/>
          </a:xfrm>
          <a:prstGeom prst="rect">
            <a:avLst/>
          </a:prstGeom>
          <a:solidFill>
            <a:srgbClr val="FFFFFF"/>
          </a:solidFill>
          <a:ln w="9525">
            <a:solidFill>
              <a:srgbClr val="363636"/>
            </a:solidFill>
            <a:prstDash val="solid"/>
          </a:ln>
        </p:spPr>
      </p:sp>
      <p:sp>
        <p:nvSpPr>
          <p:cNvPr id="90" name="Rectangle 89">
            <a:extLst>
              <a:ext uri="{FF2B5EF4-FFF2-40B4-BE49-F238E27FC236}">
                <a16:creationId xmlns:a16="http://schemas.microsoft.com/office/drawing/2014/main" id="{5116E6E4-C56C-46A4-AA45-0E5125104DC0}"/>
              </a:ext>
            </a:extLst>
          </p:cNvPr>
          <p:cNvSpPr>
            <a:spLocks noGrp="1"/>
          </p:cNvSpPr>
          <p:nvPr/>
        </p:nvSpPr>
        <p:spPr>
          <a:xfrm>
            <a:off x="11010900" y="5000625"/>
            <a:ext cx="514350" cy="504825"/>
          </a:xfrm>
          <a:prstGeom prst="rect">
            <a:avLst/>
          </a:prstGeom>
          <a:noFill/>
          <a:ln w="0">
            <a:noFill/>
            <a:prstDash val="solid"/>
          </a:ln>
        </p:spPr>
        <p:txBody>
          <a:bodyPr anchor="ctr"/>
          <a:lstStyle/>
          <a:p>
            <a:pPr algn="l">
              <a:buNone/>
              <a:defRPr sz="975" b="0">
                <a:solidFill>
                  <a:srgbClr val="171717"/>
                </a:solidFill>
              </a:defRPr>
            </a:pPr>
            <a:r>
              <a:rPr sz="975" b="0">
                <a:solidFill>
                  <a:srgbClr val="171717"/>
                </a:solidFill>
              </a:rPr>
              <a:t>12</a:t>
            </a:r>
          </a:p>
        </p:txBody>
      </p:sp>
      <p:sp>
        <p:nvSpPr>
          <p:cNvPr id="91" name="Rectangle 90">
            <a:extLst>
              <a:ext uri="{FF2B5EF4-FFF2-40B4-BE49-F238E27FC236}">
                <a16:creationId xmlns:a16="http://schemas.microsoft.com/office/drawing/2014/main" id="{4E0929BC-3EA1-4C1D-BD15-313A99F78F84}"/>
              </a:ext>
            </a:extLst>
          </p:cNvPr>
          <p:cNvSpPr>
            <a:spLocks noGrp="1"/>
          </p:cNvSpPr>
          <p:nvPr/>
        </p:nvSpPr>
        <p:spPr>
          <a:xfrm>
            <a:off x="590550" y="5715000"/>
            <a:ext cx="11010900" cy="457200"/>
          </a:xfrm>
          <a:prstGeom prst="rect">
            <a:avLst/>
          </a:prstGeom>
          <a:solidFill>
            <a:srgbClr val="2E9B7A"/>
          </a:solidFill>
          <a:ln w="9525">
            <a:solidFill>
              <a:srgbClr val="2E9B7A"/>
            </a:solidFill>
            <a:prstDash val="solid"/>
          </a:ln>
        </p:spPr>
      </p:sp>
      <p:sp>
        <p:nvSpPr>
          <p:cNvPr id="92" name="Rectangle 91">
            <a:extLst>
              <a:ext uri="{FF2B5EF4-FFF2-40B4-BE49-F238E27FC236}">
                <a16:creationId xmlns:a16="http://schemas.microsoft.com/office/drawing/2014/main" id="{FADBEAC5-C36D-4AD2-B0C7-D699DCAAC5E0}"/>
              </a:ext>
            </a:extLst>
          </p:cNvPr>
          <p:cNvSpPr>
            <a:spLocks noGrp="1"/>
          </p:cNvSpPr>
          <p:nvPr/>
        </p:nvSpPr>
        <p:spPr>
          <a:xfrm>
            <a:off x="781050" y="5772150"/>
            <a:ext cx="7620000" cy="323850"/>
          </a:xfrm>
          <a:prstGeom prst="rect">
            <a:avLst/>
          </a:prstGeom>
          <a:noFill/>
          <a:ln w="0">
            <a:noFill/>
            <a:prstDash val="solid"/>
          </a:ln>
        </p:spPr>
        <p:txBody>
          <a:bodyPr anchor="ctr"/>
          <a:lstStyle/>
          <a:p>
            <a:pPr algn="l">
              <a:buNone/>
              <a:defRPr sz="1200" b="1">
                <a:solidFill>
                  <a:srgbClr val="FFFFFF"/>
                </a:solidFill>
              </a:defRPr>
            </a:pPr>
            <a:r>
              <a:rPr sz="1200" b="1">
                <a:solidFill>
                  <a:srgbClr val="FFFFFF"/>
                </a:solidFill>
              </a:rPr>
              <a:t>11 OF 12 LEARNERS CURRENTLY AT OR ABOVE THE 80% THRESHOLD</a:t>
            </a:r>
          </a:p>
        </p:txBody>
      </p:sp>
      <p:sp>
        <p:nvSpPr>
          <p:cNvPr id="93" name="Rectangle 92">
            <a:extLst>
              <a:ext uri="{FF2B5EF4-FFF2-40B4-BE49-F238E27FC236}">
                <a16:creationId xmlns:a16="http://schemas.microsoft.com/office/drawing/2014/main" id="{17113A76-1B46-45B9-984C-3C4008DB7A26}"/>
              </a:ext>
            </a:extLst>
          </p:cNvPr>
          <p:cNvSpPr>
            <a:spLocks noGrp="1"/>
          </p:cNvSpPr>
          <p:nvPr/>
        </p:nvSpPr>
        <p:spPr>
          <a:xfrm>
            <a:off x="10620375" y="5753100"/>
            <a:ext cx="762000" cy="361950"/>
          </a:xfrm>
          <a:prstGeom prst="rect">
            <a:avLst/>
          </a:prstGeom>
          <a:noFill/>
          <a:ln w="0">
            <a:noFill/>
            <a:prstDash val="solid"/>
          </a:ln>
        </p:spPr>
        <p:txBody>
          <a:bodyPr anchor="ctr"/>
          <a:lstStyle/>
          <a:p>
            <a:pPr algn="r">
              <a:buNone/>
              <a:defRPr sz="1800" b="1">
                <a:solidFill>
                  <a:srgbClr val="FFFFFF"/>
                </a:solidFill>
              </a:defRPr>
            </a:pPr>
            <a:r>
              <a:rPr sz="1800" b="1">
                <a:solidFill>
                  <a:srgbClr val="FFFFFF"/>
                </a:solidFill>
              </a:rPr>
              <a:t>92%</a:t>
            </a:r>
          </a:p>
        </p:txBody>
      </p:sp>
      <p:sp>
        <p:nvSpPr>
          <p:cNvPr id="94" name="Rectangle 93">
            <a:extLst>
              <a:ext uri="{FF2B5EF4-FFF2-40B4-BE49-F238E27FC236}">
                <a16:creationId xmlns:a16="http://schemas.microsoft.com/office/drawing/2014/main" id="{7D7CA94E-D201-450F-9A5E-8965D593F5B7}"/>
              </a:ext>
            </a:extLst>
          </p:cNvPr>
          <p:cNvSpPr>
            <a:spLocks noGrp="1"/>
          </p:cNvSpPr>
          <p:nvPr/>
        </p:nvSpPr>
        <p:spPr>
          <a:xfrm>
            <a:off x="590550" y="6477000"/>
            <a:ext cx="11010900" cy="9525"/>
          </a:xfrm>
          <a:prstGeom prst="rect">
            <a:avLst/>
          </a:prstGeom>
          <a:solidFill>
            <a:srgbClr val="DCC0A0"/>
          </a:solidFill>
          <a:ln w="9525">
            <a:solidFill>
              <a:srgbClr val="DCC0A0"/>
            </a:solidFill>
            <a:prstDash val="solid"/>
          </a:ln>
        </p:spPr>
      </p:sp>
      <p:sp>
        <p:nvSpPr>
          <p:cNvPr id="95" name="Rectangle 94">
            <a:extLst>
              <a:ext uri="{FF2B5EF4-FFF2-40B4-BE49-F238E27FC236}">
                <a16:creationId xmlns:a16="http://schemas.microsoft.com/office/drawing/2014/main" id="{DE25A336-1C59-4AFC-B403-C09842AA378A}"/>
              </a:ext>
            </a:extLst>
          </p:cNvPr>
          <p:cNvSpPr>
            <a:spLocks noGrp="1"/>
          </p:cNvSpPr>
          <p:nvPr/>
        </p:nvSpPr>
        <p:spPr>
          <a:xfrm>
            <a:off x="590550" y="6553200"/>
            <a:ext cx="4762500" cy="171450"/>
          </a:xfrm>
          <a:prstGeom prst="rect">
            <a:avLst/>
          </a:prstGeom>
          <a:noFill/>
          <a:ln w="0">
            <a:noFill/>
            <a:prstDash val="solid"/>
          </a:ln>
        </p:spPr>
        <p:txBody>
          <a:bodyPr anchor="ctr"/>
          <a:lstStyle/>
          <a:p>
            <a:pPr algn="l">
              <a:buNone/>
              <a:defRPr sz="825" b="0">
                <a:solidFill>
                  <a:srgbClr val="62676B"/>
                </a:solidFill>
              </a:defRPr>
            </a:pPr>
            <a:r>
              <a:rPr sz="825" b="0">
                <a:solidFill>
                  <a:srgbClr val="62676B"/>
                </a:solidFill>
              </a:rPr>
              <a:t>Eruditio • Empower · Develop · Transform</a:t>
            </a:r>
          </a:p>
        </p:txBody>
      </p:sp>
      <p:sp>
        <p:nvSpPr>
          <p:cNvPr id="96" name="Rectangle 95">
            <a:extLst>
              <a:ext uri="{FF2B5EF4-FFF2-40B4-BE49-F238E27FC236}">
                <a16:creationId xmlns:a16="http://schemas.microsoft.com/office/drawing/2014/main" id="{3D9843D3-E9AB-4C8B-8B35-B71A52CA59BD}"/>
              </a:ext>
            </a:extLst>
          </p:cNvPr>
          <p:cNvSpPr>
            <a:spLocks noGrp="1"/>
          </p:cNvSpPr>
          <p:nvPr/>
        </p:nvSpPr>
        <p:spPr>
          <a:xfrm>
            <a:off x="11049000" y="6534150"/>
            <a:ext cx="552450" cy="171450"/>
          </a:xfrm>
          <a:prstGeom prst="rect">
            <a:avLst/>
          </a:prstGeom>
          <a:noFill/>
          <a:ln w="0">
            <a:noFill/>
            <a:prstDash val="solid"/>
          </a:ln>
        </p:spPr>
        <p:txBody>
          <a:bodyPr anchor="ctr"/>
          <a:lstStyle/>
          <a:p>
            <a:pPr algn="r">
              <a:buNone/>
              <a:defRPr sz="900" b="1">
                <a:solidFill>
                  <a:srgbClr val="F0872B"/>
                </a:solidFill>
              </a:defRPr>
            </a:pPr>
            <a:r>
              <a:rPr sz="900" b="1">
                <a:solidFill>
                  <a:srgbClr val="F0872B"/>
                </a:solidFill>
              </a:rPr>
              <a:t>05</a:t>
            </a:r>
          </a:p>
        </p:txBody>
      </p:sp>
    </p:spTree>
    <p:extLst>
      <p:ext uri="{BB962C8B-B14F-4D97-AF65-F5344CB8AC3E}">
        <p14:creationId xmlns:p14="http://schemas.microsoft.com/office/powerpoint/2010/main" val="19197540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8" name="Rectangle 57">
            <a:extLst>
              <a:ext uri="{FF2B5EF4-FFF2-40B4-BE49-F238E27FC236}">
                <a16:creationId xmlns:a16="http://schemas.microsoft.com/office/drawing/2014/main" id="{DDF73464-30B3-4E06-8FE1-AFBF8EFE8CAD}"/>
              </a:ext>
            </a:extLst>
          </p:cNvPr>
          <p:cNvSpPr>
            <a:spLocks noGrp="1"/>
          </p:cNvSpPr>
          <p:nvPr/>
        </p:nvSpPr>
        <p:spPr>
          <a:xfrm>
            <a:off x="0" y="0"/>
            <a:ext cx="12192000" cy="133350"/>
          </a:xfrm>
          <a:prstGeom prst="rect">
            <a:avLst/>
          </a:prstGeom>
          <a:solidFill>
            <a:srgbClr val="F0872B"/>
          </a:solidFill>
          <a:ln w="9525">
            <a:solidFill>
              <a:srgbClr val="F0872B"/>
            </a:solidFill>
            <a:prstDash val="solid"/>
          </a:ln>
        </p:spPr>
      </p:sp>
      <p:sp>
        <p:nvSpPr>
          <p:cNvPr id="2" name="Rectangle 1">
            <a:extLst>
              <a:ext uri="{FF2B5EF4-FFF2-40B4-BE49-F238E27FC236}">
                <a16:creationId xmlns:a16="http://schemas.microsoft.com/office/drawing/2014/main" id="{033EDA81-F074-4F0F-BF9A-A4D553072999}"/>
              </a:ext>
            </a:extLst>
          </p:cNvPr>
          <p:cNvSpPr>
            <a:spLocks noGrp="1"/>
          </p:cNvSpPr>
          <p:nvPr/>
        </p:nvSpPr>
        <p:spPr>
          <a:xfrm>
            <a:off x="0" y="133350"/>
            <a:ext cx="12192000" cy="66675"/>
          </a:xfrm>
          <a:prstGeom prst="rect">
            <a:avLst/>
          </a:prstGeom>
          <a:solidFill>
            <a:srgbClr val="2E9B7A"/>
          </a:solidFill>
          <a:ln w="9525">
            <a:solidFill>
              <a:srgbClr val="2E9B7A"/>
            </a:solidFill>
            <a:prstDash val="solid"/>
          </a:ln>
        </p:spPr>
      </p:sp>
      <p:sp>
        <p:nvSpPr>
          <p:cNvPr id="3" name="Rectangle 2">
            <a:extLst>
              <a:ext uri="{FF2B5EF4-FFF2-40B4-BE49-F238E27FC236}">
                <a16:creationId xmlns:a16="http://schemas.microsoft.com/office/drawing/2014/main" id="{4A196787-57DD-442B-B1AA-8A3900DFE37B}"/>
              </a:ext>
            </a:extLst>
          </p:cNvPr>
          <p:cNvSpPr>
            <a:spLocks noGrp="1"/>
          </p:cNvSpPr>
          <p:nvPr/>
        </p:nvSpPr>
        <p:spPr>
          <a:xfrm>
            <a:off x="590550" y="361950"/>
            <a:ext cx="6858000" cy="228600"/>
          </a:xfrm>
          <a:prstGeom prst="rect">
            <a:avLst/>
          </a:prstGeom>
          <a:noFill/>
          <a:ln w="0">
            <a:noFill/>
            <a:prstDash val="solid"/>
          </a:ln>
        </p:spPr>
        <p:txBody>
          <a:bodyPr anchor="ctr"/>
          <a:lstStyle/>
          <a:p>
            <a:pPr algn="l">
              <a:buNone/>
              <a:defRPr sz="975" b="1">
                <a:solidFill>
                  <a:srgbClr val="2E9B7A"/>
                </a:solidFill>
              </a:defRPr>
            </a:pPr>
            <a:r>
              <a:rPr sz="975" b="1">
                <a:solidFill>
                  <a:srgbClr val="2E9B7A"/>
                </a:solidFill>
              </a:rPr>
              <a:t>INVESTEC • AUGUST LEARNERSHIP REPORT</a:t>
            </a:r>
          </a:p>
        </p:txBody>
      </p:sp>
      <p:sp>
        <p:nvSpPr>
          <p:cNvPr id="4" name="Rectangle 3">
            <a:extLst>
              <a:ext uri="{FF2B5EF4-FFF2-40B4-BE49-F238E27FC236}">
                <a16:creationId xmlns:a16="http://schemas.microsoft.com/office/drawing/2014/main" id="{C250F5C1-4DFA-47C3-8B46-D036EB94C6E7}"/>
              </a:ext>
            </a:extLst>
          </p:cNvPr>
          <p:cNvSpPr>
            <a:spLocks noGrp="1"/>
          </p:cNvSpPr>
          <p:nvPr/>
        </p:nvSpPr>
        <p:spPr>
          <a:xfrm>
            <a:off x="590550" y="704850"/>
            <a:ext cx="8572500" cy="533400"/>
          </a:xfrm>
          <a:prstGeom prst="rect">
            <a:avLst/>
          </a:prstGeom>
          <a:noFill/>
          <a:ln w="0">
            <a:noFill/>
            <a:prstDash val="solid"/>
          </a:ln>
        </p:spPr>
        <p:txBody>
          <a:bodyPr anchor="ctr"/>
          <a:lstStyle/>
          <a:p>
            <a:pPr algn="l">
              <a:buNone/>
              <a:defRPr sz="2550" b="1">
                <a:solidFill>
                  <a:srgbClr val="171717"/>
                </a:solidFill>
              </a:defRPr>
            </a:pPr>
            <a:r>
              <a:rPr sz="2550" b="1">
                <a:solidFill>
                  <a:srgbClr val="171717"/>
                </a:solidFill>
              </a:rPr>
              <a:t>Evidence is moving through the planned assessment pathway</a:t>
            </a:r>
          </a:p>
        </p:txBody>
      </p:sp>
      <p:pic>
        <p:nvPicPr>
          <p:cNvPr id="64" name="Picture 63"/>
          <p:cNvPicPr>
            <a:picLocks noChangeAspect="1"/>
          </p:cNvPicPr>
          <p:nvPr/>
        </p:nvPicPr>
        <p:blipFill>
          <a:blip r:embed="rId3"/>
          <a:stretch/>
        </p:blipFill>
        <p:spPr>
          <a:xfrm>
            <a:off x="9620250" y="269398"/>
            <a:ext cx="2000250" cy="756605"/>
          </a:xfrm>
          <a:prstGeom prst="rect">
            <a:avLst/>
          </a:prstGeom>
        </p:spPr>
      </p:pic>
      <p:sp>
        <p:nvSpPr>
          <p:cNvPr id="6" name="Rectangle 5">
            <a:extLst>
              <a:ext uri="{FF2B5EF4-FFF2-40B4-BE49-F238E27FC236}">
                <a16:creationId xmlns:a16="http://schemas.microsoft.com/office/drawing/2014/main" id="{4EF1AAD0-FDF5-4F8E-BA59-67644B3D661B}"/>
              </a:ext>
            </a:extLst>
          </p:cNvPr>
          <p:cNvSpPr>
            <a:spLocks noGrp="1"/>
          </p:cNvSpPr>
          <p:nvPr/>
        </p:nvSpPr>
        <p:spPr>
          <a:xfrm>
            <a:off x="590550" y="1352550"/>
            <a:ext cx="11010900" cy="28575"/>
          </a:xfrm>
          <a:prstGeom prst="rect">
            <a:avLst/>
          </a:prstGeom>
          <a:solidFill>
            <a:srgbClr val="F0872B"/>
          </a:solidFill>
          <a:ln w="9525">
            <a:solidFill>
              <a:srgbClr val="F0872B"/>
            </a:solidFill>
            <a:prstDash val="solid"/>
          </a:ln>
        </p:spPr>
      </p:sp>
      <p:sp>
        <p:nvSpPr>
          <p:cNvPr id="7" name="Rectangle 6">
            <a:extLst>
              <a:ext uri="{FF2B5EF4-FFF2-40B4-BE49-F238E27FC236}">
                <a16:creationId xmlns:a16="http://schemas.microsoft.com/office/drawing/2014/main" id="{E372097F-4649-442D-B119-CE119D20A646}"/>
              </a:ext>
            </a:extLst>
          </p:cNvPr>
          <p:cNvSpPr>
            <a:spLocks noGrp="1"/>
          </p:cNvSpPr>
          <p:nvPr/>
        </p:nvSpPr>
        <p:spPr>
          <a:xfrm>
            <a:off x="590550" y="1638300"/>
            <a:ext cx="4000500" cy="228600"/>
          </a:xfrm>
          <a:prstGeom prst="rect">
            <a:avLst/>
          </a:prstGeom>
          <a:noFill/>
          <a:ln w="0">
            <a:noFill/>
            <a:prstDash val="solid"/>
          </a:ln>
        </p:spPr>
        <p:txBody>
          <a:bodyPr anchor="ctr"/>
          <a:lstStyle/>
          <a:p>
            <a:pPr algn="l">
              <a:buNone/>
              <a:defRPr sz="1050" b="1">
                <a:solidFill>
                  <a:srgbClr val="2E9B7A"/>
                </a:solidFill>
              </a:defRPr>
            </a:pPr>
            <a:r>
              <a:rPr sz="1050" b="1">
                <a:solidFill>
                  <a:srgbClr val="2E9B7A"/>
                </a:solidFill>
              </a:rPr>
              <a:t>EVIDENCE AND SUBMISSION READINESS</a:t>
            </a:r>
          </a:p>
        </p:txBody>
      </p:sp>
      <p:sp>
        <p:nvSpPr>
          <p:cNvPr id="8" name="Rectangle: Rounded Corners 7">
            <a:extLst>
              <a:ext uri="{FF2B5EF4-FFF2-40B4-BE49-F238E27FC236}">
                <a16:creationId xmlns:a16="http://schemas.microsoft.com/office/drawing/2014/main" id="{CF8665C3-5178-4F26-97A6-A76E1468EBA9}"/>
              </a:ext>
            </a:extLst>
          </p:cNvPr>
          <p:cNvSpPr>
            <a:spLocks noGrp="1"/>
          </p:cNvSpPr>
          <p:nvPr/>
        </p:nvSpPr>
        <p:spPr>
          <a:xfrm>
            <a:off x="590550" y="2038350"/>
            <a:ext cx="10382250" cy="419100"/>
          </a:xfrm>
          <a:prstGeom prst="roundRect">
            <a:avLst>
              <a:gd name="adj" fmla="val 18182"/>
            </a:avLst>
          </a:prstGeom>
          <a:solidFill>
            <a:srgbClr val="F7F5F1"/>
          </a:solidFill>
          <a:ln w="0">
            <a:noFill/>
            <a:prstDash val="solid"/>
          </a:ln>
        </p:spPr>
      </p:sp>
      <p:sp>
        <p:nvSpPr>
          <p:cNvPr id="9" name="Rectangle: Rounded Corners 8">
            <a:extLst>
              <a:ext uri="{FF2B5EF4-FFF2-40B4-BE49-F238E27FC236}">
                <a16:creationId xmlns:a16="http://schemas.microsoft.com/office/drawing/2014/main" id="{DB0BDE45-6B52-44A6-8F85-65941EF0245A}"/>
              </a:ext>
            </a:extLst>
          </p:cNvPr>
          <p:cNvSpPr>
            <a:spLocks noGrp="1"/>
          </p:cNvSpPr>
          <p:nvPr/>
        </p:nvSpPr>
        <p:spPr>
          <a:xfrm>
            <a:off x="590550" y="2038350"/>
            <a:ext cx="5191125" cy="419100"/>
          </a:xfrm>
          <a:prstGeom prst="roundRect">
            <a:avLst>
              <a:gd name="adj" fmla="val 18182"/>
            </a:avLst>
          </a:prstGeom>
          <a:solidFill>
            <a:srgbClr val="2E9B7A"/>
          </a:solidFill>
          <a:ln w="9525">
            <a:solidFill>
              <a:srgbClr val="2E9B7A"/>
            </a:solidFill>
            <a:prstDash val="solid"/>
          </a:ln>
        </p:spPr>
      </p:sp>
      <p:sp>
        <p:nvSpPr>
          <p:cNvPr id="10" name="Rectangle 9">
            <a:extLst>
              <a:ext uri="{FF2B5EF4-FFF2-40B4-BE49-F238E27FC236}">
                <a16:creationId xmlns:a16="http://schemas.microsoft.com/office/drawing/2014/main" id="{ACCD6BC2-3AA4-4357-B9D4-1499C5206A22}"/>
              </a:ext>
            </a:extLst>
          </p:cNvPr>
          <p:cNvSpPr>
            <a:spLocks noGrp="1"/>
          </p:cNvSpPr>
          <p:nvPr/>
        </p:nvSpPr>
        <p:spPr>
          <a:xfrm>
            <a:off x="742950" y="2095500"/>
            <a:ext cx="2190750" cy="285750"/>
          </a:xfrm>
          <a:prstGeom prst="rect">
            <a:avLst/>
          </a:prstGeom>
          <a:noFill/>
          <a:ln w="0">
            <a:noFill/>
            <a:prstDash val="solid"/>
          </a:ln>
        </p:spPr>
        <p:txBody>
          <a:bodyPr anchor="ctr"/>
          <a:lstStyle/>
          <a:p>
            <a:pPr algn="l">
              <a:buNone/>
              <a:defRPr sz="1200" b="1">
                <a:solidFill>
                  <a:srgbClr val="FFFFFF"/>
                </a:solidFill>
              </a:defRPr>
            </a:pPr>
            <a:r>
              <a:rPr sz="1200" b="1">
                <a:solidFill>
                  <a:srgbClr val="FFFFFF"/>
                </a:solidFill>
              </a:rPr>
              <a:t>Activities &amp; quizzes complete</a:t>
            </a:r>
          </a:p>
        </p:txBody>
      </p:sp>
      <p:sp>
        <p:nvSpPr>
          <p:cNvPr id="11" name="Rectangle 10">
            <a:extLst>
              <a:ext uri="{FF2B5EF4-FFF2-40B4-BE49-F238E27FC236}">
                <a16:creationId xmlns:a16="http://schemas.microsoft.com/office/drawing/2014/main" id="{11143E4F-E258-4996-81E3-E47A6AF59A8D}"/>
              </a:ext>
            </a:extLst>
          </p:cNvPr>
          <p:cNvSpPr>
            <a:spLocks noGrp="1"/>
          </p:cNvSpPr>
          <p:nvPr/>
        </p:nvSpPr>
        <p:spPr>
          <a:xfrm>
            <a:off x="8096250" y="2095500"/>
            <a:ext cx="2714625" cy="285750"/>
          </a:xfrm>
          <a:prstGeom prst="rect">
            <a:avLst/>
          </a:prstGeom>
          <a:noFill/>
          <a:ln w="0">
            <a:noFill/>
            <a:prstDash val="solid"/>
          </a:ln>
        </p:spPr>
        <p:txBody>
          <a:bodyPr anchor="ctr"/>
          <a:lstStyle/>
          <a:p>
            <a:pPr algn="r">
              <a:buNone/>
              <a:defRPr sz="1200" b="1">
                <a:solidFill>
                  <a:srgbClr val="171717"/>
                </a:solidFill>
              </a:defRPr>
            </a:pPr>
            <a:r>
              <a:rPr sz="1200" b="1">
                <a:solidFill>
                  <a:srgbClr val="171717"/>
                </a:solidFill>
              </a:rPr>
              <a:t>Assessor finalisation follows</a:t>
            </a:r>
          </a:p>
        </p:txBody>
      </p:sp>
      <p:sp>
        <p:nvSpPr>
          <p:cNvPr id="12" name="Rectangle 11">
            <a:extLst>
              <a:ext uri="{FF2B5EF4-FFF2-40B4-BE49-F238E27FC236}">
                <a16:creationId xmlns:a16="http://schemas.microsoft.com/office/drawing/2014/main" id="{74CABA22-CA46-4252-BFAF-D37F2EE07E23}"/>
              </a:ext>
            </a:extLst>
          </p:cNvPr>
          <p:cNvSpPr>
            <a:spLocks noGrp="1"/>
          </p:cNvSpPr>
          <p:nvPr/>
        </p:nvSpPr>
        <p:spPr>
          <a:xfrm>
            <a:off x="590550" y="2562225"/>
            <a:ext cx="7620000" cy="247650"/>
          </a:xfrm>
          <a:prstGeom prst="rect">
            <a:avLst/>
          </a:prstGeom>
          <a:noFill/>
          <a:ln w="0">
            <a:noFill/>
            <a:prstDash val="solid"/>
          </a:ln>
        </p:spPr>
        <p:txBody>
          <a:bodyPr anchor="ctr"/>
          <a:lstStyle/>
          <a:p>
            <a:pPr algn="l">
              <a:buNone/>
              <a:defRPr sz="1125" b="0">
                <a:solidFill>
                  <a:srgbClr val="62676B"/>
                </a:solidFill>
              </a:defRPr>
            </a:pPr>
            <a:r>
              <a:rPr sz="1125" b="0">
                <a:solidFill>
                  <a:srgbClr val="62676B"/>
                </a:solidFill>
              </a:rPr>
              <a:t>“In Progress” reflects pending assessor review and documentation—not incomplete learner work.</a:t>
            </a:r>
          </a:p>
        </p:txBody>
      </p:sp>
      <p:sp>
        <p:nvSpPr>
          <p:cNvPr id="13" name="Rectangle 12">
            <a:extLst>
              <a:ext uri="{FF2B5EF4-FFF2-40B4-BE49-F238E27FC236}">
                <a16:creationId xmlns:a16="http://schemas.microsoft.com/office/drawing/2014/main" id="{E601B9D5-D070-4663-860F-A900C1C750BA}"/>
              </a:ext>
            </a:extLst>
          </p:cNvPr>
          <p:cNvSpPr>
            <a:spLocks noGrp="1"/>
          </p:cNvSpPr>
          <p:nvPr/>
        </p:nvSpPr>
        <p:spPr>
          <a:xfrm>
            <a:off x="590550" y="3219450"/>
            <a:ext cx="2457450" cy="457200"/>
          </a:xfrm>
          <a:prstGeom prst="rect">
            <a:avLst/>
          </a:prstGeom>
          <a:solidFill>
            <a:srgbClr val="2E9B7A"/>
          </a:solidFill>
          <a:ln w="9525">
            <a:solidFill>
              <a:srgbClr val="363636"/>
            </a:solidFill>
            <a:prstDash val="solid"/>
          </a:ln>
        </p:spPr>
      </p:sp>
      <p:sp>
        <p:nvSpPr>
          <p:cNvPr id="14" name="Rectangle 13">
            <a:extLst>
              <a:ext uri="{FF2B5EF4-FFF2-40B4-BE49-F238E27FC236}">
                <a16:creationId xmlns:a16="http://schemas.microsoft.com/office/drawing/2014/main" id="{0855FE23-3B46-4C4F-8652-6718FA053389}"/>
              </a:ext>
            </a:extLst>
          </p:cNvPr>
          <p:cNvSpPr>
            <a:spLocks noGrp="1"/>
          </p:cNvSpPr>
          <p:nvPr/>
        </p:nvSpPr>
        <p:spPr>
          <a:xfrm>
            <a:off x="685800" y="3248025"/>
            <a:ext cx="2266950" cy="400050"/>
          </a:xfrm>
          <a:prstGeom prst="rect">
            <a:avLst/>
          </a:prstGeom>
          <a:noFill/>
          <a:ln w="0">
            <a:noFill/>
            <a:prstDash val="solid"/>
          </a:ln>
        </p:spPr>
        <p:txBody>
          <a:bodyPr anchor="ctr"/>
          <a:lstStyle/>
          <a:p>
            <a:pPr algn="l">
              <a:buNone/>
              <a:defRPr sz="1050" b="1">
                <a:solidFill>
                  <a:srgbClr val="FFFFFF"/>
                </a:solidFill>
              </a:defRPr>
            </a:pPr>
            <a:r>
              <a:rPr sz="1050" b="1">
                <a:solidFill>
                  <a:srgbClr val="FFFFFF"/>
                </a:solidFill>
              </a:rPr>
              <a:t>Evidence stream</a:t>
            </a:r>
          </a:p>
        </p:txBody>
      </p:sp>
      <p:sp>
        <p:nvSpPr>
          <p:cNvPr id="15" name="Rectangle 14">
            <a:extLst>
              <a:ext uri="{FF2B5EF4-FFF2-40B4-BE49-F238E27FC236}">
                <a16:creationId xmlns:a16="http://schemas.microsoft.com/office/drawing/2014/main" id="{FA7AE107-4A81-4F01-8EC1-61552B0DF5E3}"/>
              </a:ext>
            </a:extLst>
          </p:cNvPr>
          <p:cNvSpPr>
            <a:spLocks noGrp="1"/>
          </p:cNvSpPr>
          <p:nvPr/>
        </p:nvSpPr>
        <p:spPr>
          <a:xfrm>
            <a:off x="3048000" y="3219450"/>
            <a:ext cx="1428750" cy="457200"/>
          </a:xfrm>
          <a:prstGeom prst="rect">
            <a:avLst/>
          </a:prstGeom>
          <a:solidFill>
            <a:srgbClr val="2E9B7A"/>
          </a:solidFill>
          <a:ln w="9525">
            <a:solidFill>
              <a:srgbClr val="363636"/>
            </a:solidFill>
            <a:prstDash val="solid"/>
          </a:ln>
        </p:spPr>
      </p:sp>
      <p:sp>
        <p:nvSpPr>
          <p:cNvPr id="16" name="Rectangle 15">
            <a:extLst>
              <a:ext uri="{FF2B5EF4-FFF2-40B4-BE49-F238E27FC236}">
                <a16:creationId xmlns:a16="http://schemas.microsoft.com/office/drawing/2014/main" id="{D2A40BA6-4DC2-4DB2-9014-73564C375E61}"/>
              </a:ext>
            </a:extLst>
          </p:cNvPr>
          <p:cNvSpPr>
            <a:spLocks noGrp="1"/>
          </p:cNvSpPr>
          <p:nvPr/>
        </p:nvSpPr>
        <p:spPr>
          <a:xfrm>
            <a:off x="3143250" y="3248025"/>
            <a:ext cx="1238250" cy="400050"/>
          </a:xfrm>
          <a:prstGeom prst="rect">
            <a:avLst/>
          </a:prstGeom>
          <a:noFill/>
          <a:ln w="0">
            <a:noFill/>
            <a:prstDash val="solid"/>
          </a:ln>
        </p:spPr>
        <p:txBody>
          <a:bodyPr anchor="ctr"/>
          <a:lstStyle/>
          <a:p>
            <a:pPr algn="l">
              <a:buNone/>
              <a:defRPr sz="1050" b="1">
                <a:solidFill>
                  <a:srgbClr val="FFFFFF"/>
                </a:solidFill>
              </a:defRPr>
            </a:pPr>
            <a:r>
              <a:rPr sz="1050" b="1">
                <a:solidFill>
                  <a:srgbClr val="FFFFFF"/>
                </a:solidFill>
              </a:rPr>
              <a:t>Learners</a:t>
            </a:r>
          </a:p>
        </p:txBody>
      </p:sp>
      <p:sp>
        <p:nvSpPr>
          <p:cNvPr id="17" name="Rectangle 16">
            <a:extLst>
              <a:ext uri="{FF2B5EF4-FFF2-40B4-BE49-F238E27FC236}">
                <a16:creationId xmlns:a16="http://schemas.microsoft.com/office/drawing/2014/main" id="{30398C12-5609-444C-9293-F931BB9AB09B}"/>
              </a:ext>
            </a:extLst>
          </p:cNvPr>
          <p:cNvSpPr>
            <a:spLocks noGrp="1"/>
          </p:cNvSpPr>
          <p:nvPr/>
        </p:nvSpPr>
        <p:spPr>
          <a:xfrm>
            <a:off x="4476750" y="3219450"/>
            <a:ext cx="1714500" cy="457200"/>
          </a:xfrm>
          <a:prstGeom prst="rect">
            <a:avLst/>
          </a:prstGeom>
          <a:solidFill>
            <a:srgbClr val="2E9B7A"/>
          </a:solidFill>
          <a:ln w="9525">
            <a:solidFill>
              <a:srgbClr val="363636"/>
            </a:solidFill>
            <a:prstDash val="solid"/>
          </a:ln>
        </p:spPr>
      </p:sp>
      <p:sp>
        <p:nvSpPr>
          <p:cNvPr id="18" name="Rectangle 17">
            <a:extLst>
              <a:ext uri="{FF2B5EF4-FFF2-40B4-BE49-F238E27FC236}">
                <a16:creationId xmlns:a16="http://schemas.microsoft.com/office/drawing/2014/main" id="{A0F7756C-4595-4683-B883-7171CDA6E89B}"/>
              </a:ext>
            </a:extLst>
          </p:cNvPr>
          <p:cNvSpPr>
            <a:spLocks noGrp="1"/>
          </p:cNvSpPr>
          <p:nvPr/>
        </p:nvSpPr>
        <p:spPr>
          <a:xfrm>
            <a:off x="4572000" y="3248025"/>
            <a:ext cx="1524000" cy="400050"/>
          </a:xfrm>
          <a:prstGeom prst="rect">
            <a:avLst/>
          </a:prstGeom>
          <a:noFill/>
          <a:ln w="0">
            <a:noFill/>
            <a:prstDash val="solid"/>
          </a:ln>
        </p:spPr>
        <p:txBody>
          <a:bodyPr anchor="ctr"/>
          <a:lstStyle/>
          <a:p>
            <a:pPr algn="l">
              <a:buNone/>
              <a:defRPr sz="1050" b="1">
                <a:solidFill>
                  <a:srgbClr val="FFFFFF"/>
                </a:solidFill>
              </a:defRPr>
            </a:pPr>
            <a:r>
              <a:rPr sz="1050" b="1">
                <a:solidFill>
                  <a:srgbClr val="FFFFFF"/>
                </a:solidFill>
              </a:rPr>
              <a:t>Current achievement</a:t>
            </a:r>
          </a:p>
        </p:txBody>
      </p:sp>
      <p:sp>
        <p:nvSpPr>
          <p:cNvPr id="19" name="Rectangle 18">
            <a:extLst>
              <a:ext uri="{FF2B5EF4-FFF2-40B4-BE49-F238E27FC236}">
                <a16:creationId xmlns:a16="http://schemas.microsoft.com/office/drawing/2014/main" id="{A3AD7154-9C2D-4EFB-A7D5-27E429B25FA3}"/>
              </a:ext>
            </a:extLst>
          </p:cNvPr>
          <p:cNvSpPr>
            <a:spLocks noGrp="1"/>
          </p:cNvSpPr>
          <p:nvPr/>
        </p:nvSpPr>
        <p:spPr>
          <a:xfrm>
            <a:off x="6191250" y="3219450"/>
            <a:ext cx="2876550" cy="457200"/>
          </a:xfrm>
          <a:prstGeom prst="rect">
            <a:avLst/>
          </a:prstGeom>
          <a:solidFill>
            <a:srgbClr val="2E9B7A"/>
          </a:solidFill>
          <a:ln w="9525">
            <a:solidFill>
              <a:srgbClr val="363636"/>
            </a:solidFill>
            <a:prstDash val="solid"/>
          </a:ln>
        </p:spPr>
      </p:sp>
      <p:sp>
        <p:nvSpPr>
          <p:cNvPr id="20" name="Rectangle 19">
            <a:extLst>
              <a:ext uri="{FF2B5EF4-FFF2-40B4-BE49-F238E27FC236}">
                <a16:creationId xmlns:a16="http://schemas.microsoft.com/office/drawing/2014/main" id="{C63FA7E1-CB78-4055-96D3-850781795E11}"/>
              </a:ext>
            </a:extLst>
          </p:cNvPr>
          <p:cNvSpPr>
            <a:spLocks noGrp="1"/>
          </p:cNvSpPr>
          <p:nvPr/>
        </p:nvSpPr>
        <p:spPr>
          <a:xfrm>
            <a:off x="6286500" y="3248025"/>
            <a:ext cx="2686050" cy="400050"/>
          </a:xfrm>
          <a:prstGeom prst="rect">
            <a:avLst/>
          </a:prstGeom>
          <a:noFill/>
          <a:ln w="0">
            <a:noFill/>
            <a:prstDash val="solid"/>
          </a:ln>
        </p:spPr>
        <p:txBody>
          <a:bodyPr anchor="ctr"/>
          <a:lstStyle/>
          <a:p>
            <a:pPr algn="l">
              <a:buNone/>
              <a:defRPr sz="1050" b="1">
                <a:solidFill>
                  <a:srgbClr val="FFFFFF"/>
                </a:solidFill>
              </a:defRPr>
            </a:pPr>
            <a:r>
              <a:rPr sz="1050" b="1">
                <a:solidFill>
                  <a:srgbClr val="FFFFFF"/>
                </a:solidFill>
              </a:rPr>
              <a:t>Next evidence step</a:t>
            </a:r>
          </a:p>
        </p:txBody>
      </p:sp>
      <p:sp>
        <p:nvSpPr>
          <p:cNvPr id="21" name="Rectangle 20">
            <a:extLst>
              <a:ext uri="{FF2B5EF4-FFF2-40B4-BE49-F238E27FC236}">
                <a16:creationId xmlns:a16="http://schemas.microsoft.com/office/drawing/2014/main" id="{11D3FF3E-C11C-4996-AA54-791587D80E08}"/>
              </a:ext>
            </a:extLst>
          </p:cNvPr>
          <p:cNvSpPr>
            <a:spLocks noGrp="1"/>
          </p:cNvSpPr>
          <p:nvPr/>
        </p:nvSpPr>
        <p:spPr>
          <a:xfrm>
            <a:off x="9067800" y="3219450"/>
            <a:ext cx="2533650" cy="457200"/>
          </a:xfrm>
          <a:prstGeom prst="rect">
            <a:avLst/>
          </a:prstGeom>
          <a:solidFill>
            <a:srgbClr val="2E9B7A"/>
          </a:solidFill>
          <a:ln w="9525">
            <a:solidFill>
              <a:srgbClr val="363636"/>
            </a:solidFill>
            <a:prstDash val="solid"/>
          </a:ln>
        </p:spPr>
      </p:sp>
      <p:sp>
        <p:nvSpPr>
          <p:cNvPr id="22" name="Rectangle 21">
            <a:extLst>
              <a:ext uri="{FF2B5EF4-FFF2-40B4-BE49-F238E27FC236}">
                <a16:creationId xmlns:a16="http://schemas.microsoft.com/office/drawing/2014/main" id="{966F8EC8-CC36-4364-9051-69212FBAF4EB}"/>
              </a:ext>
            </a:extLst>
          </p:cNvPr>
          <p:cNvSpPr>
            <a:spLocks noGrp="1"/>
          </p:cNvSpPr>
          <p:nvPr/>
        </p:nvSpPr>
        <p:spPr>
          <a:xfrm>
            <a:off x="9163050" y="3248025"/>
            <a:ext cx="2343150" cy="400050"/>
          </a:xfrm>
          <a:prstGeom prst="rect">
            <a:avLst/>
          </a:prstGeom>
          <a:noFill/>
          <a:ln w="0">
            <a:noFill/>
            <a:prstDash val="solid"/>
          </a:ln>
        </p:spPr>
        <p:txBody>
          <a:bodyPr anchor="ctr"/>
          <a:lstStyle/>
          <a:p>
            <a:pPr algn="l">
              <a:buNone/>
              <a:defRPr sz="1050" b="1">
                <a:solidFill>
                  <a:srgbClr val="FFFFFF"/>
                </a:solidFill>
              </a:defRPr>
            </a:pPr>
            <a:r>
              <a:rPr sz="1050" b="1">
                <a:solidFill>
                  <a:srgbClr val="FFFFFF"/>
                </a:solidFill>
              </a:rPr>
              <a:t>Position</a:t>
            </a:r>
          </a:p>
        </p:txBody>
      </p:sp>
      <p:sp>
        <p:nvSpPr>
          <p:cNvPr id="23" name="Rectangle 22">
            <a:extLst>
              <a:ext uri="{FF2B5EF4-FFF2-40B4-BE49-F238E27FC236}">
                <a16:creationId xmlns:a16="http://schemas.microsoft.com/office/drawing/2014/main" id="{1952C864-E95E-453A-84FA-B71322B98612}"/>
              </a:ext>
            </a:extLst>
          </p:cNvPr>
          <p:cNvSpPr>
            <a:spLocks noGrp="1"/>
          </p:cNvSpPr>
          <p:nvPr/>
        </p:nvSpPr>
        <p:spPr>
          <a:xfrm>
            <a:off x="590550" y="3676650"/>
            <a:ext cx="2457450" cy="581025"/>
          </a:xfrm>
          <a:prstGeom prst="rect">
            <a:avLst/>
          </a:prstGeom>
          <a:solidFill>
            <a:srgbClr val="FFFFFF"/>
          </a:solidFill>
          <a:ln w="9525">
            <a:solidFill>
              <a:srgbClr val="363636"/>
            </a:solidFill>
            <a:prstDash val="solid"/>
          </a:ln>
        </p:spPr>
      </p:sp>
      <p:sp>
        <p:nvSpPr>
          <p:cNvPr id="24" name="Rectangle 23">
            <a:extLst>
              <a:ext uri="{FF2B5EF4-FFF2-40B4-BE49-F238E27FC236}">
                <a16:creationId xmlns:a16="http://schemas.microsoft.com/office/drawing/2014/main" id="{C286336A-D25D-49AD-B28E-DC692127856F}"/>
              </a:ext>
            </a:extLst>
          </p:cNvPr>
          <p:cNvSpPr>
            <a:spLocks noGrp="1"/>
          </p:cNvSpPr>
          <p:nvPr/>
        </p:nvSpPr>
        <p:spPr>
          <a:xfrm>
            <a:off x="685800" y="3714750"/>
            <a:ext cx="2266950" cy="504825"/>
          </a:xfrm>
          <a:prstGeom prst="rect">
            <a:avLst/>
          </a:prstGeom>
          <a:noFill/>
          <a:ln w="0">
            <a:noFill/>
            <a:prstDash val="solid"/>
          </a:ln>
        </p:spPr>
        <p:txBody>
          <a:bodyPr anchor="ctr"/>
          <a:lstStyle/>
          <a:p>
            <a:pPr algn="l">
              <a:buNone/>
              <a:defRPr sz="1050" b="0">
                <a:solidFill>
                  <a:srgbClr val="171717"/>
                </a:solidFill>
              </a:defRPr>
            </a:pPr>
            <a:r>
              <a:rPr sz="1050" b="0">
                <a:solidFill>
                  <a:srgbClr val="171717"/>
                </a:solidFill>
              </a:rPr>
              <a:t>US 8252</a:t>
            </a:r>
          </a:p>
        </p:txBody>
      </p:sp>
      <p:sp>
        <p:nvSpPr>
          <p:cNvPr id="25" name="Rectangle 24">
            <a:extLst>
              <a:ext uri="{FF2B5EF4-FFF2-40B4-BE49-F238E27FC236}">
                <a16:creationId xmlns:a16="http://schemas.microsoft.com/office/drawing/2014/main" id="{A4CC115F-C653-4724-A059-4C42E6A7870F}"/>
              </a:ext>
            </a:extLst>
          </p:cNvPr>
          <p:cNvSpPr>
            <a:spLocks noGrp="1"/>
          </p:cNvSpPr>
          <p:nvPr/>
        </p:nvSpPr>
        <p:spPr>
          <a:xfrm>
            <a:off x="3048000" y="3676650"/>
            <a:ext cx="1428750" cy="581025"/>
          </a:xfrm>
          <a:prstGeom prst="rect">
            <a:avLst/>
          </a:prstGeom>
          <a:solidFill>
            <a:srgbClr val="FFFFFF"/>
          </a:solidFill>
          <a:ln w="9525">
            <a:solidFill>
              <a:srgbClr val="363636"/>
            </a:solidFill>
            <a:prstDash val="solid"/>
          </a:ln>
        </p:spPr>
      </p:sp>
      <p:sp>
        <p:nvSpPr>
          <p:cNvPr id="26" name="Rectangle 25">
            <a:extLst>
              <a:ext uri="{FF2B5EF4-FFF2-40B4-BE49-F238E27FC236}">
                <a16:creationId xmlns:a16="http://schemas.microsoft.com/office/drawing/2014/main" id="{0E171BC0-1D2D-4316-AC9C-605904DF61A0}"/>
              </a:ext>
            </a:extLst>
          </p:cNvPr>
          <p:cNvSpPr>
            <a:spLocks noGrp="1"/>
          </p:cNvSpPr>
          <p:nvPr/>
        </p:nvSpPr>
        <p:spPr>
          <a:xfrm>
            <a:off x="3143250" y="3714750"/>
            <a:ext cx="1238250" cy="504825"/>
          </a:xfrm>
          <a:prstGeom prst="rect">
            <a:avLst/>
          </a:prstGeom>
          <a:noFill/>
          <a:ln w="0">
            <a:noFill/>
            <a:prstDash val="solid"/>
          </a:ln>
        </p:spPr>
        <p:txBody>
          <a:bodyPr anchor="ctr"/>
          <a:lstStyle/>
          <a:p>
            <a:pPr algn="l">
              <a:buNone/>
              <a:defRPr sz="1050" b="0">
                <a:solidFill>
                  <a:srgbClr val="171717"/>
                </a:solidFill>
              </a:defRPr>
            </a:pPr>
            <a:r>
              <a:rPr sz="1050" b="0">
                <a:solidFill>
                  <a:srgbClr val="171717"/>
                </a:solidFill>
              </a:rPr>
              <a:t>12 / 12</a:t>
            </a:r>
          </a:p>
        </p:txBody>
      </p:sp>
      <p:sp>
        <p:nvSpPr>
          <p:cNvPr id="27" name="Rectangle 26">
            <a:extLst>
              <a:ext uri="{FF2B5EF4-FFF2-40B4-BE49-F238E27FC236}">
                <a16:creationId xmlns:a16="http://schemas.microsoft.com/office/drawing/2014/main" id="{F5C0B92B-BB4B-47C2-9CFD-AD13F11A2F89}"/>
              </a:ext>
            </a:extLst>
          </p:cNvPr>
          <p:cNvSpPr>
            <a:spLocks noGrp="1"/>
          </p:cNvSpPr>
          <p:nvPr/>
        </p:nvSpPr>
        <p:spPr>
          <a:xfrm>
            <a:off x="4476750" y="3676650"/>
            <a:ext cx="1714500" cy="581025"/>
          </a:xfrm>
          <a:prstGeom prst="rect">
            <a:avLst/>
          </a:prstGeom>
          <a:solidFill>
            <a:srgbClr val="FFFFFF"/>
          </a:solidFill>
          <a:ln w="9525">
            <a:solidFill>
              <a:srgbClr val="363636"/>
            </a:solidFill>
            <a:prstDash val="solid"/>
          </a:ln>
        </p:spPr>
      </p:sp>
      <p:sp>
        <p:nvSpPr>
          <p:cNvPr id="28" name="Rectangle 27">
            <a:extLst>
              <a:ext uri="{FF2B5EF4-FFF2-40B4-BE49-F238E27FC236}">
                <a16:creationId xmlns:a16="http://schemas.microsoft.com/office/drawing/2014/main" id="{CF0625BE-A7E6-4C15-BE43-8224DA99BFAD}"/>
              </a:ext>
            </a:extLst>
          </p:cNvPr>
          <p:cNvSpPr>
            <a:spLocks noGrp="1"/>
          </p:cNvSpPr>
          <p:nvPr/>
        </p:nvSpPr>
        <p:spPr>
          <a:xfrm>
            <a:off x="4572000" y="3714750"/>
            <a:ext cx="1524000" cy="504825"/>
          </a:xfrm>
          <a:prstGeom prst="rect">
            <a:avLst/>
          </a:prstGeom>
          <a:noFill/>
          <a:ln w="0">
            <a:noFill/>
            <a:prstDash val="solid"/>
          </a:ln>
        </p:spPr>
        <p:txBody>
          <a:bodyPr anchor="ctr"/>
          <a:lstStyle/>
          <a:p>
            <a:pPr algn="l">
              <a:buNone/>
              <a:defRPr sz="1050" b="0">
                <a:solidFill>
                  <a:srgbClr val="171717"/>
                </a:solidFill>
              </a:defRPr>
            </a:pPr>
            <a:r>
              <a:rPr sz="1050" b="0">
                <a:solidFill>
                  <a:srgbClr val="171717"/>
                </a:solidFill>
              </a:rPr>
              <a:t>Learner work complete</a:t>
            </a:r>
          </a:p>
        </p:txBody>
      </p:sp>
      <p:sp>
        <p:nvSpPr>
          <p:cNvPr id="29" name="Rectangle 28">
            <a:extLst>
              <a:ext uri="{FF2B5EF4-FFF2-40B4-BE49-F238E27FC236}">
                <a16:creationId xmlns:a16="http://schemas.microsoft.com/office/drawing/2014/main" id="{70C0C3C9-2D70-4E5F-A4DF-251A514E78C6}"/>
              </a:ext>
            </a:extLst>
          </p:cNvPr>
          <p:cNvSpPr>
            <a:spLocks noGrp="1"/>
          </p:cNvSpPr>
          <p:nvPr/>
        </p:nvSpPr>
        <p:spPr>
          <a:xfrm>
            <a:off x="6191250" y="3676650"/>
            <a:ext cx="2876550" cy="581025"/>
          </a:xfrm>
          <a:prstGeom prst="rect">
            <a:avLst/>
          </a:prstGeom>
          <a:solidFill>
            <a:srgbClr val="B7E3A5"/>
          </a:solidFill>
          <a:ln w="9525">
            <a:solidFill>
              <a:srgbClr val="363636"/>
            </a:solidFill>
            <a:prstDash val="solid"/>
          </a:ln>
        </p:spPr>
      </p:sp>
      <p:sp>
        <p:nvSpPr>
          <p:cNvPr id="30" name="Rectangle 29">
            <a:extLst>
              <a:ext uri="{FF2B5EF4-FFF2-40B4-BE49-F238E27FC236}">
                <a16:creationId xmlns:a16="http://schemas.microsoft.com/office/drawing/2014/main" id="{5A57F9F7-4294-4983-AD04-527B352A8FD7}"/>
              </a:ext>
            </a:extLst>
          </p:cNvPr>
          <p:cNvSpPr>
            <a:spLocks noGrp="1"/>
          </p:cNvSpPr>
          <p:nvPr/>
        </p:nvSpPr>
        <p:spPr>
          <a:xfrm>
            <a:off x="6286500" y="3714750"/>
            <a:ext cx="2686050" cy="504825"/>
          </a:xfrm>
          <a:prstGeom prst="rect">
            <a:avLst/>
          </a:prstGeom>
          <a:noFill/>
          <a:ln w="0">
            <a:noFill/>
            <a:prstDash val="solid"/>
          </a:ln>
        </p:spPr>
        <p:txBody>
          <a:bodyPr anchor="ctr"/>
          <a:lstStyle/>
          <a:p>
            <a:pPr algn="l">
              <a:buNone/>
              <a:defRPr sz="1050" b="1">
                <a:solidFill>
                  <a:srgbClr val="171717"/>
                </a:solidFill>
              </a:defRPr>
            </a:pPr>
            <a:r>
              <a:rPr sz="1050" b="1">
                <a:solidFill>
                  <a:srgbClr val="171717"/>
                </a:solidFill>
              </a:rPr>
              <a:t>Logbook &amp; submission review</a:t>
            </a:r>
          </a:p>
        </p:txBody>
      </p:sp>
      <p:sp>
        <p:nvSpPr>
          <p:cNvPr id="31" name="Rectangle 30">
            <a:extLst>
              <a:ext uri="{FF2B5EF4-FFF2-40B4-BE49-F238E27FC236}">
                <a16:creationId xmlns:a16="http://schemas.microsoft.com/office/drawing/2014/main" id="{19258F45-C666-4BA3-8565-577F9D35D3A3}"/>
              </a:ext>
            </a:extLst>
          </p:cNvPr>
          <p:cNvSpPr>
            <a:spLocks noGrp="1"/>
          </p:cNvSpPr>
          <p:nvPr/>
        </p:nvSpPr>
        <p:spPr>
          <a:xfrm>
            <a:off x="9067800" y="3676650"/>
            <a:ext cx="2533650" cy="581025"/>
          </a:xfrm>
          <a:prstGeom prst="rect">
            <a:avLst/>
          </a:prstGeom>
          <a:solidFill>
            <a:srgbClr val="FFFFFF"/>
          </a:solidFill>
          <a:ln w="9525">
            <a:solidFill>
              <a:srgbClr val="363636"/>
            </a:solidFill>
            <a:prstDash val="solid"/>
          </a:ln>
        </p:spPr>
      </p:sp>
      <p:sp>
        <p:nvSpPr>
          <p:cNvPr id="32" name="Rectangle 31">
            <a:extLst>
              <a:ext uri="{FF2B5EF4-FFF2-40B4-BE49-F238E27FC236}">
                <a16:creationId xmlns:a16="http://schemas.microsoft.com/office/drawing/2014/main" id="{8E72A6E7-D84D-4B50-BCE6-0F08C56911BA}"/>
              </a:ext>
            </a:extLst>
          </p:cNvPr>
          <p:cNvSpPr>
            <a:spLocks noGrp="1"/>
          </p:cNvSpPr>
          <p:nvPr/>
        </p:nvSpPr>
        <p:spPr>
          <a:xfrm>
            <a:off x="9163050" y="3714750"/>
            <a:ext cx="2343150" cy="504825"/>
          </a:xfrm>
          <a:prstGeom prst="rect">
            <a:avLst/>
          </a:prstGeom>
          <a:noFill/>
          <a:ln w="0">
            <a:noFill/>
            <a:prstDash val="solid"/>
          </a:ln>
        </p:spPr>
        <p:txBody>
          <a:bodyPr anchor="ctr"/>
          <a:lstStyle/>
          <a:p>
            <a:pPr algn="l">
              <a:buNone/>
              <a:defRPr sz="1050" b="1">
                <a:solidFill>
                  <a:srgbClr val="171717"/>
                </a:solidFill>
              </a:defRPr>
            </a:pPr>
            <a:r>
              <a:rPr sz="1050" b="1">
                <a:solidFill>
                  <a:srgbClr val="171717"/>
                </a:solidFill>
              </a:rPr>
              <a:t>Finalisation pending</a:t>
            </a:r>
          </a:p>
        </p:txBody>
      </p:sp>
      <p:sp>
        <p:nvSpPr>
          <p:cNvPr id="33" name="Rectangle 32">
            <a:extLst>
              <a:ext uri="{FF2B5EF4-FFF2-40B4-BE49-F238E27FC236}">
                <a16:creationId xmlns:a16="http://schemas.microsoft.com/office/drawing/2014/main" id="{E3B3B85A-E7DC-4FCD-97B6-3EE58DFBCA2C}"/>
              </a:ext>
            </a:extLst>
          </p:cNvPr>
          <p:cNvSpPr>
            <a:spLocks noGrp="1"/>
          </p:cNvSpPr>
          <p:nvPr/>
        </p:nvSpPr>
        <p:spPr>
          <a:xfrm>
            <a:off x="590550" y="4257675"/>
            <a:ext cx="2457450" cy="581025"/>
          </a:xfrm>
          <a:prstGeom prst="rect">
            <a:avLst/>
          </a:prstGeom>
          <a:solidFill>
            <a:srgbClr val="FFFFFF"/>
          </a:solidFill>
          <a:ln w="9525">
            <a:solidFill>
              <a:srgbClr val="363636"/>
            </a:solidFill>
            <a:prstDash val="solid"/>
          </a:ln>
        </p:spPr>
      </p:sp>
      <p:sp>
        <p:nvSpPr>
          <p:cNvPr id="34" name="Rectangle 33">
            <a:extLst>
              <a:ext uri="{FF2B5EF4-FFF2-40B4-BE49-F238E27FC236}">
                <a16:creationId xmlns:a16="http://schemas.microsoft.com/office/drawing/2014/main" id="{47405066-C719-4C86-AD2A-4F08833BB008}"/>
              </a:ext>
            </a:extLst>
          </p:cNvPr>
          <p:cNvSpPr>
            <a:spLocks noGrp="1"/>
          </p:cNvSpPr>
          <p:nvPr/>
        </p:nvSpPr>
        <p:spPr>
          <a:xfrm>
            <a:off x="685800" y="4295775"/>
            <a:ext cx="2266950" cy="504825"/>
          </a:xfrm>
          <a:prstGeom prst="rect">
            <a:avLst/>
          </a:prstGeom>
          <a:noFill/>
          <a:ln w="0">
            <a:noFill/>
            <a:prstDash val="solid"/>
          </a:ln>
        </p:spPr>
        <p:txBody>
          <a:bodyPr anchor="ctr"/>
          <a:lstStyle/>
          <a:p>
            <a:pPr algn="l">
              <a:buNone/>
              <a:defRPr sz="1050" b="0">
                <a:solidFill>
                  <a:srgbClr val="171717"/>
                </a:solidFill>
              </a:defRPr>
            </a:pPr>
            <a:r>
              <a:rPr sz="1050" b="0">
                <a:solidFill>
                  <a:srgbClr val="171717"/>
                </a:solidFill>
              </a:rPr>
              <a:t>US 10135</a:t>
            </a:r>
          </a:p>
        </p:txBody>
      </p:sp>
      <p:sp>
        <p:nvSpPr>
          <p:cNvPr id="35" name="Rectangle 34">
            <a:extLst>
              <a:ext uri="{FF2B5EF4-FFF2-40B4-BE49-F238E27FC236}">
                <a16:creationId xmlns:a16="http://schemas.microsoft.com/office/drawing/2014/main" id="{7A8C2E83-C73A-4796-A8D7-D943105FB83C}"/>
              </a:ext>
            </a:extLst>
          </p:cNvPr>
          <p:cNvSpPr>
            <a:spLocks noGrp="1"/>
          </p:cNvSpPr>
          <p:nvPr/>
        </p:nvSpPr>
        <p:spPr>
          <a:xfrm>
            <a:off x="3048000" y="4257675"/>
            <a:ext cx="1428750" cy="581025"/>
          </a:xfrm>
          <a:prstGeom prst="rect">
            <a:avLst/>
          </a:prstGeom>
          <a:solidFill>
            <a:srgbClr val="FFFFFF"/>
          </a:solidFill>
          <a:ln w="9525">
            <a:solidFill>
              <a:srgbClr val="363636"/>
            </a:solidFill>
            <a:prstDash val="solid"/>
          </a:ln>
        </p:spPr>
      </p:sp>
      <p:sp>
        <p:nvSpPr>
          <p:cNvPr id="36" name="Rectangle 35">
            <a:extLst>
              <a:ext uri="{FF2B5EF4-FFF2-40B4-BE49-F238E27FC236}">
                <a16:creationId xmlns:a16="http://schemas.microsoft.com/office/drawing/2014/main" id="{DE1E6B24-8695-460D-994D-3F854D229D82}"/>
              </a:ext>
            </a:extLst>
          </p:cNvPr>
          <p:cNvSpPr>
            <a:spLocks noGrp="1"/>
          </p:cNvSpPr>
          <p:nvPr/>
        </p:nvSpPr>
        <p:spPr>
          <a:xfrm>
            <a:off x="3143250" y="4295775"/>
            <a:ext cx="1238250" cy="504825"/>
          </a:xfrm>
          <a:prstGeom prst="rect">
            <a:avLst/>
          </a:prstGeom>
          <a:noFill/>
          <a:ln w="0">
            <a:noFill/>
            <a:prstDash val="solid"/>
          </a:ln>
        </p:spPr>
        <p:txBody>
          <a:bodyPr anchor="ctr"/>
          <a:lstStyle/>
          <a:p>
            <a:pPr algn="l">
              <a:buNone/>
              <a:defRPr sz="1050" b="0">
                <a:solidFill>
                  <a:srgbClr val="171717"/>
                </a:solidFill>
              </a:defRPr>
            </a:pPr>
            <a:r>
              <a:rPr sz="1050" b="0">
                <a:solidFill>
                  <a:srgbClr val="171717"/>
                </a:solidFill>
              </a:rPr>
              <a:t>12</a:t>
            </a:r>
          </a:p>
        </p:txBody>
      </p:sp>
      <p:sp>
        <p:nvSpPr>
          <p:cNvPr id="37" name="Rectangle 36">
            <a:extLst>
              <a:ext uri="{FF2B5EF4-FFF2-40B4-BE49-F238E27FC236}">
                <a16:creationId xmlns:a16="http://schemas.microsoft.com/office/drawing/2014/main" id="{54D5CEEB-BABC-45E9-A664-66F3780AD97D}"/>
              </a:ext>
            </a:extLst>
          </p:cNvPr>
          <p:cNvSpPr>
            <a:spLocks noGrp="1"/>
          </p:cNvSpPr>
          <p:nvPr/>
        </p:nvSpPr>
        <p:spPr>
          <a:xfrm>
            <a:off x="4476750" y="4257675"/>
            <a:ext cx="1714500" cy="581025"/>
          </a:xfrm>
          <a:prstGeom prst="rect">
            <a:avLst/>
          </a:prstGeom>
          <a:solidFill>
            <a:srgbClr val="FFFFFF"/>
          </a:solidFill>
          <a:ln w="9525">
            <a:solidFill>
              <a:srgbClr val="363636"/>
            </a:solidFill>
            <a:prstDash val="solid"/>
          </a:ln>
        </p:spPr>
      </p:sp>
      <p:sp>
        <p:nvSpPr>
          <p:cNvPr id="38" name="Rectangle 37">
            <a:extLst>
              <a:ext uri="{FF2B5EF4-FFF2-40B4-BE49-F238E27FC236}">
                <a16:creationId xmlns:a16="http://schemas.microsoft.com/office/drawing/2014/main" id="{0C199D35-2320-4610-81D7-B78D9C4231D9}"/>
              </a:ext>
            </a:extLst>
          </p:cNvPr>
          <p:cNvSpPr>
            <a:spLocks noGrp="1"/>
          </p:cNvSpPr>
          <p:nvPr/>
        </p:nvSpPr>
        <p:spPr>
          <a:xfrm>
            <a:off x="4572000" y="4295775"/>
            <a:ext cx="1524000" cy="504825"/>
          </a:xfrm>
          <a:prstGeom prst="rect">
            <a:avLst/>
          </a:prstGeom>
          <a:noFill/>
          <a:ln w="0">
            <a:noFill/>
            <a:prstDash val="solid"/>
          </a:ln>
        </p:spPr>
        <p:txBody>
          <a:bodyPr anchor="ctr"/>
          <a:lstStyle/>
          <a:p>
            <a:pPr algn="l">
              <a:buNone/>
              <a:defRPr sz="1050" b="0">
                <a:solidFill>
                  <a:srgbClr val="171717"/>
                </a:solidFill>
              </a:defRPr>
            </a:pPr>
            <a:r>
              <a:rPr sz="1050" b="0">
                <a:solidFill>
                  <a:srgbClr val="171717"/>
                </a:solidFill>
              </a:rPr>
              <a:t>Learner work complete</a:t>
            </a:r>
          </a:p>
        </p:txBody>
      </p:sp>
      <p:sp>
        <p:nvSpPr>
          <p:cNvPr id="39" name="Rectangle 38">
            <a:extLst>
              <a:ext uri="{FF2B5EF4-FFF2-40B4-BE49-F238E27FC236}">
                <a16:creationId xmlns:a16="http://schemas.microsoft.com/office/drawing/2014/main" id="{125FB4AB-01B3-4C73-94AF-B9A2BB626C1E}"/>
              </a:ext>
            </a:extLst>
          </p:cNvPr>
          <p:cNvSpPr>
            <a:spLocks noGrp="1"/>
          </p:cNvSpPr>
          <p:nvPr/>
        </p:nvSpPr>
        <p:spPr>
          <a:xfrm>
            <a:off x="6191250" y="4257675"/>
            <a:ext cx="2876550" cy="581025"/>
          </a:xfrm>
          <a:prstGeom prst="rect">
            <a:avLst/>
          </a:prstGeom>
          <a:solidFill>
            <a:srgbClr val="FFFFFF"/>
          </a:solidFill>
          <a:ln w="9525">
            <a:solidFill>
              <a:srgbClr val="363636"/>
            </a:solidFill>
            <a:prstDash val="solid"/>
          </a:ln>
        </p:spPr>
      </p:sp>
      <p:sp>
        <p:nvSpPr>
          <p:cNvPr id="40" name="Rectangle 39">
            <a:extLst>
              <a:ext uri="{FF2B5EF4-FFF2-40B4-BE49-F238E27FC236}">
                <a16:creationId xmlns:a16="http://schemas.microsoft.com/office/drawing/2014/main" id="{4DE6AAC8-88B2-432F-932A-1EB8AA950079}"/>
              </a:ext>
            </a:extLst>
          </p:cNvPr>
          <p:cNvSpPr>
            <a:spLocks noGrp="1"/>
          </p:cNvSpPr>
          <p:nvPr/>
        </p:nvSpPr>
        <p:spPr>
          <a:xfrm>
            <a:off x="6286500" y="4295775"/>
            <a:ext cx="2686050" cy="504825"/>
          </a:xfrm>
          <a:prstGeom prst="rect">
            <a:avLst/>
          </a:prstGeom>
          <a:noFill/>
          <a:ln w="0">
            <a:noFill/>
            <a:prstDash val="solid"/>
          </a:ln>
        </p:spPr>
        <p:txBody>
          <a:bodyPr anchor="ctr"/>
          <a:lstStyle/>
          <a:p>
            <a:pPr algn="l">
              <a:buNone/>
              <a:defRPr sz="1050" b="0">
                <a:solidFill>
                  <a:srgbClr val="171717"/>
                </a:solidFill>
              </a:defRPr>
            </a:pPr>
            <a:r>
              <a:rPr sz="1050" b="0">
                <a:solidFill>
                  <a:srgbClr val="171717"/>
                </a:solidFill>
              </a:rPr>
              <a:t>Logbook &amp; submission review</a:t>
            </a:r>
          </a:p>
        </p:txBody>
      </p:sp>
      <p:sp>
        <p:nvSpPr>
          <p:cNvPr id="41" name="Rectangle 40">
            <a:extLst>
              <a:ext uri="{FF2B5EF4-FFF2-40B4-BE49-F238E27FC236}">
                <a16:creationId xmlns:a16="http://schemas.microsoft.com/office/drawing/2014/main" id="{425EA79B-6C28-446D-A946-D63BEEE2F5C7}"/>
              </a:ext>
            </a:extLst>
          </p:cNvPr>
          <p:cNvSpPr>
            <a:spLocks noGrp="1"/>
          </p:cNvSpPr>
          <p:nvPr/>
        </p:nvSpPr>
        <p:spPr>
          <a:xfrm>
            <a:off x="9067800" y="4257675"/>
            <a:ext cx="2533650" cy="581025"/>
          </a:xfrm>
          <a:prstGeom prst="rect">
            <a:avLst/>
          </a:prstGeom>
          <a:solidFill>
            <a:srgbClr val="FFFFFF"/>
          </a:solidFill>
          <a:ln w="9525">
            <a:solidFill>
              <a:srgbClr val="363636"/>
            </a:solidFill>
            <a:prstDash val="solid"/>
          </a:ln>
        </p:spPr>
      </p:sp>
      <p:sp>
        <p:nvSpPr>
          <p:cNvPr id="42" name="Rectangle 41">
            <a:extLst>
              <a:ext uri="{FF2B5EF4-FFF2-40B4-BE49-F238E27FC236}">
                <a16:creationId xmlns:a16="http://schemas.microsoft.com/office/drawing/2014/main" id="{D3EB1C16-AD6D-4A33-BA9D-BBB5B46650AA}"/>
              </a:ext>
            </a:extLst>
          </p:cNvPr>
          <p:cNvSpPr>
            <a:spLocks noGrp="1"/>
          </p:cNvSpPr>
          <p:nvPr/>
        </p:nvSpPr>
        <p:spPr>
          <a:xfrm>
            <a:off x="9163050" y="4295775"/>
            <a:ext cx="2343150" cy="504825"/>
          </a:xfrm>
          <a:prstGeom prst="rect">
            <a:avLst/>
          </a:prstGeom>
          <a:noFill/>
          <a:ln w="0">
            <a:noFill/>
            <a:prstDash val="solid"/>
          </a:ln>
        </p:spPr>
        <p:txBody>
          <a:bodyPr anchor="ctr"/>
          <a:lstStyle/>
          <a:p>
            <a:pPr algn="l">
              <a:buNone/>
              <a:defRPr sz="1050" b="0">
                <a:solidFill>
                  <a:srgbClr val="171717"/>
                </a:solidFill>
              </a:defRPr>
            </a:pPr>
            <a:r>
              <a:rPr sz="1050" b="0">
                <a:solidFill>
                  <a:srgbClr val="171717"/>
                </a:solidFill>
              </a:rPr>
              <a:t>Finalisation pending</a:t>
            </a:r>
          </a:p>
        </p:txBody>
      </p:sp>
      <p:sp>
        <p:nvSpPr>
          <p:cNvPr id="43" name="Rectangle 42">
            <a:extLst>
              <a:ext uri="{FF2B5EF4-FFF2-40B4-BE49-F238E27FC236}">
                <a16:creationId xmlns:a16="http://schemas.microsoft.com/office/drawing/2014/main" id="{B34AE8AC-F765-4341-8316-398448031AF0}"/>
              </a:ext>
            </a:extLst>
          </p:cNvPr>
          <p:cNvSpPr>
            <a:spLocks noGrp="1"/>
          </p:cNvSpPr>
          <p:nvPr/>
        </p:nvSpPr>
        <p:spPr>
          <a:xfrm>
            <a:off x="590550" y="4838700"/>
            <a:ext cx="2457450" cy="581025"/>
          </a:xfrm>
          <a:prstGeom prst="rect">
            <a:avLst/>
          </a:prstGeom>
          <a:solidFill>
            <a:srgbClr val="FFFFFF"/>
          </a:solidFill>
          <a:ln w="9525">
            <a:solidFill>
              <a:srgbClr val="363636"/>
            </a:solidFill>
            <a:prstDash val="solid"/>
          </a:ln>
        </p:spPr>
      </p:sp>
      <p:sp>
        <p:nvSpPr>
          <p:cNvPr id="44" name="Rectangle 43">
            <a:extLst>
              <a:ext uri="{FF2B5EF4-FFF2-40B4-BE49-F238E27FC236}">
                <a16:creationId xmlns:a16="http://schemas.microsoft.com/office/drawing/2014/main" id="{4C82D150-FDD6-441C-97FB-26F1D9A5FCE3}"/>
              </a:ext>
            </a:extLst>
          </p:cNvPr>
          <p:cNvSpPr>
            <a:spLocks noGrp="1"/>
          </p:cNvSpPr>
          <p:nvPr/>
        </p:nvSpPr>
        <p:spPr>
          <a:xfrm>
            <a:off x="685800" y="4876800"/>
            <a:ext cx="2266950" cy="504825"/>
          </a:xfrm>
          <a:prstGeom prst="rect">
            <a:avLst/>
          </a:prstGeom>
          <a:noFill/>
          <a:ln w="0">
            <a:noFill/>
            <a:prstDash val="solid"/>
          </a:ln>
        </p:spPr>
        <p:txBody>
          <a:bodyPr anchor="ctr"/>
          <a:lstStyle/>
          <a:p>
            <a:pPr algn="l">
              <a:buNone/>
              <a:defRPr sz="1050" b="0">
                <a:solidFill>
                  <a:srgbClr val="171717"/>
                </a:solidFill>
              </a:defRPr>
            </a:pPr>
            <a:r>
              <a:rPr sz="1050" b="0">
                <a:solidFill>
                  <a:srgbClr val="171717"/>
                </a:solidFill>
              </a:rPr>
              <a:t>US 114051</a:t>
            </a:r>
          </a:p>
        </p:txBody>
      </p:sp>
      <p:sp>
        <p:nvSpPr>
          <p:cNvPr id="45" name="Rectangle 44">
            <a:extLst>
              <a:ext uri="{FF2B5EF4-FFF2-40B4-BE49-F238E27FC236}">
                <a16:creationId xmlns:a16="http://schemas.microsoft.com/office/drawing/2014/main" id="{B337EC1C-4EC4-43DD-9B0F-BA12AACBB771}"/>
              </a:ext>
            </a:extLst>
          </p:cNvPr>
          <p:cNvSpPr>
            <a:spLocks noGrp="1"/>
          </p:cNvSpPr>
          <p:nvPr/>
        </p:nvSpPr>
        <p:spPr>
          <a:xfrm>
            <a:off x="3048000" y="4838700"/>
            <a:ext cx="1428750" cy="581025"/>
          </a:xfrm>
          <a:prstGeom prst="rect">
            <a:avLst/>
          </a:prstGeom>
          <a:solidFill>
            <a:srgbClr val="FFFFFF"/>
          </a:solidFill>
          <a:ln w="9525">
            <a:solidFill>
              <a:srgbClr val="363636"/>
            </a:solidFill>
            <a:prstDash val="solid"/>
          </a:ln>
        </p:spPr>
      </p:sp>
      <p:sp>
        <p:nvSpPr>
          <p:cNvPr id="46" name="Rectangle 45">
            <a:extLst>
              <a:ext uri="{FF2B5EF4-FFF2-40B4-BE49-F238E27FC236}">
                <a16:creationId xmlns:a16="http://schemas.microsoft.com/office/drawing/2014/main" id="{4FB0D059-53EB-4E69-A0AD-F1AE01F7B48C}"/>
              </a:ext>
            </a:extLst>
          </p:cNvPr>
          <p:cNvSpPr>
            <a:spLocks noGrp="1"/>
          </p:cNvSpPr>
          <p:nvPr/>
        </p:nvSpPr>
        <p:spPr>
          <a:xfrm>
            <a:off x="3143250" y="4876800"/>
            <a:ext cx="1238250" cy="504825"/>
          </a:xfrm>
          <a:prstGeom prst="rect">
            <a:avLst/>
          </a:prstGeom>
          <a:noFill/>
          <a:ln w="0">
            <a:noFill/>
            <a:prstDash val="solid"/>
          </a:ln>
        </p:spPr>
        <p:txBody>
          <a:bodyPr anchor="ctr"/>
          <a:lstStyle/>
          <a:p>
            <a:pPr algn="l">
              <a:buNone/>
              <a:defRPr sz="1050" b="0">
                <a:solidFill>
                  <a:srgbClr val="171717"/>
                </a:solidFill>
              </a:defRPr>
            </a:pPr>
            <a:r>
              <a:rPr sz="1050" b="0">
                <a:solidFill>
                  <a:srgbClr val="171717"/>
                </a:solidFill>
              </a:rPr>
              <a:t>12 / 12</a:t>
            </a:r>
          </a:p>
        </p:txBody>
      </p:sp>
      <p:sp>
        <p:nvSpPr>
          <p:cNvPr id="47" name="Rectangle 46">
            <a:extLst>
              <a:ext uri="{FF2B5EF4-FFF2-40B4-BE49-F238E27FC236}">
                <a16:creationId xmlns:a16="http://schemas.microsoft.com/office/drawing/2014/main" id="{BE27D364-34AE-451A-8FDF-06AE74D49845}"/>
              </a:ext>
            </a:extLst>
          </p:cNvPr>
          <p:cNvSpPr>
            <a:spLocks noGrp="1"/>
          </p:cNvSpPr>
          <p:nvPr/>
        </p:nvSpPr>
        <p:spPr>
          <a:xfrm>
            <a:off x="4476750" y="4838700"/>
            <a:ext cx="1714500" cy="581025"/>
          </a:xfrm>
          <a:prstGeom prst="rect">
            <a:avLst/>
          </a:prstGeom>
          <a:solidFill>
            <a:srgbClr val="FFFFFF"/>
          </a:solidFill>
          <a:ln w="9525">
            <a:solidFill>
              <a:srgbClr val="363636"/>
            </a:solidFill>
            <a:prstDash val="solid"/>
          </a:ln>
        </p:spPr>
      </p:sp>
      <p:sp>
        <p:nvSpPr>
          <p:cNvPr id="48" name="Rectangle 47">
            <a:extLst>
              <a:ext uri="{FF2B5EF4-FFF2-40B4-BE49-F238E27FC236}">
                <a16:creationId xmlns:a16="http://schemas.microsoft.com/office/drawing/2014/main" id="{A81106F8-BBD5-4919-9BE5-44506EEE1B97}"/>
              </a:ext>
            </a:extLst>
          </p:cNvPr>
          <p:cNvSpPr>
            <a:spLocks noGrp="1"/>
          </p:cNvSpPr>
          <p:nvPr/>
        </p:nvSpPr>
        <p:spPr>
          <a:xfrm>
            <a:off x="4572000" y="4876800"/>
            <a:ext cx="1524000" cy="504825"/>
          </a:xfrm>
          <a:prstGeom prst="rect">
            <a:avLst/>
          </a:prstGeom>
          <a:noFill/>
          <a:ln w="0">
            <a:noFill/>
            <a:prstDash val="solid"/>
          </a:ln>
        </p:spPr>
        <p:txBody>
          <a:bodyPr anchor="ctr"/>
          <a:lstStyle/>
          <a:p>
            <a:pPr algn="l">
              <a:buNone/>
              <a:defRPr sz="1050" b="0">
                <a:solidFill>
                  <a:srgbClr val="171717"/>
                </a:solidFill>
              </a:defRPr>
            </a:pPr>
            <a:r>
              <a:rPr sz="1050" b="0">
                <a:solidFill>
                  <a:srgbClr val="171717"/>
                </a:solidFill>
              </a:rPr>
              <a:t>Training attended</a:t>
            </a:r>
          </a:p>
        </p:txBody>
      </p:sp>
      <p:sp>
        <p:nvSpPr>
          <p:cNvPr id="49" name="Rectangle 48">
            <a:extLst>
              <a:ext uri="{FF2B5EF4-FFF2-40B4-BE49-F238E27FC236}">
                <a16:creationId xmlns:a16="http://schemas.microsoft.com/office/drawing/2014/main" id="{3B795FF2-0350-4A94-A277-1EF5CC4EDA79}"/>
              </a:ext>
            </a:extLst>
          </p:cNvPr>
          <p:cNvSpPr>
            <a:spLocks noGrp="1"/>
          </p:cNvSpPr>
          <p:nvPr/>
        </p:nvSpPr>
        <p:spPr>
          <a:xfrm>
            <a:off x="6191250" y="4838700"/>
            <a:ext cx="2876550" cy="581025"/>
          </a:xfrm>
          <a:prstGeom prst="rect">
            <a:avLst/>
          </a:prstGeom>
          <a:solidFill>
            <a:srgbClr val="FFFFFF"/>
          </a:solidFill>
          <a:ln w="9525">
            <a:solidFill>
              <a:srgbClr val="363636"/>
            </a:solidFill>
            <a:prstDash val="solid"/>
          </a:ln>
        </p:spPr>
      </p:sp>
      <p:sp>
        <p:nvSpPr>
          <p:cNvPr id="50" name="Rectangle 49">
            <a:extLst>
              <a:ext uri="{FF2B5EF4-FFF2-40B4-BE49-F238E27FC236}">
                <a16:creationId xmlns:a16="http://schemas.microsoft.com/office/drawing/2014/main" id="{53190BA0-5F4C-4E34-A7E9-FB9B4DB04ED3}"/>
              </a:ext>
            </a:extLst>
          </p:cNvPr>
          <p:cNvSpPr>
            <a:spLocks noGrp="1"/>
          </p:cNvSpPr>
          <p:nvPr/>
        </p:nvSpPr>
        <p:spPr>
          <a:xfrm>
            <a:off x="6286500" y="4876800"/>
            <a:ext cx="2686050" cy="504825"/>
          </a:xfrm>
          <a:prstGeom prst="rect">
            <a:avLst/>
          </a:prstGeom>
          <a:noFill/>
          <a:ln w="0">
            <a:noFill/>
            <a:prstDash val="solid"/>
          </a:ln>
        </p:spPr>
        <p:txBody>
          <a:bodyPr anchor="ctr"/>
          <a:lstStyle/>
          <a:p>
            <a:pPr algn="l">
              <a:buNone/>
              <a:defRPr sz="1050" b="0">
                <a:solidFill>
                  <a:srgbClr val="171717"/>
                </a:solidFill>
              </a:defRPr>
            </a:pPr>
            <a:r>
              <a:rPr sz="1050" b="0">
                <a:solidFill>
                  <a:srgbClr val="171717"/>
                </a:solidFill>
              </a:rPr>
              <a:t>Learner evidence follows</a:t>
            </a:r>
          </a:p>
        </p:txBody>
      </p:sp>
      <p:sp>
        <p:nvSpPr>
          <p:cNvPr id="51" name="Rectangle 50">
            <a:extLst>
              <a:ext uri="{FF2B5EF4-FFF2-40B4-BE49-F238E27FC236}">
                <a16:creationId xmlns:a16="http://schemas.microsoft.com/office/drawing/2014/main" id="{512CB38D-4090-4C5C-BE29-EE143602F093}"/>
              </a:ext>
            </a:extLst>
          </p:cNvPr>
          <p:cNvSpPr>
            <a:spLocks noGrp="1"/>
          </p:cNvSpPr>
          <p:nvPr/>
        </p:nvSpPr>
        <p:spPr>
          <a:xfrm>
            <a:off x="9067800" y="4838700"/>
            <a:ext cx="2533650" cy="581025"/>
          </a:xfrm>
          <a:prstGeom prst="rect">
            <a:avLst/>
          </a:prstGeom>
          <a:solidFill>
            <a:srgbClr val="FFFFFF"/>
          </a:solidFill>
          <a:ln w="9525">
            <a:solidFill>
              <a:srgbClr val="363636"/>
            </a:solidFill>
            <a:prstDash val="solid"/>
          </a:ln>
        </p:spPr>
      </p:sp>
      <p:sp>
        <p:nvSpPr>
          <p:cNvPr id="52" name="Rectangle 51">
            <a:extLst>
              <a:ext uri="{FF2B5EF4-FFF2-40B4-BE49-F238E27FC236}">
                <a16:creationId xmlns:a16="http://schemas.microsoft.com/office/drawing/2014/main" id="{C9C93658-4B93-402C-BC0F-C7F76CCC3010}"/>
              </a:ext>
            </a:extLst>
          </p:cNvPr>
          <p:cNvSpPr>
            <a:spLocks noGrp="1"/>
          </p:cNvSpPr>
          <p:nvPr/>
        </p:nvSpPr>
        <p:spPr>
          <a:xfrm>
            <a:off x="9163050" y="4876800"/>
            <a:ext cx="2343150" cy="504825"/>
          </a:xfrm>
          <a:prstGeom prst="rect">
            <a:avLst/>
          </a:prstGeom>
          <a:noFill/>
          <a:ln w="0">
            <a:noFill/>
            <a:prstDash val="solid"/>
          </a:ln>
        </p:spPr>
        <p:txBody>
          <a:bodyPr anchor="ctr"/>
          <a:lstStyle/>
          <a:p>
            <a:pPr algn="l">
              <a:buNone/>
              <a:defRPr sz="1050" b="0">
                <a:solidFill>
                  <a:srgbClr val="171717"/>
                </a:solidFill>
              </a:defRPr>
            </a:pPr>
            <a:r>
              <a:rPr sz="1050" b="0">
                <a:solidFill>
                  <a:srgbClr val="171717"/>
                </a:solidFill>
              </a:rPr>
              <a:t>Delivery complete</a:t>
            </a:r>
          </a:p>
        </p:txBody>
      </p:sp>
      <p:sp>
        <p:nvSpPr>
          <p:cNvPr id="53" name="Rectangle: Rounded Corners 52">
            <a:extLst>
              <a:ext uri="{FF2B5EF4-FFF2-40B4-BE49-F238E27FC236}">
                <a16:creationId xmlns:a16="http://schemas.microsoft.com/office/drawing/2014/main" id="{7B76591C-EE4E-4FD2-9F63-415F05381DDA}"/>
              </a:ext>
            </a:extLst>
          </p:cNvPr>
          <p:cNvSpPr>
            <a:spLocks noGrp="1"/>
          </p:cNvSpPr>
          <p:nvPr/>
        </p:nvSpPr>
        <p:spPr>
          <a:xfrm>
            <a:off x="590550" y="5619750"/>
            <a:ext cx="11010900" cy="533400"/>
          </a:xfrm>
          <a:prstGeom prst="roundRect">
            <a:avLst>
              <a:gd name="adj" fmla="val 14286"/>
            </a:avLst>
          </a:prstGeom>
          <a:solidFill>
            <a:srgbClr val="EDF7F3"/>
          </a:solidFill>
          <a:ln w="0">
            <a:noFill/>
            <a:prstDash val="solid"/>
          </a:ln>
        </p:spPr>
      </p:sp>
      <p:sp>
        <p:nvSpPr>
          <p:cNvPr id="54" name="Rectangle 53">
            <a:extLst>
              <a:ext uri="{FF2B5EF4-FFF2-40B4-BE49-F238E27FC236}">
                <a16:creationId xmlns:a16="http://schemas.microsoft.com/office/drawing/2014/main" id="{5E3AB35F-870A-45B3-B326-7BC0686EF174}"/>
              </a:ext>
            </a:extLst>
          </p:cNvPr>
          <p:cNvSpPr>
            <a:spLocks noGrp="1"/>
          </p:cNvSpPr>
          <p:nvPr/>
        </p:nvSpPr>
        <p:spPr>
          <a:xfrm>
            <a:off x="800100" y="5695950"/>
            <a:ext cx="10572750" cy="381000"/>
          </a:xfrm>
          <a:prstGeom prst="rect">
            <a:avLst/>
          </a:prstGeom>
          <a:noFill/>
          <a:ln w="0">
            <a:noFill/>
            <a:prstDash val="solid"/>
          </a:ln>
        </p:spPr>
        <p:txBody>
          <a:bodyPr anchor="ctr"/>
          <a:lstStyle/>
          <a:p>
            <a:pPr algn="l">
              <a:buNone/>
              <a:defRPr sz="1200" b="1">
                <a:solidFill>
                  <a:srgbClr val="171717"/>
                </a:solidFill>
              </a:defRPr>
            </a:pPr>
            <a:r>
              <a:rPr sz="1200" b="1">
                <a:solidFill>
                  <a:srgbClr val="171717"/>
                </a:solidFill>
              </a:rPr>
              <a:t>Completed Unit Standard work remains in assessor finalisation. US 114051 training attendance is recorded for all 12 learners, with learner evidence to follow the planned pathway.</a:t>
            </a:r>
          </a:p>
        </p:txBody>
      </p:sp>
      <p:sp>
        <p:nvSpPr>
          <p:cNvPr id="55" name="Rectangle 54">
            <a:extLst>
              <a:ext uri="{FF2B5EF4-FFF2-40B4-BE49-F238E27FC236}">
                <a16:creationId xmlns:a16="http://schemas.microsoft.com/office/drawing/2014/main" id="{B02AB4D5-1375-4F0E-BC98-BDE7C05D7CC4}"/>
              </a:ext>
            </a:extLst>
          </p:cNvPr>
          <p:cNvSpPr>
            <a:spLocks noGrp="1"/>
          </p:cNvSpPr>
          <p:nvPr/>
        </p:nvSpPr>
        <p:spPr>
          <a:xfrm>
            <a:off x="590550" y="6477000"/>
            <a:ext cx="11010900" cy="9525"/>
          </a:xfrm>
          <a:prstGeom prst="rect">
            <a:avLst/>
          </a:prstGeom>
          <a:solidFill>
            <a:srgbClr val="DCC0A0"/>
          </a:solidFill>
          <a:ln w="9525">
            <a:solidFill>
              <a:srgbClr val="DCC0A0"/>
            </a:solidFill>
            <a:prstDash val="solid"/>
          </a:ln>
        </p:spPr>
      </p:sp>
      <p:sp>
        <p:nvSpPr>
          <p:cNvPr id="56" name="Rectangle 55">
            <a:extLst>
              <a:ext uri="{FF2B5EF4-FFF2-40B4-BE49-F238E27FC236}">
                <a16:creationId xmlns:a16="http://schemas.microsoft.com/office/drawing/2014/main" id="{9DD2273A-44D8-49EF-9FAB-0FAC4BD2D20F}"/>
              </a:ext>
            </a:extLst>
          </p:cNvPr>
          <p:cNvSpPr>
            <a:spLocks noGrp="1"/>
          </p:cNvSpPr>
          <p:nvPr/>
        </p:nvSpPr>
        <p:spPr>
          <a:xfrm>
            <a:off x="590550" y="6553200"/>
            <a:ext cx="4762500" cy="171450"/>
          </a:xfrm>
          <a:prstGeom prst="rect">
            <a:avLst/>
          </a:prstGeom>
          <a:noFill/>
          <a:ln w="0">
            <a:noFill/>
            <a:prstDash val="solid"/>
          </a:ln>
        </p:spPr>
        <p:txBody>
          <a:bodyPr anchor="ctr"/>
          <a:lstStyle/>
          <a:p>
            <a:pPr algn="l">
              <a:buNone/>
              <a:defRPr sz="825" b="0">
                <a:solidFill>
                  <a:srgbClr val="62676B"/>
                </a:solidFill>
              </a:defRPr>
            </a:pPr>
            <a:r>
              <a:rPr sz="825" b="0">
                <a:solidFill>
                  <a:srgbClr val="62676B"/>
                </a:solidFill>
              </a:rPr>
              <a:t>Eruditio • Empower · Develop · Transform</a:t>
            </a:r>
          </a:p>
        </p:txBody>
      </p:sp>
      <p:sp>
        <p:nvSpPr>
          <p:cNvPr id="57" name="Rectangle 56">
            <a:extLst>
              <a:ext uri="{FF2B5EF4-FFF2-40B4-BE49-F238E27FC236}">
                <a16:creationId xmlns:a16="http://schemas.microsoft.com/office/drawing/2014/main" id="{CBC0AFCA-37CE-4E21-8647-9F714A52DFB4}"/>
              </a:ext>
            </a:extLst>
          </p:cNvPr>
          <p:cNvSpPr>
            <a:spLocks noGrp="1"/>
          </p:cNvSpPr>
          <p:nvPr/>
        </p:nvSpPr>
        <p:spPr>
          <a:xfrm>
            <a:off x="11049000" y="6534150"/>
            <a:ext cx="552450" cy="171450"/>
          </a:xfrm>
          <a:prstGeom prst="rect">
            <a:avLst/>
          </a:prstGeom>
          <a:noFill/>
          <a:ln w="0">
            <a:noFill/>
            <a:prstDash val="solid"/>
          </a:ln>
        </p:spPr>
        <p:txBody>
          <a:bodyPr anchor="ctr"/>
          <a:lstStyle/>
          <a:p>
            <a:pPr algn="r">
              <a:buNone/>
              <a:defRPr sz="900" b="1">
                <a:solidFill>
                  <a:srgbClr val="F0872B"/>
                </a:solidFill>
              </a:defRPr>
            </a:pPr>
            <a:r>
              <a:rPr sz="900" b="1">
                <a:solidFill>
                  <a:srgbClr val="F0872B"/>
                </a:solidFill>
              </a:rPr>
              <a:t>06</a:t>
            </a:r>
          </a:p>
        </p:txBody>
      </p:sp>
    </p:spTree>
    <p:extLst>
      <p:ext uri="{BB962C8B-B14F-4D97-AF65-F5344CB8AC3E}">
        <p14:creationId xmlns:p14="http://schemas.microsoft.com/office/powerpoint/2010/main" val="21061122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7CF8FE06-9B75-4296-B0B9-883B233CA0DB}"/>
              </a:ext>
            </a:extLst>
          </p:cNvPr>
          <p:cNvSpPr>
            <a:spLocks noGrp="1"/>
          </p:cNvSpPr>
          <p:nvPr/>
        </p:nvSpPr>
        <p:spPr>
          <a:xfrm>
            <a:off x="0" y="0"/>
            <a:ext cx="12192000" cy="133350"/>
          </a:xfrm>
          <a:prstGeom prst="rect">
            <a:avLst/>
          </a:prstGeom>
          <a:solidFill>
            <a:srgbClr val="F0872B"/>
          </a:solidFill>
          <a:ln w="9525">
            <a:solidFill>
              <a:srgbClr val="F0872B"/>
            </a:solidFill>
            <a:prstDash val="solid"/>
          </a:ln>
        </p:spPr>
      </p:sp>
      <p:sp>
        <p:nvSpPr>
          <p:cNvPr id="2" name="Rectangle 1">
            <a:extLst>
              <a:ext uri="{FF2B5EF4-FFF2-40B4-BE49-F238E27FC236}">
                <a16:creationId xmlns:a16="http://schemas.microsoft.com/office/drawing/2014/main" id="{66032D8A-A18F-4FC7-B2EA-BE766F6393FC}"/>
              </a:ext>
            </a:extLst>
          </p:cNvPr>
          <p:cNvSpPr>
            <a:spLocks noGrp="1"/>
          </p:cNvSpPr>
          <p:nvPr/>
        </p:nvSpPr>
        <p:spPr>
          <a:xfrm>
            <a:off x="0" y="133350"/>
            <a:ext cx="12192000" cy="66675"/>
          </a:xfrm>
          <a:prstGeom prst="rect">
            <a:avLst/>
          </a:prstGeom>
          <a:solidFill>
            <a:srgbClr val="2E9B7A"/>
          </a:solidFill>
          <a:ln w="9525">
            <a:solidFill>
              <a:srgbClr val="2E9B7A"/>
            </a:solidFill>
            <a:prstDash val="solid"/>
          </a:ln>
        </p:spPr>
      </p:sp>
      <p:sp>
        <p:nvSpPr>
          <p:cNvPr id="3" name="Rectangle 2">
            <a:extLst>
              <a:ext uri="{FF2B5EF4-FFF2-40B4-BE49-F238E27FC236}">
                <a16:creationId xmlns:a16="http://schemas.microsoft.com/office/drawing/2014/main" id="{2010643D-8804-4486-A2CC-A88D24B3EAF3}"/>
              </a:ext>
            </a:extLst>
          </p:cNvPr>
          <p:cNvSpPr>
            <a:spLocks noGrp="1"/>
          </p:cNvSpPr>
          <p:nvPr/>
        </p:nvSpPr>
        <p:spPr>
          <a:xfrm>
            <a:off x="590550" y="361950"/>
            <a:ext cx="6858000" cy="228600"/>
          </a:xfrm>
          <a:prstGeom prst="rect">
            <a:avLst/>
          </a:prstGeom>
          <a:noFill/>
          <a:ln w="0">
            <a:noFill/>
            <a:prstDash val="solid"/>
          </a:ln>
        </p:spPr>
        <p:txBody>
          <a:bodyPr anchor="ctr"/>
          <a:lstStyle/>
          <a:p>
            <a:pPr algn="l">
              <a:buNone/>
              <a:defRPr sz="975" b="1">
                <a:solidFill>
                  <a:srgbClr val="2E9B7A"/>
                </a:solidFill>
              </a:defRPr>
            </a:pPr>
            <a:r>
              <a:rPr sz="975" b="1">
                <a:solidFill>
                  <a:srgbClr val="2E9B7A"/>
                </a:solidFill>
              </a:rPr>
              <a:t>INVESTEC • AUGUST LEARNERSHIP REPORT</a:t>
            </a:r>
          </a:p>
        </p:txBody>
      </p:sp>
      <p:sp>
        <p:nvSpPr>
          <p:cNvPr id="4" name="Rectangle 3">
            <a:extLst>
              <a:ext uri="{FF2B5EF4-FFF2-40B4-BE49-F238E27FC236}">
                <a16:creationId xmlns:a16="http://schemas.microsoft.com/office/drawing/2014/main" id="{A2BFF16E-3E57-43F6-8D16-AC17BAB72CB8}"/>
              </a:ext>
            </a:extLst>
          </p:cNvPr>
          <p:cNvSpPr>
            <a:spLocks noGrp="1"/>
          </p:cNvSpPr>
          <p:nvPr/>
        </p:nvSpPr>
        <p:spPr>
          <a:xfrm>
            <a:off x="590550" y="704850"/>
            <a:ext cx="8572500" cy="533400"/>
          </a:xfrm>
          <a:prstGeom prst="rect">
            <a:avLst/>
          </a:prstGeom>
          <a:noFill/>
          <a:ln w="0">
            <a:noFill/>
            <a:prstDash val="solid"/>
          </a:ln>
        </p:spPr>
        <p:txBody>
          <a:bodyPr anchor="ctr"/>
          <a:lstStyle/>
          <a:p>
            <a:pPr algn="l">
              <a:buNone/>
              <a:defRPr sz="2550" b="1">
                <a:solidFill>
                  <a:srgbClr val="171717"/>
                </a:solidFill>
              </a:defRPr>
            </a:pPr>
            <a:r>
              <a:rPr sz="2550" b="1">
                <a:solidFill>
                  <a:srgbClr val="171717"/>
                </a:solidFill>
              </a:rPr>
              <a:t>The cohort is engaged, collaborative and ready to grow</a:t>
            </a:r>
          </a:p>
        </p:txBody>
      </p:sp>
      <p:pic>
        <p:nvPicPr>
          <p:cNvPr id="38" name="Picture 37"/>
          <p:cNvPicPr>
            <a:picLocks noChangeAspect="1"/>
          </p:cNvPicPr>
          <p:nvPr/>
        </p:nvPicPr>
        <p:blipFill>
          <a:blip r:embed="rId3"/>
          <a:stretch/>
        </p:blipFill>
        <p:spPr>
          <a:xfrm>
            <a:off x="9620250" y="269398"/>
            <a:ext cx="2000250" cy="756605"/>
          </a:xfrm>
          <a:prstGeom prst="rect">
            <a:avLst/>
          </a:prstGeom>
        </p:spPr>
      </p:pic>
      <p:sp>
        <p:nvSpPr>
          <p:cNvPr id="6" name="Rectangle 5">
            <a:extLst>
              <a:ext uri="{FF2B5EF4-FFF2-40B4-BE49-F238E27FC236}">
                <a16:creationId xmlns:a16="http://schemas.microsoft.com/office/drawing/2014/main" id="{E141481E-EBF8-4F0F-8FAB-344462153282}"/>
              </a:ext>
            </a:extLst>
          </p:cNvPr>
          <p:cNvSpPr>
            <a:spLocks noGrp="1"/>
          </p:cNvSpPr>
          <p:nvPr/>
        </p:nvSpPr>
        <p:spPr>
          <a:xfrm>
            <a:off x="590550" y="1352550"/>
            <a:ext cx="11010900" cy="28575"/>
          </a:xfrm>
          <a:prstGeom prst="rect">
            <a:avLst/>
          </a:prstGeom>
          <a:solidFill>
            <a:srgbClr val="F0872B"/>
          </a:solidFill>
          <a:ln w="9525">
            <a:solidFill>
              <a:srgbClr val="F0872B"/>
            </a:solidFill>
            <a:prstDash val="solid"/>
          </a:ln>
        </p:spPr>
      </p:sp>
      <p:sp>
        <p:nvSpPr>
          <p:cNvPr id="7" name="Rectangle: Rounded Corners 6">
            <a:extLst>
              <a:ext uri="{FF2B5EF4-FFF2-40B4-BE49-F238E27FC236}">
                <a16:creationId xmlns:a16="http://schemas.microsoft.com/office/drawing/2014/main" id="{1FE52F75-A003-460B-B097-6C016093DF8E}"/>
              </a:ext>
            </a:extLst>
          </p:cNvPr>
          <p:cNvSpPr>
            <a:spLocks noGrp="1"/>
          </p:cNvSpPr>
          <p:nvPr/>
        </p:nvSpPr>
        <p:spPr>
          <a:xfrm>
            <a:off x="590550" y="1714500"/>
            <a:ext cx="5257800" cy="1562100"/>
          </a:xfrm>
          <a:prstGeom prst="roundRect">
            <a:avLst>
              <a:gd name="adj" fmla="val 4878"/>
            </a:avLst>
          </a:prstGeom>
          <a:solidFill>
            <a:srgbClr val="F7F5F1"/>
          </a:solidFill>
          <a:ln w="0">
            <a:noFill/>
            <a:prstDash val="solid"/>
          </a:ln>
        </p:spPr>
      </p:sp>
      <p:sp>
        <p:nvSpPr>
          <p:cNvPr id="8" name="Rectangle: Rounded Corners 7">
            <a:extLst>
              <a:ext uri="{FF2B5EF4-FFF2-40B4-BE49-F238E27FC236}">
                <a16:creationId xmlns:a16="http://schemas.microsoft.com/office/drawing/2014/main" id="{079D3659-BF4A-44F7-9400-8E80A4CC8C0E}"/>
              </a:ext>
            </a:extLst>
          </p:cNvPr>
          <p:cNvSpPr>
            <a:spLocks noGrp="1"/>
          </p:cNvSpPr>
          <p:nvPr/>
        </p:nvSpPr>
        <p:spPr>
          <a:xfrm>
            <a:off x="781050" y="1924050"/>
            <a:ext cx="571500" cy="571500"/>
          </a:xfrm>
          <a:prstGeom prst="roundRect">
            <a:avLst>
              <a:gd name="adj" fmla="val 13333"/>
            </a:avLst>
          </a:prstGeom>
          <a:solidFill>
            <a:srgbClr val="F0872B"/>
          </a:solidFill>
          <a:ln w="9525">
            <a:solidFill>
              <a:srgbClr val="F0872B"/>
            </a:solidFill>
            <a:prstDash val="solid"/>
          </a:ln>
        </p:spPr>
      </p:sp>
      <p:sp>
        <p:nvSpPr>
          <p:cNvPr id="9" name="Rectangle 8">
            <a:extLst>
              <a:ext uri="{FF2B5EF4-FFF2-40B4-BE49-F238E27FC236}">
                <a16:creationId xmlns:a16="http://schemas.microsoft.com/office/drawing/2014/main" id="{698BC113-A715-4365-A463-FF49B7B3EBA7}"/>
              </a:ext>
            </a:extLst>
          </p:cNvPr>
          <p:cNvSpPr>
            <a:spLocks noGrp="1"/>
          </p:cNvSpPr>
          <p:nvPr/>
        </p:nvSpPr>
        <p:spPr>
          <a:xfrm>
            <a:off x="781050" y="1924050"/>
            <a:ext cx="571500" cy="571500"/>
          </a:xfrm>
          <a:prstGeom prst="rect">
            <a:avLst/>
          </a:prstGeom>
          <a:noFill/>
          <a:ln w="0">
            <a:noFill/>
            <a:prstDash val="solid"/>
          </a:ln>
        </p:spPr>
        <p:txBody>
          <a:bodyPr anchor="ctr"/>
          <a:lstStyle/>
          <a:p>
            <a:pPr algn="ctr">
              <a:buNone/>
              <a:defRPr sz="1500" b="1">
                <a:solidFill>
                  <a:srgbClr val="FFFFFF"/>
                </a:solidFill>
              </a:defRPr>
            </a:pPr>
            <a:r>
              <a:rPr sz="1500" b="1">
                <a:solidFill>
                  <a:srgbClr val="FFFFFF"/>
                </a:solidFill>
              </a:rPr>
              <a:t>01</a:t>
            </a:r>
          </a:p>
        </p:txBody>
      </p:sp>
      <p:sp>
        <p:nvSpPr>
          <p:cNvPr id="10" name="Rectangle 9">
            <a:extLst>
              <a:ext uri="{FF2B5EF4-FFF2-40B4-BE49-F238E27FC236}">
                <a16:creationId xmlns:a16="http://schemas.microsoft.com/office/drawing/2014/main" id="{9D7BDB01-E0E0-4189-A745-D65C89DB0844}"/>
              </a:ext>
            </a:extLst>
          </p:cNvPr>
          <p:cNvSpPr>
            <a:spLocks noGrp="1"/>
          </p:cNvSpPr>
          <p:nvPr/>
        </p:nvSpPr>
        <p:spPr>
          <a:xfrm>
            <a:off x="1543050" y="1885950"/>
            <a:ext cx="4000500" cy="323850"/>
          </a:xfrm>
          <a:prstGeom prst="rect">
            <a:avLst/>
          </a:prstGeom>
          <a:noFill/>
          <a:ln w="0">
            <a:noFill/>
            <a:prstDash val="solid"/>
          </a:ln>
        </p:spPr>
        <p:txBody>
          <a:bodyPr anchor="ctr"/>
          <a:lstStyle/>
          <a:p>
            <a:pPr algn="l">
              <a:buNone/>
              <a:defRPr sz="1425" b="1">
                <a:solidFill>
                  <a:srgbClr val="171717"/>
                </a:solidFill>
              </a:defRPr>
            </a:pPr>
            <a:r>
              <a:rPr sz="1425" b="1">
                <a:solidFill>
                  <a:srgbClr val="171717"/>
                </a:solidFill>
              </a:rPr>
              <a:t>Positive learning culture</a:t>
            </a:r>
          </a:p>
        </p:txBody>
      </p:sp>
      <p:sp>
        <p:nvSpPr>
          <p:cNvPr id="11" name="Rectangle 10">
            <a:extLst>
              <a:ext uri="{FF2B5EF4-FFF2-40B4-BE49-F238E27FC236}">
                <a16:creationId xmlns:a16="http://schemas.microsoft.com/office/drawing/2014/main" id="{19510E18-FE5A-4AD6-BE2F-05DCF56EE233}"/>
              </a:ext>
            </a:extLst>
          </p:cNvPr>
          <p:cNvSpPr>
            <a:spLocks noGrp="1"/>
          </p:cNvSpPr>
          <p:nvPr/>
        </p:nvSpPr>
        <p:spPr>
          <a:xfrm>
            <a:off x="1543050" y="2266950"/>
            <a:ext cx="4000500" cy="800100"/>
          </a:xfrm>
          <a:prstGeom prst="rect">
            <a:avLst/>
          </a:prstGeom>
          <a:noFill/>
          <a:ln w="0">
            <a:noFill/>
            <a:prstDash val="solid"/>
          </a:ln>
        </p:spPr>
        <p:txBody>
          <a:bodyPr anchor="t"/>
          <a:lstStyle/>
          <a:p>
            <a:pPr algn="l">
              <a:buNone/>
              <a:defRPr sz="1125" b="0">
                <a:solidFill>
                  <a:srgbClr val="62676B"/>
                </a:solidFill>
              </a:defRPr>
            </a:pPr>
            <a:r>
              <a:rPr sz="1125" b="0">
                <a:solidFill>
                  <a:srgbClr val="62676B"/>
                </a:solidFill>
              </a:rPr>
              <a:t>Learners participate enthusiastically, ask questions freely and support one another in class.</a:t>
            </a:r>
          </a:p>
        </p:txBody>
      </p:sp>
      <p:sp>
        <p:nvSpPr>
          <p:cNvPr id="12" name="Rectangle: Rounded Corners 11">
            <a:extLst>
              <a:ext uri="{FF2B5EF4-FFF2-40B4-BE49-F238E27FC236}">
                <a16:creationId xmlns:a16="http://schemas.microsoft.com/office/drawing/2014/main" id="{4964F918-5F7A-4638-B6CF-36A6C31A7E53}"/>
              </a:ext>
            </a:extLst>
          </p:cNvPr>
          <p:cNvSpPr>
            <a:spLocks noGrp="1"/>
          </p:cNvSpPr>
          <p:nvPr/>
        </p:nvSpPr>
        <p:spPr>
          <a:xfrm>
            <a:off x="6191250" y="1714500"/>
            <a:ext cx="5257800" cy="1562100"/>
          </a:xfrm>
          <a:prstGeom prst="roundRect">
            <a:avLst>
              <a:gd name="adj" fmla="val 4878"/>
            </a:avLst>
          </a:prstGeom>
          <a:solidFill>
            <a:srgbClr val="F7F5F1"/>
          </a:solidFill>
          <a:ln w="0">
            <a:noFill/>
            <a:prstDash val="solid"/>
          </a:ln>
        </p:spPr>
      </p:sp>
      <p:sp>
        <p:nvSpPr>
          <p:cNvPr id="13" name="Rectangle: Rounded Corners 12">
            <a:extLst>
              <a:ext uri="{FF2B5EF4-FFF2-40B4-BE49-F238E27FC236}">
                <a16:creationId xmlns:a16="http://schemas.microsoft.com/office/drawing/2014/main" id="{E5B4E237-C2E7-45FD-9AE7-F6BAA1332060}"/>
              </a:ext>
            </a:extLst>
          </p:cNvPr>
          <p:cNvSpPr>
            <a:spLocks noGrp="1"/>
          </p:cNvSpPr>
          <p:nvPr/>
        </p:nvSpPr>
        <p:spPr>
          <a:xfrm>
            <a:off x="6381750" y="1924050"/>
            <a:ext cx="571500" cy="571500"/>
          </a:xfrm>
          <a:prstGeom prst="roundRect">
            <a:avLst>
              <a:gd name="adj" fmla="val 13333"/>
            </a:avLst>
          </a:prstGeom>
          <a:solidFill>
            <a:srgbClr val="2E9B7A"/>
          </a:solidFill>
          <a:ln w="9525">
            <a:solidFill>
              <a:srgbClr val="2E9B7A"/>
            </a:solidFill>
            <a:prstDash val="solid"/>
          </a:ln>
        </p:spPr>
      </p:sp>
      <p:sp>
        <p:nvSpPr>
          <p:cNvPr id="14" name="Rectangle 13">
            <a:extLst>
              <a:ext uri="{FF2B5EF4-FFF2-40B4-BE49-F238E27FC236}">
                <a16:creationId xmlns:a16="http://schemas.microsoft.com/office/drawing/2014/main" id="{B5976465-3E01-47F5-A696-F43B91147D95}"/>
              </a:ext>
            </a:extLst>
          </p:cNvPr>
          <p:cNvSpPr>
            <a:spLocks noGrp="1"/>
          </p:cNvSpPr>
          <p:nvPr/>
        </p:nvSpPr>
        <p:spPr>
          <a:xfrm>
            <a:off x="6381750" y="1924050"/>
            <a:ext cx="571500" cy="571500"/>
          </a:xfrm>
          <a:prstGeom prst="rect">
            <a:avLst/>
          </a:prstGeom>
          <a:noFill/>
          <a:ln w="0">
            <a:noFill/>
            <a:prstDash val="solid"/>
          </a:ln>
        </p:spPr>
        <p:txBody>
          <a:bodyPr anchor="ctr"/>
          <a:lstStyle/>
          <a:p>
            <a:pPr algn="ctr">
              <a:buNone/>
              <a:defRPr sz="1500" b="1">
                <a:solidFill>
                  <a:srgbClr val="FFFFFF"/>
                </a:solidFill>
              </a:defRPr>
            </a:pPr>
            <a:r>
              <a:rPr sz="1500" b="1">
                <a:solidFill>
                  <a:srgbClr val="FFFFFF"/>
                </a:solidFill>
              </a:rPr>
              <a:t>02</a:t>
            </a:r>
          </a:p>
        </p:txBody>
      </p:sp>
      <p:sp>
        <p:nvSpPr>
          <p:cNvPr id="15" name="Rectangle 14">
            <a:extLst>
              <a:ext uri="{FF2B5EF4-FFF2-40B4-BE49-F238E27FC236}">
                <a16:creationId xmlns:a16="http://schemas.microsoft.com/office/drawing/2014/main" id="{B38664A7-2224-4B66-B69A-90C6706AD680}"/>
              </a:ext>
            </a:extLst>
          </p:cNvPr>
          <p:cNvSpPr>
            <a:spLocks noGrp="1"/>
          </p:cNvSpPr>
          <p:nvPr/>
        </p:nvSpPr>
        <p:spPr>
          <a:xfrm>
            <a:off x="7143750" y="1885950"/>
            <a:ext cx="4000500" cy="323850"/>
          </a:xfrm>
          <a:prstGeom prst="rect">
            <a:avLst/>
          </a:prstGeom>
          <a:noFill/>
          <a:ln w="0">
            <a:noFill/>
            <a:prstDash val="solid"/>
          </a:ln>
        </p:spPr>
        <p:txBody>
          <a:bodyPr anchor="ctr"/>
          <a:lstStyle/>
          <a:p>
            <a:pPr algn="l">
              <a:buNone/>
              <a:defRPr sz="1425" b="1">
                <a:solidFill>
                  <a:srgbClr val="171717"/>
                </a:solidFill>
              </a:defRPr>
            </a:pPr>
            <a:r>
              <a:rPr sz="1425" b="1">
                <a:solidFill>
                  <a:srgbClr val="171717"/>
                </a:solidFill>
              </a:rPr>
              <a:t>Technical curiosity</a:t>
            </a:r>
          </a:p>
        </p:txBody>
      </p:sp>
      <p:sp>
        <p:nvSpPr>
          <p:cNvPr id="16" name="Rectangle 15">
            <a:extLst>
              <a:ext uri="{FF2B5EF4-FFF2-40B4-BE49-F238E27FC236}">
                <a16:creationId xmlns:a16="http://schemas.microsoft.com/office/drawing/2014/main" id="{C0A6C396-CF10-404F-AFF9-D99EFC957417}"/>
              </a:ext>
            </a:extLst>
          </p:cNvPr>
          <p:cNvSpPr>
            <a:spLocks noGrp="1"/>
          </p:cNvSpPr>
          <p:nvPr/>
        </p:nvSpPr>
        <p:spPr>
          <a:xfrm>
            <a:off x="7143750" y="2266950"/>
            <a:ext cx="4000500" cy="800100"/>
          </a:xfrm>
          <a:prstGeom prst="rect">
            <a:avLst/>
          </a:prstGeom>
          <a:noFill/>
          <a:ln w="0">
            <a:noFill/>
            <a:prstDash val="solid"/>
          </a:ln>
        </p:spPr>
        <p:txBody>
          <a:bodyPr anchor="t"/>
          <a:lstStyle/>
          <a:p>
            <a:pPr algn="l">
              <a:buNone/>
              <a:defRPr sz="1125" b="0">
                <a:solidFill>
                  <a:srgbClr val="62676B"/>
                </a:solidFill>
              </a:defRPr>
            </a:pPr>
            <a:r>
              <a:rPr sz="1125" b="0">
                <a:solidFill>
                  <a:srgbClr val="62676B"/>
                </a:solidFill>
              </a:rPr>
              <a:t>The group shows strong interest in IT, hardware and applying technical knowledge in practical contexts.</a:t>
            </a:r>
          </a:p>
        </p:txBody>
      </p:sp>
      <p:sp>
        <p:nvSpPr>
          <p:cNvPr id="17" name="Rectangle: Rounded Corners 16">
            <a:extLst>
              <a:ext uri="{FF2B5EF4-FFF2-40B4-BE49-F238E27FC236}">
                <a16:creationId xmlns:a16="http://schemas.microsoft.com/office/drawing/2014/main" id="{8272B561-BEB4-4477-9B8C-BF8D6A136656}"/>
              </a:ext>
            </a:extLst>
          </p:cNvPr>
          <p:cNvSpPr>
            <a:spLocks noGrp="1"/>
          </p:cNvSpPr>
          <p:nvPr/>
        </p:nvSpPr>
        <p:spPr>
          <a:xfrm>
            <a:off x="590550" y="3562350"/>
            <a:ext cx="5257800" cy="1562100"/>
          </a:xfrm>
          <a:prstGeom prst="roundRect">
            <a:avLst>
              <a:gd name="adj" fmla="val 4878"/>
            </a:avLst>
          </a:prstGeom>
          <a:solidFill>
            <a:srgbClr val="F7F5F1"/>
          </a:solidFill>
          <a:ln w="0">
            <a:noFill/>
            <a:prstDash val="solid"/>
          </a:ln>
        </p:spPr>
      </p:sp>
      <p:sp>
        <p:nvSpPr>
          <p:cNvPr id="18" name="Rectangle: Rounded Corners 17">
            <a:extLst>
              <a:ext uri="{FF2B5EF4-FFF2-40B4-BE49-F238E27FC236}">
                <a16:creationId xmlns:a16="http://schemas.microsoft.com/office/drawing/2014/main" id="{D277EE4B-7613-41BA-91BA-A5DCA46DE65E}"/>
              </a:ext>
            </a:extLst>
          </p:cNvPr>
          <p:cNvSpPr>
            <a:spLocks noGrp="1"/>
          </p:cNvSpPr>
          <p:nvPr/>
        </p:nvSpPr>
        <p:spPr>
          <a:xfrm>
            <a:off x="781050" y="3771900"/>
            <a:ext cx="571500" cy="571500"/>
          </a:xfrm>
          <a:prstGeom prst="roundRect">
            <a:avLst>
              <a:gd name="adj" fmla="val 13333"/>
            </a:avLst>
          </a:prstGeom>
          <a:solidFill>
            <a:srgbClr val="F5D24C"/>
          </a:solidFill>
          <a:ln w="9525">
            <a:solidFill>
              <a:srgbClr val="F5D24C"/>
            </a:solidFill>
            <a:prstDash val="solid"/>
          </a:ln>
        </p:spPr>
      </p:sp>
      <p:sp>
        <p:nvSpPr>
          <p:cNvPr id="19" name="Rectangle 18">
            <a:extLst>
              <a:ext uri="{FF2B5EF4-FFF2-40B4-BE49-F238E27FC236}">
                <a16:creationId xmlns:a16="http://schemas.microsoft.com/office/drawing/2014/main" id="{E398A946-ADFB-48B2-8782-D5B6663E1E4F}"/>
              </a:ext>
            </a:extLst>
          </p:cNvPr>
          <p:cNvSpPr>
            <a:spLocks noGrp="1"/>
          </p:cNvSpPr>
          <p:nvPr/>
        </p:nvSpPr>
        <p:spPr>
          <a:xfrm>
            <a:off x="781050" y="3771900"/>
            <a:ext cx="571500" cy="571500"/>
          </a:xfrm>
          <a:prstGeom prst="rect">
            <a:avLst/>
          </a:prstGeom>
          <a:noFill/>
          <a:ln w="0">
            <a:noFill/>
            <a:prstDash val="solid"/>
          </a:ln>
        </p:spPr>
        <p:txBody>
          <a:bodyPr anchor="ctr"/>
          <a:lstStyle/>
          <a:p>
            <a:pPr algn="ctr">
              <a:buNone/>
              <a:defRPr sz="1500" b="1">
                <a:solidFill>
                  <a:srgbClr val="171717"/>
                </a:solidFill>
              </a:defRPr>
            </a:pPr>
            <a:r>
              <a:rPr sz="1500" b="1">
                <a:solidFill>
                  <a:srgbClr val="171717"/>
                </a:solidFill>
              </a:rPr>
              <a:t>03</a:t>
            </a:r>
          </a:p>
        </p:txBody>
      </p:sp>
      <p:sp>
        <p:nvSpPr>
          <p:cNvPr id="20" name="Rectangle 19">
            <a:extLst>
              <a:ext uri="{FF2B5EF4-FFF2-40B4-BE49-F238E27FC236}">
                <a16:creationId xmlns:a16="http://schemas.microsoft.com/office/drawing/2014/main" id="{55B6738F-9116-48A5-92B8-812E1C024164}"/>
              </a:ext>
            </a:extLst>
          </p:cNvPr>
          <p:cNvSpPr>
            <a:spLocks noGrp="1"/>
          </p:cNvSpPr>
          <p:nvPr/>
        </p:nvSpPr>
        <p:spPr>
          <a:xfrm>
            <a:off x="1543050" y="3733800"/>
            <a:ext cx="4000500" cy="323850"/>
          </a:xfrm>
          <a:prstGeom prst="rect">
            <a:avLst/>
          </a:prstGeom>
          <a:noFill/>
          <a:ln w="0">
            <a:noFill/>
            <a:prstDash val="solid"/>
          </a:ln>
        </p:spPr>
        <p:txBody>
          <a:bodyPr anchor="ctr"/>
          <a:lstStyle/>
          <a:p>
            <a:pPr algn="l">
              <a:buNone/>
              <a:defRPr sz="1425" b="1">
                <a:solidFill>
                  <a:srgbClr val="171717"/>
                </a:solidFill>
              </a:defRPr>
            </a:pPr>
            <a:r>
              <a:rPr sz="1425" b="1">
                <a:solidFill>
                  <a:srgbClr val="171717"/>
                </a:solidFill>
              </a:rPr>
              <a:t>Self-directed effort</a:t>
            </a:r>
          </a:p>
        </p:txBody>
      </p:sp>
      <p:sp>
        <p:nvSpPr>
          <p:cNvPr id="21" name="Rectangle 20">
            <a:extLst>
              <a:ext uri="{FF2B5EF4-FFF2-40B4-BE49-F238E27FC236}">
                <a16:creationId xmlns:a16="http://schemas.microsoft.com/office/drawing/2014/main" id="{40532A43-8861-4528-B5A3-730FEBF272B1}"/>
              </a:ext>
            </a:extLst>
          </p:cNvPr>
          <p:cNvSpPr>
            <a:spLocks noGrp="1"/>
          </p:cNvSpPr>
          <p:nvPr/>
        </p:nvSpPr>
        <p:spPr>
          <a:xfrm>
            <a:off x="1543050" y="4114800"/>
            <a:ext cx="4000500" cy="800100"/>
          </a:xfrm>
          <a:prstGeom prst="rect">
            <a:avLst/>
          </a:prstGeom>
          <a:noFill/>
          <a:ln w="0">
            <a:noFill/>
            <a:prstDash val="solid"/>
          </a:ln>
        </p:spPr>
        <p:txBody>
          <a:bodyPr anchor="t"/>
          <a:lstStyle/>
          <a:p>
            <a:pPr algn="l">
              <a:buNone/>
              <a:defRPr sz="1125" b="0">
                <a:solidFill>
                  <a:srgbClr val="62676B"/>
                </a:solidFill>
              </a:defRPr>
            </a:pPr>
            <a:r>
              <a:rPr sz="1125" b="0">
                <a:solidFill>
                  <a:srgbClr val="62676B"/>
                </a:solidFill>
              </a:rPr>
              <a:t>Six learners accessed the platform within 24 hours, demonstrating study activity beyond contact sessions.</a:t>
            </a:r>
          </a:p>
        </p:txBody>
      </p:sp>
      <p:sp>
        <p:nvSpPr>
          <p:cNvPr id="22" name="Rectangle: Rounded Corners 21">
            <a:extLst>
              <a:ext uri="{FF2B5EF4-FFF2-40B4-BE49-F238E27FC236}">
                <a16:creationId xmlns:a16="http://schemas.microsoft.com/office/drawing/2014/main" id="{787FD5EE-09B9-4087-AA7A-64B00FA905C8}"/>
              </a:ext>
            </a:extLst>
          </p:cNvPr>
          <p:cNvSpPr>
            <a:spLocks noGrp="1"/>
          </p:cNvSpPr>
          <p:nvPr/>
        </p:nvSpPr>
        <p:spPr>
          <a:xfrm>
            <a:off x="6191250" y="3562350"/>
            <a:ext cx="5257800" cy="1562100"/>
          </a:xfrm>
          <a:prstGeom prst="roundRect">
            <a:avLst>
              <a:gd name="adj" fmla="val 4878"/>
            </a:avLst>
          </a:prstGeom>
          <a:solidFill>
            <a:srgbClr val="F7F5F1"/>
          </a:solidFill>
          <a:ln w="0">
            <a:noFill/>
            <a:prstDash val="solid"/>
          </a:ln>
        </p:spPr>
      </p:sp>
      <p:sp>
        <p:nvSpPr>
          <p:cNvPr id="23" name="Rectangle: Rounded Corners 22">
            <a:extLst>
              <a:ext uri="{FF2B5EF4-FFF2-40B4-BE49-F238E27FC236}">
                <a16:creationId xmlns:a16="http://schemas.microsoft.com/office/drawing/2014/main" id="{320C2B79-AD70-4810-A681-E618751C1E1E}"/>
              </a:ext>
            </a:extLst>
          </p:cNvPr>
          <p:cNvSpPr>
            <a:spLocks noGrp="1"/>
          </p:cNvSpPr>
          <p:nvPr/>
        </p:nvSpPr>
        <p:spPr>
          <a:xfrm>
            <a:off x="6381750" y="3771900"/>
            <a:ext cx="571500" cy="571500"/>
          </a:xfrm>
          <a:prstGeom prst="roundRect">
            <a:avLst>
              <a:gd name="adj" fmla="val 13333"/>
            </a:avLst>
          </a:prstGeom>
          <a:solidFill>
            <a:srgbClr val="DCC0A0"/>
          </a:solidFill>
          <a:ln w="9525">
            <a:solidFill>
              <a:srgbClr val="DCC0A0"/>
            </a:solidFill>
            <a:prstDash val="solid"/>
          </a:ln>
        </p:spPr>
      </p:sp>
      <p:sp>
        <p:nvSpPr>
          <p:cNvPr id="24" name="Rectangle 23">
            <a:extLst>
              <a:ext uri="{FF2B5EF4-FFF2-40B4-BE49-F238E27FC236}">
                <a16:creationId xmlns:a16="http://schemas.microsoft.com/office/drawing/2014/main" id="{3FDE060F-ABDF-4FEF-BB75-C0AA3EB50B38}"/>
              </a:ext>
            </a:extLst>
          </p:cNvPr>
          <p:cNvSpPr>
            <a:spLocks noGrp="1"/>
          </p:cNvSpPr>
          <p:nvPr/>
        </p:nvSpPr>
        <p:spPr>
          <a:xfrm>
            <a:off x="6381750" y="3771900"/>
            <a:ext cx="571500" cy="571500"/>
          </a:xfrm>
          <a:prstGeom prst="rect">
            <a:avLst/>
          </a:prstGeom>
          <a:noFill/>
          <a:ln w="0">
            <a:noFill/>
            <a:prstDash val="solid"/>
          </a:ln>
        </p:spPr>
        <p:txBody>
          <a:bodyPr anchor="ctr"/>
          <a:lstStyle/>
          <a:p>
            <a:pPr algn="ctr">
              <a:buNone/>
              <a:defRPr sz="1500" b="1">
                <a:solidFill>
                  <a:srgbClr val="FFFFFF"/>
                </a:solidFill>
              </a:defRPr>
            </a:pPr>
            <a:r>
              <a:rPr sz="1500" b="1">
                <a:solidFill>
                  <a:srgbClr val="FFFFFF"/>
                </a:solidFill>
              </a:rPr>
              <a:t>04</a:t>
            </a:r>
          </a:p>
        </p:txBody>
      </p:sp>
      <p:sp>
        <p:nvSpPr>
          <p:cNvPr id="25" name="Rectangle 24">
            <a:extLst>
              <a:ext uri="{FF2B5EF4-FFF2-40B4-BE49-F238E27FC236}">
                <a16:creationId xmlns:a16="http://schemas.microsoft.com/office/drawing/2014/main" id="{8DF87921-71C7-407C-A7F7-99A309CF45DE}"/>
              </a:ext>
            </a:extLst>
          </p:cNvPr>
          <p:cNvSpPr>
            <a:spLocks noGrp="1"/>
          </p:cNvSpPr>
          <p:nvPr/>
        </p:nvSpPr>
        <p:spPr>
          <a:xfrm>
            <a:off x="7143750" y="3733800"/>
            <a:ext cx="4000500" cy="323850"/>
          </a:xfrm>
          <a:prstGeom prst="rect">
            <a:avLst/>
          </a:prstGeom>
          <a:noFill/>
          <a:ln w="0">
            <a:noFill/>
            <a:prstDash val="solid"/>
          </a:ln>
        </p:spPr>
        <p:txBody>
          <a:bodyPr anchor="ctr"/>
          <a:lstStyle/>
          <a:p>
            <a:pPr algn="l">
              <a:buNone/>
              <a:defRPr sz="1425" b="1">
                <a:solidFill>
                  <a:srgbClr val="171717"/>
                </a:solidFill>
              </a:defRPr>
            </a:pPr>
            <a:r>
              <a:rPr sz="1425" b="1">
                <a:solidFill>
                  <a:srgbClr val="171717"/>
                </a:solidFill>
              </a:rPr>
              <a:t>Cohort continuity</a:t>
            </a:r>
          </a:p>
        </p:txBody>
      </p:sp>
      <p:sp>
        <p:nvSpPr>
          <p:cNvPr id="26" name="Rectangle 25">
            <a:extLst>
              <a:ext uri="{FF2B5EF4-FFF2-40B4-BE49-F238E27FC236}">
                <a16:creationId xmlns:a16="http://schemas.microsoft.com/office/drawing/2014/main" id="{4CE15EAF-B634-46F6-97A0-4F225E14EAC5}"/>
              </a:ext>
            </a:extLst>
          </p:cNvPr>
          <p:cNvSpPr>
            <a:spLocks noGrp="1"/>
          </p:cNvSpPr>
          <p:nvPr/>
        </p:nvSpPr>
        <p:spPr>
          <a:xfrm>
            <a:off x="7143750" y="4114800"/>
            <a:ext cx="4000500" cy="800100"/>
          </a:xfrm>
          <a:prstGeom prst="rect">
            <a:avLst/>
          </a:prstGeom>
          <a:noFill/>
          <a:ln w="0">
            <a:noFill/>
            <a:prstDash val="solid"/>
          </a:ln>
        </p:spPr>
        <p:txBody>
          <a:bodyPr anchor="t"/>
          <a:lstStyle/>
          <a:p>
            <a:pPr algn="l">
              <a:buNone/>
              <a:defRPr sz="1125" b="0">
                <a:solidFill>
                  <a:srgbClr val="62676B"/>
                </a:solidFill>
              </a:defRPr>
            </a:pPr>
            <a:r>
              <a:rPr sz="1125" b="0">
                <a:solidFill>
                  <a:srgbClr val="62676B"/>
                </a:solidFill>
              </a:rPr>
              <a:t>The replacement learner was onboarded promptly, is attending and has structured catch-up support in place.</a:t>
            </a:r>
          </a:p>
        </p:txBody>
      </p:sp>
      <p:sp>
        <p:nvSpPr>
          <p:cNvPr id="27" name="Rectangle 26">
            <a:extLst>
              <a:ext uri="{FF2B5EF4-FFF2-40B4-BE49-F238E27FC236}">
                <a16:creationId xmlns:a16="http://schemas.microsoft.com/office/drawing/2014/main" id="{4681EC16-B71F-43F8-ADAC-0227F4638EB2}"/>
              </a:ext>
            </a:extLst>
          </p:cNvPr>
          <p:cNvSpPr>
            <a:spLocks noGrp="1"/>
          </p:cNvSpPr>
          <p:nvPr/>
        </p:nvSpPr>
        <p:spPr>
          <a:xfrm>
            <a:off x="590550" y="5638800"/>
            <a:ext cx="11010900" cy="495300"/>
          </a:xfrm>
          <a:prstGeom prst="rect">
            <a:avLst/>
          </a:prstGeom>
          <a:solidFill>
            <a:srgbClr val="2E9B7A"/>
          </a:solidFill>
          <a:ln w="9525">
            <a:solidFill>
              <a:srgbClr val="2E9B7A"/>
            </a:solidFill>
            <a:prstDash val="solid"/>
          </a:ln>
        </p:spPr>
      </p:sp>
      <p:sp>
        <p:nvSpPr>
          <p:cNvPr id="28" name="Rectangle 27">
            <a:extLst>
              <a:ext uri="{FF2B5EF4-FFF2-40B4-BE49-F238E27FC236}">
                <a16:creationId xmlns:a16="http://schemas.microsoft.com/office/drawing/2014/main" id="{25949C52-E4A8-4A34-91EA-FA38CC14B185}"/>
              </a:ext>
            </a:extLst>
          </p:cNvPr>
          <p:cNvSpPr>
            <a:spLocks noGrp="1"/>
          </p:cNvSpPr>
          <p:nvPr/>
        </p:nvSpPr>
        <p:spPr>
          <a:xfrm>
            <a:off x="800100" y="5715000"/>
            <a:ext cx="10572750" cy="342900"/>
          </a:xfrm>
          <a:prstGeom prst="rect">
            <a:avLst/>
          </a:prstGeom>
          <a:noFill/>
          <a:ln w="0">
            <a:noFill/>
            <a:prstDash val="solid"/>
          </a:ln>
        </p:spPr>
        <p:txBody>
          <a:bodyPr anchor="ctr"/>
          <a:lstStyle/>
          <a:p>
            <a:pPr algn="l">
              <a:buNone/>
              <a:defRPr sz="1200" b="1">
                <a:solidFill>
                  <a:srgbClr val="FFFFFF"/>
                </a:solidFill>
              </a:defRPr>
            </a:pPr>
            <a:r>
              <a:rPr sz="1200" b="1">
                <a:solidFill>
                  <a:srgbClr val="FFFFFF"/>
                </a:solidFill>
              </a:rPr>
              <a:t>COHORT POSITION: committed attendance, encouraging results and a strong platform for continued development</a:t>
            </a:r>
          </a:p>
        </p:txBody>
      </p:sp>
      <p:sp>
        <p:nvSpPr>
          <p:cNvPr id="29" name="Rectangle 28">
            <a:extLst>
              <a:ext uri="{FF2B5EF4-FFF2-40B4-BE49-F238E27FC236}">
                <a16:creationId xmlns:a16="http://schemas.microsoft.com/office/drawing/2014/main" id="{648F5F7E-E544-4130-BD38-FB4CD8C0B588}"/>
              </a:ext>
            </a:extLst>
          </p:cNvPr>
          <p:cNvSpPr>
            <a:spLocks noGrp="1"/>
          </p:cNvSpPr>
          <p:nvPr/>
        </p:nvSpPr>
        <p:spPr>
          <a:xfrm>
            <a:off x="590550" y="6477000"/>
            <a:ext cx="11010900" cy="9525"/>
          </a:xfrm>
          <a:prstGeom prst="rect">
            <a:avLst/>
          </a:prstGeom>
          <a:solidFill>
            <a:srgbClr val="DCC0A0"/>
          </a:solidFill>
          <a:ln w="9525">
            <a:solidFill>
              <a:srgbClr val="DCC0A0"/>
            </a:solidFill>
            <a:prstDash val="solid"/>
          </a:ln>
        </p:spPr>
      </p:sp>
      <p:sp>
        <p:nvSpPr>
          <p:cNvPr id="30" name="Rectangle 29">
            <a:extLst>
              <a:ext uri="{FF2B5EF4-FFF2-40B4-BE49-F238E27FC236}">
                <a16:creationId xmlns:a16="http://schemas.microsoft.com/office/drawing/2014/main" id="{A5DBD3CA-F9BE-4440-8527-2F1BF89135F5}"/>
              </a:ext>
            </a:extLst>
          </p:cNvPr>
          <p:cNvSpPr>
            <a:spLocks noGrp="1"/>
          </p:cNvSpPr>
          <p:nvPr/>
        </p:nvSpPr>
        <p:spPr>
          <a:xfrm>
            <a:off x="590550" y="6553200"/>
            <a:ext cx="4762500" cy="171450"/>
          </a:xfrm>
          <a:prstGeom prst="rect">
            <a:avLst/>
          </a:prstGeom>
          <a:noFill/>
          <a:ln w="0">
            <a:noFill/>
            <a:prstDash val="solid"/>
          </a:ln>
        </p:spPr>
        <p:txBody>
          <a:bodyPr anchor="ctr"/>
          <a:lstStyle/>
          <a:p>
            <a:pPr algn="l">
              <a:buNone/>
              <a:defRPr sz="825" b="0">
                <a:solidFill>
                  <a:srgbClr val="62676B"/>
                </a:solidFill>
              </a:defRPr>
            </a:pPr>
            <a:r>
              <a:rPr sz="825" b="0">
                <a:solidFill>
                  <a:srgbClr val="62676B"/>
                </a:solidFill>
              </a:rPr>
              <a:t>Eruditio • Empower · Develop · Transform</a:t>
            </a:r>
          </a:p>
        </p:txBody>
      </p:sp>
      <p:sp>
        <p:nvSpPr>
          <p:cNvPr id="31" name="Rectangle 30">
            <a:extLst>
              <a:ext uri="{FF2B5EF4-FFF2-40B4-BE49-F238E27FC236}">
                <a16:creationId xmlns:a16="http://schemas.microsoft.com/office/drawing/2014/main" id="{DBBAEC13-DCE8-43F6-A05C-8B3A1C3A31D8}"/>
              </a:ext>
            </a:extLst>
          </p:cNvPr>
          <p:cNvSpPr>
            <a:spLocks noGrp="1"/>
          </p:cNvSpPr>
          <p:nvPr/>
        </p:nvSpPr>
        <p:spPr>
          <a:xfrm>
            <a:off x="11049000" y="6534150"/>
            <a:ext cx="552450" cy="171450"/>
          </a:xfrm>
          <a:prstGeom prst="rect">
            <a:avLst/>
          </a:prstGeom>
          <a:noFill/>
          <a:ln w="0">
            <a:noFill/>
            <a:prstDash val="solid"/>
          </a:ln>
        </p:spPr>
        <p:txBody>
          <a:bodyPr anchor="ctr"/>
          <a:lstStyle/>
          <a:p>
            <a:pPr algn="r">
              <a:buNone/>
              <a:defRPr sz="900" b="1">
                <a:solidFill>
                  <a:srgbClr val="F0872B"/>
                </a:solidFill>
              </a:defRPr>
            </a:pPr>
            <a:r>
              <a:rPr sz="900" b="1">
                <a:solidFill>
                  <a:srgbClr val="F0872B"/>
                </a:solidFill>
              </a:rPr>
              <a:t>07</a:t>
            </a:r>
          </a:p>
        </p:txBody>
      </p:sp>
    </p:spTree>
    <p:extLst>
      <p:ext uri="{BB962C8B-B14F-4D97-AF65-F5344CB8AC3E}">
        <p14:creationId xmlns:p14="http://schemas.microsoft.com/office/powerpoint/2010/main" val="18772354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8" name="Rectangle 37">
            <a:extLst>
              <a:ext uri="{FF2B5EF4-FFF2-40B4-BE49-F238E27FC236}">
                <a16:creationId xmlns:a16="http://schemas.microsoft.com/office/drawing/2014/main" id="{2C125439-8805-4A9D-8D84-AC332AFABABA}"/>
              </a:ext>
            </a:extLst>
          </p:cNvPr>
          <p:cNvSpPr>
            <a:spLocks noGrp="1"/>
          </p:cNvSpPr>
          <p:nvPr/>
        </p:nvSpPr>
        <p:spPr>
          <a:xfrm>
            <a:off x="0" y="0"/>
            <a:ext cx="12192000" cy="133350"/>
          </a:xfrm>
          <a:prstGeom prst="rect">
            <a:avLst/>
          </a:prstGeom>
          <a:solidFill>
            <a:srgbClr val="F0872B"/>
          </a:solidFill>
          <a:ln w="9525">
            <a:solidFill>
              <a:srgbClr val="F0872B"/>
            </a:solidFill>
            <a:prstDash val="solid"/>
          </a:ln>
        </p:spPr>
      </p:sp>
      <p:sp>
        <p:nvSpPr>
          <p:cNvPr id="2" name="Rectangle 1">
            <a:extLst>
              <a:ext uri="{FF2B5EF4-FFF2-40B4-BE49-F238E27FC236}">
                <a16:creationId xmlns:a16="http://schemas.microsoft.com/office/drawing/2014/main" id="{3BABF217-4F91-429A-8B1E-CFC985F02F88}"/>
              </a:ext>
            </a:extLst>
          </p:cNvPr>
          <p:cNvSpPr>
            <a:spLocks noGrp="1"/>
          </p:cNvSpPr>
          <p:nvPr/>
        </p:nvSpPr>
        <p:spPr>
          <a:xfrm>
            <a:off x="0" y="133350"/>
            <a:ext cx="12192000" cy="66675"/>
          </a:xfrm>
          <a:prstGeom prst="rect">
            <a:avLst/>
          </a:prstGeom>
          <a:solidFill>
            <a:srgbClr val="2E9B7A"/>
          </a:solidFill>
          <a:ln w="9525">
            <a:solidFill>
              <a:srgbClr val="2E9B7A"/>
            </a:solidFill>
            <a:prstDash val="solid"/>
          </a:ln>
        </p:spPr>
      </p:sp>
      <p:sp>
        <p:nvSpPr>
          <p:cNvPr id="3" name="Rectangle 2">
            <a:extLst>
              <a:ext uri="{FF2B5EF4-FFF2-40B4-BE49-F238E27FC236}">
                <a16:creationId xmlns:a16="http://schemas.microsoft.com/office/drawing/2014/main" id="{3A51E2D7-0C52-47B5-9540-4BB77DD050CE}"/>
              </a:ext>
            </a:extLst>
          </p:cNvPr>
          <p:cNvSpPr>
            <a:spLocks noGrp="1"/>
          </p:cNvSpPr>
          <p:nvPr/>
        </p:nvSpPr>
        <p:spPr>
          <a:xfrm>
            <a:off x="590550" y="361950"/>
            <a:ext cx="6858000" cy="228600"/>
          </a:xfrm>
          <a:prstGeom prst="rect">
            <a:avLst/>
          </a:prstGeom>
          <a:noFill/>
          <a:ln w="0">
            <a:noFill/>
            <a:prstDash val="solid"/>
          </a:ln>
        </p:spPr>
        <p:txBody>
          <a:bodyPr anchor="ctr"/>
          <a:lstStyle/>
          <a:p>
            <a:pPr algn="l">
              <a:buNone/>
              <a:defRPr sz="975" b="1">
                <a:solidFill>
                  <a:srgbClr val="2E9B7A"/>
                </a:solidFill>
              </a:defRPr>
            </a:pPr>
            <a:r>
              <a:rPr sz="975" b="1">
                <a:solidFill>
                  <a:srgbClr val="2E9B7A"/>
                </a:solidFill>
              </a:rPr>
              <a:t>INVESTEC • AUGUST LEARNERSHIP REPORT</a:t>
            </a:r>
          </a:p>
        </p:txBody>
      </p:sp>
      <p:sp>
        <p:nvSpPr>
          <p:cNvPr id="4" name="Rectangle 3">
            <a:extLst>
              <a:ext uri="{FF2B5EF4-FFF2-40B4-BE49-F238E27FC236}">
                <a16:creationId xmlns:a16="http://schemas.microsoft.com/office/drawing/2014/main" id="{37FD2E6B-5A00-432D-A701-2FA7D7DDCEF4}"/>
              </a:ext>
            </a:extLst>
          </p:cNvPr>
          <p:cNvSpPr>
            <a:spLocks noGrp="1"/>
          </p:cNvSpPr>
          <p:nvPr/>
        </p:nvSpPr>
        <p:spPr>
          <a:xfrm>
            <a:off x="590550" y="704850"/>
            <a:ext cx="8572500" cy="533400"/>
          </a:xfrm>
          <a:prstGeom prst="rect">
            <a:avLst/>
          </a:prstGeom>
          <a:noFill/>
          <a:ln w="0">
            <a:noFill/>
            <a:prstDash val="solid"/>
          </a:ln>
        </p:spPr>
        <p:txBody>
          <a:bodyPr anchor="ctr"/>
          <a:lstStyle/>
          <a:p>
            <a:pPr algn="l">
              <a:buNone/>
              <a:defRPr sz="2550" b="1">
                <a:solidFill>
                  <a:srgbClr val="171717"/>
                </a:solidFill>
              </a:defRPr>
            </a:pPr>
            <a:r>
              <a:rPr sz="2550" b="1">
                <a:solidFill>
                  <a:srgbClr val="171717"/>
                </a:solidFill>
              </a:rPr>
              <a:t>A focused three-month investment will protect momentum</a:t>
            </a:r>
          </a:p>
        </p:txBody>
      </p:sp>
      <p:pic>
        <p:nvPicPr>
          <p:cNvPr id="44" name="Picture 43"/>
          <p:cNvPicPr>
            <a:picLocks noChangeAspect="1"/>
          </p:cNvPicPr>
          <p:nvPr/>
        </p:nvPicPr>
        <p:blipFill>
          <a:blip r:embed="rId3"/>
          <a:stretch/>
        </p:blipFill>
        <p:spPr>
          <a:xfrm>
            <a:off x="9620250" y="269398"/>
            <a:ext cx="2000250" cy="756605"/>
          </a:xfrm>
          <a:prstGeom prst="rect">
            <a:avLst/>
          </a:prstGeom>
        </p:spPr>
      </p:pic>
      <p:sp>
        <p:nvSpPr>
          <p:cNvPr id="6" name="Rectangle 5">
            <a:extLst>
              <a:ext uri="{FF2B5EF4-FFF2-40B4-BE49-F238E27FC236}">
                <a16:creationId xmlns:a16="http://schemas.microsoft.com/office/drawing/2014/main" id="{79E07893-1A0F-47DC-8DE0-7D0B3C591426}"/>
              </a:ext>
            </a:extLst>
          </p:cNvPr>
          <p:cNvSpPr>
            <a:spLocks noGrp="1"/>
          </p:cNvSpPr>
          <p:nvPr/>
        </p:nvSpPr>
        <p:spPr>
          <a:xfrm>
            <a:off x="590550" y="1352550"/>
            <a:ext cx="11010900" cy="28575"/>
          </a:xfrm>
          <a:prstGeom prst="rect">
            <a:avLst/>
          </a:prstGeom>
          <a:solidFill>
            <a:srgbClr val="F0872B"/>
          </a:solidFill>
          <a:ln w="9525">
            <a:solidFill>
              <a:srgbClr val="F0872B"/>
            </a:solidFill>
            <a:prstDash val="solid"/>
          </a:ln>
        </p:spPr>
      </p:sp>
      <p:sp>
        <p:nvSpPr>
          <p:cNvPr id="7" name="Rectangle: Rounded Corners 6">
            <a:extLst>
              <a:ext uri="{FF2B5EF4-FFF2-40B4-BE49-F238E27FC236}">
                <a16:creationId xmlns:a16="http://schemas.microsoft.com/office/drawing/2014/main" id="{3091D2D5-B7A7-482C-8260-CAAB5B17A623}"/>
              </a:ext>
            </a:extLst>
          </p:cNvPr>
          <p:cNvSpPr>
            <a:spLocks noGrp="1"/>
          </p:cNvSpPr>
          <p:nvPr/>
        </p:nvSpPr>
        <p:spPr>
          <a:xfrm>
            <a:off x="590550" y="1695450"/>
            <a:ext cx="685800" cy="685800"/>
          </a:xfrm>
          <a:prstGeom prst="roundRect">
            <a:avLst>
              <a:gd name="adj" fmla="val 11111"/>
            </a:avLst>
          </a:prstGeom>
          <a:solidFill>
            <a:srgbClr val="F0872B"/>
          </a:solidFill>
          <a:ln w="9525">
            <a:solidFill>
              <a:srgbClr val="F0872B"/>
            </a:solidFill>
            <a:prstDash val="solid"/>
          </a:ln>
        </p:spPr>
      </p:sp>
      <p:sp>
        <p:nvSpPr>
          <p:cNvPr id="8" name="Rectangle 7">
            <a:extLst>
              <a:ext uri="{FF2B5EF4-FFF2-40B4-BE49-F238E27FC236}">
                <a16:creationId xmlns:a16="http://schemas.microsoft.com/office/drawing/2014/main" id="{3F4BBFC5-D1DE-449B-8DDC-A4230CA13EF5}"/>
              </a:ext>
            </a:extLst>
          </p:cNvPr>
          <p:cNvSpPr>
            <a:spLocks noGrp="1"/>
          </p:cNvSpPr>
          <p:nvPr/>
        </p:nvSpPr>
        <p:spPr>
          <a:xfrm>
            <a:off x="590550" y="1695450"/>
            <a:ext cx="685800" cy="685800"/>
          </a:xfrm>
          <a:prstGeom prst="rect">
            <a:avLst/>
          </a:prstGeom>
          <a:noFill/>
          <a:ln w="0">
            <a:noFill/>
            <a:prstDash val="solid"/>
          </a:ln>
        </p:spPr>
        <p:txBody>
          <a:bodyPr anchor="ctr"/>
          <a:lstStyle/>
          <a:p>
            <a:pPr algn="ctr">
              <a:buNone/>
              <a:defRPr sz="1575" b="1">
                <a:solidFill>
                  <a:srgbClr val="FFFFFF"/>
                </a:solidFill>
              </a:defRPr>
            </a:pPr>
            <a:r>
              <a:rPr sz="1575" b="1">
                <a:solidFill>
                  <a:srgbClr val="FFFFFF"/>
                </a:solidFill>
              </a:rPr>
              <a:t>01</a:t>
            </a:r>
          </a:p>
        </p:txBody>
      </p:sp>
      <p:sp>
        <p:nvSpPr>
          <p:cNvPr id="9" name="Rectangle 8">
            <a:extLst>
              <a:ext uri="{FF2B5EF4-FFF2-40B4-BE49-F238E27FC236}">
                <a16:creationId xmlns:a16="http://schemas.microsoft.com/office/drawing/2014/main" id="{4139C66F-F7CB-478B-B746-7AD89AD54C20}"/>
              </a:ext>
            </a:extLst>
          </p:cNvPr>
          <p:cNvSpPr>
            <a:spLocks noGrp="1"/>
          </p:cNvSpPr>
          <p:nvPr/>
        </p:nvSpPr>
        <p:spPr>
          <a:xfrm>
            <a:off x="1524000" y="1695450"/>
            <a:ext cx="4095750" cy="285750"/>
          </a:xfrm>
          <a:prstGeom prst="rect">
            <a:avLst/>
          </a:prstGeom>
          <a:noFill/>
          <a:ln w="0">
            <a:noFill/>
            <a:prstDash val="solid"/>
          </a:ln>
        </p:spPr>
        <p:txBody>
          <a:bodyPr anchor="ctr"/>
          <a:lstStyle/>
          <a:p>
            <a:pPr algn="l">
              <a:buNone/>
              <a:defRPr sz="1425" b="1">
                <a:solidFill>
                  <a:srgbClr val="171717"/>
                </a:solidFill>
              </a:defRPr>
            </a:pPr>
            <a:r>
              <a:rPr sz="1425" b="1">
                <a:solidFill>
                  <a:srgbClr val="171717"/>
                </a:solidFill>
              </a:rPr>
              <a:t>Approve targeted contact time</a:t>
            </a:r>
          </a:p>
        </p:txBody>
      </p:sp>
      <p:sp>
        <p:nvSpPr>
          <p:cNvPr id="10" name="Rectangle 9">
            <a:extLst>
              <a:ext uri="{FF2B5EF4-FFF2-40B4-BE49-F238E27FC236}">
                <a16:creationId xmlns:a16="http://schemas.microsoft.com/office/drawing/2014/main" id="{AA2E1C77-398D-42BB-A3F2-FB53A68377F8}"/>
              </a:ext>
            </a:extLst>
          </p:cNvPr>
          <p:cNvSpPr>
            <a:spLocks noGrp="1"/>
          </p:cNvSpPr>
          <p:nvPr/>
        </p:nvSpPr>
        <p:spPr>
          <a:xfrm>
            <a:off x="1524000" y="2047875"/>
            <a:ext cx="4476750" cy="438150"/>
          </a:xfrm>
          <a:prstGeom prst="rect">
            <a:avLst/>
          </a:prstGeom>
          <a:noFill/>
          <a:ln w="0">
            <a:noFill/>
            <a:prstDash val="solid"/>
          </a:ln>
        </p:spPr>
        <p:txBody>
          <a:bodyPr anchor="t"/>
          <a:lstStyle/>
          <a:p>
            <a:pPr algn="l">
              <a:buNone/>
              <a:defRPr sz="1125" b="0">
                <a:solidFill>
                  <a:srgbClr val="62676B"/>
                </a:solidFill>
              </a:defRPr>
            </a:pPr>
            <a:r>
              <a:rPr sz="1125" b="0">
                <a:solidFill>
                  <a:srgbClr val="62676B"/>
                </a:solidFill>
              </a:rPr>
              <a:t>Increase delivery to six contact days per month for the next three months.</a:t>
            </a:r>
          </a:p>
        </p:txBody>
      </p:sp>
      <p:sp>
        <p:nvSpPr>
          <p:cNvPr id="11" name="Rectangle: Rounded Corners 10">
            <a:extLst>
              <a:ext uri="{FF2B5EF4-FFF2-40B4-BE49-F238E27FC236}">
                <a16:creationId xmlns:a16="http://schemas.microsoft.com/office/drawing/2014/main" id="{1ECC67D3-18B7-4AFE-BC54-5F98E71AE2D9}"/>
              </a:ext>
            </a:extLst>
          </p:cNvPr>
          <p:cNvSpPr>
            <a:spLocks noGrp="1"/>
          </p:cNvSpPr>
          <p:nvPr/>
        </p:nvSpPr>
        <p:spPr>
          <a:xfrm>
            <a:off x="590550" y="2638425"/>
            <a:ext cx="685800" cy="685800"/>
          </a:xfrm>
          <a:prstGeom prst="roundRect">
            <a:avLst>
              <a:gd name="adj" fmla="val 11111"/>
            </a:avLst>
          </a:prstGeom>
          <a:solidFill>
            <a:srgbClr val="2E9B7A"/>
          </a:solidFill>
          <a:ln w="9525">
            <a:solidFill>
              <a:srgbClr val="2E9B7A"/>
            </a:solidFill>
            <a:prstDash val="solid"/>
          </a:ln>
        </p:spPr>
      </p:sp>
      <p:sp>
        <p:nvSpPr>
          <p:cNvPr id="12" name="Rectangle 11">
            <a:extLst>
              <a:ext uri="{FF2B5EF4-FFF2-40B4-BE49-F238E27FC236}">
                <a16:creationId xmlns:a16="http://schemas.microsoft.com/office/drawing/2014/main" id="{057AEDFF-1D59-4E88-9779-533C66FBEC73}"/>
              </a:ext>
            </a:extLst>
          </p:cNvPr>
          <p:cNvSpPr>
            <a:spLocks noGrp="1"/>
          </p:cNvSpPr>
          <p:nvPr/>
        </p:nvSpPr>
        <p:spPr>
          <a:xfrm>
            <a:off x="590550" y="2638425"/>
            <a:ext cx="685800" cy="685800"/>
          </a:xfrm>
          <a:prstGeom prst="rect">
            <a:avLst/>
          </a:prstGeom>
          <a:noFill/>
          <a:ln w="0">
            <a:noFill/>
            <a:prstDash val="solid"/>
          </a:ln>
        </p:spPr>
        <p:txBody>
          <a:bodyPr anchor="ctr"/>
          <a:lstStyle/>
          <a:p>
            <a:pPr algn="ctr">
              <a:buNone/>
              <a:defRPr sz="1575" b="1">
                <a:solidFill>
                  <a:srgbClr val="FFFFFF"/>
                </a:solidFill>
              </a:defRPr>
            </a:pPr>
            <a:r>
              <a:rPr sz="1575" b="1">
                <a:solidFill>
                  <a:srgbClr val="FFFFFF"/>
                </a:solidFill>
              </a:rPr>
              <a:t>02</a:t>
            </a:r>
          </a:p>
        </p:txBody>
      </p:sp>
      <p:sp>
        <p:nvSpPr>
          <p:cNvPr id="13" name="Rectangle 12">
            <a:extLst>
              <a:ext uri="{FF2B5EF4-FFF2-40B4-BE49-F238E27FC236}">
                <a16:creationId xmlns:a16="http://schemas.microsoft.com/office/drawing/2014/main" id="{B021DAC2-B6D4-479B-B801-D24C4CE3EBEF}"/>
              </a:ext>
            </a:extLst>
          </p:cNvPr>
          <p:cNvSpPr>
            <a:spLocks noGrp="1"/>
          </p:cNvSpPr>
          <p:nvPr/>
        </p:nvSpPr>
        <p:spPr>
          <a:xfrm>
            <a:off x="1524000" y="2638425"/>
            <a:ext cx="4095750" cy="285750"/>
          </a:xfrm>
          <a:prstGeom prst="rect">
            <a:avLst/>
          </a:prstGeom>
          <a:noFill/>
          <a:ln w="0">
            <a:noFill/>
            <a:prstDash val="solid"/>
          </a:ln>
        </p:spPr>
        <p:txBody>
          <a:bodyPr anchor="ctr"/>
          <a:lstStyle/>
          <a:p>
            <a:pPr algn="l">
              <a:buNone/>
              <a:defRPr sz="1425" b="1">
                <a:solidFill>
                  <a:srgbClr val="171717"/>
                </a:solidFill>
              </a:defRPr>
            </a:pPr>
            <a:r>
              <a:rPr sz="1425" b="1">
                <a:solidFill>
                  <a:srgbClr val="171717"/>
                </a:solidFill>
              </a:rPr>
              <a:t>Complete assessor finalisation</a:t>
            </a:r>
          </a:p>
        </p:txBody>
      </p:sp>
      <p:sp>
        <p:nvSpPr>
          <p:cNvPr id="14" name="Rectangle 13">
            <a:extLst>
              <a:ext uri="{FF2B5EF4-FFF2-40B4-BE49-F238E27FC236}">
                <a16:creationId xmlns:a16="http://schemas.microsoft.com/office/drawing/2014/main" id="{6538EC85-9E6E-46CB-A33C-D65E170C2460}"/>
              </a:ext>
            </a:extLst>
          </p:cNvPr>
          <p:cNvSpPr>
            <a:spLocks noGrp="1"/>
          </p:cNvSpPr>
          <p:nvPr/>
        </p:nvSpPr>
        <p:spPr>
          <a:xfrm>
            <a:off x="1524000" y="2990850"/>
            <a:ext cx="4476750" cy="438150"/>
          </a:xfrm>
          <a:prstGeom prst="rect">
            <a:avLst/>
          </a:prstGeom>
          <a:noFill/>
          <a:ln w="0">
            <a:noFill/>
            <a:prstDash val="solid"/>
          </a:ln>
        </p:spPr>
        <p:txBody>
          <a:bodyPr anchor="t"/>
          <a:lstStyle/>
          <a:p>
            <a:pPr algn="l">
              <a:buNone/>
              <a:defRPr sz="1125" b="0">
                <a:solidFill>
                  <a:srgbClr val="62676B"/>
                </a:solidFill>
              </a:defRPr>
            </a:pPr>
            <a:r>
              <a:rPr sz="1125" b="0">
                <a:solidFill>
                  <a:srgbClr val="62676B"/>
                </a:solidFill>
              </a:rPr>
              <a:t>Complete logbook marking, submission review and the required documentation.</a:t>
            </a:r>
          </a:p>
        </p:txBody>
      </p:sp>
      <p:sp>
        <p:nvSpPr>
          <p:cNvPr id="15" name="Rectangle: Rounded Corners 14">
            <a:extLst>
              <a:ext uri="{FF2B5EF4-FFF2-40B4-BE49-F238E27FC236}">
                <a16:creationId xmlns:a16="http://schemas.microsoft.com/office/drawing/2014/main" id="{6076F394-A049-4AB4-8559-93FAD69AEE3B}"/>
              </a:ext>
            </a:extLst>
          </p:cNvPr>
          <p:cNvSpPr>
            <a:spLocks noGrp="1"/>
          </p:cNvSpPr>
          <p:nvPr/>
        </p:nvSpPr>
        <p:spPr>
          <a:xfrm>
            <a:off x="590550" y="3581400"/>
            <a:ext cx="685800" cy="685800"/>
          </a:xfrm>
          <a:prstGeom prst="roundRect">
            <a:avLst>
              <a:gd name="adj" fmla="val 11111"/>
            </a:avLst>
          </a:prstGeom>
          <a:solidFill>
            <a:srgbClr val="F5D24C"/>
          </a:solidFill>
          <a:ln w="9525">
            <a:solidFill>
              <a:srgbClr val="F5D24C"/>
            </a:solidFill>
            <a:prstDash val="solid"/>
          </a:ln>
        </p:spPr>
      </p:sp>
      <p:sp>
        <p:nvSpPr>
          <p:cNvPr id="16" name="Rectangle 15">
            <a:extLst>
              <a:ext uri="{FF2B5EF4-FFF2-40B4-BE49-F238E27FC236}">
                <a16:creationId xmlns:a16="http://schemas.microsoft.com/office/drawing/2014/main" id="{D59EC940-03D2-415E-B737-F9FEE9EB1710}"/>
              </a:ext>
            </a:extLst>
          </p:cNvPr>
          <p:cNvSpPr>
            <a:spLocks noGrp="1"/>
          </p:cNvSpPr>
          <p:nvPr/>
        </p:nvSpPr>
        <p:spPr>
          <a:xfrm>
            <a:off x="590550" y="3581400"/>
            <a:ext cx="685800" cy="685800"/>
          </a:xfrm>
          <a:prstGeom prst="rect">
            <a:avLst/>
          </a:prstGeom>
          <a:noFill/>
          <a:ln w="0">
            <a:noFill/>
            <a:prstDash val="solid"/>
          </a:ln>
        </p:spPr>
        <p:txBody>
          <a:bodyPr anchor="ctr"/>
          <a:lstStyle/>
          <a:p>
            <a:pPr algn="ctr">
              <a:buNone/>
              <a:defRPr sz="1575" b="1">
                <a:solidFill>
                  <a:srgbClr val="171717"/>
                </a:solidFill>
              </a:defRPr>
            </a:pPr>
            <a:r>
              <a:rPr sz="1575" b="1">
                <a:solidFill>
                  <a:srgbClr val="171717"/>
                </a:solidFill>
              </a:rPr>
              <a:t>03</a:t>
            </a:r>
          </a:p>
        </p:txBody>
      </p:sp>
      <p:sp>
        <p:nvSpPr>
          <p:cNvPr id="17" name="Rectangle 16">
            <a:extLst>
              <a:ext uri="{FF2B5EF4-FFF2-40B4-BE49-F238E27FC236}">
                <a16:creationId xmlns:a16="http://schemas.microsoft.com/office/drawing/2014/main" id="{38926144-86F3-41FB-BD87-AD5748FF314E}"/>
              </a:ext>
            </a:extLst>
          </p:cNvPr>
          <p:cNvSpPr>
            <a:spLocks noGrp="1"/>
          </p:cNvSpPr>
          <p:nvPr/>
        </p:nvSpPr>
        <p:spPr>
          <a:xfrm>
            <a:off x="1524000" y="3581400"/>
            <a:ext cx="4095750" cy="285750"/>
          </a:xfrm>
          <a:prstGeom prst="rect">
            <a:avLst/>
          </a:prstGeom>
          <a:noFill/>
          <a:ln w="0">
            <a:noFill/>
            <a:prstDash val="solid"/>
          </a:ln>
        </p:spPr>
        <p:txBody>
          <a:bodyPr anchor="ctr"/>
          <a:lstStyle/>
          <a:p>
            <a:pPr algn="l">
              <a:buNone/>
              <a:defRPr sz="1425" b="1">
                <a:solidFill>
                  <a:srgbClr val="171717"/>
                </a:solidFill>
              </a:defRPr>
            </a:pPr>
            <a:r>
              <a:rPr sz="1425" b="1">
                <a:solidFill>
                  <a:srgbClr val="171717"/>
                </a:solidFill>
              </a:rPr>
              <a:t>Build platform confidence</a:t>
            </a:r>
          </a:p>
        </p:txBody>
      </p:sp>
      <p:sp>
        <p:nvSpPr>
          <p:cNvPr id="18" name="Rectangle 17">
            <a:extLst>
              <a:ext uri="{FF2B5EF4-FFF2-40B4-BE49-F238E27FC236}">
                <a16:creationId xmlns:a16="http://schemas.microsoft.com/office/drawing/2014/main" id="{0E95FD9B-EAE4-4F74-931E-21D761901F12}"/>
              </a:ext>
            </a:extLst>
          </p:cNvPr>
          <p:cNvSpPr>
            <a:spLocks noGrp="1"/>
          </p:cNvSpPr>
          <p:nvPr/>
        </p:nvSpPr>
        <p:spPr>
          <a:xfrm>
            <a:off x="1524000" y="3933825"/>
            <a:ext cx="4476750" cy="438150"/>
          </a:xfrm>
          <a:prstGeom prst="rect">
            <a:avLst/>
          </a:prstGeom>
          <a:noFill/>
          <a:ln w="0">
            <a:noFill/>
            <a:prstDash val="solid"/>
          </a:ln>
        </p:spPr>
        <p:txBody>
          <a:bodyPr anchor="t"/>
          <a:lstStyle/>
          <a:p>
            <a:pPr algn="l">
              <a:buNone/>
              <a:defRPr sz="1125" b="0">
                <a:solidFill>
                  <a:srgbClr val="62676B"/>
                </a:solidFill>
              </a:defRPr>
            </a:pPr>
            <a:r>
              <a:rPr sz="1125" b="0">
                <a:solidFill>
                  <a:srgbClr val="62676B"/>
                </a:solidFill>
              </a:rPr>
              <a:t>Reinforce submission, progress tracking and independent study habits during contact time.</a:t>
            </a:r>
          </a:p>
        </p:txBody>
      </p:sp>
      <p:sp>
        <p:nvSpPr>
          <p:cNvPr id="19" name="Rectangle: Rounded Corners 18">
            <a:extLst>
              <a:ext uri="{FF2B5EF4-FFF2-40B4-BE49-F238E27FC236}">
                <a16:creationId xmlns:a16="http://schemas.microsoft.com/office/drawing/2014/main" id="{87E716A8-A640-41ED-9882-4EF950000183}"/>
              </a:ext>
            </a:extLst>
          </p:cNvPr>
          <p:cNvSpPr>
            <a:spLocks noGrp="1"/>
          </p:cNvSpPr>
          <p:nvPr/>
        </p:nvSpPr>
        <p:spPr>
          <a:xfrm>
            <a:off x="590550" y="4524375"/>
            <a:ext cx="685800" cy="685800"/>
          </a:xfrm>
          <a:prstGeom prst="roundRect">
            <a:avLst>
              <a:gd name="adj" fmla="val 11111"/>
            </a:avLst>
          </a:prstGeom>
          <a:solidFill>
            <a:srgbClr val="DCC0A0"/>
          </a:solidFill>
          <a:ln w="9525">
            <a:solidFill>
              <a:srgbClr val="DCC0A0"/>
            </a:solidFill>
            <a:prstDash val="solid"/>
          </a:ln>
        </p:spPr>
      </p:sp>
      <p:sp>
        <p:nvSpPr>
          <p:cNvPr id="20" name="Rectangle 19">
            <a:extLst>
              <a:ext uri="{FF2B5EF4-FFF2-40B4-BE49-F238E27FC236}">
                <a16:creationId xmlns:a16="http://schemas.microsoft.com/office/drawing/2014/main" id="{69C4150D-02A2-494C-817E-0D908CAFF4AD}"/>
              </a:ext>
            </a:extLst>
          </p:cNvPr>
          <p:cNvSpPr>
            <a:spLocks noGrp="1"/>
          </p:cNvSpPr>
          <p:nvPr/>
        </p:nvSpPr>
        <p:spPr>
          <a:xfrm>
            <a:off x="590550" y="4524375"/>
            <a:ext cx="685800" cy="685800"/>
          </a:xfrm>
          <a:prstGeom prst="rect">
            <a:avLst/>
          </a:prstGeom>
          <a:noFill/>
          <a:ln w="0">
            <a:noFill/>
            <a:prstDash val="solid"/>
          </a:ln>
        </p:spPr>
        <p:txBody>
          <a:bodyPr anchor="ctr"/>
          <a:lstStyle/>
          <a:p>
            <a:pPr algn="ctr">
              <a:buNone/>
              <a:defRPr sz="1575" b="1">
                <a:solidFill>
                  <a:srgbClr val="FFFFFF"/>
                </a:solidFill>
              </a:defRPr>
            </a:pPr>
            <a:r>
              <a:rPr sz="1575" b="1">
                <a:solidFill>
                  <a:srgbClr val="FFFFFF"/>
                </a:solidFill>
              </a:rPr>
              <a:t>04</a:t>
            </a:r>
          </a:p>
        </p:txBody>
      </p:sp>
      <p:sp>
        <p:nvSpPr>
          <p:cNvPr id="21" name="Rectangle 20">
            <a:extLst>
              <a:ext uri="{FF2B5EF4-FFF2-40B4-BE49-F238E27FC236}">
                <a16:creationId xmlns:a16="http://schemas.microsoft.com/office/drawing/2014/main" id="{82FB42D2-4E0C-4060-AEB5-47A637822302}"/>
              </a:ext>
            </a:extLst>
          </p:cNvPr>
          <p:cNvSpPr>
            <a:spLocks noGrp="1"/>
          </p:cNvSpPr>
          <p:nvPr/>
        </p:nvSpPr>
        <p:spPr>
          <a:xfrm>
            <a:off x="1524000" y="4524375"/>
            <a:ext cx="4095750" cy="285750"/>
          </a:xfrm>
          <a:prstGeom prst="rect">
            <a:avLst/>
          </a:prstGeom>
          <a:noFill/>
          <a:ln w="0">
            <a:noFill/>
            <a:prstDash val="solid"/>
          </a:ln>
        </p:spPr>
        <p:txBody>
          <a:bodyPr anchor="ctr"/>
          <a:lstStyle/>
          <a:p>
            <a:pPr algn="l">
              <a:buNone/>
              <a:defRPr sz="1425" b="1">
                <a:solidFill>
                  <a:srgbClr val="171717"/>
                </a:solidFill>
              </a:defRPr>
            </a:pPr>
            <a:r>
              <a:rPr sz="1425" b="1">
                <a:solidFill>
                  <a:srgbClr val="171717"/>
                </a:solidFill>
              </a:rPr>
              <a:t>Return to standard rhythm</a:t>
            </a:r>
          </a:p>
        </p:txBody>
      </p:sp>
      <p:sp>
        <p:nvSpPr>
          <p:cNvPr id="22" name="Rectangle 21">
            <a:extLst>
              <a:ext uri="{FF2B5EF4-FFF2-40B4-BE49-F238E27FC236}">
                <a16:creationId xmlns:a16="http://schemas.microsoft.com/office/drawing/2014/main" id="{AF752ED3-5D12-4481-8A10-558271164F81}"/>
              </a:ext>
            </a:extLst>
          </p:cNvPr>
          <p:cNvSpPr>
            <a:spLocks noGrp="1"/>
          </p:cNvSpPr>
          <p:nvPr/>
        </p:nvSpPr>
        <p:spPr>
          <a:xfrm>
            <a:off x="1524000" y="4876800"/>
            <a:ext cx="4476750" cy="438150"/>
          </a:xfrm>
          <a:prstGeom prst="rect">
            <a:avLst/>
          </a:prstGeom>
          <a:noFill/>
          <a:ln w="0">
            <a:noFill/>
            <a:prstDash val="solid"/>
          </a:ln>
        </p:spPr>
        <p:txBody>
          <a:bodyPr anchor="t"/>
          <a:lstStyle/>
          <a:p>
            <a:pPr algn="l">
              <a:buNone/>
              <a:defRPr sz="1125" b="0">
                <a:solidFill>
                  <a:srgbClr val="62676B"/>
                </a:solidFill>
              </a:defRPr>
            </a:pPr>
            <a:r>
              <a:rPr sz="1125" b="0">
                <a:solidFill>
                  <a:srgbClr val="62676B"/>
                </a:solidFill>
              </a:rPr>
              <a:t>Resume four contact days per month once independent learning habits are established.</a:t>
            </a:r>
          </a:p>
        </p:txBody>
      </p:sp>
      <p:sp>
        <p:nvSpPr>
          <p:cNvPr id="23" name="Rectangle: Rounded Corners 22">
            <a:extLst>
              <a:ext uri="{FF2B5EF4-FFF2-40B4-BE49-F238E27FC236}">
                <a16:creationId xmlns:a16="http://schemas.microsoft.com/office/drawing/2014/main" id="{C838AE0D-C24C-49AD-A593-0D66635B2B82}"/>
              </a:ext>
            </a:extLst>
          </p:cNvPr>
          <p:cNvSpPr>
            <a:spLocks noGrp="1"/>
          </p:cNvSpPr>
          <p:nvPr/>
        </p:nvSpPr>
        <p:spPr>
          <a:xfrm>
            <a:off x="6667500" y="1695450"/>
            <a:ext cx="4933950" cy="3581400"/>
          </a:xfrm>
          <a:prstGeom prst="roundRect">
            <a:avLst>
              <a:gd name="adj" fmla="val 2128"/>
            </a:avLst>
          </a:prstGeom>
          <a:solidFill>
            <a:srgbClr val="F7F5F1"/>
          </a:solidFill>
          <a:ln w="0">
            <a:noFill/>
            <a:prstDash val="solid"/>
          </a:ln>
        </p:spPr>
      </p:sp>
      <p:sp>
        <p:nvSpPr>
          <p:cNvPr id="24" name="Rectangle 23">
            <a:extLst>
              <a:ext uri="{FF2B5EF4-FFF2-40B4-BE49-F238E27FC236}">
                <a16:creationId xmlns:a16="http://schemas.microsoft.com/office/drawing/2014/main" id="{D7EED36C-0CE4-4101-AB5D-26CD51A392E2}"/>
              </a:ext>
            </a:extLst>
          </p:cNvPr>
          <p:cNvSpPr>
            <a:spLocks noGrp="1"/>
          </p:cNvSpPr>
          <p:nvPr/>
        </p:nvSpPr>
        <p:spPr>
          <a:xfrm>
            <a:off x="6953250" y="1971675"/>
            <a:ext cx="4286250" cy="247650"/>
          </a:xfrm>
          <a:prstGeom prst="rect">
            <a:avLst/>
          </a:prstGeom>
          <a:noFill/>
          <a:ln w="0">
            <a:noFill/>
            <a:prstDash val="solid"/>
          </a:ln>
        </p:spPr>
        <p:txBody>
          <a:bodyPr anchor="ctr"/>
          <a:lstStyle/>
          <a:p>
            <a:pPr algn="l">
              <a:buNone/>
              <a:defRPr sz="1050" b="1">
                <a:solidFill>
                  <a:srgbClr val="2E9B7A"/>
                </a:solidFill>
              </a:defRPr>
            </a:pPr>
            <a:r>
              <a:rPr sz="1050" b="1">
                <a:solidFill>
                  <a:srgbClr val="2E9B7A"/>
                </a:solidFill>
              </a:rPr>
              <a:t>PROPOSED SUPPORT MODEL</a:t>
            </a:r>
          </a:p>
        </p:txBody>
      </p:sp>
      <p:sp>
        <p:nvSpPr>
          <p:cNvPr id="25" name="Rectangle 24">
            <a:extLst>
              <a:ext uri="{FF2B5EF4-FFF2-40B4-BE49-F238E27FC236}">
                <a16:creationId xmlns:a16="http://schemas.microsoft.com/office/drawing/2014/main" id="{24596D63-C466-4F02-929C-258E3160DE38}"/>
              </a:ext>
            </a:extLst>
          </p:cNvPr>
          <p:cNvSpPr>
            <a:spLocks noGrp="1"/>
          </p:cNvSpPr>
          <p:nvPr/>
        </p:nvSpPr>
        <p:spPr>
          <a:xfrm>
            <a:off x="6953250" y="2400300"/>
            <a:ext cx="1047750" cy="428625"/>
          </a:xfrm>
          <a:prstGeom prst="rect">
            <a:avLst/>
          </a:prstGeom>
          <a:noFill/>
          <a:ln w="0">
            <a:noFill/>
            <a:prstDash val="solid"/>
          </a:ln>
        </p:spPr>
        <p:txBody>
          <a:bodyPr anchor="ctr"/>
          <a:lstStyle/>
          <a:p>
            <a:pPr algn="l">
              <a:buNone/>
              <a:defRPr sz="2250" b="1">
                <a:solidFill>
                  <a:srgbClr val="2E9B7A"/>
                </a:solidFill>
              </a:defRPr>
            </a:pPr>
            <a:r>
              <a:rPr sz="2250" b="1">
                <a:solidFill>
                  <a:srgbClr val="2E9B7A"/>
                </a:solidFill>
              </a:rPr>
              <a:t>3</a:t>
            </a:r>
          </a:p>
        </p:txBody>
      </p:sp>
      <p:sp>
        <p:nvSpPr>
          <p:cNvPr id="26" name="Rectangle 25">
            <a:extLst>
              <a:ext uri="{FF2B5EF4-FFF2-40B4-BE49-F238E27FC236}">
                <a16:creationId xmlns:a16="http://schemas.microsoft.com/office/drawing/2014/main" id="{CD60CCF2-62EC-43E2-B58E-764DF976B69A}"/>
              </a:ext>
            </a:extLst>
          </p:cNvPr>
          <p:cNvSpPr>
            <a:spLocks noGrp="1"/>
          </p:cNvSpPr>
          <p:nvPr/>
        </p:nvSpPr>
        <p:spPr>
          <a:xfrm>
            <a:off x="8096250" y="2400300"/>
            <a:ext cx="3048000" cy="428625"/>
          </a:xfrm>
          <a:prstGeom prst="rect">
            <a:avLst/>
          </a:prstGeom>
          <a:noFill/>
          <a:ln w="0">
            <a:noFill/>
            <a:prstDash val="solid"/>
          </a:ln>
        </p:spPr>
        <p:txBody>
          <a:bodyPr anchor="ctr"/>
          <a:lstStyle/>
          <a:p>
            <a:pPr algn="l">
              <a:buNone/>
              <a:defRPr sz="1275" b="1">
                <a:solidFill>
                  <a:srgbClr val="171717"/>
                </a:solidFill>
              </a:defRPr>
            </a:pPr>
            <a:r>
              <a:rPr sz="1275" b="1">
                <a:solidFill>
                  <a:srgbClr val="171717"/>
                </a:solidFill>
              </a:rPr>
              <a:t>months of targeted support</a:t>
            </a:r>
          </a:p>
        </p:txBody>
      </p:sp>
      <p:sp>
        <p:nvSpPr>
          <p:cNvPr id="27" name="Rectangle 26">
            <a:extLst>
              <a:ext uri="{FF2B5EF4-FFF2-40B4-BE49-F238E27FC236}">
                <a16:creationId xmlns:a16="http://schemas.microsoft.com/office/drawing/2014/main" id="{BFB50011-189D-4155-9C47-3BC816BB1AE1}"/>
              </a:ext>
            </a:extLst>
          </p:cNvPr>
          <p:cNvSpPr>
            <a:spLocks noGrp="1"/>
          </p:cNvSpPr>
          <p:nvPr/>
        </p:nvSpPr>
        <p:spPr>
          <a:xfrm>
            <a:off x="6953250" y="3028950"/>
            <a:ext cx="1047750" cy="428625"/>
          </a:xfrm>
          <a:prstGeom prst="rect">
            <a:avLst/>
          </a:prstGeom>
          <a:noFill/>
          <a:ln w="0">
            <a:noFill/>
            <a:prstDash val="solid"/>
          </a:ln>
        </p:spPr>
        <p:txBody>
          <a:bodyPr anchor="ctr"/>
          <a:lstStyle/>
          <a:p>
            <a:pPr algn="l">
              <a:buNone/>
              <a:defRPr sz="2250" b="1">
                <a:solidFill>
                  <a:srgbClr val="F0872B"/>
                </a:solidFill>
              </a:defRPr>
            </a:pPr>
            <a:r>
              <a:rPr sz="2250" b="1">
                <a:solidFill>
                  <a:srgbClr val="F0872B"/>
                </a:solidFill>
              </a:rPr>
              <a:t>2</a:t>
            </a:r>
          </a:p>
        </p:txBody>
      </p:sp>
      <p:sp>
        <p:nvSpPr>
          <p:cNvPr id="28" name="Rectangle 27">
            <a:extLst>
              <a:ext uri="{FF2B5EF4-FFF2-40B4-BE49-F238E27FC236}">
                <a16:creationId xmlns:a16="http://schemas.microsoft.com/office/drawing/2014/main" id="{0B7E5F5F-8CB5-4933-8845-20C1FBF43E10}"/>
              </a:ext>
            </a:extLst>
          </p:cNvPr>
          <p:cNvSpPr>
            <a:spLocks noGrp="1"/>
          </p:cNvSpPr>
          <p:nvPr/>
        </p:nvSpPr>
        <p:spPr>
          <a:xfrm>
            <a:off x="8096250" y="3028950"/>
            <a:ext cx="3048000" cy="428625"/>
          </a:xfrm>
          <a:prstGeom prst="rect">
            <a:avLst/>
          </a:prstGeom>
          <a:noFill/>
          <a:ln w="0">
            <a:noFill/>
            <a:prstDash val="solid"/>
          </a:ln>
        </p:spPr>
        <p:txBody>
          <a:bodyPr anchor="ctr"/>
          <a:lstStyle/>
          <a:p>
            <a:pPr algn="l">
              <a:buNone/>
              <a:defRPr sz="1275" b="1">
                <a:solidFill>
                  <a:srgbClr val="171717"/>
                </a:solidFill>
              </a:defRPr>
            </a:pPr>
            <a:r>
              <a:rPr sz="1275" b="1">
                <a:solidFill>
                  <a:srgbClr val="171717"/>
                </a:solidFill>
              </a:rPr>
              <a:t>additional days per month</a:t>
            </a:r>
          </a:p>
        </p:txBody>
      </p:sp>
      <p:sp>
        <p:nvSpPr>
          <p:cNvPr id="29" name="Rectangle 28">
            <a:extLst>
              <a:ext uri="{FF2B5EF4-FFF2-40B4-BE49-F238E27FC236}">
                <a16:creationId xmlns:a16="http://schemas.microsoft.com/office/drawing/2014/main" id="{8A51F359-8BA3-4F7F-A10D-8000D13387FA}"/>
              </a:ext>
            </a:extLst>
          </p:cNvPr>
          <p:cNvSpPr>
            <a:spLocks noGrp="1"/>
          </p:cNvSpPr>
          <p:nvPr/>
        </p:nvSpPr>
        <p:spPr>
          <a:xfrm>
            <a:off x="6953250" y="3657600"/>
            <a:ext cx="1047750" cy="428625"/>
          </a:xfrm>
          <a:prstGeom prst="rect">
            <a:avLst/>
          </a:prstGeom>
          <a:noFill/>
          <a:ln w="0">
            <a:noFill/>
            <a:prstDash val="solid"/>
          </a:ln>
        </p:spPr>
        <p:txBody>
          <a:bodyPr anchor="ctr"/>
          <a:lstStyle/>
          <a:p>
            <a:pPr algn="l">
              <a:buNone/>
              <a:defRPr sz="2250" b="1">
                <a:solidFill>
                  <a:srgbClr val="F5D24C"/>
                </a:solidFill>
              </a:defRPr>
            </a:pPr>
            <a:r>
              <a:rPr sz="2250" b="1">
                <a:solidFill>
                  <a:srgbClr val="F5D24C"/>
                </a:solidFill>
              </a:rPr>
              <a:t>4</a:t>
            </a:r>
          </a:p>
        </p:txBody>
      </p:sp>
      <p:sp>
        <p:nvSpPr>
          <p:cNvPr id="30" name="Rectangle 29">
            <a:extLst>
              <a:ext uri="{FF2B5EF4-FFF2-40B4-BE49-F238E27FC236}">
                <a16:creationId xmlns:a16="http://schemas.microsoft.com/office/drawing/2014/main" id="{AF46B321-7B3F-4F4A-A9D9-432A2B6F499B}"/>
              </a:ext>
            </a:extLst>
          </p:cNvPr>
          <p:cNvSpPr>
            <a:spLocks noGrp="1"/>
          </p:cNvSpPr>
          <p:nvPr/>
        </p:nvSpPr>
        <p:spPr>
          <a:xfrm>
            <a:off x="8096250" y="3657600"/>
            <a:ext cx="3048000" cy="428625"/>
          </a:xfrm>
          <a:prstGeom prst="rect">
            <a:avLst/>
          </a:prstGeom>
          <a:noFill/>
          <a:ln w="0">
            <a:noFill/>
            <a:prstDash val="solid"/>
          </a:ln>
        </p:spPr>
        <p:txBody>
          <a:bodyPr anchor="ctr"/>
          <a:lstStyle/>
          <a:p>
            <a:pPr algn="l">
              <a:buNone/>
              <a:defRPr sz="1275" b="1">
                <a:solidFill>
                  <a:srgbClr val="171717"/>
                </a:solidFill>
              </a:defRPr>
            </a:pPr>
            <a:r>
              <a:rPr sz="1275" b="1">
                <a:solidFill>
                  <a:srgbClr val="171717"/>
                </a:solidFill>
              </a:rPr>
              <a:t>days per month thereafter</a:t>
            </a:r>
          </a:p>
        </p:txBody>
      </p:sp>
      <p:sp>
        <p:nvSpPr>
          <p:cNvPr id="31" name="Rectangle 30">
            <a:extLst>
              <a:ext uri="{FF2B5EF4-FFF2-40B4-BE49-F238E27FC236}">
                <a16:creationId xmlns:a16="http://schemas.microsoft.com/office/drawing/2014/main" id="{B1538938-01D6-4E9E-B3CE-BB670A680E8C}"/>
              </a:ext>
            </a:extLst>
          </p:cNvPr>
          <p:cNvSpPr>
            <a:spLocks noGrp="1"/>
          </p:cNvSpPr>
          <p:nvPr/>
        </p:nvSpPr>
        <p:spPr>
          <a:xfrm>
            <a:off x="6953250" y="4286250"/>
            <a:ext cx="1047750" cy="428625"/>
          </a:xfrm>
          <a:prstGeom prst="rect">
            <a:avLst/>
          </a:prstGeom>
          <a:noFill/>
          <a:ln w="0">
            <a:noFill/>
            <a:prstDash val="solid"/>
          </a:ln>
        </p:spPr>
        <p:txBody>
          <a:bodyPr anchor="ctr"/>
          <a:lstStyle/>
          <a:p>
            <a:pPr algn="l">
              <a:buNone/>
              <a:defRPr sz="2250" b="1">
                <a:solidFill>
                  <a:srgbClr val="2E9B7A"/>
                </a:solidFill>
              </a:defRPr>
            </a:pPr>
            <a:r>
              <a:rPr sz="2250" b="1">
                <a:solidFill>
                  <a:srgbClr val="2E9B7A"/>
                </a:solidFill>
              </a:rPr>
              <a:t>100%</a:t>
            </a:r>
          </a:p>
        </p:txBody>
      </p:sp>
      <p:sp>
        <p:nvSpPr>
          <p:cNvPr id="32" name="Rectangle 31">
            <a:extLst>
              <a:ext uri="{FF2B5EF4-FFF2-40B4-BE49-F238E27FC236}">
                <a16:creationId xmlns:a16="http://schemas.microsoft.com/office/drawing/2014/main" id="{C067DA47-02EA-4CF1-9E5F-B6DCED8FF382}"/>
              </a:ext>
            </a:extLst>
          </p:cNvPr>
          <p:cNvSpPr>
            <a:spLocks noGrp="1"/>
          </p:cNvSpPr>
          <p:nvPr/>
        </p:nvSpPr>
        <p:spPr>
          <a:xfrm>
            <a:off x="8096250" y="4286250"/>
            <a:ext cx="3048000" cy="428625"/>
          </a:xfrm>
          <a:prstGeom prst="rect">
            <a:avLst/>
          </a:prstGeom>
          <a:noFill/>
          <a:ln w="0">
            <a:noFill/>
            <a:prstDash val="solid"/>
          </a:ln>
        </p:spPr>
        <p:txBody>
          <a:bodyPr anchor="ctr"/>
          <a:lstStyle/>
          <a:p>
            <a:pPr algn="l">
              <a:buNone/>
              <a:defRPr sz="1275" b="1">
                <a:solidFill>
                  <a:srgbClr val="171717"/>
                </a:solidFill>
              </a:defRPr>
            </a:pPr>
            <a:r>
              <a:rPr sz="1275" b="1">
                <a:solidFill>
                  <a:srgbClr val="171717"/>
                </a:solidFill>
              </a:rPr>
              <a:t>recorded attendance</a:t>
            </a:r>
          </a:p>
        </p:txBody>
      </p:sp>
      <p:sp>
        <p:nvSpPr>
          <p:cNvPr id="33" name="Rectangle 32">
            <a:extLst>
              <a:ext uri="{FF2B5EF4-FFF2-40B4-BE49-F238E27FC236}">
                <a16:creationId xmlns:a16="http://schemas.microsoft.com/office/drawing/2014/main" id="{9830DB18-AA5A-4C23-BBB6-77067917F9B4}"/>
              </a:ext>
            </a:extLst>
          </p:cNvPr>
          <p:cNvSpPr>
            <a:spLocks noGrp="1"/>
          </p:cNvSpPr>
          <p:nvPr/>
        </p:nvSpPr>
        <p:spPr>
          <a:xfrm>
            <a:off x="6667500" y="5562600"/>
            <a:ext cx="4933950" cy="552450"/>
          </a:xfrm>
          <a:prstGeom prst="rect">
            <a:avLst/>
          </a:prstGeom>
          <a:solidFill>
            <a:srgbClr val="F0872B"/>
          </a:solidFill>
          <a:ln w="9525">
            <a:solidFill>
              <a:srgbClr val="F0872B"/>
            </a:solidFill>
            <a:prstDash val="solid"/>
          </a:ln>
        </p:spPr>
      </p:sp>
      <p:sp>
        <p:nvSpPr>
          <p:cNvPr id="34" name="Rectangle 33">
            <a:extLst>
              <a:ext uri="{FF2B5EF4-FFF2-40B4-BE49-F238E27FC236}">
                <a16:creationId xmlns:a16="http://schemas.microsoft.com/office/drawing/2014/main" id="{96A0AF8B-2F01-4538-A0FB-39ECB3DBA66C}"/>
              </a:ext>
            </a:extLst>
          </p:cNvPr>
          <p:cNvSpPr>
            <a:spLocks noGrp="1"/>
          </p:cNvSpPr>
          <p:nvPr/>
        </p:nvSpPr>
        <p:spPr>
          <a:xfrm>
            <a:off x="6896100" y="5648325"/>
            <a:ext cx="4476750" cy="381000"/>
          </a:xfrm>
          <a:prstGeom prst="rect">
            <a:avLst/>
          </a:prstGeom>
          <a:noFill/>
          <a:ln w="0">
            <a:noFill/>
            <a:prstDash val="solid"/>
          </a:ln>
        </p:spPr>
        <p:txBody>
          <a:bodyPr anchor="ctr"/>
          <a:lstStyle/>
          <a:p>
            <a:pPr algn="l">
              <a:buNone/>
              <a:defRPr sz="1275" b="1">
                <a:solidFill>
                  <a:srgbClr val="FFFFFF"/>
                </a:solidFill>
              </a:defRPr>
            </a:pPr>
            <a:r>
              <a:rPr sz="1275" b="1">
                <a:solidFill>
                  <a:srgbClr val="FFFFFF"/>
                </a:solidFill>
              </a:rPr>
              <a:t>Recommendation: approve six contact days per month for three months</a:t>
            </a:r>
          </a:p>
        </p:txBody>
      </p:sp>
      <p:sp>
        <p:nvSpPr>
          <p:cNvPr id="35" name="Rectangle 34">
            <a:extLst>
              <a:ext uri="{FF2B5EF4-FFF2-40B4-BE49-F238E27FC236}">
                <a16:creationId xmlns:a16="http://schemas.microsoft.com/office/drawing/2014/main" id="{6B7193D0-E6DB-477F-B189-17872AE3ECA3}"/>
              </a:ext>
            </a:extLst>
          </p:cNvPr>
          <p:cNvSpPr>
            <a:spLocks noGrp="1"/>
          </p:cNvSpPr>
          <p:nvPr/>
        </p:nvSpPr>
        <p:spPr>
          <a:xfrm>
            <a:off x="590550" y="6477000"/>
            <a:ext cx="11010900" cy="9525"/>
          </a:xfrm>
          <a:prstGeom prst="rect">
            <a:avLst/>
          </a:prstGeom>
          <a:solidFill>
            <a:srgbClr val="DCC0A0"/>
          </a:solidFill>
          <a:ln w="9525">
            <a:solidFill>
              <a:srgbClr val="DCC0A0"/>
            </a:solidFill>
            <a:prstDash val="solid"/>
          </a:ln>
        </p:spPr>
      </p:sp>
      <p:sp>
        <p:nvSpPr>
          <p:cNvPr id="36" name="Rectangle 35">
            <a:extLst>
              <a:ext uri="{FF2B5EF4-FFF2-40B4-BE49-F238E27FC236}">
                <a16:creationId xmlns:a16="http://schemas.microsoft.com/office/drawing/2014/main" id="{EF6B3064-0000-4D23-8B5D-6D562F64F6F8}"/>
              </a:ext>
            </a:extLst>
          </p:cNvPr>
          <p:cNvSpPr>
            <a:spLocks noGrp="1"/>
          </p:cNvSpPr>
          <p:nvPr/>
        </p:nvSpPr>
        <p:spPr>
          <a:xfrm>
            <a:off x="590550" y="6553200"/>
            <a:ext cx="4762500" cy="171450"/>
          </a:xfrm>
          <a:prstGeom prst="rect">
            <a:avLst/>
          </a:prstGeom>
          <a:noFill/>
          <a:ln w="0">
            <a:noFill/>
            <a:prstDash val="solid"/>
          </a:ln>
        </p:spPr>
        <p:txBody>
          <a:bodyPr anchor="ctr"/>
          <a:lstStyle/>
          <a:p>
            <a:pPr algn="l">
              <a:buNone/>
              <a:defRPr sz="825" b="0">
                <a:solidFill>
                  <a:srgbClr val="62676B"/>
                </a:solidFill>
              </a:defRPr>
            </a:pPr>
            <a:r>
              <a:rPr sz="825" b="0">
                <a:solidFill>
                  <a:srgbClr val="62676B"/>
                </a:solidFill>
              </a:rPr>
              <a:t>Eruditio • Empower · Develop · Transform</a:t>
            </a:r>
          </a:p>
        </p:txBody>
      </p:sp>
      <p:sp>
        <p:nvSpPr>
          <p:cNvPr id="37" name="Rectangle 36">
            <a:extLst>
              <a:ext uri="{FF2B5EF4-FFF2-40B4-BE49-F238E27FC236}">
                <a16:creationId xmlns:a16="http://schemas.microsoft.com/office/drawing/2014/main" id="{CA611BB3-B9DE-4741-8A3A-4E70607D3A96}"/>
              </a:ext>
            </a:extLst>
          </p:cNvPr>
          <p:cNvSpPr>
            <a:spLocks noGrp="1"/>
          </p:cNvSpPr>
          <p:nvPr/>
        </p:nvSpPr>
        <p:spPr>
          <a:xfrm>
            <a:off x="11049000" y="6534150"/>
            <a:ext cx="552450" cy="171450"/>
          </a:xfrm>
          <a:prstGeom prst="rect">
            <a:avLst/>
          </a:prstGeom>
          <a:noFill/>
          <a:ln w="0">
            <a:noFill/>
            <a:prstDash val="solid"/>
          </a:ln>
        </p:spPr>
        <p:txBody>
          <a:bodyPr anchor="ctr"/>
          <a:lstStyle/>
          <a:p>
            <a:pPr algn="r">
              <a:buNone/>
              <a:defRPr sz="900" b="1">
                <a:solidFill>
                  <a:srgbClr val="F0872B"/>
                </a:solidFill>
              </a:defRPr>
            </a:pPr>
            <a:r>
              <a:rPr sz="900" b="1">
                <a:solidFill>
                  <a:srgbClr val="F0872B"/>
                </a:solidFill>
              </a:rPr>
              <a:t>08</a:t>
            </a:r>
          </a:p>
        </p:txBody>
      </p:sp>
    </p:spTree>
    <p:extLst>
      <p:ext uri="{BB962C8B-B14F-4D97-AF65-F5344CB8AC3E}">
        <p14:creationId xmlns:p14="http://schemas.microsoft.com/office/powerpoint/2010/main" val="946151824"/>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1526</Words>
  <Application>Microsoft Office PowerPoint</Application>
  <DocSecurity>0</DocSecurity>
  <PresentationFormat>Widescreen</PresentationFormat>
  <Paragraphs>264</Paragraphs>
  <Slides>8</Slides>
  <Notes>8</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8</vt:i4>
      </vt:variant>
    </vt:vector>
  </HeadingPairs>
  <TitlesOfParts>
    <vt:vector size="10" baseType="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Andre Snell</cp:lastModifiedBy>
  <cp:revision>1</cp:revision>
  <dcterms:created xsi:type="dcterms:W3CDTF">2026-08-30T07:56:08Z</dcterms:created>
  <dcterms:modified xsi:type="dcterms:W3CDTF">2026-09-14T15:41:37Z</dcterms:modified>
</cp:coreProperties>
</file>