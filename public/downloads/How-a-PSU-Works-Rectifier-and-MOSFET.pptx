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</p:sldIdLst>
  <p:notesMasterIdLst>
    <p:notesMasterId r:id="rId43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5" Type="http://schemas.openxmlformats.org/officeDocument/2006/relationships/viewProps" Target="viewProps.xml"/><Relationship Id="rId46" Type="http://schemas.openxmlformats.org/officeDocument/2006/relationships/theme" Target="theme/theme1.xml"/><Relationship Id="rId4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image" Target="../media/image-2-11.png"/><Relationship Id="rId12" Type="http://schemas.openxmlformats.org/officeDocument/2006/relationships/image" Target="../media/image-2-12.svg"/><Relationship Id="rId13" Type="http://schemas.openxmlformats.org/officeDocument/2006/relationships/image" Target="../media/image-2-13.png"/><Relationship Id="rId14" Type="http://schemas.openxmlformats.org/officeDocument/2006/relationships/image" Target="../media/image-2-14.svg"/><Relationship Id="rId15" Type="http://schemas.openxmlformats.org/officeDocument/2006/relationships/image" Target="../media/image-2-15.png"/><Relationship Id="rId16" Type="http://schemas.openxmlformats.org/officeDocument/2006/relationships/image" Target="../media/image-2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svg"/><Relationship Id="rId3" Type="http://schemas.openxmlformats.org/officeDocument/2006/relationships/image" Target="../media/image-6-3.png"/><Relationship Id="rId4" Type="http://schemas.openxmlformats.org/officeDocument/2006/relationships/image" Target="../media/image-6-4.svg"/><Relationship Id="rId5" Type="http://schemas.openxmlformats.org/officeDocument/2006/relationships/image" Target="../media/image-6-5.png"/><Relationship Id="rId6" Type="http://schemas.openxmlformats.org/officeDocument/2006/relationships/image" Target="../media/image-6-6.svg"/><Relationship Id="rId7" Type="http://schemas.openxmlformats.org/officeDocument/2006/relationships/image" Target="../media/image-6-7.png"/><Relationship Id="rId8" Type="http://schemas.openxmlformats.org/officeDocument/2006/relationships/image" Target="../media/image-6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image" Target="../media/image-7-3.png"/><Relationship Id="rId4" Type="http://schemas.openxmlformats.org/officeDocument/2006/relationships/image" Target="../media/image-7-4.svg"/><Relationship Id="rId5" Type="http://schemas.openxmlformats.org/officeDocument/2006/relationships/image" Target="../media/image-7-5.png"/><Relationship Id="rId6" Type="http://schemas.openxmlformats.org/officeDocument/2006/relationships/image" Target="../media/image-7-6.svg"/><Relationship Id="rId7" Type="http://schemas.openxmlformats.org/officeDocument/2006/relationships/image" Target="../media/image-7-7.png"/><Relationship Id="rId8" Type="http://schemas.openxmlformats.org/officeDocument/2006/relationships/image" Target="../media/image-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sv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image" Target="../media/image-8-5.png"/><Relationship Id="rId6" Type="http://schemas.openxmlformats.org/officeDocument/2006/relationships/image" Target="../media/image-8-6.svg"/><Relationship Id="rId7" Type="http://schemas.openxmlformats.org/officeDocument/2006/relationships/image" Target="../media/image-8-7.png"/><Relationship Id="rId8" Type="http://schemas.openxmlformats.org/officeDocument/2006/relationships/image" Target="../media/image-8-8.svg"/><Relationship Id="rId9" Type="http://schemas.openxmlformats.org/officeDocument/2006/relationships/image" Target="../media/image-8-9.png"/><Relationship Id="rId10" Type="http://schemas.openxmlformats.org/officeDocument/2006/relationships/image" Target="../media/image-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svg"/><Relationship Id="rId3" Type="http://schemas.openxmlformats.org/officeDocument/2006/relationships/image" Target="../media/image-9-3.png"/><Relationship Id="rId4" Type="http://schemas.openxmlformats.org/officeDocument/2006/relationships/image" Target="../media/image-9-4.svg"/><Relationship Id="rId5" Type="http://schemas.openxmlformats.org/officeDocument/2006/relationships/image" Target="../media/image-9-5.png"/><Relationship Id="rId6" Type="http://schemas.openxmlformats.org/officeDocument/2006/relationships/image" Target="../media/image-9-6.svg"/><Relationship Id="rId7" Type="http://schemas.openxmlformats.org/officeDocument/2006/relationships/image" Target="../media/image-9-7.png"/><Relationship Id="rId8" Type="http://schemas.openxmlformats.org/officeDocument/2006/relationships/image" Target="../media/image-9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svg"/><Relationship Id="rId3" Type="http://schemas.openxmlformats.org/officeDocument/2006/relationships/image" Target="../media/image-11-3.png"/><Relationship Id="rId4" Type="http://schemas.openxmlformats.org/officeDocument/2006/relationships/image" Target="../media/image-11-4.svg"/><Relationship Id="rId5" Type="http://schemas.openxmlformats.org/officeDocument/2006/relationships/image" Target="../media/image-11-5.png"/><Relationship Id="rId6" Type="http://schemas.openxmlformats.org/officeDocument/2006/relationships/image" Target="../media/image-11-6.svg"/><Relationship Id="rId7" Type="http://schemas.openxmlformats.org/officeDocument/2006/relationships/image" Target="../media/image-11-7.png"/><Relationship Id="rId8" Type="http://schemas.openxmlformats.org/officeDocument/2006/relationships/image" Target="../media/image-11-8.svg"/><Relationship Id="rId9" Type="http://schemas.openxmlformats.org/officeDocument/2006/relationships/image" Target="../media/image-11-9.png"/><Relationship Id="rId10" Type="http://schemas.openxmlformats.org/officeDocument/2006/relationships/image" Target="../media/image-11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svg"/><Relationship Id="rId3" Type="http://schemas.openxmlformats.org/officeDocument/2006/relationships/image" Target="../media/image-13-3.png"/><Relationship Id="rId4" Type="http://schemas.openxmlformats.org/officeDocument/2006/relationships/image" Target="../media/image-13-4.svg"/><Relationship Id="rId5" Type="http://schemas.openxmlformats.org/officeDocument/2006/relationships/image" Target="../media/image-13-5.png"/><Relationship Id="rId6" Type="http://schemas.openxmlformats.org/officeDocument/2006/relationships/image" Target="../media/image-13-6.svg"/><Relationship Id="rId7" Type="http://schemas.openxmlformats.org/officeDocument/2006/relationships/image" Target="../media/image-13-7.png"/><Relationship Id="rId8" Type="http://schemas.openxmlformats.org/officeDocument/2006/relationships/image" Target="../media/image-13-8.svg"/><Relationship Id="rId9" Type="http://schemas.openxmlformats.org/officeDocument/2006/relationships/image" Target="../media/image-13-9.png"/><Relationship Id="rId10" Type="http://schemas.openxmlformats.org/officeDocument/2006/relationships/image" Target="../media/image-13-10.sv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svg"/><Relationship Id="rId3" Type="http://schemas.openxmlformats.org/officeDocument/2006/relationships/image" Target="../media/image-14-3.png"/><Relationship Id="rId4" Type="http://schemas.openxmlformats.org/officeDocument/2006/relationships/image" Target="../media/image-14-4.svg"/><Relationship Id="rId5" Type="http://schemas.openxmlformats.org/officeDocument/2006/relationships/image" Target="../media/image-14-5.png"/><Relationship Id="rId6" Type="http://schemas.openxmlformats.org/officeDocument/2006/relationships/image" Target="../media/image-14-6.svg"/><Relationship Id="rId7" Type="http://schemas.openxmlformats.org/officeDocument/2006/relationships/image" Target="../media/image-14-7.png"/><Relationship Id="rId8" Type="http://schemas.openxmlformats.org/officeDocument/2006/relationships/image" Target="../media/image-14-8.svg"/><Relationship Id="rId9" Type="http://schemas.openxmlformats.org/officeDocument/2006/relationships/image" Target="../media/image-14-9.png"/><Relationship Id="rId10" Type="http://schemas.openxmlformats.org/officeDocument/2006/relationships/image" Target="../media/image-14-10.svg"/><Relationship Id="rId11" Type="http://schemas.openxmlformats.org/officeDocument/2006/relationships/image" Target="../media/image-14-11.png"/><Relationship Id="rId12" Type="http://schemas.openxmlformats.org/officeDocument/2006/relationships/image" Target="../media/image-14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svg"/><Relationship Id="rId3" Type="http://schemas.openxmlformats.org/officeDocument/2006/relationships/image" Target="../media/image-15-3.png"/><Relationship Id="rId4" Type="http://schemas.openxmlformats.org/officeDocument/2006/relationships/image" Target="../media/image-15-4.svg"/><Relationship Id="rId5" Type="http://schemas.openxmlformats.org/officeDocument/2006/relationships/image" Target="../media/image-15-5.png"/><Relationship Id="rId6" Type="http://schemas.openxmlformats.org/officeDocument/2006/relationships/image" Target="../media/image-15-6.svg"/><Relationship Id="rId7" Type="http://schemas.openxmlformats.org/officeDocument/2006/relationships/image" Target="../media/image-15-7.png"/><Relationship Id="rId8" Type="http://schemas.openxmlformats.org/officeDocument/2006/relationships/image" Target="../media/image-15-8.svg"/><Relationship Id="rId9" Type="http://schemas.openxmlformats.org/officeDocument/2006/relationships/image" Target="../media/image-15-9.png"/><Relationship Id="rId10" Type="http://schemas.openxmlformats.org/officeDocument/2006/relationships/image" Target="../media/image-15-10.svg"/><Relationship Id="rId11" Type="http://schemas.openxmlformats.org/officeDocument/2006/relationships/image" Target="../media/image-15-11.png"/><Relationship Id="rId12" Type="http://schemas.openxmlformats.org/officeDocument/2006/relationships/image" Target="../media/image-15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svg"/><Relationship Id="rId3" Type="http://schemas.openxmlformats.org/officeDocument/2006/relationships/image" Target="../media/image-16-3.png"/><Relationship Id="rId4" Type="http://schemas.openxmlformats.org/officeDocument/2006/relationships/image" Target="../media/image-16-4.svg"/><Relationship Id="rId5" Type="http://schemas.openxmlformats.org/officeDocument/2006/relationships/image" Target="../media/image-16-5.png"/><Relationship Id="rId6" Type="http://schemas.openxmlformats.org/officeDocument/2006/relationships/image" Target="../media/image-16-6.svg"/><Relationship Id="rId7" Type="http://schemas.openxmlformats.org/officeDocument/2006/relationships/image" Target="../media/image-16-7.png"/><Relationship Id="rId8" Type="http://schemas.openxmlformats.org/officeDocument/2006/relationships/image" Target="../media/image-16-8.svg"/><Relationship Id="rId9" Type="http://schemas.openxmlformats.org/officeDocument/2006/relationships/image" Target="../media/image-16-9.png"/><Relationship Id="rId10" Type="http://schemas.openxmlformats.org/officeDocument/2006/relationships/image" Target="../media/image-16-10.svg"/><Relationship Id="rId11" Type="http://schemas.openxmlformats.org/officeDocument/2006/relationships/image" Target="../media/image-16-11.png"/><Relationship Id="rId12" Type="http://schemas.openxmlformats.org/officeDocument/2006/relationships/image" Target="../media/image-16-12.svg"/><Relationship Id="rId13" Type="http://schemas.openxmlformats.org/officeDocument/2006/relationships/image" Target="../media/image-16-13.png"/><Relationship Id="rId14" Type="http://schemas.openxmlformats.org/officeDocument/2006/relationships/image" Target="../media/image-16-14.svg"/><Relationship Id="rId15" Type="http://schemas.openxmlformats.org/officeDocument/2006/relationships/image" Target="../media/image-16-15.png"/><Relationship Id="rId16" Type="http://schemas.openxmlformats.org/officeDocument/2006/relationships/image" Target="../media/image-16-16.sv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svg"/><Relationship Id="rId3" Type="http://schemas.openxmlformats.org/officeDocument/2006/relationships/image" Target="../media/image-17-3.png"/><Relationship Id="rId4" Type="http://schemas.openxmlformats.org/officeDocument/2006/relationships/image" Target="../media/image-17-4.svg"/><Relationship Id="rId5" Type="http://schemas.openxmlformats.org/officeDocument/2006/relationships/image" Target="../media/image-17-5.png"/><Relationship Id="rId6" Type="http://schemas.openxmlformats.org/officeDocument/2006/relationships/image" Target="../media/image-17-6.svg"/><Relationship Id="rId7" Type="http://schemas.openxmlformats.org/officeDocument/2006/relationships/image" Target="../media/image-17-7.png"/><Relationship Id="rId8" Type="http://schemas.openxmlformats.org/officeDocument/2006/relationships/image" Target="../media/image-17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svg"/><Relationship Id="rId3" Type="http://schemas.openxmlformats.org/officeDocument/2006/relationships/image" Target="../media/image-18-3.png"/><Relationship Id="rId4" Type="http://schemas.openxmlformats.org/officeDocument/2006/relationships/image" Target="../media/image-18-4.svg"/><Relationship Id="rId5" Type="http://schemas.openxmlformats.org/officeDocument/2006/relationships/image" Target="../media/image-18-5.png"/><Relationship Id="rId6" Type="http://schemas.openxmlformats.org/officeDocument/2006/relationships/image" Target="../media/image-18-6.svg"/><Relationship Id="rId7" Type="http://schemas.openxmlformats.org/officeDocument/2006/relationships/image" Target="../media/image-18-7.png"/><Relationship Id="rId8" Type="http://schemas.openxmlformats.org/officeDocument/2006/relationships/image" Target="../media/image-18-8.svg"/><Relationship Id="rId9" Type="http://schemas.openxmlformats.org/officeDocument/2006/relationships/image" Target="../media/image-18-9.png"/><Relationship Id="rId10" Type="http://schemas.openxmlformats.org/officeDocument/2006/relationships/image" Target="../media/image-1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svg"/><Relationship Id="rId3" Type="http://schemas.openxmlformats.org/officeDocument/2006/relationships/image" Target="../media/image-19-3.png"/><Relationship Id="rId4" Type="http://schemas.openxmlformats.org/officeDocument/2006/relationships/image" Target="../media/image-19-4.svg"/><Relationship Id="rId5" Type="http://schemas.openxmlformats.org/officeDocument/2006/relationships/image" Target="../media/image-19-5.png"/><Relationship Id="rId6" Type="http://schemas.openxmlformats.org/officeDocument/2006/relationships/image" Target="../media/image-19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svg"/><Relationship Id="rId3" Type="http://schemas.openxmlformats.org/officeDocument/2006/relationships/image" Target="../media/image-20-3.png"/><Relationship Id="rId4" Type="http://schemas.openxmlformats.org/officeDocument/2006/relationships/image" Target="../media/image-20-4.svg"/><Relationship Id="rId5" Type="http://schemas.openxmlformats.org/officeDocument/2006/relationships/image" Target="../media/image-20-5.png"/><Relationship Id="rId6" Type="http://schemas.openxmlformats.org/officeDocument/2006/relationships/image" Target="../media/image-2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svg"/><Relationship Id="rId3" Type="http://schemas.openxmlformats.org/officeDocument/2006/relationships/image" Target="../media/image-21-3.png"/><Relationship Id="rId4" Type="http://schemas.openxmlformats.org/officeDocument/2006/relationships/image" Target="../media/image-21-4.svg"/><Relationship Id="rId5" Type="http://schemas.openxmlformats.org/officeDocument/2006/relationships/image" Target="../media/image-21-5.png"/><Relationship Id="rId6" Type="http://schemas.openxmlformats.org/officeDocument/2006/relationships/image" Target="../media/image-21-6.svg"/><Relationship Id="rId7" Type="http://schemas.openxmlformats.org/officeDocument/2006/relationships/image" Target="../media/image-21-7.png"/><Relationship Id="rId8" Type="http://schemas.openxmlformats.org/officeDocument/2006/relationships/image" Target="../media/image-21-8.sv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svg"/><Relationship Id="rId3" Type="http://schemas.openxmlformats.org/officeDocument/2006/relationships/image" Target="../media/image-22-3.png"/><Relationship Id="rId4" Type="http://schemas.openxmlformats.org/officeDocument/2006/relationships/image" Target="../media/image-22-4.svg"/><Relationship Id="rId5" Type="http://schemas.openxmlformats.org/officeDocument/2006/relationships/image" Target="../media/image-22-5.png"/><Relationship Id="rId6" Type="http://schemas.openxmlformats.org/officeDocument/2006/relationships/image" Target="../media/image-22-6.svg"/><Relationship Id="rId7" Type="http://schemas.openxmlformats.org/officeDocument/2006/relationships/image" Target="../media/image-22-7.png"/><Relationship Id="rId8" Type="http://schemas.openxmlformats.org/officeDocument/2006/relationships/image" Target="../media/image-22-8.svg"/><Relationship Id="rId9" Type="http://schemas.openxmlformats.org/officeDocument/2006/relationships/image" Target="../media/image-22-9.png"/><Relationship Id="rId10" Type="http://schemas.openxmlformats.org/officeDocument/2006/relationships/image" Target="../media/image-22-10.svg"/><Relationship Id="rId11" Type="http://schemas.openxmlformats.org/officeDocument/2006/relationships/image" Target="../media/image-22-11.png"/><Relationship Id="rId12" Type="http://schemas.openxmlformats.org/officeDocument/2006/relationships/image" Target="../media/image-22-12.svg"/><Relationship Id="rId13" Type="http://schemas.openxmlformats.org/officeDocument/2006/relationships/image" Target="../media/image-22-13.png"/><Relationship Id="rId14" Type="http://schemas.openxmlformats.org/officeDocument/2006/relationships/image" Target="../media/image-22-14.svg"/><Relationship Id="rId15" Type="http://schemas.openxmlformats.org/officeDocument/2006/relationships/image" Target="../media/image-22-15.png"/><Relationship Id="rId16" Type="http://schemas.openxmlformats.org/officeDocument/2006/relationships/image" Target="../media/image-22-16.svg"/><Relationship Id="rId17" Type="http://schemas.openxmlformats.org/officeDocument/2006/relationships/image" Target="../media/image-22-17.png"/><Relationship Id="rId18" Type="http://schemas.openxmlformats.org/officeDocument/2006/relationships/image" Target="../media/image-22-18.svg"/><Relationship Id="rId19" Type="http://schemas.openxmlformats.org/officeDocument/2006/relationships/image" Target="../media/image-22-19.png"/><Relationship Id="rId20" Type="http://schemas.openxmlformats.org/officeDocument/2006/relationships/image" Target="../media/image-22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svg"/><Relationship Id="rId3" Type="http://schemas.openxmlformats.org/officeDocument/2006/relationships/image" Target="../media/image-23-3.png"/><Relationship Id="rId4" Type="http://schemas.openxmlformats.org/officeDocument/2006/relationships/image" Target="../media/image-23-4.svg"/><Relationship Id="rId5" Type="http://schemas.openxmlformats.org/officeDocument/2006/relationships/image" Target="../media/image-23-5.png"/><Relationship Id="rId6" Type="http://schemas.openxmlformats.org/officeDocument/2006/relationships/image" Target="../media/image-23-6.svg"/><Relationship Id="rId7" Type="http://schemas.openxmlformats.org/officeDocument/2006/relationships/image" Target="../media/image-23-7.png"/><Relationship Id="rId8" Type="http://schemas.openxmlformats.org/officeDocument/2006/relationships/image" Target="../media/image-23-8.svg"/><Relationship Id="rId9" Type="http://schemas.openxmlformats.org/officeDocument/2006/relationships/image" Target="../media/image-23-9.png"/><Relationship Id="rId10" Type="http://schemas.openxmlformats.org/officeDocument/2006/relationships/image" Target="../media/image-23-10.svg"/><Relationship Id="rId11" Type="http://schemas.openxmlformats.org/officeDocument/2006/relationships/image" Target="../media/image-23-11.png"/><Relationship Id="rId12" Type="http://schemas.openxmlformats.org/officeDocument/2006/relationships/image" Target="../media/image-23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svg"/><Relationship Id="rId3" Type="http://schemas.openxmlformats.org/officeDocument/2006/relationships/image" Target="../media/image-25-3.png"/><Relationship Id="rId4" Type="http://schemas.openxmlformats.org/officeDocument/2006/relationships/image" Target="../media/image-25-4.svg"/><Relationship Id="rId5" Type="http://schemas.openxmlformats.org/officeDocument/2006/relationships/image" Target="../media/image-25-5.png"/><Relationship Id="rId6" Type="http://schemas.openxmlformats.org/officeDocument/2006/relationships/image" Target="../media/image-2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image" Target="../media/image-26-2.svg"/><Relationship Id="rId3" Type="http://schemas.openxmlformats.org/officeDocument/2006/relationships/image" Target="../media/image-26-3.png"/><Relationship Id="rId4" Type="http://schemas.openxmlformats.org/officeDocument/2006/relationships/image" Target="../media/image-26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svg"/><Relationship Id="rId3" Type="http://schemas.openxmlformats.org/officeDocument/2006/relationships/image" Target="../media/image-27-3.png"/><Relationship Id="rId4" Type="http://schemas.openxmlformats.org/officeDocument/2006/relationships/image" Target="../media/image-27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svg"/><Relationship Id="rId3" Type="http://schemas.openxmlformats.org/officeDocument/2006/relationships/image" Target="../media/image-28-3.png"/><Relationship Id="rId4" Type="http://schemas.openxmlformats.org/officeDocument/2006/relationships/image" Target="../media/image-28-4.svg"/><Relationship Id="rId5" Type="http://schemas.openxmlformats.org/officeDocument/2006/relationships/image" Target="../media/image-28-5.png"/><Relationship Id="rId6" Type="http://schemas.openxmlformats.org/officeDocument/2006/relationships/image" Target="../media/image-28-6.svg"/><Relationship Id="rId7" Type="http://schemas.openxmlformats.org/officeDocument/2006/relationships/image" Target="../media/image-28-7.png"/><Relationship Id="rId8" Type="http://schemas.openxmlformats.org/officeDocument/2006/relationships/image" Target="../media/image-28-8.svg"/><Relationship Id="rId9" Type="http://schemas.openxmlformats.org/officeDocument/2006/relationships/image" Target="../media/image-28-9.png"/><Relationship Id="rId10" Type="http://schemas.openxmlformats.org/officeDocument/2006/relationships/image" Target="../media/image-28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svg"/><Relationship Id="rId3" Type="http://schemas.openxmlformats.org/officeDocument/2006/relationships/image" Target="../media/image-29-3.png"/><Relationship Id="rId4" Type="http://schemas.openxmlformats.org/officeDocument/2006/relationships/image" Target="../media/image-29-4.svg"/><Relationship Id="rId5" Type="http://schemas.openxmlformats.org/officeDocument/2006/relationships/image" Target="../media/image-29-5.png"/><Relationship Id="rId6" Type="http://schemas.openxmlformats.org/officeDocument/2006/relationships/image" Target="../media/image-29-6.svg"/><Relationship Id="rId7" Type="http://schemas.openxmlformats.org/officeDocument/2006/relationships/image" Target="../media/image-29-7.png"/><Relationship Id="rId8" Type="http://schemas.openxmlformats.org/officeDocument/2006/relationships/image" Target="../media/image-29-8.svg"/><Relationship Id="rId9" Type="http://schemas.openxmlformats.org/officeDocument/2006/relationships/image" Target="../media/image-29-9.png"/><Relationship Id="rId10" Type="http://schemas.openxmlformats.org/officeDocument/2006/relationships/image" Target="../media/image-29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svg"/><Relationship Id="rId3" Type="http://schemas.openxmlformats.org/officeDocument/2006/relationships/image" Target="../media/image-31-3.png"/><Relationship Id="rId4" Type="http://schemas.openxmlformats.org/officeDocument/2006/relationships/image" Target="../media/image-31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svg"/><Relationship Id="rId3" Type="http://schemas.openxmlformats.org/officeDocument/2006/relationships/image" Target="../media/image-32-3.png"/><Relationship Id="rId4" Type="http://schemas.openxmlformats.org/officeDocument/2006/relationships/image" Target="../media/image-32-4.svg"/><Relationship Id="rId5" Type="http://schemas.openxmlformats.org/officeDocument/2006/relationships/image" Target="../media/image-32-5.png"/><Relationship Id="rId6" Type="http://schemas.openxmlformats.org/officeDocument/2006/relationships/image" Target="../media/image-32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svg"/><Relationship Id="rId3" Type="http://schemas.openxmlformats.org/officeDocument/2006/relationships/image" Target="../media/image-33-3.png"/><Relationship Id="rId4" Type="http://schemas.openxmlformats.org/officeDocument/2006/relationships/image" Target="../media/image-33-4.svg"/><Relationship Id="rId5" Type="http://schemas.openxmlformats.org/officeDocument/2006/relationships/image" Target="../media/image-33-5.png"/><Relationship Id="rId6" Type="http://schemas.openxmlformats.org/officeDocument/2006/relationships/image" Target="../media/image-33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image" Target="../media/image-34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image" Target="../media/image-35-2.svg"/><Relationship Id="rId3" Type="http://schemas.openxmlformats.org/officeDocument/2006/relationships/image" Target="../media/image-35-3.png"/><Relationship Id="rId4" Type="http://schemas.openxmlformats.org/officeDocument/2006/relationships/image" Target="../media/image-35-4.svg"/><Relationship Id="rId5" Type="http://schemas.openxmlformats.org/officeDocument/2006/relationships/image" Target="../media/image-35-5.png"/><Relationship Id="rId6" Type="http://schemas.openxmlformats.org/officeDocument/2006/relationships/image" Target="../media/image-35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svg"/><Relationship Id="rId3" Type="http://schemas.openxmlformats.org/officeDocument/2006/relationships/image" Target="../media/image-36-3.png"/><Relationship Id="rId4" Type="http://schemas.openxmlformats.org/officeDocument/2006/relationships/image" Target="../media/image-36-4.svg"/><Relationship Id="rId5" Type="http://schemas.openxmlformats.org/officeDocument/2006/relationships/image" Target="../media/image-36-5.png"/><Relationship Id="rId6" Type="http://schemas.openxmlformats.org/officeDocument/2006/relationships/image" Target="../media/image-36-6.svg"/><Relationship Id="rId7" Type="http://schemas.openxmlformats.org/officeDocument/2006/relationships/image" Target="../media/image-36-7.png"/><Relationship Id="rId8" Type="http://schemas.openxmlformats.org/officeDocument/2006/relationships/image" Target="../media/image-36-8.svg"/><Relationship Id="rId9" Type="http://schemas.openxmlformats.org/officeDocument/2006/relationships/image" Target="../media/image-36-9.png"/><Relationship Id="rId10" Type="http://schemas.openxmlformats.org/officeDocument/2006/relationships/image" Target="../media/image-36-10.svg"/><Relationship Id="rId11" Type="http://schemas.openxmlformats.org/officeDocument/2006/relationships/image" Target="../media/image-36-11.png"/><Relationship Id="rId12" Type="http://schemas.openxmlformats.org/officeDocument/2006/relationships/image" Target="../media/image-36-12.sv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svg"/><Relationship Id="rId3" Type="http://schemas.openxmlformats.org/officeDocument/2006/relationships/image" Target="../media/image-37-3.png"/><Relationship Id="rId4" Type="http://schemas.openxmlformats.org/officeDocument/2006/relationships/image" Target="../media/image-37-4.svg"/><Relationship Id="rId5" Type="http://schemas.openxmlformats.org/officeDocument/2006/relationships/image" Target="../media/image-37-5.png"/><Relationship Id="rId6" Type="http://schemas.openxmlformats.org/officeDocument/2006/relationships/image" Target="../media/image-37-6.svg"/><Relationship Id="rId7" Type="http://schemas.openxmlformats.org/officeDocument/2006/relationships/image" Target="../media/image-37-7.png"/><Relationship Id="rId8" Type="http://schemas.openxmlformats.org/officeDocument/2006/relationships/image" Target="../media/image-37-8.svg"/><Relationship Id="rId9" Type="http://schemas.openxmlformats.org/officeDocument/2006/relationships/image" Target="../media/image-37-9.png"/><Relationship Id="rId10" Type="http://schemas.openxmlformats.org/officeDocument/2006/relationships/image" Target="../media/image-37-10.svg"/><Relationship Id="rId11" Type="http://schemas.openxmlformats.org/officeDocument/2006/relationships/image" Target="../media/image-37-11.png"/><Relationship Id="rId12" Type="http://schemas.openxmlformats.org/officeDocument/2006/relationships/image" Target="../media/image-37-12.svg"/><Relationship Id="rId13" Type="http://schemas.openxmlformats.org/officeDocument/2006/relationships/image" Target="../media/image-37-13.png"/><Relationship Id="rId14" Type="http://schemas.openxmlformats.org/officeDocument/2006/relationships/image" Target="../media/image-37-14.svg"/><Relationship Id="rId15" Type="http://schemas.openxmlformats.org/officeDocument/2006/relationships/slideLayout" Target="../slideLayouts/slideLayout1.xml"/><Relationship Id="rId16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svg"/><Relationship Id="rId3" Type="http://schemas.openxmlformats.org/officeDocument/2006/relationships/image" Target="../media/image-39-3.png"/><Relationship Id="rId4" Type="http://schemas.openxmlformats.org/officeDocument/2006/relationships/image" Target="../media/image-39-4.svg"/><Relationship Id="rId5" Type="http://schemas.openxmlformats.org/officeDocument/2006/relationships/image" Target="../media/image-39-5.png"/><Relationship Id="rId6" Type="http://schemas.openxmlformats.org/officeDocument/2006/relationships/image" Target="../media/image-39-6.svg"/><Relationship Id="rId7" Type="http://schemas.openxmlformats.org/officeDocument/2006/relationships/image" Target="../media/image-39-7.png"/><Relationship Id="rId8" Type="http://schemas.openxmlformats.org/officeDocument/2006/relationships/image" Target="../media/image-39-8.svg"/><Relationship Id="rId9" Type="http://schemas.openxmlformats.org/officeDocument/2006/relationships/image" Target="../media/image-39-9.png"/><Relationship Id="rId10" Type="http://schemas.openxmlformats.org/officeDocument/2006/relationships/image" Target="../media/image-39-10.svg"/><Relationship Id="rId11" Type="http://schemas.openxmlformats.org/officeDocument/2006/relationships/image" Target="../media/image-39-11.png"/><Relationship Id="rId12" Type="http://schemas.openxmlformats.org/officeDocument/2006/relationships/image" Target="../media/image-39-12.svg"/><Relationship Id="rId13" Type="http://schemas.openxmlformats.org/officeDocument/2006/relationships/image" Target="../media/image-39-13.png"/><Relationship Id="rId14" Type="http://schemas.openxmlformats.org/officeDocument/2006/relationships/image" Target="../media/image-39-14.svg"/><Relationship Id="rId15" Type="http://schemas.openxmlformats.org/officeDocument/2006/relationships/image" Target="../media/image-39-15.png"/><Relationship Id="rId16" Type="http://schemas.openxmlformats.org/officeDocument/2006/relationships/image" Target="../media/image-39-16.svg"/><Relationship Id="rId17" Type="http://schemas.openxmlformats.org/officeDocument/2006/relationships/image" Target="../media/image-39-17.png"/><Relationship Id="rId18" Type="http://schemas.openxmlformats.org/officeDocument/2006/relationships/image" Target="../media/image-39-18.svg"/><Relationship Id="rId19" Type="http://schemas.openxmlformats.org/officeDocument/2006/relationships/image" Target="../media/image-39-19.png"/><Relationship Id="rId20" Type="http://schemas.openxmlformats.org/officeDocument/2006/relationships/image" Target="../media/image-39-20.svg"/><Relationship Id="rId21" Type="http://schemas.openxmlformats.org/officeDocument/2006/relationships/slideLayout" Target="../slideLayouts/slideLayout1.xml"/><Relationship Id="rId2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svg"/><Relationship Id="rId3" Type="http://schemas.openxmlformats.org/officeDocument/2006/relationships/image" Target="../media/image-40-3.png"/><Relationship Id="rId4" Type="http://schemas.openxmlformats.org/officeDocument/2006/relationships/image" Target="../media/image-40-4.svg"/><Relationship Id="rId5" Type="http://schemas.openxmlformats.org/officeDocument/2006/relationships/image" Target="../media/image-40-5.png"/><Relationship Id="rId6" Type="http://schemas.openxmlformats.org/officeDocument/2006/relationships/image" Target="../media/image-4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3" name="Shape 1"/>
          <p:cNvSpPr/>
          <p:nvPr/>
        </p:nvSpPr>
        <p:spPr>
          <a:xfrm>
            <a:off x="502920" y="123444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123444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spc="100" kern="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SYSTEMS SUPPORT · POWER FUNDAMENTALS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874520"/>
            <a:ext cx="111831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a PSU Works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the wall socket to every component — including a deep dive on the Rectifier and MOSFET.</a:t>
            </a:r>
            <a:endParaRPr lang="en-US" sz="17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09760" y="1463040"/>
            <a:ext cx="2011680" cy="2011680"/>
          </a:xfrm>
          <a:prstGeom prst="rect">
            <a:avLst/>
          </a:prstGeom>
        </p:spPr>
      </p:pic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789920" y="3566160"/>
            <a:ext cx="822960" cy="822960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502920" y="4343400"/>
            <a:ext cx="11183112" cy="0"/>
          </a:xfrm>
          <a:prstGeom prst="line">
            <a:avLst/>
          </a:prstGeom>
          <a:noFill/>
          <a:ln w="12700">
            <a:solidFill>
              <a:srgbClr val="1B427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457200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MODULE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502920" y="4846320"/>
            <a:ext cx="2612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PSU &amp; Power Delivery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298698" y="457200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3298698" y="4846320"/>
            <a:ext cx="2612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 Africa (230 V AC)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6094476" y="457200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094476" y="4846320"/>
            <a:ext cx="2612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Foundational — IT Support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8890254" y="4572000"/>
            <a:ext cx="2612898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AUDIENCE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8890254" y="4846320"/>
            <a:ext cx="261289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Learners &amp; Technicians</a:t>
            </a:r>
            <a:endParaRPr lang="en-US" sz="1350" dirty="0"/>
          </a:p>
        </p:txBody>
      </p:sp>
      <p:sp>
        <p:nvSpPr>
          <p:cNvPr id="18" name="Text 14"/>
          <p:cNvSpPr/>
          <p:nvPr/>
        </p:nvSpPr>
        <p:spPr>
          <a:xfrm>
            <a:off x="502920" y="63550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Investec · IT Systems Support · Learning content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WE WILL COVER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journey of electricity through your PC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2548890" cy="1828800"/>
          </a:xfrm>
          <a:prstGeom prst="roundRect">
            <a:avLst>
              <a:gd name="adj" fmla="val 45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88900" dist="25400" dir="5400000">
              <a:srgbClr val="9AB4CC">
                <a:alpha val="30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93317" y="2103120"/>
            <a:ext cx="768096" cy="76809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944368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 Outlet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273552"/>
            <a:ext cx="236601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 V AC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70098" y="25968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0994" y="1828800"/>
            <a:ext cx="2548890" cy="1828800"/>
          </a:xfrm>
          <a:prstGeom prst="roundRect">
            <a:avLst>
              <a:gd name="adj" fmla="val 45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129030000" dist="322580000" dir="324000000000">
              <a:srgbClr val="9AB4CC">
                <a:alpha val="300000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71391" y="2103120"/>
            <a:ext cx="768096" cy="76809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2434" y="2944368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72434" y="3273552"/>
            <a:ext cx="236601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 · Rectify · Regulate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8172" y="25968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59068" y="1828800"/>
            <a:ext cx="2548890" cy="1828800"/>
          </a:xfrm>
          <a:prstGeom prst="roundRect">
            <a:avLst>
              <a:gd name="adj" fmla="val 45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4338681000000" dist="4096766000000" dir="19440000000000000">
              <a:srgbClr val="9AB4CC">
                <a:alpha val="300000000000000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49465" y="2103120"/>
            <a:ext cx="768096" cy="7680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0508" y="2944368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50508" y="3273552"/>
            <a:ext cx="236601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26246" y="25968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37142" y="1828800"/>
            <a:ext cx="2548890" cy="1828800"/>
          </a:xfrm>
          <a:prstGeom prst="roundRect">
            <a:avLst>
              <a:gd name="adj" fmla="val 45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82101248700000000" dist="52028928200000000" dir="1.1664e+21">
              <a:srgbClr val="9AB4CC">
                <a:alpha val="30000000000000000000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027539" y="2103120"/>
            <a:ext cx="768096" cy="76809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8582" y="2944368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Components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228582" y="3273552"/>
            <a:ext cx="2366010" cy="310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· GPU · Drives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502920" y="4023360"/>
            <a:ext cx="2644902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31268585849e+21" dist="660767388140000000000" dir="6.9984e+25">
              <a:srgbClr val="9AB4CC">
                <a:alpha val="3e+24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422121" y="4311396"/>
            <a:ext cx="806501" cy="806501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94360" y="5191049"/>
            <a:ext cx="24620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1 — Inside the PSU</a:t>
            </a:r>
            <a:endParaRPr lang="en-US" sz="1250" dirty="0"/>
          </a:p>
        </p:txBody>
      </p:sp>
      <p:sp>
        <p:nvSpPr>
          <p:cNvPr id="29" name="Text 22"/>
          <p:cNvSpPr/>
          <p:nvPr/>
        </p:nvSpPr>
        <p:spPr>
          <a:xfrm>
            <a:off x="594360" y="5520233"/>
            <a:ext cx="2462022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steps from wall power to stable DC rails.</a:t>
            </a:r>
            <a:endParaRPr lang="en-US" sz="1000" dirty="0"/>
          </a:p>
        </p:txBody>
      </p:sp>
      <p:sp>
        <p:nvSpPr>
          <p:cNvPr id="30" name="Shape 23"/>
          <p:cNvSpPr/>
          <p:nvPr/>
        </p:nvSpPr>
        <p:spPr>
          <a:xfrm>
            <a:off x="3348990" y="4023360"/>
            <a:ext cx="2644902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9371110402823e+25" dist="8.391745829378e+24" dir="4.19904e+30">
              <a:srgbClr val="9AB4CC">
                <a:alpha val="3e+29"/>
              </a:srgbClr>
            </a:outerShdw>
          </a:effectLst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268191" y="4311396"/>
            <a:ext cx="806501" cy="806501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440430" y="5191049"/>
            <a:ext cx="24620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2 — Where power goes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3440430" y="5520233"/>
            <a:ext cx="2462022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Motherboard, CPU, GPU, storage and fans.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195060" y="4023360"/>
            <a:ext cx="2644902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730131021158521e+29" dist="1.0657517203310059e+29" dir="2.519424e+35">
              <a:srgbClr val="9AB4CC">
                <a:alpha val="2.9999999999999997e+34"/>
              </a:srgbClr>
            </a:outerShdw>
          </a:effectLst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114261" y="4311396"/>
            <a:ext cx="806501" cy="806501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286500" y="5191049"/>
            <a:ext cx="24620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3 — Rectifier deep dive</a:t>
            </a:r>
            <a:endParaRPr lang="en-US" sz="1250" dirty="0"/>
          </a:p>
        </p:txBody>
      </p:sp>
      <p:sp>
        <p:nvSpPr>
          <p:cNvPr id="37" name="Text 28"/>
          <p:cNvSpPr/>
          <p:nvPr/>
        </p:nvSpPr>
        <p:spPr>
          <a:xfrm>
            <a:off x="6286500" y="5520233"/>
            <a:ext cx="2462022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→ DC using diodes and a bridge rectifier.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9041130" y="4023360"/>
            <a:ext cx="2644902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737266396871321e+33" dist="1.3535046848203775e+33" dir="1.5116544e+40">
              <a:srgbClr val="9AB4CC">
                <a:alpha val="3e+39"/>
              </a:srgbClr>
            </a:outerShdw>
          </a:effectLst>
        </p:spPr>
      </p:sp>
      <p:pic>
        <p:nvPicPr>
          <p:cNvPr id="39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9960331" y="4311396"/>
            <a:ext cx="806501" cy="806501"/>
          </a:xfrm>
          <a:prstGeom prst="rect">
            <a:avLst/>
          </a:prstGeom>
        </p:spPr>
      </p:pic>
      <p:sp>
        <p:nvSpPr>
          <p:cNvPr id="40" name="Text 30"/>
          <p:cNvSpPr/>
          <p:nvPr/>
        </p:nvSpPr>
        <p:spPr>
          <a:xfrm>
            <a:off x="9132570" y="5191049"/>
            <a:ext cx="246202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Part 4 — MOSFET deep dive</a:t>
            </a:r>
            <a:endParaRPr lang="en-US" sz="1250" dirty="0"/>
          </a:p>
        </p:txBody>
      </p:sp>
      <p:sp>
        <p:nvSpPr>
          <p:cNvPr id="41" name="Text 31"/>
          <p:cNvSpPr/>
          <p:nvPr/>
        </p:nvSpPr>
        <p:spPr>
          <a:xfrm>
            <a:off x="9132570" y="5520233"/>
            <a:ext cx="2462022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high-speed switch that makes it all work.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1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Inside the PSU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8439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steps that turn 230 V wall power into the clean, stable low-voltage DC every component needs.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comes from the wall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016328324026578e+37" dist="1.7189509497218795e+37" dir="9.069926400000001e+44">
              <a:srgbClr val="9AB4CC">
                <a:alpha val="3e+44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3794" y="1979676"/>
            <a:ext cx="806501" cy="80650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85932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 Outlet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18851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 V AC (South Africa)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029456" y="250545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0352" y="169164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640736971513755e+41" dist="2.183067706146787e+41" dir="5.44195584e+49">
              <a:srgbClr val="9AB4CC">
                <a:alpha val="2.9999999999999997e+49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1226" y="1979676"/>
            <a:ext cx="806501" cy="8065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1792" y="285932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Cable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31792" y="318851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Carries AC to the PC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866888" y="250545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77784" y="169164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9.703735953822469e+45" dist="2.7724959868064195e+45" dir="3.2651735040000005e+54">
              <a:srgbClr val="9AB4CC">
                <a:alpha val="2.9999999999999996e+54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8658" y="1979676"/>
            <a:ext cx="806501" cy="80650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9224" y="285932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Power Supply Unit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69224" y="318851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the magic happens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" y="3977640"/>
            <a:ext cx="111831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South African wall sockets provide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 Volts AC (Alternating Current)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means the electricity constantly changes direction about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times every second (50 Hz)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components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use AC power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wall gives us alternating current — but PCs can only run on direct current (DC).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PSU filters the electricity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electricity first enters an EMI Filter.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.2323744661354536e+50" dist="3.5210699032441527e+49" dir="1.9591041024000004e+59">
              <a:srgbClr val="9AB4CC">
                <a:alpha val="2.9999999999999996e+5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3794" y="2025396"/>
            <a:ext cx="806501" cy="8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90504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Dirty Electricity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323423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Noise · Spikes · Interference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9456" y="25511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0352" y="173736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5651155719920262e+54" dist="4.471758777120074e+53" dir="1.1754624614400003e+64">
              <a:srgbClr val="9AB4CC">
                <a:alpha val="2.9999999999999996e+64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1226" y="2025396"/>
            <a:ext cx="806501" cy="8065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1792" y="290504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EMI Filter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431792" y="323423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Cleans the incoming power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6888" y="25511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77784" y="173736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.9876967764298733e+58" dist="5.679133646942494e+57" dir="7.052774768640002e+68">
              <a:srgbClr val="9AB4CC">
                <a:alpha val="2.9999999999999995e+69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8658" y="2025396"/>
            <a:ext cx="806501" cy="80650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69224" y="290504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Clean Electricity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69224" y="323423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for the next stage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" y="388620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it like a water filter. It removes: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02920" y="4251960"/>
            <a:ext cx="11183112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electrical noise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spikes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interference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dirty electricity in, clean electricity out — like a water filter for power.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 becomes DC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comes the Rectifier.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508248" cy="2011680"/>
          </a:xfrm>
          <a:prstGeom prst="roundRect">
            <a:avLst>
              <a:gd name="adj" fmla="val 409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2.524374906065939e+62" dist="7.212499731616968e+61" dir="4.2316648611840007e+73">
              <a:srgbClr val="9AB4CC">
                <a:alpha val="2.9999999999999995e+7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4591" y="2039112"/>
            <a:ext cx="844906" cy="8449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957170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230 V AC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3286354"/>
            <a:ext cx="3325368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Back and forth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9456" y="25968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0352" y="1737360"/>
            <a:ext cx="3508248" cy="2011680"/>
          </a:xfrm>
          <a:prstGeom prst="roundRect">
            <a:avLst>
              <a:gd name="adj" fmla="val 409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2059561307037426e+66" dist="9.15987465915355e+65" dir="2.5389989167104004e+78">
              <a:srgbClr val="9AB4CC">
                <a:alpha val="3e+79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023" y="2039112"/>
            <a:ext cx="844906" cy="8449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1792" y="2957170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431792" y="3286354"/>
            <a:ext cx="3325368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gate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6888" y="25968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77784" y="1737360"/>
            <a:ext cx="3508248" cy="2011680"/>
          </a:xfrm>
          <a:prstGeom prst="roundRect">
            <a:avLst>
              <a:gd name="adj" fmla="val 409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4.071564285993753e+70" dist="1.1633040817125008e+70" dir="1.5233993500262402e+83">
              <a:srgbClr val="9AB4CC">
                <a:alpha val="2.9999999999999995e+84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9455" y="2039112"/>
            <a:ext cx="844906" cy="8449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69224" y="2957170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320 V DC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69224" y="3286354"/>
            <a:ext cx="3325368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direction only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" y="4023360"/>
            <a:ext cx="111831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moves back and forth.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only moves one direction.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Computers only work on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Direct Current (DC).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rectifier converts 230 V AC into roughly 320 V DC — one direction only.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 voltage is chopped into tiny pulses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11183112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PSU uses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high-speed transistors (MOSFETs)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using the electricity directly, it rapidly turns it ON / OFF / ON / OFF…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…about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50,000 – 500,000 times every second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creates high-frequency electricity.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Why? Because high frequency allows the transformer to be much smaller and more efficient.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65760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5.170886643212067e+74" dist="1.477396183774876e+74" dir="9.14039610015744e+87">
              <a:srgbClr val="9AB4CC">
                <a:alpha val="2.9999999999999996e+8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3794" y="3945636"/>
            <a:ext cx="806501" cy="8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82528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515447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Ultra-fast switch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9456" y="447141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0352" y="365760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6.567026036879325e+78" dist="1.8762931533940924e+78" dir="5.484237660094465e+92">
              <a:srgbClr val="9AB4CC">
                <a:alpha val="2.9999999999999997e+94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1226" y="3945636"/>
            <a:ext cx="806501" cy="8065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1792" y="482528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 / OFF Pulses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431792" y="515447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kHz – 500 kHz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6888" y="447141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77784" y="365760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8.340123066836742e+82" dist="2.3828923048104974e+82" dir="3.2905425960566786e+97">
              <a:srgbClr val="9AB4CC">
                <a:alpha val="2.9999999999999997e+99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8658" y="3945636"/>
            <a:ext cx="806501" cy="80650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69224" y="482528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Small Transformer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69224" y="515447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Efficient · Compact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Chopping DC into rapid pulses lets a tiny transformer do the work of a huge one.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lowers the voltage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transformer reduces the voltage. Example: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2876" y="173736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1.0591956294882662e+87" dist="3.0262732271093317e+86" dir="1.9743255576340073e+102">
              <a:srgbClr val="9AB4CC">
                <a:alpha val="3e+10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5756" y="199339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91556" y="17373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94476" y="2880360"/>
            <a:ext cx="0" cy="32004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44852" y="3200400"/>
            <a:ext cx="7699248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44852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502152"/>
            <a:ext cx="3483864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3451784494500981e+91" dist="3.8433669984288512e+90" dir="1.1845953345804043e+107">
              <a:srgbClr val="9AB4CC">
                <a:alpha val="2.9999999999999997e+109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56816" y="3707892"/>
            <a:ext cx="576072" cy="5760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4357116"/>
            <a:ext cx="3300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+12 V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4360" y="4686300"/>
            <a:ext cx="3300984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Motors &amp; high power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94476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52544" y="3502152"/>
            <a:ext cx="3483864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7083766308016246e+95" dist="4.8810760880046414e+94" dir="7.107572007482426e+111">
              <a:srgbClr val="9AB4CC">
                <a:alpha val="2.9999999999999995e+114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06440" y="3707892"/>
            <a:ext cx="576072" cy="57607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43984" y="4357116"/>
            <a:ext cx="3300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+5 V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443984" y="4686300"/>
            <a:ext cx="3300984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Electronics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944100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02168" y="3502152"/>
            <a:ext cx="3483864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1696383211180632e+99" dist="6.198966631765894e+98" dir="4.2645432044894554e+116">
              <a:srgbClr val="9AB4CC">
                <a:alpha val="2.9999999999999997e+119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6064" y="3707892"/>
            <a:ext cx="576072" cy="57607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93608" y="4357116"/>
            <a:ext cx="3300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+3.3 V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8293608" y="4686300"/>
            <a:ext cx="3300984" cy="1143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Chips &amp; logic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we have the voltages a computer actually needs: +12 V, +5 V and +3.3 V.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Output filters smooth everything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Capacitors remove tiny ripples.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2.7554406678199403e+103" dist="7.872687622342685e+102" dir="2.5587259226936733e+121">
              <a:srgbClr val="9AB4CC">
                <a:alpha val="2.9999999999999995e+12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53794" y="2025396"/>
            <a:ext cx="806501" cy="8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290504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Rough DC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323423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Ripples remain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9456" y="25511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0352" y="173736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499409648131324e+107" dist="9.998313280375211e+106" dir="1.535235553616204e+126">
              <a:srgbClr val="9AB4CC">
                <a:alpha val="2.9999999999999997e+129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1226" y="2025396"/>
            <a:ext cx="806501" cy="80650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1792" y="290504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Capacitors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431792" y="323423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Absorb &amp; release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6888" y="25511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77784" y="1737360"/>
            <a:ext cx="3508248" cy="192024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4.4442502531267815e+111" dist="1.2697857866076517e+111" dir="9.211413321697224e+130">
              <a:srgbClr val="9AB4CC">
                <a:alpha val="2.9999999999999996e+134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8658" y="2025396"/>
            <a:ext cx="806501" cy="80650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69224" y="2905049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Smooth DC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69224" y="3234233"/>
            <a:ext cx="3325368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Stable output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502920" y="3977640"/>
            <a:ext cx="111831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is extremely important.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CPU needs </a:t>
            </a:r>
            <a:pPr indent="0" marL="0">
              <a:spcAft>
                <a:spcPts val="600"/>
              </a:spcAft>
              <a:buNone/>
            </a:pPr>
            <a:r>
              <a:rPr lang="en-US" sz="15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very stable electricity</a:t>
            </a:r>
            <a:pPr indent="0" marL="0">
              <a:spcAft>
                <a:spcPts val="600"/>
              </a:spcAft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 tiny fluctuations can crash a computer.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Capacitors turn rippled DC into a rock-steady voltage that CPUs demand.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Voltage regulators keep everything constant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Suppose your wall voltage changes. Instead of a wobbling output…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1737360"/>
            <a:ext cx="5362956" cy="2468880"/>
          </a:xfrm>
          <a:prstGeom prst="roundRect">
            <a:avLst>
              <a:gd name="adj" fmla="val 333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5.644197821471012e+115" dist="1.6126279489917177e+115" dir="5.526847993018334e+135">
              <a:srgbClr val="9AB4CC">
                <a:alpha val="2.9999999999999994e+13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5933" y="2107692"/>
            <a:ext cx="1036930" cy="103693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217774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Without Regulation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3546958"/>
            <a:ext cx="5180076" cy="586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 V  →  11.5 V  →  12.7 V  →  11.8 V  →  12.3 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23076" y="1737360"/>
            <a:ext cx="5362956" cy="2468880"/>
          </a:xfrm>
          <a:prstGeom prst="roundRect">
            <a:avLst>
              <a:gd name="adj" fmla="val 333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7.168131233268186e+119" dist="2.0480374952194813e+119" dir="3.3161087958110005e+140">
              <a:srgbClr val="9AB4CC">
                <a:alpha val="2.9999999999999996e+144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6089" y="2107692"/>
            <a:ext cx="1036930" cy="103693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14516" y="3217774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With Regulation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14516" y="3546958"/>
            <a:ext cx="5180076" cy="586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12.00 V  ·  12.01 V  ·  11.99 V  ·  12.00 V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39028" y="2816352"/>
            <a:ext cx="310896" cy="310896"/>
          </a:xfrm>
          <a:prstGeom prst="rightArrow">
            <a:avLst/>
          </a:prstGeom>
          <a:solidFill>
            <a:srgbClr val="0F6CBD"/>
          </a:solidFill>
          <a:ln/>
        </p:spPr>
      </p:sp>
      <p:sp>
        <p:nvSpPr>
          <p:cNvPr id="17" name="Text 13"/>
          <p:cNvSpPr/>
          <p:nvPr/>
        </p:nvSpPr>
        <p:spPr>
          <a:xfrm>
            <a:off x="502920" y="438912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…the PSU constantly adjusts itself so the output stays almost perfectly stable.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regulator watches the output non-stop and corrects it thousands of times per second.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 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PSU sends power to every component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 components need different voltages.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722876" y="1737360"/>
            <a:ext cx="2743200" cy="1097280"/>
          </a:xfrm>
          <a:prstGeom prst="roundRect">
            <a:avLst>
              <a:gd name="adj" fmla="val 7500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9.103526666250596e+123" dist="2.6010076189287412e+123" dir="1.9896652774866004e+145">
              <a:srgbClr val="9AB4CC">
                <a:alpha val="2.9999999999999996e+14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5756" y="199339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91556" y="1737360"/>
            <a:ext cx="1783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94476" y="2880360"/>
            <a:ext cx="0" cy="32004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2244852" y="3200400"/>
            <a:ext cx="7699248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244852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502152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1561478866138256e+128" dist="3.303279676039501e+127" dir="1.1937991664919603e+150">
              <a:srgbClr val="9AB4CC">
                <a:alpha val="2.9999999999999997e+154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18411" y="3735324"/>
            <a:ext cx="652882" cy="65288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4461358"/>
            <a:ext cx="3300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94360" y="4790542"/>
            <a:ext cx="3300984" cy="19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· RAM · Fans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094476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4352544" y="3502152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4683078159995586e+132" dist="4.195165188570166e+131" dir="7.162794998951762e+154">
              <a:srgbClr val="9AB4CC">
                <a:alpha val="2.9999999999999998e+159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68035" y="3735324"/>
            <a:ext cx="652882" cy="652882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4443984" y="4461358"/>
            <a:ext cx="3300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</a:t>
            </a:r>
            <a:endParaRPr lang="en-US" sz="1250" dirty="0"/>
          </a:p>
        </p:txBody>
      </p:sp>
      <p:sp>
        <p:nvSpPr>
          <p:cNvPr id="22" name="Text 17"/>
          <p:cNvSpPr/>
          <p:nvPr/>
        </p:nvSpPr>
        <p:spPr>
          <a:xfrm>
            <a:off x="4443984" y="4790542"/>
            <a:ext cx="3300984" cy="19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 card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9944100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4" name="Shape 19"/>
          <p:cNvSpPr/>
          <p:nvPr/>
        </p:nvSpPr>
        <p:spPr>
          <a:xfrm>
            <a:off x="8202168" y="3502152"/>
            <a:ext cx="3483864" cy="1554480"/>
          </a:xfrm>
          <a:prstGeom prst="roundRect">
            <a:avLst>
              <a:gd name="adj" fmla="val 5294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8647509263194394e+136" dist="5.327859789484111e+135" dir="4.297676999371057e+159">
              <a:srgbClr val="9AB4CC">
                <a:alpha val="3e+164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17659" y="3735324"/>
            <a:ext cx="652882" cy="652882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8293608" y="4461358"/>
            <a:ext cx="33009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Drives</a:t>
            </a:r>
            <a:endParaRPr lang="en-US" sz="1250" dirty="0"/>
          </a:p>
        </p:txBody>
      </p:sp>
      <p:sp>
        <p:nvSpPr>
          <p:cNvPr id="27" name="Text 21"/>
          <p:cNvSpPr/>
          <p:nvPr/>
        </p:nvSpPr>
        <p:spPr>
          <a:xfrm>
            <a:off x="8293608" y="4790542"/>
            <a:ext cx="3300984" cy="19293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SSD / HDD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9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PSU is the central hub — every component ultimately gets its energy from here.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2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Where the power goes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8439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rail (+12 V, +5 V, +3.3 V) feeds different components. Here is who uses what — and how.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VOLTAGE RAILS · +12 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most powerful rail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most powerful rail.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by: CPU, GPU, cooling fans, water pumps, motors in HDDs.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22876" y="228600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2.368233676425688e+140" dist="6.766381932644821e+139" dir="2.5786061996226343e+164">
              <a:srgbClr val="9AB4CC">
                <a:alpha val="3e+16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5756" y="249631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91556" y="22860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+12 V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94476" y="3337560"/>
            <a:ext cx="0" cy="32004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97939" y="3657600"/>
            <a:ext cx="8593074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97939" y="36576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9593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0076567690606238e+144" dist="8.593305054458923e+143" dir="1.5471637197735807e+169">
              <a:srgbClr val="9AB4CC">
                <a:alpha val="3e+174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9903" y="4165092"/>
            <a:ext cx="576072" cy="5760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48143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662297" y="36576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67278" y="39593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819724096706992e+148" dist="1.0913497419162833e+148" dir="9.282982318641485e+173">
              <a:srgbClr val="9AB4CC">
                <a:alpha val="3e+179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4261" y="4165092"/>
            <a:ext cx="576072" cy="5760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58718" y="48143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526655" y="36576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31636" y="39593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85104960281788e+152" dist="1.38601417223368e+152" dir="5.569789391184891e+178">
              <a:srgbClr val="9AB4CC">
                <a:alpha val="3e+184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8619" y="4165092"/>
            <a:ext cx="576072" cy="5760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23076" y="48143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Fans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0391013" y="36576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095994" y="39593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160832995578707e+156" dist="1.7602379987367734e+156" dir="3.3418736347109347e+183">
              <a:srgbClr val="9AB4CC">
                <a:alpha val="3e+189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02977" y="4165092"/>
            <a:ext cx="576072" cy="5760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7434" y="48143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HDD Motors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 V does the heavy lifting — CPUs, GPUs, fans and hard drive motors all pull from here.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VOLTAGE RAILS · +5 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Used for electronics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for electronics.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22876" y="182880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7.824257904384958e+160" dist="2.235502258395702e+160" dir="2.0051241808265608e+188">
              <a:srgbClr val="9AB4CC">
                <a:alpha val="2.9999999999999997e+19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5756" y="203911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91556" y="18288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+5 V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94476" y="2880360"/>
            <a:ext cx="0" cy="32004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97939" y="3200400"/>
            <a:ext cx="8593074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97939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9.936807538568897e+164" dist="2.8390878681625417e+164" dir="1.2030745084959364e+193">
              <a:srgbClr val="9AB4CC">
                <a:alpha val="2.9999999999999997e+199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9903" y="3707892"/>
            <a:ext cx="576072" cy="5760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SSD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662297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67278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26197455739825e+169" dist="3.605641592566428e+168" dir="7.218447050975619e+197">
              <a:srgbClr val="9AB4CC">
                <a:alpha val="3e+204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4261" y="3707892"/>
            <a:ext cx="576072" cy="5760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58718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HDD Logic Board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526655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31636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6027076878957775e+173" dist="4.579164822559364e+172" dir="4.3310682305853715e+202">
              <a:srgbClr val="9AB4CC">
                <a:alpha val="3e+209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8619" y="3707892"/>
            <a:ext cx="576072" cy="5760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23076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USB Devices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0391013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095994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0354387636276376e+177" dist="5.815539324650392e+176" dir="2.598640938351223e+207">
              <a:srgbClr val="9AB4CC">
                <a:alpha val="2.9999999999999996e+214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02977" y="3707892"/>
            <a:ext cx="576072" cy="5760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7434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RGB Controllers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+5 V powers the digital electronics inside drives, USB ports and RGB.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VOLTAGE RAILS · +3.3 V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Used by small chips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Used by small chips.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722876" y="1828800"/>
            <a:ext cx="2743200" cy="1005840"/>
          </a:xfrm>
          <a:prstGeom prst="roundRect">
            <a:avLst>
              <a:gd name="adj" fmla="val 8182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2.5850072298071e+181" dist="7.385734942305998e+180" dir="1.5591845630107338e+212">
              <a:srgbClr val="9AB4CC">
                <a:alpha val="3e+219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05756" y="2039112"/>
            <a:ext cx="585216" cy="58521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591556" y="1828800"/>
            <a:ext cx="1783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+3.3 V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6094476" y="2880360"/>
            <a:ext cx="0" cy="32004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97939" y="3200400"/>
            <a:ext cx="8593074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1797939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02920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282959181855017e+185" dist="9.379883376728618e+184" dir="9.355107378064403e+216">
              <a:srgbClr val="9AB4CC">
                <a:alpha val="2.9999999999999997e+224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09903" y="3707892"/>
            <a:ext cx="576072" cy="5760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94360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RAM Electronics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4662297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3367278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1693581609558713e+189" dist="1.1912451888445345e+189" dir="5.613064426838642e+221">
              <a:srgbClr val="9AB4CC">
                <a:alpha val="2.9999999999999994e+229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374261" y="3707892"/>
            <a:ext cx="576072" cy="5760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3458718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 Chipset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7526655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6231636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5.295084864413956e+193" dist="1.5128813898325588e+193" dir="3.367838656103185e+226">
              <a:srgbClr val="9AB4CC">
                <a:alpha val="2.9999999999999995e+234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238619" y="3707892"/>
            <a:ext cx="576072" cy="57607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6323076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BIOS Chip</a:t>
            </a:r>
            <a:endParaRPr lang="en-US" sz="1250" dirty="0"/>
          </a:p>
        </p:txBody>
      </p:sp>
      <p:sp>
        <p:nvSpPr>
          <p:cNvPr id="25" name="Shape 19"/>
          <p:cNvSpPr/>
          <p:nvPr/>
        </p:nvSpPr>
        <p:spPr>
          <a:xfrm>
            <a:off x="10391013" y="320040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9095994" y="3502152"/>
            <a:ext cx="2590038" cy="1371600"/>
          </a:xfrm>
          <a:prstGeom prst="roundRect">
            <a:avLst>
              <a:gd name="adj" fmla="val 60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724757777805725e+197" dist="1.9213593650873497e+197" dir="2.020703193661911e+231">
              <a:srgbClr val="9AB4CC">
                <a:alpha val="2.9999999999999994e+239"/>
              </a:srgbClr>
            </a:outerShdw>
          </a:effectLst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02977" y="3707892"/>
            <a:ext cx="576072" cy="5760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9187434" y="4357116"/>
            <a:ext cx="240715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PCIe Logic</a:t>
            </a:r>
            <a:endParaRPr lang="en-US" sz="1250" dirty="0"/>
          </a:p>
        </p:txBody>
      </p:sp>
      <p:sp>
        <p:nvSpPr>
          <p:cNvPr id="29" name="Shape 22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+3.3 V feeds the low-power chips and logic that run RAM, chipset, BIOS and PCIe.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the motherboard distributes power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motherboard receives power from the PSU and acts like a power distribution board.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180387" y="1737360"/>
            <a:ext cx="3749497" cy="1737360"/>
          </a:xfrm>
          <a:prstGeom prst="roundRect">
            <a:avLst>
              <a:gd name="adj" fmla="val 4737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8.54044237781327e+201" dist="2.440126393660934e+201" dir="1.2124219161971466e+236">
              <a:srgbClr val="9AB4CC">
                <a:alpha val="2.999999999999999e+24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690290" y="1997964"/>
            <a:ext cx="729691" cy="7296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2271827" y="2800807"/>
            <a:ext cx="356661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2271827" y="3129991"/>
            <a:ext cx="3566617" cy="271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+12 V · +5 V · +3.3 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948172" y="245973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59068" y="1737360"/>
            <a:ext cx="3749497" cy="173736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0846361819822852e+206" dist="3.0989605199493864e+205" dir="7.27453149718288e+240">
              <a:srgbClr val="9AB4CC">
                <a:alpha val="2.999999999999999e+249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768971" y="1997964"/>
            <a:ext cx="729691" cy="729691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350508" y="2800807"/>
            <a:ext cx="356661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350508" y="3129991"/>
            <a:ext cx="3566617" cy="271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Power distribution board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22876" y="3703320"/>
            <a:ext cx="2743200" cy="822960"/>
          </a:xfrm>
          <a:prstGeom prst="roundRect">
            <a:avLst>
              <a:gd name="adj" fmla="val 10000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1.3774879511175023e+210" dist="3.9356798603357206e+209" dir="4.364718898309728e+245">
              <a:srgbClr val="9AB4CC">
                <a:alpha val="2.999999999999999e+254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5756" y="3822192"/>
            <a:ext cx="585216" cy="58521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591556" y="370332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</a:t>
            </a:r>
            <a:endParaRPr lang="en-US" sz="1500" dirty="0"/>
          </a:p>
        </p:txBody>
      </p:sp>
      <p:sp>
        <p:nvSpPr>
          <p:cNvPr id="20" name="Shape 15"/>
          <p:cNvSpPr/>
          <p:nvPr/>
        </p:nvSpPr>
        <p:spPr>
          <a:xfrm>
            <a:off x="6094476" y="4572000"/>
            <a:ext cx="0" cy="32004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540764" y="4892040"/>
            <a:ext cx="9107424" cy="0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1540764" y="489204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02920" y="5193792"/>
            <a:ext cx="2075688" cy="1280160"/>
          </a:xfrm>
          <a:prstGeom prst="roundRect">
            <a:avLst>
              <a:gd name="adj" fmla="val 6429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7494096979192279e+214" dist="4.9983134226263654e+213" dir="2.6188313389858368e+250">
              <a:srgbClr val="9AB4CC">
                <a:alpha val="2.999999999999999e+259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1930" y="5385816"/>
            <a:ext cx="537667" cy="537667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94360" y="599663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3817620" y="489204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27" name="Shape 21"/>
          <p:cNvSpPr/>
          <p:nvPr/>
        </p:nvSpPr>
        <p:spPr>
          <a:xfrm>
            <a:off x="2779776" y="5193792"/>
            <a:ext cx="2075688" cy="1280160"/>
          </a:xfrm>
          <a:prstGeom prst="roundRect">
            <a:avLst>
              <a:gd name="adj" fmla="val 6429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2217503163574194e+218" dist="6.347858046735484e+217" dir="1.571298803391502e+255">
              <a:srgbClr val="9AB4CC">
                <a:alpha val="2.999999999999999e+264"/>
              </a:srgbClr>
            </a:outerShdw>
          </a:effectLst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48786" y="5385816"/>
            <a:ext cx="537667" cy="537667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2871216" y="599663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RAM</a:t>
            </a:r>
            <a:endParaRPr lang="en-US" sz="1250" dirty="0"/>
          </a:p>
        </p:txBody>
      </p:sp>
      <p:sp>
        <p:nvSpPr>
          <p:cNvPr id="30" name="Shape 23"/>
          <p:cNvSpPr/>
          <p:nvPr/>
        </p:nvSpPr>
        <p:spPr>
          <a:xfrm>
            <a:off x="6094476" y="489204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31" name="Shape 24"/>
          <p:cNvSpPr/>
          <p:nvPr/>
        </p:nvSpPr>
        <p:spPr>
          <a:xfrm>
            <a:off x="5056632" y="5193792"/>
            <a:ext cx="2075688" cy="1280160"/>
          </a:xfrm>
          <a:prstGeom prst="roundRect">
            <a:avLst>
              <a:gd name="adj" fmla="val 6429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8216229017739227e+222" dist="8.061779719354066e+221" dir="9.427792820349012e+259">
              <a:srgbClr val="9AB4CC">
                <a:alpha val="2.999999999999999e+269"/>
              </a:srgbClr>
            </a:outerShdw>
          </a:effectLst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5825642" y="5385816"/>
            <a:ext cx="537667" cy="53766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5148072" y="599663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Chipset</a:t>
            </a:r>
            <a:endParaRPr lang="en-US" sz="1250" dirty="0"/>
          </a:p>
        </p:txBody>
      </p:sp>
      <p:sp>
        <p:nvSpPr>
          <p:cNvPr id="34" name="Shape 26"/>
          <p:cNvSpPr/>
          <p:nvPr/>
        </p:nvSpPr>
        <p:spPr>
          <a:xfrm>
            <a:off x="8371332" y="489204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35" name="Shape 27"/>
          <p:cNvSpPr/>
          <p:nvPr/>
        </p:nvSpPr>
        <p:spPr>
          <a:xfrm>
            <a:off x="7333488" y="5193792"/>
            <a:ext cx="2075688" cy="1280160"/>
          </a:xfrm>
          <a:prstGeom prst="roundRect">
            <a:avLst>
              <a:gd name="adj" fmla="val 6429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5834610852528816e+226" dist="1.0238460243579663e+226" dir="5.656675692209407e+264">
              <a:srgbClr val="9AB4CC">
                <a:alpha val="2.9999999999999988e+274"/>
              </a:srgbClr>
            </a:outerShdw>
          </a:effectLst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102498" y="5385816"/>
            <a:ext cx="537667" cy="537667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424928" y="599663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PCIe Slots</a:t>
            </a:r>
            <a:endParaRPr lang="en-US" sz="1250" dirty="0"/>
          </a:p>
        </p:txBody>
      </p:sp>
      <p:sp>
        <p:nvSpPr>
          <p:cNvPr id="38" name="Shape 29"/>
          <p:cNvSpPr/>
          <p:nvPr/>
        </p:nvSpPr>
        <p:spPr>
          <a:xfrm>
            <a:off x="10648188" y="4892040"/>
            <a:ext cx="0" cy="256032"/>
          </a:xfrm>
          <a:prstGeom prst="line">
            <a:avLst/>
          </a:prstGeom>
          <a:noFill/>
          <a:ln w="25400">
            <a:solidFill>
              <a:srgbClr val="0F6CBD"/>
            </a:solidFill>
            <a:prstDash val="solid"/>
          </a:ln>
        </p:spPr>
      </p:sp>
      <p:sp>
        <p:nvSpPr>
          <p:cNvPr id="39" name="Shape 30"/>
          <p:cNvSpPr/>
          <p:nvPr/>
        </p:nvSpPr>
        <p:spPr>
          <a:xfrm>
            <a:off x="9610344" y="5193792"/>
            <a:ext cx="2075688" cy="1280160"/>
          </a:xfrm>
          <a:prstGeom prst="roundRect">
            <a:avLst>
              <a:gd name="adj" fmla="val 6429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550995578271159e+230" dist="1.3002844509346172e+230" dir="3.3940054153256444e+269">
              <a:srgbClr val="9AB4CC">
                <a:alpha val="2.999999999999999e+279"/>
              </a:srgbClr>
            </a:outerShdw>
          </a:effectLst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10379354" y="5385816"/>
            <a:ext cx="537667" cy="537667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701784" y="599663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USB Ports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POWER IS SPECIAL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motherboard steps 12 V down for the CPU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Although the PSU sends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V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the CPU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cannot use 12 V directly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Modern CPUs usually need about 0.8 V, 1.0 V, 1.1 V or 1.2 V.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the motherboard contains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VRMs (Voltage Regulator Modules)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VRM acts like a precision power converter.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383280"/>
            <a:ext cx="3508248" cy="2011680"/>
          </a:xfrm>
          <a:prstGeom prst="roundRect">
            <a:avLst>
              <a:gd name="adj" fmla="val 4091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5.7797643844043726e+234" dist="1.6513612526869638e+234" dir="2.0364032491953868e+274">
              <a:srgbClr val="9AB4CC">
                <a:alpha val="2.999999999999999e+284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34591" y="3685032"/>
            <a:ext cx="844906" cy="8449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603090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4932274"/>
            <a:ext cx="3325368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V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029456" y="424281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340352" y="3383280"/>
            <a:ext cx="3508248" cy="2011680"/>
          </a:xfrm>
          <a:prstGeom prst="roundRect">
            <a:avLst>
              <a:gd name="adj" fmla="val 409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7.340300768193554e+238" dist="2.097228790912444e+238" dir="1.221841949517232e+279">
              <a:srgbClr val="9AB4CC">
                <a:alpha val="2.999999999999999e+289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72023" y="3685032"/>
            <a:ext cx="844906" cy="8449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431792" y="4603090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VRM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4431792" y="4932274"/>
            <a:ext cx="3325368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Precision converter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7866888" y="424281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8177784" y="3383280"/>
            <a:ext cx="3508248" cy="2011680"/>
          </a:xfrm>
          <a:prstGeom prst="roundRect">
            <a:avLst>
              <a:gd name="adj" fmla="val 409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9.322181975605814e+242" dist="2.663480564458804e+242" dir="7.331051697103393e+283">
              <a:srgbClr val="9AB4CC">
                <a:alpha val="2.999999999999999e+294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09455" y="3685032"/>
            <a:ext cx="844906" cy="8449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269224" y="4603090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CPU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8269224" y="4932274"/>
            <a:ext cx="3325368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~1.1 V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VRM converts 12 V from the PSU into the ~1.1 V the CPU actually runs on.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GPU POWER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Graphics cards receive 12 V and regulate it internally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1.1839171109019383e+247" dist="3.3826203168626813e+246" dir="4.3986310182620354e+288">
              <a:srgbClr val="9AB4CC">
                <a:alpha val="2.999999999999999e+299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4912" y="1993392"/>
            <a:ext cx="844906" cy="84490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91145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24063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V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070098" y="25511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380994" y="169164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5035747308454617e+251" dist="4.295927802415605e+250" dir="2.6391786109572213e+293">
              <a:srgbClr val="9AB4CC">
                <a:alpha val="2.999999999999999e+304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2986" y="1993392"/>
            <a:ext cx="844906" cy="844906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72434" y="291145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PCIe Cable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3472434" y="324063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Dedicated GPU power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48172" y="25511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259068" y="169164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9095399081737364e+255" dist="5.455828309067819e+254" dir="1.5835071665743328e+298">
              <a:srgbClr val="9AB4CC">
                <a:alpha val="Infinity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1060" y="1993392"/>
            <a:ext cx="844906" cy="84490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0508" y="291145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GPU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6350508" y="324063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regulators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8826246" y="25511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9137142" y="169164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2.425115683380645e+259" dist="6.928901952516129e+258" dir="9.501042999445996e+302">
              <a:srgbClr val="9AB4CC">
                <a:alpha val="Infinity"/>
              </a:srgbClr>
            </a:outerShdw>
          </a:effectLst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9134" y="1993392"/>
            <a:ext cx="844906" cy="844906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9228582" y="291145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· Memory · Controllers</a:t>
            </a:r>
            <a:endParaRPr lang="en-US" sz="1250" dirty="0"/>
          </a:p>
        </p:txBody>
      </p:sp>
      <p:sp>
        <p:nvSpPr>
          <p:cNvPr id="25" name="Text 19"/>
          <p:cNvSpPr/>
          <p:nvPr/>
        </p:nvSpPr>
        <p:spPr>
          <a:xfrm>
            <a:off x="9228582" y="324063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destination</a:t>
            </a:r>
            <a:endParaRPr lang="en-US" sz="1000" dirty="0"/>
          </a:p>
        </p:txBody>
      </p:sp>
      <p:sp>
        <p:nvSpPr>
          <p:cNvPr id="26" name="Text 20"/>
          <p:cNvSpPr/>
          <p:nvPr/>
        </p:nvSpPr>
        <p:spPr>
          <a:xfrm>
            <a:off x="502920" y="4023360"/>
            <a:ext cx="111831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Graphics cards also receive 12 V.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voltage regulators feed the GPU core, memory and controllers.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high-end graphics card may consume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300–600 watts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so it has its own dedicated power connectors.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High-end GPUs pull hundreds of watts — they get their own PCIe power cables.</a:t>
            </a:r>
            <a:endParaRPr lang="en-US" sz="10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SSD POWER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Very simple — one voltage only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900809" y="1828800"/>
            <a:ext cx="4029075" cy="2194560"/>
          </a:xfrm>
          <a:prstGeom prst="roundRect">
            <a:avLst>
              <a:gd name="adj" fmla="val 3750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3.079896917893419e+263" dist="8.799705479695485e+262" dir="5.700625799667598e+307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4489" y="2157984"/>
            <a:ext cx="921715" cy="9217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992249" y="3152851"/>
            <a:ext cx="38461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1992249" y="3482035"/>
            <a:ext cx="3846195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V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8172" y="27797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59068" y="1828800"/>
            <a:ext cx="4029075" cy="2194560"/>
          </a:xfrm>
          <a:prstGeom prst="roundRect">
            <a:avLst>
              <a:gd name="adj" fmla="val 375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9114690857246423e+267" dist="1.1175625959213265e+267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2748" y="2157984"/>
            <a:ext cx="921715" cy="9217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0508" y="3152851"/>
            <a:ext cx="38461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SSD Controller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50508" y="3482035"/>
            <a:ext cx="3846195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Flash memory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502920" y="45720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SSD is much simpler. Very little power is needed.</a:t>
            </a:r>
            <a:endParaRPr lang="en-US" sz="1500" dirty="0"/>
          </a:p>
        </p:txBody>
      </p:sp>
      <p:sp>
        <p:nvSpPr>
          <p:cNvPr id="17" name="Shape 13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SSDs have no motors — 5 V is enough for the controller and flash memory.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HDD POWER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Hard drives need two voltages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362956" cy="2468880"/>
          </a:xfrm>
          <a:prstGeom prst="roundRect">
            <a:avLst>
              <a:gd name="adj" fmla="val 333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4.9675657388702955e+271" dist="1.4193044968200846e+271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65933" y="2107692"/>
            <a:ext cx="1036930" cy="103693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217774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 V — Spins the platters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546958"/>
            <a:ext cx="5180076" cy="586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motor uses 12 V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323076" y="1737360"/>
            <a:ext cx="5362956" cy="2468880"/>
          </a:xfrm>
          <a:prstGeom prst="roundRect">
            <a:avLst>
              <a:gd name="adj" fmla="val 333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6.308808488365275e+275" dist="1.8025167109615074e+275" dir="Infinity">
              <a:srgbClr val="9AB4CC">
                <a:alpha val="Infinity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86089" y="2107692"/>
            <a:ext cx="1036930" cy="10369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14516" y="3217774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 V — Runs the electronics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6414516" y="3546958"/>
            <a:ext cx="5180076" cy="58613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controller chip uses 5 V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02920" y="44348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 drives need two voltages — one for the motor, one for the electronics.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Anything with a motor (HDD, fans, pumps) needs 12 V. Logic still runs on 5 V.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Fans use 12 V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08248" cy="2194560"/>
          </a:xfrm>
          <a:prstGeom prst="roundRect">
            <a:avLst>
              <a:gd name="adj" fmla="val 3750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8.012186780223899e+279" dist="2.2891962229211143e+279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6186" y="2157984"/>
            <a:ext cx="921715" cy="9217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152851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482035"/>
            <a:ext cx="332536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 V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029456" y="27797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0352" y="1828800"/>
            <a:ext cx="3508248" cy="2194560"/>
          </a:xfrm>
          <a:prstGeom prst="roundRect">
            <a:avLst>
              <a:gd name="adj" fmla="val 375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1.0175477210884352e+284" dist="2.9072792031098153e+283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3618" y="2157984"/>
            <a:ext cx="921715" cy="9217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1792" y="3152851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Motor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31792" y="3482035"/>
            <a:ext cx="332536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Converts current to rotation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866888" y="27797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77784" y="1828800"/>
            <a:ext cx="3508248" cy="2194560"/>
          </a:xfrm>
          <a:prstGeom prst="roundRect">
            <a:avLst>
              <a:gd name="adj" fmla="val 375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1.2922856057823127e+288" dist="3.6922445879494656e+287" dir="Infinity">
              <a:srgbClr val="9AB4CC">
                <a:alpha val="Infinity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1050" y="2157984"/>
            <a:ext cx="921715" cy="9217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9224" y="3152851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Fan Spins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69224" y="3482035"/>
            <a:ext cx="332536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Cooling airflow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" y="457200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motherboard can change the voltage or use PWM signals to control fan speed.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Fan speed is controlled by adjusting the voltage or using PWM signals.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SUMMARY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complete power journey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1.6412027193435371e+292" dist="4.6891506266958215e+291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54076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6152" y="144475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 Outlet — 230 V AC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56382" y="2167128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350008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0843274535662923e+296" dist="5.955221295903693e+295" dir="Infinity">
              <a:srgbClr val="9AB4CC">
                <a:alpha val="Infinity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" y="251917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6152" y="2423160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EMI Filter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56382" y="3145536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328416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2.647095866029191e+300" dist="7.56313104579769e+299" dir="Infinity">
              <a:srgbClr val="9AB4CC">
                <a:alpha val="Infinity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349758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16152" y="3401568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 (AC → DC)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056382" y="4123944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" y="4306824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3.3618117498570727e+304" dist="9.605176428163068e+303" dir="Infinity">
              <a:srgbClr val="9AB4CC">
                <a:alpha val="Infinity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475988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16152" y="4379976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High-Speed Switching (MOSFETs)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056382" y="5102352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02920" y="5285232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1.2198574063767096e+308" dir="Infinity">
              <a:srgbClr val="9AB4CC">
                <a:alpha val="Infinity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5454396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16152" y="5358384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 (steps down)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323076" y="137160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7668" y="1540764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36308" y="144475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876538" y="2167128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323076" y="2350008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7668" y="2519172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36308" y="2423160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Capacitors (smoothing)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8876538" y="3145536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323076" y="3328416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87668" y="3497580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36308" y="3401568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Voltage Regulators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8876538" y="4123944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323076" y="4306824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87668" y="4475988"/>
            <a:ext cx="438912" cy="43891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036308" y="4379976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+12 V · +5 V · +3.3 V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8876538" y="5102352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323076" y="5285232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87668" y="5454396"/>
            <a:ext cx="438912" cy="43891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036308" y="5358384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 · GPU · SSD · HDD · Fans · USB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SIMPLE ANALOGY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Imagine your house has a water treatment plant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691640"/>
            <a:ext cx="2075688" cy="2194560"/>
          </a:xfrm>
          <a:prstGeom prst="roundRect">
            <a:avLst>
              <a:gd name="adj" fmla="val 3965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04870" y="2020824"/>
            <a:ext cx="871789" cy="87178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296576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 outlet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294949"/>
            <a:ext cx="1892808" cy="518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large river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2779776" y="1691640"/>
            <a:ext cx="2075688" cy="2194560"/>
          </a:xfrm>
          <a:prstGeom prst="roundRect">
            <a:avLst>
              <a:gd name="adj" fmla="val 3965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81726" y="2020824"/>
            <a:ext cx="871789" cy="87178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2871216" y="296576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PSU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2871216" y="3294949"/>
            <a:ext cx="1892808" cy="518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Cleans &amp; controls water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5056632" y="1691640"/>
            <a:ext cx="2075688" cy="2194560"/>
          </a:xfrm>
          <a:prstGeom prst="roundRect">
            <a:avLst>
              <a:gd name="adj" fmla="val 3965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658582" y="2020824"/>
            <a:ext cx="871789" cy="87178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148072" y="296576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Pipes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148072" y="3294949"/>
            <a:ext cx="1892808" cy="518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PSU cables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7333488" y="1691640"/>
            <a:ext cx="2075688" cy="2194560"/>
          </a:xfrm>
          <a:prstGeom prst="roundRect">
            <a:avLst>
              <a:gd name="adj" fmla="val 3965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5438" y="2020824"/>
            <a:ext cx="871789" cy="871789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7424928" y="296576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</a:t>
            </a:r>
            <a:endParaRPr lang="en-US" sz="1250" dirty="0"/>
          </a:p>
        </p:txBody>
      </p:sp>
      <p:sp>
        <p:nvSpPr>
          <p:cNvPr id="22" name="Text 16"/>
          <p:cNvSpPr/>
          <p:nvPr/>
        </p:nvSpPr>
        <p:spPr>
          <a:xfrm>
            <a:off x="7424928" y="3294949"/>
            <a:ext cx="1892808" cy="518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 water network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9610344" y="1691640"/>
            <a:ext cx="2075688" cy="2194560"/>
          </a:xfrm>
          <a:prstGeom prst="roundRect">
            <a:avLst>
              <a:gd name="adj" fmla="val 3965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212294" y="2020824"/>
            <a:ext cx="871789" cy="871789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701784" y="2965765"/>
            <a:ext cx="18928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Buildings</a:t>
            </a:r>
            <a:endParaRPr lang="en-US" sz="1250" dirty="0"/>
          </a:p>
        </p:txBody>
      </p:sp>
      <p:sp>
        <p:nvSpPr>
          <p:cNvPr id="26" name="Text 19"/>
          <p:cNvSpPr/>
          <p:nvPr/>
        </p:nvSpPr>
        <p:spPr>
          <a:xfrm>
            <a:off x="9701784" y="3294949"/>
            <a:ext cx="1892808" cy="51809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CPU · GPU · SSD · RAM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502920" y="4160520"/>
            <a:ext cx="111831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PSU makes sure </a:t>
            </a:r>
            <a:pPr indent="0" marL="0">
              <a:lnSpc>
                <a:spcPct val="120000"/>
              </a:lnSpc>
              <a:buNone/>
            </a:pPr>
            <a:r>
              <a:rPr lang="en-US" sz="135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component gets exactly the right amount of clean, stable power</a:t>
            </a:r>
            <a:pPr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 Too much power could damage the component, too little power could cause crashes, so the PSU continuously regulates and distributes electricity safely throughout the computer.</a:t>
            </a:r>
            <a:endParaRPr lang="en-US" sz="1350" dirty="0"/>
          </a:p>
        </p:txBody>
      </p:sp>
      <p:sp>
        <p:nvSpPr>
          <p:cNvPr id="28" name="Shape 21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30" name="Text 22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PSU = water treatment plant · Cables = pipes · Motherboard = city network · Components = buildings.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3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 deep dive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8439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one-way gate for electricity — how diodes turn AC into DC.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A RECTIFIER?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one-way gate for electricity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rectifier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is like 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gate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for electricity.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Electricity from your wall outlet moves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 and backward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(AC).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rectifier only allows electricity to move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forward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, turning it into DC.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Think of it like a revolving door at a stadium.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703320"/>
            <a:ext cx="3593592" cy="1920240"/>
          </a:xfrm>
          <a:prstGeom prst="roundRect">
            <a:avLst>
              <a:gd name="adj" fmla="val 4286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96466" y="3991356"/>
            <a:ext cx="806501" cy="80650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871009"/>
            <a:ext cx="3410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5200193"/>
            <a:ext cx="3410712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walking in and out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3703320"/>
            <a:ext cx="3593592" cy="1920240"/>
          </a:xfrm>
          <a:prstGeom prst="roundRect">
            <a:avLst>
              <a:gd name="adj" fmla="val 4286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91226" y="3991356"/>
            <a:ext cx="806501" cy="80650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4871009"/>
            <a:ext cx="3410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389120" y="5200193"/>
            <a:ext cx="3410712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lets people through one way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92440" y="3703320"/>
            <a:ext cx="3593592" cy="1920240"/>
          </a:xfrm>
          <a:prstGeom prst="roundRect">
            <a:avLst>
              <a:gd name="adj" fmla="val 4286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85986" y="3991356"/>
            <a:ext cx="806501" cy="80650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4871009"/>
            <a:ext cx="3410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DC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83880" y="5200193"/>
            <a:ext cx="3410712" cy="350215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Everyone walking the same way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BEFORE THE RECTIFIER (AC)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Electricity keeps changing direction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426964" cy="2103120"/>
          </a:xfrm>
          <a:prstGeom prst="roundRect">
            <a:avLst>
              <a:gd name="adj" fmla="val 391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4747" y="2052828"/>
            <a:ext cx="883310" cy="8833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009290"/>
            <a:ext cx="52440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 ← → ← → ←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338474"/>
            <a:ext cx="5244084" cy="4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current flow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8172" y="264261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59068" y="1737360"/>
            <a:ext cx="5426964" cy="2103120"/>
          </a:xfrm>
          <a:prstGeom prst="roundRect">
            <a:avLst>
              <a:gd name="adj" fmla="val 3913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0895" y="2052828"/>
            <a:ext cx="883310" cy="8833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0508" y="3009290"/>
            <a:ext cx="52440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Sine Waveform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50508" y="3338474"/>
            <a:ext cx="5244084" cy="4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 then negative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977640"/>
            <a:ext cx="11183112" cy="1280160"/>
          </a:xfrm>
          <a:prstGeom prst="roundRect">
            <a:avLst>
              <a:gd name="adj" fmla="val 6429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4069080"/>
            <a:ext cx="1090879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Voltage:      /\        /\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/  \      /  \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___________/    \____/    \___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\   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\  /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\/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502920" y="5349240"/>
            <a:ext cx="11183112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voltage goes positive…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then negative…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times every second.</a:t>
            </a:r>
            <a:endParaRPr lang="en-US" sz="13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AFTER THE RECTIFIER (DC)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Electricity only flows in one direction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737360"/>
            <a:ext cx="5426964" cy="2103120"/>
          </a:xfrm>
          <a:prstGeom prst="roundRect">
            <a:avLst>
              <a:gd name="adj" fmla="val 391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774747" y="2052828"/>
            <a:ext cx="883310" cy="88331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009290"/>
            <a:ext cx="52440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→ → → → → →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338474"/>
            <a:ext cx="5244084" cy="4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direction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948172" y="264261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59068" y="1737360"/>
            <a:ext cx="5426964" cy="2103120"/>
          </a:xfrm>
          <a:prstGeom prst="roundRect">
            <a:avLst>
              <a:gd name="adj" fmla="val 3913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530895" y="2052828"/>
            <a:ext cx="883310" cy="88331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350508" y="3009290"/>
            <a:ext cx="524408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Flat DC Waveform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350508" y="3338474"/>
            <a:ext cx="5244084" cy="42885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Steady, forward only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02920" y="3977640"/>
            <a:ext cx="11183112" cy="914400"/>
          </a:xfrm>
          <a:prstGeom prst="roundRect">
            <a:avLst>
              <a:gd name="adj" fmla="val 900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40080" y="4069080"/>
            <a:ext cx="1090879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────────────────────────────────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502920" y="51206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Now the computer can use it.</a:t>
            </a:r>
            <a:endParaRPr lang="en-US" sz="1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A RECTIFIER WORK?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Diodes — one-way valves for electricity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Inside are special electronic parts called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diodes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diode behaves like 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valve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— forward is allowed, backward is blocked.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PSU usually uses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diodes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arranged in a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Bridge Rectifier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converts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230 V AC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into approximately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320 V DC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356616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354912" y="3867912"/>
            <a:ext cx="844906" cy="844906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78597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Forward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511515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Allowed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070098" y="44256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380994" y="356616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232986" y="3867912"/>
            <a:ext cx="844906" cy="84490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472434" y="478597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Diode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3472434" y="511515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One-way valve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5948172" y="44256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259068" y="356616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F4F5F7"/>
          </a:solidFill>
          <a:ln w="12700">
            <a:solidFill>
              <a:srgbClr val="DADDE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111060" y="3867912"/>
            <a:ext cx="844906" cy="844906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350508" y="478597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Backward</a:t>
            </a:r>
            <a:endParaRPr lang="en-US" sz="1250" dirty="0"/>
          </a:p>
        </p:txBody>
      </p:sp>
      <p:sp>
        <p:nvSpPr>
          <p:cNvPr id="21" name="Text 16"/>
          <p:cNvSpPr/>
          <p:nvPr/>
        </p:nvSpPr>
        <p:spPr>
          <a:xfrm>
            <a:off x="6350508" y="511515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Blocked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8826246" y="442569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9137142" y="3566160"/>
            <a:ext cx="2548890" cy="2011680"/>
          </a:xfrm>
          <a:prstGeom prst="roundRect">
            <a:avLst>
              <a:gd name="adj" fmla="val 4091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89134" y="3867912"/>
            <a:ext cx="844906" cy="844906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228582" y="4785970"/>
            <a:ext cx="236601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Rectifier</a:t>
            </a:r>
            <a:endParaRPr lang="en-US" sz="1250" dirty="0"/>
          </a:p>
        </p:txBody>
      </p:sp>
      <p:sp>
        <p:nvSpPr>
          <p:cNvPr id="26" name="Text 20"/>
          <p:cNvSpPr/>
          <p:nvPr/>
        </p:nvSpPr>
        <p:spPr>
          <a:xfrm>
            <a:off x="9228582" y="5115154"/>
            <a:ext cx="2366010" cy="38953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diodes together</a:t>
            </a:r>
            <a:endParaRPr lang="en-US" sz="1000" dirty="0"/>
          </a:p>
        </p:txBody>
      </p:sp>
      <p:sp>
        <p:nvSpPr>
          <p:cNvPr id="27" name="Shape 21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Four diodes wired as a bridge convert 230 V AC into ~320 V DC.</a:t>
            </a:r>
            <a:endParaRPr lang="en-US" sz="10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IS THE RECTIFIER INSIDE THE PSU?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Location in the power chain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357116" y="1371600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1708" y="163220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0348" y="1444752"/>
            <a:ext cx="2651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 Outlet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66460" y="2350008"/>
            <a:ext cx="256032" cy="219456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7116" y="2587752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708" y="2848356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0348" y="2660904"/>
            <a:ext cx="2651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EMI Filter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66460" y="3566160"/>
            <a:ext cx="256032" cy="219456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57116" y="3803904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08" y="4064508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0348" y="3877056"/>
            <a:ext cx="2651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
</a:t>
            </a:r>
            <a:pPr indent="0" marL="0">
              <a:buNone/>
            </a:pPr>
            <a:r>
              <a:rPr lang="en-US" sz="105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here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966460" y="4782312"/>
            <a:ext cx="256032" cy="219456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357116" y="5020056"/>
            <a:ext cx="3474720" cy="960120"/>
          </a:xfrm>
          <a:prstGeom prst="roundRect">
            <a:avLst>
              <a:gd name="adj" fmla="val 8571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708" y="5280660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0348" y="5093208"/>
            <a:ext cx="2651760" cy="8138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MOSFETs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rectifier sits after the EMI filter and before the high-speed MOSFET switches.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EA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2920" y="1554480"/>
            <a:ext cx="640080" cy="6400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237744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 4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02920" y="2788920"/>
            <a:ext cx="1118311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 deep dive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502920" y="3749040"/>
            <a:ext cx="84399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impossibly-fast electronic switch that makes the modern PSU possible.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02920" y="4572000"/>
            <a:ext cx="1280160" cy="109728"/>
          </a:xfrm>
          <a:prstGeom prst="roundRect">
            <a:avLst>
              <a:gd name="adj" fmla="val 50000"/>
            </a:avLst>
          </a:prstGeom>
          <a:solidFill>
            <a:srgbClr val="0F6CBD"/>
          </a:solidFill>
          <a:ln/>
        </p:spPr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WHAT ARE MOSFETS?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Metal-Oxide-Semiconductor Field-Effect Transistor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371600"/>
            <a:ext cx="11183112" cy="1005840"/>
          </a:xfrm>
          <a:prstGeom prst="roundRect">
            <a:avLst>
              <a:gd name="adj" fmla="val 8182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7240" y="1371600"/>
            <a:ext cx="10634472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MOSFET stands for:  </a:t>
            </a:r>
            <a:pPr indent="0" marL="0">
              <a:buNone/>
            </a:pPr>
            <a:r>
              <a:rPr lang="en-US" sz="15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Metal-Oxide-Semiconductor Field-Effect Transistor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26060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sounds complicated, but its job is actually simple.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900809" y="3383280"/>
            <a:ext cx="4029075" cy="2194560"/>
          </a:xfrm>
          <a:prstGeom prst="roundRect">
            <a:avLst>
              <a:gd name="adj" fmla="val 375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454489" y="3712464"/>
            <a:ext cx="921715" cy="921715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992249" y="4707331"/>
            <a:ext cx="38461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1992249" y="5036515"/>
            <a:ext cx="3846195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transistor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948172" y="433425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259068" y="3383280"/>
            <a:ext cx="4029075" cy="2194560"/>
          </a:xfrm>
          <a:prstGeom prst="roundRect">
            <a:avLst>
              <a:gd name="adj" fmla="val 3750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12748" y="3712464"/>
            <a:ext cx="921715" cy="92171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6350508" y="4707331"/>
            <a:ext cx="3846195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Electronic Switch</a:t>
            </a:r>
            <a:endParaRPr lang="en-US" sz="1250" dirty="0"/>
          </a:p>
        </p:txBody>
      </p:sp>
      <p:sp>
        <p:nvSpPr>
          <p:cNvPr id="18" name="Text 14"/>
          <p:cNvSpPr/>
          <p:nvPr/>
        </p:nvSpPr>
        <p:spPr>
          <a:xfrm>
            <a:off x="6350508" y="5036515"/>
            <a:ext cx="3846195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 / OFF at incredible speed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MOSFET · SIMPLE EXPLANATION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 extremely fast electronic switch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MOSFET is an </a:t>
            </a:r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extremely fast electronic switch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 someone turning a light switch on and off: ON / OFF / ON / OFF.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human can do this maybe once every second.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834640"/>
            <a:ext cx="5362956" cy="2560320"/>
          </a:xfrm>
          <a:prstGeom prst="roundRect">
            <a:avLst>
              <a:gd name="adj" fmla="val 3214"/>
            </a:avLst>
          </a:prstGeom>
          <a:solidFill>
            <a:srgbClr val="F4F5F7"/>
          </a:solidFill>
          <a:ln w="12700">
            <a:solidFill>
              <a:srgbClr val="DADDE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46731" y="3218688"/>
            <a:ext cx="1075334" cy="107533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4367174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Human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4696358"/>
            <a:ext cx="5180076" cy="625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≈ 1 switch per second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6323076" y="2834640"/>
            <a:ext cx="5362956" cy="2560320"/>
          </a:xfrm>
          <a:prstGeom prst="roundRect">
            <a:avLst>
              <a:gd name="adj" fmla="val 321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66887" y="3218688"/>
            <a:ext cx="1075334" cy="107533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6414516" y="4367174"/>
            <a:ext cx="5180076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6414516" y="4696358"/>
            <a:ext cx="5180076" cy="6254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  ·  200,000  ·  300,000  ·  500,000 times every second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939028" y="3959352"/>
            <a:ext cx="310896" cy="310896"/>
          </a:xfrm>
          <a:prstGeom prst="rightArrow">
            <a:avLst/>
          </a:prstGeom>
          <a:solidFill>
            <a:srgbClr val="0F6CBD"/>
          </a:solidFill>
          <a:ln/>
        </p:spPr>
      </p:sp>
      <p:sp>
        <p:nvSpPr>
          <p:cNvPr id="17" name="Shape 13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MOSFET can switch hundreds of thousands of times per second — far beyond human speed.</a:t>
            </a:r>
            <a:endParaRPr lang="en-US" sz="10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SWITCH SO FAST?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Because it makes the transformer tiny and efficient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PSU needs to reduce the voltage. Instead of using a huge transformer like older power supplies, modern PSUs: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2103120"/>
            <a:ext cx="3593592" cy="173736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934870" y="2363724"/>
            <a:ext cx="729691" cy="729691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594360" y="3166567"/>
            <a:ext cx="3410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Convert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94360" y="3495751"/>
            <a:ext cx="3410712" cy="271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to DC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297680" y="2103120"/>
            <a:ext cx="3593592" cy="173736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29630" y="2363724"/>
            <a:ext cx="729691" cy="7296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389120" y="3166567"/>
            <a:ext cx="3410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Chop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389120" y="3495751"/>
            <a:ext cx="3410712" cy="271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DC into tiny pulses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8092440" y="2103120"/>
            <a:ext cx="3593592" cy="1737360"/>
          </a:xfrm>
          <a:prstGeom prst="roundRect">
            <a:avLst>
              <a:gd name="adj" fmla="val 4737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4390" y="2363724"/>
            <a:ext cx="729691" cy="72969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183880" y="3166567"/>
            <a:ext cx="341071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Send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8183880" y="3495751"/>
            <a:ext cx="3410712" cy="27157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Pulses through a small transformer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502920" y="40233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makes the PSU: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02920" y="4389120"/>
            <a:ext cx="11183112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 smaller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 lighter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efficient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cooler</a:t>
            </a:r>
            <a:endParaRPr lang="en-US" sz="13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MOSFET WAVEFORM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Instead of a smooth wave — tiny square pulses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a smooth wave…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11183112" cy="822960"/>
          </a:xfrm>
          <a:prstGeom prst="roundRect">
            <a:avLst>
              <a:gd name="adj" fmla="val 10000"/>
            </a:avLst>
          </a:prstGeom>
          <a:solidFill>
            <a:srgbClr val="F4F5F7"/>
          </a:solidFill>
          <a:ln w="12700">
            <a:solidFill>
              <a:srgbClr val="DADD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09087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──────────────────────────────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" y="26974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…the MOSFET creates tiny square pulses: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2920" y="3108960"/>
            <a:ext cx="11183112" cy="1097280"/>
          </a:xfrm>
          <a:prstGeom prst="roundRect">
            <a:avLst>
              <a:gd name="adj" fmla="val 750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200400"/>
            <a:ext cx="1090879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0020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_|‾|_|‾|_|‾|_|‾|_|‾|_|‾|_|‾|_|‾|_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" y="4434840"/>
            <a:ext cx="111831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pulses can be over </a:t>
            </a:r>
            <a:pPr algn="ctr" indent="0" marL="0">
              <a:buNone/>
            </a:pPr>
            <a:r>
              <a:rPr lang="en-US" sz="15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100,000 times per second</a:t>
            </a:r>
            <a:pPr algn="ctr" indent="0" marL="0">
              <a:buNone/>
            </a:pPr>
            <a:r>
              <a:rPr lang="en-US" sz="15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MOSFETs replace smooth waves with rapid square pulses — the language of switching PSUs.</a:t>
            </a:r>
            <a:endParaRPr lang="en-US" sz="10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NOT LEAVE THE ELECTRICITY ON?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swimming-pool analogy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828800"/>
            <a:ext cx="3508248" cy="2194560"/>
          </a:xfrm>
          <a:prstGeom prst="roundRect">
            <a:avLst>
              <a:gd name="adj" fmla="val 3750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96186" y="2157984"/>
            <a:ext cx="921715" cy="921715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94360" y="3152851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Filling a Pool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594360" y="3482035"/>
            <a:ext cx="332536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one huge bucket…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029456" y="27797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340352" y="1828800"/>
            <a:ext cx="3508248" cy="2194560"/>
          </a:xfrm>
          <a:prstGeom prst="roundRect">
            <a:avLst>
              <a:gd name="adj" fmla="val 375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633618" y="2157984"/>
            <a:ext cx="921715" cy="921715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431792" y="3152851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Many Tiny Cups</a:t>
            </a:r>
            <a:endParaRPr lang="en-US" sz="1250" dirty="0"/>
          </a:p>
        </p:txBody>
      </p:sp>
      <p:sp>
        <p:nvSpPr>
          <p:cNvPr id="15" name="Text 11"/>
          <p:cNvSpPr/>
          <p:nvPr/>
        </p:nvSpPr>
        <p:spPr>
          <a:xfrm>
            <a:off x="4431792" y="3482035"/>
            <a:ext cx="332536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Poured very quickly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7866888" y="2779776"/>
            <a:ext cx="292608" cy="292608"/>
          </a:xfrm>
          <a:prstGeom prst="right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77784" y="1828800"/>
            <a:ext cx="3508248" cy="2194560"/>
          </a:xfrm>
          <a:prstGeom prst="roundRect">
            <a:avLst>
              <a:gd name="adj" fmla="val 3750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71050" y="2157984"/>
            <a:ext cx="921715" cy="921715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69224" y="3152851"/>
            <a:ext cx="33253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Easier to Control</a:t>
            </a:r>
            <a:endParaRPr lang="en-US" sz="1250" dirty="0"/>
          </a:p>
        </p:txBody>
      </p:sp>
      <p:sp>
        <p:nvSpPr>
          <p:cNvPr id="20" name="Text 15"/>
          <p:cNvSpPr/>
          <p:nvPr/>
        </p:nvSpPr>
        <p:spPr>
          <a:xfrm>
            <a:off x="8269224" y="3482035"/>
            <a:ext cx="3325368" cy="468173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Exactly what a MOSFET does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502920" y="4251960"/>
            <a:ext cx="11183112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Imagine filling a swimming pool.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Instead of one huge bucket… you pour many tiny cups very quickly.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It becomes much easier to control.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That's exactly what a MOSFET does with electricity.</a:t>
            </a:r>
            <a:endParaRPr lang="en-US" sz="14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HAPPENS AFTER THE MOSFET?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It enables the transformer to do its job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357116" y="1280160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521708" y="149504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70348" y="1353312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Wall Outlet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5966460" y="2167128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57116" y="2350008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1708" y="2564892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070348" y="2423160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66460" y="3236976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357116" y="3419856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521708" y="3634740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70348" y="3493008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
</a:t>
            </a:r>
            <a:pPr indent="0" marL="0">
              <a:buNone/>
            </a:pPr>
            <a:r>
              <a:rPr lang="en-US" sz="105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 are here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5966460" y="4306824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357116" y="4489704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521708" y="4704588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070348" y="4562856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5966460" y="5376672"/>
            <a:ext cx="256032" cy="164592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4357116" y="5559552"/>
            <a:ext cx="3474720" cy="868680"/>
          </a:xfrm>
          <a:prstGeom prst="roundRect">
            <a:avLst>
              <a:gd name="adj" fmla="val 9474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21708" y="5774436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5070348" y="5632704"/>
            <a:ext cx="2651760" cy="722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Low Voltage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transformer only works because the MOSFET is switching so rapidly.</a:t>
            </a:r>
            <a:endParaRPr lang="en-US" sz="10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ARE MOSFETS SO IMPORTANT?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They power the modern electronic world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28016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them the PSU would be: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02920" y="1691640"/>
            <a:ext cx="11183112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much bigger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heavier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efficient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hotter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■"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more expensive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3383280"/>
            <a:ext cx="1118311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Nearly every modern electronic device uses MOSFETs, including: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502920" y="3840480"/>
            <a:ext cx="1472184" cy="1737360"/>
          </a:xfrm>
          <a:prstGeom prst="roundRect">
            <a:avLst>
              <a:gd name="adj" fmla="val 559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29853" y="4101084"/>
            <a:ext cx="618317" cy="61831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594360" y="4792553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Computer PSUs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2121408" y="3840480"/>
            <a:ext cx="1472184" cy="1737360"/>
          </a:xfrm>
          <a:prstGeom prst="roundRect">
            <a:avLst>
              <a:gd name="adj" fmla="val 559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48341" y="4101084"/>
            <a:ext cx="618317" cy="618317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212848" y="4792553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Motherboards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739896" y="3840480"/>
            <a:ext cx="1472184" cy="1737360"/>
          </a:xfrm>
          <a:prstGeom prst="roundRect">
            <a:avLst>
              <a:gd name="adj" fmla="val 559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66829" y="4101084"/>
            <a:ext cx="618317" cy="61831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3831336" y="4792553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Graphics cards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358384" y="3840480"/>
            <a:ext cx="1472184" cy="1737360"/>
          </a:xfrm>
          <a:prstGeom prst="roundRect">
            <a:avLst>
              <a:gd name="adj" fmla="val 559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85317" y="4101084"/>
            <a:ext cx="618317" cy="618317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9824" y="4792553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Laptop chargers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6976872" y="3840480"/>
            <a:ext cx="1472184" cy="1737360"/>
          </a:xfrm>
          <a:prstGeom prst="roundRect">
            <a:avLst>
              <a:gd name="adj" fmla="val 559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03805" y="4101084"/>
            <a:ext cx="618317" cy="618317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068312" y="4792553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Phone chargers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8595360" y="3840480"/>
            <a:ext cx="1472184" cy="1737360"/>
          </a:xfrm>
          <a:prstGeom prst="roundRect">
            <a:avLst>
              <a:gd name="adj" fmla="val 559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9022293" y="4101084"/>
            <a:ext cx="618317" cy="618317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686800" y="4792553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Electric vehicles</a:t>
            </a:r>
            <a:endParaRPr lang="en-US" sz="1250" dirty="0"/>
          </a:p>
        </p:txBody>
      </p:sp>
      <p:sp>
        <p:nvSpPr>
          <p:cNvPr id="28" name="Shape 20"/>
          <p:cNvSpPr/>
          <p:nvPr/>
        </p:nvSpPr>
        <p:spPr>
          <a:xfrm>
            <a:off x="10213848" y="3840480"/>
            <a:ext cx="1472184" cy="1737360"/>
          </a:xfrm>
          <a:prstGeom prst="roundRect">
            <a:avLst>
              <a:gd name="adj" fmla="val 5590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9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40781" y="4101084"/>
            <a:ext cx="618317" cy="618317"/>
          </a:xfrm>
          <a:prstGeom prst="rect">
            <a:avLst/>
          </a:prstGeom>
        </p:spPr>
      </p:pic>
      <p:sp>
        <p:nvSpPr>
          <p:cNvPr id="30" name="Text 21"/>
          <p:cNvSpPr/>
          <p:nvPr/>
        </p:nvSpPr>
        <p:spPr>
          <a:xfrm>
            <a:off x="10305288" y="4792553"/>
            <a:ext cx="128930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Solar inverters</a:t>
            </a:r>
            <a:endParaRPr lang="en-US" sz="12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RECTIFIER VS MOSFET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Side-by-side comparison</a:t>
            </a:r>
            <a:endParaRPr lang="en-US" sz="260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83112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4480560"/>
                <a:gridCol w="4690872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Aspect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Rectifier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ptos Display" pitchFamily="34" charset="0"/>
                          <a:ea typeface="Aptos Display" pitchFamily="34" charset="-122"/>
                          <a:cs typeface="Aptos Display" pitchFamily="34" charset="-120"/>
                        </a:rPr>
                        <a:t>MOSFET</a:t>
                      </a:r>
                      <a:endParaRPr lang="en-US" sz="1300" dirty="0">
                        <a:latin typeface="Aptos Display" charset="0"/>
                        <a:ea typeface="Aptos Display" charset="0"/>
                        <a:cs typeface="Aptos Display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6CBD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Job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Converts AC to DC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Switches DC on and off at very high speed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Built from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Diodes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Transistors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Controls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Only the direction of current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When current flows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Stage in PSU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First major conversion stage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Second major conversion stage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Produces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DC power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02050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High-frequency pulses</a:t>
                      </a:r>
                      <a:endParaRPr lang="en-US" sz="125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91440" marR="91440" marT="91440" marB="91440" anchor="ctr">
                    <a:lnL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E3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Rectifier = converts AC into DC. MOSFET = switches DC on and off very fast.</a:t>
            </a:r>
            <a:endParaRPr lang="en-US" sz="10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COMPLETE PSU PROCESS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End-to-end from wall power to your components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28016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FEF3C7"/>
          </a:solidFill>
          <a:ln w="12700">
            <a:solidFill>
              <a:srgbClr val="FCD34D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67512" y="1449324"/>
            <a:ext cx="438912" cy="43891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16152" y="135331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230 V AC Wall Power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056382" y="207568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502920" y="224028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512" y="2409444"/>
            <a:ext cx="438912" cy="43891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16152" y="231343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EMI Filter
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Removes noise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3056382" y="303580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02920" y="320040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7512" y="336956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216152" y="327355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Rectifier
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→ DC</a:t>
            </a:r>
            <a:endParaRPr lang="en-US" sz="1300" dirty="0"/>
          </a:p>
        </p:txBody>
      </p:sp>
      <p:sp>
        <p:nvSpPr>
          <p:cNvPr id="18" name="Shape 13"/>
          <p:cNvSpPr/>
          <p:nvPr/>
        </p:nvSpPr>
        <p:spPr>
          <a:xfrm>
            <a:off x="3056382" y="399592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02920" y="416052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7512" y="4329684"/>
            <a:ext cx="438912" cy="438912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16152" y="423367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320 V DC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3056382" y="495604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23" name="Shape 17"/>
          <p:cNvSpPr/>
          <p:nvPr/>
        </p:nvSpPr>
        <p:spPr>
          <a:xfrm>
            <a:off x="502920" y="512064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67512" y="5289804"/>
            <a:ext cx="438912" cy="43891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216152" y="519379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MOSFETs
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electronic switches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6323076" y="128016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87668" y="1449324"/>
            <a:ext cx="438912" cy="43891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036308" y="135331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High-Frequency Pulses</a:t>
            </a:r>
            <a:endParaRPr lang="en-US" sz="1300" dirty="0"/>
          </a:p>
        </p:txBody>
      </p:sp>
      <p:sp>
        <p:nvSpPr>
          <p:cNvPr id="29" name="Shape 21"/>
          <p:cNvSpPr/>
          <p:nvPr/>
        </p:nvSpPr>
        <p:spPr>
          <a:xfrm>
            <a:off x="8876538" y="207568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0" name="Shape 22"/>
          <p:cNvSpPr/>
          <p:nvPr/>
        </p:nvSpPr>
        <p:spPr>
          <a:xfrm>
            <a:off x="6323076" y="224028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31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487668" y="2409444"/>
            <a:ext cx="438912" cy="438912"/>
          </a:xfrm>
          <a:prstGeom prst="rect">
            <a:avLst/>
          </a:prstGeom>
        </p:spPr>
      </p:pic>
      <p:sp>
        <p:nvSpPr>
          <p:cNvPr id="32" name="Text 23"/>
          <p:cNvSpPr/>
          <p:nvPr/>
        </p:nvSpPr>
        <p:spPr>
          <a:xfrm>
            <a:off x="7036308" y="231343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Transformer
</a:t>
            </a:r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Steps voltage down</a:t>
            </a:r>
            <a:endParaRPr lang="en-US" sz="1300" dirty="0"/>
          </a:p>
        </p:txBody>
      </p:sp>
      <p:sp>
        <p:nvSpPr>
          <p:cNvPr id="33" name="Shape 24"/>
          <p:cNvSpPr/>
          <p:nvPr/>
        </p:nvSpPr>
        <p:spPr>
          <a:xfrm>
            <a:off x="8876538" y="303580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4" name="Shape 25"/>
          <p:cNvSpPr/>
          <p:nvPr/>
        </p:nvSpPr>
        <p:spPr>
          <a:xfrm>
            <a:off x="6323076" y="320040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35" name="Image 7" descr="preencoded.png">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487668" y="3369564"/>
            <a:ext cx="438912" cy="438912"/>
          </a:xfrm>
          <a:prstGeom prst="rect">
            <a:avLst/>
          </a:prstGeom>
        </p:spPr>
      </p:pic>
      <p:sp>
        <p:nvSpPr>
          <p:cNvPr id="36" name="Text 26"/>
          <p:cNvSpPr/>
          <p:nvPr/>
        </p:nvSpPr>
        <p:spPr>
          <a:xfrm>
            <a:off x="7036308" y="327355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Rectifiers &amp; Filters</a:t>
            </a:r>
            <a:endParaRPr lang="en-US" sz="1300" dirty="0"/>
          </a:p>
        </p:txBody>
      </p:sp>
      <p:sp>
        <p:nvSpPr>
          <p:cNvPr id="37" name="Shape 27"/>
          <p:cNvSpPr/>
          <p:nvPr/>
        </p:nvSpPr>
        <p:spPr>
          <a:xfrm>
            <a:off x="8876538" y="399592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38" name="Shape 28"/>
          <p:cNvSpPr/>
          <p:nvPr/>
        </p:nvSpPr>
        <p:spPr>
          <a:xfrm>
            <a:off x="6323076" y="416052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DCFCE7"/>
          </a:solidFill>
          <a:ln w="12700">
            <a:solidFill>
              <a:srgbClr val="86EFAC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39" name="Image 8" descr="preencoded.png">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487668" y="4329684"/>
            <a:ext cx="438912" cy="438912"/>
          </a:xfrm>
          <a:prstGeom prst="rect">
            <a:avLst/>
          </a:prstGeom>
        </p:spPr>
      </p:pic>
      <p:sp>
        <p:nvSpPr>
          <p:cNvPr id="40" name="Text 29"/>
          <p:cNvSpPr/>
          <p:nvPr/>
        </p:nvSpPr>
        <p:spPr>
          <a:xfrm>
            <a:off x="7036308" y="423367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Stable +12 V, +5 V, +3.3 V DC</a:t>
            </a:r>
            <a:endParaRPr lang="en-US" sz="1300" dirty="0"/>
          </a:p>
        </p:txBody>
      </p:sp>
      <p:sp>
        <p:nvSpPr>
          <p:cNvPr id="41" name="Shape 30"/>
          <p:cNvSpPr/>
          <p:nvPr/>
        </p:nvSpPr>
        <p:spPr>
          <a:xfrm>
            <a:off x="8876538" y="4956048"/>
            <a:ext cx="256032" cy="146304"/>
          </a:xfrm>
          <a:prstGeom prst="downArrow">
            <a:avLst/>
          </a:prstGeom>
          <a:solidFill>
            <a:srgbClr val="0F6CBD"/>
          </a:solidFill>
          <a:ln w="12700">
            <a:solidFill>
              <a:srgbClr val="0F6CBD"/>
            </a:solidFill>
            <a:prstDash val="solid"/>
          </a:ln>
        </p:spPr>
      </p:sp>
      <p:sp>
        <p:nvSpPr>
          <p:cNvPr id="42" name="Shape 31"/>
          <p:cNvSpPr/>
          <p:nvPr/>
        </p:nvSpPr>
        <p:spPr>
          <a:xfrm>
            <a:off x="6323076" y="5120640"/>
            <a:ext cx="5362956" cy="777240"/>
          </a:xfrm>
          <a:prstGeom prst="roundRect">
            <a:avLst>
              <a:gd name="adj" fmla="val 10588"/>
            </a:avLst>
          </a:prstGeom>
          <a:solidFill>
            <a:srgbClr val="002050"/>
          </a:solidFill>
          <a:ln w="12700">
            <a:solidFill>
              <a:srgbClr val="002050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487668" y="5289804"/>
            <a:ext cx="438912" cy="438912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7036308" y="5193792"/>
            <a:ext cx="4539996" cy="6309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Motherboard · CPU · GPU · RAM · SSD · Fans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292608"/>
            <a:ext cx="1118311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6CB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GOOD WAY TO REMEMBER THEM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566928"/>
            <a:ext cx="11183112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Two simple pictures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502920" y="1554480"/>
            <a:ext cx="5362956" cy="3931920"/>
          </a:xfrm>
          <a:prstGeom prst="roundRect">
            <a:avLst>
              <a:gd name="adj" fmla="val 209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635758" y="1828800"/>
            <a:ext cx="1097280" cy="10972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502920" y="306324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Rectifier = Translator</a:t>
            </a:r>
            <a:endParaRPr lang="en-US" sz="2000" dirty="0"/>
          </a:p>
        </p:txBody>
      </p:sp>
      <p:sp>
        <p:nvSpPr>
          <p:cNvPr id="10" name="Text 7"/>
          <p:cNvSpPr/>
          <p:nvPr/>
        </p:nvSpPr>
        <p:spPr>
          <a:xfrm>
            <a:off x="777240" y="3611880"/>
            <a:ext cx="48143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Changes the type of electricity from </a:t>
            </a:r>
            <a:pPr algn="ctr" indent="0" marL="0">
              <a:buNone/>
            </a:pPr>
            <a:r>
              <a:rPr lang="en-US" sz="1400" b="1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 to DC</a:t>
            </a:r>
            <a:pPr algn="ctr" indent="0" marL="0">
              <a:buNone/>
            </a:pPr>
            <a:r>
              <a:rPr lang="en-US" sz="14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.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6323076" y="1554480"/>
            <a:ext cx="5362956" cy="3931920"/>
          </a:xfrm>
          <a:prstGeom prst="roundRect">
            <a:avLst>
              <a:gd name="adj" fmla="val 2093"/>
            </a:avLst>
          </a:prstGeom>
          <a:solidFill>
            <a:srgbClr val="EAF4FF"/>
          </a:solidFill>
          <a:ln w="12700">
            <a:solidFill>
              <a:srgbClr val="D5E3F2"/>
            </a:solidFill>
            <a:prstDash val="solid"/>
          </a:ln>
          <a:effectLst>
            <a:outerShdw sx="100000" sy="100000" kx="0" ky="0" algn="bl" rotWithShape="0" blurRad="Infinity" dist="Infinity" dir="Infinity">
              <a:srgbClr val="9AB4CC">
                <a:alpha val="Infinity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55914" y="1828800"/>
            <a:ext cx="1097280" cy="109728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323076" y="3063240"/>
            <a:ext cx="536295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205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MOSFET = Super-fast switch</a:t>
            </a:r>
            <a:endParaRPr lang="en-US" sz="2000" dirty="0"/>
          </a:p>
        </p:txBody>
      </p:sp>
      <p:sp>
        <p:nvSpPr>
          <p:cNvPr id="14" name="Text 10"/>
          <p:cNvSpPr/>
          <p:nvPr/>
        </p:nvSpPr>
        <p:spPr>
          <a:xfrm>
            <a:off x="6597396" y="3611880"/>
            <a:ext cx="4814316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205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Chops that DC into high-frequency pulses so the transformer can efficiently produce the different voltages your PC components need.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02920" y="5806440"/>
            <a:ext cx="11183112" cy="603504"/>
          </a:xfrm>
          <a:prstGeom prst="roundRect">
            <a:avLst>
              <a:gd name="adj" fmla="val 10606"/>
            </a:avLst>
          </a:prstGeom>
          <a:solidFill>
            <a:srgbClr val="002050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4088" y="5971032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69848" y="5806440"/>
            <a:ext cx="1037844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8CC2F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POINT   </a:t>
            </a:r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Rectifier = translator (AC → DC). MOSFET = super-fast switch (chops DC into pulses).</a:t>
            </a:r>
            <a:endParaRPr lang="en-US" sz="10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020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473952"/>
            <a:ext cx="1026871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 PSU Works  ·  Rectifier &amp; MOSFET Deep Dive  ·  IT Systems Support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1113739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82296"/>
          </a:xfrm>
          <a:prstGeom prst="rect">
            <a:avLst/>
          </a:prstGeom>
          <a:solidFill>
            <a:srgbClr val="0F6CBD"/>
          </a:solidFill>
          <a:ln/>
        </p:spPr>
      </p:sp>
      <p:sp>
        <p:nvSpPr>
          <p:cNvPr id="5" name="Shap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F6CBD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88636" y="1463040"/>
            <a:ext cx="2011680" cy="20116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02920" y="3749040"/>
            <a:ext cx="1118311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You now understand how a PSU works.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1417320" y="4663440"/>
            <a:ext cx="9354312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B9D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230 V AC at the wall, through filtering, rectification, MOSFET switching, transformation, smoothing and regulation — to the exact voltages every component needs.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02920" y="6355080"/>
            <a:ext cx="111831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E93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Investec · IT Systems Support · Power Fundamentals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41</Slides>
  <Notes>41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</vt:vector>
  </TitlesOfParts>
  <Company>Investec — IT Systems Support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a PSU Works — Rectifier &amp; MOSFET</dc:title>
  <dc:subject>PptxGenJS Presentation</dc:subject>
  <dc:creator>Andre Snell</dc:creator>
  <cp:lastModifiedBy>Andre Snell</cp:lastModifiedBy>
  <cp:revision>1</cp:revision>
  <dcterms:created xsi:type="dcterms:W3CDTF">2026-07-31T06:11:45Z</dcterms:created>
  <dcterms:modified xsi:type="dcterms:W3CDTF">2026-07-31T06:11:45Z</dcterms:modified>
</cp:coreProperties>
</file>