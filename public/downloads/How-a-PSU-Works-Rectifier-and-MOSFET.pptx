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image" Target="../media/image-2-13.png"/><Relationship Id="rId14" Type="http://schemas.openxmlformats.org/officeDocument/2006/relationships/image" Target="../media/image-2-14.svg"/><Relationship Id="rId15" Type="http://schemas.openxmlformats.org/officeDocument/2006/relationships/image" Target="../media/image-2-15.png"/><Relationship Id="rId16" Type="http://schemas.openxmlformats.org/officeDocument/2006/relationships/image" Target="../media/image-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image" Target="../media/image-13-7.png"/><Relationship Id="rId8" Type="http://schemas.openxmlformats.org/officeDocument/2006/relationships/image" Target="../media/image-13-8.svg"/><Relationship Id="rId9" Type="http://schemas.openxmlformats.org/officeDocument/2006/relationships/image" Target="../media/image-13-9.png"/><Relationship Id="rId10" Type="http://schemas.openxmlformats.org/officeDocument/2006/relationships/image" Target="../media/image-13-10.sv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image" Target="../media/image-16-3.png"/><Relationship Id="rId4" Type="http://schemas.openxmlformats.org/officeDocument/2006/relationships/image" Target="../media/image-16-4.svg"/><Relationship Id="rId5" Type="http://schemas.openxmlformats.org/officeDocument/2006/relationships/image" Target="../media/image-16-5.png"/><Relationship Id="rId6" Type="http://schemas.openxmlformats.org/officeDocument/2006/relationships/image" Target="../media/image-16-6.svg"/><Relationship Id="rId7" Type="http://schemas.openxmlformats.org/officeDocument/2006/relationships/image" Target="../media/image-16-7.png"/><Relationship Id="rId8" Type="http://schemas.openxmlformats.org/officeDocument/2006/relationships/image" Target="../media/image-16-8.svg"/><Relationship Id="rId9" Type="http://schemas.openxmlformats.org/officeDocument/2006/relationships/image" Target="../media/image-16-9.png"/><Relationship Id="rId10" Type="http://schemas.openxmlformats.org/officeDocument/2006/relationships/image" Target="../media/image-16-10.sv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svg"/><Relationship Id="rId13" Type="http://schemas.openxmlformats.org/officeDocument/2006/relationships/image" Target="../media/image-16-13.png"/><Relationship Id="rId14" Type="http://schemas.openxmlformats.org/officeDocument/2006/relationships/image" Target="../media/image-16-14.svg"/><Relationship Id="rId15" Type="http://schemas.openxmlformats.org/officeDocument/2006/relationships/image" Target="../media/image-16-15.png"/><Relationship Id="rId16" Type="http://schemas.openxmlformats.org/officeDocument/2006/relationships/image" Target="../media/image-16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image" Target="../media/image-20-3.png"/><Relationship Id="rId4" Type="http://schemas.openxmlformats.org/officeDocument/2006/relationships/image" Target="../media/image-20-4.svg"/><Relationship Id="rId5" Type="http://schemas.openxmlformats.org/officeDocument/2006/relationships/image" Target="../media/image-20-5.png"/><Relationship Id="rId6" Type="http://schemas.openxmlformats.org/officeDocument/2006/relationships/image" Target="../media/image-2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image" Target="../media/image-22-17.png"/><Relationship Id="rId18" Type="http://schemas.openxmlformats.org/officeDocument/2006/relationships/image" Target="../media/image-22-18.svg"/><Relationship Id="rId19" Type="http://schemas.openxmlformats.org/officeDocument/2006/relationships/image" Target="../media/image-22-19.png"/><Relationship Id="rId20" Type="http://schemas.openxmlformats.org/officeDocument/2006/relationships/image" Target="../media/image-22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image" Target="../media/image-23-5.png"/><Relationship Id="rId6" Type="http://schemas.openxmlformats.org/officeDocument/2006/relationships/image" Target="../media/image-23-6.svg"/><Relationship Id="rId7" Type="http://schemas.openxmlformats.org/officeDocument/2006/relationships/image" Target="../media/image-23-7.png"/><Relationship Id="rId8" Type="http://schemas.openxmlformats.org/officeDocument/2006/relationships/image" Target="../media/image-23-8.svg"/><Relationship Id="rId9" Type="http://schemas.openxmlformats.org/officeDocument/2006/relationships/image" Target="../media/image-23-9.png"/><Relationship Id="rId10" Type="http://schemas.openxmlformats.org/officeDocument/2006/relationships/image" Target="../media/image-23-10.svg"/><Relationship Id="rId11" Type="http://schemas.openxmlformats.org/officeDocument/2006/relationships/image" Target="../media/image-23-11.png"/><Relationship Id="rId12" Type="http://schemas.openxmlformats.org/officeDocument/2006/relationships/image" Target="../media/image-23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svg"/><Relationship Id="rId3" Type="http://schemas.openxmlformats.org/officeDocument/2006/relationships/image" Target="../media/image-26-3.png"/><Relationship Id="rId4" Type="http://schemas.openxmlformats.org/officeDocument/2006/relationships/image" Target="../media/image-26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svg"/><Relationship Id="rId3" Type="http://schemas.openxmlformats.org/officeDocument/2006/relationships/image" Target="../media/image-27-3.png"/><Relationship Id="rId4" Type="http://schemas.openxmlformats.org/officeDocument/2006/relationships/image" Target="../media/image-27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svg"/><Relationship Id="rId3" Type="http://schemas.openxmlformats.org/officeDocument/2006/relationships/image" Target="../media/image-28-3.png"/><Relationship Id="rId4" Type="http://schemas.openxmlformats.org/officeDocument/2006/relationships/image" Target="../media/image-28-4.svg"/><Relationship Id="rId5" Type="http://schemas.openxmlformats.org/officeDocument/2006/relationships/image" Target="../media/image-28-5.png"/><Relationship Id="rId6" Type="http://schemas.openxmlformats.org/officeDocument/2006/relationships/image" Target="../media/image-28-6.svg"/><Relationship Id="rId7" Type="http://schemas.openxmlformats.org/officeDocument/2006/relationships/image" Target="../media/image-28-7.png"/><Relationship Id="rId8" Type="http://schemas.openxmlformats.org/officeDocument/2006/relationships/image" Target="../media/image-28-8.svg"/><Relationship Id="rId9" Type="http://schemas.openxmlformats.org/officeDocument/2006/relationships/image" Target="../media/image-28-9.png"/><Relationship Id="rId10" Type="http://schemas.openxmlformats.org/officeDocument/2006/relationships/image" Target="../media/image-28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svg"/><Relationship Id="rId3" Type="http://schemas.openxmlformats.org/officeDocument/2006/relationships/image" Target="../media/image-29-3.png"/><Relationship Id="rId4" Type="http://schemas.openxmlformats.org/officeDocument/2006/relationships/image" Target="../media/image-29-4.svg"/><Relationship Id="rId5" Type="http://schemas.openxmlformats.org/officeDocument/2006/relationships/image" Target="../media/image-29-5.png"/><Relationship Id="rId6" Type="http://schemas.openxmlformats.org/officeDocument/2006/relationships/image" Target="../media/image-29-6.svg"/><Relationship Id="rId7" Type="http://schemas.openxmlformats.org/officeDocument/2006/relationships/image" Target="../media/image-29-7.png"/><Relationship Id="rId8" Type="http://schemas.openxmlformats.org/officeDocument/2006/relationships/image" Target="../media/image-29-8.svg"/><Relationship Id="rId9" Type="http://schemas.openxmlformats.org/officeDocument/2006/relationships/image" Target="../media/image-29-9.png"/><Relationship Id="rId10" Type="http://schemas.openxmlformats.org/officeDocument/2006/relationships/image" Target="../media/image-29-10.sv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svg"/><Relationship Id="rId3" Type="http://schemas.openxmlformats.org/officeDocument/2006/relationships/image" Target="../media/image-31-3.png"/><Relationship Id="rId4" Type="http://schemas.openxmlformats.org/officeDocument/2006/relationships/image" Target="../media/image-3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svg"/><Relationship Id="rId3" Type="http://schemas.openxmlformats.org/officeDocument/2006/relationships/image" Target="../media/image-32-3.png"/><Relationship Id="rId4" Type="http://schemas.openxmlformats.org/officeDocument/2006/relationships/image" Target="../media/image-32-4.svg"/><Relationship Id="rId5" Type="http://schemas.openxmlformats.org/officeDocument/2006/relationships/image" Target="../media/image-32-5.png"/><Relationship Id="rId6" Type="http://schemas.openxmlformats.org/officeDocument/2006/relationships/image" Target="../media/image-32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svg"/><Relationship Id="rId3" Type="http://schemas.openxmlformats.org/officeDocument/2006/relationships/image" Target="../media/image-33-3.png"/><Relationship Id="rId4" Type="http://schemas.openxmlformats.org/officeDocument/2006/relationships/image" Target="../media/image-33-4.svg"/><Relationship Id="rId5" Type="http://schemas.openxmlformats.org/officeDocument/2006/relationships/image" Target="../media/image-33-5.png"/><Relationship Id="rId6" Type="http://schemas.openxmlformats.org/officeDocument/2006/relationships/image" Target="../media/image-3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svg"/><Relationship Id="rId3" Type="http://schemas.openxmlformats.org/officeDocument/2006/relationships/image" Target="../media/image-35-3.png"/><Relationship Id="rId4" Type="http://schemas.openxmlformats.org/officeDocument/2006/relationships/image" Target="../media/image-35-4.svg"/><Relationship Id="rId5" Type="http://schemas.openxmlformats.org/officeDocument/2006/relationships/image" Target="../media/image-35-5.png"/><Relationship Id="rId6" Type="http://schemas.openxmlformats.org/officeDocument/2006/relationships/image" Target="../media/image-3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svg"/><Relationship Id="rId3" Type="http://schemas.openxmlformats.org/officeDocument/2006/relationships/image" Target="../media/image-36-3.png"/><Relationship Id="rId4" Type="http://schemas.openxmlformats.org/officeDocument/2006/relationships/image" Target="../media/image-36-4.svg"/><Relationship Id="rId5" Type="http://schemas.openxmlformats.org/officeDocument/2006/relationships/image" Target="../media/image-36-5.png"/><Relationship Id="rId6" Type="http://schemas.openxmlformats.org/officeDocument/2006/relationships/image" Target="../media/image-36-6.svg"/><Relationship Id="rId7" Type="http://schemas.openxmlformats.org/officeDocument/2006/relationships/image" Target="../media/image-36-7.png"/><Relationship Id="rId8" Type="http://schemas.openxmlformats.org/officeDocument/2006/relationships/image" Target="../media/image-36-8.svg"/><Relationship Id="rId9" Type="http://schemas.openxmlformats.org/officeDocument/2006/relationships/image" Target="../media/image-36-9.png"/><Relationship Id="rId10" Type="http://schemas.openxmlformats.org/officeDocument/2006/relationships/image" Target="../media/image-36-10.sv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svg"/><Relationship Id="rId3" Type="http://schemas.openxmlformats.org/officeDocument/2006/relationships/image" Target="../media/image-37-3.png"/><Relationship Id="rId4" Type="http://schemas.openxmlformats.org/officeDocument/2006/relationships/image" Target="../media/image-37-4.svg"/><Relationship Id="rId5" Type="http://schemas.openxmlformats.org/officeDocument/2006/relationships/image" Target="../media/image-37-5.png"/><Relationship Id="rId6" Type="http://schemas.openxmlformats.org/officeDocument/2006/relationships/image" Target="../media/image-37-6.svg"/><Relationship Id="rId7" Type="http://schemas.openxmlformats.org/officeDocument/2006/relationships/image" Target="../media/image-37-7.png"/><Relationship Id="rId8" Type="http://schemas.openxmlformats.org/officeDocument/2006/relationships/image" Target="../media/image-37-8.svg"/><Relationship Id="rId9" Type="http://schemas.openxmlformats.org/officeDocument/2006/relationships/image" Target="../media/image-37-9.png"/><Relationship Id="rId10" Type="http://schemas.openxmlformats.org/officeDocument/2006/relationships/image" Target="../media/image-37-10.svg"/><Relationship Id="rId11" Type="http://schemas.openxmlformats.org/officeDocument/2006/relationships/image" Target="../media/image-37-11.png"/><Relationship Id="rId12" Type="http://schemas.openxmlformats.org/officeDocument/2006/relationships/image" Target="../media/image-37-12.svg"/><Relationship Id="rId13" Type="http://schemas.openxmlformats.org/officeDocument/2006/relationships/image" Target="../media/image-37-13.png"/><Relationship Id="rId14" Type="http://schemas.openxmlformats.org/officeDocument/2006/relationships/image" Target="../media/image-37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svg"/><Relationship Id="rId3" Type="http://schemas.openxmlformats.org/officeDocument/2006/relationships/image" Target="../media/image-39-3.png"/><Relationship Id="rId4" Type="http://schemas.openxmlformats.org/officeDocument/2006/relationships/image" Target="../media/image-39-4.svg"/><Relationship Id="rId5" Type="http://schemas.openxmlformats.org/officeDocument/2006/relationships/image" Target="../media/image-39-5.png"/><Relationship Id="rId6" Type="http://schemas.openxmlformats.org/officeDocument/2006/relationships/image" Target="../media/image-39-6.svg"/><Relationship Id="rId7" Type="http://schemas.openxmlformats.org/officeDocument/2006/relationships/image" Target="../media/image-39-7.png"/><Relationship Id="rId8" Type="http://schemas.openxmlformats.org/officeDocument/2006/relationships/image" Target="../media/image-39-8.svg"/><Relationship Id="rId9" Type="http://schemas.openxmlformats.org/officeDocument/2006/relationships/image" Target="../media/image-39-9.png"/><Relationship Id="rId10" Type="http://schemas.openxmlformats.org/officeDocument/2006/relationships/image" Target="../media/image-39-10.svg"/><Relationship Id="rId11" Type="http://schemas.openxmlformats.org/officeDocument/2006/relationships/image" Target="../media/image-39-11.png"/><Relationship Id="rId12" Type="http://schemas.openxmlformats.org/officeDocument/2006/relationships/image" Target="../media/image-39-12.svg"/><Relationship Id="rId13" Type="http://schemas.openxmlformats.org/officeDocument/2006/relationships/image" Target="../media/image-39-13.png"/><Relationship Id="rId14" Type="http://schemas.openxmlformats.org/officeDocument/2006/relationships/image" Target="../media/image-39-14.svg"/><Relationship Id="rId15" Type="http://schemas.openxmlformats.org/officeDocument/2006/relationships/image" Target="../media/image-39-15.png"/><Relationship Id="rId16" Type="http://schemas.openxmlformats.org/officeDocument/2006/relationships/image" Target="../media/image-39-16.svg"/><Relationship Id="rId17" Type="http://schemas.openxmlformats.org/officeDocument/2006/relationships/image" Target="../media/image-39-17.png"/><Relationship Id="rId18" Type="http://schemas.openxmlformats.org/officeDocument/2006/relationships/image" Target="../media/image-39-18.svg"/><Relationship Id="rId19" Type="http://schemas.openxmlformats.org/officeDocument/2006/relationships/image" Target="../media/image-39-19.png"/><Relationship Id="rId20" Type="http://schemas.openxmlformats.org/officeDocument/2006/relationships/image" Target="../media/image-39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svg"/><Relationship Id="rId3" Type="http://schemas.openxmlformats.org/officeDocument/2006/relationships/image" Target="../media/image-40-3.png"/><Relationship Id="rId4" Type="http://schemas.openxmlformats.org/officeDocument/2006/relationships/image" Target="../media/image-40-4.svg"/><Relationship Id="rId5" Type="http://schemas.openxmlformats.org/officeDocument/2006/relationships/image" Target="../media/image-40-5.png"/><Relationship Id="rId6" Type="http://schemas.openxmlformats.org/officeDocument/2006/relationships/image" Target="../media/image-4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23444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SYSTEMS SUPPORT · POWER FUNDAMENTALS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111831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a PSU Works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02920" y="30632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the wall socket to every component — including a deep dive on the Rectifier and MOSFET.</a:t>
            </a:r>
            <a:endParaRPr lang="en-US" sz="17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509760" y="1463040"/>
            <a:ext cx="2011680" cy="2011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789920" y="3566160"/>
            <a:ext cx="822960" cy="82296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" y="4343400"/>
            <a:ext cx="11183112" cy="0"/>
          </a:xfrm>
          <a:prstGeom prst="line">
            <a:avLst/>
          </a:prstGeom>
          <a:noFill/>
          <a:ln w="12700">
            <a:solidFill>
              <a:srgbClr val="1B4272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02920" y="4572000"/>
            <a:ext cx="2612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846320"/>
            <a:ext cx="26128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PSU &amp; Power Delivery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3298698" y="4572000"/>
            <a:ext cx="2612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REGION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3298698" y="4846320"/>
            <a:ext cx="26128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South Africa (230 V AC)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094476" y="4572000"/>
            <a:ext cx="2612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LEVEL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094476" y="4846320"/>
            <a:ext cx="26128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Foundational — IT Support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8890254" y="4572000"/>
            <a:ext cx="261289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AUDIENCE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8890254" y="4846320"/>
            <a:ext cx="26128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Learners &amp; Technicians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Investec · IT Systems Support · Learning content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WE WILL COVER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journey of electricity through your PC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2548890" cy="1828800"/>
          </a:xfrm>
          <a:prstGeom prst="roundRect">
            <a:avLst>
              <a:gd name="adj" fmla="val 4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93317" y="2103120"/>
            <a:ext cx="768096" cy="7680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944368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273552"/>
            <a:ext cx="236601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 V AC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070098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0994" y="1828800"/>
            <a:ext cx="2548890" cy="1828800"/>
          </a:xfrm>
          <a:prstGeom prst="roundRect">
            <a:avLst>
              <a:gd name="adj" fmla="val 4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71391" y="2103120"/>
            <a:ext cx="768096" cy="7680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2434" y="2944368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472434" y="3273552"/>
            <a:ext cx="236601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· Rectify · Regulate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8172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59068" y="1828800"/>
            <a:ext cx="2548890" cy="1828800"/>
          </a:xfrm>
          <a:prstGeom prst="roundRect">
            <a:avLst>
              <a:gd name="adj" fmla="val 4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9465" y="2103120"/>
            <a:ext cx="768096" cy="7680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0508" y="2944368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50508" y="3273552"/>
            <a:ext cx="236601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826246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37142" y="1828800"/>
            <a:ext cx="2548890" cy="1828800"/>
          </a:xfrm>
          <a:prstGeom prst="roundRect">
            <a:avLst>
              <a:gd name="adj" fmla="val 4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027539" y="2103120"/>
            <a:ext cx="768096" cy="7680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28582" y="2944368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Components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228582" y="3273552"/>
            <a:ext cx="2366010" cy="3108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· GPU · Drives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502920" y="4023360"/>
            <a:ext cx="264490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422121" y="4311396"/>
            <a:ext cx="806501" cy="80650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94360" y="5191049"/>
            <a:ext cx="24620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1 — Inside the PSU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594360" y="5520233"/>
            <a:ext cx="246202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steps from wall power to stable DC rails.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3348990" y="4023360"/>
            <a:ext cx="264490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68191" y="4311396"/>
            <a:ext cx="806501" cy="806501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440430" y="5191049"/>
            <a:ext cx="24620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2 — Where power goes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3440430" y="5520233"/>
            <a:ext cx="246202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Motherboard, CPU, GPU, storage and fans.</a:t>
            </a:r>
            <a:endParaRPr lang="en-US" sz="1000" dirty="0"/>
          </a:p>
        </p:txBody>
      </p:sp>
      <p:sp>
        <p:nvSpPr>
          <p:cNvPr id="34" name="Shape 26"/>
          <p:cNvSpPr/>
          <p:nvPr/>
        </p:nvSpPr>
        <p:spPr>
          <a:xfrm>
            <a:off x="6195060" y="4023360"/>
            <a:ext cx="264490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114261" y="4311396"/>
            <a:ext cx="806501" cy="80650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6286500" y="5191049"/>
            <a:ext cx="24620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3 — Rectifier deep dive</a:t>
            </a:r>
            <a:endParaRPr lang="en-US" sz="1250" dirty="0"/>
          </a:p>
        </p:txBody>
      </p:sp>
      <p:sp>
        <p:nvSpPr>
          <p:cNvPr id="37" name="Text 28"/>
          <p:cNvSpPr/>
          <p:nvPr/>
        </p:nvSpPr>
        <p:spPr>
          <a:xfrm>
            <a:off x="6286500" y="5520233"/>
            <a:ext cx="246202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→ DC using diodes and a bridge rectifier.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9041130" y="4023360"/>
            <a:ext cx="264490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9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960331" y="4311396"/>
            <a:ext cx="806501" cy="806501"/>
          </a:xfrm>
          <a:prstGeom prst="rect">
            <a:avLst/>
          </a:prstGeom>
        </p:spPr>
      </p:pic>
      <p:sp>
        <p:nvSpPr>
          <p:cNvPr id="40" name="Text 30"/>
          <p:cNvSpPr/>
          <p:nvPr/>
        </p:nvSpPr>
        <p:spPr>
          <a:xfrm>
            <a:off x="9132570" y="5191049"/>
            <a:ext cx="246202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 4 — MOSFET deep dive</a:t>
            </a:r>
            <a:endParaRPr lang="en-US" sz="1250" dirty="0"/>
          </a:p>
        </p:txBody>
      </p:sp>
      <p:sp>
        <p:nvSpPr>
          <p:cNvPr id="41" name="Text 31"/>
          <p:cNvSpPr/>
          <p:nvPr/>
        </p:nvSpPr>
        <p:spPr>
          <a:xfrm>
            <a:off x="9132570" y="5520233"/>
            <a:ext cx="246202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high-speed switch that makes it all work.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A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1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Inside the PSU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02920" y="3749040"/>
            <a:ext cx="8439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steps that turn 230 V wall power into the clean, stable low-voltage DC every component needs.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01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Power comes from the wall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3794" y="1979676"/>
            <a:ext cx="806501" cy="806501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85932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18851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 V AC (South Africa)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029456" y="250545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0352" y="169164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1979676"/>
            <a:ext cx="806501" cy="80650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1792" y="285932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Power Cable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431792" y="318851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Carries AC to the PC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866888" y="250545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77784" y="169164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8658" y="1979676"/>
            <a:ext cx="806501" cy="80650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9224" y="285932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Power Supply Unit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69224" y="318851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the magic happens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02920" y="3977640"/>
            <a:ext cx="1118311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South African wall sockets provide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 Volts AC (Alternating Current)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means the electricity constantly changes direction about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times every second (50 Hz)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 components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use AC power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wall gives us alternating current — but PCs can only run on direct current (DC).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PSU filters the electricity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electricity first enters an EMI Filter.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3794" y="2025396"/>
            <a:ext cx="806501" cy="8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Dirty Electricity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Noise · Spikes · Interference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2025396"/>
            <a:ext cx="806501" cy="80650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EMI Filter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Cleans the incoming power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8658" y="2025396"/>
            <a:ext cx="806501" cy="80650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Clean Electricity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 for the next stage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02920" y="388620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of it like a water filter. It removes: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502920" y="425196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electrical noise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spikes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interference</a:t>
            </a:r>
            <a:endParaRPr lang="en-US" sz="1400" dirty="0"/>
          </a:p>
        </p:txBody>
      </p:sp>
      <p:sp>
        <p:nvSpPr>
          <p:cNvPr id="24" name="Shape 19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Result: dirty electricity in, clean electricity out — like a water filter for power.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 becomes DC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comes the Rectifier.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34591" y="2039112"/>
            <a:ext cx="844906" cy="8449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295717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230 V AC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28635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 and forth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173736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2023" y="2039112"/>
            <a:ext cx="844906" cy="8449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295717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328635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gate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25968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173736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9455" y="2039112"/>
            <a:ext cx="844906" cy="84490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295717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320 V DC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328635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direction only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02920" y="4023360"/>
            <a:ext cx="111831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moves back and forth.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only moves one direction.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Computers only work on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Direct Current (DC).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rectifier converts 230 V AC into roughly 320 V DC — one direction only.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 voltage is chopped into tiny pulses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11183112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PSU uses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high-speed transistors (MOSFETs)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using the electricity directly, it rapidly turns it ON / OFF / ON / OFF…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…about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50,000 – 500,000 times every second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creates high-frequency electricity.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Why? Because high frequency allows the transformer to be much smaller and more efficient.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65760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3794" y="3945636"/>
            <a:ext cx="806501" cy="8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82528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515447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Ultra-fast switch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44714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365760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3945636"/>
            <a:ext cx="806501" cy="80650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482528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 / OFF Pulses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515447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kHz – 500 kHz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44714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365760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8658" y="3945636"/>
            <a:ext cx="806501" cy="80650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482528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Small Transformer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515447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Efficient · Compact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Chopping DC into rapid pulses lets a tiny transformer do the work of a huge one.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 lowers the voltage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transformer reduces the voltage. Example: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22876" y="1737360"/>
            <a:ext cx="2743200" cy="1097280"/>
          </a:xfrm>
          <a:prstGeom prst="roundRect">
            <a:avLst>
              <a:gd name="adj" fmla="val 750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199339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173736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28803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44852" y="3200400"/>
            <a:ext cx="7699248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44852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502152"/>
            <a:ext cx="3483864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56816" y="3707892"/>
            <a:ext cx="576072" cy="5760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357116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+12 V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94360" y="4686300"/>
            <a:ext cx="3300984" cy="114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Motors &amp; high power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94476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352544" y="3502152"/>
            <a:ext cx="3483864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06440" y="3707892"/>
            <a:ext cx="576072" cy="5760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443984" y="4357116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 V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4443984" y="4686300"/>
            <a:ext cx="3300984" cy="114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Electronics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9944100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202168" y="3502152"/>
            <a:ext cx="3483864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56064" y="3707892"/>
            <a:ext cx="576072" cy="57607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293608" y="4357116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+3.3 V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293608" y="4686300"/>
            <a:ext cx="3300984" cy="1143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Chips &amp; logic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we have the voltages a computer actually needs: +12 V, +5 V and +3.3 V.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Output filters smooth everything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Capacitors remove tiny ripples.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53794" y="2025396"/>
            <a:ext cx="806501" cy="8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Rough DC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Ripples remain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2025396"/>
            <a:ext cx="806501" cy="80650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Capacitors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Absorb &amp; release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1737360"/>
            <a:ext cx="3508248" cy="1920240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8658" y="2025396"/>
            <a:ext cx="806501" cy="806501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2905049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Smooth DC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3234233"/>
            <a:ext cx="3325368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Stable output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02920" y="3977640"/>
            <a:ext cx="111831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extremely important.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CPU needs </a:t>
            </a:r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very stable electricity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 tiny fluctuations can crash a computer.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Capacitors turn rippled DC into a rock-steady voltage that CPUs demand.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Voltage regulators keep everything constant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Suppose your wall voltage changes. Instead of a wobbling output…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2920" y="1737360"/>
            <a:ext cx="5362956" cy="2468880"/>
          </a:xfrm>
          <a:prstGeom prst="roundRect">
            <a:avLst>
              <a:gd name="adj" fmla="val 3333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65933" y="2107692"/>
            <a:ext cx="1036930" cy="103693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32177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Without Regulation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546958"/>
            <a:ext cx="5180076" cy="586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 V  →  11.5 V  →  12.7 V  →  11.8 V  →  12.3 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23076" y="1737360"/>
            <a:ext cx="5362956" cy="2468880"/>
          </a:xfrm>
          <a:prstGeom prst="roundRect">
            <a:avLst>
              <a:gd name="adj" fmla="val 3333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6089" y="2107692"/>
            <a:ext cx="1036930" cy="103693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14516" y="32177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With Regulation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14516" y="3546958"/>
            <a:ext cx="5180076" cy="586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12.00 V  ·  12.01 V  ·  11.99 V  ·  12.00 V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39028" y="2816352"/>
            <a:ext cx="310896" cy="310896"/>
          </a:xfrm>
          <a:prstGeom prst="rightArrow">
            <a:avLst/>
          </a:prstGeom>
          <a:solidFill>
            <a:srgbClr val="0F6CBD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438912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…the PSU constantly adjusts itself so the output stays almost perfectly stable.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regulator watches the output non-stop and corrects it thousands of times per second.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 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PSU sends power to every component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Different components need different voltages.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722876" y="1737360"/>
            <a:ext cx="2743200" cy="1097280"/>
          </a:xfrm>
          <a:prstGeom prst="roundRect">
            <a:avLst>
              <a:gd name="adj" fmla="val 750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199339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1737360"/>
            <a:ext cx="17830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28803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44852" y="3200400"/>
            <a:ext cx="7699248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244852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502152"/>
            <a:ext cx="3483864" cy="1554480"/>
          </a:xfrm>
          <a:prstGeom prst="roundRect">
            <a:avLst>
              <a:gd name="adj" fmla="val 529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18411" y="3735324"/>
            <a:ext cx="652882" cy="65288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461358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94360" y="4790542"/>
            <a:ext cx="3300984" cy="1929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· RAM · Fans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094476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4352544" y="3502152"/>
            <a:ext cx="3483864" cy="1554480"/>
          </a:xfrm>
          <a:prstGeom prst="roundRect">
            <a:avLst>
              <a:gd name="adj" fmla="val 529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8035" y="3735324"/>
            <a:ext cx="652882" cy="65288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443984" y="4461358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GPU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4443984" y="4790542"/>
            <a:ext cx="3300984" cy="1929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 card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9944100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202168" y="3502152"/>
            <a:ext cx="3483864" cy="1554480"/>
          </a:xfrm>
          <a:prstGeom prst="roundRect">
            <a:avLst>
              <a:gd name="adj" fmla="val 529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17659" y="3735324"/>
            <a:ext cx="652882" cy="65288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293608" y="4461358"/>
            <a:ext cx="33009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Drives</a:t>
            </a:r>
            <a:endParaRPr lang="en-US" sz="1250" dirty="0"/>
          </a:p>
        </p:txBody>
      </p:sp>
      <p:sp>
        <p:nvSpPr>
          <p:cNvPr id="27" name="Text 21"/>
          <p:cNvSpPr/>
          <p:nvPr/>
        </p:nvSpPr>
        <p:spPr>
          <a:xfrm>
            <a:off x="8293608" y="4790542"/>
            <a:ext cx="3300984" cy="19293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SSD / HDD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PSU is the central hub — every component ultimately gets its energy from here.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A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2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the power goes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02920" y="3749040"/>
            <a:ext cx="8439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rail (+12 V, +5 V, +3.3 V) feeds different components. Here is who uses what — and how.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01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VOLTAGE RAILS · +12 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most powerful rail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most powerful rail.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by: CPU, GPU, cooling fans, water pumps, motors in HDDs.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22876" y="228600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249631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228600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+12 V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33375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97939" y="3657600"/>
            <a:ext cx="8593074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97939" y="36576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9593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9903" y="4165092"/>
            <a:ext cx="576072" cy="5760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8143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662297" y="36576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67278" y="39593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74261" y="4165092"/>
            <a:ext cx="576072" cy="5760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458718" y="48143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GPU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526655" y="36576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31636" y="39593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38619" y="4165092"/>
            <a:ext cx="576072" cy="5760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23076" y="48143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Fans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10391013" y="36576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095994" y="39593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2977" y="4165092"/>
            <a:ext cx="576072" cy="5760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7434" y="48143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HDD Motors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+12 V does the heavy lifting — CPUs, GPUs, fans and hard drive motors all pull from here.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VOLTAGE RAILS · +5 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Used for electronics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for electronics.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22876" y="182880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203911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182880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+5 V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28803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97939" y="3200400"/>
            <a:ext cx="8593074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97939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9903" y="3707892"/>
            <a:ext cx="576072" cy="5760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SSD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662297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67278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74261" y="3707892"/>
            <a:ext cx="576072" cy="5760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458718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HDD Logic Board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526655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31636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38619" y="3707892"/>
            <a:ext cx="576072" cy="5760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23076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USB Devices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10391013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095994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2977" y="3707892"/>
            <a:ext cx="576072" cy="5760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7434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RGB Controllers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+5 V powers the digital electronics inside drives, USB ports and RGB.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VOLTAGE RAILS · +3.3 V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Used by small chips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Used by small chips.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722876" y="1828800"/>
            <a:ext cx="2743200" cy="1005840"/>
          </a:xfrm>
          <a:prstGeom prst="roundRect">
            <a:avLst>
              <a:gd name="adj" fmla="val 8182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05756" y="2039112"/>
            <a:ext cx="585216" cy="58521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1556" y="182880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+3.3 V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94476" y="288036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797939" y="3200400"/>
            <a:ext cx="8593074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797939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2920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09903" y="3707892"/>
            <a:ext cx="576072" cy="57607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94360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RAM Electronics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662297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367278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74261" y="3707892"/>
            <a:ext cx="576072" cy="5760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458718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 Chipset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7526655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231636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38619" y="3707892"/>
            <a:ext cx="576072" cy="57607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323076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BIOS Chip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10391013" y="320040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095994" y="3502152"/>
            <a:ext cx="2590038" cy="1371600"/>
          </a:xfrm>
          <a:prstGeom prst="roundRect">
            <a:avLst>
              <a:gd name="adj" fmla="val 60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102977" y="3707892"/>
            <a:ext cx="576072" cy="5760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187434" y="4357116"/>
            <a:ext cx="240715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PCIe Logic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+3.3 V feeds the low-power chips and logic that run RAM, chipset, BIOS and PCIe.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the motherboard distributes power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motherboard receives power from the PSU and acts like a power distribution board.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180387" y="1737360"/>
            <a:ext cx="3749497" cy="1737360"/>
          </a:xfrm>
          <a:prstGeom prst="roundRect">
            <a:avLst>
              <a:gd name="adj" fmla="val 4737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90290" y="1997964"/>
            <a:ext cx="729691" cy="72969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2271827" y="2800807"/>
            <a:ext cx="356661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2271827" y="3129991"/>
            <a:ext cx="3566617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+12 V · +5 V · +3.3 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948172" y="245973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259068" y="1737360"/>
            <a:ext cx="3749497" cy="1737360"/>
          </a:xfrm>
          <a:prstGeom prst="roundRect">
            <a:avLst>
              <a:gd name="adj" fmla="val 473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68971" y="1997964"/>
            <a:ext cx="729691" cy="72969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6350508" y="2800807"/>
            <a:ext cx="3566617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350508" y="3129991"/>
            <a:ext cx="3566617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Power distribution board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722876" y="3703320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05756" y="3822192"/>
            <a:ext cx="585216" cy="58521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591556" y="3703320"/>
            <a:ext cx="1783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094476" y="4572000"/>
            <a:ext cx="0" cy="32004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540764" y="4892040"/>
            <a:ext cx="9107424" cy="0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1540764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02920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271930" y="5385816"/>
            <a:ext cx="537667" cy="53766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94360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</a:t>
            </a:r>
            <a:endParaRPr lang="en-US" sz="1250" dirty="0"/>
          </a:p>
        </p:txBody>
      </p:sp>
      <p:sp>
        <p:nvSpPr>
          <p:cNvPr id="26" name="Shape 20"/>
          <p:cNvSpPr/>
          <p:nvPr/>
        </p:nvSpPr>
        <p:spPr>
          <a:xfrm>
            <a:off x="3817620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2779776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48786" y="5385816"/>
            <a:ext cx="537667" cy="53766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2871216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RAM</a:t>
            </a:r>
            <a:endParaRPr lang="en-US" sz="1250" dirty="0"/>
          </a:p>
        </p:txBody>
      </p:sp>
      <p:sp>
        <p:nvSpPr>
          <p:cNvPr id="30" name="Shape 23"/>
          <p:cNvSpPr/>
          <p:nvPr/>
        </p:nvSpPr>
        <p:spPr>
          <a:xfrm>
            <a:off x="6094476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56632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825642" y="5385816"/>
            <a:ext cx="537667" cy="537667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5148072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Chipset</a:t>
            </a:r>
            <a:endParaRPr lang="en-US" sz="1250" dirty="0"/>
          </a:p>
        </p:txBody>
      </p:sp>
      <p:sp>
        <p:nvSpPr>
          <p:cNvPr id="34" name="Shape 26"/>
          <p:cNvSpPr/>
          <p:nvPr/>
        </p:nvSpPr>
        <p:spPr>
          <a:xfrm>
            <a:off x="8371332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7333488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6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02498" y="5385816"/>
            <a:ext cx="537667" cy="537667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7424928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PCIe Slots</a:t>
            </a:r>
            <a:endParaRPr lang="en-US" sz="1250" dirty="0"/>
          </a:p>
        </p:txBody>
      </p:sp>
      <p:sp>
        <p:nvSpPr>
          <p:cNvPr id="38" name="Shape 29"/>
          <p:cNvSpPr/>
          <p:nvPr/>
        </p:nvSpPr>
        <p:spPr>
          <a:xfrm>
            <a:off x="10648188" y="4892040"/>
            <a:ext cx="0" cy="256032"/>
          </a:xfrm>
          <a:prstGeom prst="line">
            <a:avLst/>
          </a:prstGeom>
          <a:noFill/>
          <a:ln w="25400">
            <a:solidFill>
              <a:srgbClr val="0F6CBD"/>
            </a:solidFill>
            <a:prstDash val="solid"/>
          </a:ln>
        </p:spPr>
      </p:sp>
      <p:sp>
        <p:nvSpPr>
          <p:cNvPr id="39" name="Shape 30"/>
          <p:cNvSpPr/>
          <p:nvPr/>
        </p:nvSpPr>
        <p:spPr>
          <a:xfrm>
            <a:off x="9610344" y="5193792"/>
            <a:ext cx="2075688" cy="1280160"/>
          </a:xfrm>
          <a:prstGeom prst="roundRect">
            <a:avLst>
              <a:gd name="adj" fmla="val 6429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0379354" y="5385816"/>
            <a:ext cx="537667" cy="537667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9701784" y="599663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USB Ports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POWER IS SPECIAL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motherboard steps 12 V down for the CPU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Although the PSU sends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V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the CPU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cannot use 12 V directly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Modern CPUs usually need about 0.8 V, 1.0 V, 1.1 V or 1.2 V.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 the motherboard contains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VRMs (Voltage Regulator Modules)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VRM acts like a precision power converter.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38328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34591" y="3685032"/>
            <a:ext cx="844906" cy="8449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60309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493227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V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029456" y="42428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340352" y="338328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72023" y="3685032"/>
            <a:ext cx="844906" cy="8449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431792" y="460309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VRM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4431792" y="493227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Precision converter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7866888" y="42428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8177784" y="3383280"/>
            <a:ext cx="3508248" cy="2011680"/>
          </a:xfrm>
          <a:prstGeom prst="roundRect">
            <a:avLst>
              <a:gd name="adj" fmla="val 4091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09455" y="3685032"/>
            <a:ext cx="844906" cy="84490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69224" y="4603090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CPU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69224" y="4932274"/>
            <a:ext cx="3325368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~1.1 V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VRM converts 12 V from the PSU into the ~1.1 V the CPU actually runs on.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GPU POWER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Graphics cards receive 12 V and regulate it internally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54912" y="1993392"/>
            <a:ext cx="844906" cy="84490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91145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24063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V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070098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0994" y="169164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32986" y="1993392"/>
            <a:ext cx="844906" cy="84490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2434" y="291145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PCIe Cable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3472434" y="324063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GPU power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48172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59068" y="169164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1060" y="1993392"/>
            <a:ext cx="844906" cy="84490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0508" y="291145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GPU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6350508" y="324063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regulators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826246" y="25511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37142" y="169164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89134" y="1993392"/>
            <a:ext cx="844906" cy="84490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228582" y="291145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· Memory · Controllers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9228582" y="324063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destination</a:t>
            </a:r>
            <a:endParaRPr lang="en-US" sz="1000" dirty="0"/>
          </a:p>
        </p:txBody>
      </p:sp>
      <p:sp>
        <p:nvSpPr>
          <p:cNvPr id="26" name="Text 20"/>
          <p:cNvSpPr/>
          <p:nvPr/>
        </p:nvSpPr>
        <p:spPr>
          <a:xfrm>
            <a:off x="502920" y="4023360"/>
            <a:ext cx="1118311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Graphics cards also receive 12 V.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Internal voltage regulators feed the GPU core, memory and controllers.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high-end graphics card may consume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300–600 watts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so it has its own dedicated power connectors.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High-end GPUs pull hundreds of watts — they get their own PCIe power cables.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SSD POWER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Very simple — one voltage only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900809" y="1828800"/>
            <a:ext cx="4029075" cy="2194560"/>
          </a:xfrm>
          <a:prstGeom prst="roundRect">
            <a:avLst>
              <a:gd name="adj" fmla="val 375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54489" y="2157984"/>
            <a:ext cx="921715" cy="9217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992249" y="3152851"/>
            <a:ext cx="38461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992249" y="3482035"/>
            <a:ext cx="3846195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 V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8172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59068" y="1828800"/>
            <a:ext cx="4029075" cy="2194560"/>
          </a:xfrm>
          <a:prstGeom prst="roundRect">
            <a:avLst>
              <a:gd name="adj" fmla="val 375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2748" y="2157984"/>
            <a:ext cx="921715" cy="9217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50508" y="3152851"/>
            <a:ext cx="38461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SSD Controller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350508" y="3482035"/>
            <a:ext cx="3846195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Flash memory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02920" y="45720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 SSD is much simpler. Very little power is needed.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SSDs have no motors — 5 V is enough for the controller and flash memory.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HDD POWER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Hard drives need two voltages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362956" cy="2468880"/>
          </a:xfrm>
          <a:prstGeom prst="roundRect">
            <a:avLst>
              <a:gd name="adj" fmla="val 333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65933" y="2107692"/>
            <a:ext cx="1036930" cy="103693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2177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12 V — Spins the platters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546958"/>
            <a:ext cx="5180076" cy="586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motor uses 12 V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323076" y="1737360"/>
            <a:ext cx="5362956" cy="2468880"/>
          </a:xfrm>
          <a:prstGeom prst="roundRect">
            <a:avLst>
              <a:gd name="adj" fmla="val 333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6089" y="2107692"/>
            <a:ext cx="1036930" cy="103693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414516" y="32177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 V — Runs the electronics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414516" y="3546958"/>
            <a:ext cx="5180076" cy="58613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controller chip uses 5 V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502920" y="44348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Hard drives need two voltages — one for the motor, one for the electronics.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Anything with a motor (HDD, fans, pumps) needs 12 V. Logic still runs on 5 V.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FANS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Fans use 12 V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96186" y="2157984"/>
            <a:ext cx="921715" cy="9217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 V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029456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0352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3618" y="2157984"/>
            <a:ext cx="921715" cy="9217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1792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Motor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431792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Converts current to rotation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866888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77784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71050" y="2157984"/>
            <a:ext cx="921715" cy="92171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9224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Fan Spins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69224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Cooling airflow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02920" y="457200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motherboard can change the voltage or use PWM signals to control fan speed.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Fan speed is controlled by adjusting the voltage or using PWM signals.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complete power journey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54076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16152" y="144475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 — 230 V AC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56382" y="2167128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350008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" y="2519172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16152" y="2423160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EMI Filter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056382" y="3145536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328416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497580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16152" y="3401568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 (AC → DC)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3056382" y="4123944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02920" y="4306824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47598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16152" y="4379976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High-Speed Switching (MOSFETs)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3056382" y="5102352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02920" y="5285232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454396"/>
            <a:ext cx="438912" cy="43891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5358384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 (steps down)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6323076" y="137160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87668" y="1540764"/>
            <a:ext cx="438912" cy="43891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36308" y="144475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Rectifiers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8876538" y="2167128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323076" y="2350008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7668" y="2519172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036308" y="2423160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Capacitors (smoothing)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8876538" y="3145536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6323076" y="3328416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87668" y="3497580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036308" y="3401568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Voltage Regulators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8876538" y="4123944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323076" y="4306824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87668" y="4475988"/>
            <a:ext cx="438912" cy="438912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7036308" y="4379976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+12 V · +5 V · +3.3 V</a:t>
            </a:r>
            <a:endParaRPr lang="en-US" sz="1300" dirty="0"/>
          </a:p>
        </p:txBody>
      </p:sp>
      <p:sp>
        <p:nvSpPr>
          <p:cNvPr id="41" name="Shape 30"/>
          <p:cNvSpPr/>
          <p:nvPr/>
        </p:nvSpPr>
        <p:spPr>
          <a:xfrm>
            <a:off x="8876538" y="5102352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6323076" y="5285232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487668" y="5454396"/>
            <a:ext cx="438912" cy="438912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7036308" y="5358384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 · GPU · SSD · HDD · Fans · USB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SIMPLE ANALOGY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Imagine your house has a water treatment plant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04870" y="2020824"/>
            <a:ext cx="871789" cy="871789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large river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779776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81726" y="2020824"/>
            <a:ext cx="871789" cy="87178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71216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PSU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2871216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Cleans &amp; controls water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56632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58582" y="2020824"/>
            <a:ext cx="871789" cy="87178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48072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5148072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PSU cables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7333488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35438" y="2020824"/>
            <a:ext cx="871789" cy="871789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424928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7424928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City water network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9610344" y="1691640"/>
            <a:ext cx="2075688" cy="2194560"/>
          </a:xfrm>
          <a:prstGeom prst="roundRect">
            <a:avLst>
              <a:gd name="adj" fmla="val 3965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2294" y="2020824"/>
            <a:ext cx="871789" cy="871789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9701784" y="2965765"/>
            <a:ext cx="18928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Buildings</a:t>
            </a:r>
            <a:endParaRPr lang="en-US" sz="1250" dirty="0"/>
          </a:p>
        </p:txBody>
      </p:sp>
      <p:sp>
        <p:nvSpPr>
          <p:cNvPr id="26" name="Text 19"/>
          <p:cNvSpPr/>
          <p:nvPr/>
        </p:nvSpPr>
        <p:spPr>
          <a:xfrm>
            <a:off x="9701784" y="3294949"/>
            <a:ext cx="1892808" cy="518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CPU · GPU · SSD · RAM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502920" y="4160520"/>
            <a:ext cx="111831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PSU makes sure </a:t>
            </a:r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component gets exactly the right amount of clean, stable power</a:t>
            </a:r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 Too much power could damage the component, too little power could cause crashes, so the PSU continuously regulates and distributes electricity safely throughout the computer.</a:t>
            </a:r>
            <a:endParaRPr lang="en-US" sz="1350" dirty="0"/>
          </a:p>
        </p:txBody>
      </p:sp>
      <p:sp>
        <p:nvSpPr>
          <p:cNvPr id="28" name="Shape 21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PSU = water treatment plant · Cables = pipes · Motherboard = city network · Components = buildings.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A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3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 deep dive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02920" y="3749040"/>
            <a:ext cx="8439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one-way gate for electricity — how diodes turn AC into DC.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01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WHAT IS A RECTIFIER?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one-way gate for electricity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rectifier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is like 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gate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for electricity.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Electricity from your wall outlet moves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 and backward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(AC).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rectifier only allows electricity to move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forward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, turning it into DC.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 of it like a revolving door at a stadium.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703320"/>
            <a:ext cx="3593592" cy="1920240"/>
          </a:xfrm>
          <a:prstGeom prst="roundRect">
            <a:avLst>
              <a:gd name="adj" fmla="val 428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96466" y="3991356"/>
            <a:ext cx="806501" cy="80650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871009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5200193"/>
            <a:ext cx="341071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walking in and out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3703320"/>
            <a:ext cx="3593592" cy="1920240"/>
          </a:xfrm>
          <a:prstGeom prst="roundRect">
            <a:avLst>
              <a:gd name="adj" fmla="val 4286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91226" y="3991356"/>
            <a:ext cx="806501" cy="80650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89120" y="4871009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389120" y="5200193"/>
            <a:ext cx="341071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Security lets people through one way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92440" y="3703320"/>
            <a:ext cx="3593592" cy="1920240"/>
          </a:xfrm>
          <a:prstGeom prst="roundRect">
            <a:avLst>
              <a:gd name="adj" fmla="val 4286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85986" y="3991356"/>
            <a:ext cx="806501" cy="80650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83880" y="4871009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DC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183880" y="5200193"/>
            <a:ext cx="3410712" cy="3502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Everyone walking the same way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BEFORE THE RECTIFIER (AC)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Electricity keeps changing direction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426964" cy="2103120"/>
          </a:xfrm>
          <a:prstGeom prst="roundRect">
            <a:avLst>
              <a:gd name="adj" fmla="val 3913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74747" y="2052828"/>
            <a:ext cx="883310" cy="8833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009290"/>
            <a:ext cx="52440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 ← → ← → ←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338474"/>
            <a:ext cx="5244084" cy="428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current flow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8172" y="26426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59068" y="1737360"/>
            <a:ext cx="5426964" cy="2103120"/>
          </a:xfrm>
          <a:prstGeom prst="roundRect">
            <a:avLst>
              <a:gd name="adj" fmla="val 3913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0895" y="2052828"/>
            <a:ext cx="883310" cy="8833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50508" y="3009290"/>
            <a:ext cx="52440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Sine Waveform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350508" y="3338474"/>
            <a:ext cx="5244084" cy="428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 then negative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11183112" cy="1280160"/>
          </a:xfrm>
          <a:prstGeom prst="roundRect">
            <a:avLst>
              <a:gd name="adj" fmla="val 6429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406908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Voltage:      /\        /\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/  \      /  \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___________/    \____/    \___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\   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\  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\/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502920" y="5349240"/>
            <a:ext cx="1118311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voltage goes positive…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then negative…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50 times every second.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THE RECTIFIER (DC)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Electricity only flows in one direction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426964" cy="2103120"/>
          </a:xfrm>
          <a:prstGeom prst="roundRect">
            <a:avLst>
              <a:gd name="adj" fmla="val 3913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74747" y="2052828"/>
            <a:ext cx="883310" cy="8833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009290"/>
            <a:ext cx="52440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→ → → → → →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338474"/>
            <a:ext cx="5244084" cy="428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direction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948172" y="264261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259068" y="1737360"/>
            <a:ext cx="5426964" cy="2103120"/>
          </a:xfrm>
          <a:prstGeom prst="roundRect">
            <a:avLst>
              <a:gd name="adj" fmla="val 3913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530895" y="2052828"/>
            <a:ext cx="883310" cy="88331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350508" y="3009290"/>
            <a:ext cx="52440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Flat DC Waveform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350508" y="3338474"/>
            <a:ext cx="5244084" cy="4288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Steady, forward only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02920" y="3977640"/>
            <a:ext cx="11183112" cy="914400"/>
          </a:xfrm>
          <a:prstGeom prst="roundRect">
            <a:avLst>
              <a:gd name="adj" fmla="val 900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40080" y="406908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────────────────────────────────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02920" y="51206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the computer can use it.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DOES A RECTIFIER WORK?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Diodes — one-way valves for electricity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Inside are special electronic parts called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diodes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diode behaves like 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valve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— forward is allowed, backward is blocked.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PSU usually uses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diodes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arranged in a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 Rectifier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converts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230 V AC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into approximately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320 V DC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356616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54912" y="3867912"/>
            <a:ext cx="844906" cy="84490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78597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Forward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511515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Allowed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070098" y="44256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80994" y="356616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32986" y="3867912"/>
            <a:ext cx="844906" cy="84490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72434" y="478597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Diode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3472434" y="511515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One-way valve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948172" y="44256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59068" y="356616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F4F5F7"/>
          </a:solidFill>
          <a:ln w="12700">
            <a:solidFill>
              <a:srgbClr val="DADDE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11060" y="3867912"/>
            <a:ext cx="844906" cy="844906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350508" y="478597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Backward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350508" y="511515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Blocked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8826246" y="442569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37142" y="3566160"/>
            <a:ext cx="2548890" cy="2011680"/>
          </a:xfrm>
          <a:prstGeom prst="roundRect">
            <a:avLst>
              <a:gd name="adj" fmla="val 4091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989134" y="3867912"/>
            <a:ext cx="844906" cy="84490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228582" y="4785970"/>
            <a:ext cx="236601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Bridge Rectifier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9228582" y="5115154"/>
            <a:ext cx="2366010" cy="38953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diodes together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diodes wired as a bridge convert 230 V AC into ~320 V DC.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IS THE RECTIFIER INSIDE THE PSU?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Location in the power chain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57116" y="1371600"/>
            <a:ext cx="3474720" cy="960120"/>
          </a:xfrm>
          <a:prstGeom prst="roundRect">
            <a:avLst>
              <a:gd name="adj" fmla="val 8571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1708" y="163220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70348" y="1444752"/>
            <a:ext cx="265176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66460" y="2350008"/>
            <a:ext cx="256032" cy="219456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57116" y="2587752"/>
            <a:ext cx="3474720" cy="960120"/>
          </a:xfrm>
          <a:prstGeom prst="roundRect">
            <a:avLst>
              <a:gd name="adj" fmla="val 857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21708" y="2848356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0348" y="2660904"/>
            <a:ext cx="265176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EMI Filter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966460" y="3566160"/>
            <a:ext cx="256032" cy="219456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57116" y="3803904"/>
            <a:ext cx="3474720" cy="960120"/>
          </a:xfrm>
          <a:prstGeom prst="roundRect">
            <a:avLst>
              <a:gd name="adj" fmla="val 8571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21708" y="4064508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70348" y="3877056"/>
            <a:ext cx="265176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
</a:t>
            </a:r>
            <a:pPr indent="0" marL="0">
              <a:buNone/>
            </a:pPr>
            <a:r>
              <a:rPr lang="en-US" sz="105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are here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966460" y="4782312"/>
            <a:ext cx="256032" cy="219456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57116" y="5020056"/>
            <a:ext cx="3474720" cy="960120"/>
          </a:xfrm>
          <a:prstGeom prst="roundRect">
            <a:avLst>
              <a:gd name="adj" fmla="val 8571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21708" y="5280660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070348" y="5093208"/>
            <a:ext cx="2651760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MOSFETs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rectifier sits after the EMI filter and before the high-speed MOSFET switches.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AF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 4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02920" y="2788920"/>
            <a:ext cx="111831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 deep dive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502920" y="3749040"/>
            <a:ext cx="8439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impossibly-fast electronic switch that makes the modern PSU possible.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280160" cy="1097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WHAT ARE MOSFETS?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Metal-Oxide-Semiconductor Field-Effect Transistor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3112" cy="1005840"/>
          </a:xfrm>
          <a:prstGeom prst="roundRect">
            <a:avLst>
              <a:gd name="adj" fmla="val 8182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371600"/>
            <a:ext cx="1063447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MOSFET stands for:  </a:t>
            </a:r>
            <a:pPr indent="0" marL="0"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Metal-Oxide-Semiconductor Field-Effect Transistor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26060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 sounds complicated, but its job is actually simple.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1900809" y="3383280"/>
            <a:ext cx="4029075" cy="2194560"/>
          </a:xfrm>
          <a:prstGeom prst="roundRect">
            <a:avLst>
              <a:gd name="adj" fmla="val 375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54489" y="3712464"/>
            <a:ext cx="921715" cy="92171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992249" y="4707331"/>
            <a:ext cx="38461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1992249" y="5036515"/>
            <a:ext cx="3846195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transistor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48172" y="433425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59068" y="3383280"/>
            <a:ext cx="4029075" cy="2194560"/>
          </a:xfrm>
          <a:prstGeom prst="roundRect">
            <a:avLst>
              <a:gd name="adj" fmla="val 3750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812748" y="3712464"/>
            <a:ext cx="921715" cy="92171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350508" y="4707331"/>
            <a:ext cx="384619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Electronic Switch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350508" y="5036515"/>
            <a:ext cx="3846195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/ OFF at incredible speed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MOSFET · SIMPLE EXPLANATION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extremely fast electronic switch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MOSFET is an </a:t>
            </a:r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extremely fast electronic switch</a:t>
            </a:r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Imagine someone turning a light switch on and off: ON / OFF / ON / OFF.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human can do this maybe once every second.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834640"/>
            <a:ext cx="5362956" cy="2560320"/>
          </a:xfrm>
          <a:prstGeom prst="roundRect">
            <a:avLst>
              <a:gd name="adj" fmla="val 3214"/>
            </a:avLst>
          </a:prstGeom>
          <a:solidFill>
            <a:srgbClr val="F4F5F7"/>
          </a:solidFill>
          <a:ln w="12700">
            <a:solidFill>
              <a:srgbClr val="DADDE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46731" y="3218688"/>
            <a:ext cx="1075334" cy="10753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43671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4696358"/>
            <a:ext cx="5180076" cy="625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≈ 1 switch per second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323076" y="2834640"/>
            <a:ext cx="5362956" cy="2560320"/>
          </a:xfrm>
          <a:prstGeom prst="roundRect">
            <a:avLst>
              <a:gd name="adj" fmla="val 3214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66887" y="3218688"/>
            <a:ext cx="1075334" cy="107533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14516" y="4367174"/>
            <a:ext cx="518007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14516" y="4696358"/>
            <a:ext cx="5180076" cy="6254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100,000  ·  200,000  ·  300,000  ·  500,000 times every second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39028" y="3959352"/>
            <a:ext cx="310896" cy="310896"/>
          </a:xfrm>
          <a:prstGeom prst="rightArrow">
            <a:avLst/>
          </a:prstGeom>
          <a:solidFill>
            <a:srgbClr val="0F6CBD"/>
          </a:solidFill>
          <a:ln/>
        </p:spPr>
      </p:sp>
      <p:sp>
        <p:nvSpPr>
          <p:cNvPr id="17" name="Shape 13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MOSFET can switch hundreds of thousands of times per second — far beyond human speed.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SWITCH SO FAST?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Because it makes the transformer tiny and efficient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PSU needs to reduce the voltage. Instead of using a huge transformer like older power supplies, modern PSUs: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2103120"/>
            <a:ext cx="3593592" cy="1737360"/>
          </a:xfrm>
          <a:prstGeom prst="roundRect">
            <a:avLst>
              <a:gd name="adj" fmla="val 473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934870" y="2363724"/>
            <a:ext cx="729691" cy="72969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3166567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Convert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4360" y="3495751"/>
            <a:ext cx="3410712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to DC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297680" y="2103120"/>
            <a:ext cx="3593592" cy="1737360"/>
          </a:xfrm>
          <a:prstGeom prst="roundRect">
            <a:avLst>
              <a:gd name="adj" fmla="val 473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29630" y="2363724"/>
            <a:ext cx="729691" cy="729691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89120" y="3166567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Chop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389120" y="3495751"/>
            <a:ext cx="3410712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DC into tiny pulses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092440" y="2103120"/>
            <a:ext cx="3593592" cy="1737360"/>
          </a:xfrm>
          <a:prstGeom prst="roundRect">
            <a:avLst>
              <a:gd name="adj" fmla="val 4737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524390" y="2363724"/>
            <a:ext cx="729691" cy="72969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83880" y="3166567"/>
            <a:ext cx="34107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Send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8183880" y="3495751"/>
            <a:ext cx="3410712" cy="2715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Pulses through a small transformer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02920" y="40233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makes the PSU: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02920" y="4389120"/>
            <a:ext cx="1118311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 smaller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 lighter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efficient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cooler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34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MOSFET WAVEFORM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Instead of a smooth wave — tiny square pulses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a smooth wave…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4F5F7"/>
          </a:solidFill>
          <a:ln w="12700">
            <a:solidFill>
              <a:srgbClr val="DADD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783080"/>
            <a:ext cx="109087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──────────────────────────────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69748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…the MOSFET creates tiny square pulses: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" y="3108960"/>
            <a:ext cx="11183112" cy="1097280"/>
          </a:xfrm>
          <a:prstGeom prst="roundRect">
            <a:avLst>
              <a:gd name="adj" fmla="val 750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00400"/>
            <a:ext cx="1090879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20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_|‾|_|‾|_|‾|_|‾|_|‾|_|‾|_|‾|_|‾|_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4434840"/>
            <a:ext cx="11183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These pulses can be over </a:t>
            </a:r>
            <a:pPr algn="ctr" indent="0" marL="0">
              <a:buNone/>
            </a:pPr>
            <a:r>
              <a:rPr lang="en-US" sz="15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100,000 times per second</a:t>
            </a:r>
            <a:pPr algn="ctr" indent="0" marL="0">
              <a:buNone/>
            </a:pPr>
            <a:r>
              <a:rPr lang="en-US" sz="15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MOSFETs replace smooth waves with rapid square pulses — the language of switching PSUs.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NOT LEAVE THE ELECTRICITY ON?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swimming-pool analogy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96186" y="2157984"/>
            <a:ext cx="921715" cy="92171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Filling a Pool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594360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one huge bucket…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029456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4340352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3618" y="2157984"/>
            <a:ext cx="921715" cy="92171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1792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Many Tiny Cups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431792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Poured very quickly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7866888" y="2779776"/>
            <a:ext cx="292608" cy="292608"/>
          </a:xfrm>
          <a:prstGeom prst="right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177784" y="1828800"/>
            <a:ext cx="3508248" cy="2194560"/>
          </a:xfrm>
          <a:prstGeom prst="roundRect">
            <a:avLst>
              <a:gd name="adj" fmla="val 3750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71050" y="2157984"/>
            <a:ext cx="921715" cy="921715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269224" y="3152851"/>
            <a:ext cx="33253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Easier to Control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8269224" y="3482035"/>
            <a:ext cx="3325368" cy="4681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Exactly what a MOSFET does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02920" y="4251960"/>
            <a:ext cx="1118311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Imagine filling a swimming pool.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Instead of one huge bucket… you pour many tiny cups very quickly.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becomes much easier to control.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That's exactly what a MOSFET does with electricity.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HAPPENS AFTER THE MOSFET?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It enables the transformer to do its job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357116" y="1280160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21708" y="149504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70348" y="1353312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Wall Outlet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966460" y="2167128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57116" y="2350008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21708" y="2564892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70348" y="2423160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966460" y="3236976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357116" y="3419856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521708" y="3634740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070348" y="3493008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
</a:t>
            </a:r>
            <a:pPr indent="0" marL="0">
              <a:buNone/>
            </a:pPr>
            <a:r>
              <a:rPr lang="en-US" sz="105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are here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5966460" y="4306824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357116" y="4489704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521708" y="470458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070348" y="4562856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5966460" y="5376672"/>
            <a:ext cx="256032" cy="164592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4357116" y="5559552"/>
            <a:ext cx="3474720" cy="868680"/>
          </a:xfrm>
          <a:prstGeom prst="roundRect">
            <a:avLst>
              <a:gd name="adj" fmla="val 9474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521708" y="5774436"/>
            <a:ext cx="438912" cy="43891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5070348" y="5632704"/>
            <a:ext cx="2651760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Low Voltage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transformer only works because the MOSFET is switching so rapidly.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ARE MOSFETS SO IMPORTANT?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They power the modern electronic world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Without them the PSU would be: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1118311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much bigger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heavier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less efficient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hotter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more expensive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3383280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Nearly every modern electronic device uses MOSFETs, including: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29853" y="4101084"/>
            <a:ext cx="618317" cy="618317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94360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Computer PSUs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121408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48341" y="4101084"/>
            <a:ext cx="618317" cy="61831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212848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Motherboards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3739896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6829" y="4101084"/>
            <a:ext cx="618317" cy="61831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3831336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Graphics cards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5358384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85317" y="4101084"/>
            <a:ext cx="618317" cy="61831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49824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Laptop chargers</a:t>
            </a:r>
            <a:endParaRPr lang="en-US" sz="1250" dirty="0"/>
          </a:p>
        </p:txBody>
      </p:sp>
      <p:sp>
        <p:nvSpPr>
          <p:cNvPr id="22" name="Shape 16"/>
          <p:cNvSpPr/>
          <p:nvPr/>
        </p:nvSpPr>
        <p:spPr>
          <a:xfrm>
            <a:off x="6976872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03805" y="4101084"/>
            <a:ext cx="618317" cy="618317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7068312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Phone chargers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8595360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022293" y="4101084"/>
            <a:ext cx="618317" cy="618317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8686800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Electric vehicles</a:t>
            </a:r>
            <a:endParaRPr lang="en-US" sz="1250" dirty="0"/>
          </a:p>
        </p:txBody>
      </p:sp>
      <p:sp>
        <p:nvSpPr>
          <p:cNvPr id="28" name="Shape 20"/>
          <p:cNvSpPr/>
          <p:nvPr/>
        </p:nvSpPr>
        <p:spPr>
          <a:xfrm>
            <a:off x="10213848" y="3840480"/>
            <a:ext cx="1472184" cy="1737360"/>
          </a:xfrm>
          <a:prstGeom prst="roundRect">
            <a:avLst>
              <a:gd name="adj" fmla="val 5590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640781" y="4101084"/>
            <a:ext cx="618317" cy="618317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305288" y="4792553"/>
            <a:ext cx="128930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Solar inverters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RECTIFIER VS MOSFET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Side-by-side comparison</a:t>
            </a:r>
            <a:endParaRPr lang="en-US" sz="26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463040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69087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Aspect</a:t>
                      </a:r>
                      <a:endParaRPr lang="en-US" sz="13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Rectifier</a:t>
                      </a:r>
                      <a:endParaRPr lang="en-US" sz="13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MOSFET</a:t>
                      </a:r>
                      <a:endParaRPr lang="en-US" sz="13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Job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Converts AC to DC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Switches DC on and off at very high speed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Built from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Diodes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Transistors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Controls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Only the direction of current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When current flows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Stage in PSU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First major conversion stage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Second major conversion stage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Produces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DC power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High-frequency pulses</a:t>
                      </a:r>
                      <a:endParaRPr lang="en-US" sz="12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Rectifier = converts AC into DC. MOSFET = switches DC on and off very fast.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COMPLETE PSU PROCESS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End-to-end from wall power to your components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28016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1449324"/>
            <a:ext cx="438912" cy="4389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16152" y="135331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230 V AC Wall Power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56382" y="207568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24028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7512" y="2409444"/>
            <a:ext cx="438912" cy="4389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16152" y="231343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EMI Filter
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Removes noise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3056382" y="303580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02920" y="320040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67512" y="3369564"/>
            <a:ext cx="438912" cy="4389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16152" y="327355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Bridge Rectifier
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→ DC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3056382" y="399592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02920" y="416052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329684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216152" y="423367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320 V DC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3056382" y="495604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02920" y="512064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7512" y="5289804"/>
            <a:ext cx="438912" cy="43891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216152" y="519379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MOSFETs
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Fast electronic switches</a:t>
            </a:r>
            <a:endParaRPr lang="en-US" sz="1300" dirty="0"/>
          </a:p>
        </p:txBody>
      </p:sp>
      <p:sp>
        <p:nvSpPr>
          <p:cNvPr id="26" name="Shape 19"/>
          <p:cNvSpPr/>
          <p:nvPr/>
        </p:nvSpPr>
        <p:spPr>
          <a:xfrm>
            <a:off x="6323076" y="128016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487668" y="1449324"/>
            <a:ext cx="438912" cy="438912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7036308" y="135331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High-Frequency Pulses</a:t>
            </a:r>
            <a:endParaRPr lang="en-US" sz="1300" dirty="0"/>
          </a:p>
        </p:txBody>
      </p:sp>
      <p:sp>
        <p:nvSpPr>
          <p:cNvPr id="29" name="Shape 21"/>
          <p:cNvSpPr/>
          <p:nvPr/>
        </p:nvSpPr>
        <p:spPr>
          <a:xfrm>
            <a:off x="8876538" y="207568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6323076" y="224028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487668" y="2409444"/>
            <a:ext cx="438912" cy="438912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036308" y="231343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Transformer
</a:t>
            </a:r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Steps voltage down</a:t>
            </a:r>
            <a:endParaRPr lang="en-US" sz="1300" dirty="0"/>
          </a:p>
        </p:txBody>
      </p:sp>
      <p:sp>
        <p:nvSpPr>
          <p:cNvPr id="33" name="Shape 24"/>
          <p:cNvSpPr/>
          <p:nvPr/>
        </p:nvSpPr>
        <p:spPr>
          <a:xfrm>
            <a:off x="8876538" y="303580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6323076" y="320040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487668" y="3369564"/>
            <a:ext cx="438912" cy="438912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036308" y="327355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Rectifiers &amp; Filters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8876538" y="399592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38" name="Shape 28"/>
          <p:cNvSpPr/>
          <p:nvPr/>
        </p:nvSpPr>
        <p:spPr>
          <a:xfrm>
            <a:off x="6323076" y="416052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DCFCE7"/>
          </a:solidFill>
          <a:ln w="12700">
            <a:solidFill>
              <a:srgbClr val="86EFAC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39" name="Image 8" descr="preencoded.png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487668" y="4329684"/>
            <a:ext cx="438912" cy="438912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7036308" y="423367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Stable +12 V, +5 V, +3.3 V DC</a:t>
            </a:r>
            <a:endParaRPr lang="en-US" sz="1300" dirty="0"/>
          </a:p>
        </p:txBody>
      </p:sp>
      <p:sp>
        <p:nvSpPr>
          <p:cNvPr id="41" name="Shape 30"/>
          <p:cNvSpPr/>
          <p:nvPr/>
        </p:nvSpPr>
        <p:spPr>
          <a:xfrm>
            <a:off x="8876538" y="4956048"/>
            <a:ext cx="256032" cy="146304"/>
          </a:xfrm>
          <a:prstGeom prst="downArrow">
            <a:avLst/>
          </a:prstGeom>
          <a:solidFill>
            <a:srgbClr val="0F6CBD"/>
          </a:solidFill>
          <a:ln w="12700">
            <a:solidFill>
              <a:srgbClr val="0F6CBD"/>
            </a:solidFill>
            <a:prstDash val="solid"/>
          </a:ln>
        </p:spPr>
      </p:sp>
      <p:sp>
        <p:nvSpPr>
          <p:cNvPr id="42" name="Shape 31"/>
          <p:cNvSpPr/>
          <p:nvPr/>
        </p:nvSpPr>
        <p:spPr>
          <a:xfrm>
            <a:off x="6323076" y="5120640"/>
            <a:ext cx="5362956" cy="777240"/>
          </a:xfrm>
          <a:prstGeom prst="roundRect">
            <a:avLst>
              <a:gd name="adj" fmla="val 10588"/>
            </a:avLst>
          </a:prstGeom>
          <a:solidFill>
            <a:srgbClr val="002050"/>
          </a:solidFill>
          <a:ln w="12700">
            <a:solidFill>
              <a:srgbClr val="002050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43" name="Image 9" descr="preencoded.png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6487668" y="5289804"/>
            <a:ext cx="438912" cy="438912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7036308" y="5193792"/>
            <a:ext cx="4539996" cy="6309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Motherboard · CPU · GPU · RAM · SSD · Fans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92608"/>
            <a:ext cx="111831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GOOD WAY TO REMEMBER THEM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566928"/>
            <a:ext cx="1118311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 simple pictures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362956" cy="3931920"/>
          </a:xfrm>
          <a:prstGeom prst="roundRect">
            <a:avLst>
              <a:gd name="adj" fmla="val 209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635758" y="1828800"/>
            <a:ext cx="1097280" cy="10972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3063240"/>
            <a:ext cx="5362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Rectifier = Translator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77240" y="3611880"/>
            <a:ext cx="481431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Changes the type of electricity from </a:t>
            </a:r>
            <a:pPr algn="ctr" indent="0" marL="0">
              <a:buNone/>
            </a:pPr>
            <a:r>
              <a:rPr lang="en-US" sz="1400" b="1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 to DC</a:t>
            </a:r>
            <a:pPr algn="ctr" indent="0" marL="0">
              <a:buNone/>
            </a:pPr>
            <a:r>
              <a:rPr lang="en-US" sz="14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323076" y="1554480"/>
            <a:ext cx="5362956" cy="3931920"/>
          </a:xfrm>
          <a:prstGeom prst="roundRect">
            <a:avLst>
              <a:gd name="adj" fmla="val 2093"/>
            </a:avLst>
          </a:prstGeom>
          <a:solidFill>
            <a:srgbClr val="EAF4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55914" y="1828800"/>
            <a:ext cx="1097280" cy="10972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323076" y="3063240"/>
            <a:ext cx="53629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MOSFET = Super-fast switch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597396" y="3611880"/>
            <a:ext cx="4814316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Chops that DC into high-frequency pulses so the transformer can efficiently produce the different voltages your PC components need.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02920" y="5806440"/>
            <a:ext cx="11183112" cy="603504"/>
          </a:xfrm>
          <a:prstGeom prst="roundRect">
            <a:avLst>
              <a:gd name="adj" fmla="val 10606"/>
            </a:avLst>
          </a:prstGeom>
          <a:solidFill>
            <a:srgbClr val="00205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4088" y="5971032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069848" y="5806440"/>
            <a:ext cx="1037844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8CC2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 POINT  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Rectifier = translator (AC → DC). MOSFET = super-fast switch (chops DC into pulses).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73952"/>
            <a:ext cx="10268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PSU Works  ·  Rectifier &amp; MOSFET Deep Dive  ·  IT Systems Support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137392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88636" y="1463040"/>
            <a:ext cx="2011680" cy="20116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3749040"/>
            <a:ext cx="111831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 now understand how a PSU works.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1417320" y="4663440"/>
            <a:ext cx="93543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From 230 V AC at the wall, through filtering, rectification, MOSFET switching, transformation, smoothing and regulation — to the exact voltages every component needs.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02920" y="6355080"/>
            <a:ext cx="111831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Investec · IT Systems Support · Power Fundamentals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Investec — IT Systems Support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 PSU Works — Rectifier &amp; MOSFET</dc:title>
  <dc:subject>PptxGenJS Presentation</dc:subject>
  <dc:creator>Andre Snell</dc:creator>
  <cp:lastModifiedBy>Andre Snell</cp:lastModifiedBy>
  <cp:revision>1</cp:revision>
  <dcterms:created xsi:type="dcterms:W3CDTF">2026-08-23T00:54:02Z</dcterms:created>
  <dcterms:modified xsi:type="dcterms:W3CDTF">2026-08-23T00:54:02Z</dcterms:modified>
</cp:coreProperties>
</file>