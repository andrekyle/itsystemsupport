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image" Target="../media/image-3-13.png"/><Relationship Id="rId14" Type="http://schemas.openxmlformats.org/officeDocument/2006/relationships/image" Target="../media/image-3-14.svg"/><Relationship Id="rId15" Type="http://schemas.openxmlformats.org/officeDocument/2006/relationships/image" Target="../media/image-3-15.png"/><Relationship Id="rId16" Type="http://schemas.openxmlformats.org/officeDocument/2006/relationships/image" Target="../media/image-3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image" Target="../media/image-15-7.png"/><Relationship Id="rId8" Type="http://schemas.openxmlformats.org/officeDocument/2006/relationships/image" Target="../media/image-15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1005840"/>
            <a:ext cx="5394960" cy="566928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005840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114050 · LESSON 3 · NQF LEVEL 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" y="1737360"/>
            <a:ext cx="98755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Explain how Information Technology can be used in Business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02920" y="3474720"/>
            <a:ext cx="8869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Word processors, spreadsheets, databases, graphics and the integrated office suites of 2026 — their functions, and their effects on the business</a:t>
            </a:r>
            <a:endParaRPr lang="en-US" sz="1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58400" y="1280160"/>
            <a:ext cx="1645920" cy="1645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4224528"/>
            <a:ext cx="11183112" cy="0"/>
          </a:xfrm>
          <a:prstGeom prst="line">
            <a:avLst/>
          </a:prstGeom>
          <a:noFill/>
          <a:ln w="12700">
            <a:solidFill>
              <a:srgbClr val="D5E3F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4407408"/>
            <a:ext cx="261289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02920" y="4754880"/>
            <a:ext cx="261289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 minutes · Self &amp; Group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298698" y="4407408"/>
            <a:ext cx="261289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3298698" y="4754880"/>
            <a:ext cx="261289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Friday, 21 Aug 2026 · 09h00 – 14h00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094476" y="4407408"/>
            <a:ext cx="261289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094476" y="4754880"/>
            <a:ext cx="261289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1 · Professional Team Development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890254" y="4407408"/>
            <a:ext cx="261289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ASSURANCE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890254" y="4754880"/>
            <a:ext cx="261289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QCTO / MICT SETA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02920" y="6291072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ITSS Learn · Investec · Corporate Banking Technology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114050 · Lesson 3 — How IT can be used in business · NQF 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WORD PROCESSORS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most common of all computer applications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11183112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Word processing: using a computer to create, edit and print documents — create it, store it electronically, display it on screen, modify it from the keyboard, print or share it.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great advantage over a typewriter: change anything without retyping the document — correct, delete, insert and move text freely.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2026 it also saves to the cloud automatically, keeps a version history, and lets several people edit the same document at once.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tools a business will meet: Microsoft Word (Microsoft 365, with Copilot), Google Docs (Google Workspace, with Gemini) and the free LibreOffice Writer.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4892040"/>
            <a:ext cx="11183112" cy="1188720"/>
          </a:xfrm>
          <a:prstGeom prst="roundRect">
            <a:avLst>
              <a:gd name="adj" fmla="val 6923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5020056"/>
            <a:ext cx="10725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BUSINESS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5367528"/>
            <a:ext cx="10725912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Letters, quotations, contracts, reports, policies, minutes — produced faster and with fewer errors, kept on-brand with templates, finished together in the cloud.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114050 · Lesson 3 — How IT can be used in business · NQF 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WORD PROCESSORS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Basic features every word processor supports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265861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1129030000" dist="322580000" dir="324000000000">
              <a:srgbClr val="9AB4CC">
                <a:alpha val="300000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512" y="173736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06424" y="1664208"/>
            <a:ext cx="189052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Insert text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67512" y="2487168"/>
            <a:ext cx="2329434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text anywhere in the document.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344418" y="1554480"/>
            <a:ext cx="265861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14338681000000" dist="4096766000000" dir="19440000000000000">
              <a:srgbClr val="9AB4CC">
                <a:alpha val="30000000000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09010" y="173736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47922" y="1664208"/>
            <a:ext cx="189052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Delete text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3509010" y="2487168"/>
            <a:ext cx="2329434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Erase characters, words, lines or pages.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6185916" y="1554480"/>
            <a:ext cx="265861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182101248700000000" dist="52028928200000000" dir="1.1664e+21">
              <a:srgbClr val="9AB4CC">
                <a:alpha val="3000000000000000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0508" y="173736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89420" y="1664208"/>
            <a:ext cx="189052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Cut and paste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6350508" y="2487168"/>
            <a:ext cx="2329434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 a section and insert it elsewhere.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9027414" y="1554480"/>
            <a:ext cx="265861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2.31268585849e+21" dist="660767388140000000000" dir="6.9984e+25">
              <a:srgbClr val="9AB4CC">
                <a:alpha val="3e+24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92006" y="1737360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630918" y="1664208"/>
            <a:ext cx="189052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Copy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9192006" y="2487168"/>
            <a:ext cx="2329434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Duplicate a section of text.</a:t>
            </a:r>
            <a:endParaRPr lang="en-US" sz="1800" dirty="0"/>
          </a:p>
        </p:txBody>
      </p:sp>
      <p:sp>
        <p:nvSpPr>
          <p:cNvPr id="23" name="Shape 17"/>
          <p:cNvSpPr/>
          <p:nvPr/>
        </p:nvSpPr>
        <p:spPr>
          <a:xfrm>
            <a:off x="502920" y="3337560"/>
            <a:ext cx="265861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2.9371110402823e+25" dist="8.391745829378e+24" dir="4.19904e+30">
              <a:srgbClr val="9AB4CC">
                <a:alpha val="3e+29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7512" y="3520440"/>
            <a:ext cx="347472" cy="34747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106424" y="3447288"/>
            <a:ext cx="189052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Page size &amp; margins</a:t>
            </a:r>
            <a:endParaRPr lang="en-US" sz="2000" dirty="0"/>
          </a:p>
        </p:txBody>
      </p:sp>
      <p:sp>
        <p:nvSpPr>
          <p:cNvPr id="26" name="Text 19"/>
          <p:cNvSpPr/>
          <p:nvPr/>
        </p:nvSpPr>
        <p:spPr>
          <a:xfrm>
            <a:off x="667512" y="4270248"/>
            <a:ext cx="2329434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them — the text re-fits automatically.</a:t>
            </a:r>
            <a:endParaRPr lang="en-US" sz="1800" dirty="0"/>
          </a:p>
        </p:txBody>
      </p:sp>
      <p:sp>
        <p:nvSpPr>
          <p:cNvPr id="27" name="Shape 20"/>
          <p:cNvSpPr/>
          <p:nvPr/>
        </p:nvSpPr>
        <p:spPr>
          <a:xfrm>
            <a:off x="3344418" y="3337560"/>
            <a:ext cx="265861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3.730131021158521e+29" dist="1.0657517203310059e+29" dir="2.519424e+35">
              <a:srgbClr val="9AB4CC">
                <a:alpha val="2.9999999999999997e+34"/>
              </a:srgbClr>
            </a:outerShdw>
          </a:effectLst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509010" y="3520440"/>
            <a:ext cx="347472" cy="34747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3947922" y="3447288"/>
            <a:ext cx="189052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Search &amp; replace</a:t>
            </a:r>
            <a:endParaRPr lang="en-US" sz="2000" dirty="0"/>
          </a:p>
        </p:txBody>
      </p:sp>
      <p:sp>
        <p:nvSpPr>
          <p:cNvPr id="30" name="Text 22"/>
          <p:cNvSpPr/>
          <p:nvPr/>
        </p:nvSpPr>
        <p:spPr>
          <a:xfrm>
            <a:off x="3509010" y="4270248"/>
            <a:ext cx="2329434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a phrase; swap every occurrence.</a:t>
            </a:r>
            <a:endParaRPr lang="en-US" sz="1800" dirty="0"/>
          </a:p>
        </p:txBody>
      </p:sp>
      <p:sp>
        <p:nvSpPr>
          <p:cNvPr id="31" name="Shape 23"/>
          <p:cNvSpPr/>
          <p:nvPr/>
        </p:nvSpPr>
        <p:spPr>
          <a:xfrm>
            <a:off x="6185916" y="3337560"/>
            <a:ext cx="265861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4.737266396871321e+33" dist="1.3535046848203775e+33" dir="1.5116544e+40">
              <a:srgbClr val="9AB4CC">
                <a:alpha val="3e+39"/>
              </a:srgbClr>
            </a:outerShdw>
          </a:effectLst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50508" y="3520440"/>
            <a:ext cx="347472" cy="34747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789420" y="3447288"/>
            <a:ext cx="189052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Word wrap</a:t>
            </a:r>
            <a:endParaRPr lang="en-US" sz="2000" dirty="0"/>
          </a:p>
        </p:txBody>
      </p:sp>
      <p:sp>
        <p:nvSpPr>
          <p:cNvPr id="34" name="Text 25"/>
          <p:cNvSpPr/>
          <p:nvPr/>
        </p:nvSpPr>
        <p:spPr>
          <a:xfrm>
            <a:off x="6350508" y="4270248"/>
            <a:ext cx="2329434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lines start themselves; text re-flows.</a:t>
            </a:r>
            <a:endParaRPr lang="en-US" sz="1800" dirty="0"/>
          </a:p>
        </p:txBody>
      </p:sp>
      <p:sp>
        <p:nvSpPr>
          <p:cNvPr id="35" name="Shape 26"/>
          <p:cNvSpPr/>
          <p:nvPr/>
        </p:nvSpPr>
        <p:spPr>
          <a:xfrm>
            <a:off x="9027414" y="3337560"/>
            <a:ext cx="265861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6.016328324026578e+37" dist="1.7189509497218795e+37" dir="9.069926400000001e+44">
              <a:srgbClr val="9AB4CC">
                <a:alpha val="3e+44"/>
              </a:srgbClr>
            </a:outerShdw>
          </a:effectLst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192006" y="3520440"/>
            <a:ext cx="347472" cy="347472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9630918" y="3447288"/>
            <a:ext cx="189052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Print</a:t>
            </a:r>
            <a:endParaRPr lang="en-US" sz="2000" dirty="0"/>
          </a:p>
        </p:txBody>
      </p:sp>
      <p:sp>
        <p:nvSpPr>
          <p:cNvPr id="38" name="Text 28"/>
          <p:cNvSpPr/>
          <p:nvPr/>
        </p:nvSpPr>
        <p:spPr>
          <a:xfrm>
            <a:off x="9192006" y="4270248"/>
            <a:ext cx="2329434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Hardcopy — or a PDF for email and WhatsApp.</a:t>
            </a:r>
            <a:endParaRPr lang="en-US" sz="1800" dirty="0"/>
          </a:p>
        </p:txBody>
      </p:sp>
      <p:sp>
        <p:nvSpPr>
          <p:cNvPr id="39" name="Shape 29"/>
          <p:cNvSpPr/>
          <p:nvPr/>
        </p:nvSpPr>
        <p:spPr>
          <a:xfrm>
            <a:off x="502920" y="5120640"/>
            <a:ext cx="11183112" cy="1051560"/>
          </a:xfrm>
          <a:prstGeom prst="roundRect">
            <a:avLst>
              <a:gd name="adj" fmla="val 7826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7.640736971513755e+41" dist="2.183067706146787e+41" dir="5.44195584e+49">
              <a:srgbClr val="9AB4CC">
                <a:alpha val="2.9999999999999997e+49"/>
              </a:srgbClr>
            </a:outerShdw>
          </a:effectLst>
        </p:spPr>
      </p:sp>
      <p:sp>
        <p:nvSpPr>
          <p:cNvPr id="40" name="Text 30"/>
          <p:cNvSpPr/>
          <p:nvPr/>
        </p:nvSpPr>
        <p:spPr>
          <a:xfrm>
            <a:off x="731520" y="5248656"/>
            <a:ext cx="10725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 EDITOR OR WORD PROCESSOR?</a:t>
            </a:r>
            <a:endParaRPr lang="en-US" sz="1800" dirty="0"/>
          </a:p>
        </p:txBody>
      </p:sp>
      <p:sp>
        <p:nvSpPr>
          <p:cNvPr id="41" name="Text 31"/>
          <p:cNvSpPr/>
          <p:nvPr/>
        </p:nvSpPr>
        <p:spPr>
          <a:xfrm>
            <a:off x="731520" y="5596128"/>
            <a:ext cx="10725912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program with only these basics is a text editor (Windows Notepad). Word processors that add much more are called full-featured word processors.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114050 · Lesson 3 — How IT can be used in business · NQF 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WORD PROCESSORS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full-featured word processors add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3605784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9.703735953822469e+45" dist="2.7724959868064195e+45" dir="3.2651735040000005e+54">
              <a:srgbClr val="9AB4CC">
                <a:alpha val="2.9999999999999996e+54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512" y="164592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06424" y="157276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Fonts &amp; layout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67512" y="2395728"/>
            <a:ext cx="3276600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Typefaces, bold, italics; margins and indents; WYSIWYG.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291584" y="1463040"/>
            <a:ext cx="3605784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1.2323744661354536e+50" dist="3.5210699032441527e+49" dir="1.9591041024000004e+59">
              <a:srgbClr val="9AB4CC">
                <a:alpha val="2.9999999999999996e+59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56176" y="164592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95088" y="157276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Headers, footers &amp; numbering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456176" y="2395728"/>
            <a:ext cx="3276600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 top and bottom of every page — numbers tracked.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8080248" y="1463040"/>
            <a:ext cx="3605784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1.5651155719920262e+54" dist="4.471758777120074e+53" dir="1.1754624614400003e+64">
              <a:srgbClr val="9AB4CC">
                <a:alpha val="2.9999999999999996e+64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44840" y="164592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83752" y="157276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Mail merge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8244840" y="2395728"/>
            <a:ext cx="3276600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list plus a template: personalised letters and labels.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502920" y="3337560"/>
            <a:ext cx="3605784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1.9876967764298733e+58" dist="5.679133646942494e+57" dir="7.052774768640002e+68">
              <a:srgbClr val="9AB4CC">
                <a:alpha val="2.9999999999999995e+69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7512" y="3520440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06424" y="344728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Spell checker &amp; thesaurus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667512" y="4270248"/>
            <a:ext cx="3276600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Unrecognised words highlighted; synonyms built in.</a:t>
            </a:r>
            <a:endParaRPr lang="en-US" sz="1800" dirty="0"/>
          </a:p>
        </p:txBody>
      </p:sp>
      <p:sp>
        <p:nvSpPr>
          <p:cNvPr id="23" name="Shape 17"/>
          <p:cNvSpPr/>
          <p:nvPr/>
        </p:nvSpPr>
        <p:spPr>
          <a:xfrm>
            <a:off x="4291584" y="3337560"/>
            <a:ext cx="3605784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2.524374906065939e+62" dist="7.212499731616968e+61" dir="4.2316648611840007e+73">
              <a:srgbClr val="9AB4CC">
                <a:alpha val="2.9999999999999995e+74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456176" y="3520440"/>
            <a:ext cx="347472" cy="34747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895088" y="344728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Contents &amp; indexes</a:t>
            </a:r>
            <a:endParaRPr lang="en-US" sz="2000" dirty="0"/>
          </a:p>
        </p:txBody>
      </p:sp>
      <p:sp>
        <p:nvSpPr>
          <p:cNvPr id="26" name="Text 19"/>
          <p:cNvSpPr/>
          <p:nvPr/>
        </p:nvSpPr>
        <p:spPr>
          <a:xfrm>
            <a:off x="4456176" y="4270248"/>
            <a:ext cx="3276600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Contents, indexes, footnotes, cross-references — automated.</a:t>
            </a:r>
            <a:endParaRPr lang="en-US" sz="1800" dirty="0"/>
          </a:p>
        </p:txBody>
      </p:sp>
      <p:sp>
        <p:nvSpPr>
          <p:cNvPr id="27" name="Shape 20"/>
          <p:cNvSpPr/>
          <p:nvPr/>
        </p:nvSpPr>
        <p:spPr>
          <a:xfrm>
            <a:off x="8080248" y="3337560"/>
            <a:ext cx="3605784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3.2059561307037426e+66" dist="9.15987465915355e+65" dir="2.5389989167104004e+78">
              <a:srgbClr val="9AB4CC">
                <a:alpha val="3e+79"/>
              </a:srgbClr>
            </a:outerShdw>
          </a:effectLst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44840" y="3520440"/>
            <a:ext cx="347472" cy="34747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683752" y="344728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Macros</a:t>
            </a:r>
            <a:endParaRPr lang="en-US" sz="2000" dirty="0"/>
          </a:p>
        </p:txBody>
      </p:sp>
      <p:sp>
        <p:nvSpPr>
          <p:cNvPr id="30" name="Text 22"/>
          <p:cNvSpPr/>
          <p:nvPr/>
        </p:nvSpPr>
        <p:spPr>
          <a:xfrm>
            <a:off x="8244840" y="4270248"/>
            <a:ext cx="3276600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keystrokes once; replay them on routine work.</a:t>
            </a:r>
            <a:endParaRPr lang="en-US" sz="1800" dirty="0"/>
          </a:p>
        </p:txBody>
      </p:sp>
      <p:sp>
        <p:nvSpPr>
          <p:cNvPr id="31" name="Shape 23"/>
          <p:cNvSpPr/>
          <p:nvPr/>
        </p:nvSpPr>
        <p:spPr>
          <a:xfrm>
            <a:off x="502920" y="5120640"/>
            <a:ext cx="11183112" cy="1051560"/>
          </a:xfrm>
          <a:prstGeom prst="roundRect">
            <a:avLst>
              <a:gd name="adj" fmla="val 7826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4.071564285993753e+70" dist="1.1633040817125008e+70" dir="1.5233993500262402e+83">
              <a:srgbClr val="9AB4CC">
                <a:alpha val="2.9999999999999995e+84"/>
              </a:srgbClr>
            </a:outerShdw>
          </a:effectLst>
        </p:spPr>
      </p:sp>
      <p:sp>
        <p:nvSpPr>
          <p:cNvPr id="32" name="Text 24"/>
          <p:cNvSpPr/>
          <p:nvPr/>
        </p:nvSpPr>
        <p:spPr>
          <a:xfrm>
            <a:off x="731520" y="5248656"/>
            <a:ext cx="10725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2026 ADDS</a:t>
            </a:r>
            <a:endParaRPr lang="en-US" sz="1800" dirty="0"/>
          </a:p>
        </p:txBody>
      </p:sp>
      <p:sp>
        <p:nvSpPr>
          <p:cNvPr id="33" name="Text 25"/>
          <p:cNvSpPr/>
          <p:nvPr/>
        </p:nvSpPr>
        <p:spPr>
          <a:xfrm>
            <a:off x="731520" y="5596128"/>
            <a:ext cx="10725912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changes and comments · real-time co-authoring with named cursors · Copilot and Gemini drafting, summarising and translating · dictation with automatic punctuation.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114050 · Lesson 3 — How IT can be used in business · NQF 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SPREADSHEETS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grid of cells that does the arithmetic for you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11183112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spreadsheet is a rectangular table (grid) of information, often financial — the name comes from ledgers “spread” across two facing pages.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Electronic spreadsheets keep the rows, columns and cells but add formulas — =SUM(B2:B13) — and every dependent formula recalculates the instant a number changes.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Charts, pivot tables and conditional formatting turn the numbers into pictures and summaries.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2026 line-up: Microsoft Excel (Copilot writes formulas and analyses data), Google Sheets (browser, real-time sharing) and the free LibreOffice Calc.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4892040"/>
            <a:ext cx="11183112" cy="1188720"/>
          </a:xfrm>
          <a:prstGeom prst="roundRect">
            <a:avLst>
              <a:gd name="adj" fmla="val 6923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5.170886643212067e+74" dist="1.477396183774876e+74" dir="9.14039610015744e+87">
              <a:srgbClr val="9AB4CC">
                <a:alpha val="2.9999999999999996e+89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5020056"/>
            <a:ext cx="10725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BUSINESS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5367528"/>
            <a:ext cx="10725912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Budgets, cash-flow forecasts, price lists, sales analysis, stock counts, dashboards — and “what if” scenarios tested before money is spent (the decision stages from Lesson 2).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114050 · Lesson 3 — How IT can be used in business · NQF 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Structured records, queried for answers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11183112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database is a structured collection of records stored so that a program — or a person using a query language — can consult it to answer questions.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DBMS is the software that manages and queries the database; the schema describes the facts it holds and the relationships among them.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typical query: “How many burgers with two or more patties were sold in March in region 4?” — the answer is information for a decision.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relational model rules (Lesson 2): related tables of rows and columns, linked by shared values.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4892040"/>
            <a:ext cx="11183112" cy="1188720"/>
          </a:xfrm>
          <a:prstGeom prst="roundRect">
            <a:avLst>
              <a:gd name="adj" fmla="val 6923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6.567026036879325e+78" dist="1.8762931533940924e+78" dir="5.484237660094465e+92">
              <a:srgbClr val="9AB4CC">
                <a:alpha val="2.9999999999999997e+94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5020056"/>
            <a:ext cx="10725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BUSINESS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5367528"/>
            <a:ext cx="10725912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records (CRM), stock and inventory, sales history, loyalty, payroll, point-of-sale. Questions answered in seconds — and POPIA makes the business guard the personal data it holds.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114050 · Lesson 3 — How IT can be used in business · NQF 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database engines of 2026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360578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.340123066836742e+82" dist="2.3828923048104974e+82" dir="3.2905425960566786e+97">
              <a:srgbClr val="9AB4CC">
                <a:alpha val="2.9999999999999997e+99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512" y="173736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06424" y="166420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 Server / Azure SQL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67512" y="2487168"/>
            <a:ext cx="3276600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Microsoft's engine on-premise and its cloud twin — the corporate mainstay.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291584" y="1554480"/>
            <a:ext cx="360578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1.0591956294882662e+87" dist="3.0262732271093317e+86" dir="1.9743255576340073e+102">
              <a:srgbClr val="9AB4CC">
                <a:alpha val="3e+104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56176" y="173736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95088" y="166420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PostgreSQL &amp; MySQL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456176" y="2487168"/>
            <a:ext cx="3276600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open-source workhorses behind most of the web's applications.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8080248" y="1554480"/>
            <a:ext cx="360578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1.3451784494500981e+91" dist="3.8433669984288512e+90" dir="1.1845953345804043e+107">
              <a:srgbClr val="9AB4CC">
                <a:alpha val="2.9999999999999997e+109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44840" y="173736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83752" y="166420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Oracle Database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8244840" y="2487168"/>
            <a:ext cx="3276600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heavyweight of large enterprises, banks and government systems.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502920" y="3703320"/>
            <a:ext cx="360578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1.7083766308016246e+95" dist="4.8810760880046414e+94" dir="7.107572007482426e+111">
              <a:srgbClr val="9AB4CC">
                <a:alpha val="2.9999999999999995e+114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7512" y="3886200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06424" y="381304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MongoDB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667512" y="4636008"/>
            <a:ext cx="3276600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NoSQL store for records that do not fit neatly into tables.</a:t>
            </a:r>
            <a:endParaRPr lang="en-US" sz="1800" dirty="0"/>
          </a:p>
        </p:txBody>
      </p:sp>
      <p:sp>
        <p:nvSpPr>
          <p:cNvPr id="23" name="Shape 17"/>
          <p:cNvSpPr/>
          <p:nvPr/>
        </p:nvSpPr>
        <p:spPr>
          <a:xfrm>
            <a:off x="4291584" y="3703320"/>
            <a:ext cx="360578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2.1696383211180632e+99" dist="6.198966631765894e+98" dir="4.2645432044894554e+116">
              <a:srgbClr val="9AB4CC">
                <a:alpha val="2.9999999999999997e+119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456176" y="3886200"/>
            <a:ext cx="347472" cy="34747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895088" y="381304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Access &amp; Airtable</a:t>
            </a:r>
            <a:endParaRPr lang="en-US" sz="2000" dirty="0"/>
          </a:p>
        </p:txBody>
      </p:sp>
      <p:sp>
        <p:nvSpPr>
          <p:cNvPr id="26" name="Text 19"/>
          <p:cNvSpPr/>
          <p:nvPr/>
        </p:nvSpPr>
        <p:spPr>
          <a:xfrm>
            <a:off x="4456176" y="4636008"/>
            <a:ext cx="3276600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small businesses start — friendly forms over real databases.</a:t>
            </a:r>
            <a:endParaRPr lang="en-US" sz="1800" dirty="0"/>
          </a:p>
        </p:txBody>
      </p:sp>
      <p:sp>
        <p:nvSpPr>
          <p:cNvPr id="27" name="Shape 20"/>
          <p:cNvSpPr/>
          <p:nvPr/>
        </p:nvSpPr>
        <p:spPr>
          <a:xfrm>
            <a:off x="8080248" y="3703320"/>
            <a:ext cx="360578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2.7554406678199403e+103" dist="7.872687622342685e+102" dir="2.5587259226936733e+121">
              <a:srgbClr val="9AB4CC">
                <a:alpha val="2.9999999999999995e+124"/>
              </a:srgbClr>
            </a:outerShdw>
          </a:effectLst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44840" y="3886200"/>
            <a:ext cx="347472" cy="34747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683752" y="381304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 the cloud</a:t>
            </a:r>
            <a:endParaRPr lang="en-US" sz="2000" dirty="0"/>
          </a:p>
        </p:txBody>
      </p:sp>
      <p:sp>
        <p:nvSpPr>
          <p:cNvPr id="30" name="Text 22"/>
          <p:cNvSpPr/>
          <p:nvPr/>
        </p:nvSpPr>
        <p:spPr>
          <a:xfrm>
            <a:off x="8244840" y="4636008"/>
            <a:ext cx="3276600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new databases run as managed cloud services, not on an office server.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114050 · Lesson 3 — How IT can be used in business · NQF 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GRAPHICS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Digitally creating and manipulating visual content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2658618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3.499409648131324e+107" dist="9.998313280375211e+106" dir="1.535235553616204e+126">
              <a:srgbClr val="9AB4CC">
                <a:alpha val="2.9999999999999997e+129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512" y="173736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06424" y="1664208"/>
            <a:ext cx="189052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Geometry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67512" y="2487168"/>
            <a:ext cx="2329434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Representing and processing surfaces and shapes.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344418" y="1554480"/>
            <a:ext cx="2658618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4.4442502531267815e+111" dist="1.2697857866076517e+111" dir="9.211413321697224e+130">
              <a:srgbClr val="9AB4CC">
                <a:alpha val="2.9999999999999996e+134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09010" y="173736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47922" y="1664208"/>
            <a:ext cx="189052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Animation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3509010" y="2487168"/>
            <a:ext cx="2329434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Representing and manipulating motion.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6185916" y="1554480"/>
            <a:ext cx="2658618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5.644197821471012e+115" dist="1.6126279489917177e+115" dir="5.526847993018334e+135">
              <a:srgbClr val="9AB4CC">
                <a:alpha val="2.9999999999999994e+139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0508" y="173736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89420" y="1664208"/>
            <a:ext cx="189052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Rendering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6350508" y="2487168"/>
            <a:ext cx="2329434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Algorithms that reproduce how light falls on a scene.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9027414" y="1554480"/>
            <a:ext cx="2658618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7.168131233268186e+119" dist="2.0480374952194813e+119" dir="3.3161087958110005e+140">
              <a:srgbClr val="9AB4CC">
                <a:alpha val="2.9999999999999996e+144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92006" y="1737360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630918" y="1664208"/>
            <a:ext cx="189052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Imaging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9192006" y="2487168"/>
            <a:ext cx="2329434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acquisition and image editing.</a:t>
            </a:r>
            <a:endParaRPr lang="en-US" sz="1800" dirty="0"/>
          </a:p>
        </p:txBody>
      </p:sp>
      <p:sp>
        <p:nvSpPr>
          <p:cNvPr id="23" name="Shape 17"/>
          <p:cNvSpPr/>
          <p:nvPr/>
        </p:nvSpPr>
        <p:spPr>
          <a:xfrm>
            <a:off x="502920" y="3794760"/>
            <a:ext cx="11183112" cy="1188720"/>
          </a:xfrm>
          <a:prstGeom prst="roundRect">
            <a:avLst>
              <a:gd name="adj" fmla="val 6923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9.103526666250596e+123" dist="2.6010076189287412e+123" dir="1.9896652774866004e+145">
              <a:srgbClr val="9AB4CC">
                <a:alpha val="2.9999999999999996e+149"/>
              </a:srgbClr>
            </a:outerShdw>
          </a:effectLst>
        </p:spPr>
      </p:sp>
      <p:sp>
        <p:nvSpPr>
          <p:cNvPr id="24" name="Text 18"/>
          <p:cNvSpPr/>
          <p:nvPr/>
        </p:nvSpPr>
        <p:spPr>
          <a:xfrm>
            <a:off x="731520" y="3922776"/>
            <a:ext cx="10725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BUSINESS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731520" y="4270248"/>
            <a:ext cx="10725912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Logos and branding, adverts, social-media posts, product photos, packaging, signage, slides. A professional image builds trust — and in-house design is fast and cheap.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114050 · Lesson 3 — How IT can be used in business · NQF 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GRAPHICS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2026 toolbox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3593592" cy="2212848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1.1561478866138256e+128" dist="3.303279676039501e+127" dir="1.1937991664919603e+150">
              <a:srgbClr val="9AB4CC">
                <a:alpha val="2.9999999999999997e+154"/>
              </a:srgbClr>
            </a:outerShdw>
          </a:effectLst>
        </p:spPr>
      </p:sp>
      <p:pic>
        <p:nvPicPr>
          <p:cNvPr id="8" name="Image 0" descr="public/figures/114050-tool-canv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645920"/>
            <a:ext cx="3136392" cy="9326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67512" y="2633472"/>
            <a:ext cx="326440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Canva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67512" y="3017520"/>
            <a:ext cx="32644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 design for posts, flyers and slides.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297680" y="1481328"/>
            <a:ext cx="3593592" cy="2212848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1.4683078159995586e+132" dist="4.195165188570166e+131" dir="7.162794998951762e+154">
              <a:srgbClr val="9AB4CC">
                <a:alpha val="2.9999999999999998e+159"/>
              </a:srgbClr>
            </a:outerShdw>
          </a:effectLst>
        </p:spPr>
      </p:sp>
      <p:pic>
        <p:nvPicPr>
          <p:cNvPr id="12" name="Image 1" descr="public/figures/114050-tool-adob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26280" y="1645920"/>
            <a:ext cx="3136392" cy="9326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62272" y="2633472"/>
            <a:ext cx="326440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Photoshop &amp; Illustrator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462272" y="3017520"/>
            <a:ext cx="32644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 photo editing and vector art, with Firefly AI.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8092440" y="1481328"/>
            <a:ext cx="3593592" cy="2212848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1.8647509263194394e+136" dist="5.327859789484111e+135" dir="4.297676999371057e+159">
              <a:srgbClr val="9AB4CC">
                <a:alpha val="3e+164"/>
              </a:srgbClr>
            </a:outerShdw>
          </a:effectLst>
        </p:spPr>
      </p:sp>
      <p:pic>
        <p:nvPicPr>
          <p:cNvPr id="16" name="Image 2" descr="public/figures/114050-tool-figma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321040" y="1645920"/>
            <a:ext cx="3136392" cy="9326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57032" y="2633472"/>
            <a:ext cx="326440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Figma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8257032" y="3017520"/>
            <a:ext cx="32644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Collaborative design in the browser, for teams.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502920" y="3895344"/>
            <a:ext cx="3593592" cy="2212848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2.368233676425688e+140" dist="6.766381932644821e+139" dir="2.5786061996226343e+164">
              <a:srgbClr val="9AB4CC">
                <a:alpha val="3e+169"/>
              </a:srgbClr>
            </a:outerShdw>
          </a:effectLst>
        </p:spPr>
      </p:sp>
      <p:pic>
        <p:nvPicPr>
          <p:cNvPr id="20" name="Image 3" descr="public/figures/114050-tool-blender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31520" y="4059936"/>
            <a:ext cx="3136392" cy="9326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67512" y="5047488"/>
            <a:ext cx="326440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Blender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667512" y="5431536"/>
            <a:ext cx="32644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Free, professional 3D modelling and animation.</a:t>
            </a:r>
            <a:endParaRPr lang="en-US" sz="1800" dirty="0"/>
          </a:p>
        </p:txBody>
      </p:sp>
      <p:sp>
        <p:nvSpPr>
          <p:cNvPr id="23" name="Shape 17"/>
          <p:cNvSpPr/>
          <p:nvPr/>
        </p:nvSpPr>
        <p:spPr>
          <a:xfrm>
            <a:off x="4297680" y="3895344"/>
            <a:ext cx="3593592" cy="2212848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3.0076567690606238e+144" dist="8.593305054458923e+143" dir="1.5471637197735807e+169">
              <a:srgbClr val="9AB4CC">
                <a:alpha val="3e+174"/>
              </a:srgbClr>
            </a:outerShdw>
          </a:effectLst>
        </p:spPr>
      </p:sp>
      <p:pic>
        <p:nvPicPr>
          <p:cNvPr id="24" name="Image 4" descr="public/figures/114050-tool-video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526280" y="4059936"/>
            <a:ext cx="3136392" cy="93268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462272" y="5047488"/>
            <a:ext cx="326440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CapCut &amp; Premiere Pro</a:t>
            </a:r>
            <a:endParaRPr lang="en-US" sz="2000" dirty="0"/>
          </a:p>
        </p:txBody>
      </p:sp>
      <p:sp>
        <p:nvSpPr>
          <p:cNvPr id="26" name="Text 19"/>
          <p:cNvSpPr/>
          <p:nvPr/>
        </p:nvSpPr>
        <p:spPr>
          <a:xfrm>
            <a:off x="4462272" y="5431536"/>
            <a:ext cx="32644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 editing for adverts and social media.</a:t>
            </a:r>
            <a:endParaRPr lang="en-US" sz="1800" dirty="0"/>
          </a:p>
        </p:txBody>
      </p:sp>
      <p:sp>
        <p:nvSpPr>
          <p:cNvPr id="27" name="Shape 20"/>
          <p:cNvSpPr/>
          <p:nvPr/>
        </p:nvSpPr>
        <p:spPr>
          <a:xfrm>
            <a:off x="8092440" y="3895344"/>
            <a:ext cx="3593592" cy="2212848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3.819724096706992e+148" dist="1.0913497419162833e+148" dir="9.282982318641485e+173">
              <a:srgbClr val="9AB4CC">
                <a:alpha val="3e+179"/>
              </a:srgbClr>
            </a:outerShdw>
          </a:effectLst>
        </p:spPr>
      </p:sp>
      <p:pic>
        <p:nvPicPr>
          <p:cNvPr id="28" name="Image 5" descr="public/figures/114050-tool-ai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321040" y="4059936"/>
            <a:ext cx="3136392" cy="93268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257032" y="5047488"/>
            <a:ext cx="326440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image generation</a:t>
            </a:r>
            <a:endParaRPr lang="en-US" sz="2000" dirty="0"/>
          </a:p>
        </p:txBody>
      </p:sp>
      <p:sp>
        <p:nvSpPr>
          <p:cNvPr id="30" name="Text 22"/>
          <p:cNvSpPr/>
          <p:nvPr/>
        </p:nvSpPr>
        <p:spPr>
          <a:xfrm>
            <a:off x="8257032" y="5431536"/>
            <a:ext cx="32644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Firefly, DALL·E and Midjourney draw from a prompt.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114050 · Lesson 3 — How IT can be used in business · NQF 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GRAPHICS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 AI-generated artwork, from one sentence</a:t>
            </a:r>
            <a:endParaRPr lang="en-US" sz="3000" dirty="0"/>
          </a:p>
        </p:txBody>
      </p:sp>
      <p:pic>
        <p:nvPicPr>
          <p:cNvPr id="7" name="Image 0" descr="public/figures/114050-tool-ai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554480"/>
            <a:ext cx="5577840" cy="3712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035040" y="534924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Théâtre d'Opéra Spatial — generated with Midjourney by Jason M. Allen; it won a Colorado State Fair art competition in 2022 and started a worldwide debate.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1737360"/>
            <a:ext cx="52120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AI drafts images from a text prompt — describe the visual, refine, and export.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business: campaign concepts, product mock-ups and social artwork in minutes instead of days.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 still apply: check licensing, brand fit and honesty before publishing AI-generated visuals.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114050 · Lesson 3 — How IT can be used in business · NQF 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INTEGRATED OFFICE SUITES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Microsoft 365 — one subscription, tools that work together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11183112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office suite bundles the word processor, spreadsheet, presentations and email — one look and feel, one spell checker, live links between applications.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links keep work current: an Excel chart pasted into a Word report updates when the numbers change.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Office began in 1989 (Mac) and 1990 (Windows) as Word + Excel + PowerPoint. Today it is Microsoft 365 — a cloud subscription priced per user per month.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2026 business subscription: Word, Excel, PowerPoint, Outlook, OneNote, Teams, OneDrive and SharePoint — with Copilot woven through all of them.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4892040"/>
            <a:ext cx="11183112" cy="1188720"/>
          </a:xfrm>
          <a:prstGeom prst="roundRect">
            <a:avLst>
              <a:gd name="adj" fmla="val 6923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4.85104960281788e+152" dist="1.38601417223368e+152" dir="5.569789391184891e+178">
              <a:srgbClr val="9AB4CC">
                <a:alpha val="3e+184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5020056"/>
            <a:ext cx="10725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BUSINESS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5367528"/>
            <a:ext cx="10725912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quotation drafted in Word, costed in Excel, presented in PowerPoint, shared in Teams and signed off the same day — on desktop, browser, tablet or phone.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114050 · Lesson 3 — How IT can be used in business · NQF 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INTEGRATED OFFICE SUITES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rest of the 2026 market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3605784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6.160832995578707e+156" dist="1.7602379987367734e+156" dir="3.3418736347109347e+183">
              <a:srgbClr val="9AB4CC">
                <a:alpha val="3e+189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512" y="173736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06424" y="166420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Google Workspace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67512" y="2487168"/>
            <a:ext cx="327660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Docs, Sheets, Slides, Gmail, Drive, Meet with Gemini — browser-first, collaboration is its superpower.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291584" y="1554480"/>
            <a:ext cx="3605784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7.824257904384958e+160" dist="2.235502258395702e+160" dir="2.0051241808265608e+188">
              <a:srgbClr val="9AB4CC">
                <a:alpha val="2.9999999999999997e+194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56176" y="173736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95088" y="166420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LibreOffice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456176" y="2487168"/>
            <a:ext cx="327660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Free, open-source, fully offline — Writer, Calc, Impress and Base. Opens Microsoft formats.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8080248" y="1554480"/>
            <a:ext cx="3605784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9.936807538568897e+164" dist="2.8390878681625417e+164" dir="1.2030745084959364e+193">
              <a:srgbClr val="9AB4CC">
                <a:alpha val="2.9999999999999997e+199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44840" y="173736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83752" y="166420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iWork · Zoho · OnlyOffice · WPS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8244840" y="2487168"/>
            <a:ext cx="327660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Apple's suite plus capable challengers — all read and write the standard formats.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502920" y="4160520"/>
            <a:ext cx="11183112" cy="1188720"/>
          </a:xfrm>
          <a:prstGeom prst="roundRect">
            <a:avLst>
              <a:gd name="adj" fmla="val 6923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1.26197455739825e+169" dist="3.605641592566428e+168" dir="7.218447050975619e+197">
              <a:srgbClr val="9AB4CC">
                <a:alpha val="3e+204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731520" y="4288536"/>
            <a:ext cx="10725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COMPATIBILITY IS WHAT MATTERS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731520" y="4636008"/>
            <a:ext cx="10725912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.docx, .xlsx and .pptx are the de facto exchange standards; PDF is the standard for final documents. Weigh cost, collaboration, connectivity and staff skills.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114050 · Lesson 3 — How IT can be used in business · NQF 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INTEGRATED OFFICE SUITES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suites that came before — and what they teach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1118311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5056632"/>
                <a:gridCol w="329184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Suite</a:t>
                      </a:r>
                      <a:endParaRPr lang="en-US" sz="18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What it bundled</a:t>
                      </a:r>
                      <a:endParaRPr lang="en-US" sz="18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What happened</a:t>
                      </a:r>
                      <a:endParaRPr lang="en-US" sz="18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Lotus SmartSuite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Word Pro · 1-2-3 · Freelance Graphics · Approach · Organizer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Discontinued — 1-2-3 ended in 2013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Corel WordPerfect Office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WordPerfect · Quattro Pro · Paradox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Survives only in a small legal niche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CorelDRAW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Vector graphics (still Corel's best-seller)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Lives on — as a graphics tool, not a suite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02920" y="4572000"/>
            <a:ext cx="11183112" cy="1097280"/>
          </a:xfrm>
          <a:prstGeom prst="roundRect">
            <a:avLst>
              <a:gd name="adj" fmla="val 7500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1.6027076878957775e+173" dist="4.579164822559364e+172" dir="4.3310682305853715e+202">
              <a:srgbClr val="9AB4CC">
                <a:alpha val="3e+209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31520" y="4700016"/>
            <a:ext cx="10725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LESSON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31520" y="5047488"/>
            <a:ext cx="10725912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Compatibility beats features. Users would not leave the formats everyone else used — the same reason .docx and .xlsx still rule in 2026.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114050 · Lesson 3 — How IT can be used in business · NQF 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PULLING IT TOGETHER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Function and effect — what you must be able to explain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45920"/>
          <a:ext cx="1118311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480560"/>
                <a:gridCol w="4233672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Application</a:t>
                      </a:r>
                      <a:endParaRPr lang="en-US" sz="18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Function — what it does</a:t>
                      </a:r>
                      <a:endParaRPr lang="en-US" sz="18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Effect — what it changes</a:t>
                      </a:r>
                      <a:endParaRPr lang="en-US" sz="18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Word processors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Create, edit and share documents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Faster, error-free, on-brand paperwork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Spreadsheets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Calculate, analyse and chart numbers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Accurate arithmetic; “what if” before money moves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Databases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Store and query business records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Facts on demand; one trusted copy of the truth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Graphics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Create the visual face of the business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Professional image at low in-house cost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Integrated suites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Bundle it all with email and cloud files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One subscription; data flows, skills transfer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114050 · Lesson 3 — How IT can be used in business · NQF 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PROVE IT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Your work for Lesson 3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5500116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2.0354387636276376e+177" dist="5.815539324650392e+176" dir="2.598640938351223e+207">
              <a:srgbClr val="9AB4CC">
                <a:alpha val="2.9999999999999996e+214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512" y="178308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06424" y="1709928"/>
            <a:ext cx="4732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Questioning session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67512" y="2532888"/>
            <a:ext cx="5170932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 minutes · Self &amp; Group — explain each application's functions AND effects. AI-marked on the Exercises tab.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185916" y="1600200"/>
            <a:ext cx="5500116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2.5850072298071e+181" dist="7.385734942305998e+180" dir="1.5591845630107338e+212">
              <a:srgbClr val="9AB4CC">
                <a:alpha val="3e+219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0508" y="178308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89420" y="1709928"/>
            <a:ext cx="4732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Slide quizzes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350508" y="2532888"/>
            <a:ext cx="5170932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section gates on its five questions — all correct unlocks Next.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02920" y="3931920"/>
            <a:ext cx="5500116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3.282959181855017e+185" dist="9.379883376728618e+184" dir="9.355107378064403e+216">
              <a:srgbClr val="9AB4CC">
                <a:alpha val="2.9999999999999997e+224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7512" y="411480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06424" y="4041648"/>
            <a:ext cx="4732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Self assessment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667512" y="4864608"/>
            <a:ext cx="5170932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 am able to explain how IT can be used in business” — tick it honestly.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6185916" y="3931920"/>
            <a:ext cx="5500116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4.1693581609558713e+189" dist="1.1912451888445345e+189" dir="5.613064426838642e+221">
              <a:srgbClr val="9AB4CC">
                <a:alpha val="2.9999999999999994e+229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50508" y="4114800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789420" y="4041648"/>
            <a:ext cx="4732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Logbook project — Research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6350508" y="4864608"/>
            <a:ext cx="5170932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how IT is used in everyday business, with articles and pictures. Mark it 114050.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20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114050 · Lesson 3 — How IT can be used in business · NQF 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F6CB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146304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240280"/>
            <a:ext cx="1118311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IT is how a business writes, counts, remembers and shows itself.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02920" y="361188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B9D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Word processors for the paperwork · spreadsheets for the numbers · databases for the records · graphics for the brand · one integrated suite tying it all together — always explain the function AND the effect.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6291072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E93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114050 · National Certificate: IT — System Support · SAQA ID 48573 · ITSS Learn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Investec — Corporate Banking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 114050 Lesson 3 — How Information Technology can be used in Business</dc:title>
  <dc:subject>PptxGenJS Presentation</dc:subject>
  <dc:creator>Andre Snell</dc:creator>
  <cp:lastModifiedBy>Andre Snell</cp:lastModifiedBy>
  <cp:revision>1</cp:revision>
  <dcterms:created xsi:type="dcterms:W3CDTF">2026-08-20T12:04:18Z</dcterms:created>
  <dcterms:modified xsi:type="dcterms:W3CDTF">2026-08-20T12:04:18Z</dcterms:modified>
</cp:coreProperties>
</file>