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image" Target="../media/image-3-9.png"/><Relationship Id="rId10" Type="http://schemas.openxmlformats.org/officeDocument/2006/relationships/image" Target="../media/image-3-10.svg"/><Relationship Id="rId11" Type="http://schemas.openxmlformats.org/officeDocument/2006/relationships/image" Target="../media/image-3-11.png"/><Relationship Id="rId12" Type="http://schemas.openxmlformats.org/officeDocument/2006/relationships/image" Target="../media/image-3-12.svg"/><Relationship Id="rId13" Type="http://schemas.openxmlformats.org/officeDocument/2006/relationships/image" Target="../media/image-3-13.png"/><Relationship Id="rId14" Type="http://schemas.openxmlformats.org/officeDocument/2006/relationships/image" Target="../media/image-3-14.svg"/><Relationship Id="rId15" Type="http://schemas.openxmlformats.org/officeDocument/2006/relationships/image" Target="../media/image-3-15.png"/><Relationship Id="rId16" Type="http://schemas.openxmlformats.org/officeDocument/2006/relationships/image" Target="../media/image-3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539496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· NQF LEVEL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Explain how Information Technology can be used in Business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 processors, spreadsheets, databases, graphics and the integrated office suites of 2026 — their functions, and their effects on the business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minutes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Friday, 21 Aug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Professional Team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 PROCESSORS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most common of all computer applications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118311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 processing: using a computer to create, edit and print documents — create it, store it electronically, display it on screen, modify it from the keyboard, print or share it.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great advantage over a typewriter: change anything without retyping the document — correct, delete, insert and move text freely.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2026 it also saves to the cloud automatically, keeps a version history, and lets several people edit the same document at once.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tools a business will meet: Microsoft Word (Microsoft 365, with Copilot), Google Docs (Google Workspace, with Gemini) and the free LibreOffice Writer.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502005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BUSINESS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5367528"/>
            <a:ext cx="1072591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Letters, quotations, contracts, reports, policies, minutes — produced faster and with fewer errors, kept on-brand with templates, finished together in the cloud.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 PROCESSORS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Basic features every word processor supports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265861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Insert text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2329434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text anywhere in the document.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44418" y="1554480"/>
            <a:ext cx="265861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09010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47922" y="166420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Delete text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3509010" y="2487168"/>
            <a:ext cx="2329434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Erase characters, words, lines or pages.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185916" y="1554480"/>
            <a:ext cx="265861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50508" y="173736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89420" y="166420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Cut and paste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350508" y="2487168"/>
            <a:ext cx="2329434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Remove a section and insert it elsewhere.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9027414" y="1554480"/>
            <a:ext cx="265861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92006" y="173736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630918" y="166420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Copy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9192006" y="2487168"/>
            <a:ext cx="2329434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Duplicate a section of text.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502920" y="3337560"/>
            <a:ext cx="265861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7512" y="3520440"/>
            <a:ext cx="347472" cy="34747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106424" y="344728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Page size &amp; margins</a:t>
            </a:r>
            <a:endParaRPr lang="en-US" sz="2000" dirty="0"/>
          </a:p>
        </p:txBody>
      </p:sp>
      <p:sp>
        <p:nvSpPr>
          <p:cNvPr id="26" name="Text 19"/>
          <p:cNvSpPr/>
          <p:nvPr/>
        </p:nvSpPr>
        <p:spPr>
          <a:xfrm>
            <a:off x="667512" y="4270248"/>
            <a:ext cx="2329434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them — the text re-fits automatically.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3344418" y="3337560"/>
            <a:ext cx="265861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509010" y="3520440"/>
            <a:ext cx="347472" cy="34747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3947922" y="344728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Search &amp; replace</a:t>
            </a:r>
            <a:endParaRPr lang="en-US" sz="2000" dirty="0"/>
          </a:p>
        </p:txBody>
      </p:sp>
      <p:sp>
        <p:nvSpPr>
          <p:cNvPr id="30" name="Text 22"/>
          <p:cNvSpPr/>
          <p:nvPr/>
        </p:nvSpPr>
        <p:spPr>
          <a:xfrm>
            <a:off x="3509010" y="4270248"/>
            <a:ext cx="2329434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a phrase; swap every occurrence.</a:t>
            </a:r>
            <a:endParaRPr lang="en-US" sz="1800" dirty="0"/>
          </a:p>
        </p:txBody>
      </p:sp>
      <p:sp>
        <p:nvSpPr>
          <p:cNvPr id="31" name="Shape 23"/>
          <p:cNvSpPr/>
          <p:nvPr/>
        </p:nvSpPr>
        <p:spPr>
          <a:xfrm>
            <a:off x="6185916" y="3337560"/>
            <a:ext cx="265861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350508" y="3520440"/>
            <a:ext cx="347472" cy="347472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789420" y="344728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Word wrap</a:t>
            </a:r>
            <a:endParaRPr lang="en-US" sz="2000" dirty="0"/>
          </a:p>
        </p:txBody>
      </p:sp>
      <p:sp>
        <p:nvSpPr>
          <p:cNvPr id="34" name="Text 25"/>
          <p:cNvSpPr/>
          <p:nvPr/>
        </p:nvSpPr>
        <p:spPr>
          <a:xfrm>
            <a:off x="6350508" y="4270248"/>
            <a:ext cx="2329434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lines start themselves; text re-flows.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9027414" y="3337560"/>
            <a:ext cx="265861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92006" y="3520440"/>
            <a:ext cx="347472" cy="347472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9630918" y="344728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Print</a:t>
            </a:r>
            <a:endParaRPr lang="en-US" sz="2000" dirty="0"/>
          </a:p>
        </p:txBody>
      </p:sp>
      <p:sp>
        <p:nvSpPr>
          <p:cNvPr id="38" name="Text 28"/>
          <p:cNvSpPr/>
          <p:nvPr/>
        </p:nvSpPr>
        <p:spPr>
          <a:xfrm>
            <a:off x="9192006" y="4270248"/>
            <a:ext cx="2329434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Hardcopy — or a PDF for email and WhatsApp.</a:t>
            </a:r>
            <a:endParaRPr lang="en-US" sz="1800" dirty="0"/>
          </a:p>
        </p:txBody>
      </p:sp>
      <p:sp>
        <p:nvSpPr>
          <p:cNvPr id="39" name="Shape 29"/>
          <p:cNvSpPr/>
          <p:nvPr/>
        </p:nvSpPr>
        <p:spPr>
          <a:xfrm>
            <a:off x="502920" y="512064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40" name="Text 30"/>
          <p:cNvSpPr/>
          <p:nvPr/>
        </p:nvSpPr>
        <p:spPr>
          <a:xfrm>
            <a:off x="731520" y="524865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EDITOR OR WORD PROCESSOR?</a:t>
            </a:r>
            <a:endParaRPr lang="en-US" sz="1800" dirty="0"/>
          </a:p>
        </p:txBody>
      </p:sp>
      <p:sp>
        <p:nvSpPr>
          <p:cNvPr id="41" name="Text 31"/>
          <p:cNvSpPr/>
          <p:nvPr/>
        </p:nvSpPr>
        <p:spPr>
          <a:xfrm>
            <a:off x="731520" y="5596128"/>
            <a:ext cx="10725912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program with only these basics is a text editor (Windows Notepad). Word processors that add much more are called full-featured word processors.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 PROCESSORS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full-featured word processors add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64592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5727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Fonts &amp; layout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39572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Typefaces, bold, italics; margins and indents; WYSIWYG.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46304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64592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5727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Headers, footers &amp; numbering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39572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 top and bottom of every page — numbers tracked.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46304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64592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5727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Mail merge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39572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list plus a template: personalised letters and labels.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02920" y="333756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352044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06424" y="344728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Spell checker &amp; thesaurus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67512" y="427024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Unrecognised words highlighted; synonyms built in.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4291584" y="333756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3520440"/>
            <a:ext cx="347472" cy="34747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895088" y="344728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Contents &amp; indexes</a:t>
            </a:r>
            <a:endParaRPr lang="en-US" sz="2000" dirty="0"/>
          </a:p>
        </p:txBody>
      </p:sp>
      <p:sp>
        <p:nvSpPr>
          <p:cNvPr id="26" name="Text 19"/>
          <p:cNvSpPr/>
          <p:nvPr/>
        </p:nvSpPr>
        <p:spPr>
          <a:xfrm>
            <a:off x="4456176" y="427024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Contents, indexes, footnotes, cross-references — automated.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8080248" y="333756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44840" y="3520440"/>
            <a:ext cx="347472" cy="34747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683752" y="344728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Macros</a:t>
            </a:r>
            <a:endParaRPr lang="en-US" sz="2000" dirty="0"/>
          </a:p>
        </p:txBody>
      </p:sp>
      <p:sp>
        <p:nvSpPr>
          <p:cNvPr id="30" name="Text 22"/>
          <p:cNvSpPr/>
          <p:nvPr/>
        </p:nvSpPr>
        <p:spPr>
          <a:xfrm>
            <a:off x="8244840" y="427024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 keystrokes once; replay them on routine work.</a:t>
            </a:r>
            <a:endParaRPr lang="en-US" sz="1800" dirty="0"/>
          </a:p>
        </p:txBody>
      </p:sp>
      <p:sp>
        <p:nvSpPr>
          <p:cNvPr id="31" name="Shape 23"/>
          <p:cNvSpPr/>
          <p:nvPr/>
        </p:nvSpPr>
        <p:spPr>
          <a:xfrm>
            <a:off x="502920" y="512064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32" name="Text 24"/>
          <p:cNvSpPr/>
          <p:nvPr/>
        </p:nvSpPr>
        <p:spPr>
          <a:xfrm>
            <a:off x="731520" y="524865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2026 ADDS</a:t>
            </a:r>
            <a:endParaRPr lang="en-US" sz="1800" dirty="0"/>
          </a:p>
        </p:txBody>
      </p:sp>
      <p:sp>
        <p:nvSpPr>
          <p:cNvPr id="33" name="Text 25"/>
          <p:cNvSpPr/>
          <p:nvPr/>
        </p:nvSpPr>
        <p:spPr>
          <a:xfrm>
            <a:off x="731520" y="5596128"/>
            <a:ext cx="10725912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 changes and comments · real-time co-authoring with named cursors · Copilot and Gemini drafting, summarising and translating · dictation with automatic punctuation.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SPREADSHEETS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grid of cells that does the arithmetic for you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118311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spreadsheet is a rectangular table (grid) of information, often financial — the name comes from ledgers “spread” across two facing pages.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Electronic spreadsheets keep the rows, columns and cells but add formulas — =SUM(B2:B13) — and every dependent formula recalculates the instant a number changes.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Charts, pivot tables and conditional formatting turn the numbers into pictures and summaries.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2026 line-up: Microsoft Excel (Copilot writes formulas and analyses data), Google Sheets (browser, real-time sharing) and the free LibreOffice Calc.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502005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BUSINESS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5367528"/>
            <a:ext cx="1072591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Budgets, cash-flow forecasts, price lists, sales analysis, stock counts, dashboards — and “what if” scenarios tested before money is spent (the decision stages from Lesson 2).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Structured records, queried for answers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118311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database is a structured collection of records stored so that a program — or a person using a query language — can consult it to answer questions.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DBMS is the software that manages and queries the database; the schema describes the facts it holds and the relationships among them.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typical query: “How many burgers with two or more patties were sold in March in region 4?” — the answer is information for a decision.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relational model rules (Lesson 2): related tables of rows and columns, linked by shared values.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502005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BUSINESS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5367528"/>
            <a:ext cx="1072591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records (CRM), stock and inventory, sales history, loyalty, payroll, point-of-sale. Questions answered in seconds — and POPIA makes the business guard the personal data it holds.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database engines of 2026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SQL Server / Azure SQL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Microsoft's engine on-premise and its cloud twin — the corporate mainstay.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55448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PostgreSQL &amp; MySQL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48716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open-source workhorses behind most of the web's applications.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55448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3736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Oracle Database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48716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heavyweight of large enterprises, banks and government systems.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02920" y="370332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38862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06424" y="38130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MongoDB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67512" y="463600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NoSQL store for records that do not fit neatly into tables.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4291584" y="370332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3886200"/>
            <a:ext cx="347472" cy="34747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895088" y="38130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Access &amp; Airtable</a:t>
            </a:r>
            <a:endParaRPr lang="en-US" sz="2000" dirty="0"/>
          </a:p>
        </p:txBody>
      </p:sp>
      <p:sp>
        <p:nvSpPr>
          <p:cNvPr id="26" name="Text 19"/>
          <p:cNvSpPr/>
          <p:nvPr/>
        </p:nvSpPr>
        <p:spPr>
          <a:xfrm>
            <a:off x="4456176" y="463600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small businesses start — friendly forms over real databases.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8080248" y="370332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44840" y="3886200"/>
            <a:ext cx="347472" cy="34747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683752" y="38130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 the cloud</a:t>
            </a:r>
            <a:endParaRPr lang="en-US" sz="2000" dirty="0"/>
          </a:p>
        </p:txBody>
      </p:sp>
      <p:sp>
        <p:nvSpPr>
          <p:cNvPr id="30" name="Text 22"/>
          <p:cNvSpPr/>
          <p:nvPr/>
        </p:nvSpPr>
        <p:spPr>
          <a:xfrm>
            <a:off x="8244840" y="463600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new databases run as managed cloud services, not on an office server.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GRAPHICS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Digitally creating and manipulating visual content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265861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Geometry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232943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Representing and processing surfaces and shapes.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44418" y="1554480"/>
            <a:ext cx="265861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09010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47922" y="166420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Animation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3509010" y="2487168"/>
            <a:ext cx="232943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Representing and manipulating motion.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185916" y="1554480"/>
            <a:ext cx="265861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50508" y="173736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89420" y="166420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Rendering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350508" y="2487168"/>
            <a:ext cx="232943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Algorithms that reproduce how light falls on a scene.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9027414" y="1554480"/>
            <a:ext cx="265861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92006" y="173736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630918" y="166420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Imaging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9192006" y="2487168"/>
            <a:ext cx="232943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Image acquisition and image editing.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502920" y="379476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731520" y="392277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BUSINESS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731520" y="4270248"/>
            <a:ext cx="1072591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Logos and branding, adverts, social-media posts, product photos, packaging, signage, slides. A professional image builds trust — and in-house design is fast and cheap.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GRAPHICS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2026 toolbox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359359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ublic/figures/114050-tool-canv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645920"/>
            <a:ext cx="3136392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67512" y="2633472"/>
            <a:ext cx="326440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Canva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3017520"/>
            <a:ext cx="326440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 design for posts, flyers and slides.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7680" y="1481328"/>
            <a:ext cx="359359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ublic/figures/114050-tool-adob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26280" y="1645920"/>
            <a:ext cx="3136392" cy="9326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462272" y="2633472"/>
            <a:ext cx="326440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Photoshop &amp; Illustrator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62272" y="3017520"/>
            <a:ext cx="326440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 photo editing and vector art, with Firefly AI.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92440" y="1481328"/>
            <a:ext cx="359359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ublic/figures/114050-tool-figma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21040" y="1645920"/>
            <a:ext cx="3136392" cy="93268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57032" y="2633472"/>
            <a:ext cx="326440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Figma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57032" y="3017520"/>
            <a:ext cx="326440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Collaborative design in the browser, for teams.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02920" y="3895344"/>
            <a:ext cx="359359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ublic/figures/114050-tool-blender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31520" y="4059936"/>
            <a:ext cx="3136392" cy="93268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67512" y="5047488"/>
            <a:ext cx="326440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Blender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67512" y="5431536"/>
            <a:ext cx="326440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Free, professional 3D modelling and animation.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4297680" y="3895344"/>
            <a:ext cx="359359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ublic/figures/114050-tool-video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526280" y="4059936"/>
            <a:ext cx="3136392" cy="9326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462272" y="5047488"/>
            <a:ext cx="326440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CapCut &amp; Premiere Pro</a:t>
            </a:r>
            <a:endParaRPr lang="en-US" sz="2000" dirty="0"/>
          </a:p>
        </p:txBody>
      </p:sp>
      <p:sp>
        <p:nvSpPr>
          <p:cNvPr id="26" name="Text 19"/>
          <p:cNvSpPr/>
          <p:nvPr/>
        </p:nvSpPr>
        <p:spPr>
          <a:xfrm>
            <a:off x="4462272" y="5431536"/>
            <a:ext cx="326440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Video editing for adverts and social media.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8092440" y="3895344"/>
            <a:ext cx="359359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8" name="Image 5" descr="public/figures/114050-tool-ai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321040" y="4059936"/>
            <a:ext cx="3136392" cy="932688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257032" y="5047488"/>
            <a:ext cx="326440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image generation</a:t>
            </a:r>
            <a:endParaRPr lang="en-US" sz="2000" dirty="0"/>
          </a:p>
        </p:txBody>
      </p:sp>
      <p:sp>
        <p:nvSpPr>
          <p:cNvPr id="30" name="Text 22"/>
          <p:cNvSpPr/>
          <p:nvPr/>
        </p:nvSpPr>
        <p:spPr>
          <a:xfrm>
            <a:off x="8257032" y="5431536"/>
            <a:ext cx="326440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Firefly, DALL·E and Midjourney draw from a prompt.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GRAPHICS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AI-generated artwork, from one sentence</a:t>
            </a:r>
            <a:endParaRPr lang="en-US" sz="3000" dirty="0"/>
          </a:p>
        </p:txBody>
      </p:sp>
      <p:pic>
        <p:nvPicPr>
          <p:cNvPr id="7" name="Image 0" descr="public/figures/114050-tool-a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1554480"/>
            <a:ext cx="5577840" cy="371246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035040" y="534924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Théâtre d'Opéra Spatial — generated with Midjourney by Jason M. Allen; it won a Colorado State Fair art competition in 2022 and started a worldwide debate.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1737360"/>
            <a:ext cx="52120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Generative AI drafts images from a text prompt — describe the visual, refine, and export.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business: campaign concepts, product mock-ups and social artwork in minutes instead of days.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Rules still apply: check licensing, brand fit and honesty before publishing AI-generated visuals.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INTEGRATED OFFICE SUITES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Microsoft 365 — one subscription, tools that work together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118311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office suite bundles the word processor, spreadsheet, presentations and email — one look and feel, one spell checker, live links between applications.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links keep work current: an Excel chart pasted into a Word report updates when the numbers change.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Office began in 1989 (Mac) and 1990 (Windows) as Word + Excel + PowerPoint. Today it is Microsoft 365 — a cloud subscription priced per user per month.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2026 business subscription: Word, Excel, PowerPoint, Outlook, OneNote, Teams, OneDrive and SharePoint — with Copilot woven through all of them.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502005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BUSINESS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5367528"/>
            <a:ext cx="1072591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quotation drafted in Word, costed in Excel, presented in PowerPoint, shared in Teams and signed off the same day — on desktop, browser, tablet or phone.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INTEGRATED OFFICE SUITES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rest of the 2026 market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Google Workspace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Docs, Sheets, Slides, Gmail, Drive, Meet with Gemini — browser-first, collaboration is its superpower.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55448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LibreOffice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48716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Free, open-source, fully offline — Writer, Calc, Impress and Base. Opens Microsoft formats.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55448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3736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iWork · Zoho · OnlyOffice · WPS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48716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Apple's suite plus capable challengers — all read and write the standard formats.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02920" y="416052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731520" y="428853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COMPATIBILITY IS WHAT MATTERS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731520" y="4636008"/>
            <a:ext cx="1072591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.docx, .xlsx and .pptx are the de facto exchange standards; PDF is the standard for final documents. Weigh cost, collaboration, connectivity and staff skills.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INTEGRATED OFFICE SUITES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suites that came before — and what they teach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1118311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5056632"/>
                <a:gridCol w="32918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Suite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What it bundled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What happened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Lotus SmartSuite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Word Pro · 1-2-3 · Freelance Graphics · Approach · Organizer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Discontinued — 1-2-3 ended in 2013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Corel WordPerfect Office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WordPerfect · Quattro Pro · Paradox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Survives only in a small legal niche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CorelDRAW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Vector graphics (still Corel's best-seller)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Lives on — as a graphics tool, not a suite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4572000"/>
            <a:ext cx="11183112" cy="1097280"/>
          </a:xfrm>
          <a:prstGeom prst="roundRect">
            <a:avLst>
              <a:gd name="adj" fmla="val 75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470001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LESSON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31520" y="5047488"/>
            <a:ext cx="10725912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Compatibility beats features. Users would not leave the formats everyone else used — the same reason .docx and .xlsx still rule in 2026.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PULLING IT TOGETHER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Function and effect — what you must be able to explain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18311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480560"/>
                <a:gridCol w="423367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Application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Function — what it does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Effect — what it changes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Word processors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Create, edit and share documents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Faster, error-free, on-brand paperwork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Spreadsheets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Calculate, analyse and chart numbers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Accurate arithmetic; “what if” before money moves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Databases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Store and query business records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Facts on demand; one trusted copy of the truth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Graphics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Create the visual face of the business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Professional image at low in-house cost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Integrated suites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Bundle it all with email and cloud files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One subscription; data flows, skills transfer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Lesson 3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45 minutes · Self &amp; Group — explain each application's functions AND effects. AI-marked on the Exercises tab.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Slide quizzes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section gates on its five questions — all correct unlocks Next.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Self assessment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“I am able to explain how IT can be used in business” — tick it honestly.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Logbook project — Research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how IT is used in everyday business, with articles and pictures. Mark it 114050.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IT is how a business writes, counts, remembers and shows itself.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 processors for the paperwork · spreadsheets for the numbers · databases for the records · graphics for the brand · one integrated suite tying it all together — always explain the function AND the effect.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114050 Lesson 3 — How Information Technology can be used in Business</dc:title>
  <dc:subject>PptxGenJS Presentation</dc:subject>
  <dc:creator>Andre Snell</dc:creator>
  <cp:lastModifiedBy>Andre Snell</cp:lastModifiedBy>
  <cp:revision>1</cp:revision>
  <dcterms:created xsi:type="dcterms:W3CDTF">2026-08-23T00:10:46Z</dcterms:created>
  <dcterms:modified xsi:type="dcterms:W3CDTF">2026-08-23T00:10:46Z</dcterms:modified>
</cp:coreProperties>
</file>