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sv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sv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svg"/><Relationship Id="rId3" Type="http://schemas.openxmlformats.org/officeDocument/2006/relationships/image" Target="../media/image-3-3.png"/><Relationship Id="rId4" Type="http://schemas.openxmlformats.org/officeDocument/2006/relationships/image" Target="../media/image-3-4.sv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svg"/><Relationship Id="rId3" Type="http://schemas.openxmlformats.org/officeDocument/2006/relationships/image" Target="../media/image-4-3.png"/><Relationship Id="rId4" Type="http://schemas.openxmlformats.org/officeDocument/2006/relationships/image" Target="../media/image-4-4.sv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svg"/><Relationship Id="rId3" Type="http://schemas.openxmlformats.org/officeDocument/2006/relationships/image" Target="../media/image-5-3.png"/><Relationship Id="rId4" Type="http://schemas.openxmlformats.org/officeDocument/2006/relationships/image" Target="../media/image-5-4.sv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svg"/><Relationship Id="rId3" Type="http://schemas.openxmlformats.org/officeDocument/2006/relationships/image" Target="../media/image-6-3.png"/><Relationship Id="rId4" Type="http://schemas.openxmlformats.org/officeDocument/2006/relationships/image" Target="../media/image-6-4.sv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svg"/><Relationship Id="rId3" Type="http://schemas.openxmlformats.org/officeDocument/2006/relationships/image" Target="../media/image-7-3.png"/><Relationship Id="rId4" Type="http://schemas.openxmlformats.org/officeDocument/2006/relationships/image" Target="../media/image-7-4.svg"/><Relationship Id="rId5" Type="http://schemas.openxmlformats.org/officeDocument/2006/relationships/image" Target="../media/image-7-5.png"/><Relationship Id="rId6" Type="http://schemas.openxmlformats.org/officeDocument/2006/relationships/image" Target="../media/image-7-6.svg"/><Relationship Id="rId7" Type="http://schemas.openxmlformats.org/officeDocument/2006/relationships/image" Target="../media/image-7-7.png"/><Relationship Id="rId8" Type="http://schemas.openxmlformats.org/officeDocument/2006/relationships/image" Target="../media/image-7-8.svg"/><Relationship Id="rId9" Type="http://schemas.openxmlformats.org/officeDocument/2006/relationships/slideLayout" Target="../slideLayouts/slideLayout1.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svg"/><Relationship Id="rId3" Type="http://schemas.openxmlformats.org/officeDocument/2006/relationships/image" Target="../media/image-8-3.png"/><Relationship Id="rId4" Type="http://schemas.openxmlformats.org/officeDocument/2006/relationships/image" Target="../media/image-8-4.svg"/><Relationship Id="rId5" Type="http://schemas.openxmlformats.org/officeDocument/2006/relationships/image" Target="../media/image-8-5.png"/><Relationship Id="rId6" Type="http://schemas.openxmlformats.org/officeDocument/2006/relationships/image" Target="../media/image-8-6.svg"/><Relationship Id="rId7" Type="http://schemas.openxmlformats.org/officeDocument/2006/relationships/image" Target="../media/image-8-7.png"/><Relationship Id="rId8" Type="http://schemas.openxmlformats.org/officeDocument/2006/relationships/image" Target="../media/image-8-8.svg"/><Relationship Id="rId9" Type="http://schemas.openxmlformats.org/officeDocument/2006/relationships/image" Target="../media/image-8-9.png"/><Relationship Id="rId10" Type="http://schemas.openxmlformats.org/officeDocument/2006/relationships/image" Target="../media/image-8-10.svg"/><Relationship Id="rId11" Type="http://schemas.openxmlformats.org/officeDocument/2006/relationships/image" Target="../media/image-8-11.png"/><Relationship Id="rId12" Type="http://schemas.openxmlformats.org/officeDocument/2006/relationships/image" Target="../media/image-8-12.svg"/><Relationship Id="rId13" Type="http://schemas.openxmlformats.org/officeDocument/2006/relationships/slideLayout" Target="../slideLayouts/slideLayout1.xml"/><Relationship Id="rId1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svg"/><Relationship Id="rId3" Type="http://schemas.openxmlformats.org/officeDocument/2006/relationships/image" Target="../media/image-9-3.png"/><Relationship Id="rId4" Type="http://schemas.openxmlformats.org/officeDocument/2006/relationships/image" Target="../media/image-9-4.sv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svg"/><Relationship Id="rId3" Type="http://schemas.openxmlformats.org/officeDocument/2006/relationships/image" Target="../media/image-10-3.png"/><Relationship Id="rId4" Type="http://schemas.openxmlformats.org/officeDocument/2006/relationships/image" Target="../media/image-10-4.sv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svg"/><Relationship Id="rId3" Type="http://schemas.openxmlformats.org/officeDocument/2006/relationships/image" Target="../media/image-11-3.png"/><Relationship Id="rId4" Type="http://schemas.openxmlformats.org/officeDocument/2006/relationships/image" Target="../media/image-11-4.sv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svg"/><Relationship Id="rId3" Type="http://schemas.openxmlformats.org/officeDocument/2006/relationships/image" Target="../media/image-12-3.png"/><Relationship Id="rId4" Type="http://schemas.openxmlformats.org/officeDocument/2006/relationships/image" Target="../media/image-12-4.svg"/><Relationship Id="rId5" Type="http://schemas.openxmlformats.org/officeDocument/2006/relationships/image" Target="../media/image-12-5.png"/><Relationship Id="rId6" Type="http://schemas.openxmlformats.org/officeDocument/2006/relationships/image" Target="../media/image-12-6.svg"/><Relationship Id="rId7" Type="http://schemas.openxmlformats.org/officeDocument/2006/relationships/image" Target="../media/image-12-7.png"/><Relationship Id="rId8" Type="http://schemas.openxmlformats.org/officeDocument/2006/relationships/image" Target="../media/image-12-8.svg"/><Relationship Id="rId9" Type="http://schemas.openxmlformats.org/officeDocument/2006/relationships/slideLayout" Target="../slideLayouts/slideLayout1.xml"/><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svg"/><Relationship Id="rId3" Type="http://schemas.openxmlformats.org/officeDocument/2006/relationships/image" Target="../media/image-13-3.png"/><Relationship Id="rId4" Type="http://schemas.openxmlformats.org/officeDocument/2006/relationships/image" Target="../media/image-13-4.svg"/><Relationship Id="rId5" Type="http://schemas.openxmlformats.org/officeDocument/2006/relationships/image" Target="../media/image-13-5.png"/><Relationship Id="rId6" Type="http://schemas.openxmlformats.org/officeDocument/2006/relationships/image" Target="../media/image-13-6.sv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svg"/><Relationship Id="rId3" Type="http://schemas.openxmlformats.org/officeDocument/2006/relationships/image" Target="../media/image-14-3.png"/><Relationship Id="rId4" Type="http://schemas.openxmlformats.org/officeDocument/2006/relationships/image" Target="../media/image-14-4.sv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svg"/><Relationship Id="rId3" Type="http://schemas.openxmlformats.org/officeDocument/2006/relationships/image" Target="../media/image-15-3.png"/><Relationship Id="rId4" Type="http://schemas.openxmlformats.org/officeDocument/2006/relationships/image" Target="../media/image-15-4.sv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svg"/><Relationship Id="rId3" Type="http://schemas.openxmlformats.org/officeDocument/2006/relationships/image" Target="../media/image-16-3.png"/><Relationship Id="rId4" Type="http://schemas.openxmlformats.org/officeDocument/2006/relationships/image" Target="../media/image-16-4.sv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svg"/><Relationship Id="rId3" Type="http://schemas.openxmlformats.org/officeDocument/2006/relationships/image" Target="../media/image-17-3.png"/><Relationship Id="rId4" Type="http://schemas.openxmlformats.org/officeDocument/2006/relationships/image" Target="../media/image-17-4.sv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svg"/><Relationship Id="rId3" Type="http://schemas.openxmlformats.org/officeDocument/2006/relationships/image" Target="../media/image-18-3.png"/><Relationship Id="rId4" Type="http://schemas.openxmlformats.org/officeDocument/2006/relationships/image" Target="../media/image-18-4.sv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svg"/><Relationship Id="rId3" Type="http://schemas.openxmlformats.org/officeDocument/2006/relationships/image" Target="../media/image-19-3.png"/><Relationship Id="rId4" Type="http://schemas.openxmlformats.org/officeDocument/2006/relationships/image" Target="../media/image-19-4.sv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svg"/><Relationship Id="rId3" Type="http://schemas.openxmlformats.org/officeDocument/2006/relationships/image" Target="../media/image-20-3.png"/><Relationship Id="rId4" Type="http://schemas.openxmlformats.org/officeDocument/2006/relationships/image" Target="../media/image-20-4.sv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svg"/><Relationship Id="rId3" Type="http://schemas.openxmlformats.org/officeDocument/2006/relationships/image" Target="../media/image-21-3.png"/><Relationship Id="rId4" Type="http://schemas.openxmlformats.org/officeDocument/2006/relationships/image" Target="../media/image-21-4.svg"/><Relationship Id="rId5" Type="http://schemas.openxmlformats.org/officeDocument/2006/relationships/image" Target="../media/image-21-5.png"/><Relationship Id="rId6" Type="http://schemas.openxmlformats.org/officeDocument/2006/relationships/image" Target="../media/image-21-6.svg"/><Relationship Id="rId7" Type="http://schemas.openxmlformats.org/officeDocument/2006/relationships/image" Target="../media/image-21-7.png"/><Relationship Id="rId8" Type="http://schemas.openxmlformats.org/officeDocument/2006/relationships/image" Target="../media/image-21-8.svg"/><Relationship Id="rId9" Type="http://schemas.openxmlformats.org/officeDocument/2006/relationships/slideLayout" Target="../slideLayouts/slideLayout1.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svg"/><Relationship Id="rId3" Type="http://schemas.openxmlformats.org/officeDocument/2006/relationships/image" Target="../media/image-22-3.png"/><Relationship Id="rId4" Type="http://schemas.openxmlformats.org/officeDocument/2006/relationships/image" Target="../media/image-22-4.svg"/><Relationship Id="rId5" Type="http://schemas.openxmlformats.org/officeDocument/2006/relationships/image" Target="../media/image-22-5.png"/><Relationship Id="rId6" Type="http://schemas.openxmlformats.org/officeDocument/2006/relationships/image" Target="../media/image-22-6.svg"/><Relationship Id="rId7" Type="http://schemas.openxmlformats.org/officeDocument/2006/relationships/image" Target="../media/image-22-7.png"/><Relationship Id="rId8" Type="http://schemas.openxmlformats.org/officeDocument/2006/relationships/image" Target="../media/image-22-8.svg"/><Relationship Id="rId9" Type="http://schemas.openxmlformats.org/officeDocument/2006/relationships/slideLayout" Target="../slideLayouts/slideLayout1.xml"/><Relationship Id="rId10"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svg"/><Relationship Id="rId3" Type="http://schemas.openxmlformats.org/officeDocument/2006/relationships/image" Target="../media/image-23-3.png"/><Relationship Id="rId4" Type="http://schemas.openxmlformats.org/officeDocument/2006/relationships/image" Target="../media/image-23-4.sv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svg"/><Relationship Id="rId3" Type="http://schemas.openxmlformats.org/officeDocument/2006/relationships/image" Target="../media/image-24-3.png"/><Relationship Id="rId4" Type="http://schemas.openxmlformats.org/officeDocument/2006/relationships/image" Target="../media/image-24-4.sv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svg"/><Relationship Id="rId3" Type="http://schemas.openxmlformats.org/officeDocument/2006/relationships/image" Target="../media/image-25-3.png"/><Relationship Id="rId4" Type="http://schemas.openxmlformats.org/officeDocument/2006/relationships/image" Target="../media/image-25-4.sv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svg"/><Relationship Id="rId3" Type="http://schemas.openxmlformats.org/officeDocument/2006/relationships/image" Target="../media/image-26-3.png"/><Relationship Id="rId4" Type="http://schemas.openxmlformats.org/officeDocument/2006/relationships/image" Target="../media/image-26-4.sv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svg"/><Relationship Id="rId3" Type="http://schemas.openxmlformats.org/officeDocument/2006/relationships/image" Target="../media/image-27-3.png"/><Relationship Id="rId4" Type="http://schemas.openxmlformats.org/officeDocument/2006/relationships/image" Target="../media/image-27-4.sv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svg"/><Relationship Id="rId3" Type="http://schemas.openxmlformats.org/officeDocument/2006/relationships/image" Target="../media/image-28-3.png"/><Relationship Id="rId4" Type="http://schemas.openxmlformats.org/officeDocument/2006/relationships/image" Target="../media/image-28-4.sv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svg"/><Relationship Id="rId3" Type="http://schemas.openxmlformats.org/officeDocument/2006/relationships/image" Target="../media/image-29-3.png"/><Relationship Id="rId4" Type="http://schemas.openxmlformats.org/officeDocument/2006/relationships/image" Target="../media/image-29-4.sv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svg"/><Relationship Id="rId3" Type="http://schemas.openxmlformats.org/officeDocument/2006/relationships/image" Target="../media/image-30-3.png"/><Relationship Id="rId4" Type="http://schemas.openxmlformats.org/officeDocument/2006/relationships/image" Target="../media/image-30-4.sv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svg"/><Relationship Id="rId3" Type="http://schemas.openxmlformats.org/officeDocument/2006/relationships/image" Target="../media/image-31-3.png"/><Relationship Id="rId4" Type="http://schemas.openxmlformats.org/officeDocument/2006/relationships/image" Target="../media/image-31-4.sv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svg"/><Relationship Id="rId3" Type="http://schemas.openxmlformats.org/officeDocument/2006/relationships/image" Target="../media/image-32-3.png"/><Relationship Id="rId4" Type="http://schemas.openxmlformats.org/officeDocument/2006/relationships/image" Target="../media/image-32-4.sv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svg"/><Relationship Id="rId3" Type="http://schemas.openxmlformats.org/officeDocument/2006/relationships/image" Target="../media/image-33-3.png"/><Relationship Id="rId4" Type="http://schemas.openxmlformats.org/officeDocument/2006/relationships/image" Target="../media/image-33-4.svg"/><Relationship Id="rId5" Type="http://schemas.openxmlformats.org/officeDocument/2006/relationships/slideLayout" Target="../slideLayouts/slideLayout1.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svg"/><Relationship Id="rId3" Type="http://schemas.openxmlformats.org/officeDocument/2006/relationships/image" Target="../media/image-34-3.png"/><Relationship Id="rId4" Type="http://schemas.openxmlformats.org/officeDocument/2006/relationships/image" Target="../media/image-34-4.svg"/><Relationship Id="rId5" Type="http://schemas.openxmlformats.org/officeDocument/2006/relationships/image" Target="../media/image-34-5.png"/><Relationship Id="rId6" Type="http://schemas.openxmlformats.org/officeDocument/2006/relationships/image" Target="../media/image-34-6.svg"/><Relationship Id="rId7" Type="http://schemas.openxmlformats.org/officeDocument/2006/relationships/image" Target="../media/image-34-7.png"/><Relationship Id="rId8" Type="http://schemas.openxmlformats.org/officeDocument/2006/relationships/image" Target="../media/image-34-8.svg"/><Relationship Id="rId9" Type="http://schemas.openxmlformats.org/officeDocument/2006/relationships/slideLayout" Target="../slideLayouts/slideLayout1.xml"/><Relationship Id="rId10"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svg"/><Relationship Id="rId3" Type="http://schemas.openxmlformats.org/officeDocument/2006/relationships/image" Target="../media/image-35-3.png"/><Relationship Id="rId4" Type="http://schemas.openxmlformats.org/officeDocument/2006/relationships/image" Target="../media/image-35-4.svg"/><Relationship Id="rId5" Type="http://schemas.openxmlformats.org/officeDocument/2006/relationships/slideLayout" Target="../slideLayouts/slideLayout1.xml"/><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sv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svg"/><Relationship Id="rId3" Type="http://schemas.openxmlformats.org/officeDocument/2006/relationships/image" Target="../media/image-37-3.png"/><Relationship Id="rId4" Type="http://schemas.openxmlformats.org/officeDocument/2006/relationships/image" Target="../media/image-37-4.svg"/><Relationship Id="rId5" Type="http://schemas.openxmlformats.org/officeDocument/2006/relationships/slideLayout" Target="../slideLayouts/slideLayout1.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svg"/><Relationship Id="rId3" Type="http://schemas.openxmlformats.org/officeDocument/2006/relationships/image" Target="../media/image-38-3.png"/><Relationship Id="rId4" Type="http://schemas.openxmlformats.org/officeDocument/2006/relationships/image" Target="../media/image-38-4.svg"/><Relationship Id="rId5" Type="http://schemas.openxmlformats.org/officeDocument/2006/relationships/slideLayout" Target="../slideLayouts/slideLayout1.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svg"/><Relationship Id="rId3" Type="http://schemas.openxmlformats.org/officeDocument/2006/relationships/image" Target="../media/image-39-3.png"/><Relationship Id="rId4" Type="http://schemas.openxmlformats.org/officeDocument/2006/relationships/image" Target="../media/image-39-4.svg"/><Relationship Id="rId5" Type="http://schemas.openxmlformats.org/officeDocument/2006/relationships/slideLayout" Target="../slideLayouts/slideLayout1.xml"/><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svg"/><Relationship Id="rId3" Type="http://schemas.openxmlformats.org/officeDocument/2006/relationships/image" Target="../media/image-40-3.png"/><Relationship Id="rId4" Type="http://schemas.openxmlformats.org/officeDocument/2006/relationships/image" Target="../media/image-40-4.svg"/><Relationship Id="rId5" Type="http://schemas.openxmlformats.org/officeDocument/2006/relationships/slideLayout" Target="../slideLayouts/slideLayout1.xm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svg"/><Relationship Id="rId3" Type="http://schemas.openxmlformats.org/officeDocument/2006/relationships/image" Target="../media/image-41-3.png"/><Relationship Id="rId4" Type="http://schemas.openxmlformats.org/officeDocument/2006/relationships/image" Target="../media/image-41-4.svg"/><Relationship Id="rId5" Type="http://schemas.openxmlformats.org/officeDocument/2006/relationships/slideLayout" Target="../slideLayouts/slideLayout1.xml"/><Relationship Id="rId6"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svg"/><Relationship Id="rId3" Type="http://schemas.openxmlformats.org/officeDocument/2006/relationships/image" Target="../media/image-42-3.png"/><Relationship Id="rId4" Type="http://schemas.openxmlformats.org/officeDocument/2006/relationships/image" Target="../media/image-42-4.svg"/><Relationship Id="rId5" Type="http://schemas.openxmlformats.org/officeDocument/2006/relationships/slideLayout" Target="../slideLayouts/slideLayout1.xml"/><Relationship Id="rId6"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svg"/><Relationship Id="rId3" Type="http://schemas.openxmlformats.org/officeDocument/2006/relationships/image" Target="../media/image-43-3.png"/><Relationship Id="rId4" Type="http://schemas.openxmlformats.org/officeDocument/2006/relationships/image" Target="../media/image-43-4.svg"/><Relationship Id="rId5" Type="http://schemas.openxmlformats.org/officeDocument/2006/relationships/slideLayout" Target="../slideLayouts/slideLayout1.xml"/><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svg"/><Relationship Id="rId3" Type="http://schemas.openxmlformats.org/officeDocument/2006/relationships/image" Target="../media/image-44-3.png"/><Relationship Id="rId4" Type="http://schemas.openxmlformats.org/officeDocument/2006/relationships/image" Target="../media/image-44-4.svg"/><Relationship Id="rId5" Type="http://schemas.openxmlformats.org/officeDocument/2006/relationships/slideLayout" Target="../slideLayouts/slideLayout1.xml"/><Relationship Id="rId6"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sv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svg"/><Relationship Id="rId3" Type="http://schemas.openxmlformats.org/officeDocument/2006/relationships/image" Target="../media/image-46-3.png"/><Relationship Id="rId4" Type="http://schemas.openxmlformats.org/officeDocument/2006/relationships/image" Target="../media/image-46-4.svg"/><Relationship Id="rId5" Type="http://schemas.openxmlformats.org/officeDocument/2006/relationships/slideLayout" Target="../slideLayouts/slideLayout1.xml"/><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svg"/><Relationship Id="rId3" Type="http://schemas.openxmlformats.org/officeDocument/2006/relationships/image" Target="../media/image-47-3.png"/><Relationship Id="rId4" Type="http://schemas.openxmlformats.org/officeDocument/2006/relationships/image" Target="../media/image-47-4.svg"/><Relationship Id="rId5" Type="http://schemas.openxmlformats.org/officeDocument/2006/relationships/slideLayout" Target="../slideLayouts/slideLayout1.xm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svg"/><Relationship Id="rId3" Type="http://schemas.openxmlformats.org/officeDocument/2006/relationships/image" Target="../media/image-48-3.png"/><Relationship Id="rId4" Type="http://schemas.openxmlformats.org/officeDocument/2006/relationships/image" Target="../media/image-48-4.svg"/><Relationship Id="rId5" Type="http://schemas.openxmlformats.org/officeDocument/2006/relationships/slideLayout" Target="../slideLayouts/slideLayout1.xml"/><Relationship Id="rId6"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svg"/><Relationship Id="rId3" Type="http://schemas.openxmlformats.org/officeDocument/2006/relationships/image" Target="../media/image-49-3.png"/><Relationship Id="rId4" Type="http://schemas.openxmlformats.org/officeDocument/2006/relationships/image" Target="../media/image-49-4.svg"/><Relationship Id="rId5" Type="http://schemas.openxmlformats.org/officeDocument/2006/relationships/slideLayout" Target="../slideLayouts/slideLayout1.xml"/><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svg"/><Relationship Id="rId3" Type="http://schemas.openxmlformats.org/officeDocument/2006/relationships/image" Target="../media/image-50-3.png"/><Relationship Id="rId4" Type="http://schemas.openxmlformats.org/officeDocument/2006/relationships/image" Target="../media/image-50-4.svg"/><Relationship Id="rId5" Type="http://schemas.openxmlformats.org/officeDocument/2006/relationships/slideLayout" Target="../slideLayouts/slideLayout1.xml"/><Relationship Id="rId6"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svg"/><Relationship Id="rId3" Type="http://schemas.openxmlformats.org/officeDocument/2006/relationships/image" Target="../media/image-51-3.png"/><Relationship Id="rId4" Type="http://schemas.openxmlformats.org/officeDocument/2006/relationships/image" Target="../media/image-51-4.svg"/><Relationship Id="rId5" Type="http://schemas.openxmlformats.org/officeDocument/2006/relationships/slideLayout" Target="../slideLayouts/slideLayout1.xml"/><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svg"/><Relationship Id="rId3" Type="http://schemas.openxmlformats.org/officeDocument/2006/relationships/image" Target="../media/image-52-3.png"/><Relationship Id="rId4" Type="http://schemas.openxmlformats.org/officeDocument/2006/relationships/image" Target="../media/image-52-4.svg"/><Relationship Id="rId5" Type="http://schemas.openxmlformats.org/officeDocument/2006/relationships/slideLayout" Target="../slideLayouts/slideLayout1.xml"/><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sv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F6CBD"/>
          </a:solidFill>
          <a:ln/>
        </p:spPr>
      </p:sp>
      <p:sp>
        <p:nvSpPr>
          <p:cNvPr id="3" name="Shape 1"/>
          <p:cNvSpPr/>
          <p:nvPr/>
        </p:nvSpPr>
        <p:spPr>
          <a:xfrm>
            <a:off x="502920" y="1005840"/>
            <a:ext cx="7040880" cy="566928"/>
          </a:xfrm>
          <a:prstGeom prst="roundRect">
            <a:avLst>
              <a:gd name="adj" fmla="val 50000"/>
            </a:avLst>
          </a:prstGeom>
          <a:solidFill>
            <a:srgbClr val="0F6CBD"/>
          </a:solidFill>
          <a:ln/>
        </p:spPr>
      </p:sp>
      <p:sp>
        <p:nvSpPr>
          <p:cNvPr id="4" name="Text 2"/>
          <p:cNvSpPr/>
          <p:nvPr/>
        </p:nvSpPr>
        <p:spPr>
          <a:xfrm>
            <a:off x="502920" y="1005840"/>
            <a:ext cx="7040880" cy="566928"/>
          </a:xfrm>
          <a:prstGeom prst="rect">
            <a:avLst/>
          </a:prstGeom>
          <a:noFill/>
          <a:ln/>
        </p:spPr>
        <p:txBody>
          <a:bodyPr wrap="square" rtlCol="0" anchor="ctr"/>
          <a:lstStyle/>
          <a:p>
            <a:pPr algn="ctr" indent="0" marL="0">
              <a:buNone/>
            </a:pPr>
            <a:r>
              <a:rPr lang="en-US" sz="1800" b="1" spc="100" kern="0" dirty="0">
                <a:solidFill>
                  <a:srgbClr val="FFFFFF"/>
                </a:solidFill>
                <a:latin typeface="Aptos" pitchFamily="34" charset="0"/>
                <a:ea typeface="Aptos" pitchFamily="34" charset="-122"/>
                <a:cs typeface="Aptos" pitchFamily="34" charset="-120"/>
              </a:rPr>
              <a:t>GENERIC MANAGEMENT · UNIT STANDARD 252034</a:t>
            </a:r>
            <a:endParaRPr lang="en-US" sz="1800" dirty="0"/>
          </a:p>
        </p:txBody>
      </p:sp>
      <p:sp>
        <p:nvSpPr>
          <p:cNvPr id="5" name="Text 3"/>
          <p:cNvSpPr/>
          <p:nvPr/>
        </p:nvSpPr>
        <p:spPr>
          <a:xfrm>
            <a:off x="502920" y="1737360"/>
            <a:ext cx="9875520" cy="1691640"/>
          </a:xfrm>
          <a:prstGeom prst="rect">
            <a:avLst/>
          </a:prstGeom>
          <a:noFill/>
          <a:ln/>
        </p:spPr>
        <p:txBody>
          <a:bodyPr wrap="square" rtlCol="0" anchor="ctr"/>
          <a:lstStyle/>
          <a:p>
            <a:pPr indent="0" marL="0">
              <a:buNone/>
            </a:pPr>
            <a:r>
              <a:rPr lang="en-US" sz="3600" b="1" dirty="0">
                <a:solidFill>
                  <a:srgbClr val="002050"/>
                </a:solidFill>
                <a:latin typeface="Aptos Display" pitchFamily="34" charset="0"/>
                <a:ea typeface="Aptos Display" pitchFamily="34" charset="-122"/>
                <a:cs typeface="Aptos Display" pitchFamily="34" charset="-120"/>
              </a:rPr>
              <a:t>US 252034 — Monitor and evaluate team members against performance standards</a:t>
            </a:r>
            <a:endParaRPr lang="en-US" sz="3600" dirty="0"/>
          </a:p>
        </p:txBody>
      </p:sp>
      <p:sp>
        <p:nvSpPr>
          <p:cNvPr id="6" name="Text 4"/>
          <p:cNvSpPr/>
          <p:nvPr/>
        </p:nvSpPr>
        <p:spPr>
          <a:xfrm>
            <a:off x="502920" y="3429000"/>
            <a:ext cx="8869680" cy="749808"/>
          </a:xfrm>
          <a:prstGeom prst="rect">
            <a:avLst/>
          </a:prstGeom>
          <a:noFill/>
          <a:ln/>
        </p:spPr>
        <p:txBody>
          <a:bodyPr wrap="square" rtlCol="0" anchor="ctr"/>
          <a:lstStyle/>
          <a:p>
            <a:pPr indent="0" marL="0">
              <a:lnSpc>
                <a:spcPct val="115000"/>
              </a:lnSpc>
              <a:buNone/>
            </a:pPr>
            <a:r>
              <a:rPr lang="en-US" sz="1800" dirty="0">
                <a:solidFill>
                  <a:srgbClr val="6B7280"/>
                </a:solidFill>
                <a:latin typeface="Aptos" pitchFamily="34" charset="0"/>
                <a:ea typeface="Aptos" pitchFamily="34" charset="-122"/>
                <a:cs typeface="Aptos" pitchFamily="34" charset="-120"/>
              </a:rPr>
              <a:t>Formulate performance standards and monitoring systems, prepare for a performance review, and conduct the review interview — the complete lesson deck.</a:t>
            </a:r>
            <a:endParaRPr lang="en-US" sz="18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058400" y="1280160"/>
            <a:ext cx="1645920" cy="1645920"/>
          </a:xfrm>
          <a:prstGeom prst="rect">
            <a:avLst/>
          </a:prstGeom>
        </p:spPr>
      </p:pic>
      <p:sp>
        <p:nvSpPr>
          <p:cNvPr id="8" name="Shape 5"/>
          <p:cNvSpPr/>
          <p:nvPr/>
        </p:nvSpPr>
        <p:spPr>
          <a:xfrm>
            <a:off x="502920" y="4224528"/>
            <a:ext cx="11183112" cy="0"/>
          </a:xfrm>
          <a:prstGeom prst="line">
            <a:avLst/>
          </a:prstGeom>
          <a:noFill/>
          <a:ln w="12700">
            <a:solidFill>
              <a:srgbClr val="D5E3F2"/>
            </a:solidFill>
            <a:prstDash val="solid"/>
          </a:ln>
        </p:spPr>
      </p:sp>
      <p:sp>
        <p:nvSpPr>
          <p:cNvPr id="9" name="Text 6"/>
          <p:cNvSpPr/>
          <p:nvPr/>
        </p:nvSpPr>
        <p:spPr>
          <a:xfrm>
            <a:off x="502920" y="4407408"/>
            <a:ext cx="2612898" cy="347472"/>
          </a:xfrm>
          <a:prstGeom prst="rect">
            <a:avLst/>
          </a:prstGeom>
          <a:noFill/>
          <a:ln/>
        </p:spPr>
        <p:txBody>
          <a:bodyPr wrap="none" rtlCol="0" anchor="ctr"/>
          <a:lstStyle/>
          <a:p>
            <a:pPr indent="0" marL="0">
              <a:buNone/>
            </a:pPr>
            <a:r>
              <a:rPr lang="en-US" sz="1800" b="1" spc="50" kern="0" dirty="0">
                <a:solidFill>
                  <a:srgbClr val="0F6CBD"/>
                </a:solidFill>
                <a:latin typeface="Aptos" pitchFamily="34" charset="0"/>
                <a:ea typeface="Aptos" pitchFamily="34" charset="-122"/>
                <a:cs typeface="Aptos" pitchFamily="34" charset="-120"/>
              </a:rPr>
              <a:t>NQF LEVEL</a:t>
            </a:r>
            <a:endParaRPr lang="en-US" sz="1800" dirty="0"/>
          </a:p>
        </p:txBody>
      </p:sp>
      <p:sp>
        <p:nvSpPr>
          <p:cNvPr id="10" name="Text 7"/>
          <p:cNvSpPr/>
          <p:nvPr/>
        </p:nvSpPr>
        <p:spPr>
          <a:xfrm>
            <a:off x="502920" y="4791456"/>
            <a:ext cx="2612898" cy="1005840"/>
          </a:xfrm>
          <a:prstGeom prst="rect">
            <a:avLst/>
          </a:prstGeom>
          <a:noFill/>
          <a:ln/>
        </p:spPr>
        <p:txBody>
          <a:bodyPr wrap="square" rtlCol="0" anchor="ctr"/>
          <a:lstStyle/>
          <a:p>
            <a:pPr indent="0" marL="0">
              <a:lnSpc>
                <a:spcPct val="110000"/>
              </a:lnSpc>
              <a:buNone/>
            </a:pPr>
            <a:r>
              <a:rPr lang="en-US" sz="1800" dirty="0">
                <a:solidFill>
                  <a:srgbClr val="002050"/>
                </a:solidFill>
                <a:latin typeface="Aptos" pitchFamily="34" charset="0"/>
                <a:ea typeface="Aptos" pitchFamily="34" charset="-122"/>
                <a:cs typeface="Aptos" pitchFamily="34" charset="-120"/>
              </a:rPr>
              <a:t>Level 5</a:t>
            </a:r>
            <a:endParaRPr lang="en-US" sz="1800" dirty="0"/>
          </a:p>
        </p:txBody>
      </p:sp>
      <p:sp>
        <p:nvSpPr>
          <p:cNvPr id="11" name="Text 8"/>
          <p:cNvSpPr/>
          <p:nvPr/>
        </p:nvSpPr>
        <p:spPr>
          <a:xfrm>
            <a:off x="3298698" y="4407408"/>
            <a:ext cx="2612898" cy="347472"/>
          </a:xfrm>
          <a:prstGeom prst="rect">
            <a:avLst/>
          </a:prstGeom>
          <a:noFill/>
          <a:ln/>
        </p:spPr>
        <p:txBody>
          <a:bodyPr wrap="none" rtlCol="0" anchor="ctr"/>
          <a:lstStyle/>
          <a:p>
            <a:pPr indent="0" marL="0">
              <a:buNone/>
            </a:pPr>
            <a:r>
              <a:rPr lang="en-US" sz="1800" b="1" spc="50" kern="0" dirty="0">
                <a:solidFill>
                  <a:srgbClr val="0F6CBD"/>
                </a:solidFill>
                <a:latin typeface="Aptos" pitchFamily="34" charset="0"/>
                <a:ea typeface="Aptos" pitchFamily="34" charset="-122"/>
                <a:cs typeface="Aptos" pitchFamily="34" charset="-120"/>
              </a:rPr>
              <a:t>CREDITS</a:t>
            </a:r>
            <a:endParaRPr lang="en-US" sz="1800" dirty="0"/>
          </a:p>
        </p:txBody>
      </p:sp>
      <p:sp>
        <p:nvSpPr>
          <p:cNvPr id="12" name="Text 9"/>
          <p:cNvSpPr/>
          <p:nvPr/>
        </p:nvSpPr>
        <p:spPr>
          <a:xfrm>
            <a:off x="3298698" y="4791456"/>
            <a:ext cx="2612898" cy="1005840"/>
          </a:xfrm>
          <a:prstGeom prst="rect">
            <a:avLst/>
          </a:prstGeom>
          <a:noFill/>
          <a:ln/>
        </p:spPr>
        <p:txBody>
          <a:bodyPr wrap="square" rtlCol="0" anchor="ctr"/>
          <a:lstStyle/>
          <a:p>
            <a:pPr indent="0" marL="0">
              <a:lnSpc>
                <a:spcPct val="110000"/>
              </a:lnSpc>
              <a:buNone/>
            </a:pPr>
            <a:r>
              <a:rPr lang="en-US" sz="1800" dirty="0">
                <a:solidFill>
                  <a:srgbClr val="002050"/>
                </a:solidFill>
                <a:latin typeface="Aptos" pitchFamily="34" charset="0"/>
                <a:ea typeface="Aptos" pitchFamily="34" charset="-122"/>
                <a:cs typeface="Aptos" pitchFamily="34" charset="-120"/>
              </a:rPr>
              <a:t>8 credits</a:t>
            </a:r>
            <a:endParaRPr lang="en-US" sz="1800" dirty="0"/>
          </a:p>
        </p:txBody>
      </p:sp>
      <p:sp>
        <p:nvSpPr>
          <p:cNvPr id="13" name="Text 10"/>
          <p:cNvSpPr/>
          <p:nvPr/>
        </p:nvSpPr>
        <p:spPr>
          <a:xfrm>
            <a:off x="6094476" y="4407408"/>
            <a:ext cx="2612898" cy="347472"/>
          </a:xfrm>
          <a:prstGeom prst="rect">
            <a:avLst/>
          </a:prstGeom>
          <a:noFill/>
          <a:ln/>
        </p:spPr>
        <p:txBody>
          <a:bodyPr wrap="none" rtlCol="0" anchor="ctr"/>
          <a:lstStyle/>
          <a:p>
            <a:pPr indent="0" marL="0">
              <a:buNone/>
            </a:pPr>
            <a:r>
              <a:rPr lang="en-US" sz="1800" b="1" spc="50" kern="0" dirty="0">
                <a:solidFill>
                  <a:srgbClr val="0F6CBD"/>
                </a:solidFill>
                <a:latin typeface="Aptos" pitchFamily="34" charset="0"/>
                <a:ea typeface="Aptos" pitchFamily="34" charset="-122"/>
                <a:cs typeface="Aptos" pitchFamily="34" charset="-120"/>
              </a:rPr>
              <a:t>QUALIFICATION</a:t>
            </a:r>
            <a:endParaRPr lang="en-US" sz="1800" dirty="0"/>
          </a:p>
        </p:txBody>
      </p:sp>
      <p:sp>
        <p:nvSpPr>
          <p:cNvPr id="14" name="Text 11"/>
          <p:cNvSpPr/>
          <p:nvPr/>
        </p:nvSpPr>
        <p:spPr>
          <a:xfrm>
            <a:off x="6094476" y="4791456"/>
            <a:ext cx="2612898" cy="1005840"/>
          </a:xfrm>
          <a:prstGeom prst="rect">
            <a:avLst/>
          </a:prstGeom>
          <a:noFill/>
          <a:ln/>
        </p:spPr>
        <p:txBody>
          <a:bodyPr wrap="square" rtlCol="0" anchor="ctr"/>
          <a:lstStyle/>
          <a:p>
            <a:pPr indent="0" marL="0">
              <a:lnSpc>
                <a:spcPct val="110000"/>
              </a:lnSpc>
              <a:buNone/>
            </a:pPr>
            <a:r>
              <a:rPr lang="en-US" sz="1800" dirty="0">
                <a:solidFill>
                  <a:srgbClr val="002050"/>
                </a:solidFill>
                <a:latin typeface="Aptos" pitchFamily="34" charset="0"/>
                <a:ea typeface="Aptos" pitchFamily="34" charset="-122"/>
                <a:cs typeface="Aptos" pitchFamily="34" charset="-120"/>
              </a:rPr>
              <a:t>National Certificate: Generic Management</a:t>
            </a:r>
            <a:endParaRPr lang="en-US" sz="1800" dirty="0"/>
          </a:p>
        </p:txBody>
      </p:sp>
      <p:sp>
        <p:nvSpPr>
          <p:cNvPr id="15" name="Text 12"/>
          <p:cNvSpPr/>
          <p:nvPr/>
        </p:nvSpPr>
        <p:spPr>
          <a:xfrm>
            <a:off x="8890254" y="4407408"/>
            <a:ext cx="2612898" cy="347472"/>
          </a:xfrm>
          <a:prstGeom prst="rect">
            <a:avLst/>
          </a:prstGeom>
          <a:noFill/>
          <a:ln/>
        </p:spPr>
        <p:txBody>
          <a:bodyPr wrap="none" rtlCol="0" anchor="ctr"/>
          <a:lstStyle/>
          <a:p>
            <a:pPr indent="0" marL="0">
              <a:buNone/>
            </a:pPr>
            <a:r>
              <a:rPr lang="en-US" sz="1800" b="1" spc="50" kern="0" dirty="0">
                <a:solidFill>
                  <a:srgbClr val="0F6CBD"/>
                </a:solidFill>
                <a:latin typeface="Aptos" pitchFamily="34" charset="0"/>
                <a:ea typeface="Aptos" pitchFamily="34" charset="-122"/>
                <a:cs typeface="Aptos" pitchFamily="34" charset="-120"/>
              </a:rPr>
              <a:t>SAQA ID</a:t>
            </a:r>
            <a:endParaRPr lang="en-US" sz="1800" dirty="0"/>
          </a:p>
        </p:txBody>
      </p:sp>
      <p:sp>
        <p:nvSpPr>
          <p:cNvPr id="16" name="Text 13"/>
          <p:cNvSpPr/>
          <p:nvPr/>
        </p:nvSpPr>
        <p:spPr>
          <a:xfrm>
            <a:off x="8890254" y="4791456"/>
            <a:ext cx="2612898" cy="1005840"/>
          </a:xfrm>
          <a:prstGeom prst="rect">
            <a:avLst/>
          </a:prstGeom>
          <a:noFill/>
          <a:ln/>
        </p:spPr>
        <p:txBody>
          <a:bodyPr wrap="square" rtlCol="0" anchor="ctr"/>
          <a:lstStyle/>
          <a:p>
            <a:pPr indent="0" marL="0">
              <a:lnSpc>
                <a:spcPct val="110000"/>
              </a:lnSpc>
              <a:buNone/>
            </a:pPr>
            <a:r>
              <a:rPr lang="en-US" sz="1800" dirty="0">
                <a:solidFill>
                  <a:srgbClr val="002050"/>
                </a:solidFill>
                <a:latin typeface="Aptos" pitchFamily="34" charset="0"/>
                <a:ea typeface="Aptos" pitchFamily="34" charset="-122"/>
                <a:cs typeface="Aptos" pitchFamily="34" charset="-120"/>
              </a:rPr>
              <a:t>59201</a:t>
            </a:r>
            <a:endParaRPr lang="en-US" sz="1800" dirty="0"/>
          </a:p>
        </p:txBody>
      </p:sp>
      <p:sp>
        <p:nvSpPr>
          <p:cNvPr id="17" name="Text 14"/>
          <p:cNvSpPr/>
          <p:nvPr/>
        </p:nvSpPr>
        <p:spPr>
          <a:xfrm>
            <a:off x="502920" y="6291072"/>
            <a:ext cx="11183112" cy="365760"/>
          </a:xfrm>
          <a:prstGeom prst="rect">
            <a:avLst/>
          </a:prstGeom>
          <a:noFill/>
          <a:ln/>
        </p:spPr>
        <p:txBody>
          <a:bodyPr wrap="square" rtlCol="0" anchor="ctr"/>
          <a:lstStyle/>
          <a:p>
            <a:pPr indent="0" marL="0">
              <a:buNone/>
            </a:pPr>
            <a:r>
              <a:rPr lang="en-US" sz="1500" dirty="0">
                <a:solidFill>
                  <a:srgbClr val="6B7280"/>
                </a:solidFill>
                <a:latin typeface="Aptos" pitchFamily="34" charset="0"/>
                <a:ea typeface="Aptos" pitchFamily="34" charset="-122"/>
                <a:cs typeface="Aptos" pitchFamily="34" charset="-120"/>
              </a:rPr>
              <a:t>ITSS Learn · Investec · Corporate Banking Technology</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2050"/>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2</a:t>
            </a:r>
            <a:endParaRPr lang="en-US" sz="1200" dirty="0"/>
          </a:p>
        </p:txBody>
      </p:sp>
      <p:sp>
        <p:nvSpPr>
          <p:cNvPr id="4" name="Shape 2"/>
          <p:cNvSpPr/>
          <p:nvPr/>
        </p:nvSpPr>
        <p:spPr>
          <a:xfrm>
            <a:off x="0" y="0"/>
            <a:ext cx="12188952" cy="82296"/>
          </a:xfrm>
          <a:prstGeom prst="rect">
            <a:avLst/>
          </a:prstGeom>
          <a:solidFill>
            <a:srgbClr val="0F6CBD"/>
          </a:solidFill>
          <a:ln/>
        </p:spPr>
      </p:sp>
      <p:sp>
        <p:nvSpPr>
          <p:cNvPr id="5" name="Shape 3"/>
          <p:cNvSpPr/>
          <p:nvPr/>
        </p:nvSpPr>
        <p:spPr>
          <a:xfrm>
            <a:off x="0" y="0"/>
            <a:ext cx="12188952" cy="109728"/>
          </a:xfrm>
          <a:prstGeom prst="rect">
            <a:avLst/>
          </a:prstGeom>
          <a:solidFill>
            <a:srgbClr val="0F6CBD"/>
          </a:solidFill>
          <a:ln/>
        </p:spPr>
      </p:sp>
      <p:sp>
        <p:nvSpPr>
          <p:cNvPr id="6" name="Text 4"/>
          <p:cNvSpPr/>
          <p:nvPr/>
        </p:nvSpPr>
        <p:spPr>
          <a:xfrm>
            <a:off x="502920" y="1920240"/>
            <a:ext cx="11183112" cy="457200"/>
          </a:xfrm>
          <a:prstGeom prst="rect">
            <a:avLst/>
          </a:prstGeom>
          <a:noFill/>
          <a:ln/>
        </p:spPr>
        <p:txBody>
          <a:bodyPr wrap="square" rtlCol="0" anchor="ctr"/>
          <a:lstStyle/>
          <a:p>
            <a:pPr indent="0" marL="0">
              <a:buNone/>
            </a:pPr>
            <a:r>
              <a:rPr lang="en-US" sz="2000" b="1" spc="300" kern="0" dirty="0">
                <a:solidFill>
                  <a:srgbClr val="8CC2F0"/>
                </a:solidFill>
                <a:latin typeface="Aptos" pitchFamily="34" charset="0"/>
                <a:ea typeface="Aptos" pitchFamily="34" charset="-122"/>
                <a:cs typeface="Aptos" pitchFamily="34" charset="-120"/>
              </a:rPr>
              <a:t>LESSON 1</a:t>
            </a:r>
            <a:endParaRPr lang="en-US" sz="2000" dirty="0"/>
          </a:p>
        </p:txBody>
      </p:sp>
      <p:sp>
        <p:nvSpPr>
          <p:cNvPr id="7" name="Text 5"/>
          <p:cNvSpPr/>
          <p:nvPr/>
        </p:nvSpPr>
        <p:spPr>
          <a:xfrm>
            <a:off x="502920" y="2468880"/>
            <a:ext cx="10424160" cy="1554480"/>
          </a:xfrm>
          <a:prstGeom prst="rect">
            <a:avLst/>
          </a:prstGeom>
          <a:noFill/>
          <a:ln/>
        </p:spPr>
        <p:txBody>
          <a:bodyPr wrap="square" rtlCol="0" anchor="ctr"/>
          <a:lstStyle/>
          <a:p>
            <a:pPr indent="0" marL="0">
              <a:buNone/>
            </a:pPr>
            <a:r>
              <a:rPr lang="en-US" sz="4000" b="1" dirty="0">
                <a:solidFill>
                  <a:srgbClr val="FFFFFF"/>
                </a:solidFill>
                <a:latin typeface="Aptos Display" pitchFamily="34" charset="0"/>
                <a:ea typeface="Aptos Display" pitchFamily="34" charset="-122"/>
                <a:cs typeface="Aptos Display" pitchFamily="34" charset="-120"/>
              </a:rPr>
              <a:t>Formulate performance standards and monitoring systems</a:t>
            </a:r>
            <a:endParaRPr lang="en-US" sz="4000" dirty="0"/>
          </a:p>
        </p:txBody>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02920" y="1097280"/>
            <a:ext cx="640080" cy="640080"/>
          </a:xfrm>
          <a:prstGeom prst="rect">
            <a:avLst/>
          </a:prstGeom>
        </p:spPr>
      </p:pic>
      <p:sp>
        <p:nvSpPr>
          <p:cNvPr id="9" name="Text 6"/>
          <p:cNvSpPr/>
          <p:nvPr/>
        </p:nvSpPr>
        <p:spPr>
          <a:xfrm>
            <a:off x="502920" y="6291072"/>
            <a:ext cx="11183112" cy="365760"/>
          </a:xfrm>
          <a:prstGeom prst="rect">
            <a:avLst/>
          </a:prstGeom>
          <a:noFill/>
          <a:ln/>
        </p:spPr>
        <p:txBody>
          <a:bodyPr wrap="square" rtlCol="0" anchor="ctr"/>
          <a:lstStyle/>
          <a:p>
            <a:pPr indent="0" marL="0">
              <a:buNone/>
            </a:pPr>
            <a:r>
              <a:rPr lang="en-US" sz="1400" dirty="0">
                <a:solidFill>
                  <a:srgbClr val="6E93BC"/>
                </a:solidFill>
                <a:latin typeface="Aptos" pitchFamily="34" charset="0"/>
                <a:ea typeface="Aptos" pitchFamily="34" charset="-122"/>
                <a:cs typeface="Aptos" pitchFamily="34" charset="-120"/>
              </a:rPr>
              <a:t>US 252034 · Monitor and evaluate team members against performance standards · NQF 5 · 8 credits · ITSS Learn</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3</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a:t>
            </a:r>
            <a:endParaRPr lang="en-US" sz="1800" dirty="0"/>
          </a:p>
        </p:txBody>
      </p:sp>
      <p:sp>
        <p:nvSpPr>
          <p:cNvPr id="9" name="Text 5"/>
          <p:cNvSpPr/>
          <p:nvPr/>
        </p:nvSpPr>
        <p:spPr>
          <a:xfrm>
            <a:off x="502920" y="530352"/>
            <a:ext cx="9857232" cy="56692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Performance management — the big picture</a:t>
            </a:r>
            <a:endParaRPr lang="en-US" sz="2800" dirty="0"/>
          </a:p>
        </p:txBody>
      </p:sp>
      <p:sp>
        <p:nvSpPr>
          <p:cNvPr id="10" name="Text 6"/>
          <p:cNvSpPr/>
          <p:nvPr/>
        </p:nvSpPr>
        <p:spPr>
          <a:xfrm>
            <a:off x="502920" y="1261872"/>
            <a:ext cx="11183112" cy="128930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Unit Standard 252034 — Monitor and evaluate team members against performance standards. This unit is for managers in all economic sectors — typically second-level managers such as heads of department, section heads or divisional heads who may have more than one team reporting to them.</a:t>
            </a:r>
            <a:endParaRPr lang="en-US" sz="1800" dirty="0"/>
          </a:p>
        </p:txBody>
      </p:sp>
      <p:sp>
        <p:nvSpPr>
          <p:cNvPr id="11" name="Text 7"/>
          <p:cNvSpPr/>
          <p:nvPr/>
        </p:nvSpPr>
        <p:spPr>
          <a:xfrm>
            <a:off x="502920" y="2624328"/>
            <a:ext cx="11183112" cy="159791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Most organisations are moving from a once-a-year appraisal to a continuous programme of performance management. A productive performance management system is a two-way avenue of communication between a supervisor and an employee: it helps employees improve their performance, and it helps the organisation succeed in a competitive, cost-conscious environment.</a:t>
            </a:r>
            <a:endParaRPr lang="en-US" sz="1800" dirty="0"/>
          </a:p>
        </p:txBody>
      </p:sp>
      <p:sp>
        <p:nvSpPr>
          <p:cNvPr id="12" name="Text 8"/>
          <p:cNvSpPr/>
          <p:nvPr/>
        </p:nvSpPr>
        <p:spPr>
          <a:xfrm>
            <a:off x="502920" y="4295394"/>
            <a:ext cx="11183112" cy="159791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The annual performance appraisal is not an end in itself — it is a means to an end. It is only the third and final part of an ongoing process that starts with performance planning (setting reasonable expectations and standards) and coaching and counselling (constructive feedback, guidance and assistance to improve performance).</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4</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 · CONTINUED</a:t>
            </a:r>
            <a:endParaRPr lang="en-US" sz="1800" dirty="0"/>
          </a:p>
        </p:txBody>
      </p:sp>
      <p:sp>
        <p:nvSpPr>
          <p:cNvPr id="9" name="Text 5"/>
          <p:cNvSpPr/>
          <p:nvPr/>
        </p:nvSpPr>
        <p:spPr>
          <a:xfrm>
            <a:off x="502920" y="530352"/>
            <a:ext cx="9857232" cy="56692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Performance management — the big picture</a:t>
            </a:r>
            <a:endParaRPr lang="en-US" sz="2800" dirty="0"/>
          </a:p>
        </p:txBody>
      </p:sp>
      <p:sp>
        <p:nvSpPr>
          <p:cNvPr id="10" name="Text 6"/>
          <p:cNvSpPr/>
          <p:nvPr/>
        </p:nvSpPr>
        <p:spPr>
          <a:xfrm>
            <a:off x="502920" y="1261872"/>
            <a:ext cx="11183112" cy="98069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According to Armstrong and Baron (1998), performance management is both a strategic and an integrated approach to delivering successful results in organisations by improving the performance and developing the capabilities of teams and individuals.</a:t>
            </a:r>
            <a:endParaRPr lang="en-US" sz="1800" dirty="0"/>
          </a:p>
        </p:txBody>
      </p:sp>
      <p:sp>
        <p:nvSpPr>
          <p:cNvPr id="11" name="Shape 7"/>
          <p:cNvSpPr/>
          <p:nvPr/>
        </p:nvSpPr>
        <p:spPr>
          <a:xfrm>
            <a:off x="557784" y="2462022"/>
            <a:ext cx="91440" cy="91440"/>
          </a:xfrm>
          <a:prstGeom prst="ellipse">
            <a:avLst/>
          </a:prstGeom>
          <a:solidFill>
            <a:srgbClr val="0F6CBD"/>
          </a:solidFill>
          <a:ln/>
        </p:spPr>
      </p:sp>
      <p:sp>
        <p:nvSpPr>
          <p:cNvPr id="12" name="Text 8"/>
          <p:cNvSpPr/>
          <p:nvPr/>
        </p:nvSpPr>
        <p:spPr>
          <a:xfrm>
            <a:off x="795528" y="2352294"/>
            <a:ext cx="10799064" cy="128016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Supervisors and managers are employed to manage the performance (effectiveness and efficiency) of the organisation and the people who make up its human resources. Unfortunately, research conducted in most organisations indicates they are not doing a very good job of it:</a:t>
            </a:r>
            <a:endParaRPr lang="en-US" sz="18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02920" y="3751326"/>
          <a:ext cx="11183112" cy="914400"/>
        </p:xfrm>
        <a:graphic>
          <a:graphicData uri="http://schemas.openxmlformats.org/drawingml/2006/table">
            <a:tbl>
              <a:tblPr/>
              <a:tblGrid>
                <a:gridCol w="5591556"/>
                <a:gridCol w="5591556"/>
              </a:tblGrid>
              <a:tr h="475488">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What employees say</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781812">
                <a:tc>
                  <a:txBody>
                    <a:bodyPr/>
                    <a:lstStyle/>
                    <a:p>
                      <a:pPr indent="0" marL="0">
                        <a:buNone/>
                      </a:pPr>
                      <a:r>
                        <a:rPr lang="en-US" sz="1800" dirty="0">
                          <a:solidFill>
                            <a:srgbClr val="002050"/>
                          </a:solidFill>
                          <a:latin typeface="Aptos" pitchFamily="34" charset="0"/>
                          <a:ea typeface="Aptos" pitchFamily="34" charset="-122"/>
                          <a:cs typeface="Aptos" pitchFamily="34" charset="-120"/>
                        </a:rPr>
                        <a:t>Managers do not provide clear goals and directions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70%</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781812">
                <a:tc>
                  <a:txBody>
                    <a:bodyPr/>
                    <a:lstStyle/>
                    <a:p>
                      <a:pPr indent="0" marL="0">
                        <a:buNone/>
                      </a:pPr>
                      <a:r>
                        <a:rPr lang="en-US" sz="1800" dirty="0">
                          <a:solidFill>
                            <a:srgbClr val="002050"/>
                          </a:solidFill>
                          <a:latin typeface="Aptos" pitchFamily="34" charset="0"/>
                          <a:ea typeface="Aptos" pitchFamily="34" charset="-122"/>
                          <a:cs typeface="Aptos" pitchFamily="34" charset="-120"/>
                        </a:rPr>
                        <a:t>Managers are poor or average in providing direction</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55%</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5</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 · CONTINUED</a:t>
            </a:r>
            <a:endParaRPr lang="en-US" sz="1800" dirty="0"/>
          </a:p>
        </p:txBody>
      </p:sp>
      <p:sp>
        <p:nvSpPr>
          <p:cNvPr id="9" name="Text 5"/>
          <p:cNvSpPr/>
          <p:nvPr/>
        </p:nvSpPr>
        <p:spPr>
          <a:xfrm>
            <a:off x="502920" y="530352"/>
            <a:ext cx="9857232" cy="56692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Performance management — the big picture</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02920" y="1261872"/>
          <a:ext cx="11183112" cy="914400"/>
        </p:xfrm>
        <a:graphic>
          <a:graphicData uri="http://schemas.openxmlformats.org/drawingml/2006/table">
            <a:tbl>
              <a:tblPr/>
              <a:tblGrid>
                <a:gridCol w="5591556"/>
                <a:gridCol w="5591556"/>
              </a:tblGrid>
              <a:tr h="475488">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What employees say</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781812">
                <a:tc>
                  <a:txBody>
                    <a:bodyPr/>
                    <a:lstStyle/>
                    <a:p>
                      <a:pPr indent="0" marL="0">
                        <a:buNone/>
                      </a:pPr>
                      <a:r>
                        <a:rPr lang="en-US" sz="1800" dirty="0">
                          <a:solidFill>
                            <a:srgbClr val="002050"/>
                          </a:solidFill>
                          <a:latin typeface="Aptos" pitchFamily="34" charset="0"/>
                          <a:ea typeface="Aptos" pitchFamily="34" charset="-122"/>
                          <a:cs typeface="Aptos" pitchFamily="34" charset="-120"/>
                        </a:rPr>
                        <a:t>Performance expectations are not clearly defined</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70%</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781812">
                <a:tc>
                  <a:txBody>
                    <a:bodyPr/>
                    <a:lstStyle/>
                    <a:p>
                      <a:pPr indent="0" marL="0">
                        <a:buNone/>
                      </a:pPr>
                      <a:r>
                        <a:rPr lang="en-US" sz="1800" dirty="0">
                          <a:solidFill>
                            <a:srgbClr val="002050"/>
                          </a:solidFill>
                          <a:latin typeface="Aptos" pitchFamily="34" charset="0"/>
                          <a:ea typeface="Aptos" pitchFamily="34" charset="-122"/>
                          <a:cs typeface="Aptos" pitchFamily="34" charset="-120"/>
                        </a:rPr>
                        <a:t>Have never had a meaningful performance discussion with their manager</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70%</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781812">
                <a:tc>
                  <a:txBody>
                    <a:bodyPr/>
                    <a:lstStyle/>
                    <a:p>
                      <a:pPr indent="0" marL="0">
                        <a:buNone/>
                      </a:pPr>
                      <a:r>
                        <a:rPr lang="en-US" sz="1800" dirty="0">
                          <a:solidFill>
                            <a:srgbClr val="002050"/>
                          </a:solidFill>
                          <a:latin typeface="Aptos" pitchFamily="34" charset="0"/>
                          <a:ea typeface="Aptos" pitchFamily="34" charset="-122"/>
                          <a:cs typeface="Aptos" pitchFamily="34" charset="-120"/>
                        </a:rPr>
                        <a:t>The most important information needed concerns ways to improve performance</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65%</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781812">
                <a:tc>
                  <a:txBody>
                    <a:bodyPr/>
                    <a:lstStyle/>
                    <a:p>
                      <a:pPr indent="0" marL="0">
                        <a:buNone/>
                      </a:pPr>
                      <a:r>
                        <a:rPr lang="en-US" sz="1800" dirty="0">
                          <a:solidFill>
                            <a:srgbClr val="002050"/>
                          </a:solidFill>
                          <a:latin typeface="Aptos" pitchFamily="34" charset="0"/>
                          <a:ea typeface="Aptos" pitchFamily="34" charset="-122"/>
                          <a:cs typeface="Aptos" pitchFamily="34" charset="-120"/>
                        </a:rPr>
                        <a:t>Their supervisor does not follow up on the review</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80%</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781812">
                <a:tc>
                  <a:txBody>
                    <a:bodyPr/>
                    <a:lstStyle/>
                    <a:p>
                      <a:pPr indent="0" marL="0">
                        <a:buNone/>
                      </a:pPr>
                      <a:r>
                        <a:rPr lang="en-US" sz="1800" dirty="0">
                          <a:solidFill>
                            <a:srgbClr val="002050"/>
                          </a:solidFill>
                          <a:latin typeface="Aptos" pitchFamily="34" charset="0"/>
                          <a:ea typeface="Aptos" pitchFamily="34" charset="-122"/>
                          <a:cs typeface="Aptos" pitchFamily="34" charset="-120"/>
                        </a:rPr>
                        <a:t>Believe their company's system for evaluating performance is not fair</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71%</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475488">
                <a:tc>
                  <a:txBody>
                    <a:bodyPr/>
                    <a:lstStyle/>
                    <a:p>
                      <a:pPr indent="0" marL="0">
                        <a:buNone/>
                      </a:pPr>
                      <a:r>
                        <a:rPr lang="en-US" sz="1800" dirty="0">
                          <a:solidFill>
                            <a:srgbClr val="002050"/>
                          </a:solidFill>
                          <a:latin typeface="Aptos" pitchFamily="34" charset="0"/>
                          <a:ea typeface="Aptos" pitchFamily="34" charset="-122"/>
                          <a:cs typeface="Aptos" pitchFamily="34" charset="-120"/>
                        </a:rPr>
                        <a:t>Poor performance is tolerated too long</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52%</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6</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 · CONTINUED</a:t>
            </a:r>
            <a:endParaRPr lang="en-US" sz="1800" dirty="0"/>
          </a:p>
        </p:txBody>
      </p:sp>
      <p:sp>
        <p:nvSpPr>
          <p:cNvPr id="9" name="Text 5"/>
          <p:cNvSpPr/>
          <p:nvPr/>
        </p:nvSpPr>
        <p:spPr>
          <a:xfrm>
            <a:off x="502920" y="530352"/>
            <a:ext cx="9857232" cy="56692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Performance management — the big picture</a:t>
            </a:r>
            <a:endParaRPr lang="en-US" sz="2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261872"/>
          <a:ext cx="11183112" cy="914400"/>
        </p:xfrm>
        <a:graphic>
          <a:graphicData uri="http://schemas.openxmlformats.org/drawingml/2006/table">
            <a:tbl>
              <a:tblPr/>
              <a:tblGrid>
                <a:gridCol w="5591556"/>
                <a:gridCol w="5591556"/>
              </a:tblGrid>
              <a:tr h="475488">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What employees say</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781812">
                <a:tc>
                  <a:txBody>
                    <a:bodyPr/>
                    <a:lstStyle/>
                    <a:p>
                      <a:pPr indent="0" marL="0">
                        <a:buNone/>
                      </a:pPr>
                      <a:r>
                        <a:rPr lang="en-US" sz="1800" dirty="0">
                          <a:solidFill>
                            <a:srgbClr val="002050"/>
                          </a:solidFill>
                          <a:latin typeface="Aptos" pitchFamily="34" charset="0"/>
                          <a:ea typeface="Aptos" pitchFamily="34" charset="-122"/>
                          <a:cs typeface="Aptos" pitchFamily="34" charset="-120"/>
                        </a:rPr>
                        <a:t>Do not see a relationship between good work and rewards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80%</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1090422">
                <a:tc>
                  <a:txBody>
                    <a:bodyPr/>
                    <a:lstStyle/>
                    <a:p>
                      <a:pPr indent="0" marL="0">
                        <a:buNone/>
                      </a:pPr>
                      <a:r>
                        <a:rPr lang="en-US" sz="1800" dirty="0">
                          <a:solidFill>
                            <a:srgbClr val="002050"/>
                          </a:solidFill>
                          <a:latin typeface="Aptos" pitchFamily="34" charset="0"/>
                          <a:ea typeface="Aptos" pitchFamily="34" charset="-122"/>
                          <a:cs typeface="Aptos" pitchFamily="34" charset="-120"/>
                        </a:rPr>
                        <a:t>Believe pay should reflect performance — yet only 48% believe their company's pay system does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98%</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475488">
                <a:tc>
                  <a:txBody>
                    <a:bodyPr/>
                    <a:lstStyle/>
                    <a:p>
                      <a:pPr indent="0" marL="0">
                        <a:buNone/>
                      </a:pPr>
                      <a:r>
                        <a:rPr lang="en-US" sz="1800" dirty="0">
                          <a:solidFill>
                            <a:srgbClr val="002050"/>
                          </a:solidFill>
                          <a:latin typeface="Aptos" pitchFamily="34" charset="0"/>
                          <a:ea typeface="Aptos" pitchFamily="34" charset="-122"/>
                          <a:cs typeface="Aptos" pitchFamily="34" charset="-120"/>
                        </a:rPr>
                        <a:t>Want more recognition of their efforts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70%</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781812">
                <a:tc>
                  <a:txBody>
                    <a:bodyPr/>
                    <a:lstStyle/>
                    <a:p>
                      <a:pPr indent="0" marL="0">
                        <a:buNone/>
                      </a:pPr>
                      <a:r>
                        <a:rPr lang="en-US" sz="1800" dirty="0">
                          <a:solidFill>
                            <a:srgbClr val="002050"/>
                          </a:solidFill>
                          <a:latin typeface="Aptos" pitchFamily="34" charset="0"/>
                          <a:ea typeface="Aptos" pitchFamily="34" charset="-122"/>
                          <a:cs typeface="Aptos" pitchFamily="34" charset="-120"/>
                        </a:rPr>
                        <a:t>Believe their pay is not tied to performance</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70%</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7</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a:t>
            </a:r>
            <a:endParaRPr lang="en-US" sz="1800" dirty="0"/>
          </a:p>
        </p:txBody>
      </p:sp>
      <p:sp>
        <p:nvSpPr>
          <p:cNvPr id="9" name="Text 5"/>
          <p:cNvSpPr/>
          <p:nvPr/>
        </p:nvSpPr>
        <p:spPr>
          <a:xfrm>
            <a:off x="502920" y="530352"/>
            <a:ext cx="9857232" cy="56692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Components of a performance management system</a:t>
            </a:r>
            <a:endParaRPr lang="en-US" sz="2800" dirty="0"/>
          </a:p>
        </p:txBody>
      </p:sp>
      <p:sp>
        <p:nvSpPr>
          <p:cNvPr id="10" name="Text 6"/>
          <p:cNvSpPr/>
          <p:nvPr/>
        </p:nvSpPr>
        <p:spPr>
          <a:xfrm>
            <a:off x="502920" y="1261872"/>
            <a:ext cx="11183112" cy="67208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An effective performance management system is built from six components that run right through the year — not a single meeting.</a:t>
            </a:r>
            <a:endParaRPr lang="en-US" sz="1800" dirty="0"/>
          </a:p>
        </p:txBody>
      </p:sp>
      <p:sp>
        <p:nvSpPr>
          <p:cNvPr id="11" name="Shape 7"/>
          <p:cNvSpPr/>
          <p:nvPr/>
        </p:nvSpPr>
        <p:spPr>
          <a:xfrm>
            <a:off x="502920" y="2043684"/>
            <a:ext cx="5481828" cy="2583180"/>
          </a:xfrm>
          <a:prstGeom prst="roundRect">
            <a:avLst>
              <a:gd name="adj" fmla="val 3186"/>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2"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49224" y="2189988"/>
            <a:ext cx="310896" cy="310896"/>
          </a:xfrm>
          <a:prstGeom prst="rect">
            <a:avLst/>
          </a:prstGeom>
        </p:spPr>
      </p:pic>
      <p:sp>
        <p:nvSpPr>
          <p:cNvPr id="13" name="Text 8"/>
          <p:cNvSpPr/>
          <p:nvPr/>
        </p:nvSpPr>
        <p:spPr>
          <a:xfrm>
            <a:off x="1051560" y="2153412"/>
            <a:ext cx="4741164" cy="402336"/>
          </a:xfrm>
          <a:prstGeom prst="rect">
            <a:avLst/>
          </a:prstGeom>
          <a:noFill/>
          <a:ln/>
        </p:spPr>
        <p:txBody>
          <a:bodyPr wrap="square" rtlCol="0" anchor="t"/>
          <a:lstStyle/>
          <a:p>
            <a:pPr indent="0" marL="0">
              <a:lnSpc>
                <a:spcPct val="105000"/>
              </a:lnSpc>
              <a:buNone/>
            </a:pPr>
            <a:r>
              <a:rPr lang="en-US" sz="1800" b="1" dirty="0">
                <a:solidFill>
                  <a:srgbClr val="002050"/>
                </a:solidFill>
                <a:latin typeface="Aptos Display" pitchFamily="34" charset="0"/>
                <a:ea typeface="Aptos Display" pitchFamily="34" charset="-122"/>
                <a:cs typeface="Aptos Display" pitchFamily="34" charset="-120"/>
              </a:rPr>
              <a:t>1 · Performance planning</a:t>
            </a:r>
            <a:endParaRPr lang="en-US" sz="1800" dirty="0"/>
          </a:p>
        </p:txBody>
      </p:sp>
      <p:sp>
        <p:nvSpPr>
          <p:cNvPr id="14" name="Text 9"/>
          <p:cNvSpPr/>
          <p:nvPr/>
        </p:nvSpPr>
        <p:spPr>
          <a:xfrm>
            <a:off x="649224" y="2610612"/>
            <a:ext cx="5189220" cy="1961388"/>
          </a:xfrm>
          <a:prstGeom prst="rect">
            <a:avLst/>
          </a:prstGeom>
          <a:noFill/>
          <a:ln/>
        </p:spPr>
        <p:txBody>
          <a:bodyPr wrap="square" rtlCol="0" anchor="t"/>
          <a:lstStyle/>
          <a:p>
            <a:pPr indent="0" marL="0">
              <a:lnSpc>
                <a:spcPct val="110000"/>
              </a:lnSpc>
              <a:buNone/>
            </a:pPr>
            <a:r>
              <a:rPr lang="en-US" sz="1800" dirty="0">
                <a:solidFill>
                  <a:srgbClr val="6B7280"/>
                </a:solidFill>
                <a:latin typeface="Aptos" pitchFamily="34" charset="0"/>
                <a:ea typeface="Aptos" pitchFamily="34" charset="-122"/>
                <a:cs typeface="Aptos" pitchFamily="34" charset="-120"/>
              </a:rPr>
              <a:t>Done jointly by the appraisee and reviewer at the start of the session. Targets and key performance areas for the year are agreed within the performance budget.</a:t>
            </a:r>
            <a:endParaRPr lang="en-US" sz="1800" dirty="0"/>
          </a:p>
        </p:txBody>
      </p:sp>
      <p:sp>
        <p:nvSpPr>
          <p:cNvPr id="15" name="Shape 10"/>
          <p:cNvSpPr/>
          <p:nvPr/>
        </p:nvSpPr>
        <p:spPr>
          <a:xfrm>
            <a:off x="6204204" y="2043684"/>
            <a:ext cx="5481828" cy="2583180"/>
          </a:xfrm>
          <a:prstGeom prst="roundRect">
            <a:avLst>
              <a:gd name="adj" fmla="val 3186"/>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6"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350508" y="2189988"/>
            <a:ext cx="310896" cy="310896"/>
          </a:xfrm>
          <a:prstGeom prst="rect">
            <a:avLst/>
          </a:prstGeom>
        </p:spPr>
      </p:pic>
      <p:sp>
        <p:nvSpPr>
          <p:cNvPr id="17" name="Text 11"/>
          <p:cNvSpPr/>
          <p:nvPr/>
        </p:nvSpPr>
        <p:spPr>
          <a:xfrm>
            <a:off x="6752844" y="2153412"/>
            <a:ext cx="4741164" cy="402336"/>
          </a:xfrm>
          <a:prstGeom prst="rect">
            <a:avLst/>
          </a:prstGeom>
          <a:noFill/>
          <a:ln/>
        </p:spPr>
        <p:txBody>
          <a:bodyPr wrap="square" rtlCol="0" anchor="t"/>
          <a:lstStyle/>
          <a:p>
            <a:pPr indent="0" marL="0">
              <a:lnSpc>
                <a:spcPct val="105000"/>
              </a:lnSpc>
              <a:buNone/>
            </a:pPr>
            <a:r>
              <a:rPr lang="en-US" sz="1800" b="1" dirty="0">
                <a:solidFill>
                  <a:srgbClr val="002050"/>
                </a:solidFill>
                <a:latin typeface="Aptos Display" pitchFamily="34" charset="0"/>
                <a:ea typeface="Aptos Display" pitchFamily="34" charset="-122"/>
                <a:cs typeface="Aptos Display" pitchFamily="34" charset="-120"/>
              </a:rPr>
              <a:t>2 · Appraisal &amp; reviewing</a:t>
            </a:r>
            <a:endParaRPr lang="en-US" sz="1800" dirty="0"/>
          </a:p>
        </p:txBody>
      </p:sp>
      <p:sp>
        <p:nvSpPr>
          <p:cNvPr id="18" name="Text 12"/>
          <p:cNvSpPr/>
          <p:nvPr/>
        </p:nvSpPr>
        <p:spPr>
          <a:xfrm>
            <a:off x="6350508" y="2610612"/>
            <a:ext cx="5189220" cy="1961388"/>
          </a:xfrm>
          <a:prstGeom prst="rect">
            <a:avLst/>
          </a:prstGeom>
          <a:noFill/>
          <a:ln/>
        </p:spPr>
        <p:txBody>
          <a:bodyPr wrap="square" rtlCol="0" anchor="t"/>
          <a:lstStyle/>
          <a:p>
            <a:pPr indent="0" marL="0">
              <a:lnSpc>
                <a:spcPct val="110000"/>
              </a:lnSpc>
              <a:buNone/>
            </a:pPr>
            <a:r>
              <a:rPr lang="en-US" sz="1800" dirty="0">
                <a:solidFill>
                  <a:srgbClr val="6B7280"/>
                </a:solidFill>
                <a:latin typeface="Aptos" pitchFamily="34" charset="0"/>
                <a:ea typeface="Aptos" pitchFamily="34" charset="-122"/>
                <a:cs typeface="Aptos" pitchFamily="34" charset="-120"/>
              </a:rPr>
              <a:t>Normally twice a year — mid review and annual review. The employee first completes a self-appraisal and describes achievements in quantifiable terms; the appraiser then gives final ratings.</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8</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 · CONTINUED</a:t>
            </a:r>
            <a:endParaRPr lang="en-US" sz="1800" dirty="0"/>
          </a:p>
        </p:txBody>
      </p:sp>
      <p:sp>
        <p:nvSpPr>
          <p:cNvPr id="9" name="Text 5"/>
          <p:cNvSpPr/>
          <p:nvPr/>
        </p:nvSpPr>
        <p:spPr>
          <a:xfrm>
            <a:off x="502920" y="530352"/>
            <a:ext cx="9857232" cy="56692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Components of a performance management system</a:t>
            </a:r>
            <a:endParaRPr lang="en-US" sz="2800" dirty="0"/>
          </a:p>
        </p:txBody>
      </p:sp>
      <p:sp>
        <p:nvSpPr>
          <p:cNvPr id="10" name="Shape 6"/>
          <p:cNvSpPr/>
          <p:nvPr/>
        </p:nvSpPr>
        <p:spPr>
          <a:xfrm>
            <a:off x="502920" y="1261872"/>
            <a:ext cx="5481828" cy="2583180"/>
          </a:xfrm>
          <a:prstGeom prst="roundRect">
            <a:avLst>
              <a:gd name="adj" fmla="val 3186"/>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1"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49224" y="1408176"/>
            <a:ext cx="310896" cy="310896"/>
          </a:xfrm>
          <a:prstGeom prst="rect">
            <a:avLst/>
          </a:prstGeom>
        </p:spPr>
      </p:pic>
      <p:sp>
        <p:nvSpPr>
          <p:cNvPr id="12" name="Text 7"/>
          <p:cNvSpPr/>
          <p:nvPr/>
        </p:nvSpPr>
        <p:spPr>
          <a:xfrm>
            <a:off x="1051560" y="1371600"/>
            <a:ext cx="4741164" cy="402336"/>
          </a:xfrm>
          <a:prstGeom prst="rect">
            <a:avLst/>
          </a:prstGeom>
          <a:noFill/>
          <a:ln/>
        </p:spPr>
        <p:txBody>
          <a:bodyPr wrap="square" rtlCol="0" anchor="t"/>
          <a:lstStyle/>
          <a:p>
            <a:pPr indent="0" marL="0">
              <a:lnSpc>
                <a:spcPct val="105000"/>
              </a:lnSpc>
              <a:buNone/>
            </a:pPr>
            <a:r>
              <a:rPr lang="en-US" sz="1800" b="1" dirty="0">
                <a:solidFill>
                  <a:srgbClr val="002050"/>
                </a:solidFill>
                <a:latin typeface="Aptos Display" pitchFamily="34" charset="0"/>
                <a:ea typeface="Aptos Display" pitchFamily="34" charset="-122"/>
                <a:cs typeface="Aptos Display" pitchFamily="34" charset="-120"/>
              </a:rPr>
              <a:t>3 · Feedback &amp; counselling</a:t>
            </a:r>
            <a:endParaRPr lang="en-US" sz="1800" dirty="0"/>
          </a:p>
        </p:txBody>
      </p:sp>
      <p:sp>
        <p:nvSpPr>
          <p:cNvPr id="13" name="Text 8"/>
          <p:cNvSpPr/>
          <p:nvPr/>
        </p:nvSpPr>
        <p:spPr>
          <a:xfrm>
            <a:off x="649224" y="1828800"/>
            <a:ext cx="5189220" cy="1961388"/>
          </a:xfrm>
          <a:prstGeom prst="rect">
            <a:avLst/>
          </a:prstGeom>
          <a:noFill/>
          <a:ln/>
        </p:spPr>
        <p:txBody>
          <a:bodyPr wrap="square" rtlCol="0" anchor="t"/>
          <a:lstStyle/>
          <a:p>
            <a:pPr indent="0" marL="0">
              <a:lnSpc>
                <a:spcPct val="110000"/>
              </a:lnSpc>
              <a:buNone/>
            </a:pPr>
            <a:r>
              <a:rPr lang="en-US" sz="1800" dirty="0">
                <a:solidFill>
                  <a:srgbClr val="6B7280"/>
                </a:solidFill>
                <a:latin typeface="Aptos" pitchFamily="34" charset="0"/>
                <a:ea typeface="Aptos" pitchFamily="34" charset="-122"/>
                <a:cs typeface="Aptos" pitchFamily="34" charset="-120"/>
              </a:rPr>
              <a:t>The employee learns about areas of improvement and whether expected performance levels are being met — open, transparent feedback plus identified training and development needs.</a:t>
            </a:r>
            <a:endParaRPr lang="en-US" sz="1800" dirty="0"/>
          </a:p>
        </p:txBody>
      </p:sp>
      <p:sp>
        <p:nvSpPr>
          <p:cNvPr id="14" name="Shape 9"/>
          <p:cNvSpPr/>
          <p:nvPr/>
        </p:nvSpPr>
        <p:spPr>
          <a:xfrm>
            <a:off x="6204204" y="1261872"/>
            <a:ext cx="5481828" cy="2583180"/>
          </a:xfrm>
          <a:prstGeom prst="roundRect">
            <a:avLst>
              <a:gd name="adj" fmla="val 3186"/>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5"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350508" y="1408176"/>
            <a:ext cx="310896" cy="310896"/>
          </a:xfrm>
          <a:prstGeom prst="rect">
            <a:avLst/>
          </a:prstGeom>
        </p:spPr>
      </p:pic>
      <p:sp>
        <p:nvSpPr>
          <p:cNvPr id="16" name="Text 10"/>
          <p:cNvSpPr/>
          <p:nvPr/>
        </p:nvSpPr>
        <p:spPr>
          <a:xfrm>
            <a:off x="6752844" y="1371600"/>
            <a:ext cx="4741164" cy="402336"/>
          </a:xfrm>
          <a:prstGeom prst="rect">
            <a:avLst/>
          </a:prstGeom>
          <a:noFill/>
          <a:ln/>
        </p:spPr>
        <p:txBody>
          <a:bodyPr wrap="square" rtlCol="0" anchor="t"/>
          <a:lstStyle/>
          <a:p>
            <a:pPr indent="0" marL="0">
              <a:lnSpc>
                <a:spcPct val="105000"/>
              </a:lnSpc>
              <a:buNone/>
            </a:pPr>
            <a:r>
              <a:rPr lang="en-US" sz="1800" b="1" dirty="0">
                <a:solidFill>
                  <a:srgbClr val="002050"/>
                </a:solidFill>
                <a:latin typeface="Aptos Display" pitchFamily="34" charset="0"/>
                <a:ea typeface="Aptos Display" pitchFamily="34" charset="-122"/>
                <a:cs typeface="Aptos Display" pitchFamily="34" charset="-120"/>
              </a:rPr>
              <a:t>4 · Rewarding good performance</a:t>
            </a:r>
            <a:endParaRPr lang="en-US" sz="1800" dirty="0"/>
          </a:p>
        </p:txBody>
      </p:sp>
      <p:sp>
        <p:nvSpPr>
          <p:cNvPr id="17" name="Text 11"/>
          <p:cNvSpPr/>
          <p:nvPr/>
        </p:nvSpPr>
        <p:spPr>
          <a:xfrm>
            <a:off x="6350508" y="1828800"/>
            <a:ext cx="5189220" cy="1961388"/>
          </a:xfrm>
          <a:prstGeom prst="rect">
            <a:avLst/>
          </a:prstGeom>
          <a:noFill/>
          <a:ln/>
        </p:spPr>
        <p:txBody>
          <a:bodyPr wrap="square" rtlCol="0" anchor="t"/>
          <a:lstStyle/>
          <a:p>
            <a:pPr indent="0" marL="0">
              <a:lnSpc>
                <a:spcPct val="110000"/>
              </a:lnSpc>
              <a:buNone/>
            </a:pPr>
            <a:r>
              <a:rPr lang="en-US" sz="1800" dirty="0">
                <a:solidFill>
                  <a:srgbClr val="6B7280"/>
                </a:solidFill>
                <a:latin typeface="Aptos" pitchFamily="34" charset="0"/>
                <a:ea typeface="Aptos" pitchFamily="34" charset="-122"/>
                <a:cs typeface="Aptos" pitchFamily="34" charset="-120"/>
              </a:rPr>
              <a:t>Public recognition and reward for good performance. This directly influences motivation, self-esteem and achievement orientation.</a:t>
            </a:r>
            <a:endParaRPr lang="en-US" sz="1800" dirty="0"/>
          </a:p>
        </p:txBody>
      </p:sp>
      <p:sp>
        <p:nvSpPr>
          <p:cNvPr id="18" name="Shape 12"/>
          <p:cNvSpPr/>
          <p:nvPr/>
        </p:nvSpPr>
        <p:spPr>
          <a:xfrm>
            <a:off x="502920" y="3973068"/>
            <a:ext cx="5481828" cy="2185416"/>
          </a:xfrm>
          <a:prstGeom prst="roundRect">
            <a:avLst>
              <a:gd name="adj" fmla="val 3766"/>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9"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649224" y="4119372"/>
            <a:ext cx="310896" cy="310896"/>
          </a:xfrm>
          <a:prstGeom prst="rect">
            <a:avLst/>
          </a:prstGeom>
        </p:spPr>
      </p:pic>
      <p:sp>
        <p:nvSpPr>
          <p:cNvPr id="20" name="Text 13"/>
          <p:cNvSpPr/>
          <p:nvPr/>
        </p:nvSpPr>
        <p:spPr>
          <a:xfrm>
            <a:off x="1051560" y="4082796"/>
            <a:ext cx="4741164" cy="621792"/>
          </a:xfrm>
          <a:prstGeom prst="rect">
            <a:avLst/>
          </a:prstGeom>
          <a:noFill/>
          <a:ln/>
        </p:spPr>
        <p:txBody>
          <a:bodyPr wrap="square" rtlCol="0" anchor="t"/>
          <a:lstStyle/>
          <a:p>
            <a:pPr indent="0" marL="0">
              <a:lnSpc>
                <a:spcPct val="105000"/>
              </a:lnSpc>
              <a:buNone/>
            </a:pPr>
            <a:r>
              <a:rPr lang="en-US" sz="1800" b="1" dirty="0">
                <a:solidFill>
                  <a:srgbClr val="002050"/>
                </a:solidFill>
                <a:latin typeface="Aptos Display" pitchFamily="34" charset="0"/>
                <a:ea typeface="Aptos Display" pitchFamily="34" charset="-122"/>
                <a:cs typeface="Aptos Display" pitchFamily="34" charset="-120"/>
              </a:rPr>
              <a:t>5 · Performance improvement plans</a:t>
            </a:r>
            <a:endParaRPr lang="en-US" sz="1800" dirty="0"/>
          </a:p>
        </p:txBody>
      </p:sp>
      <p:sp>
        <p:nvSpPr>
          <p:cNvPr id="21" name="Text 14"/>
          <p:cNvSpPr/>
          <p:nvPr/>
        </p:nvSpPr>
        <p:spPr>
          <a:xfrm>
            <a:off x="649224" y="4759452"/>
            <a:ext cx="5189220" cy="1344168"/>
          </a:xfrm>
          <a:prstGeom prst="rect">
            <a:avLst/>
          </a:prstGeom>
          <a:noFill/>
          <a:ln/>
        </p:spPr>
        <p:txBody>
          <a:bodyPr wrap="square" rtlCol="0" anchor="t"/>
          <a:lstStyle/>
          <a:p>
            <a:pPr indent="0" marL="0">
              <a:lnSpc>
                <a:spcPct val="110000"/>
              </a:lnSpc>
              <a:buNone/>
            </a:pPr>
            <a:r>
              <a:rPr lang="en-US" sz="1800" dirty="0">
                <a:solidFill>
                  <a:srgbClr val="6B7280"/>
                </a:solidFill>
                <a:latin typeface="Aptos" pitchFamily="34" charset="0"/>
                <a:ea typeface="Aptos" pitchFamily="34" charset="-122"/>
                <a:cs typeface="Aptos" pitchFamily="34" charset="-120"/>
              </a:rPr>
              <a:t>Fresh goals and a deadline for improvement, clearly communicated, jointly developed and mutually approved.</a:t>
            </a:r>
            <a:endParaRPr lang="en-US" sz="1800" dirty="0"/>
          </a:p>
        </p:txBody>
      </p:sp>
      <p:sp>
        <p:nvSpPr>
          <p:cNvPr id="22" name="Shape 15"/>
          <p:cNvSpPr/>
          <p:nvPr/>
        </p:nvSpPr>
        <p:spPr>
          <a:xfrm>
            <a:off x="6204204" y="3973068"/>
            <a:ext cx="5481828" cy="2185416"/>
          </a:xfrm>
          <a:prstGeom prst="roundRect">
            <a:avLst>
              <a:gd name="adj" fmla="val 3766"/>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23"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6350508" y="4119372"/>
            <a:ext cx="310896" cy="310896"/>
          </a:xfrm>
          <a:prstGeom prst="rect">
            <a:avLst/>
          </a:prstGeom>
        </p:spPr>
      </p:pic>
      <p:sp>
        <p:nvSpPr>
          <p:cNvPr id="24" name="Text 16"/>
          <p:cNvSpPr/>
          <p:nvPr/>
        </p:nvSpPr>
        <p:spPr>
          <a:xfrm>
            <a:off x="6752844" y="4082796"/>
            <a:ext cx="4741164" cy="402336"/>
          </a:xfrm>
          <a:prstGeom prst="rect">
            <a:avLst/>
          </a:prstGeom>
          <a:noFill/>
          <a:ln/>
        </p:spPr>
        <p:txBody>
          <a:bodyPr wrap="square" rtlCol="0" anchor="t"/>
          <a:lstStyle/>
          <a:p>
            <a:pPr indent="0" marL="0">
              <a:lnSpc>
                <a:spcPct val="105000"/>
              </a:lnSpc>
              <a:buNone/>
            </a:pPr>
            <a:r>
              <a:rPr lang="en-US" sz="1800" b="1" dirty="0">
                <a:solidFill>
                  <a:srgbClr val="002050"/>
                </a:solidFill>
                <a:latin typeface="Aptos Display" pitchFamily="34" charset="0"/>
                <a:ea typeface="Aptos Display" pitchFamily="34" charset="-122"/>
                <a:cs typeface="Aptos Display" pitchFamily="34" charset="-120"/>
              </a:rPr>
              <a:t>6 · Potential appraisal</a:t>
            </a:r>
            <a:endParaRPr lang="en-US" sz="1800" dirty="0"/>
          </a:p>
        </p:txBody>
      </p:sp>
      <p:sp>
        <p:nvSpPr>
          <p:cNvPr id="25" name="Text 17"/>
          <p:cNvSpPr/>
          <p:nvPr/>
        </p:nvSpPr>
        <p:spPr>
          <a:xfrm>
            <a:off x="6350508" y="4539996"/>
            <a:ext cx="5189220" cy="1563624"/>
          </a:xfrm>
          <a:prstGeom prst="rect">
            <a:avLst/>
          </a:prstGeom>
          <a:noFill/>
          <a:ln/>
        </p:spPr>
        <p:txBody>
          <a:bodyPr wrap="square" rtlCol="0" anchor="t"/>
          <a:lstStyle/>
          <a:p>
            <a:pPr indent="0" marL="0">
              <a:lnSpc>
                <a:spcPct val="110000"/>
              </a:lnSpc>
              <a:buNone/>
            </a:pPr>
            <a:r>
              <a:rPr lang="en-US" sz="1800" dirty="0">
                <a:solidFill>
                  <a:srgbClr val="6B7280"/>
                </a:solidFill>
                <a:latin typeface="Aptos" pitchFamily="34" charset="0"/>
                <a:ea typeface="Aptos" pitchFamily="34" charset="-122"/>
                <a:cs typeface="Aptos" pitchFamily="34" charset="-120"/>
              </a:rPr>
              <a:t>Assesses potential for lateral and vertical movement — inputs for succession planning and job rotation through competency mapping.</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9</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 · CONTINUED</a:t>
            </a:r>
            <a:endParaRPr lang="en-US" sz="1800" dirty="0"/>
          </a:p>
        </p:txBody>
      </p:sp>
      <p:sp>
        <p:nvSpPr>
          <p:cNvPr id="9" name="Text 5"/>
          <p:cNvSpPr/>
          <p:nvPr/>
        </p:nvSpPr>
        <p:spPr>
          <a:xfrm>
            <a:off x="502920" y="530352"/>
            <a:ext cx="9857232" cy="56692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Components of a performance management system</a:t>
            </a:r>
            <a:endParaRPr lang="en-US" sz="2800" dirty="0"/>
          </a:p>
        </p:txBody>
      </p:sp>
      <p:sp>
        <p:nvSpPr>
          <p:cNvPr id="10" name="Shape 6"/>
          <p:cNvSpPr/>
          <p:nvPr/>
        </p:nvSpPr>
        <p:spPr>
          <a:xfrm>
            <a:off x="557784" y="1371600"/>
            <a:ext cx="91440" cy="91440"/>
          </a:xfrm>
          <a:prstGeom prst="ellipse">
            <a:avLst/>
          </a:prstGeom>
          <a:solidFill>
            <a:srgbClr val="0F6CBD"/>
          </a:solidFill>
          <a:ln/>
        </p:spPr>
      </p:sp>
      <p:sp>
        <p:nvSpPr>
          <p:cNvPr id="11" name="Text 7"/>
          <p:cNvSpPr/>
          <p:nvPr/>
        </p:nvSpPr>
        <p:spPr>
          <a:xfrm>
            <a:off x="795528" y="1261872"/>
            <a:ext cx="10799064" cy="97155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A good performance management system improves overall organisational performance by managing the performance of teams and individuals towards the organisation's ambitions and goals. It plays this role by:</a:t>
            </a:r>
            <a:endParaRPr lang="en-US" sz="1800" dirty="0"/>
          </a:p>
        </p:txBody>
      </p:sp>
      <p:sp>
        <p:nvSpPr>
          <p:cNvPr id="12" name="Shape 8"/>
          <p:cNvSpPr/>
          <p:nvPr/>
        </p:nvSpPr>
        <p:spPr>
          <a:xfrm>
            <a:off x="557784" y="2407158"/>
            <a:ext cx="91440" cy="91440"/>
          </a:xfrm>
          <a:prstGeom prst="ellipse">
            <a:avLst/>
          </a:prstGeom>
          <a:solidFill>
            <a:srgbClr val="0F6CBD"/>
          </a:solidFill>
          <a:ln/>
        </p:spPr>
      </p:sp>
      <p:sp>
        <p:nvSpPr>
          <p:cNvPr id="13" name="Text 9"/>
          <p:cNvSpPr/>
          <p:nvPr/>
        </p:nvSpPr>
        <p:spPr>
          <a:xfrm>
            <a:off x="795528" y="2297430"/>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Ensuring employees understand the importance of their contributions to the organisational goals and objectives.</a:t>
            </a:r>
            <a:endParaRPr lang="en-US" sz="1800" dirty="0"/>
          </a:p>
        </p:txBody>
      </p:sp>
      <p:sp>
        <p:nvSpPr>
          <p:cNvPr id="14" name="Shape 10"/>
          <p:cNvSpPr/>
          <p:nvPr/>
        </p:nvSpPr>
        <p:spPr>
          <a:xfrm>
            <a:off x="557784" y="3134106"/>
            <a:ext cx="91440" cy="91440"/>
          </a:xfrm>
          <a:prstGeom prst="ellipse">
            <a:avLst/>
          </a:prstGeom>
          <a:solidFill>
            <a:srgbClr val="0F6CBD"/>
          </a:solidFill>
          <a:ln/>
        </p:spPr>
      </p:sp>
      <p:sp>
        <p:nvSpPr>
          <p:cNvPr id="15" name="Text 11"/>
          <p:cNvSpPr/>
          <p:nvPr/>
        </p:nvSpPr>
        <p:spPr>
          <a:xfrm>
            <a:off x="795528" y="3024378"/>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Ensuring each employee understands what is expected from them — and whether they possess the required skills and support to fulfil those expectations.</a:t>
            </a:r>
            <a:endParaRPr lang="en-US" sz="1800" dirty="0"/>
          </a:p>
        </p:txBody>
      </p:sp>
      <p:sp>
        <p:nvSpPr>
          <p:cNvPr id="16" name="Shape 12"/>
          <p:cNvSpPr/>
          <p:nvPr/>
        </p:nvSpPr>
        <p:spPr>
          <a:xfrm>
            <a:off x="557784" y="3861054"/>
            <a:ext cx="91440" cy="91440"/>
          </a:xfrm>
          <a:prstGeom prst="ellipse">
            <a:avLst/>
          </a:prstGeom>
          <a:solidFill>
            <a:srgbClr val="0F6CBD"/>
          </a:solidFill>
          <a:ln/>
        </p:spPr>
      </p:sp>
      <p:sp>
        <p:nvSpPr>
          <p:cNvPr id="17" name="Text 13"/>
          <p:cNvSpPr/>
          <p:nvPr/>
        </p:nvSpPr>
        <p:spPr>
          <a:xfrm>
            <a:off x="795528" y="3751326"/>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Properly aligning and linking objectives, and facilitating effective communication throughout the organisation.</a:t>
            </a:r>
            <a:endParaRPr lang="en-US" sz="1800" dirty="0"/>
          </a:p>
        </p:txBody>
      </p:sp>
      <p:sp>
        <p:nvSpPr>
          <p:cNvPr id="18" name="Shape 14"/>
          <p:cNvSpPr/>
          <p:nvPr/>
        </p:nvSpPr>
        <p:spPr>
          <a:xfrm>
            <a:off x="557784" y="4588002"/>
            <a:ext cx="91440" cy="91440"/>
          </a:xfrm>
          <a:prstGeom prst="ellipse">
            <a:avLst/>
          </a:prstGeom>
          <a:solidFill>
            <a:srgbClr val="0F6CBD"/>
          </a:solidFill>
          <a:ln/>
        </p:spPr>
      </p:sp>
      <p:sp>
        <p:nvSpPr>
          <p:cNvPr id="19" name="Text 15"/>
          <p:cNvSpPr/>
          <p:nvPr/>
        </p:nvSpPr>
        <p:spPr>
          <a:xfrm>
            <a:off x="795528" y="4478274"/>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Facilitating a cordial, harmonious relationship between the individual employee and the line manager, based on trust and empowerment.</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10</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 · CONTINUED</a:t>
            </a:r>
            <a:endParaRPr lang="en-US" sz="1800" dirty="0"/>
          </a:p>
        </p:txBody>
      </p:sp>
      <p:sp>
        <p:nvSpPr>
          <p:cNvPr id="9" name="Text 5"/>
          <p:cNvSpPr/>
          <p:nvPr/>
        </p:nvSpPr>
        <p:spPr>
          <a:xfrm>
            <a:off x="502920" y="530352"/>
            <a:ext cx="9857232" cy="56692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Components of a performance management system</a:t>
            </a:r>
            <a:endParaRPr lang="en-US" sz="2800" dirty="0"/>
          </a:p>
        </p:txBody>
      </p:sp>
      <p:sp>
        <p:nvSpPr>
          <p:cNvPr id="10" name="Shape 6"/>
          <p:cNvSpPr/>
          <p:nvPr/>
        </p:nvSpPr>
        <p:spPr>
          <a:xfrm>
            <a:off x="557784" y="1371600"/>
            <a:ext cx="91440" cy="91440"/>
          </a:xfrm>
          <a:prstGeom prst="ellipse">
            <a:avLst/>
          </a:prstGeom>
          <a:solidFill>
            <a:srgbClr val="0F6CBD"/>
          </a:solidFill>
          <a:ln/>
        </p:spPr>
      </p:sp>
      <p:sp>
        <p:nvSpPr>
          <p:cNvPr id="11" name="Text 7"/>
          <p:cNvSpPr/>
          <p:nvPr/>
        </p:nvSpPr>
        <p:spPr>
          <a:xfrm>
            <a:off x="795528" y="1261872"/>
            <a:ext cx="10799064" cy="189738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It also lifts job satisfaction and employee loyalty through: regular open and transparent feedback; a clear link between performance and compensation; ample learning and development opportunities (e.g. leadership development programmes); fair and equal distribution of incentives and rewards; clear objectives set through open communication and joint dialogue; recognition of good performance; and maximum opportunities for career growth.</a:t>
            </a:r>
            <a:endParaRPr lang="en-US" sz="1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3278124"/>
          <a:ext cx="11183112" cy="914400"/>
        </p:xfrm>
        <a:graphic>
          <a:graphicData uri="http://schemas.openxmlformats.org/drawingml/2006/table">
            <a:tbl>
              <a:tblPr/>
              <a:tblGrid>
                <a:gridCol w="5591556"/>
                <a:gridCol w="5591556"/>
              </a:tblGrid>
              <a:tr h="475488">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Who benefits</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How</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1707642">
                <a:tc>
                  <a:txBody>
                    <a:bodyPr/>
                    <a:lstStyle/>
                    <a:p>
                      <a:pPr indent="0" marL="0">
                        <a:buNone/>
                      </a:pPr>
                      <a:r>
                        <a:rPr lang="en-US" sz="1800" dirty="0">
                          <a:solidFill>
                            <a:srgbClr val="002050"/>
                          </a:solidFill>
                          <a:latin typeface="Aptos" pitchFamily="34" charset="0"/>
                          <a:ea typeface="Aptos" pitchFamily="34" charset="-122"/>
                          <a:cs typeface="Aptos" pitchFamily="34" charset="-120"/>
                        </a:rPr>
                        <a:t>Organisation</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Improved organisational performance, employee retention and loyalty, improved productivity, overcoming barriers to communication, clear accountabilities, and cost advantages.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11</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 · CONTINUED</a:t>
            </a:r>
            <a:endParaRPr lang="en-US" sz="1800" dirty="0"/>
          </a:p>
        </p:txBody>
      </p:sp>
      <p:sp>
        <p:nvSpPr>
          <p:cNvPr id="9" name="Text 5"/>
          <p:cNvSpPr/>
          <p:nvPr/>
        </p:nvSpPr>
        <p:spPr>
          <a:xfrm>
            <a:off x="502920" y="530352"/>
            <a:ext cx="9857232" cy="56692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Components of a performance management system</a:t>
            </a:r>
            <a:endParaRPr lang="en-US" sz="2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1261872"/>
          <a:ext cx="11183112" cy="914400"/>
        </p:xfrm>
        <a:graphic>
          <a:graphicData uri="http://schemas.openxmlformats.org/drawingml/2006/table">
            <a:tbl>
              <a:tblPr/>
              <a:tblGrid>
                <a:gridCol w="5591556"/>
                <a:gridCol w="5591556"/>
              </a:tblGrid>
              <a:tr h="475488">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Who benefits</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How</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1090422">
                <a:tc>
                  <a:txBody>
                    <a:bodyPr/>
                    <a:lstStyle/>
                    <a:p>
                      <a:pPr indent="0" marL="0">
                        <a:buNone/>
                      </a:pPr>
                      <a:r>
                        <a:rPr lang="en-US" sz="1800" dirty="0">
                          <a:solidFill>
                            <a:srgbClr val="002050"/>
                          </a:solidFill>
                          <a:latin typeface="Aptos" pitchFamily="34" charset="0"/>
                          <a:ea typeface="Aptos" pitchFamily="34" charset="-122"/>
                          <a:cs typeface="Aptos" pitchFamily="34" charset="-120"/>
                        </a:rPr>
                        <a:t>Manager</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Saves time and reduces conflicts; ensures efficiency and consistency in performance.</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1707642">
                <a:tc>
                  <a:txBody>
                    <a:bodyPr/>
                    <a:lstStyle/>
                    <a:p>
                      <a:pPr indent="0" marL="0">
                        <a:buNone/>
                      </a:pPr>
                      <a:r>
                        <a:rPr lang="en-US" sz="1800" dirty="0">
                          <a:solidFill>
                            <a:srgbClr val="002050"/>
                          </a:solidFill>
                          <a:latin typeface="Aptos" pitchFamily="34" charset="0"/>
                          <a:ea typeface="Aptos" pitchFamily="34" charset="-122"/>
                          <a:cs typeface="Aptos" pitchFamily="34" charset="-120"/>
                        </a:rPr>
                        <a:t>Employee</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Clarifies expectations; self-assessment opportunities clarify job accountabilities and contribute to improved performance; clearly defined career paths; promotes job satisfaction.</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12</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a:t>
            </a:r>
            <a:endParaRPr lang="en-US" sz="1800" dirty="0"/>
          </a:p>
        </p:txBody>
      </p:sp>
      <p:sp>
        <p:nvSpPr>
          <p:cNvPr id="9" name="Text 5"/>
          <p:cNvSpPr/>
          <p:nvPr/>
        </p:nvSpPr>
        <p:spPr>
          <a:xfrm>
            <a:off x="502920" y="530352"/>
            <a:ext cx="9857232" cy="92760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Developing performance standards — steps 1 to 3</a:t>
            </a:r>
            <a:endParaRPr lang="en-US" sz="2800" dirty="0"/>
          </a:p>
        </p:txBody>
      </p:sp>
      <p:sp>
        <p:nvSpPr>
          <p:cNvPr id="10" name="Text 6"/>
          <p:cNvSpPr/>
          <p:nvPr/>
        </p:nvSpPr>
        <p:spPr>
          <a:xfrm>
            <a:off x="502920" y="1622552"/>
            <a:ext cx="11183112" cy="128930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There is an eight-step process for developing employee performance standards that support organisational goals. Do not begin at the bottom of the organisation with the position description — begin by looking at your department's goals and objectives.</a:t>
            </a:r>
            <a:endParaRPr lang="en-US" sz="1800" dirty="0"/>
          </a:p>
        </p:txBody>
      </p:sp>
      <p:sp>
        <p:nvSpPr>
          <p:cNvPr id="11" name="Shape 7"/>
          <p:cNvSpPr/>
          <p:nvPr/>
        </p:nvSpPr>
        <p:spPr>
          <a:xfrm>
            <a:off x="502920" y="3021584"/>
            <a:ext cx="5481828" cy="2802636"/>
          </a:xfrm>
          <a:prstGeom prst="roundRect">
            <a:avLst>
              <a:gd name="adj" fmla="val 2936"/>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2"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49224" y="3167888"/>
            <a:ext cx="310896" cy="310896"/>
          </a:xfrm>
          <a:prstGeom prst="rect">
            <a:avLst/>
          </a:prstGeom>
        </p:spPr>
      </p:pic>
      <p:sp>
        <p:nvSpPr>
          <p:cNvPr id="13" name="Text 8"/>
          <p:cNvSpPr/>
          <p:nvPr/>
        </p:nvSpPr>
        <p:spPr>
          <a:xfrm>
            <a:off x="1051560" y="3131312"/>
            <a:ext cx="4741164" cy="621792"/>
          </a:xfrm>
          <a:prstGeom prst="rect">
            <a:avLst/>
          </a:prstGeom>
          <a:noFill/>
          <a:ln/>
        </p:spPr>
        <p:txBody>
          <a:bodyPr wrap="square" rtlCol="0" anchor="t"/>
          <a:lstStyle/>
          <a:p>
            <a:pPr indent="0" marL="0">
              <a:lnSpc>
                <a:spcPct val="105000"/>
              </a:lnSpc>
              <a:buNone/>
            </a:pPr>
            <a:r>
              <a:rPr lang="en-US" sz="1800" b="1" dirty="0">
                <a:solidFill>
                  <a:srgbClr val="002050"/>
                </a:solidFill>
                <a:latin typeface="Aptos Display" pitchFamily="34" charset="0"/>
                <a:ea typeface="Aptos Display" pitchFamily="34" charset="-122"/>
                <a:cs typeface="Aptos Display" pitchFamily="34" charset="-120"/>
              </a:rPr>
              <a:t>Step 1 · Look at the overall picture</a:t>
            </a:r>
            <a:endParaRPr lang="en-US" sz="1800" dirty="0"/>
          </a:p>
        </p:txBody>
      </p:sp>
      <p:sp>
        <p:nvSpPr>
          <p:cNvPr id="14" name="Text 9"/>
          <p:cNvSpPr/>
          <p:nvPr/>
        </p:nvSpPr>
        <p:spPr>
          <a:xfrm>
            <a:off x="649224" y="3807968"/>
            <a:ext cx="5189220" cy="1961388"/>
          </a:xfrm>
          <a:prstGeom prst="rect">
            <a:avLst/>
          </a:prstGeom>
          <a:noFill/>
          <a:ln/>
        </p:spPr>
        <p:txBody>
          <a:bodyPr wrap="square" rtlCol="0" anchor="t"/>
          <a:lstStyle/>
          <a:p>
            <a:pPr indent="0" marL="0">
              <a:lnSpc>
                <a:spcPct val="110000"/>
              </a:lnSpc>
              <a:buNone/>
            </a:pPr>
            <a:r>
              <a:rPr lang="en-US" sz="1800" dirty="0">
                <a:solidFill>
                  <a:srgbClr val="6B7280"/>
                </a:solidFill>
                <a:latin typeface="Aptos" pitchFamily="34" charset="0"/>
                <a:ea typeface="Aptos" pitchFamily="34" charset="-122"/>
                <a:cs typeface="Aptos" pitchFamily="34" charset="-120"/>
              </a:rPr>
              <a:t>Gather information relating to your department's general outcome goals as outlined in its departmental plan — before writing any individual standard.</a:t>
            </a:r>
            <a:endParaRPr lang="en-US" sz="1800" dirty="0"/>
          </a:p>
        </p:txBody>
      </p:sp>
      <p:sp>
        <p:nvSpPr>
          <p:cNvPr id="15" name="Shape 10"/>
          <p:cNvSpPr/>
          <p:nvPr/>
        </p:nvSpPr>
        <p:spPr>
          <a:xfrm>
            <a:off x="6204204" y="3021584"/>
            <a:ext cx="5481828" cy="2802636"/>
          </a:xfrm>
          <a:prstGeom prst="roundRect">
            <a:avLst>
              <a:gd name="adj" fmla="val 2936"/>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6"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350508" y="3167888"/>
            <a:ext cx="310896" cy="310896"/>
          </a:xfrm>
          <a:prstGeom prst="rect">
            <a:avLst/>
          </a:prstGeom>
        </p:spPr>
      </p:pic>
      <p:sp>
        <p:nvSpPr>
          <p:cNvPr id="17" name="Text 11"/>
          <p:cNvSpPr/>
          <p:nvPr/>
        </p:nvSpPr>
        <p:spPr>
          <a:xfrm>
            <a:off x="6752844" y="3131312"/>
            <a:ext cx="4741164" cy="621792"/>
          </a:xfrm>
          <a:prstGeom prst="rect">
            <a:avLst/>
          </a:prstGeom>
          <a:noFill/>
          <a:ln/>
        </p:spPr>
        <p:txBody>
          <a:bodyPr wrap="square" rtlCol="0" anchor="t"/>
          <a:lstStyle/>
          <a:p>
            <a:pPr indent="0" marL="0">
              <a:lnSpc>
                <a:spcPct val="105000"/>
              </a:lnSpc>
              <a:buNone/>
            </a:pPr>
            <a:r>
              <a:rPr lang="en-US" sz="1800" b="1" dirty="0">
                <a:solidFill>
                  <a:srgbClr val="002050"/>
                </a:solidFill>
                <a:latin typeface="Aptos Display" pitchFamily="34" charset="0"/>
                <a:ea typeface="Aptos Display" pitchFamily="34" charset="-122"/>
                <a:cs typeface="Aptos Display" pitchFamily="34" charset="-120"/>
              </a:rPr>
              <a:t>Step 2 · Determine work-unit accomplishments</a:t>
            </a:r>
            <a:endParaRPr lang="en-US" sz="1800" dirty="0"/>
          </a:p>
        </p:txBody>
      </p:sp>
      <p:sp>
        <p:nvSpPr>
          <p:cNvPr id="18" name="Text 12"/>
          <p:cNvSpPr/>
          <p:nvPr/>
        </p:nvSpPr>
        <p:spPr>
          <a:xfrm>
            <a:off x="6350508" y="3807968"/>
            <a:ext cx="5189220" cy="1961388"/>
          </a:xfrm>
          <a:prstGeom prst="rect">
            <a:avLst/>
          </a:prstGeom>
          <a:noFill/>
          <a:ln/>
        </p:spPr>
        <p:txBody>
          <a:bodyPr wrap="square" rtlCol="0" anchor="t"/>
          <a:lstStyle/>
          <a:p>
            <a:pPr indent="0" marL="0">
              <a:lnSpc>
                <a:spcPct val="110000"/>
              </a:lnSpc>
              <a:buNone/>
            </a:pPr>
            <a:r>
              <a:rPr lang="en-US" sz="1800" dirty="0">
                <a:solidFill>
                  <a:srgbClr val="6B7280"/>
                </a:solidFill>
                <a:latin typeface="Aptos" pitchFamily="34" charset="0"/>
                <a:ea typeface="Aptos" pitchFamily="34" charset="-122"/>
                <a:cs typeface="Aptos" pitchFamily="34" charset="-120"/>
              </a:rPr>
              <a:t>Identify the unit's accomplishments — its products or services. Use the goal cascading method to determine unit goals from departmental goals; it works best where clear goals exist in strategic and annual performance plans.</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13</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 · CONTINUED</a:t>
            </a:r>
            <a:endParaRPr lang="en-US" sz="1800" dirty="0"/>
          </a:p>
        </p:txBody>
      </p:sp>
      <p:sp>
        <p:nvSpPr>
          <p:cNvPr id="9" name="Text 5"/>
          <p:cNvSpPr/>
          <p:nvPr/>
        </p:nvSpPr>
        <p:spPr>
          <a:xfrm>
            <a:off x="502920" y="530352"/>
            <a:ext cx="9857232" cy="92760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Developing performance standards — steps 1 to 3</a:t>
            </a:r>
            <a:endParaRPr lang="en-US" sz="2800" dirty="0"/>
          </a:p>
        </p:txBody>
      </p:sp>
      <p:sp>
        <p:nvSpPr>
          <p:cNvPr id="10" name="Shape 6"/>
          <p:cNvSpPr/>
          <p:nvPr/>
        </p:nvSpPr>
        <p:spPr>
          <a:xfrm>
            <a:off x="502920" y="1622552"/>
            <a:ext cx="5481828" cy="2494026"/>
          </a:xfrm>
          <a:prstGeom prst="roundRect">
            <a:avLst>
              <a:gd name="adj" fmla="val 33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1"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49224" y="1768856"/>
            <a:ext cx="310896" cy="310896"/>
          </a:xfrm>
          <a:prstGeom prst="rect">
            <a:avLst/>
          </a:prstGeom>
        </p:spPr>
      </p:pic>
      <p:sp>
        <p:nvSpPr>
          <p:cNvPr id="12" name="Text 7"/>
          <p:cNvSpPr/>
          <p:nvPr/>
        </p:nvSpPr>
        <p:spPr>
          <a:xfrm>
            <a:off x="1051560" y="1732280"/>
            <a:ext cx="4741164" cy="621792"/>
          </a:xfrm>
          <a:prstGeom prst="rect">
            <a:avLst/>
          </a:prstGeom>
          <a:noFill/>
          <a:ln/>
        </p:spPr>
        <p:txBody>
          <a:bodyPr wrap="square" rtlCol="0" anchor="t"/>
          <a:lstStyle/>
          <a:p>
            <a:pPr indent="0" marL="0">
              <a:lnSpc>
                <a:spcPct val="105000"/>
              </a:lnSpc>
              <a:buNone/>
            </a:pPr>
            <a:r>
              <a:rPr lang="en-US" sz="1800" b="1" dirty="0">
                <a:solidFill>
                  <a:srgbClr val="002050"/>
                </a:solidFill>
                <a:latin typeface="Aptos Display" pitchFamily="34" charset="0"/>
                <a:ea typeface="Aptos Display" pitchFamily="34" charset="-122"/>
                <a:cs typeface="Aptos Display" pitchFamily="34" charset="-120"/>
              </a:rPr>
              <a:t>Step 3 · Individual accomplishments</a:t>
            </a:r>
            <a:endParaRPr lang="en-US" sz="1800" dirty="0"/>
          </a:p>
        </p:txBody>
      </p:sp>
      <p:sp>
        <p:nvSpPr>
          <p:cNvPr id="13" name="Text 8"/>
          <p:cNvSpPr/>
          <p:nvPr/>
        </p:nvSpPr>
        <p:spPr>
          <a:xfrm>
            <a:off x="649224" y="2408936"/>
            <a:ext cx="5189220" cy="1652778"/>
          </a:xfrm>
          <a:prstGeom prst="rect">
            <a:avLst/>
          </a:prstGeom>
          <a:noFill/>
          <a:ln/>
        </p:spPr>
        <p:txBody>
          <a:bodyPr wrap="square" rtlCol="0" anchor="t"/>
          <a:lstStyle/>
          <a:p>
            <a:pPr indent="0" marL="0">
              <a:lnSpc>
                <a:spcPct val="110000"/>
              </a:lnSpc>
              <a:buNone/>
            </a:pPr>
            <a:r>
              <a:rPr lang="en-US" sz="1800" dirty="0">
                <a:solidFill>
                  <a:srgbClr val="6B7280"/>
                </a:solidFill>
                <a:latin typeface="Aptos" pitchFamily="34" charset="0"/>
                <a:ea typeface="Aptos" pitchFamily="34" charset="-122"/>
                <a:cs typeface="Aptos" pitchFamily="34" charset="-120"/>
              </a:rPr>
              <a:t>Determine how each individual contributes to the unit's goals using a role-results matrix — a table identifying the results each work-unit member must produce.</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14</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 · CONTINUED</a:t>
            </a:r>
            <a:endParaRPr lang="en-US" sz="1800" dirty="0"/>
          </a:p>
        </p:txBody>
      </p:sp>
      <p:sp>
        <p:nvSpPr>
          <p:cNvPr id="9" name="Text 5"/>
          <p:cNvSpPr/>
          <p:nvPr/>
        </p:nvSpPr>
        <p:spPr>
          <a:xfrm>
            <a:off x="502920" y="530352"/>
            <a:ext cx="9857232" cy="92760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Developing performance standards — steps 1 to 3</a:t>
            </a:r>
            <a:endParaRPr lang="en-US" sz="2800" dirty="0"/>
          </a:p>
        </p:txBody>
      </p:sp>
      <p:sp>
        <p:nvSpPr>
          <p:cNvPr id="10" name="Shape 6"/>
          <p:cNvSpPr/>
          <p:nvPr/>
        </p:nvSpPr>
        <p:spPr>
          <a:xfrm>
            <a:off x="502920" y="1622552"/>
            <a:ext cx="11183112" cy="2400300"/>
          </a:xfrm>
          <a:prstGeom prst="roundRect">
            <a:avLst>
              <a:gd name="adj" fmla="val 3429"/>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1" name="Text 7"/>
          <p:cNvSpPr/>
          <p:nvPr/>
        </p:nvSpPr>
        <p:spPr>
          <a:xfrm>
            <a:off x="731520" y="1732280"/>
            <a:ext cx="10725912" cy="363474"/>
          </a:xfrm>
          <a:prstGeom prst="rect">
            <a:avLst/>
          </a:prstGeom>
          <a:noFill/>
          <a:ln/>
        </p:spPr>
        <p:txBody>
          <a:bodyPr wrap="square" rtlCol="0" anchor="t"/>
          <a:lstStyle/>
          <a:p>
            <a:pPr indent="0" marL="0">
              <a:buNone/>
            </a:pPr>
            <a:r>
              <a:rPr lang="en-US" sz="1800" b="1" dirty="0">
                <a:solidFill>
                  <a:srgbClr val="0F6CBD"/>
                </a:solidFill>
                <a:latin typeface="Aptos Display" pitchFamily="34" charset="0"/>
                <a:ea typeface="Aptos Display" pitchFamily="34" charset="-122"/>
                <a:cs typeface="Aptos Display" pitchFamily="34" charset="-120"/>
              </a:rPr>
              <a:t>Example — Goal cascading — XY Insurance (claims division)</a:t>
            </a:r>
            <a:endParaRPr lang="en-US" sz="1800" dirty="0"/>
          </a:p>
        </p:txBody>
      </p:sp>
      <p:sp>
        <p:nvSpPr>
          <p:cNvPr id="12" name="Shape 8"/>
          <p:cNvSpPr/>
          <p:nvPr/>
        </p:nvSpPr>
        <p:spPr>
          <a:xfrm>
            <a:off x="758952" y="2242058"/>
            <a:ext cx="82296" cy="82296"/>
          </a:xfrm>
          <a:prstGeom prst="ellipse">
            <a:avLst/>
          </a:prstGeom>
          <a:solidFill>
            <a:srgbClr val="0F6CBD"/>
          </a:solidFill>
          <a:ln/>
        </p:spPr>
      </p:sp>
      <p:sp>
        <p:nvSpPr>
          <p:cNvPr id="13" name="Text 9"/>
          <p:cNvSpPr/>
          <p:nvPr/>
        </p:nvSpPr>
        <p:spPr>
          <a:xfrm>
            <a:off x="960120" y="2132330"/>
            <a:ext cx="10405872" cy="345186"/>
          </a:xfrm>
          <a:prstGeom prst="rect">
            <a:avLst/>
          </a:prstGeom>
          <a:noFill/>
          <a:ln/>
        </p:spPr>
        <p:txBody>
          <a:bodyPr wrap="square" rtlCol="0" anchor="t"/>
          <a:lstStyle/>
          <a:p>
            <a:pPr indent="0" marL="0">
              <a:lnSpc>
                <a:spcPct val="110000"/>
              </a:lnSpc>
              <a:buNone/>
            </a:pPr>
            <a:r>
              <a:rPr lang="en-US" sz="1800" dirty="0">
                <a:solidFill>
                  <a:srgbClr val="002050"/>
                </a:solidFill>
                <a:latin typeface="Aptos" pitchFamily="34" charset="0"/>
                <a:ea typeface="Aptos" pitchFamily="34" charset="-122"/>
                <a:cs typeface="Aptos" pitchFamily="34" charset="-120"/>
              </a:rPr>
              <a:t>Departmental goal: to enhance customer service standards.</a:t>
            </a:r>
            <a:endParaRPr lang="en-US" sz="1800" dirty="0"/>
          </a:p>
        </p:txBody>
      </p:sp>
      <p:sp>
        <p:nvSpPr>
          <p:cNvPr id="14" name="Shape 10"/>
          <p:cNvSpPr/>
          <p:nvPr/>
        </p:nvSpPr>
        <p:spPr>
          <a:xfrm>
            <a:off x="758952" y="2587244"/>
            <a:ext cx="82296" cy="82296"/>
          </a:xfrm>
          <a:prstGeom prst="ellipse">
            <a:avLst/>
          </a:prstGeom>
          <a:solidFill>
            <a:srgbClr val="0F6CBD"/>
          </a:solidFill>
          <a:ln/>
        </p:spPr>
      </p:sp>
      <p:sp>
        <p:nvSpPr>
          <p:cNvPr id="15" name="Text 11"/>
          <p:cNvSpPr/>
          <p:nvPr/>
        </p:nvSpPr>
        <p:spPr>
          <a:xfrm>
            <a:off x="960120" y="2477516"/>
            <a:ext cx="10405872" cy="653796"/>
          </a:xfrm>
          <a:prstGeom prst="rect">
            <a:avLst/>
          </a:prstGeom>
          <a:noFill/>
          <a:ln/>
        </p:spPr>
        <p:txBody>
          <a:bodyPr wrap="square" rtlCol="0" anchor="t"/>
          <a:lstStyle/>
          <a:p>
            <a:pPr indent="0" marL="0">
              <a:lnSpc>
                <a:spcPct val="110000"/>
              </a:lnSpc>
              <a:buNone/>
            </a:pPr>
            <a:r>
              <a:rPr lang="en-US" sz="1800" dirty="0">
                <a:solidFill>
                  <a:srgbClr val="002050"/>
                </a:solidFill>
                <a:latin typeface="Aptos" pitchFamily="34" charset="0"/>
                <a:ea typeface="Aptos" pitchFamily="34" charset="-122"/>
                <a:cs typeface="Aptos" pitchFamily="34" charset="-120"/>
              </a:rPr>
              <a:t>Team objective 1: reduce claim processing time to 2 days by end of 30 September.</a:t>
            </a:r>
            <a:endParaRPr lang="en-US" sz="1800" dirty="0"/>
          </a:p>
        </p:txBody>
      </p:sp>
      <p:sp>
        <p:nvSpPr>
          <p:cNvPr id="16" name="Shape 12"/>
          <p:cNvSpPr/>
          <p:nvPr/>
        </p:nvSpPr>
        <p:spPr>
          <a:xfrm>
            <a:off x="758952" y="3241040"/>
            <a:ext cx="82296" cy="82296"/>
          </a:xfrm>
          <a:prstGeom prst="ellipse">
            <a:avLst/>
          </a:prstGeom>
          <a:solidFill>
            <a:srgbClr val="0F6CBD"/>
          </a:solidFill>
          <a:ln/>
        </p:spPr>
      </p:sp>
      <p:sp>
        <p:nvSpPr>
          <p:cNvPr id="17" name="Text 13"/>
          <p:cNvSpPr/>
          <p:nvPr/>
        </p:nvSpPr>
        <p:spPr>
          <a:xfrm>
            <a:off x="960120" y="3131312"/>
            <a:ext cx="10405872" cy="345186"/>
          </a:xfrm>
          <a:prstGeom prst="rect">
            <a:avLst/>
          </a:prstGeom>
          <a:noFill/>
          <a:ln/>
        </p:spPr>
        <p:txBody>
          <a:bodyPr wrap="square" rtlCol="0" anchor="t"/>
          <a:lstStyle/>
          <a:p>
            <a:pPr indent="0" marL="0">
              <a:lnSpc>
                <a:spcPct val="110000"/>
              </a:lnSpc>
              <a:buNone/>
            </a:pPr>
            <a:r>
              <a:rPr lang="en-US" sz="1800" dirty="0">
                <a:solidFill>
                  <a:srgbClr val="002050"/>
                </a:solidFill>
                <a:latin typeface="Aptos" pitchFamily="34" charset="0"/>
                <a:ea typeface="Aptos" pitchFamily="34" charset="-122"/>
                <a:cs typeface="Aptos" pitchFamily="34" charset="-120"/>
              </a:rPr>
              <a:t>Team objective 2: reduce claims errors by 10% by 30 June.</a:t>
            </a:r>
            <a:endParaRPr lang="en-US" sz="1800" dirty="0"/>
          </a:p>
        </p:txBody>
      </p:sp>
      <p:sp>
        <p:nvSpPr>
          <p:cNvPr id="18" name="Shape 14"/>
          <p:cNvSpPr/>
          <p:nvPr/>
        </p:nvSpPr>
        <p:spPr>
          <a:xfrm>
            <a:off x="758952" y="3586226"/>
            <a:ext cx="82296" cy="82296"/>
          </a:xfrm>
          <a:prstGeom prst="ellipse">
            <a:avLst/>
          </a:prstGeom>
          <a:solidFill>
            <a:srgbClr val="0F6CBD"/>
          </a:solidFill>
          <a:ln/>
        </p:spPr>
      </p:sp>
      <p:sp>
        <p:nvSpPr>
          <p:cNvPr id="19" name="Text 15"/>
          <p:cNvSpPr/>
          <p:nvPr/>
        </p:nvSpPr>
        <p:spPr>
          <a:xfrm>
            <a:off x="960120" y="3476498"/>
            <a:ext cx="10405872" cy="345186"/>
          </a:xfrm>
          <a:prstGeom prst="rect">
            <a:avLst/>
          </a:prstGeom>
          <a:noFill/>
          <a:ln/>
        </p:spPr>
        <p:txBody>
          <a:bodyPr wrap="square" rtlCol="0" anchor="t"/>
          <a:lstStyle/>
          <a:p>
            <a:pPr indent="0" marL="0">
              <a:lnSpc>
                <a:spcPct val="110000"/>
              </a:lnSpc>
              <a:buNone/>
            </a:pPr>
            <a:r>
              <a:rPr lang="en-US" sz="1800" dirty="0">
                <a:solidFill>
                  <a:srgbClr val="002050"/>
                </a:solidFill>
                <a:latin typeface="Aptos" pitchFamily="34" charset="0"/>
                <a:ea typeface="Aptos" pitchFamily="34" charset="-122"/>
                <a:cs typeface="Aptos" pitchFamily="34" charset="-120"/>
              </a:rPr>
              <a:t>Team objective 3: handle and solve customer complaints within 24 hours.</a:t>
            </a:r>
            <a:endParaRPr lang="en-US" sz="1800" dirty="0"/>
          </a:p>
        </p:txBody>
      </p:sp>
      <p:sp>
        <p:nvSpPr>
          <p:cNvPr id="20" name="Shape 16"/>
          <p:cNvSpPr/>
          <p:nvPr/>
        </p:nvSpPr>
        <p:spPr>
          <a:xfrm>
            <a:off x="557784" y="4315460"/>
            <a:ext cx="91440" cy="91440"/>
          </a:xfrm>
          <a:prstGeom prst="ellipse">
            <a:avLst/>
          </a:prstGeom>
          <a:solidFill>
            <a:srgbClr val="0F6CBD"/>
          </a:solidFill>
          <a:ln/>
        </p:spPr>
      </p:sp>
      <p:sp>
        <p:nvSpPr>
          <p:cNvPr id="21" name="Text 17"/>
          <p:cNvSpPr/>
          <p:nvPr/>
        </p:nvSpPr>
        <p:spPr>
          <a:xfrm>
            <a:off x="795528" y="4205732"/>
            <a:ext cx="10799064" cy="128016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Apart from unit objectives, the supervisor must determine the products and services the unit produces (knowing the customer quality standards for them) and the process the unit follows — presented on a flow chart that maps each successive step to the final product or service.</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15</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 · CONTINUED</a:t>
            </a:r>
            <a:endParaRPr lang="en-US" sz="1800" dirty="0"/>
          </a:p>
        </p:txBody>
      </p:sp>
      <p:sp>
        <p:nvSpPr>
          <p:cNvPr id="9" name="Text 5"/>
          <p:cNvSpPr/>
          <p:nvPr/>
        </p:nvSpPr>
        <p:spPr>
          <a:xfrm>
            <a:off x="502920" y="530352"/>
            <a:ext cx="9857232" cy="92760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Developing performance standards — steps 1 to 3</a:t>
            </a:r>
            <a:endParaRPr lang="en-US" sz="2800" dirty="0"/>
          </a:p>
        </p:txBody>
      </p:sp>
      <p:sp>
        <p:nvSpPr>
          <p:cNvPr id="10" name="Shape 6"/>
          <p:cNvSpPr/>
          <p:nvPr/>
        </p:nvSpPr>
        <p:spPr>
          <a:xfrm>
            <a:off x="557784" y="1732280"/>
            <a:ext cx="91440" cy="91440"/>
          </a:xfrm>
          <a:prstGeom prst="ellipse">
            <a:avLst/>
          </a:prstGeom>
          <a:solidFill>
            <a:srgbClr val="0F6CBD"/>
          </a:solidFill>
          <a:ln/>
        </p:spPr>
      </p:sp>
      <p:sp>
        <p:nvSpPr>
          <p:cNvPr id="11" name="Text 7"/>
          <p:cNvSpPr/>
          <p:nvPr/>
        </p:nvSpPr>
        <p:spPr>
          <a:xfrm>
            <a:off x="795528" y="1622552"/>
            <a:ext cx="10799064" cy="158877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Building the role-results matrix: (1) list the unit's products or services across the top row; (2) list each member or job position down the left column; (3) for each cell ask — what must this member produce or perform to support this product or service?; (4) list those accomplishments in the cell — they are candidate performance elements for the employee's plan.</a:t>
            </a:r>
            <a:endParaRPr lang="en-US" sz="1800" dirty="0"/>
          </a:p>
        </p:txBody>
      </p:sp>
      <p:sp>
        <p:nvSpPr>
          <p:cNvPr id="12" name="Shape 8"/>
          <p:cNvSpPr/>
          <p:nvPr/>
        </p:nvSpPr>
        <p:spPr>
          <a:xfrm>
            <a:off x="557784" y="3385058"/>
            <a:ext cx="91440" cy="91440"/>
          </a:xfrm>
          <a:prstGeom prst="ellipse">
            <a:avLst/>
          </a:prstGeom>
          <a:solidFill>
            <a:srgbClr val="0F6CBD"/>
          </a:solidFill>
          <a:ln/>
        </p:spPr>
      </p:sp>
      <p:sp>
        <p:nvSpPr>
          <p:cNvPr id="13" name="Text 9"/>
          <p:cNvSpPr/>
          <p:nvPr/>
        </p:nvSpPr>
        <p:spPr>
          <a:xfrm>
            <a:off x="795528" y="3275330"/>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All performance elements should be quantifiable or verifiable, and described as accomplishments (nouns), not activities (verbs).</a:t>
            </a:r>
            <a:endParaRPr lang="en-US" sz="1800" dirty="0"/>
          </a:p>
        </p:txBody>
      </p:sp>
      <p:sp>
        <p:nvSpPr>
          <p:cNvPr id="14" name="Shape 10"/>
          <p:cNvSpPr/>
          <p:nvPr/>
        </p:nvSpPr>
        <p:spPr>
          <a:xfrm>
            <a:off x="557784" y="4112006"/>
            <a:ext cx="91440" cy="91440"/>
          </a:xfrm>
          <a:prstGeom prst="ellipse">
            <a:avLst/>
          </a:prstGeom>
          <a:solidFill>
            <a:srgbClr val="0F6CBD"/>
          </a:solidFill>
          <a:ln/>
        </p:spPr>
      </p:sp>
      <p:sp>
        <p:nvSpPr>
          <p:cNvPr id="15" name="Text 11"/>
          <p:cNvSpPr/>
          <p:nvPr/>
        </p:nvSpPr>
        <p:spPr>
          <a:xfrm>
            <a:off x="795528" y="4002278"/>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The supervisor must check the job description of each team member while developing the role matrix.</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16</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a:t>
            </a:r>
            <a:endParaRPr lang="en-US" sz="1800" dirty="0"/>
          </a:p>
        </p:txBody>
      </p:sp>
      <p:sp>
        <p:nvSpPr>
          <p:cNvPr id="9" name="Text 5"/>
          <p:cNvSpPr/>
          <p:nvPr/>
        </p:nvSpPr>
        <p:spPr>
          <a:xfrm>
            <a:off x="502920" y="530352"/>
            <a:ext cx="9857232" cy="92760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Step 4 — elements, weights and the critical test</a:t>
            </a:r>
            <a:endParaRPr lang="en-US" sz="2800" dirty="0"/>
          </a:p>
        </p:txBody>
      </p:sp>
      <p:sp>
        <p:nvSpPr>
          <p:cNvPr id="10" name="Text 6"/>
          <p:cNvSpPr/>
          <p:nvPr/>
        </p:nvSpPr>
        <p:spPr>
          <a:xfrm>
            <a:off x="502920" y="1622552"/>
            <a:ext cx="11183112" cy="128930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In step 4 you identify which accomplishments become elements in the performance plan, select the type of each element, and assign weights or priorities. All employees must have at least one critical element in their plan, and critical elements must address individual performance only.</a:t>
            </a:r>
            <a:endParaRPr lang="en-US" sz="1800" dirty="0"/>
          </a:p>
        </p:txBody>
      </p:sp>
      <p:sp>
        <p:nvSpPr>
          <p:cNvPr id="11" name="Text 7"/>
          <p:cNvSpPr/>
          <p:nvPr/>
        </p:nvSpPr>
        <p:spPr>
          <a:xfrm>
            <a:off x="502920" y="2985008"/>
            <a:ext cx="11183112" cy="128930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Once elements are classified as critical, non-critical or additional, prioritise them so work units and employees know which matter most — one way is to distribute 100 percentage points across the elements based on each one's importance to the organisation.</a:t>
            </a:r>
            <a:endParaRPr lang="en-US" sz="1800" dirty="0"/>
          </a:p>
        </p:txBody>
      </p:sp>
      <p:sp>
        <p:nvSpPr>
          <p:cNvPr id="12" name="Shape 8"/>
          <p:cNvSpPr/>
          <p:nvPr/>
        </p:nvSpPr>
        <p:spPr>
          <a:xfrm>
            <a:off x="557784" y="4493768"/>
            <a:ext cx="91440" cy="91440"/>
          </a:xfrm>
          <a:prstGeom prst="ellipse">
            <a:avLst/>
          </a:prstGeom>
          <a:solidFill>
            <a:srgbClr val="0F6CBD"/>
          </a:solidFill>
          <a:ln/>
        </p:spPr>
      </p:sp>
      <p:sp>
        <p:nvSpPr>
          <p:cNvPr id="13" name="Text 9"/>
          <p:cNvSpPr/>
          <p:nvPr/>
        </p:nvSpPr>
        <p:spPr>
          <a:xfrm>
            <a:off x="795528" y="4384040"/>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The critical test — is the element a major component of the work? If yes, it might be critical.</a:t>
            </a:r>
            <a:endParaRPr lang="en-US" sz="1800" dirty="0"/>
          </a:p>
        </p:txBody>
      </p:sp>
      <p:sp>
        <p:nvSpPr>
          <p:cNvPr id="14" name="Shape 10"/>
          <p:cNvSpPr/>
          <p:nvPr/>
        </p:nvSpPr>
        <p:spPr>
          <a:xfrm>
            <a:off x="557784" y="5220716"/>
            <a:ext cx="91440" cy="91440"/>
          </a:xfrm>
          <a:prstGeom prst="ellipse">
            <a:avLst/>
          </a:prstGeom>
          <a:solidFill>
            <a:srgbClr val="0F6CBD"/>
          </a:solidFill>
          <a:ln/>
        </p:spPr>
      </p:sp>
      <p:sp>
        <p:nvSpPr>
          <p:cNvPr id="15" name="Text 11"/>
          <p:cNvSpPr/>
          <p:nvPr/>
        </p:nvSpPr>
        <p:spPr>
          <a:xfrm>
            <a:off x="795528" y="5110988"/>
            <a:ext cx="10799064" cy="97155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Does the element address individual performance only? Elements measuring group performance cannot be critical (except for supervisors under certain circumstances).</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17</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 · CONTINUED</a:t>
            </a:r>
            <a:endParaRPr lang="en-US" sz="1800" dirty="0"/>
          </a:p>
        </p:txBody>
      </p:sp>
      <p:sp>
        <p:nvSpPr>
          <p:cNvPr id="9" name="Text 5"/>
          <p:cNvSpPr/>
          <p:nvPr/>
        </p:nvSpPr>
        <p:spPr>
          <a:xfrm>
            <a:off x="502920" y="530352"/>
            <a:ext cx="9857232" cy="92760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Step 4 — elements, weights and the critical test</a:t>
            </a:r>
            <a:endParaRPr lang="en-US" sz="2800" dirty="0"/>
          </a:p>
        </p:txBody>
      </p:sp>
      <p:sp>
        <p:nvSpPr>
          <p:cNvPr id="10" name="Shape 6"/>
          <p:cNvSpPr/>
          <p:nvPr/>
        </p:nvSpPr>
        <p:spPr>
          <a:xfrm>
            <a:off x="557784" y="1732280"/>
            <a:ext cx="91440" cy="91440"/>
          </a:xfrm>
          <a:prstGeom prst="ellipse">
            <a:avLst/>
          </a:prstGeom>
          <a:solidFill>
            <a:srgbClr val="0F6CBD"/>
          </a:solidFill>
          <a:ln/>
        </p:spPr>
      </p:sp>
      <p:sp>
        <p:nvSpPr>
          <p:cNvPr id="11" name="Text 7"/>
          <p:cNvSpPr/>
          <p:nvPr/>
        </p:nvSpPr>
        <p:spPr>
          <a:xfrm>
            <a:off x="795528" y="1622552"/>
            <a:ext cx="10799064" cy="97155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If the employee performed unacceptably on the element, would there be serious consequences for completing the organisation's work? If errors affect the unit's accomplishments, it may be critical.</a:t>
            </a:r>
            <a:endParaRPr lang="en-US" sz="1800" dirty="0"/>
          </a:p>
        </p:txBody>
      </p:sp>
      <p:sp>
        <p:nvSpPr>
          <p:cNvPr id="12" name="Shape 8"/>
          <p:cNvSpPr/>
          <p:nvPr/>
        </p:nvSpPr>
        <p:spPr>
          <a:xfrm>
            <a:off x="557784" y="2767838"/>
            <a:ext cx="91440" cy="91440"/>
          </a:xfrm>
          <a:prstGeom prst="ellipse">
            <a:avLst/>
          </a:prstGeom>
          <a:solidFill>
            <a:srgbClr val="0F6CBD"/>
          </a:solidFill>
          <a:ln/>
        </p:spPr>
      </p:sp>
      <p:sp>
        <p:nvSpPr>
          <p:cNvPr id="13" name="Text 9"/>
          <p:cNvSpPr/>
          <p:nvPr/>
        </p:nvSpPr>
        <p:spPr>
          <a:xfrm>
            <a:off x="795528" y="2658110"/>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Does the element require a significant amount of the employee's time? If yes, it might be critical.</a:t>
            </a:r>
            <a:endParaRPr lang="en-US" sz="1800" dirty="0"/>
          </a:p>
        </p:txBody>
      </p:sp>
      <p:sp>
        <p:nvSpPr>
          <p:cNvPr id="14" name="Shape 10"/>
          <p:cNvSpPr/>
          <p:nvPr/>
        </p:nvSpPr>
        <p:spPr>
          <a:xfrm>
            <a:off x="557784" y="3494786"/>
            <a:ext cx="91440" cy="91440"/>
          </a:xfrm>
          <a:prstGeom prst="ellipse">
            <a:avLst/>
          </a:prstGeom>
          <a:solidFill>
            <a:srgbClr val="0F6CBD"/>
          </a:solidFill>
          <a:ln/>
        </p:spPr>
      </p:sp>
      <p:sp>
        <p:nvSpPr>
          <p:cNvPr id="15" name="Text 11"/>
          <p:cNvSpPr/>
          <p:nvPr/>
        </p:nvSpPr>
        <p:spPr>
          <a:xfrm>
            <a:off x="795528" y="3385058"/>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The supervisor must verify assignments against the job descriptions, or ask for team or individual input.</a:t>
            </a:r>
            <a:endParaRPr lang="en-US" sz="1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02920" y="4166870"/>
          <a:ext cx="11183112" cy="914400"/>
        </p:xfrm>
        <a:graphic>
          <a:graphicData uri="http://schemas.openxmlformats.org/drawingml/2006/table">
            <a:tbl>
              <a:tblPr/>
              <a:tblGrid>
                <a:gridCol w="3727704"/>
                <a:gridCol w="3727704"/>
                <a:gridCol w="3727704"/>
              </a:tblGrid>
              <a:tr h="781812">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Employee assignment or responsibility</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Type of element</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Priority points</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781812">
                <a:tc>
                  <a:txBody>
                    <a:bodyPr/>
                    <a:lstStyle/>
                    <a:p>
                      <a:pPr indent="0" marL="0">
                        <a:buNone/>
                      </a:pPr>
                      <a:r>
                        <a:rPr lang="en-US" sz="1800" dirty="0">
                          <a:solidFill>
                            <a:srgbClr val="002050"/>
                          </a:solidFill>
                          <a:latin typeface="Aptos" pitchFamily="34" charset="0"/>
                          <a:ea typeface="Aptos" pitchFamily="34" charset="-122"/>
                          <a:cs typeface="Aptos" pitchFamily="34" charset="-120"/>
                        </a:rPr>
                        <a:t>Receive, direct and relay telephone and fax messages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Critical (CE)</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40</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18</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 · CONTINUED</a:t>
            </a:r>
            <a:endParaRPr lang="en-US" sz="1800" dirty="0"/>
          </a:p>
        </p:txBody>
      </p:sp>
      <p:sp>
        <p:nvSpPr>
          <p:cNvPr id="9" name="Text 5"/>
          <p:cNvSpPr/>
          <p:nvPr/>
        </p:nvSpPr>
        <p:spPr>
          <a:xfrm>
            <a:off x="502920" y="530352"/>
            <a:ext cx="9857232" cy="92760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Step 4 — elements, weights and the critical test</a:t>
            </a:r>
            <a:endParaRPr lang="en-US" sz="2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1622552"/>
          <a:ext cx="11183112" cy="914400"/>
        </p:xfrm>
        <a:graphic>
          <a:graphicData uri="http://schemas.openxmlformats.org/drawingml/2006/table">
            <a:tbl>
              <a:tblPr/>
              <a:tblGrid>
                <a:gridCol w="3727704"/>
                <a:gridCol w="3727704"/>
                <a:gridCol w="3727704"/>
              </a:tblGrid>
              <a:tr h="781812">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Employee assignment or responsibility</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Type of element</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Priority points</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781812">
                <a:tc>
                  <a:txBody>
                    <a:bodyPr/>
                    <a:lstStyle/>
                    <a:p>
                      <a:pPr indent="0" marL="0">
                        <a:buNone/>
                      </a:pPr>
                      <a:r>
                        <a:rPr lang="en-US" sz="1800" dirty="0">
                          <a:solidFill>
                            <a:srgbClr val="002050"/>
                          </a:solidFill>
                          <a:latin typeface="Aptos" pitchFamily="34" charset="0"/>
                          <a:ea typeface="Aptos" pitchFamily="34" charset="-122"/>
                          <a:cs typeface="Aptos" pitchFamily="34" charset="-120"/>
                        </a:rPr>
                        <a:t>Pick up and deliver the mail</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Critical (CE)</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40</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1090422">
                <a:tc>
                  <a:txBody>
                    <a:bodyPr/>
                    <a:lstStyle/>
                    <a:p>
                      <a:pPr indent="0" marL="0">
                        <a:buNone/>
                      </a:pPr>
                      <a:r>
                        <a:rPr lang="en-US" sz="1800" dirty="0">
                          <a:solidFill>
                            <a:srgbClr val="002050"/>
                          </a:solidFill>
                          <a:latin typeface="Aptos" pitchFamily="34" charset="0"/>
                          <a:ea typeface="Aptos" pitchFamily="34" charset="-122"/>
                          <a:cs typeface="Aptos" pitchFamily="34" charset="-120"/>
                        </a:rPr>
                        <a:t>Maintain the general filing system and file all correspondence</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Additional (AE)</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10</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1090422">
                <a:tc>
                  <a:txBody>
                    <a:bodyPr/>
                    <a:lstStyle/>
                    <a:p>
                      <a:pPr indent="0" marL="0">
                        <a:buNone/>
                      </a:pPr>
                      <a:r>
                        <a:rPr lang="en-US" sz="1800" dirty="0">
                          <a:solidFill>
                            <a:srgbClr val="002050"/>
                          </a:solidFill>
                          <a:latin typeface="Aptos" pitchFamily="34" charset="0"/>
                          <a:ea typeface="Aptos" pitchFamily="34" charset="-122"/>
                          <a:cs typeface="Aptos" pitchFamily="34" charset="-120"/>
                        </a:rPr>
                        <a:t>Maintain an adequate inventory of office supplies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Additional (AE)</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5</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19</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 · CONTINUED</a:t>
            </a:r>
            <a:endParaRPr lang="en-US" sz="1800" dirty="0"/>
          </a:p>
        </p:txBody>
      </p:sp>
      <p:sp>
        <p:nvSpPr>
          <p:cNvPr id="9" name="Text 5"/>
          <p:cNvSpPr/>
          <p:nvPr/>
        </p:nvSpPr>
        <p:spPr>
          <a:xfrm>
            <a:off x="502920" y="530352"/>
            <a:ext cx="9857232" cy="92760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Step 4 — elements, weights and the critical test</a:t>
            </a:r>
            <a:endParaRPr lang="en-US" sz="28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02920" y="1622552"/>
          <a:ext cx="11183112" cy="914400"/>
        </p:xfrm>
        <a:graphic>
          <a:graphicData uri="http://schemas.openxmlformats.org/drawingml/2006/table">
            <a:tbl>
              <a:tblPr/>
              <a:tblGrid>
                <a:gridCol w="3727704"/>
                <a:gridCol w="3727704"/>
                <a:gridCol w="3727704"/>
              </a:tblGrid>
              <a:tr h="781812">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Employee assignment or responsibility</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Type of element</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Priority points</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1090422">
                <a:tc>
                  <a:txBody>
                    <a:bodyPr/>
                    <a:lstStyle/>
                    <a:p>
                      <a:pPr indent="0" marL="0">
                        <a:buNone/>
                      </a:pPr>
                      <a:r>
                        <a:rPr lang="en-US" sz="1800" dirty="0">
                          <a:solidFill>
                            <a:srgbClr val="002050"/>
                          </a:solidFill>
                          <a:latin typeface="Aptos" pitchFamily="34" charset="0"/>
                          <a:ea typeface="Aptos" pitchFamily="34" charset="-122"/>
                          <a:cs typeface="Aptos" pitchFamily="34" charset="-120"/>
                        </a:rPr>
                        <a:t>Coordinate the repair and maintenance of office equipment</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Additional (AE)</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5</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475488">
                <a:tc>
                  <a:txBody>
                    <a:bodyPr/>
                    <a:lstStyle/>
                    <a:p>
                      <a:pPr indent="0" marL="0">
                        <a:buNone/>
                      </a:pPr>
                      <a:r>
                        <a:rPr lang="en-US" sz="1800" dirty="0">
                          <a:solidFill>
                            <a:srgbClr val="002050"/>
                          </a:solidFill>
                          <a:latin typeface="Aptos" pitchFamily="34" charset="0"/>
                          <a:ea typeface="Aptos" pitchFamily="34" charset="-122"/>
                          <a:cs typeface="Aptos" pitchFamily="34" charset="-120"/>
                        </a:rPr>
                        <a:t>Total</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100</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20</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a:t>
            </a:r>
            <a:endParaRPr lang="en-US" sz="1800" dirty="0"/>
          </a:p>
        </p:txBody>
      </p:sp>
      <p:sp>
        <p:nvSpPr>
          <p:cNvPr id="9" name="Text 5"/>
          <p:cNvSpPr/>
          <p:nvPr/>
        </p:nvSpPr>
        <p:spPr>
          <a:xfrm>
            <a:off x="502920" y="530352"/>
            <a:ext cx="9857232" cy="92760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Step 5 — determine work-unit and individual measures</a:t>
            </a:r>
            <a:endParaRPr lang="en-US" sz="2800" dirty="0"/>
          </a:p>
        </p:txBody>
      </p:sp>
      <p:sp>
        <p:nvSpPr>
          <p:cNvPr id="10" name="Text 6"/>
          <p:cNvSpPr/>
          <p:nvPr/>
        </p:nvSpPr>
        <p:spPr>
          <a:xfrm>
            <a:off x="502920" y="1622552"/>
            <a:ext cx="11183112" cy="98069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Measures are the yardsticks used to determine how well work units and employees produced or provided products or services. First determine the general measure(s) that apply to each element, then determine how to measure it specifically.</a:t>
            </a:r>
            <a:endParaRPr lang="en-US" sz="1800" dirty="0"/>
          </a:p>
        </p:txBody>
      </p:sp>
      <p:sp>
        <p:nvSpPr>
          <p:cNvPr id="11" name="Text 7"/>
          <p:cNvSpPr/>
          <p:nvPr/>
        </p:nvSpPr>
        <p:spPr>
          <a:xfrm>
            <a:off x="502920" y="2676398"/>
            <a:ext cx="11183112" cy="98069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If you can measure an accomplishment with numbers, record the form of measurement. If you can only describe performance (observe and verify), clarify who will appraise the performance and the factors they will appraise.</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21</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 · CONTINUED</a:t>
            </a:r>
            <a:endParaRPr lang="en-US" sz="1800" dirty="0"/>
          </a:p>
        </p:txBody>
      </p:sp>
      <p:sp>
        <p:nvSpPr>
          <p:cNvPr id="9" name="Text 5"/>
          <p:cNvSpPr/>
          <p:nvPr/>
        </p:nvSpPr>
        <p:spPr>
          <a:xfrm>
            <a:off x="502920" y="530352"/>
            <a:ext cx="9857232" cy="92760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Step 5 — determine work-unit and individual measures</a:t>
            </a:r>
            <a:endParaRPr lang="en-US" sz="2800" dirty="0"/>
          </a:p>
        </p:txBody>
      </p:sp>
      <p:sp>
        <p:nvSpPr>
          <p:cNvPr id="10" name="Shape 6"/>
          <p:cNvSpPr/>
          <p:nvPr/>
        </p:nvSpPr>
        <p:spPr>
          <a:xfrm>
            <a:off x="502920" y="1622552"/>
            <a:ext cx="5481828" cy="2891790"/>
          </a:xfrm>
          <a:prstGeom prst="roundRect">
            <a:avLst>
              <a:gd name="adj" fmla="val 2846"/>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1"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49224" y="1768856"/>
            <a:ext cx="310896" cy="310896"/>
          </a:xfrm>
          <a:prstGeom prst="rect">
            <a:avLst/>
          </a:prstGeom>
        </p:spPr>
      </p:pic>
      <p:sp>
        <p:nvSpPr>
          <p:cNvPr id="12" name="Text 7"/>
          <p:cNvSpPr/>
          <p:nvPr/>
        </p:nvSpPr>
        <p:spPr>
          <a:xfrm>
            <a:off x="1051560" y="1732280"/>
            <a:ext cx="4741164" cy="402336"/>
          </a:xfrm>
          <a:prstGeom prst="rect">
            <a:avLst/>
          </a:prstGeom>
          <a:noFill/>
          <a:ln/>
        </p:spPr>
        <p:txBody>
          <a:bodyPr wrap="square" rtlCol="0" anchor="t"/>
          <a:lstStyle/>
          <a:p>
            <a:pPr indent="0" marL="0">
              <a:lnSpc>
                <a:spcPct val="105000"/>
              </a:lnSpc>
              <a:buNone/>
            </a:pPr>
            <a:r>
              <a:rPr lang="en-US" sz="1800" b="1" dirty="0">
                <a:solidFill>
                  <a:srgbClr val="002050"/>
                </a:solidFill>
                <a:latin typeface="Aptos Display" pitchFamily="34" charset="0"/>
                <a:ea typeface="Aptos Display" pitchFamily="34" charset="-122"/>
                <a:cs typeface="Aptos Display" pitchFamily="34" charset="-120"/>
              </a:rPr>
              <a:t>Quality</a:t>
            </a:r>
            <a:endParaRPr lang="en-US" sz="1800" dirty="0"/>
          </a:p>
        </p:txBody>
      </p:sp>
      <p:sp>
        <p:nvSpPr>
          <p:cNvPr id="13" name="Text 8"/>
          <p:cNvSpPr/>
          <p:nvPr/>
        </p:nvSpPr>
        <p:spPr>
          <a:xfrm>
            <a:off x="649224" y="2189480"/>
            <a:ext cx="5189220" cy="2269998"/>
          </a:xfrm>
          <a:prstGeom prst="rect">
            <a:avLst/>
          </a:prstGeom>
          <a:noFill/>
          <a:ln/>
        </p:spPr>
        <p:txBody>
          <a:bodyPr wrap="square" rtlCol="0" anchor="t"/>
          <a:lstStyle/>
          <a:p>
            <a:pPr indent="0" marL="0">
              <a:lnSpc>
                <a:spcPct val="110000"/>
              </a:lnSpc>
              <a:buNone/>
            </a:pPr>
            <a:r>
              <a:rPr lang="en-US" sz="1800" dirty="0">
                <a:solidFill>
                  <a:srgbClr val="6B7280"/>
                </a:solidFill>
                <a:latin typeface="Aptos" pitchFamily="34" charset="0"/>
                <a:ea typeface="Aptos" pitchFamily="34" charset="-122"/>
                <a:cs typeface="Aptos" pitchFamily="34" charset="-120"/>
              </a:rPr>
              <a:t>How well the work was performed — accuracy, appearance, usefulness or effectiveness. Includes error rates (number or percentage of errors allowable per unit of work) and customer satisfaction rates from surveys.</a:t>
            </a:r>
            <a:endParaRPr lang="en-US" sz="1800" dirty="0"/>
          </a:p>
        </p:txBody>
      </p:sp>
      <p:sp>
        <p:nvSpPr>
          <p:cNvPr id="14" name="Shape 9"/>
          <p:cNvSpPr/>
          <p:nvPr/>
        </p:nvSpPr>
        <p:spPr>
          <a:xfrm>
            <a:off x="6204204" y="1622552"/>
            <a:ext cx="5481828" cy="2891790"/>
          </a:xfrm>
          <a:prstGeom prst="roundRect">
            <a:avLst>
              <a:gd name="adj" fmla="val 2846"/>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5"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350508" y="1768856"/>
            <a:ext cx="310896" cy="310896"/>
          </a:xfrm>
          <a:prstGeom prst="rect">
            <a:avLst/>
          </a:prstGeom>
        </p:spPr>
      </p:pic>
      <p:sp>
        <p:nvSpPr>
          <p:cNvPr id="16" name="Text 10"/>
          <p:cNvSpPr/>
          <p:nvPr/>
        </p:nvSpPr>
        <p:spPr>
          <a:xfrm>
            <a:off x="6752844" y="1732280"/>
            <a:ext cx="4741164" cy="402336"/>
          </a:xfrm>
          <a:prstGeom prst="rect">
            <a:avLst/>
          </a:prstGeom>
          <a:noFill/>
          <a:ln/>
        </p:spPr>
        <p:txBody>
          <a:bodyPr wrap="square" rtlCol="0" anchor="t"/>
          <a:lstStyle/>
          <a:p>
            <a:pPr indent="0" marL="0">
              <a:lnSpc>
                <a:spcPct val="105000"/>
              </a:lnSpc>
              <a:buNone/>
            </a:pPr>
            <a:r>
              <a:rPr lang="en-US" sz="1800" b="1" dirty="0">
                <a:solidFill>
                  <a:srgbClr val="002050"/>
                </a:solidFill>
                <a:latin typeface="Aptos Display" pitchFamily="34" charset="0"/>
                <a:ea typeface="Aptos Display" pitchFamily="34" charset="-122"/>
                <a:cs typeface="Aptos Display" pitchFamily="34" charset="-120"/>
              </a:rPr>
              <a:t>Quantity</a:t>
            </a:r>
            <a:endParaRPr lang="en-US" sz="1800" dirty="0"/>
          </a:p>
        </p:txBody>
      </p:sp>
      <p:sp>
        <p:nvSpPr>
          <p:cNvPr id="17" name="Text 11"/>
          <p:cNvSpPr/>
          <p:nvPr/>
        </p:nvSpPr>
        <p:spPr>
          <a:xfrm>
            <a:off x="6350508" y="2189480"/>
            <a:ext cx="5189220" cy="2269998"/>
          </a:xfrm>
          <a:prstGeom prst="rect">
            <a:avLst/>
          </a:prstGeom>
          <a:noFill/>
          <a:ln/>
        </p:spPr>
        <p:txBody>
          <a:bodyPr wrap="square" rtlCol="0" anchor="t"/>
          <a:lstStyle/>
          <a:p>
            <a:pPr indent="0" marL="0">
              <a:lnSpc>
                <a:spcPct val="110000"/>
              </a:lnSpc>
              <a:buNone/>
            </a:pPr>
            <a:r>
              <a:rPr lang="en-US" sz="1800" dirty="0">
                <a:solidFill>
                  <a:srgbClr val="6B7280"/>
                </a:solidFill>
                <a:latin typeface="Aptos" pitchFamily="34" charset="0"/>
                <a:ea typeface="Aptos" pitchFamily="34" charset="-122"/>
                <a:cs typeface="Aptos" pitchFamily="34" charset="-120"/>
              </a:rPr>
              <a:t>How much work was produced — expressed as a number of products or services, or a general result to achieve.</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22</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 · CONTINUED</a:t>
            </a:r>
            <a:endParaRPr lang="en-US" sz="1800" dirty="0"/>
          </a:p>
        </p:txBody>
      </p:sp>
      <p:sp>
        <p:nvSpPr>
          <p:cNvPr id="9" name="Text 5"/>
          <p:cNvSpPr/>
          <p:nvPr/>
        </p:nvSpPr>
        <p:spPr>
          <a:xfrm>
            <a:off x="502920" y="530352"/>
            <a:ext cx="9857232" cy="92760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Step 5 — determine work-unit and individual measures</a:t>
            </a:r>
            <a:endParaRPr lang="en-US" sz="2800" dirty="0"/>
          </a:p>
        </p:txBody>
      </p:sp>
      <p:sp>
        <p:nvSpPr>
          <p:cNvPr id="10" name="Shape 6"/>
          <p:cNvSpPr/>
          <p:nvPr/>
        </p:nvSpPr>
        <p:spPr>
          <a:xfrm>
            <a:off x="502920" y="1622552"/>
            <a:ext cx="5481828" cy="1657350"/>
          </a:xfrm>
          <a:prstGeom prst="roundRect">
            <a:avLst>
              <a:gd name="adj" fmla="val 4966"/>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1"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49224" y="1768856"/>
            <a:ext cx="310896" cy="310896"/>
          </a:xfrm>
          <a:prstGeom prst="rect">
            <a:avLst/>
          </a:prstGeom>
        </p:spPr>
      </p:pic>
      <p:sp>
        <p:nvSpPr>
          <p:cNvPr id="12" name="Text 7"/>
          <p:cNvSpPr/>
          <p:nvPr/>
        </p:nvSpPr>
        <p:spPr>
          <a:xfrm>
            <a:off x="1051560" y="1732280"/>
            <a:ext cx="4741164" cy="402336"/>
          </a:xfrm>
          <a:prstGeom prst="rect">
            <a:avLst/>
          </a:prstGeom>
          <a:noFill/>
          <a:ln/>
        </p:spPr>
        <p:txBody>
          <a:bodyPr wrap="square" rtlCol="0" anchor="t"/>
          <a:lstStyle/>
          <a:p>
            <a:pPr indent="0" marL="0">
              <a:lnSpc>
                <a:spcPct val="105000"/>
              </a:lnSpc>
              <a:buNone/>
            </a:pPr>
            <a:r>
              <a:rPr lang="en-US" sz="1800" b="1" dirty="0">
                <a:solidFill>
                  <a:srgbClr val="002050"/>
                </a:solidFill>
                <a:latin typeface="Aptos Display" pitchFamily="34" charset="0"/>
                <a:ea typeface="Aptos Display" pitchFamily="34" charset="-122"/>
                <a:cs typeface="Aptos Display" pitchFamily="34" charset="-120"/>
              </a:rPr>
              <a:t>Timeliness</a:t>
            </a:r>
            <a:endParaRPr lang="en-US" sz="1800" dirty="0"/>
          </a:p>
        </p:txBody>
      </p:sp>
      <p:sp>
        <p:nvSpPr>
          <p:cNvPr id="13" name="Text 8"/>
          <p:cNvSpPr/>
          <p:nvPr/>
        </p:nvSpPr>
        <p:spPr>
          <a:xfrm>
            <a:off x="649224" y="2189480"/>
            <a:ext cx="5189220" cy="1035558"/>
          </a:xfrm>
          <a:prstGeom prst="rect">
            <a:avLst/>
          </a:prstGeom>
          <a:noFill/>
          <a:ln/>
        </p:spPr>
        <p:txBody>
          <a:bodyPr wrap="square" rtlCol="0" anchor="t"/>
          <a:lstStyle/>
          <a:p>
            <a:pPr indent="0" marL="0">
              <a:lnSpc>
                <a:spcPct val="110000"/>
              </a:lnSpc>
              <a:buNone/>
            </a:pPr>
            <a:r>
              <a:rPr lang="en-US" sz="1800" dirty="0">
                <a:solidFill>
                  <a:srgbClr val="6B7280"/>
                </a:solidFill>
                <a:latin typeface="Aptos" pitchFamily="34" charset="0"/>
                <a:ea typeface="Aptos" pitchFamily="34" charset="-122"/>
                <a:cs typeface="Aptos" pitchFamily="34" charset="-120"/>
              </a:rPr>
              <a:t>How quickly, when, or by what date the employee or work unit produced the work.</a:t>
            </a:r>
            <a:endParaRPr lang="en-US" sz="1800" dirty="0"/>
          </a:p>
        </p:txBody>
      </p:sp>
      <p:sp>
        <p:nvSpPr>
          <p:cNvPr id="14" name="Shape 9"/>
          <p:cNvSpPr/>
          <p:nvPr/>
        </p:nvSpPr>
        <p:spPr>
          <a:xfrm>
            <a:off x="6204204" y="1622552"/>
            <a:ext cx="5481828" cy="1657350"/>
          </a:xfrm>
          <a:prstGeom prst="roundRect">
            <a:avLst>
              <a:gd name="adj" fmla="val 4966"/>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5"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350508" y="1768856"/>
            <a:ext cx="310896" cy="310896"/>
          </a:xfrm>
          <a:prstGeom prst="rect">
            <a:avLst/>
          </a:prstGeom>
        </p:spPr>
      </p:pic>
      <p:sp>
        <p:nvSpPr>
          <p:cNvPr id="16" name="Text 10"/>
          <p:cNvSpPr/>
          <p:nvPr/>
        </p:nvSpPr>
        <p:spPr>
          <a:xfrm>
            <a:off x="6752844" y="1732280"/>
            <a:ext cx="4741164" cy="402336"/>
          </a:xfrm>
          <a:prstGeom prst="rect">
            <a:avLst/>
          </a:prstGeom>
          <a:noFill/>
          <a:ln/>
        </p:spPr>
        <p:txBody>
          <a:bodyPr wrap="square" rtlCol="0" anchor="t"/>
          <a:lstStyle/>
          <a:p>
            <a:pPr indent="0" marL="0">
              <a:lnSpc>
                <a:spcPct val="105000"/>
              </a:lnSpc>
              <a:buNone/>
            </a:pPr>
            <a:r>
              <a:rPr lang="en-US" sz="1800" b="1" dirty="0">
                <a:solidFill>
                  <a:srgbClr val="002050"/>
                </a:solidFill>
                <a:latin typeface="Aptos Display" pitchFamily="34" charset="0"/>
                <a:ea typeface="Aptos Display" pitchFamily="34" charset="-122"/>
                <a:cs typeface="Aptos Display" pitchFamily="34" charset="-120"/>
              </a:rPr>
              <a:t>Cost-effectiveness</a:t>
            </a:r>
            <a:endParaRPr lang="en-US" sz="1800" dirty="0"/>
          </a:p>
        </p:txBody>
      </p:sp>
      <p:sp>
        <p:nvSpPr>
          <p:cNvPr id="17" name="Text 11"/>
          <p:cNvSpPr/>
          <p:nvPr/>
        </p:nvSpPr>
        <p:spPr>
          <a:xfrm>
            <a:off x="6350508" y="2189480"/>
            <a:ext cx="5189220" cy="1035558"/>
          </a:xfrm>
          <a:prstGeom prst="rect">
            <a:avLst/>
          </a:prstGeom>
          <a:noFill/>
          <a:ln/>
        </p:spPr>
        <p:txBody>
          <a:bodyPr wrap="square" rtlCol="0" anchor="t"/>
          <a:lstStyle/>
          <a:p>
            <a:pPr indent="0" marL="0">
              <a:lnSpc>
                <a:spcPct val="110000"/>
              </a:lnSpc>
              <a:buNone/>
            </a:pPr>
            <a:r>
              <a:rPr lang="en-US" sz="1800" dirty="0">
                <a:solidFill>
                  <a:srgbClr val="6B7280"/>
                </a:solidFill>
                <a:latin typeface="Aptos" pitchFamily="34" charset="0"/>
                <a:ea typeface="Aptos" pitchFamily="34" charset="-122"/>
                <a:cs typeface="Aptos" pitchFamily="34" charset="-120"/>
              </a:rPr>
              <a:t>Whether the result was achieved within the resources and budget available.</a:t>
            </a:r>
            <a:endParaRPr lang="en-US" sz="1800" dirty="0"/>
          </a:p>
        </p:txBody>
      </p:sp>
      <p:sp>
        <p:nvSpPr>
          <p:cNvPr id="18" name="Shape 12"/>
          <p:cNvSpPr/>
          <p:nvPr/>
        </p:nvSpPr>
        <p:spPr>
          <a:xfrm>
            <a:off x="557784" y="3554222"/>
            <a:ext cx="91440" cy="91440"/>
          </a:xfrm>
          <a:prstGeom prst="ellipse">
            <a:avLst/>
          </a:prstGeom>
          <a:solidFill>
            <a:srgbClr val="0F6CBD"/>
          </a:solidFill>
          <a:ln/>
        </p:spPr>
      </p:sp>
      <p:sp>
        <p:nvSpPr>
          <p:cNvPr id="19" name="Text 13"/>
          <p:cNvSpPr/>
          <p:nvPr/>
        </p:nvSpPr>
        <p:spPr>
          <a:xfrm>
            <a:off x="795528" y="3444494"/>
            <a:ext cx="10799064" cy="35433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Team involvement is required when determining measures.</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23</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 · CONTINUED</a:t>
            </a:r>
            <a:endParaRPr lang="en-US" sz="1800" dirty="0"/>
          </a:p>
        </p:txBody>
      </p:sp>
      <p:sp>
        <p:nvSpPr>
          <p:cNvPr id="9" name="Text 5"/>
          <p:cNvSpPr/>
          <p:nvPr/>
        </p:nvSpPr>
        <p:spPr>
          <a:xfrm>
            <a:off x="502920" y="530352"/>
            <a:ext cx="9857232" cy="92760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Step 5 — determine work-unit and individual measures</a:t>
            </a:r>
            <a:endParaRPr lang="en-US" sz="28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622552"/>
          <a:ext cx="11183112" cy="914400"/>
        </p:xfrm>
        <a:graphic>
          <a:graphicData uri="http://schemas.openxmlformats.org/drawingml/2006/table">
            <a:tbl>
              <a:tblPr/>
              <a:tblGrid>
                <a:gridCol w="2236622"/>
                <a:gridCol w="2236622"/>
                <a:gridCol w="2236622"/>
                <a:gridCol w="2236622"/>
                <a:gridCol w="2236622"/>
              </a:tblGrid>
              <a:tr h="781812">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Points</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Responsibility</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Element</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General measure</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Specific measure</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2324862">
                <a:tc>
                  <a:txBody>
                    <a:bodyPr/>
                    <a:lstStyle/>
                    <a:p>
                      <a:pPr indent="0" marL="0">
                        <a:buNone/>
                      </a:pPr>
                      <a:r>
                        <a:rPr lang="en-US" sz="1800" dirty="0">
                          <a:solidFill>
                            <a:srgbClr val="002050"/>
                          </a:solidFill>
                          <a:latin typeface="Aptos" pitchFamily="34" charset="0"/>
                          <a:ea typeface="Aptos" pitchFamily="34" charset="-122"/>
                          <a:cs typeface="Aptos" pitchFamily="34" charset="-120"/>
                        </a:rPr>
                        <a:t>40</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Receive, direct and relay telephone and fax messages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Critical (CE)</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Timeliness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Number of rings for incoming calls · seconds before transfer to the right person</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1399032">
                <a:tc>
                  <a:txBody>
                    <a:bodyPr/>
                    <a:lstStyle/>
                    <a:p>
                      <a:pPr indent="0" marL="0">
                        <a:buNone/>
                      </a:pPr>
                      <a:r>
                        <a:rPr lang="en-US" sz="1800" dirty="0">
                          <a:solidFill>
                            <a:srgbClr val="002050"/>
                          </a:solidFill>
                          <a:latin typeface="Aptos" pitchFamily="34" charset="0"/>
                          <a:ea typeface="Aptos" pitchFamily="34" charset="-122"/>
                          <a:cs typeface="Aptos" pitchFamily="34" charset="-120"/>
                        </a:rPr>
                        <a:t>40</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Pick up and deliver the mail</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Critical (CE)</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Timeliness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Number of minutes to pick up and deliver mail</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24</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 · CONTINUED</a:t>
            </a:r>
            <a:endParaRPr lang="en-US" sz="1800" dirty="0"/>
          </a:p>
        </p:txBody>
      </p:sp>
      <p:sp>
        <p:nvSpPr>
          <p:cNvPr id="9" name="Text 5"/>
          <p:cNvSpPr/>
          <p:nvPr/>
        </p:nvSpPr>
        <p:spPr>
          <a:xfrm>
            <a:off x="502920" y="530352"/>
            <a:ext cx="9857232" cy="92760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Step 5 — determine work-unit and individual measures</a:t>
            </a:r>
            <a:endParaRPr lang="en-US" sz="28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622552"/>
          <a:ext cx="11183112" cy="914400"/>
        </p:xfrm>
        <a:graphic>
          <a:graphicData uri="http://schemas.openxmlformats.org/drawingml/2006/table">
            <a:tbl>
              <a:tblPr/>
              <a:tblGrid>
                <a:gridCol w="2236622"/>
                <a:gridCol w="2236622"/>
                <a:gridCol w="2236622"/>
                <a:gridCol w="2236622"/>
                <a:gridCol w="2236622"/>
              </a:tblGrid>
              <a:tr h="781812">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Points</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Responsibility</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Element</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General measure</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Specific measure</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1707642">
                <a:tc>
                  <a:txBody>
                    <a:bodyPr/>
                    <a:lstStyle/>
                    <a:p>
                      <a:pPr indent="0" marL="0">
                        <a:buNone/>
                      </a:pPr>
                      <a:r>
                        <a:rPr lang="en-US" sz="1800" dirty="0">
                          <a:solidFill>
                            <a:srgbClr val="002050"/>
                          </a:solidFill>
                          <a:latin typeface="Aptos" pitchFamily="34" charset="0"/>
                          <a:ea typeface="Aptos" pitchFamily="34" charset="-122"/>
                          <a:cs typeface="Aptos" pitchFamily="34" charset="-120"/>
                        </a:rPr>
                        <a:t>10</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Maintain the general filing system and file all correspondence</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Additional (AE)</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Quality</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Ratio of filing errors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25</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a:t>
            </a:r>
            <a:endParaRPr lang="en-US" sz="1800" dirty="0"/>
          </a:p>
        </p:txBody>
      </p:sp>
      <p:sp>
        <p:nvSpPr>
          <p:cNvPr id="9" name="Text 5"/>
          <p:cNvSpPr/>
          <p:nvPr/>
        </p:nvSpPr>
        <p:spPr>
          <a:xfrm>
            <a:off x="502920" y="530352"/>
            <a:ext cx="9857232" cy="92760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Step 6 — develop work-unit and individual standards</a:t>
            </a:r>
            <a:endParaRPr lang="en-US" sz="2800" dirty="0"/>
          </a:p>
        </p:txBody>
      </p:sp>
      <p:sp>
        <p:nvSpPr>
          <p:cNvPr id="10" name="Text 6"/>
          <p:cNvSpPr/>
          <p:nvPr/>
        </p:nvSpPr>
        <p:spPr>
          <a:xfrm>
            <a:off x="502920" y="1622552"/>
            <a:ext cx="11183112" cy="98069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Performance standards are management-approved expressions of the performance thresholds, requirements or expectations that employees must meet to be appraised at particular levels of performance.</a:t>
            </a:r>
            <a:endParaRPr lang="en-US" sz="1800" dirty="0"/>
          </a:p>
        </p:txBody>
      </p:sp>
      <p:sp>
        <p:nvSpPr>
          <p:cNvPr id="11" name="Text 7"/>
          <p:cNvSpPr/>
          <p:nvPr/>
        </p:nvSpPr>
        <p:spPr>
          <a:xfrm>
            <a:off x="502920" y="2676398"/>
            <a:ext cx="11183112" cy="159791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Before writing the Fully Successful standard, know how many levels your appraisal programme uses. With two levels, Fully Successful is a single point — at or above it is Fully Successful, below it is Unacceptable. With five levels, Fully Successful is a range: above the range earns higher levels; below it is Minimally Successful or Unacceptable.</a:t>
            </a:r>
            <a:endParaRPr lang="en-US" sz="1800" dirty="0"/>
          </a:p>
        </p:txBody>
      </p:sp>
      <p:sp>
        <p:nvSpPr>
          <p:cNvPr id="12" name="Shape 8"/>
          <p:cNvSpPr/>
          <p:nvPr/>
        </p:nvSpPr>
        <p:spPr>
          <a:xfrm>
            <a:off x="557784" y="4493768"/>
            <a:ext cx="91440" cy="91440"/>
          </a:xfrm>
          <a:prstGeom prst="ellipse">
            <a:avLst/>
          </a:prstGeom>
          <a:solidFill>
            <a:srgbClr val="0F6CBD"/>
          </a:solidFill>
          <a:ln/>
        </p:spPr>
      </p:sp>
      <p:sp>
        <p:nvSpPr>
          <p:cNvPr id="13" name="Text 9"/>
          <p:cNvSpPr/>
          <p:nvPr/>
        </p:nvSpPr>
        <p:spPr>
          <a:xfrm>
            <a:off x="795528" y="4384040"/>
            <a:ext cx="10799064" cy="97155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Measures must be clear and concise — it is easy to overlook critical detail. 'Meeting sales targets' sounds simple: is that the annual target, or all 12 monthly targets?</a:t>
            </a:r>
            <a:endParaRPr lang="en-US" sz="1800" dirty="0"/>
          </a:p>
        </p:txBody>
      </p:sp>
      <p:sp>
        <p:nvSpPr>
          <p:cNvPr id="14" name="Shape 10"/>
          <p:cNvSpPr/>
          <p:nvPr/>
        </p:nvSpPr>
        <p:spPr>
          <a:xfrm>
            <a:off x="557784" y="5529326"/>
            <a:ext cx="91440" cy="91440"/>
          </a:xfrm>
          <a:prstGeom prst="ellipse">
            <a:avLst/>
          </a:prstGeom>
          <a:solidFill>
            <a:srgbClr val="0F6CBD"/>
          </a:solidFill>
          <a:ln/>
        </p:spPr>
      </p:sp>
      <p:sp>
        <p:nvSpPr>
          <p:cNvPr id="15" name="Text 11"/>
          <p:cNvSpPr/>
          <p:nvPr/>
        </p:nvSpPr>
        <p:spPr>
          <a:xfrm>
            <a:off x="795528" y="5419598"/>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After development, standards must be recorded in the format the organisation specifies, filed, and treated as confidential.</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26</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 · CONTINUED</a:t>
            </a:r>
            <a:endParaRPr lang="en-US" sz="1800" dirty="0"/>
          </a:p>
        </p:txBody>
      </p:sp>
      <p:sp>
        <p:nvSpPr>
          <p:cNvPr id="9" name="Text 5"/>
          <p:cNvSpPr/>
          <p:nvPr/>
        </p:nvSpPr>
        <p:spPr>
          <a:xfrm>
            <a:off x="502920" y="530352"/>
            <a:ext cx="9857232" cy="92760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Step 6 — develop work-unit and individual standards</a:t>
            </a:r>
            <a:endParaRPr lang="en-US" sz="2800" dirty="0"/>
          </a:p>
        </p:txBody>
      </p:sp>
      <p:sp>
        <p:nvSpPr>
          <p:cNvPr id="10" name="Shape 6"/>
          <p:cNvSpPr/>
          <p:nvPr/>
        </p:nvSpPr>
        <p:spPr>
          <a:xfrm>
            <a:off x="557784" y="1732280"/>
            <a:ext cx="91440" cy="91440"/>
          </a:xfrm>
          <a:prstGeom prst="ellipse">
            <a:avLst/>
          </a:prstGeom>
          <a:solidFill>
            <a:srgbClr val="0F6CBD"/>
          </a:solidFill>
          <a:ln/>
        </p:spPr>
      </p:sp>
      <p:sp>
        <p:nvSpPr>
          <p:cNvPr id="11" name="Text 7"/>
          <p:cNvSpPr/>
          <p:nvPr/>
        </p:nvSpPr>
        <p:spPr>
          <a:xfrm>
            <a:off x="795528" y="1622552"/>
            <a:ext cx="10799064" cy="35433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Team involvement is required when developing standards.</a:t>
            </a:r>
            <a:endParaRPr lang="en-US" sz="18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02920" y="2095754"/>
          <a:ext cx="11183112" cy="914400"/>
        </p:xfrm>
        <a:graphic>
          <a:graphicData uri="http://schemas.openxmlformats.org/drawingml/2006/table">
            <a:tbl>
              <a:tblPr/>
              <a:tblGrid>
                <a:gridCol w="2236622"/>
                <a:gridCol w="2236622"/>
                <a:gridCol w="2236622"/>
                <a:gridCol w="2236622"/>
                <a:gridCol w="2236622"/>
              </a:tblGrid>
              <a:tr h="781812">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Element</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Specific measure</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Minimally successful</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Fully successful</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Exceeds fully successful</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1399032">
                <a:tc>
                  <a:txBody>
                    <a:bodyPr/>
                    <a:lstStyle/>
                    <a:p>
                      <a:pPr indent="0" marL="0">
                        <a:buNone/>
                      </a:pPr>
                      <a:r>
                        <a:rPr lang="en-US" sz="1800" dirty="0">
                          <a:solidFill>
                            <a:srgbClr val="002050"/>
                          </a:solidFill>
                          <a:latin typeface="Aptos" pitchFamily="34" charset="0"/>
                          <a:ea typeface="Aptos" pitchFamily="34" charset="-122"/>
                          <a:cs typeface="Aptos" pitchFamily="34" charset="-120"/>
                        </a:rPr>
                        <a:t>Receive, direct and relay calls (CE · 40 pts)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Rings before answering · transfer lead time</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4–5 rings · 6–10 seconds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3 rings · 5 seconds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1–2 rings · 2–4 seconds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1399032">
                <a:tc>
                  <a:txBody>
                    <a:bodyPr/>
                    <a:lstStyle/>
                    <a:p>
                      <a:pPr indent="0" marL="0">
                        <a:buNone/>
                      </a:pPr>
                      <a:r>
                        <a:rPr lang="en-US" sz="1800" dirty="0">
                          <a:solidFill>
                            <a:srgbClr val="002050"/>
                          </a:solidFill>
                          <a:latin typeface="Aptos" pitchFamily="34" charset="0"/>
                          <a:ea typeface="Aptos" pitchFamily="34" charset="-122"/>
                          <a:cs typeface="Aptos" pitchFamily="34" charset="-120"/>
                        </a:rPr>
                        <a:t>Pick up and deliver the mail (CE · 40 pts)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Minutes lead time</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40–60 minutes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30 minutes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15–25 minutes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27</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 · CONTINUED</a:t>
            </a:r>
            <a:endParaRPr lang="en-US" sz="1800" dirty="0"/>
          </a:p>
        </p:txBody>
      </p:sp>
      <p:sp>
        <p:nvSpPr>
          <p:cNvPr id="9" name="Text 5"/>
          <p:cNvSpPr/>
          <p:nvPr/>
        </p:nvSpPr>
        <p:spPr>
          <a:xfrm>
            <a:off x="502920" y="530352"/>
            <a:ext cx="9857232" cy="92760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Step 6 — develop work-unit and individual standards</a:t>
            </a:r>
            <a:endParaRPr lang="en-US" sz="28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02920" y="1622552"/>
          <a:ext cx="11183112" cy="914400"/>
        </p:xfrm>
        <a:graphic>
          <a:graphicData uri="http://schemas.openxmlformats.org/drawingml/2006/table">
            <a:tbl>
              <a:tblPr/>
              <a:tblGrid>
                <a:gridCol w="2236622"/>
                <a:gridCol w="2236622"/>
                <a:gridCol w="2236622"/>
                <a:gridCol w="2236622"/>
                <a:gridCol w="2236622"/>
              </a:tblGrid>
              <a:tr h="781812">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Element</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Specific measure</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Minimally successful</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Fully successful</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Exceeds fully successful</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1399032">
                <a:tc>
                  <a:txBody>
                    <a:bodyPr/>
                    <a:lstStyle/>
                    <a:p>
                      <a:pPr indent="0" marL="0">
                        <a:buNone/>
                      </a:pPr>
                      <a:r>
                        <a:rPr lang="en-US" sz="1800" dirty="0">
                          <a:solidFill>
                            <a:srgbClr val="002050"/>
                          </a:solidFill>
                          <a:latin typeface="Aptos" pitchFamily="34" charset="0"/>
                          <a:ea typeface="Aptos" pitchFamily="34" charset="-122"/>
                          <a:cs typeface="Aptos" pitchFamily="34" charset="-120"/>
                        </a:rPr>
                        <a:t>Maintain general filing system (AE · 10 pts)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Ratio of filing errors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12%–20%</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5%–10%</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1%–3%</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28</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a:t>
            </a:r>
            <a:endParaRPr lang="en-US" sz="1800" dirty="0"/>
          </a:p>
        </p:txBody>
      </p:sp>
      <p:sp>
        <p:nvSpPr>
          <p:cNvPr id="9" name="Text 5"/>
          <p:cNvSpPr/>
          <p:nvPr/>
        </p:nvSpPr>
        <p:spPr>
          <a:xfrm>
            <a:off x="502920" y="530352"/>
            <a:ext cx="9857232" cy="92760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Step 7 — monitor performance and give feedback</a:t>
            </a:r>
            <a:endParaRPr lang="en-US" sz="2800" dirty="0"/>
          </a:p>
        </p:txBody>
      </p:sp>
      <p:sp>
        <p:nvSpPr>
          <p:cNvPr id="10" name="Text 6"/>
          <p:cNvSpPr/>
          <p:nvPr/>
        </p:nvSpPr>
        <p:spPr>
          <a:xfrm>
            <a:off x="502920" y="1622552"/>
            <a:ext cx="11183112" cy="128930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Monitoring performance means measuring performance and providing feedback to employees. Appraisal programmes must provide ongoing appraisal — including one or more progress reviews per appraisal period — and beyond that, supervisors and employees should discuss performance informally and often.</a:t>
            </a:r>
            <a:endParaRPr lang="en-US" sz="1800" dirty="0"/>
          </a:p>
        </p:txBody>
      </p:sp>
      <p:sp>
        <p:nvSpPr>
          <p:cNvPr id="11" name="Text 7"/>
          <p:cNvSpPr/>
          <p:nvPr/>
        </p:nvSpPr>
        <p:spPr>
          <a:xfrm>
            <a:off x="502920" y="2985008"/>
            <a:ext cx="11183112" cy="98069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You may have built great elements and standards through the first six steps, and then find monitoring an element is impossible, too costly or too time-consuming — if so, rethink the specific measures.</a:t>
            </a:r>
            <a:endParaRPr lang="en-US" sz="1800" dirty="0"/>
          </a:p>
        </p:txBody>
      </p:sp>
      <p:sp>
        <p:nvSpPr>
          <p:cNvPr id="12" name="Text 8"/>
          <p:cNvSpPr/>
          <p:nvPr/>
        </p:nvSpPr>
        <p:spPr>
          <a:xfrm>
            <a:off x="502920" y="4038854"/>
            <a:ext cx="11183112" cy="128930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Monitoring is not a witch-hunting exercise to get rid of your enemies. After setting up the system, communicate it to all team members: at shift start/end meetings, via email, on notice boards, in a formal letter, and during induction and coaching.</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29</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 · CONTINUED</a:t>
            </a:r>
            <a:endParaRPr lang="en-US" sz="1800" dirty="0"/>
          </a:p>
        </p:txBody>
      </p:sp>
      <p:sp>
        <p:nvSpPr>
          <p:cNvPr id="9" name="Text 5"/>
          <p:cNvSpPr/>
          <p:nvPr/>
        </p:nvSpPr>
        <p:spPr>
          <a:xfrm>
            <a:off x="502920" y="530352"/>
            <a:ext cx="9857232" cy="92760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Step 7 — monitor performance and give feedback</a:t>
            </a:r>
            <a:endParaRPr lang="en-US" sz="2800" dirty="0"/>
          </a:p>
        </p:txBody>
      </p:sp>
      <p:sp>
        <p:nvSpPr>
          <p:cNvPr id="10" name="Shape 6"/>
          <p:cNvSpPr/>
          <p:nvPr/>
        </p:nvSpPr>
        <p:spPr>
          <a:xfrm>
            <a:off x="557784" y="1732280"/>
            <a:ext cx="91440" cy="91440"/>
          </a:xfrm>
          <a:prstGeom prst="ellipse">
            <a:avLst/>
          </a:prstGeom>
          <a:solidFill>
            <a:srgbClr val="0F6CBD"/>
          </a:solidFill>
          <a:ln/>
        </p:spPr>
      </p:sp>
      <p:sp>
        <p:nvSpPr>
          <p:cNvPr id="11" name="Text 7"/>
          <p:cNvSpPr/>
          <p:nvPr/>
        </p:nvSpPr>
        <p:spPr>
          <a:xfrm>
            <a:off x="795528" y="1622552"/>
            <a:ext cx="10799064" cy="158877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To complete this step: determine what data to collect for each element, its source, and whether to collect all data or a sample; decide when it is collected, by whom, and who receives it; review existing reports as feedback reports; create feedback tables or graphs where applicable; and design feedback processes that give feedback automatically.</a:t>
            </a:r>
            <a:endParaRPr lang="en-US" sz="1800" dirty="0"/>
          </a:p>
        </p:txBody>
      </p:sp>
      <p:sp>
        <p:nvSpPr>
          <p:cNvPr id="12" name="Shape 8"/>
          <p:cNvSpPr/>
          <p:nvPr/>
        </p:nvSpPr>
        <p:spPr>
          <a:xfrm>
            <a:off x="557784" y="3385058"/>
            <a:ext cx="91440" cy="91440"/>
          </a:xfrm>
          <a:prstGeom prst="ellipse">
            <a:avLst/>
          </a:prstGeom>
          <a:solidFill>
            <a:srgbClr val="0F6CBD"/>
          </a:solidFill>
          <a:ln/>
        </p:spPr>
      </p:sp>
      <p:sp>
        <p:nvSpPr>
          <p:cNvPr id="13" name="Text 9"/>
          <p:cNvSpPr/>
          <p:nvPr/>
        </p:nvSpPr>
        <p:spPr>
          <a:xfrm>
            <a:off x="795528" y="3275330"/>
            <a:ext cx="10799064" cy="128016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Monitoring methods: (1) reviewing work — total output or samples; (2) observing work activities; (3) reading reports, charts, time sheets, work records or logs; (4) employee self-reporting on progress; (5) surveying other units, the public or clients; (6) noting and investigating complaints and commendations.</a:t>
            </a:r>
            <a:endParaRPr lang="en-US" sz="1800" dirty="0"/>
          </a:p>
        </p:txBody>
      </p:sp>
      <p:sp>
        <p:nvSpPr>
          <p:cNvPr id="14" name="Shape 10"/>
          <p:cNvSpPr/>
          <p:nvPr/>
        </p:nvSpPr>
        <p:spPr>
          <a:xfrm>
            <a:off x="557784" y="4729226"/>
            <a:ext cx="91440" cy="91440"/>
          </a:xfrm>
          <a:prstGeom prst="ellipse">
            <a:avLst/>
          </a:prstGeom>
          <a:solidFill>
            <a:srgbClr val="0F6CBD"/>
          </a:solidFill>
          <a:ln/>
        </p:spPr>
      </p:sp>
      <p:sp>
        <p:nvSpPr>
          <p:cNvPr id="15" name="Text 11"/>
          <p:cNvSpPr/>
          <p:nvPr/>
        </p:nvSpPr>
        <p:spPr>
          <a:xfrm>
            <a:off x="795528" y="4619498"/>
            <a:ext cx="10799064" cy="97155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Some monitoring is ongoing to catch problems early (checking samples or observing several times a day or week); other monitoring is at wider intervals — monthly or quarterly reviews, or occasional random checks.</a:t>
            </a:r>
            <a:endParaRPr lang="en-US" sz="1800" dirty="0"/>
          </a:p>
        </p:txBody>
      </p:sp>
      <p:sp>
        <p:nvSpPr>
          <p:cNvPr id="16" name="Shape 12"/>
          <p:cNvSpPr/>
          <p:nvPr/>
        </p:nvSpPr>
        <p:spPr>
          <a:xfrm>
            <a:off x="557784" y="5764784"/>
            <a:ext cx="91440" cy="91440"/>
          </a:xfrm>
          <a:prstGeom prst="ellipse">
            <a:avLst/>
          </a:prstGeom>
          <a:solidFill>
            <a:srgbClr val="0F6CBD"/>
          </a:solidFill>
          <a:ln/>
        </p:spPr>
      </p:sp>
      <p:sp>
        <p:nvSpPr>
          <p:cNvPr id="17" name="Text 13"/>
          <p:cNvSpPr/>
          <p:nvPr/>
        </p:nvSpPr>
        <p:spPr>
          <a:xfrm>
            <a:off x="795528" y="5655056"/>
            <a:ext cx="10799064" cy="35433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Team involvement is required when setting up the monitoring methods.</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30</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 · CONTINUED</a:t>
            </a:r>
            <a:endParaRPr lang="en-US" sz="1800" dirty="0"/>
          </a:p>
        </p:txBody>
      </p:sp>
      <p:sp>
        <p:nvSpPr>
          <p:cNvPr id="9" name="Text 5"/>
          <p:cNvSpPr/>
          <p:nvPr/>
        </p:nvSpPr>
        <p:spPr>
          <a:xfrm>
            <a:off x="502920" y="530352"/>
            <a:ext cx="9857232" cy="92760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Step 7 — monitor performance and give feedback</a:t>
            </a:r>
            <a:endParaRPr lang="en-US" sz="28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02920" y="1622552"/>
          <a:ext cx="11183112" cy="914400"/>
        </p:xfrm>
        <a:graphic>
          <a:graphicData uri="http://schemas.openxmlformats.org/drawingml/2006/table">
            <a:tbl>
              <a:tblPr/>
              <a:tblGrid>
                <a:gridCol w="5591556"/>
                <a:gridCol w="5591556"/>
              </a:tblGrid>
              <a:tr h="475488">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Element</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Feedback sources for monitoring</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781812">
                <a:tc>
                  <a:txBody>
                    <a:bodyPr/>
                    <a:lstStyle/>
                    <a:p>
                      <a:pPr indent="0" marL="0">
                        <a:buNone/>
                      </a:pPr>
                      <a:r>
                        <a:rPr lang="en-US" sz="1800" dirty="0">
                          <a:solidFill>
                            <a:srgbClr val="002050"/>
                          </a:solidFill>
                          <a:latin typeface="Aptos" pitchFamily="34" charset="0"/>
                          <a:ea typeface="Aptos" pitchFamily="34" charset="-122"/>
                          <a:cs typeface="Aptos" pitchFamily="34" charset="-120"/>
                        </a:rPr>
                        <a:t>Receive, direct and relay calls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Supervisor observation (360° tool) · customers · peers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781812">
                <a:tc>
                  <a:txBody>
                    <a:bodyPr/>
                    <a:lstStyle/>
                    <a:p>
                      <a:pPr indent="0" marL="0">
                        <a:buNone/>
                      </a:pPr>
                      <a:r>
                        <a:rPr lang="en-US" sz="1800" dirty="0">
                          <a:solidFill>
                            <a:srgbClr val="002050"/>
                          </a:solidFill>
                          <a:latin typeface="Aptos" pitchFamily="34" charset="0"/>
                          <a:ea typeface="Aptos" pitchFamily="34" charset="-122"/>
                          <a:cs typeface="Aptos" pitchFamily="34" charset="-120"/>
                        </a:rPr>
                        <a:t>Pick up and deliver the mail</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Supervisor observation (360° tool) · customers · peers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781812">
                <a:tc>
                  <a:txBody>
                    <a:bodyPr/>
                    <a:lstStyle/>
                    <a:p>
                      <a:pPr indent="0" marL="0">
                        <a:buNone/>
                      </a:pPr>
                      <a:r>
                        <a:rPr lang="en-US" sz="1800" dirty="0">
                          <a:solidFill>
                            <a:srgbClr val="002050"/>
                          </a:solidFill>
                          <a:latin typeface="Aptos" pitchFamily="34" charset="0"/>
                          <a:ea typeface="Aptos" pitchFamily="34" charset="-122"/>
                          <a:cs typeface="Aptos" pitchFamily="34" charset="-120"/>
                        </a:rPr>
                        <a:t>Maintain the filing system</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Supervisor observation (360° tool) · peers · data from the automated system</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31</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a:t>
            </a:r>
            <a:endParaRPr lang="en-US" sz="1800" dirty="0"/>
          </a:p>
        </p:txBody>
      </p:sp>
      <p:sp>
        <p:nvSpPr>
          <p:cNvPr id="9" name="Text 5"/>
          <p:cNvSpPr/>
          <p:nvPr/>
        </p:nvSpPr>
        <p:spPr>
          <a:xfrm>
            <a:off x="502920" y="530352"/>
            <a:ext cx="9857232" cy="56692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360-degree (multi-rater) feedback</a:t>
            </a:r>
            <a:endParaRPr lang="en-US" sz="2800" dirty="0"/>
          </a:p>
        </p:txBody>
      </p:sp>
      <p:sp>
        <p:nvSpPr>
          <p:cNvPr id="10" name="Text 6"/>
          <p:cNvSpPr/>
          <p:nvPr/>
        </p:nvSpPr>
        <p:spPr>
          <a:xfrm>
            <a:off x="502920" y="1261872"/>
            <a:ext cx="11183112" cy="98069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360-degree feedback — also known as multi-rater feedback — is employee development feedback from colleagues, peers and managers, plus self-assessment, and sometimes clients, volunteers or other stakeholders.</a:t>
            </a:r>
            <a:endParaRPr lang="en-US" sz="1800" dirty="0"/>
          </a:p>
        </p:txBody>
      </p:sp>
      <p:sp>
        <p:nvSpPr>
          <p:cNvPr id="11" name="Text 7"/>
          <p:cNvSpPr/>
          <p:nvPr/>
        </p:nvSpPr>
        <p:spPr>
          <a:xfrm>
            <a:off x="502920" y="2315718"/>
            <a:ext cx="11183112" cy="98069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Senior managers (including executive directors) assess others but often receive little feedback themselves — 360-degree feedback lets any individual understand how their effectiveness as an employee, manager or co-worker is viewed by others.</a:t>
            </a:r>
            <a:endParaRPr lang="en-US" sz="1800" dirty="0"/>
          </a:p>
        </p:txBody>
      </p:sp>
      <p:sp>
        <p:nvSpPr>
          <p:cNvPr id="12" name="Shape 8"/>
          <p:cNvSpPr/>
          <p:nvPr/>
        </p:nvSpPr>
        <p:spPr>
          <a:xfrm>
            <a:off x="557784" y="3515868"/>
            <a:ext cx="91440" cy="91440"/>
          </a:xfrm>
          <a:prstGeom prst="ellipse">
            <a:avLst/>
          </a:prstGeom>
          <a:solidFill>
            <a:srgbClr val="0F6CBD"/>
          </a:solidFill>
          <a:ln/>
        </p:spPr>
      </p:sp>
      <p:sp>
        <p:nvSpPr>
          <p:cNvPr id="13" name="Text 9"/>
          <p:cNvSpPr/>
          <p:nvPr/>
        </p:nvSpPr>
        <p:spPr>
          <a:xfrm>
            <a:off x="795528" y="3406140"/>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What it can achieve: a broad perspective of how the person is perceived and their impact on others — positive and negative.</a:t>
            </a:r>
            <a:endParaRPr lang="en-US" sz="1800" dirty="0"/>
          </a:p>
        </p:txBody>
      </p:sp>
      <p:sp>
        <p:nvSpPr>
          <p:cNvPr id="14" name="Shape 10"/>
          <p:cNvSpPr/>
          <p:nvPr/>
        </p:nvSpPr>
        <p:spPr>
          <a:xfrm>
            <a:off x="557784" y="4242816"/>
            <a:ext cx="91440" cy="91440"/>
          </a:xfrm>
          <a:prstGeom prst="ellipse">
            <a:avLst/>
          </a:prstGeom>
          <a:solidFill>
            <a:srgbClr val="0F6CBD"/>
          </a:solidFill>
          <a:ln/>
        </p:spPr>
      </p:sp>
      <p:sp>
        <p:nvSpPr>
          <p:cNvPr id="15" name="Text 11"/>
          <p:cNvSpPr/>
          <p:nvPr/>
        </p:nvSpPr>
        <p:spPr>
          <a:xfrm>
            <a:off x="795528" y="4133088"/>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It encourages open feedback that is perceived as more valid and objective, leading to acceptance of results and required actions.</a:t>
            </a:r>
            <a:endParaRPr lang="en-US" sz="1800" dirty="0"/>
          </a:p>
        </p:txBody>
      </p:sp>
      <p:sp>
        <p:nvSpPr>
          <p:cNvPr id="16" name="Shape 12"/>
          <p:cNvSpPr/>
          <p:nvPr/>
        </p:nvSpPr>
        <p:spPr>
          <a:xfrm>
            <a:off x="557784" y="4969764"/>
            <a:ext cx="91440" cy="91440"/>
          </a:xfrm>
          <a:prstGeom prst="ellipse">
            <a:avLst/>
          </a:prstGeom>
          <a:solidFill>
            <a:srgbClr val="0F6CBD"/>
          </a:solidFill>
          <a:ln/>
        </p:spPr>
      </p:sp>
      <p:sp>
        <p:nvSpPr>
          <p:cNvPr id="17" name="Text 13"/>
          <p:cNvSpPr/>
          <p:nvPr/>
        </p:nvSpPr>
        <p:spPr>
          <a:xfrm>
            <a:off x="795528" y="4860036"/>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It clarifies critical performance aspects, reinforces desired competencies and identifies strengths the organisation can use.</a:t>
            </a:r>
            <a:endParaRPr lang="en-US" sz="1800" dirty="0"/>
          </a:p>
        </p:txBody>
      </p:sp>
      <p:sp>
        <p:nvSpPr>
          <p:cNvPr id="18" name="Shape 14"/>
          <p:cNvSpPr/>
          <p:nvPr/>
        </p:nvSpPr>
        <p:spPr>
          <a:xfrm>
            <a:off x="557784" y="5696712"/>
            <a:ext cx="91440" cy="91440"/>
          </a:xfrm>
          <a:prstGeom prst="ellipse">
            <a:avLst/>
          </a:prstGeom>
          <a:solidFill>
            <a:srgbClr val="0F6CBD"/>
          </a:solidFill>
          <a:ln/>
        </p:spPr>
      </p:sp>
      <p:sp>
        <p:nvSpPr>
          <p:cNvPr id="19" name="Text 15"/>
          <p:cNvSpPr/>
          <p:nvPr/>
        </p:nvSpPr>
        <p:spPr>
          <a:xfrm>
            <a:off x="795528" y="5586984"/>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It supports continuous improvement and focuses the development agenda for the individual, team or whole organisation.</a:t>
            </a:r>
            <a:endParaRPr lang="en-US" sz="1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32</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 · CONTINUED</a:t>
            </a:r>
            <a:endParaRPr lang="en-US" sz="1800" dirty="0"/>
          </a:p>
        </p:txBody>
      </p:sp>
      <p:sp>
        <p:nvSpPr>
          <p:cNvPr id="9" name="Text 5"/>
          <p:cNvSpPr/>
          <p:nvPr/>
        </p:nvSpPr>
        <p:spPr>
          <a:xfrm>
            <a:off x="502920" y="530352"/>
            <a:ext cx="9857232" cy="56692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360-degree (multi-rater) feedback</a:t>
            </a:r>
            <a:endParaRPr lang="en-US" sz="2800" dirty="0"/>
          </a:p>
        </p:txBody>
      </p:sp>
      <p:sp>
        <p:nvSpPr>
          <p:cNvPr id="10" name="Shape 6"/>
          <p:cNvSpPr/>
          <p:nvPr/>
        </p:nvSpPr>
        <p:spPr>
          <a:xfrm>
            <a:off x="557784" y="1371600"/>
            <a:ext cx="91440" cy="91440"/>
          </a:xfrm>
          <a:prstGeom prst="ellipse">
            <a:avLst/>
          </a:prstGeom>
          <a:solidFill>
            <a:srgbClr val="0F6CBD"/>
          </a:solidFill>
          <a:ln/>
        </p:spPr>
      </p:sp>
      <p:sp>
        <p:nvSpPr>
          <p:cNvPr id="11" name="Text 7"/>
          <p:cNvSpPr/>
          <p:nvPr/>
        </p:nvSpPr>
        <p:spPr>
          <a:xfrm>
            <a:off x="795528" y="1261872"/>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It exposes gaps between self-perception and the perception of the manager, peers or direct reports.</a:t>
            </a:r>
            <a:endParaRPr lang="en-US" sz="1800" dirty="0"/>
          </a:p>
        </p:txBody>
      </p:sp>
      <p:sp>
        <p:nvSpPr>
          <p:cNvPr id="12" name="Shape 8"/>
          <p:cNvSpPr/>
          <p:nvPr/>
        </p:nvSpPr>
        <p:spPr>
          <a:xfrm>
            <a:off x="557784" y="2098548"/>
            <a:ext cx="91440" cy="91440"/>
          </a:xfrm>
          <a:prstGeom prst="ellipse">
            <a:avLst/>
          </a:prstGeom>
          <a:solidFill>
            <a:srgbClr val="0F6CBD"/>
          </a:solidFill>
          <a:ln/>
        </p:spPr>
      </p:sp>
      <p:sp>
        <p:nvSpPr>
          <p:cNvPr id="13" name="Text 9"/>
          <p:cNvSpPr/>
          <p:nvPr/>
        </p:nvSpPr>
        <p:spPr>
          <a:xfrm>
            <a:off x="795528" y="1988820"/>
            <a:ext cx="10799064" cy="97155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Feedback from many people in various job functions reduces discrimination (race, age, gender) and the 'horns and halo' effect, where a supervisor rates on the most recent interactions only.</a:t>
            </a:r>
            <a:endParaRPr lang="en-US" sz="1800" dirty="0"/>
          </a:p>
        </p:txBody>
      </p:sp>
      <p:sp>
        <p:nvSpPr>
          <p:cNvPr id="14" name="Shape 10"/>
          <p:cNvSpPr/>
          <p:nvPr/>
        </p:nvSpPr>
        <p:spPr>
          <a:xfrm>
            <a:off x="557784" y="3134106"/>
            <a:ext cx="91440" cy="91440"/>
          </a:xfrm>
          <a:prstGeom prst="ellipse">
            <a:avLst/>
          </a:prstGeom>
          <a:solidFill>
            <a:srgbClr val="0F6CBD"/>
          </a:solidFill>
          <a:ln/>
        </p:spPr>
      </p:sp>
      <p:sp>
        <p:nvSpPr>
          <p:cNvPr id="15" name="Text 11"/>
          <p:cNvSpPr/>
          <p:nvPr/>
        </p:nvSpPr>
        <p:spPr>
          <a:xfrm>
            <a:off x="795528" y="3024378"/>
            <a:ext cx="10799064" cy="128016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Why organisations may NOT adopt it: multiple assessors cost organisational time; people may not be ready to give or receive honest feedback (some cultures avoid feedback to superiors); tying it to pay makes people hesitant to participate; and written, anonymous feedback cannot be queried for clarification.</a:t>
            </a:r>
            <a:endParaRPr lang="en-US" sz="1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33</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a:t>
            </a:r>
            <a:endParaRPr lang="en-US" sz="1800" dirty="0"/>
          </a:p>
        </p:txBody>
      </p:sp>
      <p:sp>
        <p:nvSpPr>
          <p:cNvPr id="9" name="Text 5"/>
          <p:cNvSpPr/>
          <p:nvPr/>
        </p:nvSpPr>
        <p:spPr>
          <a:xfrm>
            <a:off x="502920" y="530352"/>
            <a:ext cx="9857232" cy="92760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Step 8 — check the plan, involve the team, record the standards</a:t>
            </a:r>
            <a:endParaRPr lang="en-US" sz="2800" dirty="0"/>
          </a:p>
        </p:txBody>
      </p:sp>
      <p:sp>
        <p:nvSpPr>
          <p:cNvPr id="10" name="Text 6"/>
          <p:cNvSpPr/>
          <p:nvPr/>
        </p:nvSpPr>
        <p:spPr>
          <a:xfrm>
            <a:off x="502920" y="1622552"/>
            <a:ext cx="11183112" cy="314096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Once the performance plan is developed, check your work against this list: are the critical elements truly critical — does failure mean overall performance is unacceptable? Is the range of acceptable performance clear, quantifiable, observable and verifiable? Are the standards attainable and reasonable, yet challenging enough to require real effort? Are they fair and comparable to similar positions, with some margin of error? Are they applicable — can the appraiser actually use them, and manage the data collected? Will work units and employees understand what is required? Are elements and standards flexible enough to adapt to changed resources or objectives? And if your programme appraises above Fully Successful, is that standard surpassable?</a:t>
            </a:r>
            <a:endParaRPr lang="en-US" sz="1800" dirty="0"/>
          </a:p>
        </p:txBody>
      </p:sp>
      <p:sp>
        <p:nvSpPr>
          <p:cNvPr id="11" name="Text 7"/>
          <p:cNvSpPr/>
          <p:nvPr/>
        </p:nvSpPr>
        <p:spPr>
          <a:xfrm>
            <a:off x="502920" y="4836668"/>
            <a:ext cx="11183112" cy="98069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The process of setting standards should include those responsible for meeting them — well-selected, trained employees know more about what is achievable than anyone else.</a:t>
            </a:r>
            <a:endParaRPr lang="en-US"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34</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 · CONTINUED</a:t>
            </a:r>
            <a:endParaRPr lang="en-US" sz="1800" dirty="0"/>
          </a:p>
        </p:txBody>
      </p:sp>
      <p:sp>
        <p:nvSpPr>
          <p:cNvPr id="9" name="Text 5"/>
          <p:cNvSpPr/>
          <p:nvPr/>
        </p:nvSpPr>
        <p:spPr>
          <a:xfrm>
            <a:off x="502920" y="530352"/>
            <a:ext cx="9857232" cy="92760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Step 8 — check the plan, involve the team, record the standards</a:t>
            </a:r>
            <a:endParaRPr lang="en-US" sz="2800" dirty="0"/>
          </a:p>
        </p:txBody>
      </p:sp>
      <p:sp>
        <p:nvSpPr>
          <p:cNvPr id="10" name="Shape 6"/>
          <p:cNvSpPr/>
          <p:nvPr/>
        </p:nvSpPr>
        <p:spPr>
          <a:xfrm>
            <a:off x="502920" y="1622552"/>
            <a:ext cx="5481828" cy="1527048"/>
          </a:xfrm>
          <a:prstGeom prst="roundRect">
            <a:avLst>
              <a:gd name="adj" fmla="val 5389"/>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1"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67512" y="1778000"/>
            <a:ext cx="310896" cy="310896"/>
          </a:xfrm>
          <a:prstGeom prst="rect">
            <a:avLst/>
          </a:prstGeom>
        </p:spPr>
      </p:pic>
      <p:sp>
        <p:nvSpPr>
          <p:cNvPr id="12" name="Text 7"/>
          <p:cNvSpPr/>
          <p:nvPr/>
        </p:nvSpPr>
        <p:spPr>
          <a:xfrm>
            <a:off x="1106424" y="1750568"/>
            <a:ext cx="4695444" cy="1307592"/>
          </a:xfrm>
          <a:prstGeom prst="rect">
            <a:avLst/>
          </a:prstGeom>
          <a:noFill/>
          <a:ln/>
        </p:spPr>
        <p:txBody>
          <a:bodyPr wrap="square" rtlCol="0" anchor="t"/>
          <a:lstStyle/>
          <a:p>
            <a:pPr indent="0" marL="0">
              <a:lnSpc>
                <a:spcPct val="110000"/>
              </a:lnSpc>
              <a:buNone/>
            </a:pPr>
            <a:r>
              <a:rPr lang="en-US" sz="1800" dirty="0">
                <a:solidFill>
                  <a:srgbClr val="002050"/>
                </a:solidFill>
                <a:latin typeface="Aptos" pitchFamily="34" charset="0"/>
                <a:ea typeface="Aptos" pitchFamily="34" charset="-122"/>
                <a:cs typeface="Aptos" pitchFamily="34" charset="-120"/>
              </a:rPr>
              <a:t>After finalising the standards, record and document them properly — in the format the organisation specifies.</a:t>
            </a:r>
            <a:endParaRPr lang="en-US" sz="1800" dirty="0"/>
          </a:p>
        </p:txBody>
      </p:sp>
      <p:sp>
        <p:nvSpPr>
          <p:cNvPr id="13" name="Shape 8"/>
          <p:cNvSpPr/>
          <p:nvPr/>
        </p:nvSpPr>
        <p:spPr>
          <a:xfrm>
            <a:off x="6204204" y="1622552"/>
            <a:ext cx="5481828" cy="1527048"/>
          </a:xfrm>
          <a:prstGeom prst="roundRect">
            <a:avLst>
              <a:gd name="adj" fmla="val 5389"/>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4"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368796" y="1778000"/>
            <a:ext cx="310896" cy="310896"/>
          </a:xfrm>
          <a:prstGeom prst="rect">
            <a:avLst/>
          </a:prstGeom>
        </p:spPr>
      </p:pic>
      <p:sp>
        <p:nvSpPr>
          <p:cNvPr id="15" name="Text 9"/>
          <p:cNvSpPr/>
          <p:nvPr/>
        </p:nvSpPr>
        <p:spPr>
          <a:xfrm>
            <a:off x="6807708" y="1750568"/>
            <a:ext cx="4695444" cy="1307592"/>
          </a:xfrm>
          <a:prstGeom prst="rect">
            <a:avLst/>
          </a:prstGeom>
          <a:noFill/>
          <a:ln/>
        </p:spPr>
        <p:txBody>
          <a:bodyPr wrap="square" rtlCol="0" anchor="t"/>
          <a:lstStyle/>
          <a:p>
            <a:pPr indent="0" marL="0">
              <a:lnSpc>
                <a:spcPct val="110000"/>
              </a:lnSpc>
              <a:buNone/>
            </a:pPr>
            <a:r>
              <a:rPr lang="en-US" sz="1800" dirty="0">
                <a:solidFill>
                  <a:srgbClr val="002050"/>
                </a:solidFill>
                <a:latin typeface="Aptos" pitchFamily="34" charset="0"/>
                <a:ea typeface="Aptos" pitchFamily="34" charset="-122"/>
                <a:cs typeface="Aptos" pitchFamily="34" charset="-120"/>
              </a:rPr>
              <a:t>Confidentiality of performance standards must be adhered to, in line with organisational policies and procedures.</a:t>
            </a:r>
            <a:endParaRPr lang="en-US" sz="18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02920" y="3332480"/>
          <a:ext cx="11183112" cy="914400"/>
        </p:xfrm>
        <a:graphic>
          <a:graphicData uri="http://schemas.openxmlformats.org/drawingml/2006/table">
            <a:tbl>
              <a:tblPr/>
              <a:tblGrid>
                <a:gridCol w="5591556"/>
                <a:gridCol w="5591556"/>
              </a:tblGrid>
              <a:tr h="475488">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Team member</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Supervisor</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1399032">
                <a:tc>
                  <a:txBody>
                    <a:bodyPr/>
                    <a:lstStyle/>
                    <a:p>
                      <a:pPr indent="0" marL="0">
                        <a:buNone/>
                      </a:pPr>
                      <a:r>
                        <a:rPr lang="en-US" sz="1800" dirty="0">
                          <a:solidFill>
                            <a:srgbClr val="002050"/>
                          </a:solidFill>
                          <a:latin typeface="Aptos" pitchFamily="34" charset="0"/>
                          <a:ea typeface="Aptos" pitchFamily="34" charset="-122"/>
                          <a:cs typeface="Aptos" pitchFamily="34" charset="-120"/>
                        </a:rPr>
                        <a:t>Helps establish performance goals and standards — a 'self-contract' for achievement and a commitment to deliver a result for the team</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Ensures team goals are achievable but challenging enough to meet organisational needs and give a sense of accomplishment</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35</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 · CONTINUED</a:t>
            </a:r>
            <a:endParaRPr lang="en-US" sz="1800" dirty="0"/>
          </a:p>
        </p:txBody>
      </p:sp>
      <p:sp>
        <p:nvSpPr>
          <p:cNvPr id="9" name="Text 5"/>
          <p:cNvSpPr/>
          <p:nvPr/>
        </p:nvSpPr>
        <p:spPr>
          <a:xfrm>
            <a:off x="502920" y="530352"/>
            <a:ext cx="9857232" cy="92760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Step 8 — check the plan, involve the team, record the standards</a:t>
            </a:r>
            <a:endParaRPr lang="en-US" sz="28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02920" y="1622552"/>
          <a:ext cx="11183112" cy="914400"/>
        </p:xfrm>
        <a:graphic>
          <a:graphicData uri="http://schemas.openxmlformats.org/drawingml/2006/table">
            <a:tbl>
              <a:tblPr/>
              <a:tblGrid>
                <a:gridCol w="5591556"/>
                <a:gridCol w="5591556"/>
              </a:tblGrid>
              <a:tr h="475488">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Team member</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Supervisor</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1090422">
                <a:tc>
                  <a:txBody>
                    <a:bodyPr/>
                    <a:lstStyle/>
                    <a:p>
                      <a:pPr indent="0" marL="0">
                        <a:buNone/>
                      </a:pPr>
                      <a:r>
                        <a:rPr lang="en-US" sz="1800" dirty="0">
                          <a:solidFill>
                            <a:srgbClr val="002050"/>
                          </a:solidFill>
                          <a:latin typeface="Aptos" pitchFamily="34" charset="0"/>
                          <a:ea typeface="Aptos" pitchFamily="34" charset="-122"/>
                          <a:cs typeface="Aptos" pitchFamily="34" charset="-120"/>
                        </a:rPr>
                        <a:t>Develops methods to measure results and checkpoints for control purposes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Helps balance the complexity of measures and controls with the value received</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1090422">
                <a:tc>
                  <a:txBody>
                    <a:bodyPr/>
                    <a:lstStyle/>
                    <a:p>
                      <a:pPr indent="0" marL="0">
                        <a:buNone/>
                      </a:pPr>
                      <a:r>
                        <a:rPr lang="en-US" sz="1800" dirty="0">
                          <a:solidFill>
                            <a:srgbClr val="002050"/>
                          </a:solidFill>
                          <a:latin typeface="Aptos" pitchFamily="34" charset="0"/>
                          <a:ea typeface="Aptos" pitchFamily="34" charset="-122"/>
                          <a:cs typeface="Aptos" pitchFamily="34" charset="-120"/>
                        </a:rPr>
                        <a:t>Outlines the action required to accomplish goals and standards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Participates with the team to test the action plan's validity against alternatives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1399032">
                <a:tc>
                  <a:txBody>
                    <a:bodyPr/>
                    <a:lstStyle/>
                    <a:p>
                      <a:pPr indent="0" marL="0">
                        <a:buNone/>
                      </a:pPr>
                      <a:r>
                        <a:rPr lang="en-US" sz="1800" dirty="0">
                          <a:solidFill>
                            <a:srgbClr val="002050"/>
                          </a:solidFill>
                          <a:latin typeface="Aptos" pitchFamily="34" charset="0"/>
                          <a:ea typeface="Aptos" pitchFamily="34" charset="-122"/>
                          <a:cs typeface="Aptos" pitchFamily="34" charset="-120"/>
                        </a:rPr>
                        <a:t>Reports progress as work is performed; seeks guidance and assistance when needed; adjusts the plan as required</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Follows the progress of the work; reinforces achievement and assists in problem solving; ensures targets are met or modified if circumstances indicate</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02050"/>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36</a:t>
            </a:r>
            <a:endParaRPr lang="en-US" sz="1200" dirty="0"/>
          </a:p>
        </p:txBody>
      </p:sp>
      <p:sp>
        <p:nvSpPr>
          <p:cNvPr id="4" name="Shape 2"/>
          <p:cNvSpPr/>
          <p:nvPr/>
        </p:nvSpPr>
        <p:spPr>
          <a:xfrm>
            <a:off x="0" y="0"/>
            <a:ext cx="12188952" cy="82296"/>
          </a:xfrm>
          <a:prstGeom prst="rect">
            <a:avLst/>
          </a:prstGeom>
          <a:solidFill>
            <a:srgbClr val="0F6CBD"/>
          </a:solidFill>
          <a:ln/>
        </p:spPr>
      </p:sp>
      <p:sp>
        <p:nvSpPr>
          <p:cNvPr id="5" name="Shape 3"/>
          <p:cNvSpPr/>
          <p:nvPr/>
        </p:nvSpPr>
        <p:spPr>
          <a:xfrm>
            <a:off x="0" y="0"/>
            <a:ext cx="12188952" cy="109728"/>
          </a:xfrm>
          <a:prstGeom prst="rect">
            <a:avLst/>
          </a:prstGeom>
          <a:solidFill>
            <a:srgbClr val="0F6CBD"/>
          </a:solidFill>
          <a:ln/>
        </p:spPr>
      </p:sp>
      <p:sp>
        <p:nvSpPr>
          <p:cNvPr id="6" name="Text 4"/>
          <p:cNvSpPr/>
          <p:nvPr/>
        </p:nvSpPr>
        <p:spPr>
          <a:xfrm>
            <a:off x="502920" y="1920240"/>
            <a:ext cx="11183112" cy="457200"/>
          </a:xfrm>
          <a:prstGeom prst="rect">
            <a:avLst/>
          </a:prstGeom>
          <a:noFill/>
          <a:ln/>
        </p:spPr>
        <p:txBody>
          <a:bodyPr wrap="square" rtlCol="0" anchor="ctr"/>
          <a:lstStyle/>
          <a:p>
            <a:pPr indent="0" marL="0">
              <a:buNone/>
            </a:pPr>
            <a:r>
              <a:rPr lang="en-US" sz="2000" b="1" spc="300" kern="0" dirty="0">
                <a:solidFill>
                  <a:srgbClr val="8CC2F0"/>
                </a:solidFill>
                <a:latin typeface="Aptos" pitchFamily="34" charset="0"/>
                <a:ea typeface="Aptos" pitchFamily="34" charset="-122"/>
                <a:cs typeface="Aptos" pitchFamily="34" charset="-120"/>
              </a:rPr>
              <a:t>LESSON 2</a:t>
            </a:r>
            <a:endParaRPr lang="en-US" sz="2000" dirty="0"/>
          </a:p>
        </p:txBody>
      </p:sp>
      <p:sp>
        <p:nvSpPr>
          <p:cNvPr id="7" name="Text 5"/>
          <p:cNvSpPr/>
          <p:nvPr/>
        </p:nvSpPr>
        <p:spPr>
          <a:xfrm>
            <a:off x="502920" y="2468880"/>
            <a:ext cx="10424160" cy="1554480"/>
          </a:xfrm>
          <a:prstGeom prst="rect">
            <a:avLst/>
          </a:prstGeom>
          <a:noFill/>
          <a:ln/>
        </p:spPr>
        <p:txBody>
          <a:bodyPr wrap="square" rtlCol="0" anchor="ctr"/>
          <a:lstStyle/>
          <a:p>
            <a:pPr indent="0" marL="0">
              <a:buNone/>
            </a:pPr>
            <a:r>
              <a:rPr lang="en-US" sz="4000" b="1" dirty="0">
                <a:solidFill>
                  <a:srgbClr val="FFFFFF"/>
                </a:solidFill>
                <a:latin typeface="Aptos Display" pitchFamily="34" charset="0"/>
                <a:ea typeface="Aptos Display" pitchFamily="34" charset="-122"/>
                <a:cs typeface="Aptos Display" pitchFamily="34" charset="-120"/>
              </a:rPr>
              <a:t>Prepare for a performance review of a team member</a:t>
            </a:r>
            <a:endParaRPr lang="en-US" sz="4000" dirty="0"/>
          </a:p>
        </p:txBody>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02920" y="1097280"/>
            <a:ext cx="640080" cy="640080"/>
          </a:xfrm>
          <a:prstGeom prst="rect">
            <a:avLst/>
          </a:prstGeom>
        </p:spPr>
      </p:pic>
      <p:sp>
        <p:nvSpPr>
          <p:cNvPr id="9" name="Text 6"/>
          <p:cNvSpPr/>
          <p:nvPr/>
        </p:nvSpPr>
        <p:spPr>
          <a:xfrm>
            <a:off x="502920" y="6291072"/>
            <a:ext cx="11183112" cy="365760"/>
          </a:xfrm>
          <a:prstGeom prst="rect">
            <a:avLst/>
          </a:prstGeom>
          <a:noFill/>
          <a:ln/>
        </p:spPr>
        <p:txBody>
          <a:bodyPr wrap="square" rtlCol="0" anchor="ctr"/>
          <a:lstStyle/>
          <a:p>
            <a:pPr indent="0" marL="0">
              <a:buNone/>
            </a:pPr>
            <a:r>
              <a:rPr lang="en-US" sz="1400" dirty="0">
                <a:solidFill>
                  <a:srgbClr val="6E93BC"/>
                </a:solidFill>
                <a:latin typeface="Aptos" pitchFamily="34" charset="0"/>
                <a:ea typeface="Aptos" pitchFamily="34" charset="-122"/>
                <a:cs typeface="Aptos" pitchFamily="34" charset="-120"/>
              </a:rPr>
              <a:t>US 252034 · Monitor and evaluate team members against performance standards · NQF 5 · 8 credits · ITSS Learn</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37</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2</a:t>
            </a:r>
            <a:endParaRPr lang="en-US" sz="1800" dirty="0"/>
          </a:p>
        </p:txBody>
      </p:sp>
      <p:sp>
        <p:nvSpPr>
          <p:cNvPr id="9" name="Text 5"/>
          <p:cNvSpPr/>
          <p:nvPr/>
        </p:nvSpPr>
        <p:spPr>
          <a:xfrm>
            <a:off x="502920" y="530352"/>
            <a:ext cx="9857232" cy="56692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The performance appraisal interview</a:t>
            </a:r>
            <a:endParaRPr lang="en-US" sz="2800" dirty="0"/>
          </a:p>
        </p:txBody>
      </p:sp>
      <p:sp>
        <p:nvSpPr>
          <p:cNvPr id="10" name="Text 6"/>
          <p:cNvSpPr/>
          <p:nvPr/>
        </p:nvSpPr>
        <p:spPr>
          <a:xfrm>
            <a:off x="502920" y="1261872"/>
            <a:ext cx="11183112" cy="159791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A performance appraisal interview is the first stage of the performance appraisal process: the employee and manager sit face to face to discuss all aspects of the employee's performance and thrash out any differences in perception or evaluation. It gives the employee a chance to respond to the evaluation, and the manager a chance to explain it.</a:t>
            </a:r>
            <a:endParaRPr lang="en-US" sz="1800" dirty="0"/>
          </a:p>
        </p:txBody>
      </p:sp>
      <p:sp>
        <p:nvSpPr>
          <p:cNvPr id="11" name="Text 7"/>
          <p:cNvSpPr/>
          <p:nvPr/>
        </p:nvSpPr>
        <p:spPr>
          <a:xfrm>
            <a:off x="502920" y="2932938"/>
            <a:ext cx="11183112" cy="98069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The employee being evaluated is the appraisee; the person doing the evaluation — usually the manager — is the appraiser. Both prepare: the appraisee through self-evaluation, the appraiser through an objective evaluation.</a:t>
            </a:r>
            <a:endParaRPr lang="en-US" sz="1800" dirty="0"/>
          </a:p>
        </p:txBody>
      </p:sp>
      <p:sp>
        <p:nvSpPr>
          <p:cNvPr id="12" name="Text 8"/>
          <p:cNvSpPr/>
          <p:nvPr/>
        </p:nvSpPr>
        <p:spPr>
          <a:xfrm>
            <a:off x="502920" y="3986784"/>
            <a:ext cx="11183112" cy="67208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The outcome of the appraisal process is the grade decided for the employee, and with it the salary increase or bonus potential awarded.</a:t>
            </a:r>
            <a:endParaRPr lang="en-US" sz="1800" dirty="0"/>
          </a:p>
        </p:txBody>
      </p:sp>
      <p:sp>
        <p:nvSpPr>
          <p:cNvPr id="13" name="Shape 9"/>
          <p:cNvSpPr/>
          <p:nvPr/>
        </p:nvSpPr>
        <p:spPr>
          <a:xfrm>
            <a:off x="557784" y="4878324"/>
            <a:ext cx="91440" cy="91440"/>
          </a:xfrm>
          <a:prstGeom prst="ellipse">
            <a:avLst/>
          </a:prstGeom>
          <a:solidFill>
            <a:srgbClr val="0F6CBD"/>
          </a:solidFill>
          <a:ln/>
        </p:spPr>
      </p:sp>
      <p:sp>
        <p:nvSpPr>
          <p:cNvPr id="14" name="Text 10"/>
          <p:cNvSpPr/>
          <p:nvPr/>
        </p:nvSpPr>
        <p:spPr>
          <a:xfrm>
            <a:off x="795528" y="4768596"/>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Give at least a week's notice so the employee can review their work — more for senior or specialist positions.</a:t>
            </a:r>
            <a:endParaRPr lang="en-US" sz="1800" dirty="0"/>
          </a:p>
        </p:txBody>
      </p:sp>
      <p:sp>
        <p:nvSpPr>
          <p:cNvPr id="15" name="Shape 11"/>
          <p:cNvSpPr/>
          <p:nvPr/>
        </p:nvSpPr>
        <p:spPr>
          <a:xfrm>
            <a:off x="557784" y="5605272"/>
            <a:ext cx="91440" cy="91440"/>
          </a:xfrm>
          <a:prstGeom prst="ellipse">
            <a:avLst/>
          </a:prstGeom>
          <a:solidFill>
            <a:srgbClr val="0F6CBD"/>
          </a:solidFill>
          <a:ln/>
        </p:spPr>
      </p:sp>
      <p:sp>
        <p:nvSpPr>
          <p:cNvPr id="16" name="Text 12"/>
          <p:cNvSpPr/>
          <p:nvPr/>
        </p:nvSpPr>
        <p:spPr>
          <a:xfrm>
            <a:off x="795528" y="5495544"/>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Stress that the appraisal is designed mainly to help the employee understand their own performance.</a:t>
            </a:r>
            <a:endParaRPr lang="en-US" sz="1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38</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2 · CONTINUED</a:t>
            </a:r>
            <a:endParaRPr lang="en-US" sz="1800" dirty="0"/>
          </a:p>
        </p:txBody>
      </p:sp>
      <p:sp>
        <p:nvSpPr>
          <p:cNvPr id="9" name="Text 5"/>
          <p:cNvSpPr/>
          <p:nvPr/>
        </p:nvSpPr>
        <p:spPr>
          <a:xfrm>
            <a:off x="502920" y="530352"/>
            <a:ext cx="9857232" cy="56692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The performance appraisal interview</a:t>
            </a:r>
            <a:endParaRPr lang="en-US" sz="2800" dirty="0"/>
          </a:p>
        </p:txBody>
      </p:sp>
      <p:sp>
        <p:nvSpPr>
          <p:cNvPr id="10" name="Shape 6"/>
          <p:cNvSpPr/>
          <p:nvPr/>
        </p:nvSpPr>
        <p:spPr>
          <a:xfrm>
            <a:off x="557784" y="1371600"/>
            <a:ext cx="91440" cy="91440"/>
          </a:xfrm>
          <a:prstGeom prst="ellipse">
            <a:avLst/>
          </a:prstGeom>
          <a:solidFill>
            <a:srgbClr val="0F6CBD"/>
          </a:solidFill>
          <a:ln/>
        </p:spPr>
      </p:sp>
      <p:sp>
        <p:nvSpPr>
          <p:cNvPr id="11" name="Text 7"/>
          <p:cNvSpPr/>
          <p:nvPr/>
        </p:nvSpPr>
        <p:spPr>
          <a:xfrm>
            <a:off x="795528" y="1261872"/>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Work out a mutually agreeable time; allow enough time in both schedules for the whole interview (45–90 minutes).</a:t>
            </a:r>
            <a:endParaRPr lang="en-US" sz="1800" dirty="0"/>
          </a:p>
        </p:txBody>
      </p:sp>
      <p:sp>
        <p:nvSpPr>
          <p:cNvPr id="12" name="Shape 8"/>
          <p:cNvSpPr/>
          <p:nvPr/>
        </p:nvSpPr>
        <p:spPr>
          <a:xfrm>
            <a:off x="557784" y="2098548"/>
            <a:ext cx="91440" cy="91440"/>
          </a:xfrm>
          <a:prstGeom prst="ellipse">
            <a:avLst/>
          </a:prstGeom>
          <a:solidFill>
            <a:srgbClr val="0F6CBD"/>
          </a:solidFill>
          <a:ln/>
        </p:spPr>
      </p:sp>
      <p:sp>
        <p:nvSpPr>
          <p:cNvPr id="13" name="Text 9"/>
          <p:cNvSpPr/>
          <p:nvPr/>
        </p:nvSpPr>
        <p:spPr>
          <a:xfrm>
            <a:off x="795528" y="1988820"/>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Choose a private, comfortable venue without interruptions. Do not sit behind a desk — it transmits a 'superior-subordinate' message; sit together at a table.</a:t>
            </a:r>
            <a:endParaRPr lang="en-US" sz="1800" dirty="0"/>
          </a:p>
        </p:txBody>
      </p:sp>
      <p:sp>
        <p:nvSpPr>
          <p:cNvPr id="14" name="Shape 10"/>
          <p:cNvSpPr/>
          <p:nvPr/>
        </p:nvSpPr>
        <p:spPr>
          <a:xfrm>
            <a:off x="557784" y="2825496"/>
            <a:ext cx="91440" cy="91440"/>
          </a:xfrm>
          <a:prstGeom prst="ellipse">
            <a:avLst/>
          </a:prstGeom>
          <a:solidFill>
            <a:srgbClr val="0F6CBD"/>
          </a:solidFill>
          <a:ln/>
        </p:spPr>
      </p:sp>
      <p:sp>
        <p:nvSpPr>
          <p:cNvPr id="15" name="Text 11"/>
          <p:cNvSpPr/>
          <p:nvPr/>
        </p:nvSpPr>
        <p:spPr>
          <a:xfrm>
            <a:off x="795528" y="2715768"/>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Explain thoroughly how the exercise will run, define the roles, and make clear it is a two-way conversation with your undivided attention.</a:t>
            </a:r>
            <a:endParaRPr lang="en-US" sz="1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39</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2</a:t>
            </a:r>
            <a:endParaRPr lang="en-US" sz="1800" dirty="0"/>
          </a:p>
        </p:txBody>
      </p:sp>
      <p:sp>
        <p:nvSpPr>
          <p:cNvPr id="9" name="Text 5"/>
          <p:cNvSpPr/>
          <p:nvPr/>
        </p:nvSpPr>
        <p:spPr>
          <a:xfrm>
            <a:off x="502920" y="530352"/>
            <a:ext cx="9857232" cy="56692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The preliminary assessment</a:t>
            </a:r>
            <a:endParaRPr lang="en-US" sz="2800" dirty="0"/>
          </a:p>
        </p:txBody>
      </p:sp>
      <p:sp>
        <p:nvSpPr>
          <p:cNvPr id="10" name="Text 6"/>
          <p:cNvSpPr/>
          <p:nvPr/>
        </p:nvSpPr>
        <p:spPr>
          <a:xfrm>
            <a:off x="502920" y="1261872"/>
            <a:ext cx="11183112" cy="98069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Before the interview, the supervisor conducts a preliminary assessment of the employee's performance against the agreed standards — and records the findings for the review meeting and future reference.</a:t>
            </a:r>
            <a:endParaRPr lang="en-US" sz="1800" dirty="0"/>
          </a:p>
        </p:txBody>
      </p:sp>
      <p:sp>
        <p:nvSpPr>
          <p:cNvPr id="11" name="Shape 7"/>
          <p:cNvSpPr/>
          <p:nvPr/>
        </p:nvSpPr>
        <p:spPr>
          <a:xfrm>
            <a:off x="557784" y="2462022"/>
            <a:ext cx="91440" cy="91440"/>
          </a:xfrm>
          <a:prstGeom prst="ellipse">
            <a:avLst/>
          </a:prstGeom>
          <a:solidFill>
            <a:srgbClr val="0F6CBD"/>
          </a:solidFill>
          <a:ln/>
        </p:spPr>
      </p:sp>
      <p:sp>
        <p:nvSpPr>
          <p:cNvPr id="12" name="Text 8"/>
          <p:cNvSpPr/>
          <p:nvPr/>
        </p:nvSpPr>
        <p:spPr>
          <a:xfrm>
            <a:off x="795528" y="2352294"/>
            <a:ext cx="10799064" cy="35433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Collect all the information you need for the interview.</a:t>
            </a:r>
            <a:endParaRPr lang="en-US" sz="1800" dirty="0"/>
          </a:p>
        </p:txBody>
      </p:sp>
      <p:sp>
        <p:nvSpPr>
          <p:cNvPr id="13" name="Shape 9"/>
          <p:cNvSpPr/>
          <p:nvPr/>
        </p:nvSpPr>
        <p:spPr>
          <a:xfrm>
            <a:off x="557784" y="2880360"/>
            <a:ext cx="91440" cy="91440"/>
          </a:xfrm>
          <a:prstGeom prst="ellipse">
            <a:avLst/>
          </a:prstGeom>
          <a:solidFill>
            <a:srgbClr val="0F6CBD"/>
          </a:solidFill>
          <a:ln/>
        </p:spPr>
      </p:sp>
      <p:sp>
        <p:nvSpPr>
          <p:cNvPr id="14" name="Text 10"/>
          <p:cNvSpPr/>
          <p:nvPr/>
        </p:nvSpPr>
        <p:spPr>
          <a:xfrm>
            <a:off x="795528" y="2770632"/>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Review the relevant job description — then weed out the important duties from the unimportant.</a:t>
            </a:r>
            <a:endParaRPr lang="en-US" sz="1800" dirty="0"/>
          </a:p>
        </p:txBody>
      </p:sp>
      <p:sp>
        <p:nvSpPr>
          <p:cNvPr id="15" name="Shape 11"/>
          <p:cNvSpPr/>
          <p:nvPr/>
        </p:nvSpPr>
        <p:spPr>
          <a:xfrm>
            <a:off x="557784" y="3607308"/>
            <a:ext cx="91440" cy="91440"/>
          </a:xfrm>
          <a:prstGeom prst="ellipse">
            <a:avLst/>
          </a:prstGeom>
          <a:solidFill>
            <a:srgbClr val="0F6CBD"/>
          </a:solidFill>
          <a:ln/>
        </p:spPr>
      </p:sp>
      <p:sp>
        <p:nvSpPr>
          <p:cNvPr id="16" name="Text 12"/>
          <p:cNvSpPr/>
          <p:nvPr/>
        </p:nvSpPr>
        <p:spPr>
          <a:xfrm>
            <a:off x="795528" y="3497580"/>
            <a:ext cx="10799064" cy="35433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Compare the employee's performance against these criteria.</a:t>
            </a:r>
            <a:endParaRPr lang="en-US" sz="1800" dirty="0"/>
          </a:p>
        </p:txBody>
      </p:sp>
      <p:sp>
        <p:nvSpPr>
          <p:cNvPr id="17" name="Shape 13"/>
          <p:cNvSpPr/>
          <p:nvPr/>
        </p:nvSpPr>
        <p:spPr>
          <a:xfrm>
            <a:off x="557784" y="4025646"/>
            <a:ext cx="91440" cy="91440"/>
          </a:xfrm>
          <a:prstGeom prst="ellipse">
            <a:avLst/>
          </a:prstGeom>
          <a:solidFill>
            <a:srgbClr val="0F6CBD"/>
          </a:solidFill>
          <a:ln/>
        </p:spPr>
      </p:sp>
      <p:sp>
        <p:nvSpPr>
          <p:cNvPr id="18" name="Text 14"/>
          <p:cNvSpPr/>
          <p:nvPr/>
        </p:nvSpPr>
        <p:spPr>
          <a:xfrm>
            <a:off x="795528" y="3915918"/>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Look at previous appraisals and whether past goals were met — but do not let old evaluations bias your view of current performance.</a:t>
            </a:r>
            <a:endParaRPr lang="en-US" sz="1800" dirty="0"/>
          </a:p>
        </p:txBody>
      </p:sp>
      <p:sp>
        <p:nvSpPr>
          <p:cNvPr id="19" name="Shape 15"/>
          <p:cNvSpPr/>
          <p:nvPr/>
        </p:nvSpPr>
        <p:spPr>
          <a:xfrm>
            <a:off x="557784" y="4752594"/>
            <a:ext cx="91440" cy="91440"/>
          </a:xfrm>
          <a:prstGeom prst="ellipse">
            <a:avLst/>
          </a:prstGeom>
          <a:solidFill>
            <a:srgbClr val="0F6CBD"/>
          </a:solidFill>
          <a:ln/>
        </p:spPr>
      </p:sp>
      <p:sp>
        <p:nvSpPr>
          <p:cNvPr id="20" name="Text 16"/>
          <p:cNvSpPr/>
          <p:nvPr/>
        </p:nvSpPr>
        <p:spPr>
          <a:xfrm>
            <a:off x="795528" y="4642866"/>
            <a:ext cx="10799064" cy="35433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Request comments from other managers who have observed the employee's work.</a:t>
            </a:r>
            <a:endParaRPr lang="en-US" sz="1800" dirty="0"/>
          </a:p>
        </p:txBody>
      </p:sp>
      <p:sp>
        <p:nvSpPr>
          <p:cNvPr id="21" name="Shape 17"/>
          <p:cNvSpPr/>
          <p:nvPr/>
        </p:nvSpPr>
        <p:spPr>
          <a:xfrm>
            <a:off x="557784" y="5170932"/>
            <a:ext cx="91440" cy="91440"/>
          </a:xfrm>
          <a:prstGeom prst="ellipse">
            <a:avLst/>
          </a:prstGeom>
          <a:solidFill>
            <a:srgbClr val="0F6CBD"/>
          </a:solidFill>
          <a:ln/>
        </p:spPr>
      </p:sp>
      <p:sp>
        <p:nvSpPr>
          <p:cNvPr id="22" name="Text 18"/>
          <p:cNvSpPr/>
          <p:nvPr/>
        </p:nvSpPr>
        <p:spPr>
          <a:xfrm>
            <a:off x="795528" y="5061204"/>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Complete the appraisal form so the interview is organised — but do NOT draft the improvement plan yet; that is developed WITH the employee in the interview.</a:t>
            </a:r>
            <a:endParaRPr lang="en-US" sz="1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40</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2 · CONTINUED</a:t>
            </a:r>
            <a:endParaRPr lang="en-US" sz="1800" dirty="0"/>
          </a:p>
        </p:txBody>
      </p:sp>
      <p:sp>
        <p:nvSpPr>
          <p:cNvPr id="9" name="Text 5"/>
          <p:cNvSpPr/>
          <p:nvPr/>
        </p:nvSpPr>
        <p:spPr>
          <a:xfrm>
            <a:off x="502920" y="530352"/>
            <a:ext cx="9857232" cy="56692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The preliminary assessment</a:t>
            </a:r>
            <a:endParaRPr lang="en-US" sz="2800" dirty="0"/>
          </a:p>
        </p:txBody>
      </p:sp>
      <p:sp>
        <p:nvSpPr>
          <p:cNvPr id="10" name="Shape 6"/>
          <p:cNvSpPr/>
          <p:nvPr/>
        </p:nvSpPr>
        <p:spPr>
          <a:xfrm>
            <a:off x="557784" y="1371600"/>
            <a:ext cx="91440" cy="91440"/>
          </a:xfrm>
          <a:prstGeom prst="ellipse">
            <a:avLst/>
          </a:prstGeom>
          <a:solidFill>
            <a:srgbClr val="0F6CBD"/>
          </a:solidFill>
          <a:ln/>
        </p:spPr>
      </p:sp>
      <p:sp>
        <p:nvSpPr>
          <p:cNvPr id="11" name="Text 7"/>
          <p:cNvSpPr/>
          <p:nvPr/>
        </p:nvSpPr>
        <p:spPr>
          <a:xfrm>
            <a:off x="795528" y="1261872"/>
            <a:ext cx="10799064" cy="128016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Observe, observe, observe: be balanced and fair; avoid incidents that are too old, too new or from an atypical period; assess job performance, not personality; when in doubt, let the facts guide you; appraise only if you have enough information.</a:t>
            </a:r>
            <a:endParaRPr lang="en-US" sz="1800" dirty="0"/>
          </a:p>
        </p:txBody>
      </p:sp>
      <p:sp>
        <p:nvSpPr>
          <p:cNvPr id="12" name="Shape 8"/>
          <p:cNvSpPr/>
          <p:nvPr/>
        </p:nvSpPr>
        <p:spPr>
          <a:xfrm>
            <a:off x="557784" y="2715768"/>
            <a:ext cx="91440" cy="91440"/>
          </a:xfrm>
          <a:prstGeom prst="ellipse">
            <a:avLst/>
          </a:prstGeom>
          <a:solidFill>
            <a:srgbClr val="0F6CBD"/>
          </a:solidFill>
          <a:ln/>
        </p:spPr>
      </p:sp>
      <p:sp>
        <p:nvSpPr>
          <p:cNvPr id="13" name="Text 9"/>
          <p:cNvSpPr/>
          <p:nvPr/>
        </p:nvSpPr>
        <p:spPr>
          <a:xfrm>
            <a:off x="795528" y="2606040"/>
            <a:ext cx="10799064" cy="128016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Record findings on a preliminary worksheet: job description changes, professional goals, employee strengths, areas for improvement, organisational strengths/weaknesses affecting the position, and ways the supervisor or organisation can assist.</a:t>
            </a:r>
            <a:endParaRPr lang="en-US" sz="1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41</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2</a:t>
            </a:r>
            <a:endParaRPr lang="en-US" sz="1800" dirty="0"/>
          </a:p>
        </p:txBody>
      </p:sp>
      <p:sp>
        <p:nvSpPr>
          <p:cNvPr id="9" name="Text 5"/>
          <p:cNvSpPr/>
          <p:nvPr/>
        </p:nvSpPr>
        <p:spPr>
          <a:xfrm>
            <a:off x="502920" y="530352"/>
            <a:ext cx="9857232" cy="56692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Employee self-preparation</a:t>
            </a:r>
            <a:endParaRPr lang="en-US" sz="2800" dirty="0"/>
          </a:p>
        </p:txBody>
      </p:sp>
      <p:sp>
        <p:nvSpPr>
          <p:cNvPr id="10" name="Text 6"/>
          <p:cNvSpPr/>
          <p:nvPr/>
        </p:nvSpPr>
        <p:spPr>
          <a:xfrm>
            <a:off x="502920" y="1261872"/>
            <a:ext cx="11183112" cy="128930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The employee must also be given the chance to prepare for the review. A self-appraisal preparation form guides their thinking about past performance and the year ahead — and self-evaluation stimulates discussion about how supervisor and employee can work together to increase effectiveness.</a:t>
            </a:r>
            <a:endParaRPr lang="en-US" sz="1800" dirty="0"/>
          </a:p>
        </p:txBody>
      </p:sp>
      <p:sp>
        <p:nvSpPr>
          <p:cNvPr id="11" name="Shape 7"/>
          <p:cNvSpPr/>
          <p:nvPr/>
        </p:nvSpPr>
        <p:spPr>
          <a:xfrm>
            <a:off x="557784" y="2770632"/>
            <a:ext cx="91440" cy="91440"/>
          </a:xfrm>
          <a:prstGeom prst="ellipse">
            <a:avLst/>
          </a:prstGeom>
          <a:solidFill>
            <a:srgbClr val="0F6CBD"/>
          </a:solidFill>
          <a:ln/>
        </p:spPr>
      </p:sp>
      <p:sp>
        <p:nvSpPr>
          <p:cNvPr id="12" name="Text 8"/>
          <p:cNvSpPr/>
          <p:nvPr/>
        </p:nvSpPr>
        <p:spPr>
          <a:xfrm>
            <a:off x="795528" y="2660904"/>
            <a:ext cx="10799064" cy="97155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Past performance: How well did I achieve my objectives? What are my key accountabilities, in order of importance? What were my major accomplishments and their measurable results?</a:t>
            </a:r>
            <a:endParaRPr lang="en-US" sz="1800" dirty="0"/>
          </a:p>
        </p:txBody>
      </p:sp>
      <p:sp>
        <p:nvSpPr>
          <p:cNvPr id="13" name="Shape 9"/>
          <p:cNvSpPr/>
          <p:nvPr/>
        </p:nvSpPr>
        <p:spPr>
          <a:xfrm>
            <a:off x="557784" y="3806190"/>
            <a:ext cx="91440" cy="91440"/>
          </a:xfrm>
          <a:prstGeom prst="ellipse">
            <a:avLst/>
          </a:prstGeom>
          <a:solidFill>
            <a:srgbClr val="0F6CBD"/>
          </a:solidFill>
          <a:ln/>
        </p:spPr>
      </p:sp>
      <p:sp>
        <p:nvSpPr>
          <p:cNvPr id="14" name="Text 10"/>
          <p:cNvSpPr/>
          <p:nvPr/>
        </p:nvSpPr>
        <p:spPr>
          <a:xfrm>
            <a:off x="795528" y="3696462"/>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Have any new accountabilities been added or removed this year? Were there special circumstances that helped or hindered my work?</a:t>
            </a:r>
            <a:endParaRPr lang="en-US" sz="1800" dirty="0"/>
          </a:p>
        </p:txBody>
      </p:sp>
      <p:sp>
        <p:nvSpPr>
          <p:cNvPr id="15" name="Shape 11"/>
          <p:cNvSpPr/>
          <p:nvPr/>
        </p:nvSpPr>
        <p:spPr>
          <a:xfrm>
            <a:off x="557784" y="4533138"/>
            <a:ext cx="91440" cy="91440"/>
          </a:xfrm>
          <a:prstGeom prst="ellipse">
            <a:avLst/>
          </a:prstGeom>
          <a:solidFill>
            <a:srgbClr val="0F6CBD"/>
          </a:solidFill>
          <a:ln/>
        </p:spPr>
      </p:sp>
      <p:sp>
        <p:nvSpPr>
          <p:cNvPr id="16" name="Text 12"/>
          <p:cNvSpPr/>
          <p:nvPr/>
        </p:nvSpPr>
        <p:spPr>
          <a:xfrm>
            <a:off x="795528" y="4423410"/>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What knowledge and skills did I develop, and how did I apply them? What development goals did I achieve?</a:t>
            </a:r>
            <a:endParaRPr lang="en-US" sz="1800" dirty="0"/>
          </a:p>
        </p:txBody>
      </p:sp>
      <p:sp>
        <p:nvSpPr>
          <p:cNvPr id="17" name="Shape 13"/>
          <p:cNvSpPr/>
          <p:nvPr/>
        </p:nvSpPr>
        <p:spPr>
          <a:xfrm>
            <a:off x="557784" y="5260086"/>
            <a:ext cx="91440" cy="91440"/>
          </a:xfrm>
          <a:prstGeom prst="ellipse">
            <a:avLst/>
          </a:prstGeom>
          <a:solidFill>
            <a:srgbClr val="0F6CBD"/>
          </a:solidFill>
          <a:ln/>
        </p:spPr>
      </p:sp>
      <p:sp>
        <p:nvSpPr>
          <p:cNvPr id="18" name="Text 14"/>
          <p:cNvSpPr/>
          <p:nvPr/>
        </p:nvSpPr>
        <p:spPr>
          <a:xfrm>
            <a:off x="795528" y="5150358"/>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Problems and support: What problems did I meet? Could my manager give more guidance or help? Are my skills and abilities being fully used?</a:t>
            </a:r>
            <a:endParaRPr lang="en-US" sz="1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42</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2 · CONTINUED</a:t>
            </a:r>
            <a:endParaRPr lang="en-US" sz="1800" dirty="0"/>
          </a:p>
        </p:txBody>
      </p:sp>
      <p:sp>
        <p:nvSpPr>
          <p:cNvPr id="9" name="Text 5"/>
          <p:cNvSpPr/>
          <p:nvPr/>
        </p:nvSpPr>
        <p:spPr>
          <a:xfrm>
            <a:off x="502920" y="530352"/>
            <a:ext cx="9857232" cy="56692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Employee self-preparation</a:t>
            </a:r>
            <a:endParaRPr lang="en-US" sz="2800" dirty="0"/>
          </a:p>
        </p:txBody>
      </p:sp>
      <p:sp>
        <p:nvSpPr>
          <p:cNvPr id="10" name="Shape 6"/>
          <p:cNvSpPr/>
          <p:nvPr/>
        </p:nvSpPr>
        <p:spPr>
          <a:xfrm>
            <a:off x="557784" y="1371600"/>
            <a:ext cx="91440" cy="91440"/>
          </a:xfrm>
          <a:prstGeom prst="ellipse">
            <a:avLst/>
          </a:prstGeom>
          <a:solidFill>
            <a:srgbClr val="0F6CBD"/>
          </a:solidFill>
          <a:ln/>
        </p:spPr>
      </p:sp>
      <p:sp>
        <p:nvSpPr>
          <p:cNvPr id="11" name="Text 7"/>
          <p:cNvSpPr/>
          <p:nvPr/>
        </p:nvSpPr>
        <p:spPr>
          <a:xfrm>
            <a:off x="795528" y="1261872"/>
            <a:ext cx="10799064" cy="97155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The future: What are my goals for next year, and how do they fit the department's goals? Where do I need more experience or training? What direction should my career take? Am I ready for additional responsibilities?</a:t>
            </a:r>
            <a:endParaRPr lang="en-US" sz="1800" dirty="0"/>
          </a:p>
        </p:txBody>
      </p:sp>
      <p:sp>
        <p:nvSpPr>
          <p:cNvPr id="12" name="Shape 8"/>
          <p:cNvSpPr/>
          <p:nvPr/>
        </p:nvSpPr>
        <p:spPr>
          <a:xfrm>
            <a:off x="557784" y="2407158"/>
            <a:ext cx="91440" cy="91440"/>
          </a:xfrm>
          <a:prstGeom prst="ellipse">
            <a:avLst/>
          </a:prstGeom>
          <a:solidFill>
            <a:srgbClr val="0F6CBD"/>
          </a:solidFill>
          <a:ln/>
        </p:spPr>
      </p:sp>
      <p:sp>
        <p:nvSpPr>
          <p:cNvPr id="13" name="Text 9"/>
          <p:cNvSpPr/>
          <p:nvPr/>
        </p:nvSpPr>
        <p:spPr>
          <a:xfrm>
            <a:off x="795528" y="2297430"/>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Optional salary dialogue: How do I assess my current salary relative to my performance, and what changes are needed to be recommended for pay improvements?</a:t>
            </a:r>
            <a:endParaRPr lang="en-US" sz="1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43</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2</a:t>
            </a:r>
            <a:endParaRPr lang="en-US" sz="1800" dirty="0"/>
          </a:p>
        </p:txBody>
      </p:sp>
      <p:sp>
        <p:nvSpPr>
          <p:cNvPr id="9" name="Text 5"/>
          <p:cNvSpPr/>
          <p:nvPr/>
        </p:nvSpPr>
        <p:spPr>
          <a:xfrm>
            <a:off x="502920" y="530352"/>
            <a:ext cx="9857232" cy="56692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Feedback methods and the BISA model</a:t>
            </a:r>
            <a:endParaRPr lang="en-US" sz="2800" dirty="0"/>
          </a:p>
        </p:txBody>
      </p:sp>
      <p:sp>
        <p:nvSpPr>
          <p:cNvPr id="10" name="Text 6"/>
          <p:cNvSpPr/>
          <p:nvPr/>
        </p:nvSpPr>
        <p:spPr>
          <a:xfrm>
            <a:off x="502920" y="1261872"/>
            <a:ext cx="11183112" cy="128930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During preparation the supervisor decides how to give feedback. Feedback that is sent in a useful way is not rejected — but no matter how accurate it is, a defensive receiver gets no value from it. Give feedback so the receiver can hear it clearly and objectively.</a:t>
            </a:r>
            <a:endParaRPr lang="en-US" sz="1800" dirty="0"/>
          </a:p>
        </p:txBody>
      </p:sp>
      <p:sp>
        <p:nvSpPr>
          <p:cNvPr id="11" name="Text 7"/>
          <p:cNvSpPr/>
          <p:nvPr/>
        </p:nvSpPr>
        <p:spPr>
          <a:xfrm>
            <a:off x="502920" y="2624328"/>
            <a:ext cx="11183112" cy="159791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The BISA model structures non-judgmental feedback: B = Behaviour — identify the specific behaviour you observed; I = Impact — communicate the impact it had on the people present; S = Silence — pause so the person can process and respond; A = Alternatives — ask what could have been done differently, then offer your own suggestions.</a:t>
            </a:r>
            <a:endParaRPr lang="en-US" sz="1800" dirty="0"/>
          </a:p>
        </p:txBody>
      </p:sp>
      <p:sp>
        <p:nvSpPr>
          <p:cNvPr id="12" name="Shape 8"/>
          <p:cNvSpPr/>
          <p:nvPr/>
        </p:nvSpPr>
        <p:spPr>
          <a:xfrm>
            <a:off x="557784" y="4441698"/>
            <a:ext cx="91440" cy="91440"/>
          </a:xfrm>
          <a:prstGeom prst="ellipse">
            <a:avLst/>
          </a:prstGeom>
          <a:solidFill>
            <a:srgbClr val="0F6CBD"/>
          </a:solidFill>
          <a:ln/>
        </p:spPr>
      </p:sp>
      <p:sp>
        <p:nvSpPr>
          <p:cNvPr id="13" name="Text 9"/>
          <p:cNvSpPr/>
          <p:nvPr/>
        </p:nvSpPr>
        <p:spPr>
          <a:xfrm>
            <a:off x="795528" y="4331970"/>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Focus on the behaviour, not the person — 'she cried during the interview', not 'she's a cry baby'.</a:t>
            </a:r>
            <a:endParaRPr lang="en-US" sz="1800" dirty="0"/>
          </a:p>
        </p:txBody>
      </p:sp>
      <p:sp>
        <p:nvSpPr>
          <p:cNvPr id="14" name="Shape 10"/>
          <p:cNvSpPr/>
          <p:nvPr/>
        </p:nvSpPr>
        <p:spPr>
          <a:xfrm>
            <a:off x="557784" y="5168646"/>
            <a:ext cx="91440" cy="91440"/>
          </a:xfrm>
          <a:prstGeom prst="ellipse">
            <a:avLst/>
          </a:prstGeom>
          <a:solidFill>
            <a:srgbClr val="0F6CBD"/>
          </a:solidFill>
          <a:ln/>
        </p:spPr>
      </p:sp>
      <p:sp>
        <p:nvSpPr>
          <p:cNvPr id="15" name="Text 11"/>
          <p:cNvSpPr/>
          <p:nvPr/>
        </p:nvSpPr>
        <p:spPr>
          <a:xfrm>
            <a:off x="795528" y="5058918"/>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Describe rather than judge; be specific rather than general so the receiver knows exactly what to continue or change.</a:t>
            </a:r>
            <a:endParaRPr lang="en-US" sz="18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44</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2 · CONTINUED</a:t>
            </a:r>
            <a:endParaRPr lang="en-US" sz="1800" dirty="0"/>
          </a:p>
        </p:txBody>
      </p:sp>
      <p:sp>
        <p:nvSpPr>
          <p:cNvPr id="9" name="Text 5"/>
          <p:cNvSpPr/>
          <p:nvPr/>
        </p:nvSpPr>
        <p:spPr>
          <a:xfrm>
            <a:off x="502920" y="530352"/>
            <a:ext cx="9857232" cy="56692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Feedback methods and the BISA model</a:t>
            </a:r>
            <a:endParaRPr lang="en-US" sz="2800" dirty="0"/>
          </a:p>
        </p:txBody>
      </p:sp>
      <p:sp>
        <p:nvSpPr>
          <p:cNvPr id="10" name="Shape 6"/>
          <p:cNvSpPr/>
          <p:nvPr/>
        </p:nvSpPr>
        <p:spPr>
          <a:xfrm>
            <a:off x="557784" y="1371600"/>
            <a:ext cx="91440" cy="91440"/>
          </a:xfrm>
          <a:prstGeom prst="ellipse">
            <a:avLst/>
          </a:prstGeom>
          <a:solidFill>
            <a:srgbClr val="0F6CBD"/>
          </a:solidFill>
          <a:ln/>
        </p:spPr>
      </p:sp>
      <p:sp>
        <p:nvSpPr>
          <p:cNvPr id="11" name="Text 7"/>
          <p:cNvSpPr/>
          <p:nvPr/>
        </p:nvSpPr>
        <p:spPr>
          <a:xfrm>
            <a:off x="795528" y="1261872"/>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Feedback must be well timed — as soon as possible after the event — and at the right place: praise in public, criticise in private.</a:t>
            </a:r>
            <a:endParaRPr lang="en-US" sz="1800" dirty="0"/>
          </a:p>
        </p:txBody>
      </p:sp>
      <p:sp>
        <p:nvSpPr>
          <p:cNvPr id="12" name="Shape 8"/>
          <p:cNvSpPr/>
          <p:nvPr/>
        </p:nvSpPr>
        <p:spPr>
          <a:xfrm>
            <a:off x="557784" y="2098548"/>
            <a:ext cx="91440" cy="91440"/>
          </a:xfrm>
          <a:prstGeom prst="ellipse">
            <a:avLst/>
          </a:prstGeom>
          <a:solidFill>
            <a:srgbClr val="0F6CBD"/>
          </a:solidFill>
          <a:ln/>
        </p:spPr>
      </p:sp>
      <p:sp>
        <p:nvSpPr>
          <p:cNvPr id="13" name="Text 9"/>
          <p:cNvSpPr/>
          <p:nvPr/>
        </p:nvSpPr>
        <p:spPr>
          <a:xfrm>
            <a:off x="795528" y="1988820"/>
            <a:ext cx="10799064" cy="97155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Only give feedback on behaviour the person can change; keep the amount usable ('less is more'); share ideas rather than give advice; and check the receiver understood.</a:t>
            </a:r>
            <a:endParaRPr lang="en-US" sz="1800" dirty="0"/>
          </a:p>
        </p:txBody>
      </p:sp>
      <p:sp>
        <p:nvSpPr>
          <p:cNvPr id="14" name="Shape 10"/>
          <p:cNvSpPr/>
          <p:nvPr/>
        </p:nvSpPr>
        <p:spPr>
          <a:xfrm>
            <a:off x="557784" y="3134106"/>
            <a:ext cx="91440" cy="91440"/>
          </a:xfrm>
          <a:prstGeom prst="ellipse">
            <a:avLst/>
          </a:prstGeom>
          <a:solidFill>
            <a:srgbClr val="0F6CBD"/>
          </a:solidFill>
          <a:ln/>
        </p:spPr>
      </p:sp>
      <p:sp>
        <p:nvSpPr>
          <p:cNvPr id="15" name="Text 11"/>
          <p:cNvSpPr/>
          <p:nvPr/>
        </p:nvSpPr>
        <p:spPr>
          <a:xfrm>
            <a:off x="795528" y="3024378"/>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Start with the positive: acknowledge specific good contributions and their impact — more meaningful than a generic 'Good job!'.</a:t>
            </a:r>
            <a:endParaRPr lang="en-US" sz="1800" dirty="0"/>
          </a:p>
        </p:txBody>
      </p:sp>
      <p:sp>
        <p:nvSpPr>
          <p:cNvPr id="16" name="Shape 12"/>
          <p:cNvSpPr/>
          <p:nvPr/>
        </p:nvSpPr>
        <p:spPr>
          <a:xfrm>
            <a:off x="557784" y="3861054"/>
            <a:ext cx="91440" cy="91440"/>
          </a:xfrm>
          <a:prstGeom prst="ellipse">
            <a:avLst/>
          </a:prstGeom>
          <a:solidFill>
            <a:srgbClr val="0F6CBD"/>
          </a:solidFill>
          <a:ln/>
        </p:spPr>
      </p:sp>
      <p:sp>
        <p:nvSpPr>
          <p:cNvPr id="17" name="Text 13"/>
          <p:cNvSpPr/>
          <p:nvPr/>
        </p:nvSpPr>
        <p:spPr>
          <a:xfrm>
            <a:off x="795528" y="3751326"/>
            <a:ext cx="10799064" cy="97155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Documents to prepare: the Employee Goal Review &amp; Planning form, the Peer Assessment form, the Performance Review form, and the Interview Questionnaire with guiding questions.</a:t>
            </a:r>
            <a:endParaRPr lang="en-US" sz="1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02050"/>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45</a:t>
            </a:r>
            <a:endParaRPr lang="en-US" sz="1200" dirty="0"/>
          </a:p>
        </p:txBody>
      </p:sp>
      <p:sp>
        <p:nvSpPr>
          <p:cNvPr id="4" name="Shape 2"/>
          <p:cNvSpPr/>
          <p:nvPr/>
        </p:nvSpPr>
        <p:spPr>
          <a:xfrm>
            <a:off x="0" y="0"/>
            <a:ext cx="12188952" cy="82296"/>
          </a:xfrm>
          <a:prstGeom prst="rect">
            <a:avLst/>
          </a:prstGeom>
          <a:solidFill>
            <a:srgbClr val="0F6CBD"/>
          </a:solidFill>
          <a:ln/>
        </p:spPr>
      </p:sp>
      <p:sp>
        <p:nvSpPr>
          <p:cNvPr id="5" name="Shape 3"/>
          <p:cNvSpPr/>
          <p:nvPr/>
        </p:nvSpPr>
        <p:spPr>
          <a:xfrm>
            <a:off x="0" y="0"/>
            <a:ext cx="12188952" cy="109728"/>
          </a:xfrm>
          <a:prstGeom prst="rect">
            <a:avLst/>
          </a:prstGeom>
          <a:solidFill>
            <a:srgbClr val="0F6CBD"/>
          </a:solidFill>
          <a:ln/>
        </p:spPr>
      </p:sp>
      <p:sp>
        <p:nvSpPr>
          <p:cNvPr id="6" name="Text 4"/>
          <p:cNvSpPr/>
          <p:nvPr/>
        </p:nvSpPr>
        <p:spPr>
          <a:xfrm>
            <a:off x="502920" y="1920240"/>
            <a:ext cx="11183112" cy="457200"/>
          </a:xfrm>
          <a:prstGeom prst="rect">
            <a:avLst/>
          </a:prstGeom>
          <a:noFill/>
          <a:ln/>
        </p:spPr>
        <p:txBody>
          <a:bodyPr wrap="square" rtlCol="0" anchor="ctr"/>
          <a:lstStyle/>
          <a:p>
            <a:pPr indent="0" marL="0">
              <a:buNone/>
            </a:pPr>
            <a:r>
              <a:rPr lang="en-US" sz="2000" b="1" spc="300" kern="0" dirty="0">
                <a:solidFill>
                  <a:srgbClr val="8CC2F0"/>
                </a:solidFill>
                <a:latin typeface="Aptos" pitchFamily="34" charset="0"/>
                <a:ea typeface="Aptos" pitchFamily="34" charset="-122"/>
                <a:cs typeface="Aptos" pitchFamily="34" charset="-120"/>
              </a:rPr>
              <a:t>LESSON 3</a:t>
            </a:r>
            <a:endParaRPr lang="en-US" sz="2000" dirty="0"/>
          </a:p>
        </p:txBody>
      </p:sp>
      <p:sp>
        <p:nvSpPr>
          <p:cNvPr id="7" name="Text 5"/>
          <p:cNvSpPr/>
          <p:nvPr/>
        </p:nvSpPr>
        <p:spPr>
          <a:xfrm>
            <a:off x="502920" y="2468880"/>
            <a:ext cx="10424160" cy="1554480"/>
          </a:xfrm>
          <a:prstGeom prst="rect">
            <a:avLst/>
          </a:prstGeom>
          <a:noFill/>
          <a:ln/>
        </p:spPr>
        <p:txBody>
          <a:bodyPr wrap="square" rtlCol="0" anchor="ctr"/>
          <a:lstStyle/>
          <a:p>
            <a:pPr indent="0" marL="0">
              <a:buNone/>
            </a:pPr>
            <a:r>
              <a:rPr lang="en-US" sz="4000" b="1" dirty="0">
                <a:solidFill>
                  <a:srgbClr val="FFFFFF"/>
                </a:solidFill>
                <a:latin typeface="Aptos Display" pitchFamily="34" charset="0"/>
                <a:ea typeface="Aptos Display" pitchFamily="34" charset="-122"/>
                <a:cs typeface="Aptos Display" pitchFamily="34" charset="-120"/>
              </a:rPr>
              <a:t>Conduct a performance review interview</a:t>
            </a:r>
            <a:endParaRPr lang="en-US" sz="4000" dirty="0"/>
          </a:p>
        </p:txBody>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02920" y="1097280"/>
            <a:ext cx="640080" cy="640080"/>
          </a:xfrm>
          <a:prstGeom prst="rect">
            <a:avLst/>
          </a:prstGeom>
        </p:spPr>
      </p:pic>
      <p:sp>
        <p:nvSpPr>
          <p:cNvPr id="9" name="Text 6"/>
          <p:cNvSpPr/>
          <p:nvPr/>
        </p:nvSpPr>
        <p:spPr>
          <a:xfrm>
            <a:off x="502920" y="6291072"/>
            <a:ext cx="11183112" cy="365760"/>
          </a:xfrm>
          <a:prstGeom prst="rect">
            <a:avLst/>
          </a:prstGeom>
          <a:noFill/>
          <a:ln/>
        </p:spPr>
        <p:txBody>
          <a:bodyPr wrap="square" rtlCol="0" anchor="ctr"/>
          <a:lstStyle/>
          <a:p>
            <a:pPr indent="0" marL="0">
              <a:buNone/>
            </a:pPr>
            <a:r>
              <a:rPr lang="en-US" sz="1400" dirty="0">
                <a:solidFill>
                  <a:srgbClr val="6E93BC"/>
                </a:solidFill>
                <a:latin typeface="Aptos" pitchFamily="34" charset="0"/>
                <a:ea typeface="Aptos" pitchFamily="34" charset="-122"/>
                <a:cs typeface="Aptos" pitchFamily="34" charset="-120"/>
              </a:rPr>
              <a:t>US 252034 · Monitor and evaluate team members against performance standards · NQF 5 · 8 credits · ITSS Learn</a:t>
            </a:r>
            <a:endParaRPr lang="en-US" sz="1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46</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3</a:t>
            </a:r>
            <a:endParaRPr lang="en-US" sz="1800" dirty="0"/>
          </a:p>
        </p:txBody>
      </p:sp>
      <p:sp>
        <p:nvSpPr>
          <p:cNvPr id="9" name="Text 5"/>
          <p:cNvSpPr/>
          <p:nvPr/>
        </p:nvSpPr>
        <p:spPr>
          <a:xfrm>
            <a:off x="502920" y="530352"/>
            <a:ext cx="9857232" cy="56692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Opening the interview</a:t>
            </a:r>
            <a:endParaRPr lang="en-US" sz="2800" dirty="0"/>
          </a:p>
        </p:txBody>
      </p:sp>
      <p:sp>
        <p:nvSpPr>
          <p:cNvPr id="10" name="Text 6"/>
          <p:cNvSpPr/>
          <p:nvPr/>
        </p:nvSpPr>
        <p:spPr>
          <a:xfrm>
            <a:off x="502920" y="1261872"/>
            <a:ext cx="11183112" cy="159791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The appraisal interview improves job performance by communicating appreciation for the employee's contribution, informing them of the overall appraisal and its criteria, opening a proactive dialogue about correcting weaknesses and building on strengths, clarifying expectations, strengthening the working relationship, and setting goals for the coming year.</a:t>
            </a:r>
            <a:endParaRPr lang="en-US" sz="1800" dirty="0"/>
          </a:p>
        </p:txBody>
      </p:sp>
      <p:sp>
        <p:nvSpPr>
          <p:cNvPr id="11" name="Shape 7"/>
          <p:cNvSpPr/>
          <p:nvPr/>
        </p:nvSpPr>
        <p:spPr>
          <a:xfrm>
            <a:off x="557784" y="3079242"/>
            <a:ext cx="91440" cy="91440"/>
          </a:xfrm>
          <a:prstGeom prst="ellipse">
            <a:avLst/>
          </a:prstGeom>
          <a:solidFill>
            <a:srgbClr val="0F6CBD"/>
          </a:solidFill>
          <a:ln/>
        </p:spPr>
      </p:sp>
      <p:sp>
        <p:nvSpPr>
          <p:cNvPr id="12" name="Text 8"/>
          <p:cNvSpPr/>
          <p:nvPr/>
        </p:nvSpPr>
        <p:spPr>
          <a:xfrm>
            <a:off x="795528" y="2969514"/>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Open by establishing rapport. Explain the purpose of the interview and what will take place — some interviewers prepare a standard opening script.</a:t>
            </a:r>
            <a:endParaRPr lang="en-US" sz="1800" dirty="0"/>
          </a:p>
        </p:txBody>
      </p:sp>
      <p:sp>
        <p:nvSpPr>
          <p:cNvPr id="13" name="Shape 9"/>
          <p:cNvSpPr/>
          <p:nvPr/>
        </p:nvSpPr>
        <p:spPr>
          <a:xfrm>
            <a:off x="557784" y="3806190"/>
            <a:ext cx="91440" cy="91440"/>
          </a:xfrm>
          <a:prstGeom prst="ellipse">
            <a:avLst/>
          </a:prstGeom>
          <a:solidFill>
            <a:srgbClr val="0F6CBD"/>
          </a:solidFill>
          <a:ln/>
        </p:spPr>
      </p:sp>
      <p:sp>
        <p:nvSpPr>
          <p:cNvPr id="14" name="Text 10"/>
          <p:cNvSpPr/>
          <p:nvPr/>
        </p:nvSpPr>
        <p:spPr>
          <a:xfrm>
            <a:off x="795528" y="3696462"/>
            <a:ext cx="10799064" cy="35433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Emphasise that the interview is part of an ongoing, two-way feedback process.</a:t>
            </a:r>
            <a:endParaRPr lang="en-US" sz="1800" dirty="0"/>
          </a:p>
        </p:txBody>
      </p:sp>
      <p:sp>
        <p:nvSpPr>
          <p:cNvPr id="15" name="Shape 11"/>
          <p:cNvSpPr/>
          <p:nvPr/>
        </p:nvSpPr>
        <p:spPr>
          <a:xfrm>
            <a:off x="557784" y="4224528"/>
            <a:ext cx="91440" cy="91440"/>
          </a:xfrm>
          <a:prstGeom prst="ellipse">
            <a:avLst/>
          </a:prstGeom>
          <a:solidFill>
            <a:srgbClr val="0F6CBD"/>
          </a:solidFill>
          <a:ln/>
        </p:spPr>
      </p:sp>
      <p:sp>
        <p:nvSpPr>
          <p:cNvPr id="16" name="Text 12"/>
          <p:cNvSpPr/>
          <p:nvPr/>
        </p:nvSpPr>
        <p:spPr>
          <a:xfrm>
            <a:off x="795528" y="4114800"/>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Discuss the job in general first and agree on its key tasks, content and responsibilities.</a:t>
            </a:r>
            <a:endParaRPr lang="en-US" sz="1800" dirty="0"/>
          </a:p>
        </p:txBody>
      </p:sp>
      <p:sp>
        <p:nvSpPr>
          <p:cNvPr id="17" name="Shape 13"/>
          <p:cNvSpPr/>
          <p:nvPr/>
        </p:nvSpPr>
        <p:spPr>
          <a:xfrm>
            <a:off x="557784" y="4951476"/>
            <a:ext cx="91440" cy="91440"/>
          </a:xfrm>
          <a:prstGeom prst="ellipse">
            <a:avLst/>
          </a:prstGeom>
          <a:solidFill>
            <a:srgbClr val="0F6CBD"/>
          </a:solidFill>
          <a:ln/>
        </p:spPr>
      </p:sp>
      <p:sp>
        <p:nvSpPr>
          <p:cNvPr id="18" name="Text 14"/>
          <p:cNvSpPr/>
          <p:nvPr/>
        </p:nvSpPr>
        <p:spPr>
          <a:xfrm>
            <a:off x="795528" y="4841748"/>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Start with areas of agreement and strengths, then move gradually into disagreements and performance weaknesses.</a:t>
            </a:r>
            <a:endParaRPr lang="en-US" sz="1800" dirty="0"/>
          </a:p>
        </p:txBody>
      </p:sp>
      <p:sp>
        <p:nvSpPr>
          <p:cNvPr id="19" name="Shape 15"/>
          <p:cNvSpPr/>
          <p:nvPr/>
        </p:nvSpPr>
        <p:spPr>
          <a:xfrm>
            <a:off x="557784" y="5678424"/>
            <a:ext cx="91440" cy="91440"/>
          </a:xfrm>
          <a:prstGeom prst="ellipse">
            <a:avLst/>
          </a:prstGeom>
          <a:solidFill>
            <a:srgbClr val="0F6CBD"/>
          </a:solidFill>
          <a:ln/>
        </p:spPr>
      </p:sp>
      <p:sp>
        <p:nvSpPr>
          <p:cNvPr id="20" name="Text 16"/>
          <p:cNvSpPr/>
          <p:nvPr/>
        </p:nvSpPr>
        <p:spPr>
          <a:xfrm>
            <a:off x="795528" y="5568696"/>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Use specific, actual examples of good performance — but avoid the pattern where praise always signals incoming criticism.</a:t>
            </a:r>
            <a:endParaRPr lang="en-US" sz="1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47</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3 · CONTINUED</a:t>
            </a:r>
            <a:endParaRPr lang="en-US" sz="1800" dirty="0"/>
          </a:p>
        </p:txBody>
      </p:sp>
      <p:sp>
        <p:nvSpPr>
          <p:cNvPr id="9" name="Text 5"/>
          <p:cNvSpPr/>
          <p:nvPr/>
        </p:nvSpPr>
        <p:spPr>
          <a:xfrm>
            <a:off x="502920" y="530352"/>
            <a:ext cx="9857232" cy="56692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Opening the interview</a:t>
            </a:r>
            <a:endParaRPr lang="en-US" sz="2800" dirty="0"/>
          </a:p>
        </p:txBody>
      </p:sp>
      <p:sp>
        <p:nvSpPr>
          <p:cNvPr id="10" name="Shape 6"/>
          <p:cNvSpPr/>
          <p:nvPr/>
        </p:nvSpPr>
        <p:spPr>
          <a:xfrm>
            <a:off x="557784" y="1371600"/>
            <a:ext cx="91440" cy="91440"/>
          </a:xfrm>
          <a:prstGeom prst="ellipse">
            <a:avLst/>
          </a:prstGeom>
          <a:solidFill>
            <a:srgbClr val="0F6CBD"/>
          </a:solidFill>
          <a:ln/>
        </p:spPr>
      </p:sp>
      <p:sp>
        <p:nvSpPr>
          <p:cNvPr id="11" name="Text 7"/>
          <p:cNvSpPr/>
          <p:nvPr/>
        </p:nvSpPr>
        <p:spPr>
          <a:xfrm>
            <a:off x="795528" y="1261872"/>
            <a:ext cx="10799064" cy="97155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If the employee is quiet or nervous, ask how particular parts of the job are performed or how specific incidents were handled; give plenty of openings for their own issues, questions and improvement suggestions.</a:t>
            </a:r>
            <a:endParaRPr lang="en-US" sz="18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48</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3</a:t>
            </a:r>
            <a:endParaRPr lang="en-US" sz="1800" dirty="0"/>
          </a:p>
        </p:txBody>
      </p:sp>
      <p:sp>
        <p:nvSpPr>
          <p:cNvPr id="9" name="Text 5"/>
          <p:cNvSpPr/>
          <p:nvPr/>
        </p:nvSpPr>
        <p:spPr>
          <a:xfrm>
            <a:off x="502920" y="530352"/>
            <a:ext cx="9857232" cy="56692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Handling disagreement and rating fairly</a:t>
            </a:r>
            <a:endParaRPr lang="en-US" sz="2800" dirty="0"/>
          </a:p>
        </p:txBody>
      </p:sp>
      <p:sp>
        <p:nvSpPr>
          <p:cNvPr id="10" name="Text 6"/>
          <p:cNvSpPr/>
          <p:nvPr/>
        </p:nvSpPr>
        <p:spPr>
          <a:xfrm>
            <a:off x="502920" y="1261872"/>
            <a:ext cx="11183112" cy="128930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Focusing on actual job behaviour keeps the emotional temperature down. Employees may react unpredictably — the classic reactions are 'fight' (defend and argue back) or 'flight' (avoid the issue or pretend to agree). Both must be resolved during the interview.</a:t>
            </a:r>
            <a:endParaRPr lang="en-US" sz="1800" dirty="0"/>
          </a:p>
        </p:txBody>
      </p:sp>
      <p:sp>
        <p:nvSpPr>
          <p:cNvPr id="11" name="Shape 7"/>
          <p:cNvSpPr/>
          <p:nvPr/>
        </p:nvSpPr>
        <p:spPr>
          <a:xfrm>
            <a:off x="557784" y="2770632"/>
            <a:ext cx="91440" cy="91440"/>
          </a:xfrm>
          <a:prstGeom prst="ellipse">
            <a:avLst/>
          </a:prstGeom>
          <a:solidFill>
            <a:srgbClr val="0F6CBD"/>
          </a:solidFill>
          <a:ln/>
        </p:spPr>
      </p:sp>
      <p:sp>
        <p:nvSpPr>
          <p:cNvPr id="12" name="Text 8"/>
          <p:cNvSpPr/>
          <p:nvPr/>
        </p:nvSpPr>
        <p:spPr>
          <a:xfrm>
            <a:off x="795528" y="2660904"/>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Fight: hear the employee out, acknowledge and note what was said, then restate the evidence behind the assessment.</a:t>
            </a:r>
            <a:endParaRPr lang="en-US" sz="1800" dirty="0"/>
          </a:p>
        </p:txBody>
      </p:sp>
      <p:sp>
        <p:nvSpPr>
          <p:cNvPr id="13" name="Shape 9"/>
          <p:cNvSpPr/>
          <p:nvPr/>
        </p:nvSpPr>
        <p:spPr>
          <a:xfrm>
            <a:off x="557784" y="3497580"/>
            <a:ext cx="91440" cy="91440"/>
          </a:xfrm>
          <a:prstGeom prst="ellipse">
            <a:avLst/>
          </a:prstGeom>
          <a:solidFill>
            <a:srgbClr val="0F6CBD"/>
          </a:solidFill>
          <a:ln/>
        </p:spPr>
      </p:sp>
      <p:sp>
        <p:nvSpPr>
          <p:cNvPr id="14" name="Text 10"/>
          <p:cNvSpPr/>
          <p:nvPr/>
        </p:nvSpPr>
        <p:spPr>
          <a:xfrm>
            <a:off x="795528" y="3387852"/>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Flight: persist with more direct questions until you get to the bottom of the issue — do not move on until you have.</a:t>
            </a:r>
            <a:endParaRPr lang="en-US" sz="1800" dirty="0"/>
          </a:p>
        </p:txBody>
      </p:sp>
      <p:sp>
        <p:nvSpPr>
          <p:cNvPr id="15" name="Shape 11"/>
          <p:cNvSpPr/>
          <p:nvPr/>
        </p:nvSpPr>
        <p:spPr>
          <a:xfrm>
            <a:off x="557784" y="4224528"/>
            <a:ext cx="91440" cy="91440"/>
          </a:xfrm>
          <a:prstGeom prst="ellipse">
            <a:avLst/>
          </a:prstGeom>
          <a:solidFill>
            <a:srgbClr val="0F6CBD"/>
          </a:solidFill>
          <a:ln/>
        </p:spPr>
      </p:sp>
      <p:sp>
        <p:nvSpPr>
          <p:cNvPr id="16" name="Text 12"/>
          <p:cNvSpPr/>
          <p:nvPr/>
        </p:nvSpPr>
        <p:spPr>
          <a:xfrm>
            <a:off x="795528" y="4114800"/>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Where performance problems exist, explore the specific gap between current and required performance, ways to close it, and the consequences if it is not closed.</a:t>
            </a:r>
            <a:endParaRPr lang="en-US" sz="1800" dirty="0"/>
          </a:p>
        </p:txBody>
      </p:sp>
      <p:sp>
        <p:nvSpPr>
          <p:cNvPr id="17" name="Shape 13"/>
          <p:cNvSpPr/>
          <p:nvPr/>
        </p:nvSpPr>
        <p:spPr>
          <a:xfrm>
            <a:off x="557784" y="4951476"/>
            <a:ext cx="91440" cy="91440"/>
          </a:xfrm>
          <a:prstGeom prst="ellipse">
            <a:avLst/>
          </a:prstGeom>
          <a:solidFill>
            <a:srgbClr val="0F6CBD"/>
          </a:solidFill>
          <a:ln/>
        </p:spPr>
      </p:sp>
      <p:sp>
        <p:nvSpPr>
          <p:cNvPr id="18" name="Text 14"/>
          <p:cNvSpPr/>
          <p:nvPr/>
        </p:nvSpPr>
        <p:spPr>
          <a:xfrm>
            <a:off x="795528" y="4841748"/>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Never link behaviour to personality — that is when interviews go out of control. Address every relevant matter; nothing may be 'left hanging'.</a:t>
            </a:r>
            <a:endParaRPr lang="en-US" sz="18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49</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3 · CONTINUED</a:t>
            </a:r>
            <a:endParaRPr lang="en-US" sz="1800" dirty="0"/>
          </a:p>
        </p:txBody>
      </p:sp>
      <p:sp>
        <p:nvSpPr>
          <p:cNvPr id="9" name="Text 5"/>
          <p:cNvSpPr/>
          <p:nvPr/>
        </p:nvSpPr>
        <p:spPr>
          <a:xfrm>
            <a:off x="502920" y="530352"/>
            <a:ext cx="9857232" cy="56692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Handling disagreement and rating fairly</a:t>
            </a:r>
            <a:endParaRPr lang="en-US" sz="2800" dirty="0"/>
          </a:p>
        </p:txBody>
      </p:sp>
      <p:sp>
        <p:nvSpPr>
          <p:cNvPr id="10" name="Shape 6"/>
          <p:cNvSpPr/>
          <p:nvPr/>
        </p:nvSpPr>
        <p:spPr>
          <a:xfrm>
            <a:off x="557784" y="1371600"/>
            <a:ext cx="91440" cy="91440"/>
          </a:xfrm>
          <a:prstGeom prst="ellipse">
            <a:avLst/>
          </a:prstGeom>
          <a:solidFill>
            <a:srgbClr val="0F6CBD"/>
          </a:solidFill>
          <a:ln/>
        </p:spPr>
      </p:sp>
      <p:sp>
        <p:nvSpPr>
          <p:cNvPr id="11" name="Text 7"/>
          <p:cNvSpPr/>
          <p:nvPr/>
        </p:nvSpPr>
        <p:spPr>
          <a:xfrm>
            <a:off x="795528" y="1261872"/>
            <a:ext cx="10799064" cy="97155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If a rating disagreement cannot be resolved, record that it occurred — do not escape with an 'average' rating. Consider follow-up action, and be ready to modify your appraisal if the self-appraisal sheds new light.</a:t>
            </a:r>
            <a:endParaRPr lang="en-US" sz="1800" dirty="0"/>
          </a:p>
        </p:txBody>
      </p:sp>
      <p:sp>
        <p:nvSpPr>
          <p:cNvPr id="12" name="Shape 8"/>
          <p:cNvSpPr/>
          <p:nvPr/>
        </p:nvSpPr>
        <p:spPr>
          <a:xfrm>
            <a:off x="557784" y="2407158"/>
            <a:ext cx="91440" cy="91440"/>
          </a:xfrm>
          <a:prstGeom prst="ellipse">
            <a:avLst/>
          </a:prstGeom>
          <a:solidFill>
            <a:srgbClr val="0F6CBD"/>
          </a:solidFill>
          <a:ln/>
        </p:spPr>
      </p:sp>
      <p:sp>
        <p:nvSpPr>
          <p:cNvPr id="13" name="Text 9"/>
          <p:cNvSpPr/>
          <p:nvPr/>
        </p:nvSpPr>
        <p:spPr>
          <a:xfrm>
            <a:off x="795528" y="2297430"/>
            <a:ext cx="10799064" cy="158877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Rating techniques: be factual with specific examples; consider day-in, day-out performance over the whole period — not one or two outstanding events; rate the employee, not the importance of the job; avoid rating consistently high or low; build on strength without avoiding needed improvement; the immediate manager conducts the appraisal with no one else present; both parties sign the form.</a:t>
            </a:r>
            <a:endParaRPr lang="en-US" sz="1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50</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3</a:t>
            </a:r>
            <a:endParaRPr lang="en-US" sz="1800" dirty="0"/>
          </a:p>
        </p:txBody>
      </p:sp>
      <p:sp>
        <p:nvSpPr>
          <p:cNvPr id="9" name="Text 5"/>
          <p:cNvSpPr/>
          <p:nvPr/>
        </p:nvSpPr>
        <p:spPr>
          <a:xfrm>
            <a:off x="502920" y="530352"/>
            <a:ext cx="9857232" cy="56692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Action plans, closing and records</a:t>
            </a:r>
            <a:endParaRPr lang="en-US" sz="2800" dirty="0"/>
          </a:p>
        </p:txBody>
      </p:sp>
      <p:sp>
        <p:nvSpPr>
          <p:cNvPr id="10" name="Text 6"/>
          <p:cNvSpPr/>
          <p:nvPr/>
        </p:nvSpPr>
        <p:spPr>
          <a:xfrm>
            <a:off x="502920" y="1261872"/>
            <a:ext cx="11183112" cy="128930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After agreeing the ratings, develop action plans to address performance gaps — in co-operation with the employee. You are NOT dictating a plan: you are working together on a viable plan focused on the most important goals, not every area that could improve.</a:t>
            </a:r>
            <a:endParaRPr lang="en-US" sz="1800" dirty="0"/>
          </a:p>
        </p:txBody>
      </p:sp>
      <p:sp>
        <p:nvSpPr>
          <p:cNvPr id="11" name="Text 7"/>
          <p:cNvSpPr/>
          <p:nvPr/>
        </p:nvSpPr>
        <p:spPr>
          <a:xfrm>
            <a:off x="502920" y="2624328"/>
            <a:ext cx="11183112" cy="67208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By the time the appraisal is over, the employee must be able to answer the two most important questions about their work: HOW AM I DOING? and WHERE AM I GOING?</a:t>
            </a:r>
            <a:endParaRPr lang="en-US" sz="1800" dirty="0"/>
          </a:p>
        </p:txBody>
      </p:sp>
      <p:sp>
        <p:nvSpPr>
          <p:cNvPr id="12" name="Shape 8"/>
          <p:cNvSpPr/>
          <p:nvPr/>
        </p:nvSpPr>
        <p:spPr>
          <a:xfrm>
            <a:off x="557784" y="3515868"/>
            <a:ext cx="91440" cy="91440"/>
          </a:xfrm>
          <a:prstGeom prst="ellipse">
            <a:avLst/>
          </a:prstGeom>
          <a:solidFill>
            <a:srgbClr val="0F6CBD"/>
          </a:solidFill>
          <a:ln/>
        </p:spPr>
      </p:sp>
      <p:sp>
        <p:nvSpPr>
          <p:cNvPr id="13" name="Text 9"/>
          <p:cNvSpPr/>
          <p:nvPr/>
        </p:nvSpPr>
        <p:spPr>
          <a:xfrm>
            <a:off x="795528" y="3406140"/>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Choose goals that are specific and practical; set a timetable and ways of measuring achievement.</a:t>
            </a:r>
            <a:endParaRPr lang="en-US" sz="1800" dirty="0"/>
          </a:p>
        </p:txBody>
      </p:sp>
      <p:sp>
        <p:nvSpPr>
          <p:cNvPr id="14" name="Shape 10"/>
          <p:cNvSpPr/>
          <p:nvPr/>
        </p:nvSpPr>
        <p:spPr>
          <a:xfrm>
            <a:off x="557784" y="4242816"/>
            <a:ext cx="91440" cy="91440"/>
          </a:xfrm>
          <a:prstGeom prst="ellipse">
            <a:avLst/>
          </a:prstGeom>
          <a:solidFill>
            <a:srgbClr val="0F6CBD"/>
          </a:solidFill>
          <a:ln/>
        </p:spPr>
      </p:sp>
      <p:sp>
        <p:nvSpPr>
          <p:cNvPr id="15" name="Text 11"/>
          <p:cNvSpPr/>
          <p:nvPr/>
        </p:nvSpPr>
        <p:spPr>
          <a:xfrm>
            <a:off x="795528" y="4133088"/>
            <a:ext cx="10799064" cy="97155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Watch for obstacles outside the employee's control — improvement may need education, job experience, counselling, greater responsibility or even a new supervisor.</a:t>
            </a:r>
            <a:endParaRPr lang="en-US" sz="1800" dirty="0"/>
          </a:p>
        </p:txBody>
      </p:sp>
      <p:sp>
        <p:nvSpPr>
          <p:cNvPr id="16" name="Shape 12"/>
          <p:cNvSpPr/>
          <p:nvPr/>
        </p:nvSpPr>
        <p:spPr>
          <a:xfrm>
            <a:off x="557784" y="5278374"/>
            <a:ext cx="91440" cy="91440"/>
          </a:xfrm>
          <a:prstGeom prst="ellipse">
            <a:avLst/>
          </a:prstGeom>
          <a:solidFill>
            <a:srgbClr val="0F6CBD"/>
          </a:solidFill>
          <a:ln/>
        </p:spPr>
      </p:sp>
      <p:sp>
        <p:nvSpPr>
          <p:cNvPr id="17" name="Text 13"/>
          <p:cNvSpPr/>
          <p:nvPr/>
        </p:nvSpPr>
        <p:spPr>
          <a:xfrm>
            <a:off x="795528" y="5168646"/>
            <a:ext cx="10799064" cy="97155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Close by summarising the key issues and agreed actions; develop the action plan and give copies to the employee and anyone affected (such as trainers); set a timetable for review and follow-up.</a:t>
            </a:r>
            <a:endParaRPr lang="en-US" sz="18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51</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3 · CONTINUED</a:t>
            </a:r>
            <a:endParaRPr lang="en-US" sz="1800" dirty="0"/>
          </a:p>
        </p:txBody>
      </p:sp>
      <p:sp>
        <p:nvSpPr>
          <p:cNvPr id="9" name="Text 5"/>
          <p:cNvSpPr/>
          <p:nvPr/>
        </p:nvSpPr>
        <p:spPr>
          <a:xfrm>
            <a:off x="502920" y="530352"/>
            <a:ext cx="9857232" cy="56692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Action plans, closing and records</a:t>
            </a:r>
            <a:endParaRPr lang="en-US" sz="2800" dirty="0"/>
          </a:p>
        </p:txBody>
      </p:sp>
      <p:sp>
        <p:nvSpPr>
          <p:cNvPr id="10" name="Shape 6"/>
          <p:cNvSpPr/>
          <p:nvPr/>
        </p:nvSpPr>
        <p:spPr>
          <a:xfrm>
            <a:off x="557784" y="1371600"/>
            <a:ext cx="91440" cy="91440"/>
          </a:xfrm>
          <a:prstGeom prst="ellipse">
            <a:avLst/>
          </a:prstGeom>
          <a:solidFill>
            <a:srgbClr val="0F6CBD"/>
          </a:solidFill>
          <a:ln/>
        </p:spPr>
      </p:sp>
      <p:sp>
        <p:nvSpPr>
          <p:cNvPr id="11" name="Text 7"/>
          <p:cNvSpPr/>
          <p:nvPr/>
        </p:nvSpPr>
        <p:spPr>
          <a:xfrm>
            <a:off x="795528" y="1261872"/>
            <a:ext cx="10799064" cy="97155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Complete the rating form; ask the employee to sign it (note if they decline); invite them to add or attach comments; give them a copy; keep appraisals on file for 3–5 years.</a:t>
            </a:r>
            <a:endParaRPr lang="en-US" sz="1800" dirty="0"/>
          </a:p>
        </p:txBody>
      </p:sp>
      <p:sp>
        <p:nvSpPr>
          <p:cNvPr id="12" name="Shape 8"/>
          <p:cNvSpPr/>
          <p:nvPr/>
        </p:nvSpPr>
        <p:spPr>
          <a:xfrm>
            <a:off x="557784" y="2407158"/>
            <a:ext cx="91440" cy="91440"/>
          </a:xfrm>
          <a:prstGeom prst="ellipse">
            <a:avLst/>
          </a:prstGeom>
          <a:solidFill>
            <a:srgbClr val="0F6CBD"/>
          </a:solidFill>
          <a:ln/>
        </p:spPr>
      </p:sp>
      <p:sp>
        <p:nvSpPr>
          <p:cNvPr id="13" name="Text 9"/>
          <p:cNvSpPr/>
          <p:nvPr/>
        </p:nvSpPr>
        <p:spPr>
          <a:xfrm>
            <a:off x="795528" y="2297430"/>
            <a:ext cx="10799064" cy="158877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Assessment criteria you must meet: performance is monitored against agreed standards using monitoring systems; findings on positive and negative aspects are recorded accurately, fairly and honestly for report-back and follow-up; an action plan addressing gaps and building on positives is agreed with the employee; and agreed actions are documented and signed by both parties.</a:t>
            </a:r>
            <a:endParaRPr lang="en-US" sz="18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52</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3</a:t>
            </a:r>
            <a:endParaRPr lang="en-US" sz="1800" dirty="0"/>
          </a:p>
        </p:txBody>
      </p:sp>
      <p:sp>
        <p:nvSpPr>
          <p:cNvPr id="9" name="Text 5"/>
          <p:cNvSpPr/>
          <p:nvPr/>
        </p:nvSpPr>
        <p:spPr>
          <a:xfrm>
            <a:off x="502920" y="530352"/>
            <a:ext cx="9857232" cy="56692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Unit quiz — monitor and evaluate team members</a:t>
            </a:r>
            <a:endParaRPr lang="en-US" sz="2800" dirty="0"/>
          </a:p>
        </p:txBody>
      </p:sp>
      <p:sp>
        <p:nvSpPr>
          <p:cNvPr id="10" name="Text 6"/>
          <p:cNvSpPr/>
          <p:nvPr/>
        </p:nvSpPr>
        <p:spPr>
          <a:xfrm>
            <a:off x="502920" y="1261872"/>
            <a:ext cx="11183112" cy="98069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Answer every question correctly to complete the unit. The quiz covers performance standards, monitoring systems, preparing for reviews, and conducting the review interview.</a:t>
            </a:r>
            <a:endParaRPr lang="en-US" sz="18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002050"/>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53</a:t>
            </a:r>
            <a:endParaRPr lang="en-US" sz="1200" dirty="0"/>
          </a:p>
        </p:txBody>
      </p:sp>
      <p:sp>
        <p:nvSpPr>
          <p:cNvPr id="4" name="Shape 2"/>
          <p:cNvSpPr/>
          <p:nvPr/>
        </p:nvSpPr>
        <p:spPr>
          <a:xfrm>
            <a:off x="0" y="0"/>
            <a:ext cx="12188952" cy="82296"/>
          </a:xfrm>
          <a:prstGeom prst="rect">
            <a:avLst/>
          </a:prstGeom>
          <a:solidFill>
            <a:srgbClr val="0F6CBD"/>
          </a:solidFill>
          <a:ln/>
        </p:spPr>
      </p:sp>
      <p:sp>
        <p:nvSpPr>
          <p:cNvPr id="5" name="Shape 3"/>
          <p:cNvSpPr/>
          <p:nvPr/>
        </p:nvSpPr>
        <p:spPr>
          <a:xfrm>
            <a:off x="0" y="0"/>
            <a:ext cx="12188952" cy="109728"/>
          </a:xfrm>
          <a:prstGeom prst="rect">
            <a:avLst/>
          </a:prstGeom>
          <a:solidFill>
            <a:srgbClr val="0F6CBD"/>
          </a:solidFill>
          <a:ln/>
        </p:spPr>
      </p:sp>
      <p:pic>
        <p:nvPicPr>
          <p:cNvPr id="6"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02920" y="1463040"/>
            <a:ext cx="640080" cy="640080"/>
          </a:xfrm>
          <a:prstGeom prst="rect">
            <a:avLst/>
          </a:prstGeom>
        </p:spPr>
      </p:pic>
      <p:sp>
        <p:nvSpPr>
          <p:cNvPr id="7" name="Text 4"/>
          <p:cNvSpPr/>
          <p:nvPr/>
        </p:nvSpPr>
        <p:spPr>
          <a:xfrm>
            <a:off x="502920" y="2240280"/>
            <a:ext cx="11183112" cy="1280160"/>
          </a:xfrm>
          <a:prstGeom prst="rect">
            <a:avLst/>
          </a:prstGeom>
          <a:noFill/>
          <a:ln/>
        </p:spPr>
        <p:txBody>
          <a:bodyPr wrap="square" rtlCol="0" anchor="ctr"/>
          <a:lstStyle/>
          <a:p>
            <a:pPr indent="0" marL="0">
              <a:buNone/>
            </a:pPr>
            <a:r>
              <a:rPr lang="en-US" sz="3600" b="1" dirty="0">
                <a:solidFill>
                  <a:srgbClr val="FFFFFF"/>
                </a:solidFill>
                <a:latin typeface="Aptos Display" pitchFamily="34" charset="0"/>
                <a:ea typeface="Aptos Display" pitchFamily="34" charset="-122"/>
                <a:cs typeface="Aptos Display" pitchFamily="34" charset="-120"/>
              </a:rPr>
              <a:t>Plan. Coach. Appraise.</a:t>
            </a:r>
            <a:endParaRPr lang="en-US" sz="3600" dirty="0"/>
          </a:p>
        </p:txBody>
      </p:sp>
      <p:sp>
        <p:nvSpPr>
          <p:cNvPr id="8" name="Text 5"/>
          <p:cNvSpPr/>
          <p:nvPr/>
        </p:nvSpPr>
        <p:spPr>
          <a:xfrm>
            <a:off x="502920" y="3611880"/>
            <a:ext cx="10607040" cy="1554480"/>
          </a:xfrm>
          <a:prstGeom prst="rect">
            <a:avLst/>
          </a:prstGeom>
          <a:noFill/>
          <a:ln/>
        </p:spPr>
        <p:txBody>
          <a:bodyPr wrap="square" rtlCol="0" anchor="ctr"/>
          <a:lstStyle/>
          <a:p>
            <a:pPr indent="0" marL="0">
              <a:lnSpc>
                <a:spcPct val="125000"/>
              </a:lnSpc>
              <a:buNone/>
            </a:pPr>
            <a:r>
              <a:rPr lang="en-US" sz="1800" dirty="0">
                <a:solidFill>
                  <a:srgbClr val="B9D6F2"/>
                </a:solidFill>
                <a:latin typeface="Aptos" pitchFamily="34" charset="0"/>
                <a:ea typeface="Aptos" pitchFamily="34" charset="-122"/>
                <a:cs typeface="Aptos" pitchFamily="34" charset="-120"/>
              </a:rPr>
              <a:t>You can now formulate performance standards, build a monitoring system, prepare for a review, and conduct a fair, constructive performance review interview. Complete the unit quiz and your Portfolio of Evidence assignment in ITSS Learn.</a:t>
            </a:r>
            <a:endParaRPr lang="en-US" sz="1800" dirty="0"/>
          </a:p>
        </p:txBody>
      </p:sp>
      <p:sp>
        <p:nvSpPr>
          <p:cNvPr id="9" name="Text 6"/>
          <p:cNvSpPr/>
          <p:nvPr/>
        </p:nvSpPr>
        <p:spPr>
          <a:xfrm>
            <a:off x="502920" y="6291072"/>
            <a:ext cx="11183112" cy="365760"/>
          </a:xfrm>
          <a:prstGeom prst="rect">
            <a:avLst/>
          </a:prstGeom>
          <a:noFill/>
          <a:ln/>
        </p:spPr>
        <p:txBody>
          <a:bodyPr wrap="square" rtlCol="0" anchor="ctr"/>
          <a:lstStyle/>
          <a:p>
            <a:pPr indent="0" marL="0">
              <a:buNone/>
            </a:pPr>
            <a:r>
              <a:rPr lang="en-US" sz="1400" dirty="0">
                <a:solidFill>
                  <a:srgbClr val="6E93BC"/>
                </a:solidFill>
                <a:latin typeface="Aptos" pitchFamily="34" charset="0"/>
                <a:ea typeface="Aptos" pitchFamily="34" charset="-122"/>
                <a:cs typeface="Aptos" pitchFamily="34" charset="-120"/>
              </a:rPr>
              <a:t>US 252034 · National Certificate: Generic Management · SAQA ID 59201 · ITSS Learn</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Investec — Corporate Banking Technology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 252034 — Monitor and evaluate team members against performance standards</dc:title>
  <dc:subject>PptxGenJS Presentation</dc:subject>
  <dc:creator>Andre Snell</dc:creator>
  <cp:lastModifiedBy>Andre Snell</cp:lastModifiedBy>
  <cp:revision>1</cp:revision>
  <dcterms:created xsi:type="dcterms:W3CDTF">2026-09-13T20:53:56Z</dcterms:created>
  <dcterms:modified xsi:type="dcterms:W3CDTF">2026-09-13T20:53:56Z</dcterms:modified>
</cp:coreProperties>
</file>