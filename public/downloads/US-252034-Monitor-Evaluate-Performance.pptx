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Lst>
  <p:notesMasterIdLst>
    <p:notesMasterId r:id="rId70"/>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notesMaster" Target="notesMasters/notesMaster1.xml"/><Relationship Id="rId71" Type="http://schemas.openxmlformats.org/officeDocument/2006/relationships/presProps" Target="presProps.xml"/><Relationship Id="rId72" Type="http://schemas.openxmlformats.org/officeDocument/2006/relationships/viewProps" Target="viewProps.xml"/><Relationship Id="rId73" Type="http://schemas.openxmlformats.org/officeDocument/2006/relationships/theme" Target="theme/theme1.xml"/><Relationship Id="rId7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correct answer b) Second-level managers such as section heads with teams reporting to them — The unit targets managers in all economic sectors — typically second-level managers such as heads of department, section heads or divisional heads.
Q2: correct answer c) The final part of an ongoing process that starts with planning and coaching — Appraisal is a means to an end — it follows performance planning and ongoing coaching and counselling.
Q3: correct answer b) A two-way avenue of communication between supervisor and employee — It is a two-way communication avenue: it helps the employee improve and the organisation succeed.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 correct answer a) A strategic and integrated approach to improving performance and developing capabilities — Their definition: a strategic and integrated approach to delivering successful results by improving performance and developing the capabilities of teams and individuals.
Q5: correct answer b) 70% of employees have never had a meaningful performance discussion with their manager — The research shows widespread failure: 70% never had a meaningful performance discussion, and 80% see no follow-up after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correct answer a) At the start of the performance session, jointly by the appraisee and reviewer — Planning is the first component — done jointly at the beginning, agreeing targets and key performance areas.
Q2: correct answer b) Twice a year — a mid review and an annual review — Appraisals normally happen twice a year: mid reviews and annual reviews at the end of the financial year.
Q3: correct answer b) The employee completes a self-appraisal first, then the appraiser rates — The appraisee first offers self-ratings and describes achievements in quantifiable terms; the appraiser then provides the final ratings.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 correct answer b) It determines work motivation and affects self-esteem and achievement orientation — Recognition and reward directly influence motivation — and help employees cope with failures and feel valued.
Q5: correct answer c) Succession planning and job rotation — Potential appraisal, using competency mapping and assessment techniques, informs succession planning and job rotation.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correct answer b) With the department's goals and objectives — the overall picture — Step 1 is to look at the overall picture: departmental goals first, not the bottom-up position description.
Q2: correct answer b) Turning departmental goals into unit goals, and unit goals into individual contributions — Goal cascading derives unit objectives from departmental goals — it works best where clear organisational goals exist.
Q3: correct answer b) Reduce claim processing time to 2 days by end of 30 September — The three team objectives: 2-day claim processing, 10% fewer claims errors by 30 June, and complaints solved within 24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 correct answer b) The work process — each successive step ending with the unit's final product or service — The flow chart maps the process the unit takes to produce its products and services, step by step.
Q5: correct answer b) Accomplishments (nouns) that are quantifiable or verifiable — Elements are accomplishments — nouns, quantifiable or verifiable — not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correct answer c) Every employee must have at least one critical element, addressing individual performance only — All employees must have at least one critical element, and critical elements address individual performance only.
Q2: correct answer b) Distribute 100 percentage points across the elements by importance to the organisation — One practical method: spread 100 points across the elements based on each one's importance.
Q3: correct answer c) 40 — Both critical elements (calls and mail) carry 40 points each; the three additional elements share the remaining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 correct answer b) Would unacceptable performance on it have serious consequences for the organisation's work? — The test covers: major component of the work, individual-only, serious consequences of failure, and significant time.
Q5: correct answer b) Against the job descriptions — or by asking for team or individual input — Assignments are verified per the job descriptions, or through team/individual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correct answer a) The yardsticks used to determine how well work was produced or provided — Measures are the yardsticks for judging how well units and employees produced products or services.
Q2: correct answer b) Quality, quantity, timeliness, cost-effectiveness — The four general measures: quality, quantity, timeliness and cost-effectiveness.
Q3: correct answer c) Quality — Error rates measure quality — accuracy and effectiveness of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 correct answer b) Timeliness — Minutes of lead time is a timeliness measure — how quickly the work is done.
Q5: correct answer b) Who will appraise the performance and which factors they will appraise — For observe-and-verify measures, clarify the appraiser and the factors to be appraised.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correct answer b) A management-approved expression of the threshold employees must meet for a performance level — Standards are management-approved expressions of the thresholds, requirements or expectations for each appraisal level.
Q2: correct answer b) A range — above it earns higher levels, below it lower levels — With five levels the Fully Successful standard is a range; with two levels it is a single point.
Q3: correct answer b) 3 rings and a 5-second transfer lead time — 3 rings / 5 seconds is Fully Successful; 4–5 rings is Minimally Successful; 1–2 rings Exceeds.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 correct answer c) 1%–3% — 1%–3% exceeds; 5%–10% is Fully Successful; 12%–20% is Minimally Successful.
Q5: correct answer c) It is not specific — annual target or all 12 monthly targets? — Standards must be clear and concise — being too brief overlooks critical details in how the standard is judged.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correct answer b) Measuring performance and providing feedback to employees — Monitoring = measuring performance and giving feedback — including informal, frequent performance conversations.
Q2: correct answer a) Reviewing work samples and reading reports, time sheets and logs — Legitimate methods include reviewing output, observing activities, reading records, self-reporting, surveys and investigating complaints/commendations.
Q3: correct answer a) What data to collect, its source, sample or full data, when, by whom, and who receives it — Step 7 planning covers the what, source, sampling, timing, collector and recipient of the data — plus automatic feedback where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 correct answer b) Ongoing monitoring catches problems early (e.g. daily/weekly checks); spaced monitoring runs monthly, quarterly or at random — Ongoing monitoring detects problems in the early stages; other monitoring happens at wider, regular or random intervals.
Q5: correct answer b) Communicate it via meetings, email, notice boards, formal letters, induction and coaching — The supervisor must communicate the monitoring system to ALL team members through multiple channels — it is not a witch-hunt.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correct answer b) Feedback from colleagues, peers, managers, self-assessment and sometimes clients — 360-degree (multi-rater) feedback gathers views from all around the employee — including self-assessment.
Q2: correct answer b) They assess others but often receive little adequate feedback themselves — Senior managers and executive directors rarely get feedback — 360° shows how others view their effectiveness.
Q3: correct answer b) A supervisor rating performance based on the most recent interactions with the employee — Multiple raters dilute the bias of judging on recent interactions only — and reduce race/age/gender discrimination.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 correct answer b) The gap between self-perception and how the manager, peers or direct reports perceive the person — It identifies differences between how employees see themselves and how others see them.
Q5: correct answer c) It takes organisational time, people may fear honest feedback, and anonymous written feedback cannot be queried — The drawbacks: time investment, reluctance around open feedback, pay-linkage hesitancy, and no chance to ask for clarification.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correct answer b) To check that the elements and standards are effective and meet regulatory requirements — Step 8 is a quality check of the whole plan against a checklist: critical, clear, attainable, challenging, fair, applicable, understandable, flexible, surpassable.
Q2: correct answer b) Well-selected, trained employees know more about what is achievable than anyone else — Participation produces achievable, credible standards — a 'self-contract' for achievement.
Q3: correct answer b) Helps establish goals and standards, develops measures, outlines actions and reports progress — The team member helps set goals/standards, builds measurement methods, outlines actions and reports progress; the supervisor guides, balances and follows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 correct answer c) Ensures targets are met — or modified if circumstances so indicate — The supervisor follows progress, reinforces achievement, assists in problem-solving and ensures targets are met or sensibly modified.
Q5: correct answer b) Recorded in the organisation's specified format, filed, and kept confidential per policy — Standards are recorded and documented properly, with confidentiality maintained in line with organisational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correct answer b) The employee being evaluated — The appraisee is the employee being evaluated; the appraiser (usually the manager) does the evaluation.
Q2: correct answer b) At least a week, so they can review their work — Fair warning of at least a week lets the employee prepare; senior or specialist roles need even more time.
Q3: correct answer b) It transmits a non-verbal 'superior-subordinate' message of formality — Sitting together at a table creates a relaxed, informal atmosphere for a genuine two-way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 correct answer b) The employee's grade, which feeds the salary hike or bonus decision — The outcome is the agreed grade — typically linked to salary increase and bonus cycles.
Q5: correct answer b) 45 to 90 minutes depending on the complexity and seniority of the position — Set aside 45–90 minutes in a private, comfortable venue without disturbances.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correct answer b) Conduct a preliminary assessment of performance against agreed standards — Preparation includes a preliminary assessment against the agreed standards, with findings recorded.
Q2: correct answer b) To check whether past goals were met — without letting old evaluations bias the current one — Past appraisals show goal progress, but must not prejudice your impression of current performance.
Q3: correct answer b) The plan is developed in the interview itself, with primary responsibility on the employee — Hold the plan for the interview — it must be built with the employee, not dictated beforehand.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 correct answer b) Assess job performance, not personality — and let facts guide your opinion — Ultimately it is the performance that counts — turn to the facts when feelings are mixed.
Q5: correct answer a) Incidents that are too old, too new, or from an atypical work period — Raters go wrong relying on stale or very recent incidents, or judging from an unrepresentative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correct answer b) Self-evaluation stimulates discussion on working together more effectively — Self-preparation makes the interview a genuine two-way discussion about effectiveness — not a one-way verdict.
Q2: correct answer b) What were my major accomplishments and their measurable results? — Past-performance questions cover accountabilities, accomplishments with measurable results, skills developed and circumstances.
Q3: correct answer c) In what aspects of my job do I need more experience and training? — Future questions cover next year's goals, development needs, career direction and readiness for more responsibility.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 correct answer b) In order of importance to the job and department — Accountabilities are listed in order of importance to the job and department — with reasons.
Q5: correct answer a) Yes — it is optional: assessing current salary relative to performance and expectations for improvement — A dialogue on salary is an optional part: current salary vs performance, chances and expectations for pay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correct answer b) Silence — pause so the person can process and respond — BISA = Behaviour, Impact, Silence, Alternatives — the pause lets the receiver process the information.
Q2: correct answer c) 'Instead of ignoring your supervisor's comments, it might help to discuss the situation in detail.' — Good feedback is specific, descriptive and focused on changeable behaviour — not judgmental labels.
Q3: correct answer a) Praise in public, criticise in private — Timing and place matter: praise publicly, criticise privately.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 correct answer b) It only frustrates the receiver, who cannot change it — Focus feedback on behaviour the receiver CAN change — anything else frustrates without helping.
Q5: correct answer a) Goal review &amp; planning form, peer assessment form, performance review form and interview questionnaire — The four working documents: Employee Goal Review &amp; Planning, Peer Assessment, Performance Review form and the Interview Questionnaire.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correct answer b) By establishing rapport and explaining the purpose and process — Open with rapport, purpose and process — some interviewers even use a standard opening script.
Q2: correct answer a) The job in general — agreeing its key tasks, content and responsibilities — Agree on the job itself first, then move to areas of agreement and strengths before weaknesses.
Q3: correct answer a) Praise becomes a warning sign and loses its value — If praise always precedes criticism, employees brace for the 'but' — the positive feedback stops landing.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 correct answer b) Part of an ongoing, two-way feedback process — It is a two-way conversation within continuous feedback — not a once-a-year verdict.
Q5: correct answer b) Asked to comment on how specific parts of the job or incidents were handled — Draw them out with specific, concrete questions and give openings for their own issues and suggestions.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correct answer a) Fight (argue back) and flight (avoid or pretend to agree) — 'Fight' defends and argues; 'flight' avoids or falsely agrees — both must be resolved in the interview.
Q2: correct answer b) Hear the employee out, acknowledge and note it, then restate the evidence for the assessment — Listen first, acknowledge, take notes — then stand on the evidence considered in the assessment.
Q3: correct answer b) Note that the disagreement occurred and consider follow-up action — Do not take the 'flight' route with a neutral rating — record the disagreement and plan follow-up.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 correct answer c) Consider day-in, day-out performance over the whole rating period — Rate the whole period factually — not single events, job status, or a habitual high/low pattern.
Q5: correct answer b) The immediate manager conducts it with no one else present; both manager and employee sign — The immediate manager/supervisor conducts the appraisal one-on-one, and both parties sign the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correct answer b) In co-operation with the employee, focused on the most important goals — Action plans are co-developed and prioritised — not dictated, and not a list of every possible improvement.
Q2: correct answer b) 'How am I doing?' and 'Where am I going?' — A complete appraisal answers: HOW AM I DOING? and WHERE AM I GOING?
Q3: correct answer b) Note that the invitation to sign was made, and let them attach comments — Record that signing was offered; the employee may add or attach comments to the file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 correct answer c) 3 to 5 years — The recommended retention period for appraisal records is 3–5 years.
Q5: correct answer a) Record findings accurately, fairly and honestly; agree an action plan with the employee; document and sign the agreed actions — Findings (positive AND negative) are recorded accurately, fairly and honestly; the action plan is agreed; and agreed actions are documented and signed by both parties.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correct answer b) An ongoing communication process between supervisors and employees throughout the year — Performance management is an ongoing, year-round communication process — appraisal is only one part of it.
Q2: correct answer b) Performance planning → coaching and counselling → appraisal — Planning sets expectations, coaching provides feedback and guidance, and appraisal completes the cycle.
Q3: correct answer b) Step 4 — Step 4 selects which accomplishments become elements, classifies them critical/non-critical/additional and assigns weights.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Q4: correct answer c) Critical elements — Critical elements must address individual performance only.
Q5: correct answer b) Quality — Quality covers accuracy, appearance, usefulness and effectiveness — error and satisfaction rates measure it.
Q6: correct answer b) 360-degree (multi-rater) feedback — 360-degree feedback gathers multi-rater views from around the employee, including self-assessment.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Q7: correct answer c) Drafting the final improvement plan alone — The improvement plan is developed WITH the employee during the interview — not beforehand.
Q8: correct answer b) Behaviour — the specific, factual behaviour you observed — B = Behaviour: identify the specific behaviour observed or what was said — facts are indisputable.
Q9: correct answer a) Areas of agreement and strengths — Agree on the job first, discuss strengths and agreement areas, then move gradually to weaknesses.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Q10: correct answer a) Summarise key issues, agree the action plan with copies, set follow-up dates, sign the form, keep it on file 3–5 years — Close with a summary, an agreed and distributed action plan, a review timetable, signatures and proper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image" Target="../media/image-7-9.png"/><Relationship Id="rId10" Type="http://schemas.openxmlformats.org/officeDocument/2006/relationships/image" Target="../media/image-7-10.svg"/><Relationship Id="rId11" Type="http://schemas.openxmlformats.org/officeDocument/2006/relationships/slideLayout" Target="../slideLayouts/slideLayout1.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image" Target="../media/image-12-4.svg"/><Relationship Id="rId5" Type="http://schemas.openxmlformats.org/officeDocument/2006/relationships/image" Target="../media/image-12-5.png"/><Relationship Id="rId6" Type="http://schemas.openxmlformats.org/officeDocument/2006/relationships/image" Target="../media/image-12-6.svg"/><Relationship Id="rId7" Type="http://schemas.openxmlformats.org/officeDocument/2006/relationships/image" Target="../media/image-12-7.png"/><Relationship Id="rId8" Type="http://schemas.openxmlformats.org/officeDocument/2006/relationships/image" Target="../media/image-12-8.svg"/><Relationship Id="rId9" Type="http://schemas.openxmlformats.org/officeDocument/2006/relationships/slideLayout" Target="../slideLayouts/slideLayout1.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sv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svg"/><Relationship Id="rId3" Type="http://schemas.openxmlformats.org/officeDocument/2006/relationships/image" Target="../media/image-20-3.png"/><Relationship Id="rId4" Type="http://schemas.openxmlformats.org/officeDocument/2006/relationships/image" Target="../media/image-20-4.svg"/><Relationship Id="rId5" Type="http://schemas.openxmlformats.org/officeDocument/2006/relationships/image" Target="../media/image-20-5.png"/><Relationship Id="rId6" Type="http://schemas.openxmlformats.org/officeDocument/2006/relationships/image" Target="../media/image-20-6.svg"/><Relationship Id="rId7" Type="http://schemas.openxmlformats.org/officeDocument/2006/relationships/image" Target="../media/image-20-7.png"/><Relationship Id="rId8" Type="http://schemas.openxmlformats.org/officeDocument/2006/relationships/image" Target="../media/image-20-8.svg"/><Relationship Id="rId9" Type="http://schemas.openxmlformats.org/officeDocument/2006/relationships/image" Target="../media/image-20-9.png"/><Relationship Id="rId10" Type="http://schemas.openxmlformats.org/officeDocument/2006/relationships/image" Target="../media/image-20-10.svg"/><Relationship Id="rId11" Type="http://schemas.openxmlformats.org/officeDocument/2006/relationships/slideLayout" Target="../slideLayouts/slideLayout1.xml"/><Relationship Id="rId1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sv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sv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sv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sv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sv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sv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sv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sv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sv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sv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sv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sv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sv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sv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sv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sv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sv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sv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sv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sv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sv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sv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sv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sv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sv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sv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sv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sv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sv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sv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sv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sv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sv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sv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sv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sv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sv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sv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sv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sv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svg"/><Relationship Id="rId3" Type="http://schemas.openxmlformats.org/officeDocument/2006/relationships/slideLayout" Target="../slideLayouts/slideLayout1.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sv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svg"/><Relationship Id="rId3" Type="http://schemas.openxmlformats.org/officeDocument/2006/relationships/slideLayout" Target="../slideLayouts/slideLayout1.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svg"/><Relationship Id="rId3" Type="http://schemas.openxmlformats.org/officeDocument/2006/relationships/slideLayout" Target="../slideLayouts/slideLayout1.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svg"/><Relationship Id="rId3" Type="http://schemas.openxmlformats.org/officeDocument/2006/relationships/slideLayout" Target="../slideLayouts/slideLayout1.xml"/><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svg"/><Relationship Id="rId3" Type="http://schemas.openxmlformats.org/officeDocument/2006/relationships/slideLayout" Target="../slideLayouts/slideLayout1.xml"/><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svg"/><Relationship Id="rId3" Type="http://schemas.openxmlformats.org/officeDocument/2006/relationships/slideLayout" Target="../slideLayouts/slideLayout1.xml"/><Relationship Id="rId4" Type="http://schemas.openxmlformats.org/officeDocument/2006/relationships/notesSlide" Target="../notesSlides/notesSlide6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F6CBD"/>
          </a:solidFill>
          <a:ln/>
        </p:spPr>
      </p:sp>
      <p:sp>
        <p:nvSpPr>
          <p:cNvPr id="3" name="Shape 1"/>
          <p:cNvSpPr/>
          <p:nvPr/>
        </p:nvSpPr>
        <p:spPr>
          <a:xfrm>
            <a:off x="502920" y="1005840"/>
            <a:ext cx="6035040" cy="566928"/>
          </a:xfrm>
          <a:prstGeom prst="roundRect">
            <a:avLst>
              <a:gd name="adj" fmla="val 50000"/>
            </a:avLst>
          </a:prstGeom>
          <a:solidFill>
            <a:srgbClr val="0F6CBD"/>
          </a:solidFill>
          <a:ln/>
        </p:spPr>
      </p:sp>
      <p:sp>
        <p:nvSpPr>
          <p:cNvPr id="4" name="Text 2"/>
          <p:cNvSpPr/>
          <p:nvPr/>
        </p:nvSpPr>
        <p:spPr>
          <a:xfrm>
            <a:off x="502920" y="1005840"/>
            <a:ext cx="6035040" cy="566928"/>
          </a:xfrm>
          <a:prstGeom prst="rect">
            <a:avLst/>
          </a:prstGeom>
          <a:noFill/>
          <a:ln/>
        </p:spPr>
        <p:txBody>
          <a:bodyPr wrap="square" rtlCol="0" anchor="ctr"/>
          <a:lstStyle/>
          <a:p>
            <a:pPr algn="ctr" indent="0" marL="0">
              <a:buNone/>
            </a:pPr>
            <a:r>
              <a:rPr lang="en-US" sz="1600" b="1" spc="100" kern="0" dirty="0">
                <a:solidFill>
                  <a:srgbClr val="FFFFFF"/>
                </a:solidFill>
                <a:latin typeface="Aptos" pitchFamily="34" charset="0"/>
                <a:ea typeface="Aptos" pitchFamily="34" charset="-122"/>
                <a:cs typeface="Aptos" pitchFamily="34" charset="-120"/>
              </a:rPr>
              <a:t>GENERIC MANAGEMENT · UNIT STANDARD 252034</a:t>
            </a:r>
            <a:endParaRPr lang="en-US" sz="1600" dirty="0"/>
          </a:p>
        </p:txBody>
      </p:sp>
      <p:sp>
        <p:nvSpPr>
          <p:cNvPr id="5" name="Text 3"/>
          <p:cNvSpPr/>
          <p:nvPr/>
        </p:nvSpPr>
        <p:spPr>
          <a:xfrm>
            <a:off x="502920" y="1737360"/>
            <a:ext cx="9875520" cy="1691640"/>
          </a:xfrm>
          <a:prstGeom prst="rect">
            <a:avLst/>
          </a:prstGeom>
          <a:noFill/>
          <a:ln/>
        </p:spPr>
        <p:txBody>
          <a:bodyPr wrap="square" rtlCol="0" anchor="ctr"/>
          <a:lstStyle/>
          <a:p>
            <a:pPr indent="0" marL="0">
              <a:buNone/>
            </a:pPr>
            <a:r>
              <a:rPr lang="en-US" sz="3600" b="1" dirty="0">
                <a:solidFill>
                  <a:srgbClr val="002050"/>
                </a:solidFill>
                <a:latin typeface="Aptos Display" pitchFamily="34" charset="0"/>
                <a:ea typeface="Aptos Display" pitchFamily="34" charset="-122"/>
                <a:cs typeface="Aptos Display" pitchFamily="34" charset="-120"/>
              </a:rPr>
              <a:t>US 252034 — Monitor and evaluate team members against performance standards</a:t>
            </a:r>
            <a:endParaRPr lang="en-US" sz="3600" dirty="0"/>
          </a:p>
        </p:txBody>
      </p:sp>
      <p:sp>
        <p:nvSpPr>
          <p:cNvPr id="6" name="Text 4"/>
          <p:cNvSpPr/>
          <p:nvPr/>
        </p:nvSpPr>
        <p:spPr>
          <a:xfrm>
            <a:off x="502920" y="3429000"/>
            <a:ext cx="8869680" cy="749808"/>
          </a:xfrm>
          <a:prstGeom prst="rect">
            <a:avLst/>
          </a:prstGeom>
          <a:noFill/>
          <a:ln/>
        </p:spPr>
        <p:txBody>
          <a:bodyPr wrap="square" rtlCol="0" anchor="ctr"/>
          <a:lstStyle/>
          <a:p>
            <a:pPr indent="0" marL="0">
              <a:lnSpc>
                <a:spcPct val="115000"/>
              </a:lnSpc>
              <a:buNone/>
            </a:pPr>
            <a:r>
              <a:rPr lang="en-US" sz="1800" dirty="0">
                <a:solidFill>
                  <a:srgbClr val="6B7280"/>
                </a:solidFill>
                <a:latin typeface="Aptos" pitchFamily="34" charset="0"/>
                <a:ea typeface="Aptos" pitchFamily="34" charset="-122"/>
                <a:cs typeface="Aptos" pitchFamily="34" charset="-120"/>
              </a:rPr>
              <a:t>Formulate performance standards and monitoring systems, prepare for a performance review, and conduct the review interview — the complete lesson deck.</a:t>
            </a:r>
            <a:endParaRPr lang="en-US" sz="1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58400" y="1280160"/>
            <a:ext cx="1645920" cy="1645920"/>
          </a:xfrm>
          <a:prstGeom prst="rect">
            <a:avLst/>
          </a:prstGeom>
        </p:spPr>
      </p:pic>
      <p:sp>
        <p:nvSpPr>
          <p:cNvPr id="8" name="Shape 5"/>
          <p:cNvSpPr/>
          <p:nvPr/>
        </p:nvSpPr>
        <p:spPr>
          <a:xfrm>
            <a:off x="502920" y="4224528"/>
            <a:ext cx="11183112" cy="0"/>
          </a:xfrm>
          <a:prstGeom prst="line">
            <a:avLst/>
          </a:prstGeom>
          <a:noFill/>
          <a:ln w="12700">
            <a:solidFill>
              <a:srgbClr val="D5E3F2"/>
            </a:solidFill>
            <a:prstDash val="solid"/>
          </a:ln>
        </p:spPr>
      </p:sp>
      <p:sp>
        <p:nvSpPr>
          <p:cNvPr id="9" name="Text 6"/>
          <p:cNvSpPr/>
          <p:nvPr/>
        </p:nvSpPr>
        <p:spPr>
          <a:xfrm>
            <a:off x="502920" y="4407408"/>
            <a:ext cx="2612898" cy="329184"/>
          </a:xfrm>
          <a:prstGeom prst="rect">
            <a:avLst/>
          </a:prstGeom>
          <a:noFill/>
          <a:ln/>
        </p:spPr>
        <p:txBody>
          <a:bodyPr wrap="none" rtlCol="0" anchor="ctr"/>
          <a:lstStyle/>
          <a:p>
            <a:pPr indent="0" marL="0">
              <a:buNone/>
            </a:pPr>
            <a:r>
              <a:rPr lang="en-US" sz="1500" b="1" spc="50" kern="0" dirty="0">
                <a:solidFill>
                  <a:srgbClr val="0F6CBD"/>
                </a:solidFill>
                <a:latin typeface="Aptos" pitchFamily="34" charset="0"/>
                <a:ea typeface="Aptos" pitchFamily="34" charset="-122"/>
                <a:cs typeface="Aptos" pitchFamily="34" charset="-120"/>
              </a:rPr>
              <a:t>NQF LEVEL</a:t>
            </a:r>
            <a:endParaRPr lang="en-US" sz="1500" dirty="0"/>
          </a:p>
        </p:txBody>
      </p:sp>
      <p:sp>
        <p:nvSpPr>
          <p:cNvPr id="10" name="Text 7"/>
          <p:cNvSpPr/>
          <p:nvPr/>
        </p:nvSpPr>
        <p:spPr>
          <a:xfrm>
            <a:off x="502920" y="4754880"/>
            <a:ext cx="2612898" cy="914400"/>
          </a:xfrm>
          <a:prstGeom prst="rect">
            <a:avLst/>
          </a:prstGeom>
          <a:noFill/>
          <a:ln/>
        </p:spPr>
        <p:txBody>
          <a:bodyPr wrap="square" rtlCol="0" anchor="ctr"/>
          <a:lstStyle/>
          <a:p>
            <a:pPr indent="0" marL="0">
              <a:lnSpc>
                <a:spcPct val="110000"/>
              </a:lnSpc>
              <a:buNone/>
            </a:pPr>
            <a:r>
              <a:rPr lang="en-US" sz="1500" dirty="0">
                <a:solidFill>
                  <a:srgbClr val="002050"/>
                </a:solidFill>
                <a:latin typeface="Aptos" pitchFamily="34" charset="0"/>
                <a:ea typeface="Aptos" pitchFamily="34" charset="-122"/>
                <a:cs typeface="Aptos" pitchFamily="34" charset="-120"/>
              </a:rPr>
              <a:t>Level 5</a:t>
            </a:r>
            <a:endParaRPr lang="en-US" sz="1500" dirty="0"/>
          </a:p>
        </p:txBody>
      </p:sp>
      <p:sp>
        <p:nvSpPr>
          <p:cNvPr id="11" name="Text 8"/>
          <p:cNvSpPr/>
          <p:nvPr/>
        </p:nvSpPr>
        <p:spPr>
          <a:xfrm>
            <a:off x="3298698" y="4407408"/>
            <a:ext cx="2612898" cy="329184"/>
          </a:xfrm>
          <a:prstGeom prst="rect">
            <a:avLst/>
          </a:prstGeom>
          <a:noFill/>
          <a:ln/>
        </p:spPr>
        <p:txBody>
          <a:bodyPr wrap="none" rtlCol="0" anchor="ctr"/>
          <a:lstStyle/>
          <a:p>
            <a:pPr indent="0" marL="0">
              <a:buNone/>
            </a:pPr>
            <a:r>
              <a:rPr lang="en-US" sz="1500" b="1" spc="50" kern="0" dirty="0">
                <a:solidFill>
                  <a:srgbClr val="0F6CBD"/>
                </a:solidFill>
                <a:latin typeface="Aptos" pitchFamily="34" charset="0"/>
                <a:ea typeface="Aptos" pitchFamily="34" charset="-122"/>
                <a:cs typeface="Aptos" pitchFamily="34" charset="-120"/>
              </a:rPr>
              <a:t>CREDITS</a:t>
            </a:r>
            <a:endParaRPr lang="en-US" sz="1500" dirty="0"/>
          </a:p>
        </p:txBody>
      </p:sp>
      <p:sp>
        <p:nvSpPr>
          <p:cNvPr id="12" name="Text 9"/>
          <p:cNvSpPr/>
          <p:nvPr/>
        </p:nvSpPr>
        <p:spPr>
          <a:xfrm>
            <a:off x="3298698" y="4754880"/>
            <a:ext cx="2612898" cy="914400"/>
          </a:xfrm>
          <a:prstGeom prst="rect">
            <a:avLst/>
          </a:prstGeom>
          <a:noFill/>
          <a:ln/>
        </p:spPr>
        <p:txBody>
          <a:bodyPr wrap="square" rtlCol="0" anchor="ctr"/>
          <a:lstStyle/>
          <a:p>
            <a:pPr indent="0" marL="0">
              <a:lnSpc>
                <a:spcPct val="110000"/>
              </a:lnSpc>
              <a:buNone/>
            </a:pPr>
            <a:r>
              <a:rPr lang="en-US" sz="1500" dirty="0">
                <a:solidFill>
                  <a:srgbClr val="002050"/>
                </a:solidFill>
                <a:latin typeface="Aptos" pitchFamily="34" charset="0"/>
                <a:ea typeface="Aptos" pitchFamily="34" charset="-122"/>
                <a:cs typeface="Aptos" pitchFamily="34" charset="-120"/>
              </a:rPr>
              <a:t>8 credits</a:t>
            </a:r>
            <a:endParaRPr lang="en-US" sz="1500" dirty="0"/>
          </a:p>
        </p:txBody>
      </p:sp>
      <p:sp>
        <p:nvSpPr>
          <p:cNvPr id="13" name="Text 10"/>
          <p:cNvSpPr/>
          <p:nvPr/>
        </p:nvSpPr>
        <p:spPr>
          <a:xfrm>
            <a:off x="6094476" y="4407408"/>
            <a:ext cx="2612898" cy="329184"/>
          </a:xfrm>
          <a:prstGeom prst="rect">
            <a:avLst/>
          </a:prstGeom>
          <a:noFill/>
          <a:ln/>
        </p:spPr>
        <p:txBody>
          <a:bodyPr wrap="none" rtlCol="0" anchor="ctr"/>
          <a:lstStyle/>
          <a:p>
            <a:pPr indent="0" marL="0">
              <a:buNone/>
            </a:pPr>
            <a:r>
              <a:rPr lang="en-US" sz="1500" b="1" spc="50" kern="0" dirty="0">
                <a:solidFill>
                  <a:srgbClr val="0F6CBD"/>
                </a:solidFill>
                <a:latin typeface="Aptos" pitchFamily="34" charset="0"/>
                <a:ea typeface="Aptos" pitchFamily="34" charset="-122"/>
                <a:cs typeface="Aptos" pitchFamily="34" charset="-120"/>
              </a:rPr>
              <a:t>QUALIFICATION</a:t>
            </a:r>
            <a:endParaRPr lang="en-US" sz="1500" dirty="0"/>
          </a:p>
        </p:txBody>
      </p:sp>
      <p:sp>
        <p:nvSpPr>
          <p:cNvPr id="14" name="Text 11"/>
          <p:cNvSpPr/>
          <p:nvPr/>
        </p:nvSpPr>
        <p:spPr>
          <a:xfrm>
            <a:off x="6094476" y="4754880"/>
            <a:ext cx="2612898" cy="914400"/>
          </a:xfrm>
          <a:prstGeom prst="rect">
            <a:avLst/>
          </a:prstGeom>
          <a:noFill/>
          <a:ln/>
        </p:spPr>
        <p:txBody>
          <a:bodyPr wrap="square" rtlCol="0" anchor="ctr"/>
          <a:lstStyle/>
          <a:p>
            <a:pPr indent="0" marL="0">
              <a:lnSpc>
                <a:spcPct val="110000"/>
              </a:lnSpc>
              <a:buNone/>
            </a:pPr>
            <a:r>
              <a:rPr lang="en-US" sz="1500" dirty="0">
                <a:solidFill>
                  <a:srgbClr val="002050"/>
                </a:solidFill>
                <a:latin typeface="Aptos" pitchFamily="34" charset="0"/>
                <a:ea typeface="Aptos" pitchFamily="34" charset="-122"/>
                <a:cs typeface="Aptos" pitchFamily="34" charset="-120"/>
              </a:rPr>
              <a:t>National Certificate: Generic Management</a:t>
            </a:r>
            <a:endParaRPr lang="en-US" sz="1500" dirty="0"/>
          </a:p>
        </p:txBody>
      </p:sp>
      <p:sp>
        <p:nvSpPr>
          <p:cNvPr id="15" name="Text 12"/>
          <p:cNvSpPr/>
          <p:nvPr/>
        </p:nvSpPr>
        <p:spPr>
          <a:xfrm>
            <a:off x="8890254" y="4407408"/>
            <a:ext cx="2612898" cy="329184"/>
          </a:xfrm>
          <a:prstGeom prst="rect">
            <a:avLst/>
          </a:prstGeom>
          <a:noFill/>
          <a:ln/>
        </p:spPr>
        <p:txBody>
          <a:bodyPr wrap="none" rtlCol="0" anchor="ctr"/>
          <a:lstStyle/>
          <a:p>
            <a:pPr indent="0" marL="0">
              <a:buNone/>
            </a:pPr>
            <a:r>
              <a:rPr lang="en-US" sz="1500" b="1" spc="50" kern="0" dirty="0">
                <a:solidFill>
                  <a:srgbClr val="0F6CBD"/>
                </a:solidFill>
                <a:latin typeface="Aptos" pitchFamily="34" charset="0"/>
                <a:ea typeface="Aptos" pitchFamily="34" charset="-122"/>
                <a:cs typeface="Aptos" pitchFamily="34" charset="-120"/>
              </a:rPr>
              <a:t>SAQA ID</a:t>
            </a:r>
            <a:endParaRPr lang="en-US" sz="1500" dirty="0"/>
          </a:p>
        </p:txBody>
      </p:sp>
      <p:sp>
        <p:nvSpPr>
          <p:cNvPr id="16" name="Text 13"/>
          <p:cNvSpPr/>
          <p:nvPr/>
        </p:nvSpPr>
        <p:spPr>
          <a:xfrm>
            <a:off x="8890254" y="4754880"/>
            <a:ext cx="2612898" cy="914400"/>
          </a:xfrm>
          <a:prstGeom prst="rect">
            <a:avLst/>
          </a:prstGeom>
          <a:noFill/>
          <a:ln/>
        </p:spPr>
        <p:txBody>
          <a:bodyPr wrap="square" rtlCol="0" anchor="ctr"/>
          <a:lstStyle/>
          <a:p>
            <a:pPr indent="0" marL="0">
              <a:lnSpc>
                <a:spcPct val="110000"/>
              </a:lnSpc>
              <a:buNone/>
            </a:pPr>
            <a:r>
              <a:rPr lang="en-US" sz="1500" dirty="0">
                <a:solidFill>
                  <a:srgbClr val="002050"/>
                </a:solidFill>
                <a:latin typeface="Aptos" pitchFamily="34" charset="0"/>
                <a:ea typeface="Aptos" pitchFamily="34" charset="-122"/>
                <a:cs typeface="Aptos" pitchFamily="34" charset="-120"/>
              </a:rPr>
              <a:t>59201</a:t>
            </a:r>
            <a:endParaRPr lang="en-US" sz="1500" dirty="0"/>
          </a:p>
        </p:txBody>
      </p:sp>
      <p:sp>
        <p:nvSpPr>
          <p:cNvPr id="17" name="Text 14"/>
          <p:cNvSpPr/>
          <p:nvPr/>
        </p:nvSpPr>
        <p:spPr>
          <a:xfrm>
            <a:off x="502920" y="6291072"/>
            <a:ext cx="11183112" cy="365760"/>
          </a:xfrm>
          <a:prstGeom prst="rect">
            <a:avLst/>
          </a:prstGeom>
          <a:noFill/>
          <a:ln/>
        </p:spPr>
        <p:txBody>
          <a:bodyPr wrap="square" rtlCol="0" anchor="ctr"/>
          <a:lstStyle/>
          <a:p>
            <a:pPr indent="0" marL="0">
              <a:buNone/>
            </a:pPr>
            <a:r>
              <a:rPr lang="en-US" sz="1500" dirty="0">
                <a:solidFill>
                  <a:srgbClr val="6B7280"/>
                </a:solidFill>
                <a:latin typeface="Aptos" pitchFamily="34" charset="0"/>
                <a:ea typeface="Aptos" pitchFamily="34" charset="-122"/>
                <a:cs typeface="Aptos" pitchFamily="34" charset="-120"/>
              </a:rPr>
              <a:t>ITSS Learn · Investec · Corporate Banking Technology</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2050"/>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2</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Shape 3"/>
          <p:cNvSpPr/>
          <p:nvPr/>
        </p:nvSpPr>
        <p:spPr>
          <a:xfrm>
            <a:off x="0" y="0"/>
            <a:ext cx="12188952" cy="109728"/>
          </a:xfrm>
          <a:prstGeom prst="rect">
            <a:avLst/>
          </a:prstGeom>
          <a:solidFill>
            <a:srgbClr val="0F6CBD"/>
          </a:solidFill>
          <a:ln/>
        </p:spPr>
      </p:sp>
      <p:sp>
        <p:nvSpPr>
          <p:cNvPr id="6" name="Text 4"/>
          <p:cNvSpPr/>
          <p:nvPr/>
        </p:nvSpPr>
        <p:spPr>
          <a:xfrm>
            <a:off x="502920" y="1920240"/>
            <a:ext cx="11183112" cy="457200"/>
          </a:xfrm>
          <a:prstGeom prst="rect">
            <a:avLst/>
          </a:prstGeom>
          <a:noFill/>
          <a:ln/>
        </p:spPr>
        <p:txBody>
          <a:bodyPr wrap="square" rtlCol="0" anchor="ctr"/>
          <a:lstStyle/>
          <a:p>
            <a:pPr indent="0" marL="0">
              <a:buNone/>
            </a:pPr>
            <a:r>
              <a:rPr lang="en-US" sz="2000" b="1" spc="300" kern="0" dirty="0">
                <a:solidFill>
                  <a:srgbClr val="8CC2F0"/>
                </a:solidFill>
                <a:latin typeface="Aptos" pitchFamily="34" charset="0"/>
                <a:ea typeface="Aptos" pitchFamily="34" charset="-122"/>
                <a:cs typeface="Aptos" pitchFamily="34" charset="-120"/>
              </a:rPr>
              <a:t>LESSON 1</a:t>
            </a:r>
            <a:endParaRPr lang="en-US" sz="2000" dirty="0"/>
          </a:p>
        </p:txBody>
      </p:sp>
      <p:sp>
        <p:nvSpPr>
          <p:cNvPr id="7" name="Text 5"/>
          <p:cNvSpPr/>
          <p:nvPr/>
        </p:nvSpPr>
        <p:spPr>
          <a:xfrm>
            <a:off x="502920" y="2468880"/>
            <a:ext cx="10424160" cy="1554480"/>
          </a:xfrm>
          <a:prstGeom prst="rect">
            <a:avLst/>
          </a:prstGeom>
          <a:noFill/>
          <a:ln/>
        </p:spPr>
        <p:txBody>
          <a:bodyPr wrap="square" rtlCol="0" anchor="ctr"/>
          <a:lstStyle/>
          <a:p>
            <a:pPr indent="0" marL="0">
              <a:buNone/>
            </a:pPr>
            <a:r>
              <a:rPr lang="en-US" sz="4000" b="1" dirty="0">
                <a:solidFill>
                  <a:srgbClr val="FFFFFF"/>
                </a:solidFill>
                <a:latin typeface="Aptos Display" pitchFamily="34" charset="0"/>
                <a:ea typeface="Aptos Display" pitchFamily="34" charset="-122"/>
                <a:cs typeface="Aptos Display" pitchFamily="34" charset="-120"/>
              </a:rPr>
              <a:t>Formulate performance standards and monitoring systems</a:t>
            </a:r>
            <a:endParaRPr lang="en-US" sz="400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2920" y="1097280"/>
            <a:ext cx="640080" cy="640080"/>
          </a:xfrm>
          <a:prstGeom prst="rect">
            <a:avLst/>
          </a:prstGeom>
        </p:spPr>
      </p:pic>
      <p:sp>
        <p:nvSpPr>
          <p:cNvPr id="9" name="Text 6"/>
          <p:cNvSpPr/>
          <p:nvPr/>
        </p:nvSpPr>
        <p:spPr>
          <a:xfrm>
            <a:off x="502920" y="6291072"/>
            <a:ext cx="11183112" cy="365760"/>
          </a:xfrm>
          <a:prstGeom prst="rect">
            <a:avLst/>
          </a:prstGeom>
          <a:noFill/>
          <a:ln/>
        </p:spPr>
        <p:txBody>
          <a:bodyPr wrap="square" rtlCol="0" anchor="ctr"/>
          <a:lstStyle/>
          <a:p>
            <a:pPr indent="0" marL="0">
              <a:buNone/>
            </a:pPr>
            <a:r>
              <a:rPr lang="en-US" sz="1400" dirty="0">
                <a:solidFill>
                  <a:srgbClr val="6E93BC"/>
                </a:solidFill>
                <a:latin typeface="Aptos" pitchFamily="34" charset="0"/>
                <a:ea typeface="Aptos" pitchFamily="34" charset="-122"/>
                <a:cs typeface="Aptos" pitchFamily="34" charset="-120"/>
              </a:rPr>
              <a:t>US 252034 · Monitor and evaluate team members against performance standards · NQF 5 · 8 credits · ITSS Learn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3</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1</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Performance management — the big picture</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07008"/>
            <a:ext cx="11183112" cy="729234"/>
          </a:xfrm>
          <a:prstGeom prst="rect">
            <a:avLst/>
          </a:prstGeom>
          <a:noFill/>
          <a:ln/>
        </p:spPr>
        <p:txBody>
          <a:bodyPr wrap="square" rtlCol="0" anchor="t"/>
          <a:lstStyle/>
          <a:p>
            <a:pPr indent="0" marL="0">
              <a:lnSpc>
                <a:spcPct val="112000"/>
              </a:lnSpc>
              <a:buNone/>
            </a:pPr>
            <a:r>
              <a:rPr lang="en-US" sz="1500" dirty="0">
                <a:solidFill>
                  <a:srgbClr val="6B7280"/>
                </a:solidFill>
                <a:latin typeface="Aptos" pitchFamily="34" charset="0"/>
                <a:ea typeface="Aptos" pitchFamily="34" charset="-122"/>
                <a:cs typeface="Aptos" pitchFamily="34" charset="-120"/>
              </a:rPr>
              <a:t>Unit Standard 252034 — Monitor and evaluate team members against performance standards. This unit is for managers in all economic sectors — typically second-level managers such as heads of department, section heads or divisional heads who may have more than one team reporting to them.</a:t>
            </a:r>
            <a:endParaRPr lang="en-US" sz="1500" dirty="0"/>
          </a:p>
        </p:txBody>
      </p:sp>
      <p:sp>
        <p:nvSpPr>
          <p:cNvPr id="9" name="Text 6"/>
          <p:cNvSpPr/>
          <p:nvPr/>
        </p:nvSpPr>
        <p:spPr>
          <a:xfrm>
            <a:off x="502920" y="2009394"/>
            <a:ext cx="11183112" cy="954024"/>
          </a:xfrm>
          <a:prstGeom prst="rect">
            <a:avLst/>
          </a:prstGeom>
          <a:noFill/>
          <a:ln/>
        </p:spPr>
        <p:txBody>
          <a:bodyPr wrap="square" rtlCol="0" anchor="t"/>
          <a:lstStyle/>
          <a:p>
            <a:pPr indent="0" marL="0">
              <a:lnSpc>
                <a:spcPct val="112000"/>
              </a:lnSpc>
              <a:buNone/>
            </a:pPr>
            <a:r>
              <a:rPr lang="en-US" sz="1500" dirty="0">
                <a:solidFill>
                  <a:srgbClr val="6B7280"/>
                </a:solidFill>
                <a:latin typeface="Aptos" pitchFamily="34" charset="0"/>
                <a:ea typeface="Aptos" pitchFamily="34" charset="-122"/>
                <a:cs typeface="Aptos" pitchFamily="34" charset="-120"/>
              </a:rPr>
              <a:t>Most organisations are moving from a once-a-year appraisal to a continuous programme of performance management. A productive performance management system is a two-way avenue of communication between a supervisor and an employee: it helps employees improve their performance, and it helps the organisation succeed in a competitive, cost-conscious environment.</a:t>
            </a:r>
            <a:endParaRPr lang="en-US" sz="1500" dirty="0"/>
          </a:p>
        </p:txBody>
      </p:sp>
      <p:sp>
        <p:nvSpPr>
          <p:cNvPr id="10" name="Text 7"/>
          <p:cNvSpPr/>
          <p:nvPr/>
        </p:nvSpPr>
        <p:spPr>
          <a:xfrm>
            <a:off x="502920" y="3036570"/>
            <a:ext cx="11183112" cy="729234"/>
          </a:xfrm>
          <a:prstGeom prst="rect">
            <a:avLst/>
          </a:prstGeom>
          <a:noFill/>
          <a:ln/>
        </p:spPr>
        <p:txBody>
          <a:bodyPr wrap="square" rtlCol="0" anchor="t"/>
          <a:lstStyle/>
          <a:p>
            <a:pPr indent="0" marL="0">
              <a:lnSpc>
                <a:spcPct val="112000"/>
              </a:lnSpc>
              <a:buNone/>
            </a:pPr>
            <a:r>
              <a:rPr lang="en-US" sz="1500" dirty="0">
                <a:solidFill>
                  <a:srgbClr val="6B7280"/>
                </a:solidFill>
                <a:latin typeface="Aptos" pitchFamily="34" charset="0"/>
                <a:ea typeface="Aptos" pitchFamily="34" charset="-122"/>
                <a:cs typeface="Aptos" pitchFamily="34" charset="-120"/>
              </a:rPr>
              <a:t>The annual performance appraisal is not an end in itself — it is a means to an end. It is only the third and final part of an ongoing process that starts with performance planning (setting reasonable expectations and standards) and coaching and counselling (constructive feedback, guidance and assistance to improve performance).</a:t>
            </a:r>
            <a:endParaRPr lang="en-US" sz="1500" dirty="0"/>
          </a:p>
        </p:txBody>
      </p:sp>
      <p:sp>
        <p:nvSpPr>
          <p:cNvPr id="11" name="Text 8"/>
          <p:cNvSpPr/>
          <p:nvPr/>
        </p:nvSpPr>
        <p:spPr>
          <a:xfrm>
            <a:off x="502920" y="3838956"/>
            <a:ext cx="11183112" cy="729234"/>
          </a:xfrm>
          <a:prstGeom prst="rect">
            <a:avLst/>
          </a:prstGeom>
          <a:noFill/>
          <a:ln/>
        </p:spPr>
        <p:txBody>
          <a:bodyPr wrap="square" rtlCol="0" anchor="t"/>
          <a:lstStyle/>
          <a:p>
            <a:pPr indent="0" marL="0">
              <a:lnSpc>
                <a:spcPct val="112000"/>
              </a:lnSpc>
              <a:buNone/>
            </a:pPr>
            <a:r>
              <a:rPr lang="en-US" sz="1500" dirty="0">
                <a:solidFill>
                  <a:srgbClr val="6B7280"/>
                </a:solidFill>
                <a:latin typeface="Aptos" pitchFamily="34" charset="0"/>
                <a:ea typeface="Aptos" pitchFamily="34" charset="-122"/>
                <a:cs typeface="Aptos" pitchFamily="34" charset="-120"/>
              </a:rPr>
              <a:t>According to Armstrong and Baron (1998), performance management is both a strategic and an integrated approach to delivering successful results in organisations by improving the performance and developing the capabilities of teams and individuals.</a:t>
            </a:r>
            <a:endParaRPr lang="en-US" sz="1500" dirty="0"/>
          </a:p>
        </p:txBody>
      </p:sp>
      <p:sp>
        <p:nvSpPr>
          <p:cNvPr id="12" name="Text 9"/>
          <p:cNvSpPr/>
          <p:nvPr/>
        </p:nvSpPr>
        <p:spPr>
          <a:xfrm>
            <a:off x="576072" y="4677918"/>
            <a:ext cx="11036808" cy="675132"/>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Supervisors and managers are employed to manage the performance (effectiveness and efficiency) of the organisation and the people who make up its human resources. Unfortunately, research conducted in most organisations indicates they are not doing a very good job of it: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4</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1</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Performance management — the big picture …(continued)</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207008"/>
          <a:ext cx="11183112" cy="914400"/>
        </p:xfrm>
        <a:graphic>
          <a:graphicData uri="http://schemas.openxmlformats.org/drawingml/2006/table">
            <a:tbl>
              <a:tblPr/>
              <a:tblGrid>
                <a:gridCol w="5591556"/>
                <a:gridCol w="5591556"/>
              </a:tblGrid>
              <a:tr h="329184">
                <a:tc>
                  <a:txBody>
                    <a:bodyPr/>
                    <a:lstStyle/>
                    <a:p>
                      <a:pPr indent="0" marL="0">
                        <a:buNone/>
                      </a:pPr>
                      <a:r>
                        <a:rPr lang="en-US" sz="1200" b="1" dirty="0">
                          <a:solidFill>
                            <a:srgbClr val="FFFFFF"/>
                          </a:solidFill>
                          <a:latin typeface="Aptos Display" pitchFamily="34" charset="0"/>
                          <a:ea typeface="Aptos Display" pitchFamily="34" charset="-122"/>
                          <a:cs typeface="Aptos Display" pitchFamily="34" charset="-120"/>
                        </a:rPr>
                        <a:t>What employees say</a:t>
                      </a:r>
                      <a:endParaRPr lang="en-US" sz="1200" dirty="0">
                        <a:latin typeface="Aptos Display" charset="0"/>
                        <a:ea typeface="Aptos Display" charset="0"/>
                        <a:cs typeface="Aptos Display"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200" b="1" dirty="0">
                          <a:solidFill>
                            <a:srgbClr val="FFFFFF"/>
                          </a:solidFill>
                          <a:latin typeface="Aptos Display" pitchFamily="34" charset="0"/>
                          <a:ea typeface="Aptos Display" pitchFamily="34" charset="-122"/>
                          <a:cs typeface="Aptos Display" pitchFamily="34" charset="-120"/>
                        </a:rPr>
                        <a:t>%</a:t>
                      </a:r>
                      <a:endParaRPr lang="en-US" sz="1200" dirty="0">
                        <a:latin typeface="Aptos Display" charset="0"/>
                        <a:ea typeface="Aptos Display" charset="0"/>
                        <a:cs typeface="Aptos Display"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r>
              <a:tr h="329184">
                <a:tc>
                  <a:txBody>
                    <a:bodyPr/>
                    <a:lstStyle/>
                    <a:p>
                      <a:pPr indent="0" marL="0">
                        <a:buNone/>
                      </a:pPr>
                      <a:r>
                        <a:rPr lang="en-US" sz="1200" dirty="0">
                          <a:solidFill>
                            <a:srgbClr val="002050"/>
                          </a:solidFill>
                          <a:latin typeface="Aptos" pitchFamily="34" charset="0"/>
                          <a:ea typeface="Aptos" pitchFamily="34" charset="-122"/>
                          <a:cs typeface="Aptos" pitchFamily="34" charset="-120"/>
                        </a:rPr>
                        <a:t>Managers do not provide clear goals and directions</a:t>
                      </a:r>
                      <a:endParaRPr lang="en-US" sz="12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70%</a:t>
                      </a:r>
                      <a:endParaRPr lang="en-US" sz="12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002050"/>
                          </a:solidFill>
                          <a:latin typeface="Aptos" pitchFamily="34" charset="0"/>
                          <a:ea typeface="Aptos" pitchFamily="34" charset="-122"/>
                          <a:cs typeface="Aptos" pitchFamily="34" charset="-120"/>
                        </a:rPr>
                        <a:t>Managers are poor or average in providing direction</a:t>
                      </a:r>
                      <a:endParaRPr lang="en-US" sz="12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55%</a:t>
                      </a:r>
                      <a:endParaRPr lang="en-US" sz="12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329184">
                <a:tc>
                  <a:txBody>
                    <a:bodyPr/>
                    <a:lstStyle/>
                    <a:p>
                      <a:pPr indent="0" marL="0">
                        <a:buNone/>
                      </a:pPr>
                      <a:r>
                        <a:rPr lang="en-US" sz="1200" dirty="0">
                          <a:solidFill>
                            <a:srgbClr val="002050"/>
                          </a:solidFill>
                          <a:latin typeface="Aptos" pitchFamily="34" charset="0"/>
                          <a:ea typeface="Aptos" pitchFamily="34" charset="-122"/>
                          <a:cs typeface="Aptos" pitchFamily="34" charset="-120"/>
                        </a:rPr>
                        <a:t>Performance expectations are not clearly defined</a:t>
                      </a:r>
                      <a:endParaRPr lang="en-US" sz="12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70%</a:t>
                      </a:r>
                      <a:endParaRPr lang="en-US" sz="12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002050"/>
                          </a:solidFill>
                          <a:latin typeface="Aptos" pitchFamily="34" charset="0"/>
                          <a:ea typeface="Aptos" pitchFamily="34" charset="-122"/>
                          <a:cs typeface="Aptos" pitchFamily="34" charset="-120"/>
                        </a:rPr>
                        <a:t>Have never had a meaningful performance discussion with their manager</a:t>
                      </a:r>
                      <a:endParaRPr lang="en-US" sz="12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70%</a:t>
                      </a:r>
                      <a:endParaRPr lang="en-US" sz="12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329184">
                <a:tc>
                  <a:txBody>
                    <a:bodyPr/>
                    <a:lstStyle/>
                    <a:p>
                      <a:pPr indent="0" marL="0">
                        <a:buNone/>
                      </a:pPr>
                      <a:r>
                        <a:rPr lang="en-US" sz="1200" dirty="0">
                          <a:solidFill>
                            <a:srgbClr val="002050"/>
                          </a:solidFill>
                          <a:latin typeface="Aptos" pitchFamily="34" charset="0"/>
                          <a:ea typeface="Aptos" pitchFamily="34" charset="-122"/>
                          <a:cs typeface="Aptos" pitchFamily="34" charset="-120"/>
                        </a:rPr>
                        <a:t>The most important information needed concerns ways to improve performance</a:t>
                      </a:r>
                      <a:endParaRPr lang="en-US" sz="12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65%</a:t>
                      </a:r>
                      <a:endParaRPr lang="en-US" sz="12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002050"/>
                          </a:solidFill>
                          <a:latin typeface="Aptos" pitchFamily="34" charset="0"/>
                          <a:ea typeface="Aptos" pitchFamily="34" charset="-122"/>
                          <a:cs typeface="Aptos" pitchFamily="34" charset="-120"/>
                        </a:rPr>
                        <a:t>Their supervisor does not follow up on the review</a:t>
                      </a:r>
                      <a:endParaRPr lang="en-US" sz="12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80%</a:t>
                      </a:r>
                      <a:endParaRPr lang="en-US" sz="12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329184">
                <a:tc>
                  <a:txBody>
                    <a:bodyPr/>
                    <a:lstStyle/>
                    <a:p>
                      <a:pPr indent="0" marL="0">
                        <a:buNone/>
                      </a:pPr>
                      <a:r>
                        <a:rPr lang="en-US" sz="1200" dirty="0">
                          <a:solidFill>
                            <a:srgbClr val="002050"/>
                          </a:solidFill>
                          <a:latin typeface="Aptos" pitchFamily="34" charset="0"/>
                          <a:ea typeface="Aptos" pitchFamily="34" charset="-122"/>
                          <a:cs typeface="Aptos" pitchFamily="34" charset="-120"/>
                        </a:rPr>
                        <a:t>Believe their company's system for evaluating performance is not fair</a:t>
                      </a:r>
                      <a:endParaRPr lang="en-US" sz="12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71%</a:t>
                      </a:r>
                      <a:endParaRPr lang="en-US" sz="12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002050"/>
                          </a:solidFill>
                          <a:latin typeface="Aptos" pitchFamily="34" charset="0"/>
                          <a:ea typeface="Aptos" pitchFamily="34" charset="-122"/>
                          <a:cs typeface="Aptos" pitchFamily="34" charset="-120"/>
                        </a:rPr>
                        <a:t>Poor performance is tolerated too long</a:t>
                      </a:r>
                      <a:endParaRPr lang="en-US" sz="12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52%</a:t>
                      </a:r>
                      <a:endParaRPr lang="en-US" sz="12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329184">
                <a:tc>
                  <a:txBody>
                    <a:bodyPr/>
                    <a:lstStyle/>
                    <a:p>
                      <a:pPr indent="0" marL="0">
                        <a:buNone/>
                      </a:pPr>
                      <a:r>
                        <a:rPr lang="en-US" sz="1200" dirty="0">
                          <a:solidFill>
                            <a:srgbClr val="002050"/>
                          </a:solidFill>
                          <a:latin typeface="Aptos" pitchFamily="34" charset="0"/>
                          <a:ea typeface="Aptos" pitchFamily="34" charset="-122"/>
                          <a:cs typeface="Aptos" pitchFamily="34" charset="-120"/>
                        </a:rPr>
                        <a:t>Do not see a relationship between good work and rewards</a:t>
                      </a:r>
                      <a:endParaRPr lang="en-US" sz="12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80%</a:t>
                      </a:r>
                      <a:endParaRPr lang="en-US" sz="12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002050"/>
                          </a:solidFill>
                          <a:latin typeface="Aptos" pitchFamily="34" charset="0"/>
                          <a:ea typeface="Aptos" pitchFamily="34" charset="-122"/>
                          <a:cs typeface="Aptos" pitchFamily="34" charset="-120"/>
                        </a:rPr>
                        <a:t>Believe pay should reflect performance — yet only 48% believe their company's pay system does</a:t>
                      </a:r>
                      <a:endParaRPr lang="en-US" sz="12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98%</a:t>
                      </a:r>
                      <a:endParaRPr lang="en-US" sz="12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329184">
                <a:tc>
                  <a:txBody>
                    <a:bodyPr/>
                    <a:lstStyle/>
                    <a:p>
                      <a:pPr indent="0" marL="0">
                        <a:buNone/>
                      </a:pPr>
                      <a:r>
                        <a:rPr lang="en-US" sz="1200" dirty="0">
                          <a:solidFill>
                            <a:srgbClr val="002050"/>
                          </a:solidFill>
                          <a:latin typeface="Aptos" pitchFamily="34" charset="0"/>
                          <a:ea typeface="Aptos" pitchFamily="34" charset="-122"/>
                          <a:cs typeface="Aptos" pitchFamily="34" charset="-120"/>
                        </a:rPr>
                        <a:t>Want more recognition of their efforts</a:t>
                      </a:r>
                      <a:endParaRPr lang="en-US" sz="12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70%</a:t>
                      </a:r>
                      <a:endParaRPr lang="en-US" sz="12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002050"/>
                          </a:solidFill>
                          <a:latin typeface="Aptos" pitchFamily="34" charset="0"/>
                          <a:ea typeface="Aptos" pitchFamily="34" charset="-122"/>
                          <a:cs typeface="Aptos" pitchFamily="34" charset="-120"/>
                        </a:rPr>
                        <a:t>Believe their pay is not tied to performance</a:t>
                      </a:r>
                      <a:endParaRPr lang="en-US" sz="12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200" dirty="0">
                          <a:solidFill>
                            <a:srgbClr val="002050"/>
                          </a:solidFill>
                          <a:latin typeface="Aptos" pitchFamily="34" charset="0"/>
                          <a:ea typeface="Aptos" pitchFamily="34" charset="-122"/>
                          <a:cs typeface="Aptos" pitchFamily="34" charset="-120"/>
                        </a:rPr>
                        <a:t>70%</a:t>
                      </a:r>
                      <a:endParaRPr lang="en-US" sz="12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5</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1</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Check yourself — Performance management — the big picture</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34440"/>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Q1.</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Who is Unit Standard 252034 intended for?</a:t>
            </a:r>
            <a:endParaRPr lang="en-US" sz="1500" dirty="0"/>
          </a:p>
        </p:txBody>
      </p:sp>
      <p:sp>
        <p:nvSpPr>
          <p:cNvPr id="9" name="Text 6"/>
          <p:cNvSpPr/>
          <p:nvPr/>
        </p:nvSpPr>
        <p:spPr>
          <a:xfrm>
            <a:off x="868680" y="15140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Learners with no work experience</a:t>
            </a:r>
            <a:endParaRPr lang="en-US" sz="1300" dirty="0"/>
          </a:p>
        </p:txBody>
      </p:sp>
      <p:sp>
        <p:nvSpPr>
          <p:cNvPr id="10" name="Text 7"/>
          <p:cNvSpPr/>
          <p:nvPr/>
        </p:nvSpPr>
        <p:spPr>
          <a:xfrm>
            <a:off x="868680" y="17363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Second-level managers such as section heads with teams reporting to them</a:t>
            </a:r>
            <a:endParaRPr lang="en-US" sz="1300" dirty="0"/>
          </a:p>
        </p:txBody>
      </p:sp>
      <p:sp>
        <p:nvSpPr>
          <p:cNvPr id="11" name="Text 8"/>
          <p:cNvSpPr/>
          <p:nvPr/>
        </p:nvSpPr>
        <p:spPr>
          <a:xfrm>
            <a:off x="868680" y="19585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Only human resources administrators</a:t>
            </a:r>
            <a:endParaRPr lang="en-US" sz="1300" dirty="0"/>
          </a:p>
        </p:txBody>
      </p:sp>
      <p:sp>
        <p:nvSpPr>
          <p:cNvPr id="12" name="Text 9"/>
          <p:cNvSpPr/>
          <p:nvPr/>
        </p:nvSpPr>
        <p:spPr>
          <a:xfrm>
            <a:off x="868680" y="21808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External auditors</a:t>
            </a:r>
            <a:endParaRPr lang="en-US" sz="1300" dirty="0"/>
          </a:p>
        </p:txBody>
      </p:sp>
      <p:sp>
        <p:nvSpPr>
          <p:cNvPr id="13" name="Text 10"/>
          <p:cNvSpPr/>
          <p:nvPr/>
        </p:nvSpPr>
        <p:spPr>
          <a:xfrm>
            <a:off x="502920" y="2567686"/>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Q2.</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The annual performance appraisal is best described as…</a:t>
            </a:r>
            <a:endParaRPr lang="en-US" sz="1500" dirty="0"/>
          </a:p>
        </p:txBody>
      </p:sp>
      <p:sp>
        <p:nvSpPr>
          <p:cNvPr id="14" name="Text 11"/>
          <p:cNvSpPr/>
          <p:nvPr/>
        </p:nvSpPr>
        <p:spPr>
          <a:xfrm>
            <a:off x="868680" y="28473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An end in itself — once it is done, performance management is complete</a:t>
            </a:r>
            <a:endParaRPr lang="en-US" sz="1300" dirty="0"/>
          </a:p>
        </p:txBody>
      </p:sp>
      <p:sp>
        <p:nvSpPr>
          <p:cNvPr id="15" name="Text 12"/>
          <p:cNvSpPr/>
          <p:nvPr/>
        </p:nvSpPr>
        <p:spPr>
          <a:xfrm>
            <a:off x="868680" y="30695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A punishment tool for poor performers</a:t>
            </a:r>
            <a:endParaRPr lang="en-US" sz="1300" dirty="0"/>
          </a:p>
        </p:txBody>
      </p:sp>
      <p:sp>
        <p:nvSpPr>
          <p:cNvPr id="16" name="Text 13"/>
          <p:cNvSpPr/>
          <p:nvPr/>
        </p:nvSpPr>
        <p:spPr>
          <a:xfrm>
            <a:off x="868680" y="32918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The final part of an ongoing process that starts with planning and coaching</a:t>
            </a:r>
            <a:endParaRPr lang="en-US" sz="1300" dirty="0"/>
          </a:p>
        </p:txBody>
      </p:sp>
      <p:sp>
        <p:nvSpPr>
          <p:cNvPr id="17" name="Text 14"/>
          <p:cNvSpPr/>
          <p:nvPr/>
        </p:nvSpPr>
        <p:spPr>
          <a:xfrm>
            <a:off x="868680" y="35140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A replacement for day-to-day supervision</a:t>
            </a:r>
            <a:endParaRPr lang="en-US" sz="1300" dirty="0"/>
          </a:p>
        </p:txBody>
      </p:sp>
      <p:sp>
        <p:nvSpPr>
          <p:cNvPr id="18" name="Text 15"/>
          <p:cNvSpPr/>
          <p:nvPr/>
        </p:nvSpPr>
        <p:spPr>
          <a:xfrm>
            <a:off x="502920" y="3900932"/>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Q3.</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A productive performance management system provides…</a:t>
            </a:r>
            <a:endParaRPr lang="en-US" sz="1500" dirty="0"/>
          </a:p>
        </p:txBody>
      </p:sp>
      <p:sp>
        <p:nvSpPr>
          <p:cNvPr id="19" name="Text 16"/>
          <p:cNvSpPr/>
          <p:nvPr/>
        </p:nvSpPr>
        <p:spPr>
          <a:xfrm>
            <a:off x="868680" y="418058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A one-way instruction channel from managers to staff</a:t>
            </a:r>
            <a:endParaRPr lang="en-US" sz="1300" dirty="0"/>
          </a:p>
        </p:txBody>
      </p:sp>
      <p:sp>
        <p:nvSpPr>
          <p:cNvPr id="20" name="Text 17"/>
          <p:cNvSpPr/>
          <p:nvPr/>
        </p:nvSpPr>
        <p:spPr>
          <a:xfrm>
            <a:off x="868680" y="440283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A two-way avenue of communication between supervisor and employee</a:t>
            </a:r>
            <a:endParaRPr lang="en-US" sz="1300" dirty="0"/>
          </a:p>
        </p:txBody>
      </p:sp>
      <p:sp>
        <p:nvSpPr>
          <p:cNvPr id="21" name="Text 18"/>
          <p:cNvSpPr/>
          <p:nvPr/>
        </p:nvSpPr>
        <p:spPr>
          <a:xfrm>
            <a:off x="868680" y="462508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A secret record of employee mistakes</a:t>
            </a:r>
            <a:endParaRPr lang="en-US" sz="1300" dirty="0"/>
          </a:p>
        </p:txBody>
      </p:sp>
      <p:sp>
        <p:nvSpPr>
          <p:cNvPr id="22" name="Text 19"/>
          <p:cNvSpPr/>
          <p:nvPr/>
        </p:nvSpPr>
        <p:spPr>
          <a:xfrm>
            <a:off x="868680" y="484733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A way to avoid difficult conversations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6</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1</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Check yourself — Performance management — the big picture …(continued)</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34440"/>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Q4.</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According to Armstrong and Baron, performance management is…</a:t>
            </a:r>
            <a:endParaRPr lang="en-US" sz="1500" dirty="0"/>
          </a:p>
        </p:txBody>
      </p:sp>
      <p:sp>
        <p:nvSpPr>
          <p:cNvPr id="9" name="Text 6"/>
          <p:cNvSpPr/>
          <p:nvPr/>
        </p:nvSpPr>
        <p:spPr>
          <a:xfrm>
            <a:off x="868680" y="15140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A strategic and integrated approach to improving performance and developing capabilities</a:t>
            </a:r>
            <a:endParaRPr lang="en-US" sz="1300" dirty="0"/>
          </a:p>
        </p:txBody>
      </p:sp>
      <p:sp>
        <p:nvSpPr>
          <p:cNvPr id="10" name="Text 7"/>
          <p:cNvSpPr/>
          <p:nvPr/>
        </p:nvSpPr>
        <p:spPr>
          <a:xfrm>
            <a:off x="868680" y="17363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A yearly form-filling exercise required by law</a:t>
            </a:r>
            <a:endParaRPr lang="en-US" sz="1300" dirty="0"/>
          </a:p>
        </p:txBody>
      </p:sp>
      <p:sp>
        <p:nvSpPr>
          <p:cNvPr id="11" name="Text 8"/>
          <p:cNvSpPr/>
          <p:nvPr/>
        </p:nvSpPr>
        <p:spPr>
          <a:xfrm>
            <a:off x="868680" y="19585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A software package for tracking attendance</a:t>
            </a:r>
            <a:endParaRPr lang="en-US" sz="1300" dirty="0"/>
          </a:p>
        </p:txBody>
      </p:sp>
      <p:sp>
        <p:nvSpPr>
          <p:cNvPr id="12" name="Text 9"/>
          <p:cNvSpPr/>
          <p:nvPr/>
        </p:nvSpPr>
        <p:spPr>
          <a:xfrm>
            <a:off x="868680" y="21808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A disciplinary procedure</a:t>
            </a:r>
            <a:endParaRPr lang="en-US" sz="1300" dirty="0"/>
          </a:p>
        </p:txBody>
      </p:sp>
      <p:sp>
        <p:nvSpPr>
          <p:cNvPr id="13" name="Text 10"/>
          <p:cNvSpPr/>
          <p:nvPr/>
        </p:nvSpPr>
        <p:spPr>
          <a:xfrm>
            <a:off x="502920" y="2567686"/>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Q5.</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Which research finding shows why proper performance management matters?</a:t>
            </a:r>
            <a:endParaRPr lang="en-US" sz="1500" dirty="0"/>
          </a:p>
        </p:txBody>
      </p:sp>
      <p:sp>
        <p:nvSpPr>
          <p:cNvPr id="14" name="Text 11"/>
          <p:cNvSpPr/>
          <p:nvPr/>
        </p:nvSpPr>
        <p:spPr>
          <a:xfrm>
            <a:off x="868680" y="28473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Most employees say their goals are perfectly clear</a:t>
            </a:r>
            <a:endParaRPr lang="en-US" sz="1300" dirty="0"/>
          </a:p>
        </p:txBody>
      </p:sp>
      <p:sp>
        <p:nvSpPr>
          <p:cNvPr id="15" name="Text 12"/>
          <p:cNvSpPr/>
          <p:nvPr/>
        </p:nvSpPr>
        <p:spPr>
          <a:xfrm>
            <a:off x="868680" y="30695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70% of employees have never had a meaningful performance discussion with their manager</a:t>
            </a:r>
            <a:endParaRPr lang="en-US" sz="1300" dirty="0"/>
          </a:p>
        </p:txBody>
      </p:sp>
      <p:sp>
        <p:nvSpPr>
          <p:cNvPr id="16" name="Text 13"/>
          <p:cNvSpPr/>
          <p:nvPr/>
        </p:nvSpPr>
        <p:spPr>
          <a:xfrm>
            <a:off x="868680" y="32918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Almost nobody wants recognition for their efforts</a:t>
            </a:r>
            <a:endParaRPr lang="en-US" sz="1300" dirty="0"/>
          </a:p>
        </p:txBody>
      </p:sp>
      <p:sp>
        <p:nvSpPr>
          <p:cNvPr id="17" name="Text 14"/>
          <p:cNvSpPr/>
          <p:nvPr/>
        </p:nvSpPr>
        <p:spPr>
          <a:xfrm>
            <a:off x="868680" y="35140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Only 2% believe pay should reflect performance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7</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1</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Components of a performance management system</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07008"/>
            <a:ext cx="11183112" cy="504444"/>
          </a:xfrm>
          <a:prstGeom prst="rect">
            <a:avLst/>
          </a:prstGeom>
          <a:noFill/>
          <a:ln/>
        </p:spPr>
        <p:txBody>
          <a:bodyPr wrap="square" rtlCol="0" anchor="t"/>
          <a:lstStyle/>
          <a:p>
            <a:pPr indent="0" marL="0">
              <a:lnSpc>
                <a:spcPct val="112000"/>
              </a:lnSpc>
              <a:buNone/>
            </a:pPr>
            <a:r>
              <a:rPr lang="en-US" sz="1500" dirty="0">
                <a:solidFill>
                  <a:srgbClr val="6B7280"/>
                </a:solidFill>
                <a:latin typeface="Aptos" pitchFamily="34" charset="0"/>
                <a:ea typeface="Aptos" pitchFamily="34" charset="-122"/>
                <a:cs typeface="Aptos" pitchFamily="34" charset="-120"/>
              </a:rPr>
              <a:t>An effective performance management system is built from six components that run right through the year — not a single meeting.</a:t>
            </a:r>
            <a:endParaRPr lang="en-US" sz="1500" dirty="0"/>
          </a:p>
        </p:txBody>
      </p:sp>
      <p:sp>
        <p:nvSpPr>
          <p:cNvPr id="9" name="Shape 6"/>
          <p:cNvSpPr/>
          <p:nvPr/>
        </p:nvSpPr>
        <p:spPr>
          <a:xfrm>
            <a:off x="502920" y="1821180"/>
            <a:ext cx="5481828" cy="1461262"/>
          </a:xfrm>
          <a:prstGeom prst="roundRect">
            <a:avLst>
              <a:gd name="adj" fmla="val 5632"/>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9224" y="1967484"/>
            <a:ext cx="310896" cy="310896"/>
          </a:xfrm>
          <a:prstGeom prst="rect">
            <a:avLst/>
          </a:prstGeom>
        </p:spPr>
      </p:pic>
      <p:sp>
        <p:nvSpPr>
          <p:cNvPr id="11" name="Text 7"/>
          <p:cNvSpPr/>
          <p:nvPr/>
        </p:nvSpPr>
        <p:spPr>
          <a:xfrm>
            <a:off x="1051560" y="1912620"/>
            <a:ext cx="4768596" cy="297942"/>
          </a:xfrm>
          <a:prstGeom prst="rect">
            <a:avLst/>
          </a:prstGeom>
          <a:noFill/>
          <a:ln/>
        </p:spPr>
        <p:txBody>
          <a:bodyPr wrap="square" rtlCol="0" anchor="t"/>
          <a:lstStyle/>
          <a:p>
            <a:pPr indent="0" marL="0">
              <a:lnSpc>
                <a:spcPct val="105000"/>
              </a:lnSpc>
              <a:buNone/>
            </a:pPr>
            <a:r>
              <a:rPr lang="en-US" sz="1500" b="1" dirty="0">
                <a:solidFill>
                  <a:srgbClr val="002050"/>
                </a:solidFill>
                <a:latin typeface="Aptos Display" pitchFamily="34" charset="0"/>
                <a:ea typeface="Aptos Display" pitchFamily="34" charset="-122"/>
                <a:cs typeface="Aptos Display" pitchFamily="34" charset="-120"/>
              </a:rPr>
              <a:t>1 · Performance planning</a:t>
            </a:r>
            <a:endParaRPr lang="en-US" sz="1500" dirty="0"/>
          </a:p>
        </p:txBody>
      </p:sp>
      <p:sp>
        <p:nvSpPr>
          <p:cNvPr id="12" name="Text 8"/>
          <p:cNvSpPr/>
          <p:nvPr/>
        </p:nvSpPr>
        <p:spPr>
          <a:xfrm>
            <a:off x="649224" y="2296668"/>
            <a:ext cx="5189220" cy="925576"/>
          </a:xfrm>
          <a:prstGeom prst="rect">
            <a:avLst/>
          </a:prstGeom>
          <a:noFill/>
          <a:ln/>
        </p:spPr>
        <p:txBody>
          <a:bodyPr wrap="square" rtlCol="0" anchor="t"/>
          <a:lstStyle/>
          <a:p>
            <a:pPr indent="0" marL="0">
              <a:lnSpc>
                <a:spcPct val="110000"/>
              </a:lnSpc>
              <a:buNone/>
            </a:pPr>
            <a:r>
              <a:rPr lang="en-US" sz="1300" dirty="0">
                <a:solidFill>
                  <a:srgbClr val="6B7280"/>
                </a:solidFill>
                <a:latin typeface="Aptos" pitchFamily="34" charset="0"/>
                <a:ea typeface="Aptos" pitchFamily="34" charset="-122"/>
                <a:cs typeface="Aptos" pitchFamily="34" charset="-120"/>
              </a:rPr>
              <a:t>Done jointly by the appraisee and reviewer at the start of the session. Targets and key performance areas for the year are agreed within the performance budget.</a:t>
            </a:r>
            <a:endParaRPr lang="en-US" sz="1300" dirty="0"/>
          </a:p>
        </p:txBody>
      </p:sp>
      <p:sp>
        <p:nvSpPr>
          <p:cNvPr id="13" name="Shape 9"/>
          <p:cNvSpPr/>
          <p:nvPr/>
        </p:nvSpPr>
        <p:spPr>
          <a:xfrm>
            <a:off x="6204204" y="1821180"/>
            <a:ext cx="5481828" cy="1461262"/>
          </a:xfrm>
          <a:prstGeom prst="roundRect">
            <a:avLst>
              <a:gd name="adj" fmla="val 5632"/>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50508" y="1967484"/>
            <a:ext cx="310896" cy="310896"/>
          </a:xfrm>
          <a:prstGeom prst="rect">
            <a:avLst/>
          </a:prstGeom>
        </p:spPr>
      </p:pic>
      <p:sp>
        <p:nvSpPr>
          <p:cNvPr id="15" name="Text 10"/>
          <p:cNvSpPr/>
          <p:nvPr/>
        </p:nvSpPr>
        <p:spPr>
          <a:xfrm>
            <a:off x="6752844" y="1912620"/>
            <a:ext cx="4768596" cy="297942"/>
          </a:xfrm>
          <a:prstGeom prst="rect">
            <a:avLst/>
          </a:prstGeom>
          <a:noFill/>
          <a:ln/>
        </p:spPr>
        <p:txBody>
          <a:bodyPr wrap="square" rtlCol="0" anchor="t"/>
          <a:lstStyle/>
          <a:p>
            <a:pPr indent="0" marL="0">
              <a:lnSpc>
                <a:spcPct val="105000"/>
              </a:lnSpc>
              <a:buNone/>
            </a:pPr>
            <a:r>
              <a:rPr lang="en-US" sz="1500" b="1" dirty="0">
                <a:solidFill>
                  <a:srgbClr val="002050"/>
                </a:solidFill>
                <a:latin typeface="Aptos Display" pitchFamily="34" charset="0"/>
                <a:ea typeface="Aptos Display" pitchFamily="34" charset="-122"/>
                <a:cs typeface="Aptos Display" pitchFamily="34" charset="-120"/>
              </a:rPr>
              <a:t>2 · Appraisal &amp; reviewing</a:t>
            </a:r>
            <a:endParaRPr lang="en-US" sz="1500" dirty="0"/>
          </a:p>
        </p:txBody>
      </p:sp>
      <p:sp>
        <p:nvSpPr>
          <p:cNvPr id="16" name="Text 11"/>
          <p:cNvSpPr/>
          <p:nvPr/>
        </p:nvSpPr>
        <p:spPr>
          <a:xfrm>
            <a:off x="6350508" y="2296668"/>
            <a:ext cx="5189220" cy="925576"/>
          </a:xfrm>
          <a:prstGeom prst="rect">
            <a:avLst/>
          </a:prstGeom>
          <a:noFill/>
          <a:ln/>
        </p:spPr>
        <p:txBody>
          <a:bodyPr wrap="square" rtlCol="0" anchor="t"/>
          <a:lstStyle/>
          <a:p>
            <a:pPr indent="0" marL="0">
              <a:lnSpc>
                <a:spcPct val="110000"/>
              </a:lnSpc>
              <a:buNone/>
            </a:pPr>
            <a:r>
              <a:rPr lang="en-US" sz="1300" dirty="0">
                <a:solidFill>
                  <a:srgbClr val="6B7280"/>
                </a:solidFill>
                <a:latin typeface="Aptos" pitchFamily="34" charset="0"/>
                <a:ea typeface="Aptos" pitchFamily="34" charset="-122"/>
                <a:cs typeface="Aptos" pitchFamily="34" charset="-120"/>
              </a:rPr>
              <a:t>Normally twice a year — mid review and annual review. The employee first completes a self-appraisal and describes achievements in quantifiable terms; the appraiser then gives final ratings.</a:t>
            </a:r>
            <a:endParaRPr lang="en-US" sz="1300" dirty="0"/>
          </a:p>
        </p:txBody>
      </p:sp>
      <p:sp>
        <p:nvSpPr>
          <p:cNvPr id="17" name="Shape 12"/>
          <p:cNvSpPr/>
          <p:nvPr/>
        </p:nvSpPr>
        <p:spPr>
          <a:xfrm>
            <a:off x="502920" y="3410458"/>
            <a:ext cx="5481828" cy="1461262"/>
          </a:xfrm>
          <a:prstGeom prst="roundRect">
            <a:avLst>
              <a:gd name="adj" fmla="val 5632"/>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8"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49224" y="3556762"/>
            <a:ext cx="310896" cy="310896"/>
          </a:xfrm>
          <a:prstGeom prst="rect">
            <a:avLst/>
          </a:prstGeom>
        </p:spPr>
      </p:pic>
      <p:sp>
        <p:nvSpPr>
          <p:cNvPr id="19" name="Text 13"/>
          <p:cNvSpPr/>
          <p:nvPr/>
        </p:nvSpPr>
        <p:spPr>
          <a:xfrm>
            <a:off x="1051560" y="3501898"/>
            <a:ext cx="4768596" cy="297942"/>
          </a:xfrm>
          <a:prstGeom prst="rect">
            <a:avLst/>
          </a:prstGeom>
          <a:noFill/>
          <a:ln/>
        </p:spPr>
        <p:txBody>
          <a:bodyPr wrap="square" rtlCol="0" anchor="t"/>
          <a:lstStyle/>
          <a:p>
            <a:pPr indent="0" marL="0">
              <a:lnSpc>
                <a:spcPct val="105000"/>
              </a:lnSpc>
              <a:buNone/>
            </a:pPr>
            <a:r>
              <a:rPr lang="en-US" sz="1500" b="1" dirty="0">
                <a:solidFill>
                  <a:srgbClr val="002050"/>
                </a:solidFill>
                <a:latin typeface="Aptos Display" pitchFamily="34" charset="0"/>
                <a:ea typeface="Aptos Display" pitchFamily="34" charset="-122"/>
                <a:cs typeface="Aptos Display" pitchFamily="34" charset="-120"/>
              </a:rPr>
              <a:t>3 · Feedback &amp; counselling</a:t>
            </a:r>
            <a:endParaRPr lang="en-US" sz="1500" dirty="0"/>
          </a:p>
        </p:txBody>
      </p:sp>
      <p:sp>
        <p:nvSpPr>
          <p:cNvPr id="20" name="Text 14"/>
          <p:cNvSpPr/>
          <p:nvPr/>
        </p:nvSpPr>
        <p:spPr>
          <a:xfrm>
            <a:off x="649224" y="3885946"/>
            <a:ext cx="5189220" cy="925576"/>
          </a:xfrm>
          <a:prstGeom prst="rect">
            <a:avLst/>
          </a:prstGeom>
          <a:noFill/>
          <a:ln/>
        </p:spPr>
        <p:txBody>
          <a:bodyPr wrap="square" rtlCol="0" anchor="t"/>
          <a:lstStyle/>
          <a:p>
            <a:pPr indent="0" marL="0">
              <a:lnSpc>
                <a:spcPct val="110000"/>
              </a:lnSpc>
              <a:buNone/>
            </a:pPr>
            <a:r>
              <a:rPr lang="en-US" sz="1300" dirty="0">
                <a:solidFill>
                  <a:srgbClr val="6B7280"/>
                </a:solidFill>
                <a:latin typeface="Aptos" pitchFamily="34" charset="0"/>
                <a:ea typeface="Aptos" pitchFamily="34" charset="-122"/>
                <a:cs typeface="Aptos" pitchFamily="34" charset="-120"/>
              </a:rPr>
              <a:t>The employee learns about areas of improvement and whether expected performance levels are being met — open, transparent feedback plus identified training and development needs.</a:t>
            </a:r>
            <a:endParaRPr lang="en-US" sz="1300" dirty="0"/>
          </a:p>
        </p:txBody>
      </p:sp>
      <p:sp>
        <p:nvSpPr>
          <p:cNvPr id="21" name="Shape 15"/>
          <p:cNvSpPr/>
          <p:nvPr/>
        </p:nvSpPr>
        <p:spPr>
          <a:xfrm>
            <a:off x="6204204" y="3410458"/>
            <a:ext cx="5481828" cy="1461262"/>
          </a:xfrm>
          <a:prstGeom prst="roundRect">
            <a:avLst>
              <a:gd name="adj" fmla="val 5632"/>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2"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50508" y="3556762"/>
            <a:ext cx="310896" cy="310896"/>
          </a:xfrm>
          <a:prstGeom prst="rect">
            <a:avLst/>
          </a:prstGeom>
        </p:spPr>
      </p:pic>
      <p:sp>
        <p:nvSpPr>
          <p:cNvPr id="23" name="Text 16"/>
          <p:cNvSpPr/>
          <p:nvPr/>
        </p:nvSpPr>
        <p:spPr>
          <a:xfrm>
            <a:off x="6752844" y="3501898"/>
            <a:ext cx="4768596" cy="297942"/>
          </a:xfrm>
          <a:prstGeom prst="rect">
            <a:avLst/>
          </a:prstGeom>
          <a:noFill/>
          <a:ln/>
        </p:spPr>
        <p:txBody>
          <a:bodyPr wrap="square" rtlCol="0" anchor="t"/>
          <a:lstStyle/>
          <a:p>
            <a:pPr indent="0" marL="0">
              <a:lnSpc>
                <a:spcPct val="105000"/>
              </a:lnSpc>
              <a:buNone/>
            </a:pPr>
            <a:r>
              <a:rPr lang="en-US" sz="1500" b="1" dirty="0">
                <a:solidFill>
                  <a:srgbClr val="002050"/>
                </a:solidFill>
                <a:latin typeface="Aptos Display" pitchFamily="34" charset="0"/>
                <a:ea typeface="Aptos Display" pitchFamily="34" charset="-122"/>
                <a:cs typeface="Aptos Display" pitchFamily="34" charset="-120"/>
              </a:rPr>
              <a:t>4 · Rewarding good performance</a:t>
            </a:r>
            <a:endParaRPr lang="en-US" sz="1500" dirty="0"/>
          </a:p>
        </p:txBody>
      </p:sp>
      <p:sp>
        <p:nvSpPr>
          <p:cNvPr id="24" name="Text 17"/>
          <p:cNvSpPr/>
          <p:nvPr/>
        </p:nvSpPr>
        <p:spPr>
          <a:xfrm>
            <a:off x="6350508" y="3885946"/>
            <a:ext cx="5189220" cy="925576"/>
          </a:xfrm>
          <a:prstGeom prst="rect">
            <a:avLst/>
          </a:prstGeom>
          <a:noFill/>
          <a:ln/>
        </p:spPr>
        <p:txBody>
          <a:bodyPr wrap="square" rtlCol="0" anchor="t"/>
          <a:lstStyle/>
          <a:p>
            <a:pPr indent="0" marL="0">
              <a:lnSpc>
                <a:spcPct val="110000"/>
              </a:lnSpc>
              <a:buNone/>
            </a:pPr>
            <a:r>
              <a:rPr lang="en-US" sz="1300" dirty="0">
                <a:solidFill>
                  <a:srgbClr val="6B7280"/>
                </a:solidFill>
                <a:latin typeface="Aptos" pitchFamily="34" charset="0"/>
                <a:ea typeface="Aptos" pitchFamily="34" charset="-122"/>
                <a:cs typeface="Aptos" pitchFamily="34" charset="-120"/>
              </a:rPr>
              <a:t>Public recognition and reward for good performance. This directly influences motivation, self-esteem and achievement orientation.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8</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1</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Components of a performance management system …(continued)</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Shape 5"/>
          <p:cNvSpPr/>
          <p:nvPr/>
        </p:nvSpPr>
        <p:spPr>
          <a:xfrm>
            <a:off x="502920" y="1207008"/>
            <a:ext cx="5481828" cy="1266444"/>
          </a:xfrm>
          <a:prstGeom prst="roundRect">
            <a:avLst>
              <a:gd name="adj" fmla="val 6498"/>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9224" y="1353312"/>
            <a:ext cx="310896" cy="310896"/>
          </a:xfrm>
          <a:prstGeom prst="rect">
            <a:avLst/>
          </a:prstGeom>
        </p:spPr>
      </p:pic>
      <p:sp>
        <p:nvSpPr>
          <p:cNvPr id="10" name="Text 6"/>
          <p:cNvSpPr/>
          <p:nvPr/>
        </p:nvSpPr>
        <p:spPr>
          <a:xfrm>
            <a:off x="1051560" y="1298448"/>
            <a:ext cx="4768596" cy="297942"/>
          </a:xfrm>
          <a:prstGeom prst="rect">
            <a:avLst/>
          </a:prstGeom>
          <a:noFill/>
          <a:ln/>
        </p:spPr>
        <p:txBody>
          <a:bodyPr wrap="square" rtlCol="0" anchor="t"/>
          <a:lstStyle/>
          <a:p>
            <a:pPr indent="0" marL="0">
              <a:lnSpc>
                <a:spcPct val="105000"/>
              </a:lnSpc>
              <a:buNone/>
            </a:pPr>
            <a:r>
              <a:rPr lang="en-US" sz="1500" b="1" dirty="0">
                <a:solidFill>
                  <a:srgbClr val="002050"/>
                </a:solidFill>
                <a:latin typeface="Aptos Display" pitchFamily="34" charset="0"/>
                <a:ea typeface="Aptos Display" pitchFamily="34" charset="-122"/>
                <a:cs typeface="Aptos Display" pitchFamily="34" charset="-120"/>
              </a:rPr>
              <a:t>5 · Performance improvement plans</a:t>
            </a:r>
            <a:endParaRPr lang="en-US" sz="1500" dirty="0"/>
          </a:p>
        </p:txBody>
      </p:sp>
      <p:sp>
        <p:nvSpPr>
          <p:cNvPr id="11" name="Text 7"/>
          <p:cNvSpPr/>
          <p:nvPr/>
        </p:nvSpPr>
        <p:spPr>
          <a:xfrm>
            <a:off x="649224" y="1682496"/>
            <a:ext cx="5189220" cy="730758"/>
          </a:xfrm>
          <a:prstGeom prst="rect">
            <a:avLst/>
          </a:prstGeom>
          <a:noFill/>
          <a:ln/>
        </p:spPr>
        <p:txBody>
          <a:bodyPr wrap="square" rtlCol="0" anchor="t"/>
          <a:lstStyle/>
          <a:p>
            <a:pPr indent="0" marL="0">
              <a:lnSpc>
                <a:spcPct val="110000"/>
              </a:lnSpc>
              <a:buNone/>
            </a:pPr>
            <a:r>
              <a:rPr lang="en-US" sz="1300" dirty="0">
                <a:solidFill>
                  <a:srgbClr val="6B7280"/>
                </a:solidFill>
                <a:latin typeface="Aptos" pitchFamily="34" charset="0"/>
                <a:ea typeface="Aptos" pitchFamily="34" charset="-122"/>
                <a:cs typeface="Aptos" pitchFamily="34" charset="-120"/>
              </a:rPr>
              <a:t>Fresh goals and a deadline for improvement, clearly communicated, jointly developed and mutually approved.</a:t>
            </a:r>
            <a:endParaRPr lang="en-US" sz="1300" dirty="0"/>
          </a:p>
        </p:txBody>
      </p:sp>
      <p:sp>
        <p:nvSpPr>
          <p:cNvPr id="12" name="Shape 8"/>
          <p:cNvSpPr/>
          <p:nvPr/>
        </p:nvSpPr>
        <p:spPr>
          <a:xfrm>
            <a:off x="6204204" y="1207008"/>
            <a:ext cx="5481828" cy="1266444"/>
          </a:xfrm>
          <a:prstGeom prst="roundRect">
            <a:avLst>
              <a:gd name="adj" fmla="val 6498"/>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50508" y="1353312"/>
            <a:ext cx="310896" cy="310896"/>
          </a:xfrm>
          <a:prstGeom prst="rect">
            <a:avLst/>
          </a:prstGeom>
        </p:spPr>
      </p:pic>
      <p:sp>
        <p:nvSpPr>
          <p:cNvPr id="14" name="Text 9"/>
          <p:cNvSpPr/>
          <p:nvPr/>
        </p:nvSpPr>
        <p:spPr>
          <a:xfrm>
            <a:off x="6752844" y="1298448"/>
            <a:ext cx="4768596" cy="297942"/>
          </a:xfrm>
          <a:prstGeom prst="rect">
            <a:avLst/>
          </a:prstGeom>
          <a:noFill/>
          <a:ln/>
        </p:spPr>
        <p:txBody>
          <a:bodyPr wrap="square" rtlCol="0" anchor="t"/>
          <a:lstStyle/>
          <a:p>
            <a:pPr indent="0" marL="0">
              <a:lnSpc>
                <a:spcPct val="105000"/>
              </a:lnSpc>
              <a:buNone/>
            </a:pPr>
            <a:r>
              <a:rPr lang="en-US" sz="1500" b="1" dirty="0">
                <a:solidFill>
                  <a:srgbClr val="002050"/>
                </a:solidFill>
                <a:latin typeface="Aptos Display" pitchFamily="34" charset="0"/>
                <a:ea typeface="Aptos Display" pitchFamily="34" charset="-122"/>
                <a:cs typeface="Aptos Display" pitchFamily="34" charset="-120"/>
              </a:rPr>
              <a:t>6 · Potential appraisal</a:t>
            </a:r>
            <a:endParaRPr lang="en-US" sz="1500" dirty="0"/>
          </a:p>
        </p:txBody>
      </p:sp>
      <p:sp>
        <p:nvSpPr>
          <p:cNvPr id="15" name="Text 10"/>
          <p:cNvSpPr/>
          <p:nvPr/>
        </p:nvSpPr>
        <p:spPr>
          <a:xfrm>
            <a:off x="6350508" y="1682496"/>
            <a:ext cx="5189220" cy="730758"/>
          </a:xfrm>
          <a:prstGeom prst="rect">
            <a:avLst/>
          </a:prstGeom>
          <a:noFill/>
          <a:ln/>
        </p:spPr>
        <p:txBody>
          <a:bodyPr wrap="square" rtlCol="0" anchor="t"/>
          <a:lstStyle/>
          <a:p>
            <a:pPr indent="0" marL="0">
              <a:lnSpc>
                <a:spcPct val="110000"/>
              </a:lnSpc>
              <a:buNone/>
            </a:pPr>
            <a:r>
              <a:rPr lang="en-US" sz="1300" dirty="0">
                <a:solidFill>
                  <a:srgbClr val="6B7280"/>
                </a:solidFill>
                <a:latin typeface="Aptos" pitchFamily="34" charset="0"/>
                <a:ea typeface="Aptos" pitchFamily="34" charset="-122"/>
                <a:cs typeface="Aptos" pitchFamily="34" charset="-120"/>
              </a:rPr>
              <a:t>Assesses potential for lateral and vertical movement — inputs for succession planning and job rotation through competency mapping.</a:t>
            </a:r>
            <a:endParaRPr lang="en-US" sz="1300" dirty="0"/>
          </a:p>
        </p:txBody>
      </p:sp>
      <p:sp>
        <p:nvSpPr>
          <p:cNvPr id="16" name="Text 11"/>
          <p:cNvSpPr/>
          <p:nvPr/>
        </p:nvSpPr>
        <p:spPr>
          <a:xfrm>
            <a:off x="576072" y="2638044"/>
            <a:ext cx="11036808" cy="465328"/>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A good performance management system improves overall organisational performance by managing the performance of teams and individuals towards the organisation's ambitions and goals. It plays this role by:</a:t>
            </a:r>
            <a:endParaRPr lang="en-US" sz="1400" dirty="0"/>
          </a:p>
        </p:txBody>
      </p:sp>
      <p:sp>
        <p:nvSpPr>
          <p:cNvPr id="17" name="Text 12"/>
          <p:cNvSpPr/>
          <p:nvPr/>
        </p:nvSpPr>
        <p:spPr>
          <a:xfrm>
            <a:off x="576072" y="3167380"/>
            <a:ext cx="11036808" cy="255524"/>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Ensuring employees understand the importance of their contributions to the organisational goals and objectives.</a:t>
            </a:r>
            <a:endParaRPr lang="en-US" sz="1400" dirty="0"/>
          </a:p>
        </p:txBody>
      </p:sp>
      <p:sp>
        <p:nvSpPr>
          <p:cNvPr id="18" name="Text 13"/>
          <p:cNvSpPr/>
          <p:nvPr/>
        </p:nvSpPr>
        <p:spPr>
          <a:xfrm>
            <a:off x="576072" y="3486912"/>
            <a:ext cx="11036808" cy="465328"/>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Ensuring each employee understands what is expected from them — and whether they possess the required skills and support to fulfil those expectations.</a:t>
            </a:r>
            <a:endParaRPr lang="en-US" sz="1400" dirty="0"/>
          </a:p>
        </p:txBody>
      </p:sp>
      <p:sp>
        <p:nvSpPr>
          <p:cNvPr id="19" name="Text 14"/>
          <p:cNvSpPr/>
          <p:nvPr/>
        </p:nvSpPr>
        <p:spPr>
          <a:xfrm>
            <a:off x="576072" y="4016248"/>
            <a:ext cx="11036808" cy="255524"/>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Properly aligning and linking objectives, and facilitating effective communication throughout the organisation.</a:t>
            </a:r>
            <a:endParaRPr lang="en-US" sz="1400" dirty="0"/>
          </a:p>
        </p:txBody>
      </p:sp>
      <p:sp>
        <p:nvSpPr>
          <p:cNvPr id="20" name="Text 15"/>
          <p:cNvSpPr/>
          <p:nvPr/>
        </p:nvSpPr>
        <p:spPr>
          <a:xfrm>
            <a:off x="576072" y="4335780"/>
            <a:ext cx="11036808" cy="465328"/>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Facilitating a cordial, harmonious relationship between the individual employee and the line manager, based on trust and empowerment.</a:t>
            </a:r>
            <a:endParaRPr lang="en-US" sz="1400" dirty="0"/>
          </a:p>
        </p:txBody>
      </p:sp>
      <p:sp>
        <p:nvSpPr>
          <p:cNvPr id="21" name="Text 16"/>
          <p:cNvSpPr/>
          <p:nvPr/>
        </p:nvSpPr>
        <p:spPr>
          <a:xfrm>
            <a:off x="576072" y="4865116"/>
            <a:ext cx="11036808" cy="884936"/>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It also lifts job satisfaction and employee loyalty through: regular open and transparent feedback; a clear link between performance and compensation; ample learning and development opportunities (e.g. leadership development programmes); fair and equal distribution of incentives and rewards; clear objectives set through open communication and joint dialogue; recognition of good performance; and maximum opportunities for career growth.</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9</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1</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Components of a performance management system …(continued)</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207008"/>
          <a:ext cx="11183112" cy="914400"/>
        </p:xfrm>
        <a:graphic>
          <a:graphicData uri="http://schemas.openxmlformats.org/drawingml/2006/table">
            <a:tbl>
              <a:tblPr/>
              <a:tblGrid>
                <a:gridCol w="5591556"/>
                <a:gridCol w="5591556"/>
              </a:tblGrid>
              <a:tr h="365760">
                <a:tc>
                  <a:txBody>
                    <a:bodyPr/>
                    <a:lstStyle/>
                    <a:p>
                      <a:pPr indent="0" marL="0">
                        <a:buNone/>
                      </a:pPr>
                      <a:r>
                        <a:rPr lang="en-US" sz="1300" b="1" dirty="0">
                          <a:solidFill>
                            <a:srgbClr val="FFFFFF"/>
                          </a:solidFill>
                          <a:latin typeface="Aptos Display" pitchFamily="34" charset="0"/>
                          <a:ea typeface="Aptos Display" pitchFamily="34" charset="-122"/>
                          <a:cs typeface="Aptos Display" pitchFamily="34" charset="-120"/>
                        </a:rPr>
                        <a:t>Who benefits</a:t>
                      </a:r>
                      <a:endParaRPr lang="en-US" sz="1300" dirty="0">
                        <a:latin typeface="Aptos Display" charset="0"/>
                        <a:ea typeface="Aptos Display" charset="0"/>
                        <a:cs typeface="Aptos Display"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300" b="1" dirty="0">
                          <a:solidFill>
                            <a:srgbClr val="FFFFFF"/>
                          </a:solidFill>
                          <a:latin typeface="Aptos Display" pitchFamily="34" charset="0"/>
                          <a:ea typeface="Aptos Display" pitchFamily="34" charset="-122"/>
                          <a:cs typeface="Aptos Display" pitchFamily="34" charset="-120"/>
                        </a:rPr>
                        <a:t>How</a:t>
                      </a:r>
                      <a:endParaRPr lang="en-US" sz="1300" dirty="0">
                        <a:latin typeface="Aptos Display" charset="0"/>
                        <a:ea typeface="Aptos Display" charset="0"/>
                        <a:cs typeface="Aptos Display"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r>
              <a:tr h="365760">
                <a:tc>
                  <a:txBody>
                    <a:bodyPr/>
                    <a:lstStyle/>
                    <a:p>
                      <a:pPr indent="0" marL="0">
                        <a:buNone/>
                      </a:pPr>
                      <a:r>
                        <a:rPr lang="en-US" sz="1300" dirty="0">
                          <a:solidFill>
                            <a:srgbClr val="002050"/>
                          </a:solidFill>
                          <a:latin typeface="Aptos" pitchFamily="34" charset="0"/>
                          <a:ea typeface="Aptos" pitchFamily="34" charset="-122"/>
                          <a:cs typeface="Aptos" pitchFamily="34" charset="-120"/>
                        </a:rPr>
                        <a:t>Organisation</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300" dirty="0">
                          <a:solidFill>
                            <a:srgbClr val="002050"/>
                          </a:solidFill>
                          <a:latin typeface="Aptos" pitchFamily="34" charset="0"/>
                          <a:ea typeface="Aptos" pitchFamily="34" charset="-122"/>
                          <a:cs typeface="Aptos" pitchFamily="34" charset="-120"/>
                        </a:rPr>
                        <a:t>Improved organisational performance, employee retention and loyalty, improved productivity, overcoming barriers to communication, clear accountabilities, and cost advantages.</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002050"/>
                          </a:solidFill>
                          <a:latin typeface="Aptos" pitchFamily="34" charset="0"/>
                          <a:ea typeface="Aptos" pitchFamily="34" charset="-122"/>
                          <a:cs typeface="Aptos" pitchFamily="34" charset="-120"/>
                        </a:rPr>
                        <a:t>Manager</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300" dirty="0">
                          <a:solidFill>
                            <a:srgbClr val="002050"/>
                          </a:solidFill>
                          <a:latin typeface="Aptos" pitchFamily="34" charset="0"/>
                          <a:ea typeface="Aptos" pitchFamily="34" charset="-122"/>
                          <a:cs typeface="Aptos" pitchFamily="34" charset="-120"/>
                        </a:rPr>
                        <a:t>Saves time and reduces conflicts; ensures efficiency and consistency in performance.</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365760">
                <a:tc>
                  <a:txBody>
                    <a:bodyPr/>
                    <a:lstStyle/>
                    <a:p>
                      <a:pPr indent="0" marL="0">
                        <a:buNone/>
                      </a:pPr>
                      <a:r>
                        <a:rPr lang="en-US" sz="1300" dirty="0">
                          <a:solidFill>
                            <a:srgbClr val="002050"/>
                          </a:solidFill>
                          <a:latin typeface="Aptos" pitchFamily="34" charset="0"/>
                          <a:ea typeface="Aptos" pitchFamily="34" charset="-122"/>
                          <a:cs typeface="Aptos" pitchFamily="34" charset="-120"/>
                        </a:rPr>
                        <a:t>Employee</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300" dirty="0">
                          <a:solidFill>
                            <a:srgbClr val="002050"/>
                          </a:solidFill>
                          <a:latin typeface="Aptos" pitchFamily="34" charset="0"/>
                          <a:ea typeface="Aptos" pitchFamily="34" charset="-122"/>
                          <a:cs typeface="Aptos" pitchFamily="34" charset="-120"/>
                        </a:rPr>
                        <a:t>Clarifies expectations; self-assessment opportunities clarify job accountabilities and contribute to improved performance; clearly defined career paths; promotes job satisfaction.</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10</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1</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Check yourself — Components of a performance management system</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34440"/>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Q1.</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When is performance planning done, and by whom?</a:t>
            </a:r>
            <a:endParaRPr lang="en-US" sz="1500" dirty="0"/>
          </a:p>
        </p:txBody>
      </p:sp>
      <p:sp>
        <p:nvSpPr>
          <p:cNvPr id="9" name="Text 6"/>
          <p:cNvSpPr/>
          <p:nvPr/>
        </p:nvSpPr>
        <p:spPr>
          <a:xfrm>
            <a:off x="868680" y="15140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At the start of the performance session, jointly by the appraisee and reviewer</a:t>
            </a:r>
            <a:endParaRPr lang="en-US" sz="1300" dirty="0"/>
          </a:p>
        </p:txBody>
      </p:sp>
      <p:sp>
        <p:nvSpPr>
          <p:cNvPr id="10" name="Text 7"/>
          <p:cNvSpPr/>
          <p:nvPr/>
        </p:nvSpPr>
        <p:spPr>
          <a:xfrm>
            <a:off x="868680" y="17363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At the end of the year, by the manager alone</a:t>
            </a:r>
            <a:endParaRPr lang="en-US" sz="1300" dirty="0"/>
          </a:p>
        </p:txBody>
      </p:sp>
      <p:sp>
        <p:nvSpPr>
          <p:cNvPr id="11" name="Text 8"/>
          <p:cNvSpPr/>
          <p:nvPr/>
        </p:nvSpPr>
        <p:spPr>
          <a:xfrm>
            <a:off x="868680" y="19585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Only when an employee underperforms</a:t>
            </a:r>
            <a:endParaRPr lang="en-US" sz="1300" dirty="0"/>
          </a:p>
        </p:txBody>
      </p:sp>
      <p:sp>
        <p:nvSpPr>
          <p:cNvPr id="12" name="Text 9"/>
          <p:cNvSpPr/>
          <p:nvPr/>
        </p:nvSpPr>
        <p:spPr>
          <a:xfrm>
            <a:off x="868680" y="21808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By Human Resources without the employee</a:t>
            </a:r>
            <a:endParaRPr lang="en-US" sz="1300" dirty="0"/>
          </a:p>
        </p:txBody>
      </p:sp>
      <p:sp>
        <p:nvSpPr>
          <p:cNvPr id="13" name="Text 10"/>
          <p:cNvSpPr/>
          <p:nvPr/>
        </p:nvSpPr>
        <p:spPr>
          <a:xfrm>
            <a:off x="502920" y="2567686"/>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Q2.</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How often are appraisals normally performed?</a:t>
            </a:r>
            <a:endParaRPr lang="en-US" sz="1500" dirty="0"/>
          </a:p>
        </p:txBody>
      </p:sp>
      <p:sp>
        <p:nvSpPr>
          <p:cNvPr id="14" name="Text 11"/>
          <p:cNvSpPr/>
          <p:nvPr/>
        </p:nvSpPr>
        <p:spPr>
          <a:xfrm>
            <a:off x="868680" y="28473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Every week</a:t>
            </a:r>
            <a:endParaRPr lang="en-US" sz="1300" dirty="0"/>
          </a:p>
        </p:txBody>
      </p:sp>
      <p:sp>
        <p:nvSpPr>
          <p:cNvPr id="15" name="Text 12"/>
          <p:cNvSpPr/>
          <p:nvPr/>
        </p:nvSpPr>
        <p:spPr>
          <a:xfrm>
            <a:off x="868680" y="30695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Twice a year — a mid review and an annual review</a:t>
            </a:r>
            <a:endParaRPr lang="en-US" sz="1300" dirty="0"/>
          </a:p>
        </p:txBody>
      </p:sp>
      <p:sp>
        <p:nvSpPr>
          <p:cNvPr id="16" name="Text 13"/>
          <p:cNvSpPr/>
          <p:nvPr/>
        </p:nvSpPr>
        <p:spPr>
          <a:xfrm>
            <a:off x="868680" y="32918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Once every five years</a:t>
            </a:r>
            <a:endParaRPr lang="en-US" sz="1300" dirty="0"/>
          </a:p>
        </p:txBody>
      </p:sp>
      <p:sp>
        <p:nvSpPr>
          <p:cNvPr id="17" name="Text 14"/>
          <p:cNvSpPr/>
          <p:nvPr/>
        </p:nvSpPr>
        <p:spPr>
          <a:xfrm>
            <a:off x="868680" y="35140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Only when problems arise</a:t>
            </a:r>
            <a:endParaRPr lang="en-US" sz="1300" dirty="0"/>
          </a:p>
        </p:txBody>
      </p:sp>
      <p:sp>
        <p:nvSpPr>
          <p:cNvPr id="18" name="Text 15"/>
          <p:cNvSpPr/>
          <p:nvPr/>
        </p:nvSpPr>
        <p:spPr>
          <a:xfrm>
            <a:off x="502920" y="3900932"/>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Q3.</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In the appraisal component, who completes the ratings FIRST?</a:t>
            </a:r>
            <a:endParaRPr lang="en-US" sz="1500" dirty="0"/>
          </a:p>
        </p:txBody>
      </p:sp>
      <p:sp>
        <p:nvSpPr>
          <p:cNvPr id="19" name="Text 16"/>
          <p:cNvSpPr/>
          <p:nvPr/>
        </p:nvSpPr>
        <p:spPr>
          <a:xfrm>
            <a:off x="868680" y="418058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The appraiser gives final ratings before anyone else</a:t>
            </a:r>
            <a:endParaRPr lang="en-US" sz="1300" dirty="0"/>
          </a:p>
        </p:txBody>
      </p:sp>
      <p:sp>
        <p:nvSpPr>
          <p:cNvPr id="20" name="Text 17"/>
          <p:cNvSpPr/>
          <p:nvPr/>
        </p:nvSpPr>
        <p:spPr>
          <a:xfrm>
            <a:off x="868680" y="440283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The employee completes a self-appraisal first, then the appraiser rates</a:t>
            </a:r>
            <a:endParaRPr lang="en-US" sz="1300" dirty="0"/>
          </a:p>
        </p:txBody>
      </p:sp>
      <p:sp>
        <p:nvSpPr>
          <p:cNvPr id="21" name="Text 18"/>
          <p:cNvSpPr/>
          <p:nvPr/>
        </p:nvSpPr>
        <p:spPr>
          <a:xfrm>
            <a:off x="868680" y="462508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Human Resources rates first</a:t>
            </a:r>
            <a:endParaRPr lang="en-US" sz="1300" dirty="0"/>
          </a:p>
        </p:txBody>
      </p:sp>
      <p:sp>
        <p:nvSpPr>
          <p:cNvPr id="22" name="Text 19"/>
          <p:cNvSpPr/>
          <p:nvPr/>
        </p:nvSpPr>
        <p:spPr>
          <a:xfrm>
            <a:off x="868680" y="484733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The employee's colleagues rate first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11</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1</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Check yourself — Components of a performance management system …(continued)</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34440"/>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Q4.</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Why is rewarding good performance a vital component?</a:t>
            </a:r>
            <a:endParaRPr lang="en-US" sz="1500" dirty="0"/>
          </a:p>
        </p:txBody>
      </p:sp>
      <p:sp>
        <p:nvSpPr>
          <p:cNvPr id="9" name="Text 6"/>
          <p:cNvSpPr/>
          <p:nvPr/>
        </p:nvSpPr>
        <p:spPr>
          <a:xfrm>
            <a:off x="868680" y="15140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It reduces the salary bill</a:t>
            </a:r>
            <a:endParaRPr lang="en-US" sz="1300" dirty="0"/>
          </a:p>
        </p:txBody>
      </p:sp>
      <p:sp>
        <p:nvSpPr>
          <p:cNvPr id="10" name="Text 7"/>
          <p:cNvSpPr/>
          <p:nvPr/>
        </p:nvSpPr>
        <p:spPr>
          <a:xfrm>
            <a:off x="868680" y="17363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It determines work motivation and affects self-esteem and achievement orientation</a:t>
            </a:r>
            <a:endParaRPr lang="en-US" sz="1300" dirty="0"/>
          </a:p>
        </p:txBody>
      </p:sp>
      <p:sp>
        <p:nvSpPr>
          <p:cNvPr id="11" name="Text 8"/>
          <p:cNvSpPr/>
          <p:nvPr/>
        </p:nvSpPr>
        <p:spPr>
          <a:xfrm>
            <a:off x="868680" y="19585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It removes the need for feedback</a:t>
            </a:r>
            <a:endParaRPr lang="en-US" sz="1300" dirty="0"/>
          </a:p>
        </p:txBody>
      </p:sp>
      <p:sp>
        <p:nvSpPr>
          <p:cNvPr id="12" name="Text 9"/>
          <p:cNvSpPr/>
          <p:nvPr/>
        </p:nvSpPr>
        <p:spPr>
          <a:xfrm>
            <a:off x="868680" y="21808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It replaces performance planning</a:t>
            </a:r>
            <a:endParaRPr lang="en-US" sz="1300" dirty="0"/>
          </a:p>
        </p:txBody>
      </p:sp>
      <p:sp>
        <p:nvSpPr>
          <p:cNvPr id="13" name="Text 10"/>
          <p:cNvSpPr/>
          <p:nvPr/>
        </p:nvSpPr>
        <p:spPr>
          <a:xfrm>
            <a:off x="502920" y="2567686"/>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Q5.</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What does potential appraisal provide inputs for?</a:t>
            </a:r>
            <a:endParaRPr lang="en-US" sz="1500" dirty="0"/>
          </a:p>
        </p:txBody>
      </p:sp>
      <p:sp>
        <p:nvSpPr>
          <p:cNvPr id="14" name="Text 11"/>
          <p:cNvSpPr/>
          <p:nvPr/>
        </p:nvSpPr>
        <p:spPr>
          <a:xfrm>
            <a:off x="868680" y="28473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Payroll deductions</a:t>
            </a:r>
            <a:endParaRPr lang="en-US" sz="1300" dirty="0"/>
          </a:p>
        </p:txBody>
      </p:sp>
      <p:sp>
        <p:nvSpPr>
          <p:cNvPr id="15" name="Text 12"/>
          <p:cNvSpPr/>
          <p:nvPr/>
        </p:nvSpPr>
        <p:spPr>
          <a:xfrm>
            <a:off x="868680" y="30695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Office seating plans</a:t>
            </a:r>
            <a:endParaRPr lang="en-US" sz="1300" dirty="0"/>
          </a:p>
        </p:txBody>
      </p:sp>
      <p:sp>
        <p:nvSpPr>
          <p:cNvPr id="16" name="Text 13"/>
          <p:cNvSpPr/>
          <p:nvPr/>
        </p:nvSpPr>
        <p:spPr>
          <a:xfrm>
            <a:off x="868680" y="32918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Succession planning and job rotation</a:t>
            </a:r>
            <a:endParaRPr lang="en-US" sz="1300" dirty="0"/>
          </a:p>
        </p:txBody>
      </p:sp>
      <p:sp>
        <p:nvSpPr>
          <p:cNvPr id="17" name="Text 14"/>
          <p:cNvSpPr/>
          <p:nvPr/>
        </p:nvSpPr>
        <p:spPr>
          <a:xfrm>
            <a:off x="868680" y="35140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Leave scheduling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12</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1</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Developing performance standards — steps 1 to 3</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07008"/>
            <a:ext cx="11183112" cy="729234"/>
          </a:xfrm>
          <a:prstGeom prst="rect">
            <a:avLst/>
          </a:prstGeom>
          <a:noFill/>
          <a:ln/>
        </p:spPr>
        <p:txBody>
          <a:bodyPr wrap="square" rtlCol="0" anchor="t"/>
          <a:lstStyle/>
          <a:p>
            <a:pPr indent="0" marL="0">
              <a:lnSpc>
                <a:spcPct val="112000"/>
              </a:lnSpc>
              <a:buNone/>
            </a:pPr>
            <a:r>
              <a:rPr lang="en-US" sz="1500" dirty="0">
                <a:solidFill>
                  <a:srgbClr val="6B7280"/>
                </a:solidFill>
                <a:latin typeface="Aptos" pitchFamily="34" charset="0"/>
                <a:ea typeface="Aptos" pitchFamily="34" charset="-122"/>
                <a:cs typeface="Aptos" pitchFamily="34" charset="-120"/>
              </a:rPr>
              <a:t>There is an eight-step process for developing employee performance standards that support organisational goals. Do not begin at the bottom of the organisation with the position description — begin by looking at your department's goals and objectives.</a:t>
            </a:r>
            <a:endParaRPr lang="en-US" sz="1500" dirty="0"/>
          </a:p>
        </p:txBody>
      </p:sp>
      <p:sp>
        <p:nvSpPr>
          <p:cNvPr id="9" name="Shape 6"/>
          <p:cNvSpPr/>
          <p:nvPr/>
        </p:nvSpPr>
        <p:spPr>
          <a:xfrm>
            <a:off x="502920" y="2045970"/>
            <a:ext cx="5481828" cy="1461262"/>
          </a:xfrm>
          <a:prstGeom prst="roundRect">
            <a:avLst>
              <a:gd name="adj" fmla="val 5632"/>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9224" y="2192274"/>
            <a:ext cx="310896" cy="310896"/>
          </a:xfrm>
          <a:prstGeom prst="rect">
            <a:avLst/>
          </a:prstGeom>
        </p:spPr>
      </p:pic>
      <p:sp>
        <p:nvSpPr>
          <p:cNvPr id="11" name="Text 7"/>
          <p:cNvSpPr/>
          <p:nvPr/>
        </p:nvSpPr>
        <p:spPr>
          <a:xfrm>
            <a:off x="1051560" y="2137410"/>
            <a:ext cx="4768596" cy="297942"/>
          </a:xfrm>
          <a:prstGeom prst="rect">
            <a:avLst/>
          </a:prstGeom>
          <a:noFill/>
          <a:ln/>
        </p:spPr>
        <p:txBody>
          <a:bodyPr wrap="square" rtlCol="0" anchor="t"/>
          <a:lstStyle/>
          <a:p>
            <a:pPr indent="0" marL="0">
              <a:lnSpc>
                <a:spcPct val="105000"/>
              </a:lnSpc>
              <a:buNone/>
            </a:pPr>
            <a:r>
              <a:rPr lang="en-US" sz="1500" b="1" dirty="0">
                <a:solidFill>
                  <a:srgbClr val="002050"/>
                </a:solidFill>
                <a:latin typeface="Aptos Display" pitchFamily="34" charset="0"/>
                <a:ea typeface="Aptos Display" pitchFamily="34" charset="-122"/>
                <a:cs typeface="Aptos Display" pitchFamily="34" charset="-120"/>
              </a:rPr>
              <a:t>Step 1 · Look at the overall picture</a:t>
            </a:r>
            <a:endParaRPr lang="en-US" sz="1500" dirty="0"/>
          </a:p>
        </p:txBody>
      </p:sp>
      <p:sp>
        <p:nvSpPr>
          <p:cNvPr id="12" name="Text 8"/>
          <p:cNvSpPr/>
          <p:nvPr/>
        </p:nvSpPr>
        <p:spPr>
          <a:xfrm>
            <a:off x="649224" y="2521458"/>
            <a:ext cx="5189220" cy="925576"/>
          </a:xfrm>
          <a:prstGeom prst="rect">
            <a:avLst/>
          </a:prstGeom>
          <a:noFill/>
          <a:ln/>
        </p:spPr>
        <p:txBody>
          <a:bodyPr wrap="square" rtlCol="0" anchor="t"/>
          <a:lstStyle/>
          <a:p>
            <a:pPr indent="0" marL="0">
              <a:lnSpc>
                <a:spcPct val="110000"/>
              </a:lnSpc>
              <a:buNone/>
            </a:pPr>
            <a:r>
              <a:rPr lang="en-US" sz="1300" dirty="0">
                <a:solidFill>
                  <a:srgbClr val="6B7280"/>
                </a:solidFill>
                <a:latin typeface="Aptos" pitchFamily="34" charset="0"/>
                <a:ea typeface="Aptos" pitchFamily="34" charset="-122"/>
                <a:cs typeface="Aptos" pitchFamily="34" charset="-120"/>
              </a:rPr>
              <a:t>Gather information relating to your department's general outcome goals as outlined in its departmental plan — before writing any individual standard.</a:t>
            </a:r>
            <a:endParaRPr lang="en-US" sz="1300" dirty="0"/>
          </a:p>
        </p:txBody>
      </p:sp>
      <p:sp>
        <p:nvSpPr>
          <p:cNvPr id="13" name="Shape 9"/>
          <p:cNvSpPr/>
          <p:nvPr/>
        </p:nvSpPr>
        <p:spPr>
          <a:xfrm>
            <a:off x="6204204" y="2045970"/>
            <a:ext cx="5481828" cy="1461262"/>
          </a:xfrm>
          <a:prstGeom prst="roundRect">
            <a:avLst>
              <a:gd name="adj" fmla="val 5632"/>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50508" y="2192274"/>
            <a:ext cx="310896" cy="310896"/>
          </a:xfrm>
          <a:prstGeom prst="rect">
            <a:avLst/>
          </a:prstGeom>
        </p:spPr>
      </p:pic>
      <p:sp>
        <p:nvSpPr>
          <p:cNvPr id="15" name="Text 10"/>
          <p:cNvSpPr/>
          <p:nvPr/>
        </p:nvSpPr>
        <p:spPr>
          <a:xfrm>
            <a:off x="6752844" y="2137410"/>
            <a:ext cx="4768596" cy="297942"/>
          </a:xfrm>
          <a:prstGeom prst="rect">
            <a:avLst/>
          </a:prstGeom>
          <a:noFill/>
          <a:ln/>
        </p:spPr>
        <p:txBody>
          <a:bodyPr wrap="square" rtlCol="0" anchor="t"/>
          <a:lstStyle/>
          <a:p>
            <a:pPr indent="0" marL="0">
              <a:lnSpc>
                <a:spcPct val="105000"/>
              </a:lnSpc>
              <a:buNone/>
            </a:pPr>
            <a:r>
              <a:rPr lang="en-US" sz="1500" b="1" dirty="0">
                <a:solidFill>
                  <a:srgbClr val="002050"/>
                </a:solidFill>
                <a:latin typeface="Aptos Display" pitchFamily="34" charset="0"/>
                <a:ea typeface="Aptos Display" pitchFamily="34" charset="-122"/>
                <a:cs typeface="Aptos Display" pitchFamily="34" charset="-120"/>
              </a:rPr>
              <a:t>Step 2 · Determine work-unit accomplishments</a:t>
            </a:r>
            <a:endParaRPr lang="en-US" sz="1500" dirty="0"/>
          </a:p>
        </p:txBody>
      </p:sp>
      <p:sp>
        <p:nvSpPr>
          <p:cNvPr id="16" name="Text 11"/>
          <p:cNvSpPr/>
          <p:nvPr/>
        </p:nvSpPr>
        <p:spPr>
          <a:xfrm>
            <a:off x="6350508" y="2521458"/>
            <a:ext cx="5189220" cy="925576"/>
          </a:xfrm>
          <a:prstGeom prst="rect">
            <a:avLst/>
          </a:prstGeom>
          <a:noFill/>
          <a:ln/>
        </p:spPr>
        <p:txBody>
          <a:bodyPr wrap="square" rtlCol="0" anchor="t"/>
          <a:lstStyle/>
          <a:p>
            <a:pPr indent="0" marL="0">
              <a:lnSpc>
                <a:spcPct val="110000"/>
              </a:lnSpc>
              <a:buNone/>
            </a:pPr>
            <a:r>
              <a:rPr lang="en-US" sz="1300" dirty="0">
                <a:solidFill>
                  <a:srgbClr val="6B7280"/>
                </a:solidFill>
                <a:latin typeface="Aptos" pitchFamily="34" charset="0"/>
                <a:ea typeface="Aptos" pitchFamily="34" charset="-122"/>
                <a:cs typeface="Aptos" pitchFamily="34" charset="-120"/>
              </a:rPr>
              <a:t>Identify the unit's accomplishments — its products or services. Use the goal cascading method to determine unit goals from departmental goals; it works best where clear goals exist in strategic and annual performance plans.</a:t>
            </a:r>
            <a:endParaRPr lang="en-US" sz="1300" dirty="0"/>
          </a:p>
        </p:txBody>
      </p:sp>
      <p:sp>
        <p:nvSpPr>
          <p:cNvPr id="17" name="Shape 12"/>
          <p:cNvSpPr/>
          <p:nvPr/>
        </p:nvSpPr>
        <p:spPr>
          <a:xfrm>
            <a:off x="502920" y="3635248"/>
            <a:ext cx="5481828" cy="1266444"/>
          </a:xfrm>
          <a:prstGeom prst="roundRect">
            <a:avLst>
              <a:gd name="adj" fmla="val 6498"/>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8"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49224" y="3781552"/>
            <a:ext cx="310896" cy="310896"/>
          </a:xfrm>
          <a:prstGeom prst="rect">
            <a:avLst/>
          </a:prstGeom>
        </p:spPr>
      </p:pic>
      <p:sp>
        <p:nvSpPr>
          <p:cNvPr id="19" name="Text 13"/>
          <p:cNvSpPr/>
          <p:nvPr/>
        </p:nvSpPr>
        <p:spPr>
          <a:xfrm>
            <a:off x="1051560" y="3726688"/>
            <a:ext cx="4768596" cy="297942"/>
          </a:xfrm>
          <a:prstGeom prst="rect">
            <a:avLst/>
          </a:prstGeom>
          <a:noFill/>
          <a:ln/>
        </p:spPr>
        <p:txBody>
          <a:bodyPr wrap="square" rtlCol="0" anchor="t"/>
          <a:lstStyle/>
          <a:p>
            <a:pPr indent="0" marL="0">
              <a:lnSpc>
                <a:spcPct val="105000"/>
              </a:lnSpc>
              <a:buNone/>
            </a:pPr>
            <a:r>
              <a:rPr lang="en-US" sz="1500" b="1" dirty="0">
                <a:solidFill>
                  <a:srgbClr val="002050"/>
                </a:solidFill>
                <a:latin typeface="Aptos Display" pitchFamily="34" charset="0"/>
                <a:ea typeface="Aptos Display" pitchFamily="34" charset="-122"/>
                <a:cs typeface="Aptos Display" pitchFamily="34" charset="-120"/>
              </a:rPr>
              <a:t>Step 3 · Individual accomplishments</a:t>
            </a:r>
            <a:endParaRPr lang="en-US" sz="1500" dirty="0"/>
          </a:p>
        </p:txBody>
      </p:sp>
      <p:sp>
        <p:nvSpPr>
          <p:cNvPr id="20" name="Text 14"/>
          <p:cNvSpPr/>
          <p:nvPr/>
        </p:nvSpPr>
        <p:spPr>
          <a:xfrm>
            <a:off x="649224" y="4110736"/>
            <a:ext cx="5189220" cy="730758"/>
          </a:xfrm>
          <a:prstGeom prst="rect">
            <a:avLst/>
          </a:prstGeom>
          <a:noFill/>
          <a:ln/>
        </p:spPr>
        <p:txBody>
          <a:bodyPr wrap="square" rtlCol="0" anchor="t"/>
          <a:lstStyle/>
          <a:p>
            <a:pPr indent="0" marL="0">
              <a:lnSpc>
                <a:spcPct val="110000"/>
              </a:lnSpc>
              <a:buNone/>
            </a:pPr>
            <a:r>
              <a:rPr lang="en-US" sz="1300" dirty="0">
                <a:solidFill>
                  <a:srgbClr val="6B7280"/>
                </a:solidFill>
                <a:latin typeface="Aptos" pitchFamily="34" charset="0"/>
                <a:ea typeface="Aptos" pitchFamily="34" charset="-122"/>
                <a:cs typeface="Aptos" pitchFamily="34" charset="-120"/>
              </a:rPr>
              <a:t>Determine how each individual contributes to the unit's goals using a role-results matrix — a table identifying the results each work-unit member must produce.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13</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1</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Developing performance standards — steps 1 to 3 …(continued)</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Shape 5"/>
          <p:cNvSpPr/>
          <p:nvPr/>
        </p:nvSpPr>
        <p:spPr>
          <a:xfrm>
            <a:off x="502920" y="1207008"/>
            <a:ext cx="11183112" cy="1534414"/>
          </a:xfrm>
          <a:prstGeom prst="roundRect">
            <a:avLst>
              <a:gd name="adj" fmla="val 5363"/>
            </a:avLst>
          </a:prstGeom>
          <a:solidFill>
            <a:srgbClr val="EAF4FF"/>
          </a:solidFill>
          <a:ln w="12700">
            <a:solidFill>
              <a:srgbClr val="D5E3F2"/>
            </a:solidFill>
            <a:prstDash val="solid"/>
          </a:ln>
          <a:effectLst>
            <a:outerShdw sx="100000" sy="100000" kx="0" ky="0" algn="bl" rotWithShape="0" blurRad="88900" dist="25400" dir="5400000">
              <a:srgbClr val="9AB4CC">
                <a:alpha val="30000"/>
              </a:srgbClr>
            </a:outerShdw>
          </a:effectLst>
        </p:spPr>
      </p:sp>
      <p:sp>
        <p:nvSpPr>
          <p:cNvPr id="9" name="Text 6"/>
          <p:cNvSpPr/>
          <p:nvPr/>
        </p:nvSpPr>
        <p:spPr>
          <a:xfrm>
            <a:off x="731520" y="1316736"/>
            <a:ext cx="10725912" cy="279654"/>
          </a:xfrm>
          <a:prstGeom prst="rect">
            <a:avLst/>
          </a:prstGeom>
          <a:noFill/>
          <a:ln/>
        </p:spPr>
        <p:txBody>
          <a:bodyPr wrap="square" rtlCol="0" anchor="t"/>
          <a:lstStyle/>
          <a:p>
            <a:pPr indent="0" marL="0">
              <a:buNone/>
            </a:pPr>
            <a:r>
              <a:rPr lang="en-US" sz="1500" b="1" dirty="0">
                <a:solidFill>
                  <a:srgbClr val="0F6CBD"/>
                </a:solidFill>
                <a:latin typeface="Aptos Display" pitchFamily="34" charset="0"/>
                <a:ea typeface="Aptos Display" pitchFamily="34" charset="-122"/>
                <a:cs typeface="Aptos Display" pitchFamily="34" charset="-120"/>
              </a:rPr>
              <a:t>Example — Goal cascading — XY Insurance (claims division)</a:t>
            </a:r>
            <a:endParaRPr lang="en-US" sz="1500" dirty="0"/>
          </a:p>
        </p:txBody>
      </p:sp>
      <p:sp>
        <p:nvSpPr>
          <p:cNvPr id="10" name="Text 7"/>
          <p:cNvSpPr/>
          <p:nvPr/>
        </p:nvSpPr>
        <p:spPr>
          <a:xfrm>
            <a:off x="777240" y="1632966"/>
            <a:ext cx="10588752" cy="231394"/>
          </a:xfrm>
          <a:prstGeom prst="rect">
            <a:avLst/>
          </a:prstGeom>
          <a:noFill/>
          <a:ln/>
        </p:spPr>
        <p:txBody>
          <a:bodyPr wrap="square" rtlCol="0" anchor="t"/>
          <a:lstStyle/>
          <a:p>
            <a:pPr marL="177800" indent="-177800">
              <a:lnSpc>
                <a:spcPct val="110000"/>
              </a:lnSpc>
              <a:buSzPct val="100000"/>
              <a:buChar char="•"/>
            </a:pPr>
            <a:r>
              <a:rPr lang="en-US" sz="1300" dirty="0">
                <a:solidFill>
                  <a:srgbClr val="002050"/>
                </a:solidFill>
                <a:latin typeface="Aptos" pitchFamily="34" charset="0"/>
                <a:ea typeface="Aptos" pitchFamily="34" charset="-122"/>
                <a:cs typeface="Aptos" pitchFamily="34" charset="-120"/>
              </a:rPr>
              <a:t>Departmental goal: to enhance customer service standards.</a:t>
            </a:r>
            <a:endParaRPr lang="en-US" sz="1300" dirty="0"/>
          </a:p>
        </p:txBody>
      </p:sp>
      <p:sp>
        <p:nvSpPr>
          <p:cNvPr id="11" name="Text 8"/>
          <p:cNvSpPr/>
          <p:nvPr/>
        </p:nvSpPr>
        <p:spPr>
          <a:xfrm>
            <a:off x="777240" y="1864360"/>
            <a:ext cx="10588752" cy="231394"/>
          </a:xfrm>
          <a:prstGeom prst="rect">
            <a:avLst/>
          </a:prstGeom>
          <a:noFill/>
          <a:ln/>
        </p:spPr>
        <p:txBody>
          <a:bodyPr wrap="square" rtlCol="0" anchor="t"/>
          <a:lstStyle/>
          <a:p>
            <a:pPr marL="177800" indent="-177800">
              <a:lnSpc>
                <a:spcPct val="110000"/>
              </a:lnSpc>
              <a:buSzPct val="100000"/>
              <a:buChar char="•"/>
            </a:pPr>
            <a:r>
              <a:rPr lang="en-US" sz="1300" dirty="0">
                <a:solidFill>
                  <a:srgbClr val="002050"/>
                </a:solidFill>
                <a:latin typeface="Aptos" pitchFamily="34" charset="0"/>
                <a:ea typeface="Aptos" pitchFamily="34" charset="-122"/>
                <a:cs typeface="Aptos" pitchFamily="34" charset="-120"/>
              </a:rPr>
              <a:t>Team objective 1: reduce claim processing time to 2 days by end of 30 September.</a:t>
            </a:r>
            <a:endParaRPr lang="en-US" sz="1300" dirty="0"/>
          </a:p>
        </p:txBody>
      </p:sp>
      <p:sp>
        <p:nvSpPr>
          <p:cNvPr id="12" name="Text 9"/>
          <p:cNvSpPr/>
          <p:nvPr/>
        </p:nvSpPr>
        <p:spPr>
          <a:xfrm>
            <a:off x="777240" y="2095754"/>
            <a:ext cx="10588752" cy="231394"/>
          </a:xfrm>
          <a:prstGeom prst="rect">
            <a:avLst/>
          </a:prstGeom>
          <a:noFill/>
          <a:ln/>
        </p:spPr>
        <p:txBody>
          <a:bodyPr wrap="square" rtlCol="0" anchor="t"/>
          <a:lstStyle/>
          <a:p>
            <a:pPr marL="177800" indent="-177800">
              <a:lnSpc>
                <a:spcPct val="110000"/>
              </a:lnSpc>
              <a:buSzPct val="100000"/>
              <a:buChar char="•"/>
            </a:pPr>
            <a:r>
              <a:rPr lang="en-US" sz="1300" dirty="0">
                <a:solidFill>
                  <a:srgbClr val="002050"/>
                </a:solidFill>
                <a:latin typeface="Aptos" pitchFamily="34" charset="0"/>
                <a:ea typeface="Aptos" pitchFamily="34" charset="-122"/>
                <a:cs typeface="Aptos" pitchFamily="34" charset="-120"/>
              </a:rPr>
              <a:t>Team objective 2: reduce claims errors by 10% by 30 June.</a:t>
            </a:r>
            <a:endParaRPr lang="en-US" sz="1300" dirty="0"/>
          </a:p>
        </p:txBody>
      </p:sp>
      <p:sp>
        <p:nvSpPr>
          <p:cNvPr id="13" name="Text 10"/>
          <p:cNvSpPr/>
          <p:nvPr/>
        </p:nvSpPr>
        <p:spPr>
          <a:xfrm>
            <a:off x="777240" y="2327148"/>
            <a:ext cx="10588752" cy="231394"/>
          </a:xfrm>
          <a:prstGeom prst="rect">
            <a:avLst/>
          </a:prstGeom>
          <a:noFill/>
          <a:ln/>
        </p:spPr>
        <p:txBody>
          <a:bodyPr wrap="square" rtlCol="0" anchor="t"/>
          <a:lstStyle/>
          <a:p>
            <a:pPr marL="177800" indent="-177800">
              <a:lnSpc>
                <a:spcPct val="110000"/>
              </a:lnSpc>
              <a:buSzPct val="100000"/>
              <a:buChar char="•"/>
            </a:pPr>
            <a:r>
              <a:rPr lang="en-US" sz="1300" dirty="0">
                <a:solidFill>
                  <a:srgbClr val="002050"/>
                </a:solidFill>
                <a:latin typeface="Aptos" pitchFamily="34" charset="0"/>
                <a:ea typeface="Aptos" pitchFamily="34" charset="-122"/>
                <a:cs typeface="Aptos" pitchFamily="34" charset="-120"/>
              </a:rPr>
              <a:t>Team objective 3: handle and solve customer complaints within 24 hours.</a:t>
            </a:r>
            <a:endParaRPr lang="en-US" sz="1300" dirty="0"/>
          </a:p>
        </p:txBody>
      </p:sp>
      <p:sp>
        <p:nvSpPr>
          <p:cNvPr id="14" name="Text 11"/>
          <p:cNvSpPr/>
          <p:nvPr/>
        </p:nvSpPr>
        <p:spPr>
          <a:xfrm>
            <a:off x="576072" y="2924302"/>
            <a:ext cx="11036808" cy="675132"/>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Apart from unit objectives, the supervisor must determine the products and services the unit produces (knowing the customer quality standards for them) and the process the unit follows — presented on a flow chart that maps each successive step to the final product or service.</a:t>
            </a:r>
            <a:endParaRPr lang="en-US" sz="1400" dirty="0"/>
          </a:p>
        </p:txBody>
      </p:sp>
      <p:sp>
        <p:nvSpPr>
          <p:cNvPr id="15" name="Text 12"/>
          <p:cNvSpPr/>
          <p:nvPr/>
        </p:nvSpPr>
        <p:spPr>
          <a:xfrm>
            <a:off x="576072" y="3663442"/>
            <a:ext cx="11036808" cy="884936"/>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Building the role-results matrix: (1) list the unit's products or services across the top row; (2) list each member or job position down the left column; (3) for each cell ask — what must this member produce or perform to support this product or service?; (4) list those accomplishments in the cell — they are candidate performance elements for the employee's plan.</a:t>
            </a:r>
            <a:endParaRPr lang="en-US" sz="1400" dirty="0"/>
          </a:p>
        </p:txBody>
      </p:sp>
      <p:sp>
        <p:nvSpPr>
          <p:cNvPr id="16" name="Text 13"/>
          <p:cNvSpPr/>
          <p:nvPr/>
        </p:nvSpPr>
        <p:spPr>
          <a:xfrm>
            <a:off x="576072" y="4612386"/>
            <a:ext cx="11036808" cy="465328"/>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All performance elements should be quantifiable or verifiable, and described as accomplishments (nouns), not activities (verbs).</a:t>
            </a:r>
            <a:endParaRPr lang="en-US" sz="1400" dirty="0"/>
          </a:p>
        </p:txBody>
      </p:sp>
      <p:sp>
        <p:nvSpPr>
          <p:cNvPr id="17" name="Text 14"/>
          <p:cNvSpPr/>
          <p:nvPr/>
        </p:nvSpPr>
        <p:spPr>
          <a:xfrm>
            <a:off x="576072" y="5141722"/>
            <a:ext cx="11036808" cy="255524"/>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The supervisor must check the job description of each team member while developing the role matrix.</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14</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1</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Check yourself — Developing performance standards — steps 1 to 3</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34440"/>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Q1.</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Where does the eight-step process say you should START when developing performance standards?</a:t>
            </a:r>
            <a:endParaRPr lang="en-US" sz="1500" dirty="0"/>
          </a:p>
        </p:txBody>
      </p:sp>
      <p:sp>
        <p:nvSpPr>
          <p:cNvPr id="9" name="Text 6"/>
          <p:cNvSpPr/>
          <p:nvPr/>
        </p:nvSpPr>
        <p:spPr>
          <a:xfrm>
            <a:off x="868680" y="15140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With the individual's position description</a:t>
            </a:r>
            <a:endParaRPr lang="en-US" sz="1300" dirty="0"/>
          </a:p>
        </p:txBody>
      </p:sp>
      <p:sp>
        <p:nvSpPr>
          <p:cNvPr id="10" name="Text 7"/>
          <p:cNvSpPr/>
          <p:nvPr/>
        </p:nvSpPr>
        <p:spPr>
          <a:xfrm>
            <a:off x="868680" y="17363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With the department's goals and objectives — the overall picture</a:t>
            </a:r>
            <a:endParaRPr lang="en-US" sz="1300" dirty="0"/>
          </a:p>
        </p:txBody>
      </p:sp>
      <p:sp>
        <p:nvSpPr>
          <p:cNvPr id="11" name="Text 8"/>
          <p:cNvSpPr/>
          <p:nvPr/>
        </p:nvSpPr>
        <p:spPr>
          <a:xfrm>
            <a:off x="868680" y="19585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With the salary budget</a:t>
            </a:r>
            <a:endParaRPr lang="en-US" sz="1300" dirty="0"/>
          </a:p>
        </p:txBody>
      </p:sp>
      <p:sp>
        <p:nvSpPr>
          <p:cNvPr id="12" name="Text 9"/>
          <p:cNvSpPr/>
          <p:nvPr/>
        </p:nvSpPr>
        <p:spPr>
          <a:xfrm>
            <a:off x="868680" y="21808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With last year's disciplinary records</a:t>
            </a:r>
            <a:endParaRPr lang="en-US" sz="1300" dirty="0"/>
          </a:p>
        </p:txBody>
      </p:sp>
      <p:sp>
        <p:nvSpPr>
          <p:cNvPr id="13" name="Text 10"/>
          <p:cNvSpPr/>
          <p:nvPr/>
        </p:nvSpPr>
        <p:spPr>
          <a:xfrm>
            <a:off x="502920" y="2567686"/>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Q2.</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What is goal cascading?</a:t>
            </a:r>
            <a:endParaRPr lang="en-US" sz="1500" dirty="0"/>
          </a:p>
        </p:txBody>
      </p:sp>
      <p:sp>
        <p:nvSpPr>
          <p:cNvPr id="14" name="Text 11"/>
          <p:cNvSpPr/>
          <p:nvPr/>
        </p:nvSpPr>
        <p:spPr>
          <a:xfrm>
            <a:off x="868680" y="28473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Setting goals only for senior managers</a:t>
            </a:r>
            <a:endParaRPr lang="en-US" sz="1300" dirty="0"/>
          </a:p>
        </p:txBody>
      </p:sp>
      <p:sp>
        <p:nvSpPr>
          <p:cNvPr id="15" name="Text 12"/>
          <p:cNvSpPr/>
          <p:nvPr/>
        </p:nvSpPr>
        <p:spPr>
          <a:xfrm>
            <a:off x="868680" y="30695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Turning departmental goals into unit goals, and unit goals into individual contributions</a:t>
            </a:r>
            <a:endParaRPr lang="en-US" sz="1300" dirty="0"/>
          </a:p>
        </p:txBody>
      </p:sp>
      <p:sp>
        <p:nvSpPr>
          <p:cNvPr id="16" name="Text 13"/>
          <p:cNvSpPr/>
          <p:nvPr/>
        </p:nvSpPr>
        <p:spPr>
          <a:xfrm>
            <a:off x="868680" y="32918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Deleting goals that were not achieved</a:t>
            </a:r>
            <a:endParaRPr lang="en-US" sz="1300" dirty="0"/>
          </a:p>
        </p:txBody>
      </p:sp>
      <p:sp>
        <p:nvSpPr>
          <p:cNvPr id="17" name="Text 14"/>
          <p:cNvSpPr/>
          <p:nvPr/>
        </p:nvSpPr>
        <p:spPr>
          <a:xfrm>
            <a:off x="868680" y="35140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Announcing goals at a year-end function</a:t>
            </a:r>
            <a:endParaRPr lang="en-US" sz="1300" dirty="0"/>
          </a:p>
        </p:txBody>
      </p:sp>
      <p:sp>
        <p:nvSpPr>
          <p:cNvPr id="18" name="Text 15"/>
          <p:cNvSpPr/>
          <p:nvPr/>
        </p:nvSpPr>
        <p:spPr>
          <a:xfrm>
            <a:off x="502920" y="3900932"/>
            <a:ext cx="11183112" cy="48615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Q3.</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In the XY Insurance example, 'to enhance customer service standards' is the departmental goal. Which is one of the TEAM objectives derived from it?</a:t>
            </a:r>
            <a:endParaRPr lang="en-US" sz="1500" dirty="0"/>
          </a:p>
        </p:txBody>
      </p:sp>
      <p:sp>
        <p:nvSpPr>
          <p:cNvPr id="19" name="Text 16"/>
          <p:cNvSpPr/>
          <p:nvPr/>
        </p:nvSpPr>
        <p:spPr>
          <a:xfrm>
            <a:off x="868680" y="440537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Open five new branches</a:t>
            </a:r>
            <a:endParaRPr lang="en-US" sz="1300" dirty="0"/>
          </a:p>
        </p:txBody>
      </p:sp>
      <p:sp>
        <p:nvSpPr>
          <p:cNvPr id="20" name="Text 17"/>
          <p:cNvSpPr/>
          <p:nvPr/>
        </p:nvSpPr>
        <p:spPr>
          <a:xfrm>
            <a:off x="868680" y="462762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Reduce claim processing time to 2 days by end of 30 September</a:t>
            </a:r>
            <a:endParaRPr lang="en-US" sz="1300" dirty="0"/>
          </a:p>
        </p:txBody>
      </p:sp>
      <p:sp>
        <p:nvSpPr>
          <p:cNvPr id="21" name="Text 18"/>
          <p:cNvSpPr/>
          <p:nvPr/>
        </p:nvSpPr>
        <p:spPr>
          <a:xfrm>
            <a:off x="868680" y="484987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Double the marketing budget</a:t>
            </a:r>
            <a:endParaRPr lang="en-US" sz="1300" dirty="0"/>
          </a:p>
        </p:txBody>
      </p:sp>
      <p:sp>
        <p:nvSpPr>
          <p:cNvPr id="22" name="Text 19"/>
          <p:cNvSpPr/>
          <p:nvPr/>
        </p:nvSpPr>
        <p:spPr>
          <a:xfrm>
            <a:off x="868680" y="507212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Hire a new claims director</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15</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1</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Check yourself — Developing performance standards — steps 1 to 3 …(continued)</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34440"/>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Q4.</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Besides unit objectives, what must the supervisor present on a FLOW CHART in step 2?</a:t>
            </a:r>
            <a:endParaRPr lang="en-US" sz="1500" dirty="0"/>
          </a:p>
        </p:txBody>
      </p:sp>
      <p:sp>
        <p:nvSpPr>
          <p:cNvPr id="9" name="Text 6"/>
          <p:cNvSpPr/>
          <p:nvPr/>
        </p:nvSpPr>
        <p:spPr>
          <a:xfrm>
            <a:off x="868680" y="15140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The office seating plan</a:t>
            </a:r>
            <a:endParaRPr lang="en-US" sz="1300" dirty="0"/>
          </a:p>
        </p:txBody>
      </p:sp>
      <p:sp>
        <p:nvSpPr>
          <p:cNvPr id="10" name="Text 7"/>
          <p:cNvSpPr/>
          <p:nvPr/>
        </p:nvSpPr>
        <p:spPr>
          <a:xfrm>
            <a:off x="868680" y="17363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The work process — each successive step ending with the unit's final product or service</a:t>
            </a:r>
            <a:endParaRPr lang="en-US" sz="1300" dirty="0"/>
          </a:p>
        </p:txBody>
      </p:sp>
      <p:sp>
        <p:nvSpPr>
          <p:cNvPr id="11" name="Text 8"/>
          <p:cNvSpPr/>
          <p:nvPr/>
        </p:nvSpPr>
        <p:spPr>
          <a:xfrm>
            <a:off x="868680" y="19585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The org chart of directors</a:t>
            </a:r>
            <a:endParaRPr lang="en-US" sz="1300" dirty="0"/>
          </a:p>
        </p:txBody>
      </p:sp>
      <p:sp>
        <p:nvSpPr>
          <p:cNvPr id="12" name="Text 9"/>
          <p:cNvSpPr/>
          <p:nvPr/>
        </p:nvSpPr>
        <p:spPr>
          <a:xfrm>
            <a:off x="868680" y="21808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The leave roster</a:t>
            </a:r>
            <a:endParaRPr lang="en-US" sz="1300" dirty="0"/>
          </a:p>
        </p:txBody>
      </p:sp>
      <p:sp>
        <p:nvSpPr>
          <p:cNvPr id="13" name="Text 10"/>
          <p:cNvSpPr/>
          <p:nvPr/>
        </p:nvSpPr>
        <p:spPr>
          <a:xfrm>
            <a:off x="502920" y="2567686"/>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Q5.</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Performance elements should be described as…</a:t>
            </a:r>
            <a:endParaRPr lang="en-US" sz="1500" dirty="0"/>
          </a:p>
        </p:txBody>
      </p:sp>
      <p:sp>
        <p:nvSpPr>
          <p:cNvPr id="14" name="Text 11"/>
          <p:cNvSpPr/>
          <p:nvPr/>
        </p:nvSpPr>
        <p:spPr>
          <a:xfrm>
            <a:off x="868680" y="28473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Activities (verbs) that keep people busy</a:t>
            </a:r>
            <a:endParaRPr lang="en-US" sz="1300" dirty="0"/>
          </a:p>
        </p:txBody>
      </p:sp>
      <p:sp>
        <p:nvSpPr>
          <p:cNvPr id="15" name="Text 12"/>
          <p:cNvSpPr/>
          <p:nvPr/>
        </p:nvSpPr>
        <p:spPr>
          <a:xfrm>
            <a:off x="868680" y="30695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Accomplishments (nouns) that are quantifiable or verifiable</a:t>
            </a:r>
            <a:endParaRPr lang="en-US" sz="1300" dirty="0"/>
          </a:p>
        </p:txBody>
      </p:sp>
      <p:sp>
        <p:nvSpPr>
          <p:cNvPr id="16" name="Text 13"/>
          <p:cNvSpPr/>
          <p:nvPr/>
        </p:nvSpPr>
        <p:spPr>
          <a:xfrm>
            <a:off x="868680" y="32918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Personality traits</a:t>
            </a:r>
            <a:endParaRPr lang="en-US" sz="1300" dirty="0"/>
          </a:p>
        </p:txBody>
      </p:sp>
      <p:sp>
        <p:nvSpPr>
          <p:cNvPr id="17" name="Text 14"/>
          <p:cNvSpPr/>
          <p:nvPr/>
        </p:nvSpPr>
        <p:spPr>
          <a:xfrm>
            <a:off x="868680" y="35140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Vague ambitions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16</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1</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Step 4 — elements, weights and the critical test</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07008"/>
            <a:ext cx="11183112" cy="729234"/>
          </a:xfrm>
          <a:prstGeom prst="rect">
            <a:avLst/>
          </a:prstGeom>
          <a:noFill/>
          <a:ln/>
        </p:spPr>
        <p:txBody>
          <a:bodyPr wrap="square" rtlCol="0" anchor="t"/>
          <a:lstStyle/>
          <a:p>
            <a:pPr indent="0" marL="0">
              <a:lnSpc>
                <a:spcPct val="112000"/>
              </a:lnSpc>
              <a:buNone/>
            </a:pPr>
            <a:r>
              <a:rPr lang="en-US" sz="1500" dirty="0">
                <a:solidFill>
                  <a:srgbClr val="6B7280"/>
                </a:solidFill>
                <a:latin typeface="Aptos" pitchFamily="34" charset="0"/>
                <a:ea typeface="Aptos" pitchFamily="34" charset="-122"/>
                <a:cs typeface="Aptos" pitchFamily="34" charset="-120"/>
              </a:rPr>
              <a:t>In step 4 you identify which accomplishments become elements in the performance plan, select the type of each element, and assign weights or priorities. All employees must have at least one critical element in their plan, and critical elements must address individual performance only.</a:t>
            </a:r>
            <a:endParaRPr lang="en-US" sz="1500" dirty="0"/>
          </a:p>
        </p:txBody>
      </p:sp>
      <p:sp>
        <p:nvSpPr>
          <p:cNvPr id="9" name="Text 6"/>
          <p:cNvSpPr/>
          <p:nvPr/>
        </p:nvSpPr>
        <p:spPr>
          <a:xfrm>
            <a:off x="502920" y="2009394"/>
            <a:ext cx="11183112" cy="729234"/>
          </a:xfrm>
          <a:prstGeom prst="rect">
            <a:avLst/>
          </a:prstGeom>
          <a:noFill/>
          <a:ln/>
        </p:spPr>
        <p:txBody>
          <a:bodyPr wrap="square" rtlCol="0" anchor="t"/>
          <a:lstStyle/>
          <a:p>
            <a:pPr indent="0" marL="0">
              <a:lnSpc>
                <a:spcPct val="112000"/>
              </a:lnSpc>
              <a:buNone/>
            </a:pPr>
            <a:r>
              <a:rPr lang="en-US" sz="1500" dirty="0">
                <a:solidFill>
                  <a:srgbClr val="6B7280"/>
                </a:solidFill>
                <a:latin typeface="Aptos" pitchFamily="34" charset="0"/>
                <a:ea typeface="Aptos" pitchFamily="34" charset="-122"/>
                <a:cs typeface="Aptos" pitchFamily="34" charset="-120"/>
              </a:rPr>
              <a:t>Once elements are classified as critical, non-critical or additional, prioritise them so work units and employees know which matter most — one way is to distribute 100 percentage points across the elements based on each one's importance to the organisation.</a:t>
            </a:r>
            <a:endParaRPr lang="en-US" sz="1500" dirty="0"/>
          </a:p>
        </p:txBody>
      </p:sp>
      <p:sp>
        <p:nvSpPr>
          <p:cNvPr id="10" name="Text 7"/>
          <p:cNvSpPr/>
          <p:nvPr/>
        </p:nvSpPr>
        <p:spPr>
          <a:xfrm>
            <a:off x="576072" y="2848356"/>
            <a:ext cx="11036808" cy="255524"/>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The critical test — is the element a major component of the work? If yes, it might be critical.</a:t>
            </a:r>
            <a:endParaRPr lang="en-US" sz="1400" dirty="0"/>
          </a:p>
        </p:txBody>
      </p:sp>
      <p:sp>
        <p:nvSpPr>
          <p:cNvPr id="11" name="Text 8"/>
          <p:cNvSpPr/>
          <p:nvPr/>
        </p:nvSpPr>
        <p:spPr>
          <a:xfrm>
            <a:off x="576072" y="3167888"/>
            <a:ext cx="11036808" cy="465328"/>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Does the element address individual performance only? Elements measuring group performance cannot be critical (except for supervisors under certain circumstances).</a:t>
            </a:r>
            <a:endParaRPr lang="en-US" sz="1400" dirty="0"/>
          </a:p>
        </p:txBody>
      </p:sp>
      <p:sp>
        <p:nvSpPr>
          <p:cNvPr id="12" name="Text 9"/>
          <p:cNvSpPr/>
          <p:nvPr/>
        </p:nvSpPr>
        <p:spPr>
          <a:xfrm>
            <a:off x="576072" y="3697224"/>
            <a:ext cx="11036808" cy="465328"/>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If the employee performed unacceptably on the element, would there be serious consequences for completing the organisation's work? If errors affect the unit's accomplishments, it may be critical.</a:t>
            </a:r>
            <a:endParaRPr lang="en-US" sz="1400" dirty="0"/>
          </a:p>
        </p:txBody>
      </p:sp>
      <p:sp>
        <p:nvSpPr>
          <p:cNvPr id="13" name="Text 10"/>
          <p:cNvSpPr/>
          <p:nvPr/>
        </p:nvSpPr>
        <p:spPr>
          <a:xfrm>
            <a:off x="576072" y="4226560"/>
            <a:ext cx="11036808" cy="255524"/>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Does the element require a significant amount of the employee's time? If yes, it might be critical.</a:t>
            </a:r>
            <a:endParaRPr lang="en-US" sz="1400" dirty="0"/>
          </a:p>
        </p:txBody>
      </p:sp>
      <p:sp>
        <p:nvSpPr>
          <p:cNvPr id="14" name="Text 11"/>
          <p:cNvSpPr/>
          <p:nvPr/>
        </p:nvSpPr>
        <p:spPr>
          <a:xfrm>
            <a:off x="576072" y="4546092"/>
            <a:ext cx="11036808" cy="255524"/>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The supervisor must verify assignments against the job descriptions, or ask for team or individual input.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17</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1</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Step 4 — elements, weights and the critical test …(continued)</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207008"/>
          <a:ext cx="11183112" cy="914400"/>
        </p:xfrm>
        <a:graphic>
          <a:graphicData uri="http://schemas.openxmlformats.org/drawingml/2006/table">
            <a:tbl>
              <a:tblPr/>
              <a:tblGrid>
                <a:gridCol w="3727704"/>
                <a:gridCol w="3727704"/>
                <a:gridCol w="3727704"/>
              </a:tblGrid>
              <a:tr h="365760">
                <a:tc>
                  <a:txBody>
                    <a:bodyPr/>
                    <a:lstStyle/>
                    <a:p>
                      <a:pPr indent="0" marL="0">
                        <a:buNone/>
                      </a:pPr>
                      <a:r>
                        <a:rPr lang="en-US" sz="1300" b="1" dirty="0">
                          <a:solidFill>
                            <a:srgbClr val="FFFFFF"/>
                          </a:solidFill>
                          <a:latin typeface="Aptos Display" pitchFamily="34" charset="0"/>
                          <a:ea typeface="Aptos Display" pitchFamily="34" charset="-122"/>
                          <a:cs typeface="Aptos Display" pitchFamily="34" charset="-120"/>
                        </a:rPr>
                        <a:t>Employee assignment or responsibility</a:t>
                      </a:r>
                      <a:endParaRPr lang="en-US" sz="1300" dirty="0">
                        <a:latin typeface="Aptos Display" charset="0"/>
                        <a:ea typeface="Aptos Display" charset="0"/>
                        <a:cs typeface="Aptos Display"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300" b="1" dirty="0">
                          <a:solidFill>
                            <a:srgbClr val="FFFFFF"/>
                          </a:solidFill>
                          <a:latin typeface="Aptos Display" pitchFamily="34" charset="0"/>
                          <a:ea typeface="Aptos Display" pitchFamily="34" charset="-122"/>
                          <a:cs typeface="Aptos Display" pitchFamily="34" charset="-120"/>
                        </a:rPr>
                        <a:t>Type of element</a:t>
                      </a:r>
                      <a:endParaRPr lang="en-US" sz="1300" dirty="0">
                        <a:latin typeface="Aptos Display" charset="0"/>
                        <a:ea typeface="Aptos Display" charset="0"/>
                        <a:cs typeface="Aptos Display"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300" b="1" dirty="0">
                          <a:solidFill>
                            <a:srgbClr val="FFFFFF"/>
                          </a:solidFill>
                          <a:latin typeface="Aptos Display" pitchFamily="34" charset="0"/>
                          <a:ea typeface="Aptos Display" pitchFamily="34" charset="-122"/>
                          <a:cs typeface="Aptos Display" pitchFamily="34" charset="-120"/>
                        </a:rPr>
                        <a:t>Priority points</a:t>
                      </a:r>
                      <a:endParaRPr lang="en-US" sz="1300" dirty="0">
                        <a:latin typeface="Aptos Display" charset="0"/>
                        <a:ea typeface="Aptos Display" charset="0"/>
                        <a:cs typeface="Aptos Display"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r>
              <a:tr h="365760">
                <a:tc>
                  <a:txBody>
                    <a:bodyPr/>
                    <a:lstStyle/>
                    <a:p>
                      <a:pPr indent="0" marL="0">
                        <a:buNone/>
                      </a:pPr>
                      <a:r>
                        <a:rPr lang="en-US" sz="1300" dirty="0">
                          <a:solidFill>
                            <a:srgbClr val="002050"/>
                          </a:solidFill>
                          <a:latin typeface="Aptos" pitchFamily="34" charset="0"/>
                          <a:ea typeface="Aptos" pitchFamily="34" charset="-122"/>
                          <a:cs typeface="Aptos" pitchFamily="34" charset="-120"/>
                        </a:rPr>
                        <a:t>Receive, direct and relay telephone and fax messages</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300" dirty="0">
                          <a:solidFill>
                            <a:srgbClr val="002050"/>
                          </a:solidFill>
                          <a:latin typeface="Aptos" pitchFamily="34" charset="0"/>
                          <a:ea typeface="Aptos" pitchFamily="34" charset="-122"/>
                          <a:cs typeface="Aptos" pitchFamily="34" charset="-120"/>
                        </a:rPr>
                        <a:t>Critical (CE)</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300" dirty="0">
                          <a:solidFill>
                            <a:srgbClr val="002050"/>
                          </a:solidFill>
                          <a:latin typeface="Aptos" pitchFamily="34" charset="0"/>
                          <a:ea typeface="Aptos" pitchFamily="34" charset="-122"/>
                          <a:cs typeface="Aptos" pitchFamily="34" charset="-120"/>
                        </a:rPr>
                        <a:t>40</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002050"/>
                          </a:solidFill>
                          <a:latin typeface="Aptos" pitchFamily="34" charset="0"/>
                          <a:ea typeface="Aptos" pitchFamily="34" charset="-122"/>
                          <a:cs typeface="Aptos" pitchFamily="34" charset="-120"/>
                        </a:rPr>
                        <a:t>Pick up and deliver the mail</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300" dirty="0">
                          <a:solidFill>
                            <a:srgbClr val="002050"/>
                          </a:solidFill>
                          <a:latin typeface="Aptos" pitchFamily="34" charset="0"/>
                          <a:ea typeface="Aptos" pitchFamily="34" charset="-122"/>
                          <a:cs typeface="Aptos" pitchFamily="34" charset="-120"/>
                        </a:rPr>
                        <a:t>Critical (CE)</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300" dirty="0">
                          <a:solidFill>
                            <a:srgbClr val="002050"/>
                          </a:solidFill>
                          <a:latin typeface="Aptos" pitchFamily="34" charset="0"/>
                          <a:ea typeface="Aptos" pitchFamily="34" charset="-122"/>
                          <a:cs typeface="Aptos" pitchFamily="34" charset="-120"/>
                        </a:rPr>
                        <a:t>40</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365760">
                <a:tc>
                  <a:txBody>
                    <a:bodyPr/>
                    <a:lstStyle/>
                    <a:p>
                      <a:pPr indent="0" marL="0">
                        <a:buNone/>
                      </a:pPr>
                      <a:r>
                        <a:rPr lang="en-US" sz="1300" dirty="0">
                          <a:solidFill>
                            <a:srgbClr val="002050"/>
                          </a:solidFill>
                          <a:latin typeface="Aptos" pitchFamily="34" charset="0"/>
                          <a:ea typeface="Aptos" pitchFamily="34" charset="-122"/>
                          <a:cs typeface="Aptos" pitchFamily="34" charset="-120"/>
                        </a:rPr>
                        <a:t>Maintain the general filing system and file all correspondence</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300" dirty="0">
                          <a:solidFill>
                            <a:srgbClr val="002050"/>
                          </a:solidFill>
                          <a:latin typeface="Aptos" pitchFamily="34" charset="0"/>
                          <a:ea typeface="Aptos" pitchFamily="34" charset="-122"/>
                          <a:cs typeface="Aptos" pitchFamily="34" charset="-120"/>
                        </a:rPr>
                        <a:t>Additional (AE)</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300" dirty="0">
                          <a:solidFill>
                            <a:srgbClr val="002050"/>
                          </a:solidFill>
                          <a:latin typeface="Aptos" pitchFamily="34" charset="0"/>
                          <a:ea typeface="Aptos" pitchFamily="34" charset="-122"/>
                          <a:cs typeface="Aptos" pitchFamily="34" charset="-120"/>
                        </a:rPr>
                        <a:t>10</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002050"/>
                          </a:solidFill>
                          <a:latin typeface="Aptos" pitchFamily="34" charset="0"/>
                          <a:ea typeface="Aptos" pitchFamily="34" charset="-122"/>
                          <a:cs typeface="Aptos" pitchFamily="34" charset="-120"/>
                        </a:rPr>
                        <a:t>Maintain an adequate inventory of office supplies</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300" dirty="0">
                          <a:solidFill>
                            <a:srgbClr val="002050"/>
                          </a:solidFill>
                          <a:latin typeface="Aptos" pitchFamily="34" charset="0"/>
                          <a:ea typeface="Aptos" pitchFamily="34" charset="-122"/>
                          <a:cs typeface="Aptos" pitchFamily="34" charset="-120"/>
                        </a:rPr>
                        <a:t>Additional (AE)</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300" dirty="0">
                          <a:solidFill>
                            <a:srgbClr val="002050"/>
                          </a:solidFill>
                          <a:latin typeface="Aptos" pitchFamily="34" charset="0"/>
                          <a:ea typeface="Aptos" pitchFamily="34" charset="-122"/>
                          <a:cs typeface="Aptos" pitchFamily="34" charset="-120"/>
                        </a:rPr>
                        <a:t>5</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365760">
                <a:tc>
                  <a:txBody>
                    <a:bodyPr/>
                    <a:lstStyle/>
                    <a:p>
                      <a:pPr indent="0" marL="0">
                        <a:buNone/>
                      </a:pPr>
                      <a:r>
                        <a:rPr lang="en-US" sz="1300" dirty="0">
                          <a:solidFill>
                            <a:srgbClr val="002050"/>
                          </a:solidFill>
                          <a:latin typeface="Aptos" pitchFamily="34" charset="0"/>
                          <a:ea typeface="Aptos" pitchFamily="34" charset="-122"/>
                          <a:cs typeface="Aptos" pitchFamily="34" charset="-120"/>
                        </a:rPr>
                        <a:t>Coordinate the repair and maintenance of office equipment</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300" dirty="0">
                          <a:solidFill>
                            <a:srgbClr val="002050"/>
                          </a:solidFill>
                          <a:latin typeface="Aptos" pitchFamily="34" charset="0"/>
                          <a:ea typeface="Aptos" pitchFamily="34" charset="-122"/>
                          <a:cs typeface="Aptos" pitchFamily="34" charset="-120"/>
                        </a:rPr>
                        <a:t>Additional (AE)</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300" dirty="0">
                          <a:solidFill>
                            <a:srgbClr val="002050"/>
                          </a:solidFill>
                          <a:latin typeface="Aptos" pitchFamily="34" charset="0"/>
                          <a:ea typeface="Aptos" pitchFamily="34" charset="-122"/>
                          <a:cs typeface="Aptos" pitchFamily="34" charset="-120"/>
                        </a:rPr>
                        <a:t>5</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002050"/>
                          </a:solidFill>
                          <a:latin typeface="Aptos" pitchFamily="34" charset="0"/>
                          <a:ea typeface="Aptos" pitchFamily="34" charset="-122"/>
                          <a:cs typeface="Aptos" pitchFamily="34" charset="-120"/>
                        </a:rPr>
                        <a:t>Total</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300" dirty="0">
                          <a:solidFill>
                            <a:srgbClr val="002050"/>
                          </a:solidFill>
                          <a:latin typeface="Aptos" pitchFamily="34" charset="0"/>
                          <a:ea typeface="Aptos" pitchFamily="34" charset="-122"/>
                          <a:cs typeface="Aptos" pitchFamily="34" charset="-120"/>
                        </a:rPr>
                        <a:t>100</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18</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1</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Check yourself — Step 4 — elements, weights and the critical test</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34440"/>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Q1.</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Which statement about critical elements is TRUE?</a:t>
            </a:r>
            <a:endParaRPr lang="en-US" sz="1500" dirty="0"/>
          </a:p>
        </p:txBody>
      </p:sp>
      <p:sp>
        <p:nvSpPr>
          <p:cNvPr id="9" name="Text 6"/>
          <p:cNvSpPr/>
          <p:nvPr/>
        </p:nvSpPr>
        <p:spPr>
          <a:xfrm>
            <a:off x="868680" y="15140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Group performance is usually a critical element</a:t>
            </a:r>
            <a:endParaRPr lang="en-US" sz="1300" dirty="0"/>
          </a:p>
        </p:txBody>
      </p:sp>
      <p:sp>
        <p:nvSpPr>
          <p:cNvPr id="10" name="Text 7"/>
          <p:cNvSpPr/>
          <p:nvPr/>
        </p:nvSpPr>
        <p:spPr>
          <a:xfrm>
            <a:off x="868680" y="17363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Employees may have zero critical elements</a:t>
            </a:r>
            <a:endParaRPr lang="en-US" sz="1300" dirty="0"/>
          </a:p>
        </p:txBody>
      </p:sp>
      <p:sp>
        <p:nvSpPr>
          <p:cNvPr id="11" name="Text 8"/>
          <p:cNvSpPr/>
          <p:nvPr/>
        </p:nvSpPr>
        <p:spPr>
          <a:xfrm>
            <a:off x="868680" y="19585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Every employee must have at least one critical element, addressing individual performance only</a:t>
            </a:r>
            <a:endParaRPr lang="en-US" sz="1300" dirty="0"/>
          </a:p>
        </p:txBody>
      </p:sp>
      <p:sp>
        <p:nvSpPr>
          <p:cNvPr id="12" name="Text 9"/>
          <p:cNvSpPr/>
          <p:nvPr/>
        </p:nvSpPr>
        <p:spPr>
          <a:xfrm>
            <a:off x="868680" y="21808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Critical elements never carry priority points</a:t>
            </a:r>
            <a:endParaRPr lang="en-US" sz="1300" dirty="0"/>
          </a:p>
        </p:txBody>
      </p:sp>
      <p:sp>
        <p:nvSpPr>
          <p:cNvPr id="13" name="Text 10"/>
          <p:cNvSpPr/>
          <p:nvPr/>
        </p:nvSpPr>
        <p:spPr>
          <a:xfrm>
            <a:off x="502920" y="2567686"/>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Q2.</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How does the guide suggest prioritising elements?</a:t>
            </a:r>
            <a:endParaRPr lang="en-US" sz="1500" dirty="0"/>
          </a:p>
        </p:txBody>
      </p:sp>
      <p:sp>
        <p:nvSpPr>
          <p:cNvPr id="14" name="Text 11"/>
          <p:cNvSpPr/>
          <p:nvPr/>
        </p:nvSpPr>
        <p:spPr>
          <a:xfrm>
            <a:off x="868680" y="28473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Alphabetical order</a:t>
            </a:r>
            <a:endParaRPr lang="en-US" sz="1300" dirty="0"/>
          </a:p>
        </p:txBody>
      </p:sp>
      <p:sp>
        <p:nvSpPr>
          <p:cNvPr id="15" name="Text 12"/>
          <p:cNvSpPr/>
          <p:nvPr/>
        </p:nvSpPr>
        <p:spPr>
          <a:xfrm>
            <a:off x="868680" y="30695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Distribute 100 percentage points across the elements by importance to the organisation</a:t>
            </a:r>
            <a:endParaRPr lang="en-US" sz="1300" dirty="0"/>
          </a:p>
        </p:txBody>
      </p:sp>
      <p:sp>
        <p:nvSpPr>
          <p:cNvPr id="16" name="Text 13"/>
          <p:cNvSpPr/>
          <p:nvPr/>
        </p:nvSpPr>
        <p:spPr>
          <a:xfrm>
            <a:off x="868680" y="32918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Let each employee pick their favourite</a:t>
            </a:r>
            <a:endParaRPr lang="en-US" sz="1300" dirty="0"/>
          </a:p>
        </p:txBody>
      </p:sp>
      <p:sp>
        <p:nvSpPr>
          <p:cNvPr id="17" name="Text 14"/>
          <p:cNvSpPr/>
          <p:nvPr/>
        </p:nvSpPr>
        <p:spPr>
          <a:xfrm>
            <a:off x="868680" y="35140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All elements get equal points automatically</a:t>
            </a:r>
            <a:endParaRPr lang="en-US" sz="1300" dirty="0"/>
          </a:p>
        </p:txBody>
      </p:sp>
      <p:sp>
        <p:nvSpPr>
          <p:cNvPr id="18" name="Text 15"/>
          <p:cNvSpPr/>
          <p:nvPr/>
        </p:nvSpPr>
        <p:spPr>
          <a:xfrm>
            <a:off x="502920" y="3900932"/>
            <a:ext cx="11183112" cy="48615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Q3.</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In the receptionist example, how many priority points does 'receive, direct and relay telephone and fax messages' carry?</a:t>
            </a:r>
            <a:endParaRPr lang="en-US" sz="1500" dirty="0"/>
          </a:p>
        </p:txBody>
      </p:sp>
      <p:sp>
        <p:nvSpPr>
          <p:cNvPr id="19" name="Text 16"/>
          <p:cNvSpPr/>
          <p:nvPr/>
        </p:nvSpPr>
        <p:spPr>
          <a:xfrm>
            <a:off x="868680" y="440537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5</a:t>
            </a:r>
            <a:endParaRPr lang="en-US" sz="1300" dirty="0"/>
          </a:p>
        </p:txBody>
      </p:sp>
      <p:sp>
        <p:nvSpPr>
          <p:cNvPr id="20" name="Text 17"/>
          <p:cNvSpPr/>
          <p:nvPr/>
        </p:nvSpPr>
        <p:spPr>
          <a:xfrm>
            <a:off x="868680" y="462762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10</a:t>
            </a:r>
            <a:endParaRPr lang="en-US" sz="1300" dirty="0"/>
          </a:p>
        </p:txBody>
      </p:sp>
      <p:sp>
        <p:nvSpPr>
          <p:cNvPr id="21" name="Text 18"/>
          <p:cNvSpPr/>
          <p:nvPr/>
        </p:nvSpPr>
        <p:spPr>
          <a:xfrm>
            <a:off x="868680" y="484987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40</a:t>
            </a:r>
            <a:endParaRPr lang="en-US" sz="1300" dirty="0"/>
          </a:p>
        </p:txBody>
      </p:sp>
      <p:sp>
        <p:nvSpPr>
          <p:cNvPr id="22" name="Text 19"/>
          <p:cNvSpPr/>
          <p:nvPr/>
        </p:nvSpPr>
        <p:spPr>
          <a:xfrm>
            <a:off x="868680" y="507212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100</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19</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1</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Check yourself — Step 4 — elements, weights and the critical test …(continued)</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34440"/>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Q4.</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Which question is part of the CRITICAL test for an element?</a:t>
            </a:r>
            <a:endParaRPr lang="en-US" sz="1500" dirty="0"/>
          </a:p>
        </p:txBody>
      </p:sp>
      <p:sp>
        <p:nvSpPr>
          <p:cNvPr id="9" name="Text 6"/>
          <p:cNvSpPr/>
          <p:nvPr/>
        </p:nvSpPr>
        <p:spPr>
          <a:xfrm>
            <a:off x="868680" y="15140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Is the element fun to perform?</a:t>
            </a:r>
            <a:endParaRPr lang="en-US" sz="1300" dirty="0"/>
          </a:p>
        </p:txBody>
      </p:sp>
      <p:sp>
        <p:nvSpPr>
          <p:cNvPr id="10" name="Text 7"/>
          <p:cNvSpPr/>
          <p:nvPr/>
        </p:nvSpPr>
        <p:spPr>
          <a:xfrm>
            <a:off x="868680" y="17363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Would unacceptable performance on it have serious consequences for the organisation's work?</a:t>
            </a:r>
            <a:endParaRPr lang="en-US" sz="1300" dirty="0"/>
          </a:p>
        </p:txBody>
      </p:sp>
      <p:sp>
        <p:nvSpPr>
          <p:cNvPr id="11" name="Text 8"/>
          <p:cNvSpPr/>
          <p:nvPr/>
        </p:nvSpPr>
        <p:spPr>
          <a:xfrm>
            <a:off x="868680" y="19585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Was the element used last year?</a:t>
            </a:r>
            <a:endParaRPr lang="en-US" sz="1300" dirty="0"/>
          </a:p>
        </p:txBody>
      </p:sp>
      <p:sp>
        <p:nvSpPr>
          <p:cNvPr id="12" name="Text 9"/>
          <p:cNvSpPr/>
          <p:nvPr/>
        </p:nvSpPr>
        <p:spPr>
          <a:xfrm>
            <a:off x="868680" y="21808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Does the element sound impressive?</a:t>
            </a:r>
            <a:endParaRPr lang="en-US" sz="1300" dirty="0"/>
          </a:p>
        </p:txBody>
      </p:sp>
      <p:sp>
        <p:nvSpPr>
          <p:cNvPr id="13" name="Text 10"/>
          <p:cNvSpPr/>
          <p:nvPr/>
        </p:nvSpPr>
        <p:spPr>
          <a:xfrm>
            <a:off x="502920" y="2567686"/>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Q5.</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Where must the supervisor verify the employee's assignments and responsibilities?</a:t>
            </a:r>
            <a:endParaRPr lang="en-US" sz="1500" dirty="0"/>
          </a:p>
        </p:txBody>
      </p:sp>
      <p:sp>
        <p:nvSpPr>
          <p:cNvPr id="14" name="Text 11"/>
          <p:cNvSpPr/>
          <p:nvPr/>
        </p:nvSpPr>
        <p:spPr>
          <a:xfrm>
            <a:off x="868680" y="28473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In the newspaper</a:t>
            </a:r>
            <a:endParaRPr lang="en-US" sz="1300" dirty="0"/>
          </a:p>
        </p:txBody>
      </p:sp>
      <p:sp>
        <p:nvSpPr>
          <p:cNvPr id="15" name="Text 12"/>
          <p:cNvSpPr/>
          <p:nvPr/>
        </p:nvSpPr>
        <p:spPr>
          <a:xfrm>
            <a:off x="868680" y="30695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Against the job descriptions — or by asking for team or individual input</a:t>
            </a:r>
            <a:endParaRPr lang="en-US" sz="1300" dirty="0"/>
          </a:p>
        </p:txBody>
      </p:sp>
      <p:sp>
        <p:nvSpPr>
          <p:cNvPr id="16" name="Text 13"/>
          <p:cNvSpPr/>
          <p:nvPr/>
        </p:nvSpPr>
        <p:spPr>
          <a:xfrm>
            <a:off x="868680" y="32918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In the competitor's handbook</a:t>
            </a:r>
            <a:endParaRPr lang="en-US" sz="1300" dirty="0"/>
          </a:p>
        </p:txBody>
      </p:sp>
      <p:sp>
        <p:nvSpPr>
          <p:cNvPr id="17" name="Text 14"/>
          <p:cNvSpPr/>
          <p:nvPr/>
        </p:nvSpPr>
        <p:spPr>
          <a:xfrm>
            <a:off x="868680" y="35140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Nowhere — memory is enough</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20</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1</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Step 5 — determine work-unit and individual measures</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07008"/>
            <a:ext cx="11183112" cy="729234"/>
          </a:xfrm>
          <a:prstGeom prst="rect">
            <a:avLst/>
          </a:prstGeom>
          <a:noFill/>
          <a:ln/>
        </p:spPr>
        <p:txBody>
          <a:bodyPr wrap="square" rtlCol="0" anchor="t"/>
          <a:lstStyle/>
          <a:p>
            <a:pPr indent="0" marL="0">
              <a:lnSpc>
                <a:spcPct val="112000"/>
              </a:lnSpc>
              <a:buNone/>
            </a:pPr>
            <a:r>
              <a:rPr lang="en-US" sz="1500" dirty="0">
                <a:solidFill>
                  <a:srgbClr val="6B7280"/>
                </a:solidFill>
                <a:latin typeface="Aptos" pitchFamily="34" charset="0"/>
                <a:ea typeface="Aptos" pitchFamily="34" charset="-122"/>
                <a:cs typeface="Aptos" pitchFamily="34" charset="-120"/>
              </a:rPr>
              <a:t>Measures are the yardsticks used to determine how well work units and employees produced or provided products or services. First determine the general measure(s) that apply to each element, then determine how to measure it specifically.</a:t>
            </a:r>
            <a:endParaRPr lang="en-US" sz="1500" dirty="0"/>
          </a:p>
        </p:txBody>
      </p:sp>
      <p:sp>
        <p:nvSpPr>
          <p:cNvPr id="9" name="Text 6"/>
          <p:cNvSpPr/>
          <p:nvPr/>
        </p:nvSpPr>
        <p:spPr>
          <a:xfrm>
            <a:off x="502920" y="2009394"/>
            <a:ext cx="11183112" cy="504444"/>
          </a:xfrm>
          <a:prstGeom prst="rect">
            <a:avLst/>
          </a:prstGeom>
          <a:noFill/>
          <a:ln/>
        </p:spPr>
        <p:txBody>
          <a:bodyPr wrap="square" rtlCol="0" anchor="t"/>
          <a:lstStyle/>
          <a:p>
            <a:pPr indent="0" marL="0">
              <a:lnSpc>
                <a:spcPct val="112000"/>
              </a:lnSpc>
              <a:buNone/>
            </a:pPr>
            <a:r>
              <a:rPr lang="en-US" sz="1500" dirty="0">
                <a:solidFill>
                  <a:srgbClr val="6B7280"/>
                </a:solidFill>
                <a:latin typeface="Aptos" pitchFamily="34" charset="0"/>
                <a:ea typeface="Aptos" pitchFamily="34" charset="-122"/>
                <a:cs typeface="Aptos" pitchFamily="34" charset="-120"/>
              </a:rPr>
              <a:t>If you can measure an accomplishment with numbers, record the form of measurement. If you can only describe performance (observe and verify), clarify who will appraise the performance and the factors they will appraise.</a:t>
            </a:r>
            <a:endParaRPr lang="en-US" sz="1500" dirty="0"/>
          </a:p>
        </p:txBody>
      </p:sp>
      <p:sp>
        <p:nvSpPr>
          <p:cNvPr id="10" name="Shape 7"/>
          <p:cNvSpPr/>
          <p:nvPr/>
        </p:nvSpPr>
        <p:spPr>
          <a:xfrm>
            <a:off x="502920" y="2623566"/>
            <a:ext cx="5481828" cy="1461262"/>
          </a:xfrm>
          <a:prstGeom prst="roundRect">
            <a:avLst>
              <a:gd name="adj" fmla="val 5632"/>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9224" y="2769870"/>
            <a:ext cx="310896" cy="310896"/>
          </a:xfrm>
          <a:prstGeom prst="rect">
            <a:avLst/>
          </a:prstGeom>
        </p:spPr>
      </p:pic>
      <p:sp>
        <p:nvSpPr>
          <p:cNvPr id="12" name="Text 8"/>
          <p:cNvSpPr/>
          <p:nvPr/>
        </p:nvSpPr>
        <p:spPr>
          <a:xfrm>
            <a:off x="1051560" y="2715006"/>
            <a:ext cx="4768596" cy="297942"/>
          </a:xfrm>
          <a:prstGeom prst="rect">
            <a:avLst/>
          </a:prstGeom>
          <a:noFill/>
          <a:ln/>
        </p:spPr>
        <p:txBody>
          <a:bodyPr wrap="square" rtlCol="0" anchor="t"/>
          <a:lstStyle/>
          <a:p>
            <a:pPr indent="0" marL="0">
              <a:lnSpc>
                <a:spcPct val="105000"/>
              </a:lnSpc>
              <a:buNone/>
            </a:pPr>
            <a:r>
              <a:rPr lang="en-US" sz="1500" b="1" dirty="0">
                <a:solidFill>
                  <a:srgbClr val="002050"/>
                </a:solidFill>
                <a:latin typeface="Aptos Display" pitchFamily="34" charset="0"/>
                <a:ea typeface="Aptos Display" pitchFamily="34" charset="-122"/>
                <a:cs typeface="Aptos Display" pitchFamily="34" charset="-120"/>
              </a:rPr>
              <a:t>Quality</a:t>
            </a:r>
            <a:endParaRPr lang="en-US" sz="1500" dirty="0"/>
          </a:p>
        </p:txBody>
      </p:sp>
      <p:sp>
        <p:nvSpPr>
          <p:cNvPr id="13" name="Text 9"/>
          <p:cNvSpPr/>
          <p:nvPr/>
        </p:nvSpPr>
        <p:spPr>
          <a:xfrm>
            <a:off x="649224" y="3099054"/>
            <a:ext cx="5189220" cy="925576"/>
          </a:xfrm>
          <a:prstGeom prst="rect">
            <a:avLst/>
          </a:prstGeom>
          <a:noFill/>
          <a:ln/>
        </p:spPr>
        <p:txBody>
          <a:bodyPr wrap="square" rtlCol="0" anchor="t"/>
          <a:lstStyle/>
          <a:p>
            <a:pPr indent="0" marL="0">
              <a:lnSpc>
                <a:spcPct val="110000"/>
              </a:lnSpc>
              <a:buNone/>
            </a:pPr>
            <a:r>
              <a:rPr lang="en-US" sz="1300" dirty="0">
                <a:solidFill>
                  <a:srgbClr val="6B7280"/>
                </a:solidFill>
                <a:latin typeface="Aptos" pitchFamily="34" charset="0"/>
                <a:ea typeface="Aptos" pitchFamily="34" charset="-122"/>
                <a:cs typeface="Aptos" pitchFamily="34" charset="-120"/>
              </a:rPr>
              <a:t>How well the work was performed — accuracy, appearance, usefulness or effectiveness. Includes error rates (number or percentage of errors allowable per unit of work) and customer satisfaction rates from surveys.</a:t>
            </a:r>
            <a:endParaRPr lang="en-US" sz="1300" dirty="0"/>
          </a:p>
        </p:txBody>
      </p:sp>
      <p:sp>
        <p:nvSpPr>
          <p:cNvPr id="14" name="Shape 10"/>
          <p:cNvSpPr/>
          <p:nvPr/>
        </p:nvSpPr>
        <p:spPr>
          <a:xfrm>
            <a:off x="6204204" y="2623566"/>
            <a:ext cx="5481828" cy="1461262"/>
          </a:xfrm>
          <a:prstGeom prst="roundRect">
            <a:avLst>
              <a:gd name="adj" fmla="val 5632"/>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50508" y="2769870"/>
            <a:ext cx="310896" cy="310896"/>
          </a:xfrm>
          <a:prstGeom prst="rect">
            <a:avLst/>
          </a:prstGeom>
        </p:spPr>
      </p:pic>
      <p:sp>
        <p:nvSpPr>
          <p:cNvPr id="16" name="Text 11"/>
          <p:cNvSpPr/>
          <p:nvPr/>
        </p:nvSpPr>
        <p:spPr>
          <a:xfrm>
            <a:off x="6752844" y="2715006"/>
            <a:ext cx="4768596" cy="297942"/>
          </a:xfrm>
          <a:prstGeom prst="rect">
            <a:avLst/>
          </a:prstGeom>
          <a:noFill/>
          <a:ln/>
        </p:spPr>
        <p:txBody>
          <a:bodyPr wrap="square" rtlCol="0" anchor="t"/>
          <a:lstStyle/>
          <a:p>
            <a:pPr indent="0" marL="0">
              <a:lnSpc>
                <a:spcPct val="105000"/>
              </a:lnSpc>
              <a:buNone/>
            </a:pPr>
            <a:r>
              <a:rPr lang="en-US" sz="1500" b="1" dirty="0">
                <a:solidFill>
                  <a:srgbClr val="002050"/>
                </a:solidFill>
                <a:latin typeface="Aptos Display" pitchFamily="34" charset="0"/>
                <a:ea typeface="Aptos Display" pitchFamily="34" charset="-122"/>
                <a:cs typeface="Aptos Display" pitchFamily="34" charset="-120"/>
              </a:rPr>
              <a:t>Quantity</a:t>
            </a:r>
            <a:endParaRPr lang="en-US" sz="1500" dirty="0"/>
          </a:p>
        </p:txBody>
      </p:sp>
      <p:sp>
        <p:nvSpPr>
          <p:cNvPr id="17" name="Text 12"/>
          <p:cNvSpPr/>
          <p:nvPr/>
        </p:nvSpPr>
        <p:spPr>
          <a:xfrm>
            <a:off x="6350508" y="3099054"/>
            <a:ext cx="5189220" cy="925576"/>
          </a:xfrm>
          <a:prstGeom prst="rect">
            <a:avLst/>
          </a:prstGeom>
          <a:noFill/>
          <a:ln/>
        </p:spPr>
        <p:txBody>
          <a:bodyPr wrap="square" rtlCol="0" anchor="t"/>
          <a:lstStyle/>
          <a:p>
            <a:pPr indent="0" marL="0">
              <a:lnSpc>
                <a:spcPct val="110000"/>
              </a:lnSpc>
              <a:buNone/>
            </a:pPr>
            <a:r>
              <a:rPr lang="en-US" sz="1300" dirty="0">
                <a:solidFill>
                  <a:srgbClr val="6B7280"/>
                </a:solidFill>
                <a:latin typeface="Aptos" pitchFamily="34" charset="0"/>
                <a:ea typeface="Aptos" pitchFamily="34" charset="-122"/>
                <a:cs typeface="Aptos" pitchFamily="34" charset="-120"/>
              </a:rPr>
              <a:t>How much work was produced — expressed as a number of products or services, or a general result to achieve.</a:t>
            </a:r>
            <a:endParaRPr lang="en-US" sz="1300" dirty="0"/>
          </a:p>
        </p:txBody>
      </p:sp>
      <p:sp>
        <p:nvSpPr>
          <p:cNvPr id="18" name="Shape 13"/>
          <p:cNvSpPr/>
          <p:nvPr/>
        </p:nvSpPr>
        <p:spPr>
          <a:xfrm>
            <a:off x="502920" y="4212844"/>
            <a:ext cx="5481828" cy="1071626"/>
          </a:xfrm>
          <a:prstGeom prst="roundRect">
            <a:avLst>
              <a:gd name="adj" fmla="val 7680"/>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1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49224" y="4359148"/>
            <a:ext cx="310896" cy="310896"/>
          </a:xfrm>
          <a:prstGeom prst="rect">
            <a:avLst/>
          </a:prstGeom>
        </p:spPr>
      </p:pic>
      <p:sp>
        <p:nvSpPr>
          <p:cNvPr id="20" name="Text 14"/>
          <p:cNvSpPr/>
          <p:nvPr/>
        </p:nvSpPr>
        <p:spPr>
          <a:xfrm>
            <a:off x="1051560" y="4304284"/>
            <a:ext cx="4768596" cy="297942"/>
          </a:xfrm>
          <a:prstGeom prst="rect">
            <a:avLst/>
          </a:prstGeom>
          <a:noFill/>
          <a:ln/>
        </p:spPr>
        <p:txBody>
          <a:bodyPr wrap="square" rtlCol="0" anchor="t"/>
          <a:lstStyle/>
          <a:p>
            <a:pPr indent="0" marL="0">
              <a:lnSpc>
                <a:spcPct val="105000"/>
              </a:lnSpc>
              <a:buNone/>
            </a:pPr>
            <a:r>
              <a:rPr lang="en-US" sz="1500" b="1" dirty="0">
                <a:solidFill>
                  <a:srgbClr val="002050"/>
                </a:solidFill>
                <a:latin typeface="Aptos Display" pitchFamily="34" charset="0"/>
                <a:ea typeface="Aptos Display" pitchFamily="34" charset="-122"/>
                <a:cs typeface="Aptos Display" pitchFamily="34" charset="-120"/>
              </a:rPr>
              <a:t>Timeliness</a:t>
            </a:r>
            <a:endParaRPr lang="en-US" sz="1500" dirty="0"/>
          </a:p>
        </p:txBody>
      </p:sp>
      <p:sp>
        <p:nvSpPr>
          <p:cNvPr id="21" name="Text 15"/>
          <p:cNvSpPr/>
          <p:nvPr/>
        </p:nvSpPr>
        <p:spPr>
          <a:xfrm>
            <a:off x="649224" y="4688332"/>
            <a:ext cx="5189220" cy="535940"/>
          </a:xfrm>
          <a:prstGeom prst="rect">
            <a:avLst/>
          </a:prstGeom>
          <a:noFill/>
          <a:ln/>
        </p:spPr>
        <p:txBody>
          <a:bodyPr wrap="square" rtlCol="0" anchor="t"/>
          <a:lstStyle/>
          <a:p>
            <a:pPr indent="0" marL="0">
              <a:lnSpc>
                <a:spcPct val="110000"/>
              </a:lnSpc>
              <a:buNone/>
            </a:pPr>
            <a:r>
              <a:rPr lang="en-US" sz="1300" dirty="0">
                <a:solidFill>
                  <a:srgbClr val="6B7280"/>
                </a:solidFill>
                <a:latin typeface="Aptos" pitchFamily="34" charset="0"/>
                <a:ea typeface="Aptos" pitchFamily="34" charset="-122"/>
                <a:cs typeface="Aptos" pitchFamily="34" charset="-120"/>
              </a:rPr>
              <a:t>How quickly, when, or by what date the employee or work unit produced the work.</a:t>
            </a:r>
            <a:endParaRPr lang="en-US" sz="1300" dirty="0"/>
          </a:p>
        </p:txBody>
      </p:sp>
      <p:sp>
        <p:nvSpPr>
          <p:cNvPr id="22" name="Shape 16"/>
          <p:cNvSpPr/>
          <p:nvPr/>
        </p:nvSpPr>
        <p:spPr>
          <a:xfrm>
            <a:off x="6204204" y="4212844"/>
            <a:ext cx="5481828" cy="1071626"/>
          </a:xfrm>
          <a:prstGeom prst="roundRect">
            <a:avLst>
              <a:gd name="adj" fmla="val 7680"/>
            </a:avLst>
          </a:prstGeom>
          <a:solidFill>
            <a:srgbClr val="FFFFFF"/>
          </a:solidFill>
          <a:ln w="12700">
            <a:solidFill>
              <a:srgbClr val="D5E3F2"/>
            </a:solidFill>
            <a:prstDash val="solid"/>
          </a:ln>
          <a:effectLst>
            <a:outerShdw sx="100000" sy="100000" kx="0" ky="0" algn="bl" rotWithShape="0" blurRad="88900" dist="25400" dir="5400000">
              <a:srgbClr val="9AB4CC">
                <a:alpha val="30000"/>
              </a:srgbClr>
            </a:outerShdw>
          </a:effectLst>
        </p:spPr>
      </p:sp>
      <p:pic>
        <p:nvPicPr>
          <p:cNvPr id="23"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50508" y="4359148"/>
            <a:ext cx="310896" cy="310896"/>
          </a:xfrm>
          <a:prstGeom prst="rect">
            <a:avLst/>
          </a:prstGeom>
        </p:spPr>
      </p:pic>
      <p:sp>
        <p:nvSpPr>
          <p:cNvPr id="24" name="Text 17"/>
          <p:cNvSpPr/>
          <p:nvPr/>
        </p:nvSpPr>
        <p:spPr>
          <a:xfrm>
            <a:off x="6752844" y="4304284"/>
            <a:ext cx="4768596" cy="297942"/>
          </a:xfrm>
          <a:prstGeom prst="rect">
            <a:avLst/>
          </a:prstGeom>
          <a:noFill/>
          <a:ln/>
        </p:spPr>
        <p:txBody>
          <a:bodyPr wrap="square" rtlCol="0" anchor="t"/>
          <a:lstStyle/>
          <a:p>
            <a:pPr indent="0" marL="0">
              <a:lnSpc>
                <a:spcPct val="105000"/>
              </a:lnSpc>
              <a:buNone/>
            </a:pPr>
            <a:r>
              <a:rPr lang="en-US" sz="1500" b="1" dirty="0">
                <a:solidFill>
                  <a:srgbClr val="002050"/>
                </a:solidFill>
                <a:latin typeface="Aptos Display" pitchFamily="34" charset="0"/>
                <a:ea typeface="Aptos Display" pitchFamily="34" charset="-122"/>
                <a:cs typeface="Aptos Display" pitchFamily="34" charset="-120"/>
              </a:rPr>
              <a:t>Cost-effectiveness</a:t>
            </a:r>
            <a:endParaRPr lang="en-US" sz="1500" dirty="0"/>
          </a:p>
        </p:txBody>
      </p:sp>
      <p:sp>
        <p:nvSpPr>
          <p:cNvPr id="25" name="Text 18"/>
          <p:cNvSpPr/>
          <p:nvPr/>
        </p:nvSpPr>
        <p:spPr>
          <a:xfrm>
            <a:off x="6350508" y="4688332"/>
            <a:ext cx="5189220" cy="535940"/>
          </a:xfrm>
          <a:prstGeom prst="rect">
            <a:avLst/>
          </a:prstGeom>
          <a:noFill/>
          <a:ln/>
        </p:spPr>
        <p:txBody>
          <a:bodyPr wrap="square" rtlCol="0" anchor="t"/>
          <a:lstStyle/>
          <a:p>
            <a:pPr indent="0" marL="0">
              <a:lnSpc>
                <a:spcPct val="110000"/>
              </a:lnSpc>
              <a:buNone/>
            </a:pPr>
            <a:r>
              <a:rPr lang="en-US" sz="1300" dirty="0">
                <a:solidFill>
                  <a:srgbClr val="6B7280"/>
                </a:solidFill>
                <a:latin typeface="Aptos" pitchFamily="34" charset="0"/>
                <a:ea typeface="Aptos" pitchFamily="34" charset="-122"/>
                <a:cs typeface="Aptos" pitchFamily="34" charset="-120"/>
              </a:rPr>
              <a:t>Whether the result was achieved within the resources and budget available.</a:t>
            </a:r>
            <a:endParaRPr lang="en-US" sz="1300" dirty="0"/>
          </a:p>
        </p:txBody>
      </p:sp>
      <p:sp>
        <p:nvSpPr>
          <p:cNvPr id="26" name="Text 19"/>
          <p:cNvSpPr/>
          <p:nvPr/>
        </p:nvSpPr>
        <p:spPr>
          <a:xfrm>
            <a:off x="576072" y="5449062"/>
            <a:ext cx="11036808" cy="255524"/>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Team involvement is required when determining measures.</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21</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1</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Step 5 — determine work-unit and individual measures …(continued)</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1207008"/>
          <a:ext cx="11183112" cy="914400"/>
        </p:xfrm>
        <a:graphic>
          <a:graphicData uri="http://schemas.openxmlformats.org/drawingml/2006/table">
            <a:tbl>
              <a:tblPr/>
              <a:tblGrid>
                <a:gridCol w="2236622"/>
                <a:gridCol w="2236622"/>
                <a:gridCol w="2236622"/>
                <a:gridCol w="2236622"/>
                <a:gridCol w="2236622"/>
              </a:tblGrid>
              <a:tr h="365760">
                <a:tc>
                  <a:txBody>
                    <a:bodyPr/>
                    <a:lstStyle/>
                    <a:p>
                      <a:pPr indent="0" marL="0">
                        <a:buNone/>
                      </a:pPr>
                      <a:r>
                        <a:rPr lang="en-US" sz="1300" b="1" dirty="0">
                          <a:solidFill>
                            <a:srgbClr val="FFFFFF"/>
                          </a:solidFill>
                          <a:latin typeface="Aptos Display" pitchFamily="34" charset="0"/>
                          <a:ea typeface="Aptos Display" pitchFamily="34" charset="-122"/>
                          <a:cs typeface="Aptos Display" pitchFamily="34" charset="-120"/>
                        </a:rPr>
                        <a:t>Points</a:t>
                      </a:r>
                      <a:endParaRPr lang="en-US" sz="1300" dirty="0">
                        <a:latin typeface="Aptos Display" charset="0"/>
                        <a:ea typeface="Aptos Display" charset="0"/>
                        <a:cs typeface="Aptos Display"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300" b="1" dirty="0">
                          <a:solidFill>
                            <a:srgbClr val="FFFFFF"/>
                          </a:solidFill>
                          <a:latin typeface="Aptos Display" pitchFamily="34" charset="0"/>
                          <a:ea typeface="Aptos Display" pitchFamily="34" charset="-122"/>
                          <a:cs typeface="Aptos Display" pitchFamily="34" charset="-120"/>
                        </a:rPr>
                        <a:t>Responsibility</a:t>
                      </a:r>
                      <a:endParaRPr lang="en-US" sz="1300" dirty="0">
                        <a:latin typeface="Aptos Display" charset="0"/>
                        <a:ea typeface="Aptos Display" charset="0"/>
                        <a:cs typeface="Aptos Display"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300" b="1" dirty="0">
                          <a:solidFill>
                            <a:srgbClr val="FFFFFF"/>
                          </a:solidFill>
                          <a:latin typeface="Aptos Display" pitchFamily="34" charset="0"/>
                          <a:ea typeface="Aptos Display" pitchFamily="34" charset="-122"/>
                          <a:cs typeface="Aptos Display" pitchFamily="34" charset="-120"/>
                        </a:rPr>
                        <a:t>Element</a:t>
                      </a:r>
                      <a:endParaRPr lang="en-US" sz="1300" dirty="0">
                        <a:latin typeface="Aptos Display" charset="0"/>
                        <a:ea typeface="Aptos Display" charset="0"/>
                        <a:cs typeface="Aptos Display"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300" b="1" dirty="0">
                          <a:solidFill>
                            <a:srgbClr val="FFFFFF"/>
                          </a:solidFill>
                          <a:latin typeface="Aptos Display" pitchFamily="34" charset="0"/>
                          <a:ea typeface="Aptos Display" pitchFamily="34" charset="-122"/>
                          <a:cs typeface="Aptos Display" pitchFamily="34" charset="-120"/>
                        </a:rPr>
                        <a:t>General measure</a:t>
                      </a:r>
                      <a:endParaRPr lang="en-US" sz="1300" dirty="0">
                        <a:latin typeface="Aptos Display" charset="0"/>
                        <a:ea typeface="Aptos Display" charset="0"/>
                        <a:cs typeface="Aptos Display"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300" b="1" dirty="0">
                          <a:solidFill>
                            <a:srgbClr val="FFFFFF"/>
                          </a:solidFill>
                          <a:latin typeface="Aptos Display" pitchFamily="34" charset="0"/>
                          <a:ea typeface="Aptos Display" pitchFamily="34" charset="-122"/>
                          <a:cs typeface="Aptos Display" pitchFamily="34" charset="-120"/>
                        </a:rPr>
                        <a:t>Specific measure</a:t>
                      </a:r>
                      <a:endParaRPr lang="en-US" sz="1300" dirty="0">
                        <a:latin typeface="Aptos Display" charset="0"/>
                        <a:ea typeface="Aptos Display" charset="0"/>
                        <a:cs typeface="Aptos Display"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r>
              <a:tr h="365760">
                <a:tc>
                  <a:txBody>
                    <a:bodyPr/>
                    <a:lstStyle/>
                    <a:p>
                      <a:pPr indent="0" marL="0">
                        <a:buNone/>
                      </a:pPr>
                      <a:r>
                        <a:rPr lang="en-US" sz="1300" dirty="0">
                          <a:solidFill>
                            <a:srgbClr val="002050"/>
                          </a:solidFill>
                          <a:latin typeface="Aptos" pitchFamily="34" charset="0"/>
                          <a:ea typeface="Aptos" pitchFamily="34" charset="-122"/>
                          <a:cs typeface="Aptos" pitchFamily="34" charset="-120"/>
                        </a:rPr>
                        <a:t>40</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300" dirty="0">
                          <a:solidFill>
                            <a:srgbClr val="002050"/>
                          </a:solidFill>
                          <a:latin typeface="Aptos" pitchFamily="34" charset="0"/>
                          <a:ea typeface="Aptos" pitchFamily="34" charset="-122"/>
                          <a:cs typeface="Aptos" pitchFamily="34" charset="-120"/>
                        </a:rPr>
                        <a:t>Receive, direct and relay telephone and fax messages</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300" dirty="0">
                          <a:solidFill>
                            <a:srgbClr val="002050"/>
                          </a:solidFill>
                          <a:latin typeface="Aptos" pitchFamily="34" charset="0"/>
                          <a:ea typeface="Aptos" pitchFamily="34" charset="-122"/>
                          <a:cs typeface="Aptos" pitchFamily="34" charset="-120"/>
                        </a:rPr>
                        <a:t>Critical (CE)</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300" dirty="0">
                          <a:solidFill>
                            <a:srgbClr val="002050"/>
                          </a:solidFill>
                          <a:latin typeface="Aptos" pitchFamily="34" charset="0"/>
                          <a:ea typeface="Aptos" pitchFamily="34" charset="-122"/>
                          <a:cs typeface="Aptos" pitchFamily="34" charset="-120"/>
                        </a:rPr>
                        <a:t>Timeliness</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300" dirty="0">
                          <a:solidFill>
                            <a:srgbClr val="002050"/>
                          </a:solidFill>
                          <a:latin typeface="Aptos" pitchFamily="34" charset="0"/>
                          <a:ea typeface="Aptos" pitchFamily="34" charset="-122"/>
                          <a:cs typeface="Aptos" pitchFamily="34" charset="-120"/>
                        </a:rPr>
                        <a:t>Number of rings for incoming calls · seconds before transfer to the right person</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002050"/>
                          </a:solidFill>
                          <a:latin typeface="Aptos" pitchFamily="34" charset="0"/>
                          <a:ea typeface="Aptos" pitchFamily="34" charset="-122"/>
                          <a:cs typeface="Aptos" pitchFamily="34" charset="-120"/>
                        </a:rPr>
                        <a:t>40</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300" dirty="0">
                          <a:solidFill>
                            <a:srgbClr val="002050"/>
                          </a:solidFill>
                          <a:latin typeface="Aptos" pitchFamily="34" charset="0"/>
                          <a:ea typeface="Aptos" pitchFamily="34" charset="-122"/>
                          <a:cs typeface="Aptos" pitchFamily="34" charset="-120"/>
                        </a:rPr>
                        <a:t>Pick up and deliver the mail</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300" dirty="0">
                          <a:solidFill>
                            <a:srgbClr val="002050"/>
                          </a:solidFill>
                          <a:latin typeface="Aptos" pitchFamily="34" charset="0"/>
                          <a:ea typeface="Aptos" pitchFamily="34" charset="-122"/>
                          <a:cs typeface="Aptos" pitchFamily="34" charset="-120"/>
                        </a:rPr>
                        <a:t>Critical (CE)</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300" dirty="0">
                          <a:solidFill>
                            <a:srgbClr val="002050"/>
                          </a:solidFill>
                          <a:latin typeface="Aptos" pitchFamily="34" charset="0"/>
                          <a:ea typeface="Aptos" pitchFamily="34" charset="-122"/>
                          <a:cs typeface="Aptos" pitchFamily="34" charset="-120"/>
                        </a:rPr>
                        <a:t>Timeliness</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300" dirty="0">
                          <a:solidFill>
                            <a:srgbClr val="002050"/>
                          </a:solidFill>
                          <a:latin typeface="Aptos" pitchFamily="34" charset="0"/>
                          <a:ea typeface="Aptos" pitchFamily="34" charset="-122"/>
                          <a:cs typeface="Aptos" pitchFamily="34" charset="-120"/>
                        </a:rPr>
                        <a:t>Number of minutes to pick up and deliver mail</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365760">
                <a:tc>
                  <a:txBody>
                    <a:bodyPr/>
                    <a:lstStyle/>
                    <a:p>
                      <a:pPr indent="0" marL="0">
                        <a:buNone/>
                      </a:pPr>
                      <a:r>
                        <a:rPr lang="en-US" sz="1300" dirty="0">
                          <a:solidFill>
                            <a:srgbClr val="002050"/>
                          </a:solidFill>
                          <a:latin typeface="Aptos" pitchFamily="34" charset="0"/>
                          <a:ea typeface="Aptos" pitchFamily="34" charset="-122"/>
                          <a:cs typeface="Aptos" pitchFamily="34" charset="-120"/>
                        </a:rPr>
                        <a:t>10</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300" dirty="0">
                          <a:solidFill>
                            <a:srgbClr val="002050"/>
                          </a:solidFill>
                          <a:latin typeface="Aptos" pitchFamily="34" charset="0"/>
                          <a:ea typeface="Aptos" pitchFamily="34" charset="-122"/>
                          <a:cs typeface="Aptos" pitchFamily="34" charset="-120"/>
                        </a:rPr>
                        <a:t>Maintain the general filing system and file all correspondence</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300" dirty="0">
                          <a:solidFill>
                            <a:srgbClr val="002050"/>
                          </a:solidFill>
                          <a:latin typeface="Aptos" pitchFamily="34" charset="0"/>
                          <a:ea typeface="Aptos" pitchFamily="34" charset="-122"/>
                          <a:cs typeface="Aptos" pitchFamily="34" charset="-120"/>
                        </a:rPr>
                        <a:t>Additional (AE)</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300" dirty="0">
                          <a:solidFill>
                            <a:srgbClr val="002050"/>
                          </a:solidFill>
                          <a:latin typeface="Aptos" pitchFamily="34" charset="0"/>
                          <a:ea typeface="Aptos" pitchFamily="34" charset="-122"/>
                          <a:cs typeface="Aptos" pitchFamily="34" charset="-120"/>
                        </a:rPr>
                        <a:t>Quality</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300" dirty="0">
                          <a:solidFill>
                            <a:srgbClr val="002050"/>
                          </a:solidFill>
                          <a:latin typeface="Aptos" pitchFamily="34" charset="0"/>
                          <a:ea typeface="Aptos" pitchFamily="34" charset="-122"/>
                          <a:cs typeface="Aptos" pitchFamily="34" charset="-120"/>
                        </a:rPr>
                        <a:t>Ratio of filing errors</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22</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1</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Check yourself — Step 5 — determine work-unit and individual measures</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34440"/>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Q1.</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What are measures, in performance management?</a:t>
            </a:r>
            <a:endParaRPr lang="en-US" sz="1500" dirty="0"/>
          </a:p>
        </p:txBody>
      </p:sp>
      <p:sp>
        <p:nvSpPr>
          <p:cNvPr id="9" name="Text 6"/>
          <p:cNvSpPr/>
          <p:nvPr/>
        </p:nvSpPr>
        <p:spPr>
          <a:xfrm>
            <a:off x="868680" y="15140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The yardsticks used to determine how well work was produced or provided</a:t>
            </a:r>
            <a:endParaRPr lang="en-US" sz="1300" dirty="0"/>
          </a:p>
        </p:txBody>
      </p:sp>
      <p:sp>
        <p:nvSpPr>
          <p:cNvPr id="10" name="Text 7"/>
          <p:cNvSpPr/>
          <p:nvPr/>
        </p:nvSpPr>
        <p:spPr>
          <a:xfrm>
            <a:off x="868680" y="17363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The punishments for poor performance</a:t>
            </a:r>
            <a:endParaRPr lang="en-US" sz="1300" dirty="0"/>
          </a:p>
        </p:txBody>
      </p:sp>
      <p:sp>
        <p:nvSpPr>
          <p:cNvPr id="11" name="Text 8"/>
          <p:cNvSpPr/>
          <p:nvPr/>
        </p:nvSpPr>
        <p:spPr>
          <a:xfrm>
            <a:off x="868680" y="19585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The office floor dimensions</a:t>
            </a:r>
            <a:endParaRPr lang="en-US" sz="1300" dirty="0"/>
          </a:p>
        </p:txBody>
      </p:sp>
      <p:sp>
        <p:nvSpPr>
          <p:cNvPr id="12" name="Text 9"/>
          <p:cNvSpPr/>
          <p:nvPr/>
        </p:nvSpPr>
        <p:spPr>
          <a:xfrm>
            <a:off x="868680" y="21808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The salary scales of the unit</a:t>
            </a:r>
            <a:endParaRPr lang="en-US" sz="1300" dirty="0"/>
          </a:p>
        </p:txBody>
      </p:sp>
      <p:sp>
        <p:nvSpPr>
          <p:cNvPr id="13" name="Text 10"/>
          <p:cNvSpPr/>
          <p:nvPr/>
        </p:nvSpPr>
        <p:spPr>
          <a:xfrm>
            <a:off x="502920" y="2567686"/>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Q2.</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Which set lists the FOUR general measures of performance?</a:t>
            </a:r>
            <a:endParaRPr lang="en-US" sz="1500" dirty="0"/>
          </a:p>
        </p:txBody>
      </p:sp>
      <p:sp>
        <p:nvSpPr>
          <p:cNvPr id="14" name="Text 11"/>
          <p:cNvSpPr/>
          <p:nvPr/>
        </p:nvSpPr>
        <p:spPr>
          <a:xfrm>
            <a:off x="868680" y="28473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Speed, effort, attitude, attendance</a:t>
            </a:r>
            <a:endParaRPr lang="en-US" sz="1300" dirty="0"/>
          </a:p>
        </p:txBody>
      </p:sp>
      <p:sp>
        <p:nvSpPr>
          <p:cNvPr id="15" name="Text 12"/>
          <p:cNvSpPr/>
          <p:nvPr/>
        </p:nvSpPr>
        <p:spPr>
          <a:xfrm>
            <a:off x="868680" y="30695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Quality, quantity, timeliness, cost-effectiveness</a:t>
            </a:r>
            <a:endParaRPr lang="en-US" sz="1300" dirty="0"/>
          </a:p>
        </p:txBody>
      </p:sp>
      <p:sp>
        <p:nvSpPr>
          <p:cNvPr id="16" name="Text 13"/>
          <p:cNvSpPr/>
          <p:nvPr/>
        </p:nvSpPr>
        <p:spPr>
          <a:xfrm>
            <a:off x="868680" y="32918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Loyalty, punctuality, neatness, friendliness</a:t>
            </a:r>
            <a:endParaRPr lang="en-US" sz="1300" dirty="0"/>
          </a:p>
        </p:txBody>
      </p:sp>
      <p:sp>
        <p:nvSpPr>
          <p:cNvPr id="17" name="Text 14"/>
          <p:cNvSpPr/>
          <p:nvPr/>
        </p:nvSpPr>
        <p:spPr>
          <a:xfrm>
            <a:off x="868680" y="35140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Profit, turnover, headcount, floor space</a:t>
            </a:r>
            <a:endParaRPr lang="en-US" sz="1300" dirty="0"/>
          </a:p>
        </p:txBody>
      </p:sp>
      <p:sp>
        <p:nvSpPr>
          <p:cNvPr id="18" name="Text 15"/>
          <p:cNvSpPr/>
          <p:nvPr/>
        </p:nvSpPr>
        <p:spPr>
          <a:xfrm>
            <a:off x="502920" y="3900932"/>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Q3.</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In the receptionist example, 'ratio of filing errors' is a specific measure of which general measure?</a:t>
            </a:r>
            <a:endParaRPr lang="en-US" sz="1500" dirty="0"/>
          </a:p>
        </p:txBody>
      </p:sp>
      <p:sp>
        <p:nvSpPr>
          <p:cNvPr id="19" name="Text 16"/>
          <p:cNvSpPr/>
          <p:nvPr/>
        </p:nvSpPr>
        <p:spPr>
          <a:xfrm>
            <a:off x="868680" y="418058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Quantity</a:t>
            </a:r>
            <a:endParaRPr lang="en-US" sz="1300" dirty="0"/>
          </a:p>
        </p:txBody>
      </p:sp>
      <p:sp>
        <p:nvSpPr>
          <p:cNvPr id="20" name="Text 17"/>
          <p:cNvSpPr/>
          <p:nvPr/>
        </p:nvSpPr>
        <p:spPr>
          <a:xfrm>
            <a:off x="868680" y="440283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Timeliness</a:t>
            </a:r>
            <a:endParaRPr lang="en-US" sz="1300" dirty="0"/>
          </a:p>
        </p:txBody>
      </p:sp>
      <p:sp>
        <p:nvSpPr>
          <p:cNvPr id="21" name="Text 18"/>
          <p:cNvSpPr/>
          <p:nvPr/>
        </p:nvSpPr>
        <p:spPr>
          <a:xfrm>
            <a:off x="868680" y="462508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Quality</a:t>
            </a:r>
            <a:endParaRPr lang="en-US" sz="1300" dirty="0"/>
          </a:p>
        </p:txBody>
      </p:sp>
      <p:sp>
        <p:nvSpPr>
          <p:cNvPr id="22" name="Text 19"/>
          <p:cNvSpPr/>
          <p:nvPr/>
        </p:nvSpPr>
        <p:spPr>
          <a:xfrm>
            <a:off x="868680" y="484733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Cost-effectiveness</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23</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1</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Check yourself — Step 5 — determine work-unit and individual measures …(continued)</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34440"/>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Q4.</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'Number of minutes to pick up and deliver mail' measures…</a:t>
            </a:r>
            <a:endParaRPr lang="en-US" sz="1500" dirty="0"/>
          </a:p>
        </p:txBody>
      </p:sp>
      <p:sp>
        <p:nvSpPr>
          <p:cNvPr id="9" name="Text 6"/>
          <p:cNvSpPr/>
          <p:nvPr/>
        </p:nvSpPr>
        <p:spPr>
          <a:xfrm>
            <a:off x="868680" y="15140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Quality</a:t>
            </a:r>
            <a:endParaRPr lang="en-US" sz="1300" dirty="0"/>
          </a:p>
        </p:txBody>
      </p:sp>
      <p:sp>
        <p:nvSpPr>
          <p:cNvPr id="10" name="Text 7"/>
          <p:cNvSpPr/>
          <p:nvPr/>
        </p:nvSpPr>
        <p:spPr>
          <a:xfrm>
            <a:off x="868680" y="17363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Timeliness</a:t>
            </a:r>
            <a:endParaRPr lang="en-US" sz="1300" dirty="0"/>
          </a:p>
        </p:txBody>
      </p:sp>
      <p:sp>
        <p:nvSpPr>
          <p:cNvPr id="11" name="Text 8"/>
          <p:cNvSpPr/>
          <p:nvPr/>
        </p:nvSpPr>
        <p:spPr>
          <a:xfrm>
            <a:off x="868680" y="19585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Quantity</a:t>
            </a:r>
            <a:endParaRPr lang="en-US" sz="1300" dirty="0"/>
          </a:p>
        </p:txBody>
      </p:sp>
      <p:sp>
        <p:nvSpPr>
          <p:cNvPr id="12" name="Text 9"/>
          <p:cNvSpPr/>
          <p:nvPr/>
        </p:nvSpPr>
        <p:spPr>
          <a:xfrm>
            <a:off x="868680" y="21808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Cost-effectiveness</a:t>
            </a:r>
            <a:endParaRPr lang="en-US" sz="1300" dirty="0"/>
          </a:p>
        </p:txBody>
      </p:sp>
      <p:sp>
        <p:nvSpPr>
          <p:cNvPr id="13" name="Text 10"/>
          <p:cNvSpPr/>
          <p:nvPr/>
        </p:nvSpPr>
        <p:spPr>
          <a:xfrm>
            <a:off x="502920" y="2567686"/>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Q5.</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If performance can only be DESCRIBED rather than counted, what must you clarify?</a:t>
            </a:r>
            <a:endParaRPr lang="en-US" sz="1500" dirty="0"/>
          </a:p>
        </p:txBody>
      </p:sp>
      <p:sp>
        <p:nvSpPr>
          <p:cNvPr id="14" name="Text 11"/>
          <p:cNvSpPr/>
          <p:nvPr/>
        </p:nvSpPr>
        <p:spPr>
          <a:xfrm>
            <a:off x="868680" y="28473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Nothing — skip the element</a:t>
            </a:r>
            <a:endParaRPr lang="en-US" sz="1300" dirty="0"/>
          </a:p>
        </p:txBody>
      </p:sp>
      <p:sp>
        <p:nvSpPr>
          <p:cNvPr id="15" name="Text 12"/>
          <p:cNvSpPr/>
          <p:nvPr/>
        </p:nvSpPr>
        <p:spPr>
          <a:xfrm>
            <a:off x="868680" y="30695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Who will appraise the performance and which factors they will appraise</a:t>
            </a:r>
            <a:endParaRPr lang="en-US" sz="1300" dirty="0"/>
          </a:p>
        </p:txBody>
      </p:sp>
      <p:sp>
        <p:nvSpPr>
          <p:cNvPr id="16" name="Text 13"/>
          <p:cNvSpPr/>
          <p:nvPr/>
        </p:nvSpPr>
        <p:spPr>
          <a:xfrm>
            <a:off x="868680" y="32918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The employee's shoe size</a:t>
            </a:r>
            <a:endParaRPr lang="en-US" sz="1300" dirty="0"/>
          </a:p>
        </p:txBody>
      </p:sp>
      <p:sp>
        <p:nvSpPr>
          <p:cNvPr id="17" name="Text 14"/>
          <p:cNvSpPr/>
          <p:nvPr/>
        </p:nvSpPr>
        <p:spPr>
          <a:xfrm>
            <a:off x="868680" y="35140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The company's tax number</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24</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1</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Step 6 — develop work-unit and individual standards</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07008"/>
            <a:ext cx="11183112" cy="504444"/>
          </a:xfrm>
          <a:prstGeom prst="rect">
            <a:avLst/>
          </a:prstGeom>
          <a:noFill/>
          <a:ln/>
        </p:spPr>
        <p:txBody>
          <a:bodyPr wrap="square" rtlCol="0" anchor="t"/>
          <a:lstStyle/>
          <a:p>
            <a:pPr indent="0" marL="0">
              <a:lnSpc>
                <a:spcPct val="112000"/>
              </a:lnSpc>
              <a:buNone/>
            </a:pPr>
            <a:r>
              <a:rPr lang="en-US" sz="1500" dirty="0">
                <a:solidFill>
                  <a:srgbClr val="6B7280"/>
                </a:solidFill>
                <a:latin typeface="Aptos" pitchFamily="34" charset="0"/>
                <a:ea typeface="Aptos" pitchFamily="34" charset="-122"/>
                <a:cs typeface="Aptos" pitchFamily="34" charset="-120"/>
              </a:rPr>
              <a:t>Performance standards are management-approved expressions of the performance thresholds, requirements or expectations that employees must meet to be appraised at particular levels of performance.</a:t>
            </a:r>
            <a:endParaRPr lang="en-US" sz="1500" dirty="0"/>
          </a:p>
        </p:txBody>
      </p:sp>
      <p:sp>
        <p:nvSpPr>
          <p:cNvPr id="9" name="Text 6"/>
          <p:cNvSpPr/>
          <p:nvPr/>
        </p:nvSpPr>
        <p:spPr>
          <a:xfrm>
            <a:off x="502920" y="1784604"/>
            <a:ext cx="11183112" cy="954024"/>
          </a:xfrm>
          <a:prstGeom prst="rect">
            <a:avLst/>
          </a:prstGeom>
          <a:noFill/>
          <a:ln/>
        </p:spPr>
        <p:txBody>
          <a:bodyPr wrap="square" rtlCol="0" anchor="t"/>
          <a:lstStyle/>
          <a:p>
            <a:pPr indent="0" marL="0">
              <a:lnSpc>
                <a:spcPct val="112000"/>
              </a:lnSpc>
              <a:buNone/>
            </a:pPr>
            <a:r>
              <a:rPr lang="en-US" sz="1500" dirty="0">
                <a:solidFill>
                  <a:srgbClr val="6B7280"/>
                </a:solidFill>
                <a:latin typeface="Aptos" pitchFamily="34" charset="0"/>
                <a:ea typeface="Aptos" pitchFamily="34" charset="-122"/>
                <a:cs typeface="Aptos" pitchFamily="34" charset="-120"/>
              </a:rPr>
              <a:t>Before writing the Fully Successful standard, know how many levels your appraisal programme uses. With two levels, Fully Successful is a single point — at or above it is Fully Successful, below it is Unacceptable. With five levels, Fully Successful is a range: above the range earns higher levels; below it is Minimally Successful or Unacceptable.</a:t>
            </a:r>
            <a:endParaRPr lang="en-US" sz="1500" dirty="0"/>
          </a:p>
        </p:txBody>
      </p:sp>
      <p:sp>
        <p:nvSpPr>
          <p:cNvPr id="10" name="Text 7"/>
          <p:cNvSpPr/>
          <p:nvPr/>
        </p:nvSpPr>
        <p:spPr>
          <a:xfrm>
            <a:off x="576072" y="2848356"/>
            <a:ext cx="11036808" cy="465328"/>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Measures must be clear and concise — it is easy to overlook critical detail. 'Meeting sales targets' sounds simple: is that the annual target, or all 12 monthly targets?</a:t>
            </a:r>
            <a:endParaRPr lang="en-US" sz="1400" dirty="0"/>
          </a:p>
        </p:txBody>
      </p:sp>
      <p:sp>
        <p:nvSpPr>
          <p:cNvPr id="11" name="Text 8"/>
          <p:cNvSpPr/>
          <p:nvPr/>
        </p:nvSpPr>
        <p:spPr>
          <a:xfrm>
            <a:off x="576072" y="3377692"/>
            <a:ext cx="11036808" cy="465328"/>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After development, standards must be recorded in the format the organisation specifies, filed, and treated as confidential.</a:t>
            </a:r>
            <a:endParaRPr lang="en-US" sz="1400" dirty="0"/>
          </a:p>
        </p:txBody>
      </p:sp>
      <p:sp>
        <p:nvSpPr>
          <p:cNvPr id="12" name="Text 9"/>
          <p:cNvSpPr/>
          <p:nvPr/>
        </p:nvSpPr>
        <p:spPr>
          <a:xfrm>
            <a:off x="576072" y="3907028"/>
            <a:ext cx="11036808" cy="255524"/>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Team involvement is required when developing standards.</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25</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1</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Step 6 — develop work-unit and individual standards …(continued)</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207008"/>
          <a:ext cx="11183112" cy="914400"/>
        </p:xfrm>
        <a:graphic>
          <a:graphicData uri="http://schemas.openxmlformats.org/drawingml/2006/table">
            <a:tbl>
              <a:tblPr/>
              <a:tblGrid>
                <a:gridCol w="2236622"/>
                <a:gridCol w="2236622"/>
                <a:gridCol w="2236622"/>
                <a:gridCol w="2236622"/>
                <a:gridCol w="2236622"/>
              </a:tblGrid>
              <a:tr h="402336">
                <a:tc>
                  <a:txBody>
                    <a:bodyPr/>
                    <a:lstStyle/>
                    <a:p>
                      <a:pPr indent="0" marL="0">
                        <a:buNone/>
                      </a:pPr>
                      <a:r>
                        <a:rPr lang="en-US" sz="1400" b="1" dirty="0">
                          <a:solidFill>
                            <a:srgbClr val="FFFFFF"/>
                          </a:solidFill>
                          <a:latin typeface="Aptos Display" pitchFamily="34" charset="0"/>
                          <a:ea typeface="Aptos Display" pitchFamily="34" charset="-122"/>
                          <a:cs typeface="Aptos Display" pitchFamily="34" charset="-120"/>
                        </a:rPr>
                        <a:t>Element</a:t>
                      </a:r>
                      <a:endParaRPr lang="en-US" sz="1400" dirty="0">
                        <a:latin typeface="Aptos Display" charset="0"/>
                        <a:ea typeface="Aptos Display" charset="0"/>
                        <a:cs typeface="Aptos Display"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400" b="1" dirty="0">
                          <a:solidFill>
                            <a:srgbClr val="FFFFFF"/>
                          </a:solidFill>
                          <a:latin typeface="Aptos Display" pitchFamily="34" charset="0"/>
                          <a:ea typeface="Aptos Display" pitchFamily="34" charset="-122"/>
                          <a:cs typeface="Aptos Display" pitchFamily="34" charset="-120"/>
                        </a:rPr>
                        <a:t>Specific measure</a:t>
                      </a:r>
                      <a:endParaRPr lang="en-US" sz="1400" dirty="0">
                        <a:latin typeface="Aptos Display" charset="0"/>
                        <a:ea typeface="Aptos Display" charset="0"/>
                        <a:cs typeface="Aptos Display"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400" b="1" dirty="0">
                          <a:solidFill>
                            <a:srgbClr val="FFFFFF"/>
                          </a:solidFill>
                          <a:latin typeface="Aptos Display" pitchFamily="34" charset="0"/>
                          <a:ea typeface="Aptos Display" pitchFamily="34" charset="-122"/>
                          <a:cs typeface="Aptos Display" pitchFamily="34" charset="-120"/>
                        </a:rPr>
                        <a:t>Minimally successful</a:t>
                      </a:r>
                      <a:endParaRPr lang="en-US" sz="1400" dirty="0">
                        <a:latin typeface="Aptos Display" charset="0"/>
                        <a:ea typeface="Aptos Display" charset="0"/>
                        <a:cs typeface="Aptos Display"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400" b="1" dirty="0">
                          <a:solidFill>
                            <a:srgbClr val="FFFFFF"/>
                          </a:solidFill>
                          <a:latin typeface="Aptos Display" pitchFamily="34" charset="0"/>
                          <a:ea typeface="Aptos Display" pitchFamily="34" charset="-122"/>
                          <a:cs typeface="Aptos Display" pitchFamily="34" charset="-120"/>
                        </a:rPr>
                        <a:t>Fully successful</a:t>
                      </a:r>
                      <a:endParaRPr lang="en-US" sz="1400" dirty="0">
                        <a:latin typeface="Aptos Display" charset="0"/>
                        <a:ea typeface="Aptos Display" charset="0"/>
                        <a:cs typeface="Aptos Display"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400" b="1" dirty="0">
                          <a:solidFill>
                            <a:srgbClr val="FFFFFF"/>
                          </a:solidFill>
                          <a:latin typeface="Aptos Display" pitchFamily="34" charset="0"/>
                          <a:ea typeface="Aptos Display" pitchFamily="34" charset="-122"/>
                          <a:cs typeface="Aptos Display" pitchFamily="34" charset="-120"/>
                        </a:rPr>
                        <a:t>Exceeds fully successful</a:t>
                      </a:r>
                      <a:endParaRPr lang="en-US" sz="1400" dirty="0">
                        <a:latin typeface="Aptos Display" charset="0"/>
                        <a:ea typeface="Aptos Display" charset="0"/>
                        <a:cs typeface="Aptos Display"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r>
              <a:tr h="402336">
                <a:tc>
                  <a:txBody>
                    <a:bodyPr/>
                    <a:lstStyle/>
                    <a:p>
                      <a:pPr indent="0" marL="0">
                        <a:buNone/>
                      </a:pPr>
                      <a:r>
                        <a:rPr lang="en-US" sz="1400" dirty="0">
                          <a:solidFill>
                            <a:srgbClr val="002050"/>
                          </a:solidFill>
                          <a:latin typeface="Aptos" pitchFamily="34" charset="0"/>
                          <a:ea typeface="Aptos" pitchFamily="34" charset="-122"/>
                          <a:cs typeface="Aptos" pitchFamily="34" charset="-120"/>
                        </a:rPr>
                        <a:t>Receive, direct and relay calls (CE · 40 pts)</a:t>
                      </a:r>
                      <a:endParaRPr lang="en-US" sz="14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400" dirty="0">
                          <a:solidFill>
                            <a:srgbClr val="002050"/>
                          </a:solidFill>
                          <a:latin typeface="Aptos" pitchFamily="34" charset="0"/>
                          <a:ea typeface="Aptos" pitchFamily="34" charset="-122"/>
                          <a:cs typeface="Aptos" pitchFamily="34" charset="-120"/>
                        </a:rPr>
                        <a:t>Rings before answering · transfer lead time</a:t>
                      </a:r>
                      <a:endParaRPr lang="en-US" sz="14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400" dirty="0">
                          <a:solidFill>
                            <a:srgbClr val="002050"/>
                          </a:solidFill>
                          <a:latin typeface="Aptos" pitchFamily="34" charset="0"/>
                          <a:ea typeface="Aptos" pitchFamily="34" charset="-122"/>
                          <a:cs typeface="Aptos" pitchFamily="34" charset="-120"/>
                        </a:rPr>
                        <a:t>4–5 rings · 6–10 seconds</a:t>
                      </a:r>
                      <a:endParaRPr lang="en-US" sz="14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400" dirty="0">
                          <a:solidFill>
                            <a:srgbClr val="002050"/>
                          </a:solidFill>
                          <a:latin typeface="Aptos" pitchFamily="34" charset="0"/>
                          <a:ea typeface="Aptos" pitchFamily="34" charset="-122"/>
                          <a:cs typeface="Aptos" pitchFamily="34" charset="-120"/>
                        </a:rPr>
                        <a:t>3 rings · 5 seconds</a:t>
                      </a:r>
                      <a:endParaRPr lang="en-US" sz="14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400" dirty="0">
                          <a:solidFill>
                            <a:srgbClr val="002050"/>
                          </a:solidFill>
                          <a:latin typeface="Aptos" pitchFamily="34" charset="0"/>
                          <a:ea typeface="Aptos" pitchFamily="34" charset="-122"/>
                          <a:cs typeface="Aptos" pitchFamily="34" charset="-120"/>
                        </a:rPr>
                        <a:t>1–2 rings · 2–4 seconds</a:t>
                      </a:r>
                      <a:endParaRPr lang="en-US" sz="14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402336">
                <a:tc>
                  <a:txBody>
                    <a:bodyPr/>
                    <a:lstStyle/>
                    <a:p>
                      <a:pPr indent="0" marL="0">
                        <a:buNone/>
                      </a:pPr>
                      <a:r>
                        <a:rPr lang="en-US" sz="1400" dirty="0">
                          <a:solidFill>
                            <a:srgbClr val="002050"/>
                          </a:solidFill>
                          <a:latin typeface="Aptos" pitchFamily="34" charset="0"/>
                          <a:ea typeface="Aptos" pitchFamily="34" charset="-122"/>
                          <a:cs typeface="Aptos" pitchFamily="34" charset="-120"/>
                        </a:rPr>
                        <a:t>Pick up and deliver the mail (CE · 40 pts)</a:t>
                      </a:r>
                      <a:endParaRPr lang="en-US" sz="14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400" dirty="0">
                          <a:solidFill>
                            <a:srgbClr val="002050"/>
                          </a:solidFill>
                          <a:latin typeface="Aptos" pitchFamily="34" charset="0"/>
                          <a:ea typeface="Aptos" pitchFamily="34" charset="-122"/>
                          <a:cs typeface="Aptos" pitchFamily="34" charset="-120"/>
                        </a:rPr>
                        <a:t>Minutes lead time</a:t>
                      </a:r>
                      <a:endParaRPr lang="en-US" sz="14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400" dirty="0">
                          <a:solidFill>
                            <a:srgbClr val="002050"/>
                          </a:solidFill>
                          <a:latin typeface="Aptos" pitchFamily="34" charset="0"/>
                          <a:ea typeface="Aptos" pitchFamily="34" charset="-122"/>
                          <a:cs typeface="Aptos" pitchFamily="34" charset="-120"/>
                        </a:rPr>
                        <a:t>40–60 minutes</a:t>
                      </a:r>
                      <a:endParaRPr lang="en-US" sz="14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400" dirty="0">
                          <a:solidFill>
                            <a:srgbClr val="002050"/>
                          </a:solidFill>
                          <a:latin typeface="Aptos" pitchFamily="34" charset="0"/>
                          <a:ea typeface="Aptos" pitchFamily="34" charset="-122"/>
                          <a:cs typeface="Aptos" pitchFamily="34" charset="-120"/>
                        </a:rPr>
                        <a:t>30 minutes</a:t>
                      </a:r>
                      <a:endParaRPr lang="en-US" sz="14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400" dirty="0">
                          <a:solidFill>
                            <a:srgbClr val="002050"/>
                          </a:solidFill>
                          <a:latin typeface="Aptos" pitchFamily="34" charset="0"/>
                          <a:ea typeface="Aptos" pitchFamily="34" charset="-122"/>
                          <a:cs typeface="Aptos" pitchFamily="34" charset="-120"/>
                        </a:rPr>
                        <a:t>15–25 minutes</a:t>
                      </a:r>
                      <a:endParaRPr lang="en-US" sz="14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402336">
                <a:tc>
                  <a:txBody>
                    <a:bodyPr/>
                    <a:lstStyle/>
                    <a:p>
                      <a:pPr indent="0" marL="0">
                        <a:buNone/>
                      </a:pPr>
                      <a:r>
                        <a:rPr lang="en-US" sz="1400" dirty="0">
                          <a:solidFill>
                            <a:srgbClr val="002050"/>
                          </a:solidFill>
                          <a:latin typeface="Aptos" pitchFamily="34" charset="0"/>
                          <a:ea typeface="Aptos" pitchFamily="34" charset="-122"/>
                          <a:cs typeface="Aptos" pitchFamily="34" charset="-120"/>
                        </a:rPr>
                        <a:t>Maintain general filing system (AE · 10 pts)</a:t>
                      </a:r>
                      <a:endParaRPr lang="en-US" sz="14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400" dirty="0">
                          <a:solidFill>
                            <a:srgbClr val="002050"/>
                          </a:solidFill>
                          <a:latin typeface="Aptos" pitchFamily="34" charset="0"/>
                          <a:ea typeface="Aptos" pitchFamily="34" charset="-122"/>
                          <a:cs typeface="Aptos" pitchFamily="34" charset="-120"/>
                        </a:rPr>
                        <a:t>Ratio of filing errors</a:t>
                      </a:r>
                      <a:endParaRPr lang="en-US" sz="14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400" dirty="0">
                          <a:solidFill>
                            <a:srgbClr val="002050"/>
                          </a:solidFill>
                          <a:latin typeface="Aptos" pitchFamily="34" charset="0"/>
                          <a:ea typeface="Aptos" pitchFamily="34" charset="-122"/>
                          <a:cs typeface="Aptos" pitchFamily="34" charset="-120"/>
                        </a:rPr>
                        <a:t>12%–20%</a:t>
                      </a:r>
                      <a:endParaRPr lang="en-US" sz="14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400" dirty="0">
                          <a:solidFill>
                            <a:srgbClr val="002050"/>
                          </a:solidFill>
                          <a:latin typeface="Aptos" pitchFamily="34" charset="0"/>
                          <a:ea typeface="Aptos" pitchFamily="34" charset="-122"/>
                          <a:cs typeface="Aptos" pitchFamily="34" charset="-120"/>
                        </a:rPr>
                        <a:t>5%–10%</a:t>
                      </a:r>
                      <a:endParaRPr lang="en-US" sz="14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400" dirty="0">
                          <a:solidFill>
                            <a:srgbClr val="002050"/>
                          </a:solidFill>
                          <a:latin typeface="Aptos" pitchFamily="34" charset="0"/>
                          <a:ea typeface="Aptos" pitchFamily="34" charset="-122"/>
                          <a:cs typeface="Aptos" pitchFamily="34" charset="-120"/>
                        </a:rPr>
                        <a:t>1%–3%</a:t>
                      </a:r>
                      <a:endParaRPr lang="en-US" sz="14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26</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1</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Check yourself — Step 6 — develop work-unit and individual standards</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34440"/>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Q1.</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A performance standard is best defined as…</a:t>
            </a:r>
            <a:endParaRPr lang="en-US" sz="1500" dirty="0"/>
          </a:p>
        </p:txBody>
      </p:sp>
      <p:sp>
        <p:nvSpPr>
          <p:cNvPr id="9" name="Text 6"/>
          <p:cNvSpPr/>
          <p:nvPr/>
        </p:nvSpPr>
        <p:spPr>
          <a:xfrm>
            <a:off x="868680" y="15140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A guess about what employees might do</a:t>
            </a:r>
            <a:endParaRPr lang="en-US" sz="1300" dirty="0"/>
          </a:p>
        </p:txBody>
      </p:sp>
      <p:sp>
        <p:nvSpPr>
          <p:cNvPr id="10" name="Text 7"/>
          <p:cNvSpPr/>
          <p:nvPr/>
        </p:nvSpPr>
        <p:spPr>
          <a:xfrm>
            <a:off x="868680" y="17363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A management-approved expression of the threshold employees must meet for a performance level</a:t>
            </a:r>
            <a:endParaRPr lang="en-US" sz="1300" dirty="0"/>
          </a:p>
        </p:txBody>
      </p:sp>
      <p:sp>
        <p:nvSpPr>
          <p:cNvPr id="11" name="Text 8"/>
          <p:cNvSpPr/>
          <p:nvPr/>
        </p:nvSpPr>
        <p:spPr>
          <a:xfrm>
            <a:off x="868680" y="19585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An informal chat about work</a:t>
            </a:r>
            <a:endParaRPr lang="en-US" sz="1300" dirty="0"/>
          </a:p>
        </p:txBody>
      </p:sp>
      <p:sp>
        <p:nvSpPr>
          <p:cNvPr id="12" name="Text 9"/>
          <p:cNvSpPr/>
          <p:nvPr/>
        </p:nvSpPr>
        <p:spPr>
          <a:xfrm>
            <a:off x="868680" y="21808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The company dress code</a:t>
            </a:r>
            <a:endParaRPr lang="en-US" sz="1300" dirty="0"/>
          </a:p>
        </p:txBody>
      </p:sp>
      <p:sp>
        <p:nvSpPr>
          <p:cNvPr id="13" name="Text 10"/>
          <p:cNvSpPr/>
          <p:nvPr/>
        </p:nvSpPr>
        <p:spPr>
          <a:xfrm>
            <a:off x="502920" y="2567686"/>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Q2.</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In a five-level appraisal programme, the Fully Successful standard is described as…</a:t>
            </a:r>
            <a:endParaRPr lang="en-US" sz="1500" dirty="0"/>
          </a:p>
        </p:txBody>
      </p:sp>
      <p:sp>
        <p:nvSpPr>
          <p:cNvPr id="14" name="Text 11"/>
          <p:cNvSpPr/>
          <p:nvPr/>
        </p:nvSpPr>
        <p:spPr>
          <a:xfrm>
            <a:off x="868680" y="28473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A single point — anything below is unacceptable</a:t>
            </a:r>
            <a:endParaRPr lang="en-US" sz="1300" dirty="0"/>
          </a:p>
        </p:txBody>
      </p:sp>
      <p:sp>
        <p:nvSpPr>
          <p:cNvPr id="15" name="Text 12"/>
          <p:cNvSpPr/>
          <p:nvPr/>
        </p:nvSpPr>
        <p:spPr>
          <a:xfrm>
            <a:off x="868680" y="30695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A range — above it earns higher levels, below it lower levels</a:t>
            </a:r>
            <a:endParaRPr lang="en-US" sz="1300" dirty="0"/>
          </a:p>
        </p:txBody>
      </p:sp>
      <p:sp>
        <p:nvSpPr>
          <p:cNvPr id="16" name="Text 13"/>
          <p:cNvSpPr/>
          <p:nvPr/>
        </p:nvSpPr>
        <p:spPr>
          <a:xfrm>
            <a:off x="868680" y="32918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Whatever the employee decides</a:t>
            </a:r>
            <a:endParaRPr lang="en-US" sz="1300" dirty="0"/>
          </a:p>
        </p:txBody>
      </p:sp>
      <p:sp>
        <p:nvSpPr>
          <p:cNvPr id="17" name="Text 14"/>
          <p:cNvSpPr/>
          <p:nvPr/>
        </p:nvSpPr>
        <p:spPr>
          <a:xfrm>
            <a:off x="868680" y="35140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A secret number known only to HR</a:t>
            </a:r>
            <a:endParaRPr lang="en-US" sz="1300" dirty="0"/>
          </a:p>
        </p:txBody>
      </p:sp>
      <p:sp>
        <p:nvSpPr>
          <p:cNvPr id="18" name="Text 15"/>
          <p:cNvSpPr/>
          <p:nvPr/>
        </p:nvSpPr>
        <p:spPr>
          <a:xfrm>
            <a:off x="502920" y="3900932"/>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Q3.</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For the receptionist, the FULLY SUCCESSFUL standard for answering calls is…</a:t>
            </a:r>
            <a:endParaRPr lang="en-US" sz="1500" dirty="0"/>
          </a:p>
        </p:txBody>
      </p:sp>
      <p:sp>
        <p:nvSpPr>
          <p:cNvPr id="19" name="Text 16"/>
          <p:cNvSpPr/>
          <p:nvPr/>
        </p:nvSpPr>
        <p:spPr>
          <a:xfrm>
            <a:off x="868680" y="418058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4–5 rings and 6–10 seconds transfer time</a:t>
            </a:r>
            <a:endParaRPr lang="en-US" sz="1300" dirty="0"/>
          </a:p>
        </p:txBody>
      </p:sp>
      <p:sp>
        <p:nvSpPr>
          <p:cNvPr id="20" name="Text 17"/>
          <p:cNvSpPr/>
          <p:nvPr/>
        </p:nvSpPr>
        <p:spPr>
          <a:xfrm>
            <a:off x="868680" y="440283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3 rings and a 5-second transfer lead time</a:t>
            </a:r>
            <a:endParaRPr lang="en-US" sz="1300" dirty="0"/>
          </a:p>
        </p:txBody>
      </p:sp>
      <p:sp>
        <p:nvSpPr>
          <p:cNvPr id="21" name="Text 18"/>
          <p:cNvSpPr/>
          <p:nvPr/>
        </p:nvSpPr>
        <p:spPr>
          <a:xfrm>
            <a:off x="868680" y="462508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1–2 rings and 2–4 seconds transfer time</a:t>
            </a:r>
            <a:endParaRPr lang="en-US" sz="1300" dirty="0"/>
          </a:p>
        </p:txBody>
      </p:sp>
      <p:sp>
        <p:nvSpPr>
          <p:cNvPr id="22" name="Text 19"/>
          <p:cNvSpPr/>
          <p:nvPr/>
        </p:nvSpPr>
        <p:spPr>
          <a:xfrm>
            <a:off x="868680" y="484733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Never answering the phone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27</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1</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Check yourself — Step 6 — develop work-unit and individual standards …(continued)</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34440"/>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Q4.</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Which filing error ratio EXCEEDS Fully Successful?</a:t>
            </a:r>
            <a:endParaRPr lang="en-US" sz="1500" dirty="0"/>
          </a:p>
        </p:txBody>
      </p:sp>
      <p:sp>
        <p:nvSpPr>
          <p:cNvPr id="9" name="Text 6"/>
          <p:cNvSpPr/>
          <p:nvPr/>
        </p:nvSpPr>
        <p:spPr>
          <a:xfrm>
            <a:off x="868680" y="15140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12%–20%</a:t>
            </a:r>
            <a:endParaRPr lang="en-US" sz="1300" dirty="0"/>
          </a:p>
        </p:txBody>
      </p:sp>
      <p:sp>
        <p:nvSpPr>
          <p:cNvPr id="10" name="Text 7"/>
          <p:cNvSpPr/>
          <p:nvPr/>
        </p:nvSpPr>
        <p:spPr>
          <a:xfrm>
            <a:off x="868680" y="17363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5%–10%</a:t>
            </a:r>
            <a:endParaRPr lang="en-US" sz="1300" dirty="0"/>
          </a:p>
        </p:txBody>
      </p:sp>
      <p:sp>
        <p:nvSpPr>
          <p:cNvPr id="11" name="Text 8"/>
          <p:cNvSpPr/>
          <p:nvPr/>
        </p:nvSpPr>
        <p:spPr>
          <a:xfrm>
            <a:off x="868680" y="19585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1%–3%</a:t>
            </a:r>
            <a:endParaRPr lang="en-US" sz="1300" dirty="0"/>
          </a:p>
        </p:txBody>
      </p:sp>
      <p:sp>
        <p:nvSpPr>
          <p:cNvPr id="12" name="Text 9"/>
          <p:cNvSpPr/>
          <p:nvPr/>
        </p:nvSpPr>
        <p:spPr>
          <a:xfrm>
            <a:off x="868680" y="21808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25%+</a:t>
            </a:r>
            <a:endParaRPr lang="en-US" sz="1300" dirty="0"/>
          </a:p>
        </p:txBody>
      </p:sp>
      <p:sp>
        <p:nvSpPr>
          <p:cNvPr id="13" name="Text 10"/>
          <p:cNvSpPr/>
          <p:nvPr/>
        </p:nvSpPr>
        <p:spPr>
          <a:xfrm>
            <a:off x="502920" y="2567686"/>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Q5.</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'Meet sales targets' is a weak standard because…</a:t>
            </a:r>
            <a:endParaRPr lang="en-US" sz="1500" dirty="0"/>
          </a:p>
        </p:txBody>
      </p:sp>
      <p:sp>
        <p:nvSpPr>
          <p:cNvPr id="14" name="Text 11"/>
          <p:cNvSpPr/>
          <p:nvPr/>
        </p:nvSpPr>
        <p:spPr>
          <a:xfrm>
            <a:off x="868680" y="28473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Sales should never be measured</a:t>
            </a:r>
            <a:endParaRPr lang="en-US" sz="1300" dirty="0"/>
          </a:p>
        </p:txBody>
      </p:sp>
      <p:sp>
        <p:nvSpPr>
          <p:cNvPr id="15" name="Text 12"/>
          <p:cNvSpPr/>
          <p:nvPr/>
        </p:nvSpPr>
        <p:spPr>
          <a:xfrm>
            <a:off x="868680" y="30695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It is too harsh on employees</a:t>
            </a:r>
            <a:endParaRPr lang="en-US" sz="1300" dirty="0"/>
          </a:p>
        </p:txBody>
      </p:sp>
      <p:sp>
        <p:nvSpPr>
          <p:cNvPr id="16" name="Text 13"/>
          <p:cNvSpPr/>
          <p:nvPr/>
        </p:nvSpPr>
        <p:spPr>
          <a:xfrm>
            <a:off x="868680" y="32918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It is not specific — annual target or all 12 monthly targets?</a:t>
            </a:r>
            <a:endParaRPr lang="en-US" sz="1300" dirty="0"/>
          </a:p>
        </p:txBody>
      </p:sp>
      <p:sp>
        <p:nvSpPr>
          <p:cNvPr id="17" name="Text 14"/>
          <p:cNvSpPr/>
          <p:nvPr/>
        </p:nvSpPr>
        <p:spPr>
          <a:xfrm>
            <a:off x="868680" y="35140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Targets are illegal in South Africa</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28</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1</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Step 7 — monitor performance and give feedback</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07008"/>
            <a:ext cx="11183112" cy="729234"/>
          </a:xfrm>
          <a:prstGeom prst="rect">
            <a:avLst/>
          </a:prstGeom>
          <a:noFill/>
          <a:ln/>
        </p:spPr>
        <p:txBody>
          <a:bodyPr wrap="square" rtlCol="0" anchor="t"/>
          <a:lstStyle/>
          <a:p>
            <a:pPr indent="0" marL="0">
              <a:lnSpc>
                <a:spcPct val="112000"/>
              </a:lnSpc>
              <a:buNone/>
            </a:pPr>
            <a:r>
              <a:rPr lang="en-US" sz="1500" dirty="0">
                <a:solidFill>
                  <a:srgbClr val="6B7280"/>
                </a:solidFill>
                <a:latin typeface="Aptos" pitchFamily="34" charset="0"/>
                <a:ea typeface="Aptos" pitchFamily="34" charset="-122"/>
                <a:cs typeface="Aptos" pitchFamily="34" charset="-120"/>
              </a:rPr>
              <a:t>Monitoring performance means measuring performance and providing feedback to employees. Appraisal programmes must provide ongoing appraisal — including one or more progress reviews per appraisal period — and beyond that, supervisors and employees should discuss performance informally and often.</a:t>
            </a:r>
            <a:endParaRPr lang="en-US" sz="1500" dirty="0"/>
          </a:p>
        </p:txBody>
      </p:sp>
      <p:sp>
        <p:nvSpPr>
          <p:cNvPr id="9" name="Text 6"/>
          <p:cNvSpPr/>
          <p:nvPr/>
        </p:nvSpPr>
        <p:spPr>
          <a:xfrm>
            <a:off x="502920" y="2009394"/>
            <a:ext cx="11183112" cy="504444"/>
          </a:xfrm>
          <a:prstGeom prst="rect">
            <a:avLst/>
          </a:prstGeom>
          <a:noFill/>
          <a:ln/>
        </p:spPr>
        <p:txBody>
          <a:bodyPr wrap="square" rtlCol="0" anchor="t"/>
          <a:lstStyle/>
          <a:p>
            <a:pPr indent="0" marL="0">
              <a:lnSpc>
                <a:spcPct val="112000"/>
              </a:lnSpc>
              <a:buNone/>
            </a:pPr>
            <a:r>
              <a:rPr lang="en-US" sz="1500" dirty="0">
                <a:solidFill>
                  <a:srgbClr val="6B7280"/>
                </a:solidFill>
                <a:latin typeface="Aptos" pitchFamily="34" charset="0"/>
                <a:ea typeface="Aptos" pitchFamily="34" charset="-122"/>
                <a:cs typeface="Aptos" pitchFamily="34" charset="-120"/>
              </a:rPr>
              <a:t>You may have built great elements and standards through the first six steps, and then find monitoring an element is impossible, too costly or too time-consuming — if so, rethink the specific measures.</a:t>
            </a:r>
            <a:endParaRPr lang="en-US" sz="1500" dirty="0"/>
          </a:p>
        </p:txBody>
      </p:sp>
      <p:sp>
        <p:nvSpPr>
          <p:cNvPr id="10" name="Text 7"/>
          <p:cNvSpPr/>
          <p:nvPr/>
        </p:nvSpPr>
        <p:spPr>
          <a:xfrm>
            <a:off x="502920" y="2586990"/>
            <a:ext cx="11183112" cy="729234"/>
          </a:xfrm>
          <a:prstGeom prst="rect">
            <a:avLst/>
          </a:prstGeom>
          <a:noFill/>
          <a:ln/>
        </p:spPr>
        <p:txBody>
          <a:bodyPr wrap="square" rtlCol="0" anchor="t"/>
          <a:lstStyle/>
          <a:p>
            <a:pPr indent="0" marL="0">
              <a:lnSpc>
                <a:spcPct val="112000"/>
              </a:lnSpc>
              <a:buNone/>
            </a:pPr>
            <a:r>
              <a:rPr lang="en-US" sz="1500" dirty="0">
                <a:solidFill>
                  <a:srgbClr val="6B7280"/>
                </a:solidFill>
                <a:latin typeface="Aptos" pitchFamily="34" charset="0"/>
                <a:ea typeface="Aptos" pitchFamily="34" charset="-122"/>
                <a:cs typeface="Aptos" pitchFamily="34" charset="-120"/>
              </a:rPr>
              <a:t>Monitoring is not a witch-hunting exercise to get rid of your enemies. After setting up the system, communicate it to all team members: at shift start/end meetings, via email, on notice boards, in a formal letter, and during induction and coaching.</a:t>
            </a:r>
            <a:endParaRPr lang="en-US" sz="1500" dirty="0"/>
          </a:p>
        </p:txBody>
      </p:sp>
      <p:sp>
        <p:nvSpPr>
          <p:cNvPr id="11" name="Text 8"/>
          <p:cNvSpPr/>
          <p:nvPr/>
        </p:nvSpPr>
        <p:spPr>
          <a:xfrm>
            <a:off x="576072" y="3425952"/>
            <a:ext cx="11036808" cy="675132"/>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To complete this step: determine what data to collect for each element, its source, and whether to collect all data or a sample; decide when it is collected, by whom, and who receives it; review existing reports as feedback reports; create feedback tables or graphs where applicable; and design feedback processes that give feedback automatically.</a:t>
            </a:r>
            <a:endParaRPr lang="en-US" sz="1400" dirty="0"/>
          </a:p>
        </p:txBody>
      </p:sp>
      <p:sp>
        <p:nvSpPr>
          <p:cNvPr id="12" name="Text 9"/>
          <p:cNvSpPr/>
          <p:nvPr/>
        </p:nvSpPr>
        <p:spPr>
          <a:xfrm>
            <a:off x="576072" y="4165092"/>
            <a:ext cx="11036808" cy="675132"/>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Monitoring methods: (1) reviewing work — total output or samples; (2) observing work activities; (3) reading reports, charts, time sheets, work records or logs; (4) employee self-reporting on progress; (5) surveying other units, the public or clients; (6) noting and investigating complaints and commendations.</a:t>
            </a:r>
            <a:endParaRPr lang="en-US" sz="1400" dirty="0"/>
          </a:p>
        </p:txBody>
      </p:sp>
      <p:sp>
        <p:nvSpPr>
          <p:cNvPr id="13" name="Text 10"/>
          <p:cNvSpPr/>
          <p:nvPr/>
        </p:nvSpPr>
        <p:spPr>
          <a:xfrm>
            <a:off x="576072" y="4904232"/>
            <a:ext cx="11036808" cy="465328"/>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Some monitoring is ongoing to catch problems early (checking samples or observing several times a day or week); other monitoring is at wider intervals — monthly or quarterly reviews, or occasional random checks.</a:t>
            </a:r>
            <a:endParaRPr lang="en-US" sz="1400" dirty="0"/>
          </a:p>
        </p:txBody>
      </p:sp>
      <p:sp>
        <p:nvSpPr>
          <p:cNvPr id="14" name="Text 11"/>
          <p:cNvSpPr/>
          <p:nvPr/>
        </p:nvSpPr>
        <p:spPr>
          <a:xfrm>
            <a:off x="576072" y="5433568"/>
            <a:ext cx="11036808" cy="255524"/>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Team involvement is required when setting up the monitoring methods.</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29</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1</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Step 7 — monitor performance and give feedback …(continued)</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02920" y="1207008"/>
          <a:ext cx="11183112" cy="914400"/>
        </p:xfrm>
        <a:graphic>
          <a:graphicData uri="http://schemas.openxmlformats.org/drawingml/2006/table">
            <a:tbl>
              <a:tblPr/>
              <a:tblGrid>
                <a:gridCol w="5591556"/>
                <a:gridCol w="5591556"/>
              </a:tblGrid>
              <a:tr h="402336">
                <a:tc>
                  <a:txBody>
                    <a:bodyPr/>
                    <a:lstStyle/>
                    <a:p>
                      <a:pPr indent="0" marL="0">
                        <a:buNone/>
                      </a:pPr>
                      <a:r>
                        <a:rPr lang="en-US" sz="1400" b="1" dirty="0">
                          <a:solidFill>
                            <a:srgbClr val="FFFFFF"/>
                          </a:solidFill>
                          <a:latin typeface="Aptos Display" pitchFamily="34" charset="0"/>
                          <a:ea typeface="Aptos Display" pitchFamily="34" charset="-122"/>
                          <a:cs typeface="Aptos Display" pitchFamily="34" charset="-120"/>
                        </a:rPr>
                        <a:t>Element</a:t>
                      </a:r>
                      <a:endParaRPr lang="en-US" sz="1400" dirty="0">
                        <a:latin typeface="Aptos Display" charset="0"/>
                        <a:ea typeface="Aptos Display" charset="0"/>
                        <a:cs typeface="Aptos Display"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400" b="1" dirty="0">
                          <a:solidFill>
                            <a:srgbClr val="FFFFFF"/>
                          </a:solidFill>
                          <a:latin typeface="Aptos Display" pitchFamily="34" charset="0"/>
                          <a:ea typeface="Aptos Display" pitchFamily="34" charset="-122"/>
                          <a:cs typeface="Aptos Display" pitchFamily="34" charset="-120"/>
                        </a:rPr>
                        <a:t>Feedback sources for monitoring</a:t>
                      </a:r>
                      <a:endParaRPr lang="en-US" sz="1400" dirty="0">
                        <a:latin typeface="Aptos Display" charset="0"/>
                        <a:ea typeface="Aptos Display" charset="0"/>
                        <a:cs typeface="Aptos Display"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r>
              <a:tr h="402336">
                <a:tc>
                  <a:txBody>
                    <a:bodyPr/>
                    <a:lstStyle/>
                    <a:p>
                      <a:pPr indent="0" marL="0">
                        <a:buNone/>
                      </a:pPr>
                      <a:r>
                        <a:rPr lang="en-US" sz="1400" dirty="0">
                          <a:solidFill>
                            <a:srgbClr val="002050"/>
                          </a:solidFill>
                          <a:latin typeface="Aptos" pitchFamily="34" charset="0"/>
                          <a:ea typeface="Aptos" pitchFamily="34" charset="-122"/>
                          <a:cs typeface="Aptos" pitchFamily="34" charset="-120"/>
                        </a:rPr>
                        <a:t>Receive, direct and relay calls</a:t>
                      </a:r>
                      <a:endParaRPr lang="en-US" sz="14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400" dirty="0">
                          <a:solidFill>
                            <a:srgbClr val="002050"/>
                          </a:solidFill>
                          <a:latin typeface="Aptos" pitchFamily="34" charset="0"/>
                          <a:ea typeface="Aptos" pitchFamily="34" charset="-122"/>
                          <a:cs typeface="Aptos" pitchFamily="34" charset="-120"/>
                        </a:rPr>
                        <a:t>Supervisor observation (360° tool) · customers · peers</a:t>
                      </a:r>
                      <a:endParaRPr lang="en-US" sz="14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402336">
                <a:tc>
                  <a:txBody>
                    <a:bodyPr/>
                    <a:lstStyle/>
                    <a:p>
                      <a:pPr indent="0" marL="0">
                        <a:buNone/>
                      </a:pPr>
                      <a:r>
                        <a:rPr lang="en-US" sz="1400" dirty="0">
                          <a:solidFill>
                            <a:srgbClr val="002050"/>
                          </a:solidFill>
                          <a:latin typeface="Aptos" pitchFamily="34" charset="0"/>
                          <a:ea typeface="Aptos" pitchFamily="34" charset="-122"/>
                          <a:cs typeface="Aptos" pitchFamily="34" charset="-120"/>
                        </a:rPr>
                        <a:t>Pick up and deliver the mail</a:t>
                      </a:r>
                      <a:endParaRPr lang="en-US" sz="14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400" dirty="0">
                          <a:solidFill>
                            <a:srgbClr val="002050"/>
                          </a:solidFill>
                          <a:latin typeface="Aptos" pitchFamily="34" charset="0"/>
                          <a:ea typeface="Aptos" pitchFamily="34" charset="-122"/>
                          <a:cs typeface="Aptos" pitchFamily="34" charset="-120"/>
                        </a:rPr>
                        <a:t>Supervisor observation (360° tool) · customers · peers</a:t>
                      </a:r>
                      <a:endParaRPr lang="en-US" sz="14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402336">
                <a:tc>
                  <a:txBody>
                    <a:bodyPr/>
                    <a:lstStyle/>
                    <a:p>
                      <a:pPr indent="0" marL="0">
                        <a:buNone/>
                      </a:pPr>
                      <a:r>
                        <a:rPr lang="en-US" sz="1400" dirty="0">
                          <a:solidFill>
                            <a:srgbClr val="002050"/>
                          </a:solidFill>
                          <a:latin typeface="Aptos" pitchFamily="34" charset="0"/>
                          <a:ea typeface="Aptos" pitchFamily="34" charset="-122"/>
                          <a:cs typeface="Aptos" pitchFamily="34" charset="-120"/>
                        </a:rPr>
                        <a:t>Maintain the filing system</a:t>
                      </a:r>
                      <a:endParaRPr lang="en-US" sz="14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400" dirty="0">
                          <a:solidFill>
                            <a:srgbClr val="002050"/>
                          </a:solidFill>
                          <a:latin typeface="Aptos" pitchFamily="34" charset="0"/>
                          <a:ea typeface="Aptos" pitchFamily="34" charset="-122"/>
                          <a:cs typeface="Aptos" pitchFamily="34" charset="-120"/>
                        </a:rPr>
                        <a:t>Supervisor observation (360° tool) · peers · data from the automated system</a:t>
                      </a:r>
                      <a:endParaRPr lang="en-US" sz="14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30</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1</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Check yourself — Step 7 — monitor performance and give feedback</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34440"/>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Q1.</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What does monitoring performance mean?</a:t>
            </a:r>
            <a:endParaRPr lang="en-US" sz="1500" dirty="0"/>
          </a:p>
        </p:txBody>
      </p:sp>
      <p:sp>
        <p:nvSpPr>
          <p:cNvPr id="9" name="Text 6"/>
          <p:cNvSpPr/>
          <p:nvPr/>
        </p:nvSpPr>
        <p:spPr>
          <a:xfrm>
            <a:off x="868680" y="15140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Watching employees secretly to catch them out</a:t>
            </a:r>
            <a:endParaRPr lang="en-US" sz="1300" dirty="0"/>
          </a:p>
        </p:txBody>
      </p:sp>
      <p:sp>
        <p:nvSpPr>
          <p:cNvPr id="10" name="Text 7"/>
          <p:cNvSpPr/>
          <p:nvPr/>
        </p:nvSpPr>
        <p:spPr>
          <a:xfrm>
            <a:off x="868680" y="17363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Measuring performance and providing feedback to employees</a:t>
            </a:r>
            <a:endParaRPr lang="en-US" sz="1300" dirty="0"/>
          </a:p>
        </p:txBody>
      </p:sp>
      <p:sp>
        <p:nvSpPr>
          <p:cNvPr id="11" name="Text 8"/>
          <p:cNvSpPr/>
          <p:nvPr/>
        </p:nvSpPr>
        <p:spPr>
          <a:xfrm>
            <a:off x="868680" y="19585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Counting who arrives first at the office</a:t>
            </a:r>
            <a:endParaRPr lang="en-US" sz="1300" dirty="0"/>
          </a:p>
        </p:txBody>
      </p:sp>
      <p:sp>
        <p:nvSpPr>
          <p:cNvPr id="12" name="Text 9"/>
          <p:cNvSpPr/>
          <p:nvPr/>
        </p:nvSpPr>
        <p:spPr>
          <a:xfrm>
            <a:off x="868680" y="21808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Reading employees' private messages</a:t>
            </a:r>
            <a:endParaRPr lang="en-US" sz="1300" dirty="0"/>
          </a:p>
        </p:txBody>
      </p:sp>
      <p:sp>
        <p:nvSpPr>
          <p:cNvPr id="13" name="Text 10"/>
          <p:cNvSpPr/>
          <p:nvPr/>
        </p:nvSpPr>
        <p:spPr>
          <a:xfrm>
            <a:off x="502920" y="2567686"/>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Q2.</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Which of these is a legitimate monitoring method?</a:t>
            </a:r>
            <a:endParaRPr lang="en-US" sz="1500" dirty="0"/>
          </a:p>
        </p:txBody>
      </p:sp>
      <p:sp>
        <p:nvSpPr>
          <p:cNvPr id="14" name="Text 11"/>
          <p:cNvSpPr/>
          <p:nvPr/>
        </p:nvSpPr>
        <p:spPr>
          <a:xfrm>
            <a:off x="868680" y="28473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Reviewing work samples and reading reports, time sheets and logs</a:t>
            </a:r>
            <a:endParaRPr lang="en-US" sz="1300" dirty="0"/>
          </a:p>
        </p:txBody>
      </p:sp>
      <p:sp>
        <p:nvSpPr>
          <p:cNvPr id="15" name="Text 12"/>
          <p:cNvSpPr/>
          <p:nvPr/>
        </p:nvSpPr>
        <p:spPr>
          <a:xfrm>
            <a:off x="868680" y="30695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Guessing based on how friendly the employee is</a:t>
            </a:r>
            <a:endParaRPr lang="en-US" sz="1300" dirty="0"/>
          </a:p>
        </p:txBody>
      </p:sp>
      <p:sp>
        <p:nvSpPr>
          <p:cNvPr id="16" name="Text 13"/>
          <p:cNvSpPr/>
          <p:nvPr/>
        </p:nvSpPr>
        <p:spPr>
          <a:xfrm>
            <a:off x="868680" y="32918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Only listening to office gossip</a:t>
            </a:r>
            <a:endParaRPr lang="en-US" sz="1300" dirty="0"/>
          </a:p>
        </p:txBody>
      </p:sp>
      <p:sp>
        <p:nvSpPr>
          <p:cNvPr id="17" name="Text 14"/>
          <p:cNvSpPr/>
          <p:nvPr/>
        </p:nvSpPr>
        <p:spPr>
          <a:xfrm>
            <a:off x="868680" y="35140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Rating everyone the same to save time</a:t>
            </a:r>
            <a:endParaRPr lang="en-US" sz="1300" dirty="0"/>
          </a:p>
        </p:txBody>
      </p:sp>
      <p:sp>
        <p:nvSpPr>
          <p:cNvPr id="18" name="Text 15"/>
          <p:cNvSpPr/>
          <p:nvPr/>
        </p:nvSpPr>
        <p:spPr>
          <a:xfrm>
            <a:off x="502920" y="3900932"/>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Q3.</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When planning data collection for an element you must decide…</a:t>
            </a:r>
            <a:endParaRPr lang="en-US" sz="1500" dirty="0"/>
          </a:p>
        </p:txBody>
      </p:sp>
      <p:sp>
        <p:nvSpPr>
          <p:cNvPr id="19" name="Text 16"/>
          <p:cNvSpPr/>
          <p:nvPr/>
        </p:nvSpPr>
        <p:spPr>
          <a:xfrm>
            <a:off x="868680" y="418058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What data to collect, its source, sample or full data, when, by whom, and who receives it</a:t>
            </a:r>
            <a:endParaRPr lang="en-US" sz="1300" dirty="0"/>
          </a:p>
        </p:txBody>
      </p:sp>
      <p:sp>
        <p:nvSpPr>
          <p:cNvPr id="20" name="Text 17"/>
          <p:cNvSpPr/>
          <p:nvPr/>
        </p:nvSpPr>
        <p:spPr>
          <a:xfrm>
            <a:off x="868680" y="440283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Only the font of the report</a:t>
            </a:r>
            <a:endParaRPr lang="en-US" sz="1300" dirty="0"/>
          </a:p>
        </p:txBody>
      </p:sp>
      <p:sp>
        <p:nvSpPr>
          <p:cNvPr id="21" name="Text 18"/>
          <p:cNvSpPr/>
          <p:nvPr/>
        </p:nvSpPr>
        <p:spPr>
          <a:xfrm>
            <a:off x="868680" y="462508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Which employees to exclude from measurement</a:t>
            </a:r>
            <a:endParaRPr lang="en-US" sz="1300" dirty="0"/>
          </a:p>
        </p:txBody>
      </p:sp>
      <p:sp>
        <p:nvSpPr>
          <p:cNvPr id="22" name="Text 19"/>
          <p:cNvSpPr/>
          <p:nvPr/>
        </p:nvSpPr>
        <p:spPr>
          <a:xfrm>
            <a:off x="868680" y="484733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How to keep results secret from the employee</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31</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1</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Check yourself — Step 7 — monitor performance and give feedback …(continued)</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34440"/>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Q4.</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What is the difference between ongoing and spaced monitoring?</a:t>
            </a:r>
            <a:endParaRPr lang="en-US" sz="1500" dirty="0"/>
          </a:p>
        </p:txBody>
      </p:sp>
      <p:sp>
        <p:nvSpPr>
          <p:cNvPr id="9" name="Text 6"/>
          <p:cNvSpPr/>
          <p:nvPr/>
        </p:nvSpPr>
        <p:spPr>
          <a:xfrm>
            <a:off x="868680" y="15140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There is none</a:t>
            </a:r>
            <a:endParaRPr lang="en-US" sz="1300" dirty="0"/>
          </a:p>
        </p:txBody>
      </p:sp>
      <p:sp>
        <p:nvSpPr>
          <p:cNvPr id="10" name="Text 7"/>
          <p:cNvSpPr/>
          <p:nvPr/>
        </p:nvSpPr>
        <p:spPr>
          <a:xfrm>
            <a:off x="868680" y="1736344"/>
            <a:ext cx="10771632" cy="417068"/>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Ongoing monitoring catches problems early (e.g. daily/weekly checks); spaced monitoring runs monthly, quarterly or at random</a:t>
            </a:r>
            <a:endParaRPr lang="en-US" sz="1300" dirty="0"/>
          </a:p>
        </p:txBody>
      </p:sp>
      <p:sp>
        <p:nvSpPr>
          <p:cNvPr id="11" name="Text 8"/>
          <p:cNvSpPr/>
          <p:nvPr/>
        </p:nvSpPr>
        <p:spPr>
          <a:xfrm>
            <a:off x="868680" y="2153412"/>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Ongoing monitoring is illegal</a:t>
            </a:r>
            <a:endParaRPr lang="en-US" sz="1300" dirty="0"/>
          </a:p>
        </p:txBody>
      </p:sp>
      <p:sp>
        <p:nvSpPr>
          <p:cNvPr id="12" name="Text 9"/>
          <p:cNvSpPr/>
          <p:nvPr/>
        </p:nvSpPr>
        <p:spPr>
          <a:xfrm>
            <a:off x="868680" y="2375662"/>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Spaced monitoring only applies to managers</a:t>
            </a:r>
            <a:endParaRPr lang="en-US" sz="1300" dirty="0"/>
          </a:p>
        </p:txBody>
      </p:sp>
      <p:sp>
        <p:nvSpPr>
          <p:cNvPr id="13" name="Text 10"/>
          <p:cNvSpPr/>
          <p:nvPr/>
        </p:nvSpPr>
        <p:spPr>
          <a:xfrm>
            <a:off x="502920" y="2762504"/>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Q5.</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How should a new performance monitoring system reach the team?</a:t>
            </a:r>
            <a:endParaRPr lang="en-US" sz="1500" dirty="0"/>
          </a:p>
        </p:txBody>
      </p:sp>
      <p:sp>
        <p:nvSpPr>
          <p:cNvPr id="14" name="Text 11"/>
          <p:cNvSpPr/>
          <p:nvPr/>
        </p:nvSpPr>
        <p:spPr>
          <a:xfrm>
            <a:off x="868680" y="3042158"/>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Keep it secret so results stay 'natural'</a:t>
            </a:r>
            <a:endParaRPr lang="en-US" sz="1300" dirty="0"/>
          </a:p>
        </p:txBody>
      </p:sp>
      <p:sp>
        <p:nvSpPr>
          <p:cNvPr id="15" name="Text 12"/>
          <p:cNvSpPr/>
          <p:nvPr/>
        </p:nvSpPr>
        <p:spPr>
          <a:xfrm>
            <a:off x="868680" y="3264408"/>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Communicate it via meetings, email, notice boards, formal letters, induction and coaching</a:t>
            </a:r>
            <a:endParaRPr lang="en-US" sz="1300" dirty="0"/>
          </a:p>
        </p:txBody>
      </p:sp>
      <p:sp>
        <p:nvSpPr>
          <p:cNvPr id="16" name="Text 13"/>
          <p:cNvSpPr/>
          <p:nvPr/>
        </p:nvSpPr>
        <p:spPr>
          <a:xfrm>
            <a:off x="868680" y="3486658"/>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Only tell the best performers</a:t>
            </a:r>
            <a:endParaRPr lang="en-US" sz="1300" dirty="0"/>
          </a:p>
        </p:txBody>
      </p:sp>
      <p:sp>
        <p:nvSpPr>
          <p:cNvPr id="17" name="Text 14"/>
          <p:cNvSpPr/>
          <p:nvPr/>
        </p:nvSpPr>
        <p:spPr>
          <a:xfrm>
            <a:off x="868680" y="3708908"/>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Publish it after the first dismissals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32</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1</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360-degree (multi-rater) feedback</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07008"/>
            <a:ext cx="11183112" cy="504444"/>
          </a:xfrm>
          <a:prstGeom prst="rect">
            <a:avLst/>
          </a:prstGeom>
          <a:noFill/>
          <a:ln/>
        </p:spPr>
        <p:txBody>
          <a:bodyPr wrap="square" rtlCol="0" anchor="t"/>
          <a:lstStyle/>
          <a:p>
            <a:pPr indent="0" marL="0">
              <a:lnSpc>
                <a:spcPct val="112000"/>
              </a:lnSpc>
              <a:buNone/>
            </a:pPr>
            <a:r>
              <a:rPr lang="en-US" sz="1500" dirty="0">
                <a:solidFill>
                  <a:srgbClr val="6B7280"/>
                </a:solidFill>
                <a:latin typeface="Aptos" pitchFamily="34" charset="0"/>
                <a:ea typeface="Aptos" pitchFamily="34" charset="-122"/>
                <a:cs typeface="Aptos" pitchFamily="34" charset="-120"/>
              </a:rPr>
              <a:t>360-degree feedback — also known as multi-rater feedback — is employee development feedback from colleagues, peers and managers, plus self-assessment, and sometimes clients, volunteers or other stakeholders.</a:t>
            </a:r>
            <a:endParaRPr lang="en-US" sz="1500" dirty="0"/>
          </a:p>
        </p:txBody>
      </p:sp>
      <p:sp>
        <p:nvSpPr>
          <p:cNvPr id="9" name="Text 6"/>
          <p:cNvSpPr/>
          <p:nvPr/>
        </p:nvSpPr>
        <p:spPr>
          <a:xfrm>
            <a:off x="502920" y="1784604"/>
            <a:ext cx="11183112" cy="729234"/>
          </a:xfrm>
          <a:prstGeom prst="rect">
            <a:avLst/>
          </a:prstGeom>
          <a:noFill/>
          <a:ln/>
        </p:spPr>
        <p:txBody>
          <a:bodyPr wrap="square" rtlCol="0" anchor="t"/>
          <a:lstStyle/>
          <a:p>
            <a:pPr indent="0" marL="0">
              <a:lnSpc>
                <a:spcPct val="112000"/>
              </a:lnSpc>
              <a:buNone/>
            </a:pPr>
            <a:r>
              <a:rPr lang="en-US" sz="1500" dirty="0">
                <a:solidFill>
                  <a:srgbClr val="6B7280"/>
                </a:solidFill>
                <a:latin typeface="Aptos" pitchFamily="34" charset="0"/>
                <a:ea typeface="Aptos" pitchFamily="34" charset="-122"/>
                <a:cs typeface="Aptos" pitchFamily="34" charset="-120"/>
              </a:rPr>
              <a:t>Senior managers (including executive directors) assess others but often receive little feedback themselves — 360-degree feedback lets any individual understand how their effectiveness as an employee, manager or co-worker is viewed by others.</a:t>
            </a:r>
            <a:endParaRPr lang="en-US" sz="1500" dirty="0"/>
          </a:p>
        </p:txBody>
      </p:sp>
      <p:sp>
        <p:nvSpPr>
          <p:cNvPr id="10" name="Text 7"/>
          <p:cNvSpPr/>
          <p:nvPr/>
        </p:nvSpPr>
        <p:spPr>
          <a:xfrm>
            <a:off x="576072" y="2623566"/>
            <a:ext cx="11036808" cy="465328"/>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What it can achieve: a broad perspective of how the person is perceived and their impact on others — positive and negative.</a:t>
            </a:r>
            <a:endParaRPr lang="en-US" sz="1400" dirty="0"/>
          </a:p>
        </p:txBody>
      </p:sp>
      <p:sp>
        <p:nvSpPr>
          <p:cNvPr id="11" name="Text 8"/>
          <p:cNvSpPr/>
          <p:nvPr/>
        </p:nvSpPr>
        <p:spPr>
          <a:xfrm>
            <a:off x="576072" y="3152902"/>
            <a:ext cx="11036808" cy="465328"/>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It encourages open feedback that is perceived as more valid and objective, leading to acceptance of results and required actions.</a:t>
            </a:r>
            <a:endParaRPr lang="en-US" sz="1400" dirty="0"/>
          </a:p>
        </p:txBody>
      </p:sp>
      <p:sp>
        <p:nvSpPr>
          <p:cNvPr id="12" name="Text 9"/>
          <p:cNvSpPr/>
          <p:nvPr/>
        </p:nvSpPr>
        <p:spPr>
          <a:xfrm>
            <a:off x="576072" y="3682238"/>
            <a:ext cx="11036808" cy="465328"/>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It clarifies critical performance aspects, reinforces desired competencies and identifies strengths the organisation can use.</a:t>
            </a:r>
            <a:endParaRPr lang="en-US" sz="1400" dirty="0"/>
          </a:p>
        </p:txBody>
      </p:sp>
      <p:sp>
        <p:nvSpPr>
          <p:cNvPr id="13" name="Text 10"/>
          <p:cNvSpPr/>
          <p:nvPr/>
        </p:nvSpPr>
        <p:spPr>
          <a:xfrm>
            <a:off x="576072" y="4211574"/>
            <a:ext cx="11036808" cy="465328"/>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It supports continuous improvement and focuses the development agenda for the individual, team or whole organisation.</a:t>
            </a:r>
            <a:endParaRPr lang="en-US" sz="1400" dirty="0"/>
          </a:p>
        </p:txBody>
      </p:sp>
      <p:sp>
        <p:nvSpPr>
          <p:cNvPr id="14" name="Text 11"/>
          <p:cNvSpPr/>
          <p:nvPr/>
        </p:nvSpPr>
        <p:spPr>
          <a:xfrm>
            <a:off x="576072" y="4740910"/>
            <a:ext cx="11036808" cy="255524"/>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It exposes gaps between self-perception and the perception of the manager, peers or direct reports.</a:t>
            </a:r>
            <a:endParaRPr lang="en-US" sz="1400" dirty="0"/>
          </a:p>
        </p:txBody>
      </p:sp>
      <p:sp>
        <p:nvSpPr>
          <p:cNvPr id="15" name="Text 12"/>
          <p:cNvSpPr/>
          <p:nvPr/>
        </p:nvSpPr>
        <p:spPr>
          <a:xfrm>
            <a:off x="576072" y="5060442"/>
            <a:ext cx="11036808" cy="465328"/>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Feedback from many people in various job functions reduces discrimination (race, age, gender) and the 'horns and halo' effect, where a supervisor rates on the most recent interactions only.</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33</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1</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360-degree (multi-rater) feedback …(continued)</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76072" y="1207008"/>
            <a:ext cx="11036808" cy="675132"/>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Why organisations may NOT adopt it: multiple assessors cost organisational time; people may not be ready to give or receive honest feedback (some cultures avoid feedback to superiors); tying it to pay makes people hesitant to participate; and written, anonymous feedback cannot be queried for clarification.</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34</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1</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Check yourself — 360-degree (multi-rater) feedback</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34440"/>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Q1.</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What is 360-degree feedback?</a:t>
            </a:r>
            <a:endParaRPr lang="en-US" sz="1500" dirty="0"/>
          </a:p>
        </p:txBody>
      </p:sp>
      <p:sp>
        <p:nvSpPr>
          <p:cNvPr id="9" name="Text 6"/>
          <p:cNvSpPr/>
          <p:nvPr/>
        </p:nvSpPr>
        <p:spPr>
          <a:xfrm>
            <a:off x="868680" y="15140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Feedback given while walking in a circle</a:t>
            </a:r>
            <a:endParaRPr lang="en-US" sz="1300" dirty="0"/>
          </a:p>
        </p:txBody>
      </p:sp>
      <p:sp>
        <p:nvSpPr>
          <p:cNvPr id="10" name="Text 7"/>
          <p:cNvSpPr/>
          <p:nvPr/>
        </p:nvSpPr>
        <p:spPr>
          <a:xfrm>
            <a:off x="868680" y="17363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Feedback from colleagues, peers, managers, self-assessment and sometimes clients</a:t>
            </a:r>
            <a:endParaRPr lang="en-US" sz="1300" dirty="0"/>
          </a:p>
        </p:txBody>
      </p:sp>
      <p:sp>
        <p:nvSpPr>
          <p:cNvPr id="11" name="Text 8"/>
          <p:cNvSpPr/>
          <p:nvPr/>
        </p:nvSpPr>
        <p:spPr>
          <a:xfrm>
            <a:off x="868680" y="19585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Feedback given once every 360 days</a:t>
            </a:r>
            <a:endParaRPr lang="en-US" sz="1300" dirty="0"/>
          </a:p>
        </p:txBody>
      </p:sp>
      <p:sp>
        <p:nvSpPr>
          <p:cNvPr id="12" name="Text 9"/>
          <p:cNvSpPr/>
          <p:nvPr/>
        </p:nvSpPr>
        <p:spPr>
          <a:xfrm>
            <a:off x="868680" y="21808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Feedback only from the CEO</a:t>
            </a:r>
            <a:endParaRPr lang="en-US" sz="1300" dirty="0"/>
          </a:p>
        </p:txBody>
      </p:sp>
      <p:sp>
        <p:nvSpPr>
          <p:cNvPr id="13" name="Text 10"/>
          <p:cNvSpPr/>
          <p:nvPr/>
        </p:nvSpPr>
        <p:spPr>
          <a:xfrm>
            <a:off x="502920" y="2567686"/>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Q2.</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Why is 360-degree feedback especially useful for SENIOR managers?</a:t>
            </a:r>
            <a:endParaRPr lang="en-US" sz="1500" dirty="0"/>
          </a:p>
        </p:txBody>
      </p:sp>
      <p:sp>
        <p:nvSpPr>
          <p:cNvPr id="14" name="Text 11"/>
          <p:cNvSpPr/>
          <p:nvPr/>
        </p:nvSpPr>
        <p:spPr>
          <a:xfrm>
            <a:off x="868680" y="28473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They asked for it first</a:t>
            </a:r>
            <a:endParaRPr lang="en-US" sz="1300" dirty="0"/>
          </a:p>
        </p:txBody>
      </p:sp>
      <p:sp>
        <p:nvSpPr>
          <p:cNvPr id="15" name="Text 12"/>
          <p:cNvSpPr/>
          <p:nvPr/>
        </p:nvSpPr>
        <p:spPr>
          <a:xfrm>
            <a:off x="868680" y="30695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They assess others but often receive little adequate feedback themselves</a:t>
            </a:r>
            <a:endParaRPr lang="en-US" sz="1300" dirty="0"/>
          </a:p>
        </p:txBody>
      </p:sp>
      <p:sp>
        <p:nvSpPr>
          <p:cNvPr id="16" name="Text 13"/>
          <p:cNvSpPr/>
          <p:nvPr/>
        </p:nvSpPr>
        <p:spPr>
          <a:xfrm>
            <a:off x="868680" y="32918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It replaces their performance bonus</a:t>
            </a:r>
            <a:endParaRPr lang="en-US" sz="1300" dirty="0"/>
          </a:p>
        </p:txBody>
      </p:sp>
      <p:sp>
        <p:nvSpPr>
          <p:cNvPr id="17" name="Text 14"/>
          <p:cNvSpPr/>
          <p:nvPr/>
        </p:nvSpPr>
        <p:spPr>
          <a:xfrm>
            <a:off x="868680" y="35140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It shortens their working day</a:t>
            </a:r>
            <a:endParaRPr lang="en-US" sz="1300" dirty="0"/>
          </a:p>
        </p:txBody>
      </p:sp>
      <p:sp>
        <p:nvSpPr>
          <p:cNvPr id="18" name="Text 15"/>
          <p:cNvSpPr/>
          <p:nvPr/>
        </p:nvSpPr>
        <p:spPr>
          <a:xfrm>
            <a:off x="502920" y="3900932"/>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Q3.</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What is the 'horns and halo' effect that 360° feedback reduces?</a:t>
            </a:r>
            <a:endParaRPr lang="en-US" sz="1500" dirty="0"/>
          </a:p>
        </p:txBody>
      </p:sp>
      <p:sp>
        <p:nvSpPr>
          <p:cNvPr id="19" name="Text 16"/>
          <p:cNvSpPr/>
          <p:nvPr/>
        </p:nvSpPr>
        <p:spPr>
          <a:xfrm>
            <a:off x="868680" y="418058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Decorating the office at year-end</a:t>
            </a:r>
            <a:endParaRPr lang="en-US" sz="1300" dirty="0"/>
          </a:p>
        </p:txBody>
      </p:sp>
      <p:sp>
        <p:nvSpPr>
          <p:cNvPr id="20" name="Text 17"/>
          <p:cNvSpPr/>
          <p:nvPr/>
        </p:nvSpPr>
        <p:spPr>
          <a:xfrm>
            <a:off x="868680" y="440283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A supervisor rating performance based on the most recent interactions with the employee</a:t>
            </a:r>
            <a:endParaRPr lang="en-US" sz="1300" dirty="0"/>
          </a:p>
        </p:txBody>
      </p:sp>
      <p:sp>
        <p:nvSpPr>
          <p:cNvPr id="21" name="Text 18"/>
          <p:cNvSpPr/>
          <p:nvPr/>
        </p:nvSpPr>
        <p:spPr>
          <a:xfrm>
            <a:off x="868680" y="462508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Employees wearing headphones at work</a:t>
            </a:r>
            <a:endParaRPr lang="en-US" sz="1300" dirty="0"/>
          </a:p>
        </p:txBody>
      </p:sp>
      <p:sp>
        <p:nvSpPr>
          <p:cNvPr id="22" name="Text 19"/>
          <p:cNvSpPr/>
          <p:nvPr/>
        </p:nvSpPr>
        <p:spPr>
          <a:xfrm>
            <a:off x="868680" y="484733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Rating everyone identically</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35</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1</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Check yourself — 360-degree (multi-rater) feedback …(continued)</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34440"/>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Q4.</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Which gap does 360-degree feedback expose?</a:t>
            </a:r>
            <a:endParaRPr lang="en-US" sz="1500" dirty="0"/>
          </a:p>
        </p:txBody>
      </p:sp>
      <p:sp>
        <p:nvSpPr>
          <p:cNvPr id="9" name="Text 6"/>
          <p:cNvSpPr/>
          <p:nvPr/>
        </p:nvSpPr>
        <p:spPr>
          <a:xfrm>
            <a:off x="868680" y="15140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The gap between the branch and head office</a:t>
            </a:r>
            <a:endParaRPr lang="en-US" sz="1300" dirty="0"/>
          </a:p>
        </p:txBody>
      </p:sp>
      <p:sp>
        <p:nvSpPr>
          <p:cNvPr id="10" name="Text 7"/>
          <p:cNvSpPr/>
          <p:nvPr/>
        </p:nvSpPr>
        <p:spPr>
          <a:xfrm>
            <a:off x="868680" y="17363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The gap between self-perception and how the manager, peers or direct reports perceive the person</a:t>
            </a:r>
            <a:endParaRPr lang="en-US" sz="1300" dirty="0"/>
          </a:p>
        </p:txBody>
      </p:sp>
      <p:sp>
        <p:nvSpPr>
          <p:cNvPr id="11" name="Text 8"/>
          <p:cNvSpPr/>
          <p:nvPr/>
        </p:nvSpPr>
        <p:spPr>
          <a:xfrm>
            <a:off x="868680" y="19585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The gap in the parking lot</a:t>
            </a:r>
            <a:endParaRPr lang="en-US" sz="1300" dirty="0"/>
          </a:p>
        </p:txBody>
      </p:sp>
      <p:sp>
        <p:nvSpPr>
          <p:cNvPr id="12" name="Text 9"/>
          <p:cNvSpPr/>
          <p:nvPr/>
        </p:nvSpPr>
        <p:spPr>
          <a:xfrm>
            <a:off x="868680" y="21808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The gap between departments' budgets</a:t>
            </a:r>
            <a:endParaRPr lang="en-US" sz="1300" dirty="0"/>
          </a:p>
        </p:txBody>
      </p:sp>
      <p:sp>
        <p:nvSpPr>
          <p:cNvPr id="13" name="Text 10"/>
          <p:cNvSpPr/>
          <p:nvPr/>
        </p:nvSpPr>
        <p:spPr>
          <a:xfrm>
            <a:off x="502920" y="2567686"/>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Q5.</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Why might an organisation choose NOT to use 360-degree feedback?</a:t>
            </a:r>
            <a:endParaRPr lang="en-US" sz="1500" dirty="0"/>
          </a:p>
        </p:txBody>
      </p:sp>
      <p:sp>
        <p:nvSpPr>
          <p:cNvPr id="14" name="Text 11"/>
          <p:cNvSpPr/>
          <p:nvPr/>
        </p:nvSpPr>
        <p:spPr>
          <a:xfrm>
            <a:off x="868680" y="28473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It gives too little information</a:t>
            </a:r>
            <a:endParaRPr lang="en-US" sz="1300" dirty="0"/>
          </a:p>
        </p:txBody>
      </p:sp>
      <p:sp>
        <p:nvSpPr>
          <p:cNvPr id="15" name="Text 12"/>
          <p:cNvSpPr/>
          <p:nvPr/>
        </p:nvSpPr>
        <p:spPr>
          <a:xfrm>
            <a:off x="868680" y="30695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It is always inaccurate</a:t>
            </a:r>
            <a:endParaRPr lang="en-US" sz="1300" dirty="0"/>
          </a:p>
        </p:txBody>
      </p:sp>
      <p:sp>
        <p:nvSpPr>
          <p:cNvPr id="16" name="Text 13"/>
          <p:cNvSpPr/>
          <p:nvPr/>
        </p:nvSpPr>
        <p:spPr>
          <a:xfrm>
            <a:off x="868680" y="32918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It takes organisational time, people may fear honest feedback, and anonymous written feedback cannot be queried</a:t>
            </a:r>
            <a:endParaRPr lang="en-US" sz="1300" dirty="0"/>
          </a:p>
        </p:txBody>
      </p:sp>
      <p:sp>
        <p:nvSpPr>
          <p:cNvPr id="17" name="Text 14"/>
          <p:cNvSpPr/>
          <p:nvPr/>
        </p:nvSpPr>
        <p:spPr>
          <a:xfrm>
            <a:off x="868680" y="35140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It is illegal in most industries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36</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1</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Step 8 — check the plan, involve the team, record the standards</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07008"/>
            <a:ext cx="11183112" cy="1628394"/>
          </a:xfrm>
          <a:prstGeom prst="rect">
            <a:avLst/>
          </a:prstGeom>
          <a:noFill/>
          <a:ln/>
        </p:spPr>
        <p:txBody>
          <a:bodyPr wrap="square" rtlCol="0" anchor="t"/>
          <a:lstStyle/>
          <a:p>
            <a:pPr indent="0" marL="0">
              <a:lnSpc>
                <a:spcPct val="112000"/>
              </a:lnSpc>
              <a:buNone/>
            </a:pPr>
            <a:r>
              <a:rPr lang="en-US" sz="1500" dirty="0">
                <a:solidFill>
                  <a:srgbClr val="6B7280"/>
                </a:solidFill>
                <a:latin typeface="Aptos" pitchFamily="34" charset="0"/>
                <a:ea typeface="Aptos" pitchFamily="34" charset="-122"/>
                <a:cs typeface="Aptos" pitchFamily="34" charset="-120"/>
              </a:rPr>
              <a:t>Once the performance plan is developed, check your work against this list: are the critical elements truly critical — does failure mean overall performance is unacceptable? Is the range of acceptable performance clear, quantifiable, observable and verifiable? Are the standards attainable and reasonable, yet challenging enough to require real effort? Are they fair and comparable to similar positions, with some margin of error? Are they applicable — can the appraiser actually use them, and manage the data collected? Will work units and employees understand what is required? Are elements and standards flexible enough to adapt to changed resources or objectives? And if your programme appraises above Fully Successful, is that standard surpassable?</a:t>
            </a:r>
            <a:endParaRPr lang="en-US" sz="1500" dirty="0"/>
          </a:p>
        </p:txBody>
      </p:sp>
      <p:sp>
        <p:nvSpPr>
          <p:cNvPr id="9" name="Text 6"/>
          <p:cNvSpPr/>
          <p:nvPr/>
        </p:nvSpPr>
        <p:spPr>
          <a:xfrm>
            <a:off x="502920" y="2908554"/>
            <a:ext cx="11183112" cy="504444"/>
          </a:xfrm>
          <a:prstGeom prst="rect">
            <a:avLst/>
          </a:prstGeom>
          <a:noFill/>
          <a:ln/>
        </p:spPr>
        <p:txBody>
          <a:bodyPr wrap="square" rtlCol="0" anchor="t"/>
          <a:lstStyle/>
          <a:p>
            <a:pPr indent="0" marL="0">
              <a:lnSpc>
                <a:spcPct val="112000"/>
              </a:lnSpc>
              <a:buNone/>
            </a:pPr>
            <a:r>
              <a:rPr lang="en-US" sz="1500" dirty="0">
                <a:solidFill>
                  <a:srgbClr val="6B7280"/>
                </a:solidFill>
                <a:latin typeface="Aptos" pitchFamily="34" charset="0"/>
                <a:ea typeface="Aptos" pitchFamily="34" charset="-122"/>
                <a:cs typeface="Aptos" pitchFamily="34" charset="-120"/>
              </a:rPr>
              <a:t>The process of setting standards should include those responsible for meeting them — well-selected, trained employees know more about what is achievable than anyone else.</a:t>
            </a:r>
            <a:endParaRPr lang="en-US" sz="1500" dirty="0"/>
          </a:p>
        </p:txBody>
      </p:sp>
      <p:sp>
        <p:nvSpPr>
          <p:cNvPr id="10" name="Text 7"/>
          <p:cNvSpPr/>
          <p:nvPr/>
        </p:nvSpPr>
        <p:spPr>
          <a:xfrm>
            <a:off x="576072" y="3522726"/>
            <a:ext cx="11036808" cy="255524"/>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After finalising the standards, record and document them properly — in the format the organisation specifies.</a:t>
            </a:r>
            <a:endParaRPr lang="en-US" sz="1400" dirty="0"/>
          </a:p>
        </p:txBody>
      </p:sp>
      <p:sp>
        <p:nvSpPr>
          <p:cNvPr id="11" name="Text 8"/>
          <p:cNvSpPr/>
          <p:nvPr/>
        </p:nvSpPr>
        <p:spPr>
          <a:xfrm>
            <a:off x="576072" y="3842258"/>
            <a:ext cx="11036808" cy="255524"/>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Confidentiality of performance standards must be adhered to, in line with organisational policies and procedures.</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37</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1</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Step 8 — check the plan, involve the team, record the standards …(continued)</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02920" y="1207008"/>
          <a:ext cx="11183112" cy="914400"/>
        </p:xfrm>
        <a:graphic>
          <a:graphicData uri="http://schemas.openxmlformats.org/drawingml/2006/table">
            <a:tbl>
              <a:tblPr/>
              <a:tblGrid>
                <a:gridCol w="5591556"/>
                <a:gridCol w="5591556"/>
              </a:tblGrid>
              <a:tr h="365760">
                <a:tc>
                  <a:txBody>
                    <a:bodyPr/>
                    <a:lstStyle/>
                    <a:p>
                      <a:pPr indent="0" marL="0">
                        <a:buNone/>
                      </a:pPr>
                      <a:r>
                        <a:rPr lang="en-US" sz="1300" b="1" dirty="0">
                          <a:solidFill>
                            <a:srgbClr val="FFFFFF"/>
                          </a:solidFill>
                          <a:latin typeface="Aptos Display" pitchFamily="34" charset="0"/>
                          <a:ea typeface="Aptos Display" pitchFamily="34" charset="-122"/>
                          <a:cs typeface="Aptos Display" pitchFamily="34" charset="-120"/>
                        </a:rPr>
                        <a:t>Team member</a:t>
                      </a:r>
                      <a:endParaRPr lang="en-US" sz="1300" dirty="0">
                        <a:latin typeface="Aptos Display" charset="0"/>
                        <a:ea typeface="Aptos Display" charset="0"/>
                        <a:cs typeface="Aptos Display"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c>
                  <a:txBody>
                    <a:bodyPr/>
                    <a:lstStyle/>
                    <a:p>
                      <a:pPr indent="0" marL="0">
                        <a:buNone/>
                      </a:pPr>
                      <a:r>
                        <a:rPr lang="en-US" sz="1300" b="1" dirty="0">
                          <a:solidFill>
                            <a:srgbClr val="FFFFFF"/>
                          </a:solidFill>
                          <a:latin typeface="Aptos Display" pitchFamily="34" charset="0"/>
                          <a:ea typeface="Aptos Display" pitchFamily="34" charset="-122"/>
                          <a:cs typeface="Aptos Display" pitchFamily="34" charset="-120"/>
                        </a:rPr>
                        <a:t>Supervisor</a:t>
                      </a:r>
                      <a:endParaRPr lang="en-US" sz="1300" dirty="0">
                        <a:latin typeface="Aptos Display" charset="0"/>
                        <a:ea typeface="Aptos Display" charset="0"/>
                        <a:cs typeface="Aptos Display"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0F6CBD"/>
                    </a:solidFill>
                  </a:tcPr>
                </a:tc>
              </a:tr>
              <a:tr h="365760">
                <a:tc>
                  <a:txBody>
                    <a:bodyPr/>
                    <a:lstStyle/>
                    <a:p>
                      <a:pPr indent="0" marL="0">
                        <a:buNone/>
                      </a:pPr>
                      <a:r>
                        <a:rPr lang="en-US" sz="1300" dirty="0">
                          <a:solidFill>
                            <a:srgbClr val="002050"/>
                          </a:solidFill>
                          <a:latin typeface="Aptos" pitchFamily="34" charset="0"/>
                          <a:ea typeface="Aptos" pitchFamily="34" charset="-122"/>
                          <a:cs typeface="Aptos" pitchFamily="34" charset="-120"/>
                        </a:rPr>
                        <a:t>Helps establish performance goals and standards — a 'self-contract' for achievement and a commitment to deliver a result for the team</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300" dirty="0">
                          <a:solidFill>
                            <a:srgbClr val="002050"/>
                          </a:solidFill>
                          <a:latin typeface="Aptos" pitchFamily="34" charset="0"/>
                          <a:ea typeface="Aptos" pitchFamily="34" charset="-122"/>
                          <a:cs typeface="Aptos" pitchFamily="34" charset="-120"/>
                        </a:rPr>
                        <a:t>Ensures team goals are achievable but challenging enough to meet organisational needs and give a sense of accomplishment</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002050"/>
                          </a:solidFill>
                          <a:latin typeface="Aptos" pitchFamily="34" charset="0"/>
                          <a:ea typeface="Aptos" pitchFamily="34" charset="-122"/>
                          <a:cs typeface="Aptos" pitchFamily="34" charset="-120"/>
                        </a:rPr>
                        <a:t>Develops methods to measure results and checkpoints for control purposes</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300" dirty="0">
                          <a:solidFill>
                            <a:srgbClr val="002050"/>
                          </a:solidFill>
                          <a:latin typeface="Aptos" pitchFamily="34" charset="0"/>
                          <a:ea typeface="Aptos" pitchFamily="34" charset="-122"/>
                          <a:cs typeface="Aptos" pitchFamily="34" charset="-120"/>
                        </a:rPr>
                        <a:t>Helps balance the complexity of measures and controls with the value received</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r h="365760">
                <a:tc>
                  <a:txBody>
                    <a:bodyPr/>
                    <a:lstStyle/>
                    <a:p>
                      <a:pPr indent="0" marL="0">
                        <a:buNone/>
                      </a:pPr>
                      <a:r>
                        <a:rPr lang="en-US" sz="1300" dirty="0">
                          <a:solidFill>
                            <a:srgbClr val="002050"/>
                          </a:solidFill>
                          <a:latin typeface="Aptos" pitchFamily="34" charset="0"/>
                          <a:ea typeface="Aptos" pitchFamily="34" charset="-122"/>
                          <a:cs typeface="Aptos" pitchFamily="34" charset="-120"/>
                        </a:rPr>
                        <a:t>Outlines the action required to accomplish goals and standards</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c>
                  <a:txBody>
                    <a:bodyPr/>
                    <a:lstStyle/>
                    <a:p>
                      <a:pPr indent="0" marL="0">
                        <a:buNone/>
                      </a:pPr>
                      <a:r>
                        <a:rPr lang="en-US" sz="1300" dirty="0">
                          <a:solidFill>
                            <a:srgbClr val="002050"/>
                          </a:solidFill>
                          <a:latin typeface="Aptos" pitchFamily="34" charset="0"/>
                          <a:ea typeface="Aptos" pitchFamily="34" charset="-122"/>
                          <a:cs typeface="Aptos" pitchFamily="34" charset="-120"/>
                        </a:rPr>
                        <a:t>Participates with the team to test the action plan's validity against alternatives</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002050"/>
                          </a:solidFill>
                          <a:latin typeface="Aptos" pitchFamily="34" charset="0"/>
                          <a:ea typeface="Aptos" pitchFamily="34" charset="-122"/>
                          <a:cs typeface="Aptos" pitchFamily="34" charset="-120"/>
                        </a:rPr>
                        <a:t>Reports progress as work is performed; seeks guidance and assistance when needed; adjusts the plan as required</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c>
                  <a:txBody>
                    <a:bodyPr/>
                    <a:lstStyle/>
                    <a:p>
                      <a:pPr indent="0" marL="0">
                        <a:buNone/>
                      </a:pPr>
                      <a:r>
                        <a:rPr lang="en-US" sz="1300" dirty="0">
                          <a:solidFill>
                            <a:srgbClr val="002050"/>
                          </a:solidFill>
                          <a:latin typeface="Aptos" pitchFamily="34" charset="0"/>
                          <a:ea typeface="Aptos" pitchFamily="34" charset="-122"/>
                          <a:cs typeface="Aptos" pitchFamily="34" charset="-120"/>
                        </a:rPr>
                        <a:t>Follows the progress of the work; reinforces achievement and assists in problem solving; ensures targets are met or modified if circumstances indicate</a:t>
                      </a:r>
                      <a:endParaRPr lang="en-US" sz="1300" dirty="0">
                        <a:latin typeface="Aptos" charset="0"/>
                        <a:ea typeface="Aptos" charset="0"/>
                        <a:cs typeface="Aptos" charset="0"/>
                      </a:endParaRPr>
                    </a:p>
                  </a:txBody>
                  <a:tcPr marL="64008" marR="64008" marT="64008" marB="64008" anchor="ctr">
                    <a:lnL w="9525" cap="flat" cmpd="sng" algn="ctr">
                      <a:solidFill>
                        <a:srgbClr val="D5E3F2"/>
                      </a:solidFill>
                      <a:prstDash val="solid"/>
                      <a:round/>
                      <a:headEnd type="none" w="med" len="med"/>
                      <a:tailEnd type="none" w="med" len="med"/>
                    </a:lnL>
                    <a:lnR w="9525" cap="flat" cmpd="sng" algn="ctr">
                      <a:solidFill>
                        <a:srgbClr val="D5E3F2"/>
                      </a:solidFill>
                      <a:prstDash val="solid"/>
                      <a:round/>
                      <a:headEnd type="none" w="med" len="med"/>
                      <a:tailEnd type="none" w="med" len="med"/>
                    </a:lnR>
                    <a:lnT w="9525" cap="flat" cmpd="sng" algn="ctr">
                      <a:solidFill>
                        <a:srgbClr val="D5E3F2"/>
                      </a:solidFill>
                      <a:prstDash val="solid"/>
                      <a:round/>
                      <a:headEnd type="none" w="med" len="med"/>
                      <a:tailEnd type="none" w="med" len="med"/>
                    </a:lnT>
                    <a:lnB w="9525" cap="flat" cmpd="sng" algn="ctr">
                      <a:solidFill>
                        <a:srgbClr val="D5E3F2"/>
                      </a:solidFill>
                      <a:prstDash val="solid"/>
                      <a:round/>
                      <a:headEnd type="none" w="med" len="med"/>
                      <a:tailEnd type="none" w="med" len="med"/>
                    </a:lnB>
                    <a:solidFill>
                      <a:srgbClr val="EAF4FF"/>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38</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1</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Check yourself — Step 8 — check the plan, involve the team, record the standards</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34440"/>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Q1.</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What is the purpose of step 8?</a:t>
            </a:r>
            <a:endParaRPr lang="en-US" sz="1500" dirty="0"/>
          </a:p>
        </p:txBody>
      </p:sp>
      <p:sp>
        <p:nvSpPr>
          <p:cNvPr id="9" name="Text 6"/>
          <p:cNvSpPr/>
          <p:nvPr/>
        </p:nvSpPr>
        <p:spPr>
          <a:xfrm>
            <a:off x="868680" y="15140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To start the process over</a:t>
            </a:r>
            <a:endParaRPr lang="en-US" sz="1300" dirty="0"/>
          </a:p>
        </p:txBody>
      </p:sp>
      <p:sp>
        <p:nvSpPr>
          <p:cNvPr id="10" name="Text 7"/>
          <p:cNvSpPr/>
          <p:nvPr/>
        </p:nvSpPr>
        <p:spPr>
          <a:xfrm>
            <a:off x="868680" y="17363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To check that the elements and standards are effective and meet regulatory requirements</a:t>
            </a:r>
            <a:endParaRPr lang="en-US" sz="1300" dirty="0"/>
          </a:p>
        </p:txBody>
      </p:sp>
      <p:sp>
        <p:nvSpPr>
          <p:cNvPr id="11" name="Text 8"/>
          <p:cNvSpPr/>
          <p:nvPr/>
        </p:nvSpPr>
        <p:spPr>
          <a:xfrm>
            <a:off x="868680" y="19585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To delete the performance plan</a:t>
            </a:r>
            <a:endParaRPr lang="en-US" sz="1300" dirty="0"/>
          </a:p>
        </p:txBody>
      </p:sp>
      <p:sp>
        <p:nvSpPr>
          <p:cNvPr id="12" name="Text 9"/>
          <p:cNvSpPr/>
          <p:nvPr/>
        </p:nvSpPr>
        <p:spPr>
          <a:xfrm>
            <a:off x="868680" y="21808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To set the year-end party date</a:t>
            </a:r>
            <a:endParaRPr lang="en-US" sz="1300" dirty="0"/>
          </a:p>
        </p:txBody>
      </p:sp>
      <p:sp>
        <p:nvSpPr>
          <p:cNvPr id="13" name="Text 10"/>
          <p:cNvSpPr/>
          <p:nvPr/>
        </p:nvSpPr>
        <p:spPr>
          <a:xfrm>
            <a:off x="502920" y="2567686"/>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Q2.</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Why should team members participate in setting the standards they must meet?</a:t>
            </a:r>
            <a:endParaRPr lang="en-US" sz="1500" dirty="0"/>
          </a:p>
        </p:txBody>
      </p:sp>
      <p:sp>
        <p:nvSpPr>
          <p:cNvPr id="14" name="Text 11"/>
          <p:cNvSpPr/>
          <p:nvPr/>
        </p:nvSpPr>
        <p:spPr>
          <a:xfrm>
            <a:off x="868680" y="28473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So they can make the standards easy</a:t>
            </a:r>
            <a:endParaRPr lang="en-US" sz="1300" dirty="0"/>
          </a:p>
        </p:txBody>
      </p:sp>
      <p:sp>
        <p:nvSpPr>
          <p:cNvPr id="15" name="Text 12"/>
          <p:cNvSpPr/>
          <p:nvPr/>
        </p:nvSpPr>
        <p:spPr>
          <a:xfrm>
            <a:off x="868680" y="30695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Well-selected, trained employees know more about what is achievable than anyone else</a:t>
            </a:r>
            <a:endParaRPr lang="en-US" sz="1300" dirty="0"/>
          </a:p>
        </p:txBody>
      </p:sp>
      <p:sp>
        <p:nvSpPr>
          <p:cNvPr id="16" name="Text 13"/>
          <p:cNvSpPr/>
          <p:nvPr/>
        </p:nvSpPr>
        <p:spPr>
          <a:xfrm>
            <a:off x="868680" y="32918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Because the supervisor is too busy</a:t>
            </a:r>
            <a:endParaRPr lang="en-US" sz="1300" dirty="0"/>
          </a:p>
        </p:txBody>
      </p:sp>
      <p:sp>
        <p:nvSpPr>
          <p:cNvPr id="17" name="Text 14"/>
          <p:cNvSpPr/>
          <p:nvPr/>
        </p:nvSpPr>
        <p:spPr>
          <a:xfrm>
            <a:off x="868680" y="35140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It is only a courtesy with no real value</a:t>
            </a:r>
            <a:endParaRPr lang="en-US" sz="1300" dirty="0"/>
          </a:p>
        </p:txBody>
      </p:sp>
      <p:sp>
        <p:nvSpPr>
          <p:cNvPr id="18" name="Text 15"/>
          <p:cNvSpPr/>
          <p:nvPr/>
        </p:nvSpPr>
        <p:spPr>
          <a:xfrm>
            <a:off x="502920" y="3900932"/>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Q3.</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Which is a TEAM MEMBER role in standard-setting?</a:t>
            </a:r>
            <a:endParaRPr lang="en-US" sz="1500" dirty="0"/>
          </a:p>
        </p:txBody>
      </p:sp>
      <p:sp>
        <p:nvSpPr>
          <p:cNvPr id="19" name="Text 16"/>
          <p:cNvSpPr/>
          <p:nvPr/>
        </p:nvSpPr>
        <p:spPr>
          <a:xfrm>
            <a:off x="868680" y="418058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Ensures team goals meet organisational needs</a:t>
            </a:r>
            <a:endParaRPr lang="en-US" sz="1300" dirty="0"/>
          </a:p>
        </p:txBody>
      </p:sp>
      <p:sp>
        <p:nvSpPr>
          <p:cNvPr id="20" name="Text 17"/>
          <p:cNvSpPr/>
          <p:nvPr/>
        </p:nvSpPr>
        <p:spPr>
          <a:xfrm>
            <a:off x="868680" y="440283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Helps establish goals and standards, develops measures, outlines actions and reports progress</a:t>
            </a:r>
            <a:endParaRPr lang="en-US" sz="1300" dirty="0"/>
          </a:p>
        </p:txBody>
      </p:sp>
      <p:sp>
        <p:nvSpPr>
          <p:cNvPr id="21" name="Text 18"/>
          <p:cNvSpPr/>
          <p:nvPr/>
        </p:nvSpPr>
        <p:spPr>
          <a:xfrm>
            <a:off x="868680" y="462508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Balances measures and controls with value received</a:t>
            </a:r>
            <a:endParaRPr lang="en-US" sz="1300" dirty="0"/>
          </a:p>
        </p:txBody>
      </p:sp>
      <p:sp>
        <p:nvSpPr>
          <p:cNvPr id="22" name="Text 19"/>
          <p:cNvSpPr/>
          <p:nvPr/>
        </p:nvSpPr>
        <p:spPr>
          <a:xfrm>
            <a:off x="868680" y="484733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Follows progress and reinforces achievement</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39</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1</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Check yourself — Step 8 — check the plan, involve the team, record the standards …(continued)</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34440"/>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Q4.</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Which is a SUPERVISOR role in standard-setting?</a:t>
            </a:r>
            <a:endParaRPr lang="en-US" sz="1500" dirty="0"/>
          </a:p>
        </p:txBody>
      </p:sp>
      <p:sp>
        <p:nvSpPr>
          <p:cNvPr id="9" name="Text 6"/>
          <p:cNvSpPr/>
          <p:nvPr/>
        </p:nvSpPr>
        <p:spPr>
          <a:xfrm>
            <a:off x="868680" y="15140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Signs a self-contract for personal achievement</a:t>
            </a:r>
            <a:endParaRPr lang="en-US" sz="1300" dirty="0"/>
          </a:p>
        </p:txBody>
      </p:sp>
      <p:sp>
        <p:nvSpPr>
          <p:cNvPr id="10" name="Text 7"/>
          <p:cNvSpPr/>
          <p:nvPr/>
        </p:nvSpPr>
        <p:spPr>
          <a:xfrm>
            <a:off x="868680" y="17363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Reports own progress weekly</a:t>
            </a:r>
            <a:endParaRPr lang="en-US" sz="1300" dirty="0"/>
          </a:p>
        </p:txBody>
      </p:sp>
      <p:sp>
        <p:nvSpPr>
          <p:cNvPr id="11" name="Text 8"/>
          <p:cNvSpPr/>
          <p:nvPr/>
        </p:nvSpPr>
        <p:spPr>
          <a:xfrm>
            <a:off x="868680" y="19585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Ensures targets are met — or modified if circumstances so indicate</a:t>
            </a:r>
            <a:endParaRPr lang="en-US" sz="1300" dirty="0"/>
          </a:p>
        </p:txBody>
      </p:sp>
      <p:sp>
        <p:nvSpPr>
          <p:cNvPr id="12" name="Text 9"/>
          <p:cNvSpPr/>
          <p:nvPr/>
        </p:nvSpPr>
        <p:spPr>
          <a:xfrm>
            <a:off x="868680" y="21808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Writes every standard alone</a:t>
            </a:r>
            <a:endParaRPr lang="en-US" sz="1300" dirty="0"/>
          </a:p>
        </p:txBody>
      </p:sp>
      <p:sp>
        <p:nvSpPr>
          <p:cNvPr id="13" name="Text 10"/>
          <p:cNvSpPr/>
          <p:nvPr/>
        </p:nvSpPr>
        <p:spPr>
          <a:xfrm>
            <a:off x="502920" y="2567686"/>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Q5.</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How must finalised performance standards be handled?</a:t>
            </a:r>
            <a:endParaRPr lang="en-US" sz="1500" dirty="0"/>
          </a:p>
        </p:txBody>
      </p:sp>
      <p:sp>
        <p:nvSpPr>
          <p:cNvPr id="14" name="Text 11"/>
          <p:cNvSpPr/>
          <p:nvPr/>
        </p:nvSpPr>
        <p:spPr>
          <a:xfrm>
            <a:off x="868680" y="28473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Posted on social media</a:t>
            </a:r>
            <a:endParaRPr lang="en-US" sz="1300" dirty="0"/>
          </a:p>
        </p:txBody>
      </p:sp>
      <p:sp>
        <p:nvSpPr>
          <p:cNvPr id="15" name="Text 12"/>
          <p:cNvSpPr/>
          <p:nvPr/>
        </p:nvSpPr>
        <p:spPr>
          <a:xfrm>
            <a:off x="868680" y="30695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Recorded in the organisation's specified format, filed, and kept confidential per policy</a:t>
            </a:r>
            <a:endParaRPr lang="en-US" sz="1300" dirty="0"/>
          </a:p>
        </p:txBody>
      </p:sp>
      <p:sp>
        <p:nvSpPr>
          <p:cNvPr id="16" name="Text 13"/>
          <p:cNvSpPr/>
          <p:nvPr/>
        </p:nvSpPr>
        <p:spPr>
          <a:xfrm>
            <a:off x="868680" y="32918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Memorised and never written down</a:t>
            </a:r>
            <a:endParaRPr lang="en-US" sz="1300" dirty="0"/>
          </a:p>
        </p:txBody>
      </p:sp>
      <p:sp>
        <p:nvSpPr>
          <p:cNvPr id="17" name="Text 14"/>
          <p:cNvSpPr/>
          <p:nvPr/>
        </p:nvSpPr>
        <p:spPr>
          <a:xfrm>
            <a:off x="868680" y="35140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Emailed to competitors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02050"/>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40</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Shape 3"/>
          <p:cNvSpPr/>
          <p:nvPr/>
        </p:nvSpPr>
        <p:spPr>
          <a:xfrm>
            <a:off x="0" y="0"/>
            <a:ext cx="12188952" cy="109728"/>
          </a:xfrm>
          <a:prstGeom prst="rect">
            <a:avLst/>
          </a:prstGeom>
          <a:solidFill>
            <a:srgbClr val="0F6CBD"/>
          </a:solidFill>
          <a:ln/>
        </p:spPr>
      </p:sp>
      <p:sp>
        <p:nvSpPr>
          <p:cNvPr id="6" name="Text 4"/>
          <p:cNvSpPr/>
          <p:nvPr/>
        </p:nvSpPr>
        <p:spPr>
          <a:xfrm>
            <a:off x="502920" y="1920240"/>
            <a:ext cx="11183112" cy="457200"/>
          </a:xfrm>
          <a:prstGeom prst="rect">
            <a:avLst/>
          </a:prstGeom>
          <a:noFill/>
          <a:ln/>
        </p:spPr>
        <p:txBody>
          <a:bodyPr wrap="square" rtlCol="0" anchor="ctr"/>
          <a:lstStyle/>
          <a:p>
            <a:pPr indent="0" marL="0">
              <a:buNone/>
            </a:pPr>
            <a:r>
              <a:rPr lang="en-US" sz="2000" b="1" spc="300" kern="0" dirty="0">
                <a:solidFill>
                  <a:srgbClr val="8CC2F0"/>
                </a:solidFill>
                <a:latin typeface="Aptos" pitchFamily="34" charset="0"/>
                <a:ea typeface="Aptos" pitchFamily="34" charset="-122"/>
                <a:cs typeface="Aptos" pitchFamily="34" charset="-120"/>
              </a:rPr>
              <a:t>LESSON 2</a:t>
            </a:r>
            <a:endParaRPr lang="en-US" sz="2000" dirty="0"/>
          </a:p>
        </p:txBody>
      </p:sp>
      <p:sp>
        <p:nvSpPr>
          <p:cNvPr id="7" name="Text 5"/>
          <p:cNvSpPr/>
          <p:nvPr/>
        </p:nvSpPr>
        <p:spPr>
          <a:xfrm>
            <a:off x="502920" y="2468880"/>
            <a:ext cx="10424160" cy="1554480"/>
          </a:xfrm>
          <a:prstGeom prst="rect">
            <a:avLst/>
          </a:prstGeom>
          <a:noFill/>
          <a:ln/>
        </p:spPr>
        <p:txBody>
          <a:bodyPr wrap="square" rtlCol="0" anchor="ctr"/>
          <a:lstStyle/>
          <a:p>
            <a:pPr indent="0" marL="0">
              <a:buNone/>
            </a:pPr>
            <a:r>
              <a:rPr lang="en-US" sz="4000" b="1" dirty="0">
                <a:solidFill>
                  <a:srgbClr val="FFFFFF"/>
                </a:solidFill>
                <a:latin typeface="Aptos Display" pitchFamily="34" charset="0"/>
                <a:ea typeface="Aptos Display" pitchFamily="34" charset="-122"/>
                <a:cs typeface="Aptos Display" pitchFamily="34" charset="-120"/>
              </a:rPr>
              <a:t>Prepare for a performance review of a team member</a:t>
            </a:r>
            <a:endParaRPr lang="en-US" sz="400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2920" y="1097280"/>
            <a:ext cx="640080" cy="640080"/>
          </a:xfrm>
          <a:prstGeom prst="rect">
            <a:avLst/>
          </a:prstGeom>
        </p:spPr>
      </p:pic>
      <p:sp>
        <p:nvSpPr>
          <p:cNvPr id="9" name="Text 6"/>
          <p:cNvSpPr/>
          <p:nvPr/>
        </p:nvSpPr>
        <p:spPr>
          <a:xfrm>
            <a:off x="502920" y="6291072"/>
            <a:ext cx="11183112" cy="365760"/>
          </a:xfrm>
          <a:prstGeom prst="rect">
            <a:avLst/>
          </a:prstGeom>
          <a:noFill/>
          <a:ln/>
        </p:spPr>
        <p:txBody>
          <a:bodyPr wrap="square" rtlCol="0" anchor="ctr"/>
          <a:lstStyle/>
          <a:p>
            <a:pPr indent="0" marL="0">
              <a:buNone/>
            </a:pPr>
            <a:r>
              <a:rPr lang="en-US" sz="1400" dirty="0">
                <a:solidFill>
                  <a:srgbClr val="6E93BC"/>
                </a:solidFill>
                <a:latin typeface="Aptos" pitchFamily="34" charset="0"/>
                <a:ea typeface="Aptos" pitchFamily="34" charset="-122"/>
                <a:cs typeface="Aptos" pitchFamily="34" charset="-120"/>
              </a:rPr>
              <a:t>US 252034 · Monitor and evaluate team members against performance standards · NQF 5 · 8 credits · ITSS Learn</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41</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2</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The performance appraisal interview</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07008"/>
            <a:ext cx="11183112" cy="954024"/>
          </a:xfrm>
          <a:prstGeom prst="rect">
            <a:avLst/>
          </a:prstGeom>
          <a:noFill/>
          <a:ln/>
        </p:spPr>
        <p:txBody>
          <a:bodyPr wrap="square" rtlCol="0" anchor="t"/>
          <a:lstStyle/>
          <a:p>
            <a:pPr indent="0" marL="0">
              <a:lnSpc>
                <a:spcPct val="112000"/>
              </a:lnSpc>
              <a:buNone/>
            </a:pPr>
            <a:r>
              <a:rPr lang="en-US" sz="1500" dirty="0">
                <a:solidFill>
                  <a:srgbClr val="6B7280"/>
                </a:solidFill>
                <a:latin typeface="Aptos" pitchFamily="34" charset="0"/>
                <a:ea typeface="Aptos" pitchFamily="34" charset="-122"/>
                <a:cs typeface="Aptos" pitchFamily="34" charset="-120"/>
              </a:rPr>
              <a:t>A performance appraisal interview is the first stage of the performance appraisal process: the employee and manager sit face to face to discuss all aspects of the employee's performance and thrash out any differences in perception or evaluation. It gives the employee a chance to respond to the evaluation, and the manager a chance to explain it.</a:t>
            </a:r>
            <a:endParaRPr lang="en-US" sz="1500" dirty="0"/>
          </a:p>
        </p:txBody>
      </p:sp>
      <p:sp>
        <p:nvSpPr>
          <p:cNvPr id="9" name="Text 6"/>
          <p:cNvSpPr/>
          <p:nvPr/>
        </p:nvSpPr>
        <p:spPr>
          <a:xfrm>
            <a:off x="502920" y="2234184"/>
            <a:ext cx="11183112" cy="504444"/>
          </a:xfrm>
          <a:prstGeom prst="rect">
            <a:avLst/>
          </a:prstGeom>
          <a:noFill/>
          <a:ln/>
        </p:spPr>
        <p:txBody>
          <a:bodyPr wrap="square" rtlCol="0" anchor="t"/>
          <a:lstStyle/>
          <a:p>
            <a:pPr indent="0" marL="0">
              <a:lnSpc>
                <a:spcPct val="112000"/>
              </a:lnSpc>
              <a:buNone/>
            </a:pPr>
            <a:r>
              <a:rPr lang="en-US" sz="1500" dirty="0">
                <a:solidFill>
                  <a:srgbClr val="6B7280"/>
                </a:solidFill>
                <a:latin typeface="Aptos" pitchFamily="34" charset="0"/>
                <a:ea typeface="Aptos" pitchFamily="34" charset="-122"/>
                <a:cs typeface="Aptos" pitchFamily="34" charset="-120"/>
              </a:rPr>
              <a:t>The employee being evaluated is the appraisee; the person doing the evaluation — usually the manager — is the appraiser. Both prepare: the appraisee through self-evaluation, the appraiser through an objective evaluation.</a:t>
            </a:r>
            <a:endParaRPr lang="en-US" sz="1500" dirty="0"/>
          </a:p>
        </p:txBody>
      </p:sp>
      <p:sp>
        <p:nvSpPr>
          <p:cNvPr id="10" name="Text 7"/>
          <p:cNvSpPr/>
          <p:nvPr/>
        </p:nvSpPr>
        <p:spPr>
          <a:xfrm>
            <a:off x="502920" y="2811780"/>
            <a:ext cx="11183112" cy="504444"/>
          </a:xfrm>
          <a:prstGeom prst="rect">
            <a:avLst/>
          </a:prstGeom>
          <a:noFill/>
          <a:ln/>
        </p:spPr>
        <p:txBody>
          <a:bodyPr wrap="square" rtlCol="0" anchor="t"/>
          <a:lstStyle/>
          <a:p>
            <a:pPr indent="0" marL="0">
              <a:lnSpc>
                <a:spcPct val="112000"/>
              </a:lnSpc>
              <a:buNone/>
            </a:pPr>
            <a:r>
              <a:rPr lang="en-US" sz="1500" dirty="0">
                <a:solidFill>
                  <a:srgbClr val="6B7280"/>
                </a:solidFill>
                <a:latin typeface="Aptos" pitchFamily="34" charset="0"/>
                <a:ea typeface="Aptos" pitchFamily="34" charset="-122"/>
                <a:cs typeface="Aptos" pitchFamily="34" charset="-120"/>
              </a:rPr>
              <a:t>The outcome of the appraisal process is the grade decided for the employee, and with it the salary increase or bonus potential awarded.</a:t>
            </a:r>
            <a:endParaRPr lang="en-US" sz="1500" dirty="0"/>
          </a:p>
        </p:txBody>
      </p:sp>
      <p:sp>
        <p:nvSpPr>
          <p:cNvPr id="11" name="Text 8"/>
          <p:cNvSpPr/>
          <p:nvPr/>
        </p:nvSpPr>
        <p:spPr>
          <a:xfrm>
            <a:off x="576072" y="3425952"/>
            <a:ext cx="11036808" cy="255524"/>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Give at least a week's notice so the employee can review their work — more for senior or specialist positions.</a:t>
            </a:r>
            <a:endParaRPr lang="en-US" sz="1400" dirty="0"/>
          </a:p>
        </p:txBody>
      </p:sp>
      <p:sp>
        <p:nvSpPr>
          <p:cNvPr id="12" name="Text 9"/>
          <p:cNvSpPr/>
          <p:nvPr/>
        </p:nvSpPr>
        <p:spPr>
          <a:xfrm>
            <a:off x="576072" y="3745484"/>
            <a:ext cx="11036808" cy="255524"/>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Stress that the appraisal is designed mainly to help the employee understand their own performance.</a:t>
            </a:r>
            <a:endParaRPr lang="en-US" sz="1400" dirty="0"/>
          </a:p>
        </p:txBody>
      </p:sp>
      <p:sp>
        <p:nvSpPr>
          <p:cNvPr id="13" name="Text 10"/>
          <p:cNvSpPr/>
          <p:nvPr/>
        </p:nvSpPr>
        <p:spPr>
          <a:xfrm>
            <a:off x="576072" y="4065016"/>
            <a:ext cx="11036808" cy="255524"/>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Work out a mutually agreeable time; allow enough time in both schedules for the whole interview (45–90 minutes).</a:t>
            </a:r>
            <a:endParaRPr lang="en-US" sz="1400" dirty="0"/>
          </a:p>
        </p:txBody>
      </p:sp>
      <p:sp>
        <p:nvSpPr>
          <p:cNvPr id="14" name="Text 11"/>
          <p:cNvSpPr/>
          <p:nvPr/>
        </p:nvSpPr>
        <p:spPr>
          <a:xfrm>
            <a:off x="576072" y="4384548"/>
            <a:ext cx="11036808" cy="465328"/>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Choose a private, comfortable venue without interruptions. Do not sit behind a desk — it transmits a 'superior-subordinate' message; sit together at a table.</a:t>
            </a:r>
            <a:endParaRPr lang="en-US" sz="1400" dirty="0"/>
          </a:p>
        </p:txBody>
      </p:sp>
      <p:sp>
        <p:nvSpPr>
          <p:cNvPr id="15" name="Text 12"/>
          <p:cNvSpPr/>
          <p:nvPr/>
        </p:nvSpPr>
        <p:spPr>
          <a:xfrm>
            <a:off x="576072" y="4913884"/>
            <a:ext cx="11036808" cy="465328"/>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Explain thoroughly how the exercise will run, define the roles, and make clear it is a two-way conversation with your undivided attention.</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42</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2</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Check yourself — The performance appraisal interview</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34440"/>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Q1.</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In an appraisal, who is the 'appraisee'?</a:t>
            </a:r>
            <a:endParaRPr lang="en-US" sz="1500" dirty="0"/>
          </a:p>
        </p:txBody>
      </p:sp>
      <p:sp>
        <p:nvSpPr>
          <p:cNvPr id="9" name="Text 6"/>
          <p:cNvSpPr/>
          <p:nvPr/>
        </p:nvSpPr>
        <p:spPr>
          <a:xfrm>
            <a:off x="868680" y="15140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The person doing the evaluation</a:t>
            </a:r>
            <a:endParaRPr lang="en-US" sz="1300" dirty="0"/>
          </a:p>
        </p:txBody>
      </p:sp>
      <p:sp>
        <p:nvSpPr>
          <p:cNvPr id="10" name="Text 7"/>
          <p:cNvSpPr/>
          <p:nvPr/>
        </p:nvSpPr>
        <p:spPr>
          <a:xfrm>
            <a:off x="868680" y="17363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The employee being evaluated</a:t>
            </a:r>
            <a:endParaRPr lang="en-US" sz="1300" dirty="0"/>
          </a:p>
        </p:txBody>
      </p:sp>
      <p:sp>
        <p:nvSpPr>
          <p:cNvPr id="11" name="Text 8"/>
          <p:cNvSpPr/>
          <p:nvPr/>
        </p:nvSpPr>
        <p:spPr>
          <a:xfrm>
            <a:off x="868680" y="19585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The HR administrator</a:t>
            </a:r>
            <a:endParaRPr lang="en-US" sz="1300" dirty="0"/>
          </a:p>
        </p:txBody>
      </p:sp>
      <p:sp>
        <p:nvSpPr>
          <p:cNvPr id="12" name="Text 9"/>
          <p:cNvSpPr/>
          <p:nvPr/>
        </p:nvSpPr>
        <p:spPr>
          <a:xfrm>
            <a:off x="868680" y="21808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An external consultant</a:t>
            </a:r>
            <a:endParaRPr lang="en-US" sz="1300" dirty="0"/>
          </a:p>
        </p:txBody>
      </p:sp>
      <p:sp>
        <p:nvSpPr>
          <p:cNvPr id="13" name="Text 10"/>
          <p:cNvSpPr/>
          <p:nvPr/>
        </p:nvSpPr>
        <p:spPr>
          <a:xfrm>
            <a:off x="502920" y="2567686"/>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Q2.</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How much notice should an employee get before their appraisal interview?</a:t>
            </a:r>
            <a:endParaRPr lang="en-US" sz="1500" dirty="0"/>
          </a:p>
        </p:txBody>
      </p:sp>
      <p:sp>
        <p:nvSpPr>
          <p:cNvPr id="14" name="Text 11"/>
          <p:cNvSpPr/>
          <p:nvPr/>
        </p:nvSpPr>
        <p:spPr>
          <a:xfrm>
            <a:off x="868680" y="28473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None — surprise keeps it honest</a:t>
            </a:r>
            <a:endParaRPr lang="en-US" sz="1300" dirty="0"/>
          </a:p>
        </p:txBody>
      </p:sp>
      <p:sp>
        <p:nvSpPr>
          <p:cNvPr id="15" name="Text 12"/>
          <p:cNvSpPr/>
          <p:nvPr/>
        </p:nvSpPr>
        <p:spPr>
          <a:xfrm>
            <a:off x="868680" y="30695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At least a week, so they can review their work</a:t>
            </a:r>
            <a:endParaRPr lang="en-US" sz="1300" dirty="0"/>
          </a:p>
        </p:txBody>
      </p:sp>
      <p:sp>
        <p:nvSpPr>
          <p:cNvPr id="16" name="Text 13"/>
          <p:cNvSpPr/>
          <p:nvPr/>
        </p:nvSpPr>
        <p:spPr>
          <a:xfrm>
            <a:off x="868680" y="32918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An hour</a:t>
            </a:r>
            <a:endParaRPr lang="en-US" sz="1300" dirty="0"/>
          </a:p>
        </p:txBody>
      </p:sp>
      <p:sp>
        <p:nvSpPr>
          <p:cNvPr id="17" name="Text 14"/>
          <p:cNvSpPr/>
          <p:nvPr/>
        </p:nvSpPr>
        <p:spPr>
          <a:xfrm>
            <a:off x="868680" y="35140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A full year</a:t>
            </a:r>
            <a:endParaRPr lang="en-US" sz="1300" dirty="0"/>
          </a:p>
        </p:txBody>
      </p:sp>
      <p:sp>
        <p:nvSpPr>
          <p:cNvPr id="18" name="Text 15"/>
          <p:cNvSpPr/>
          <p:nvPr/>
        </p:nvSpPr>
        <p:spPr>
          <a:xfrm>
            <a:off x="502920" y="3900932"/>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Q3.</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Why should you avoid sitting behind a desk during the interview?</a:t>
            </a:r>
            <a:endParaRPr lang="en-US" sz="1500" dirty="0"/>
          </a:p>
        </p:txBody>
      </p:sp>
      <p:sp>
        <p:nvSpPr>
          <p:cNvPr id="19" name="Text 16"/>
          <p:cNvSpPr/>
          <p:nvPr/>
        </p:nvSpPr>
        <p:spPr>
          <a:xfrm>
            <a:off x="868680" y="418058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Desks are usually too small</a:t>
            </a:r>
            <a:endParaRPr lang="en-US" sz="1300" dirty="0"/>
          </a:p>
        </p:txBody>
      </p:sp>
      <p:sp>
        <p:nvSpPr>
          <p:cNvPr id="20" name="Text 17"/>
          <p:cNvSpPr/>
          <p:nvPr/>
        </p:nvSpPr>
        <p:spPr>
          <a:xfrm>
            <a:off x="868680" y="440283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It transmits a non-verbal 'superior-subordinate' message of formality</a:t>
            </a:r>
            <a:endParaRPr lang="en-US" sz="1300" dirty="0"/>
          </a:p>
        </p:txBody>
      </p:sp>
      <p:sp>
        <p:nvSpPr>
          <p:cNvPr id="21" name="Text 18"/>
          <p:cNvSpPr/>
          <p:nvPr/>
        </p:nvSpPr>
        <p:spPr>
          <a:xfrm>
            <a:off x="868680" y="462508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It blocks the camera</a:t>
            </a:r>
            <a:endParaRPr lang="en-US" sz="1300" dirty="0"/>
          </a:p>
        </p:txBody>
      </p:sp>
      <p:sp>
        <p:nvSpPr>
          <p:cNvPr id="22" name="Text 19"/>
          <p:cNvSpPr/>
          <p:nvPr/>
        </p:nvSpPr>
        <p:spPr>
          <a:xfrm>
            <a:off x="868680" y="484733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It is against labour law</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43</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2</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Check yourself — The performance appraisal interview …(continued)</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34440"/>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Q4.</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What is the outcome of the appraisal process?</a:t>
            </a:r>
            <a:endParaRPr lang="en-US" sz="1500" dirty="0"/>
          </a:p>
        </p:txBody>
      </p:sp>
      <p:sp>
        <p:nvSpPr>
          <p:cNvPr id="9" name="Text 6"/>
          <p:cNvSpPr/>
          <p:nvPr/>
        </p:nvSpPr>
        <p:spPr>
          <a:xfrm>
            <a:off x="868680" y="15140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A new job description</a:t>
            </a:r>
            <a:endParaRPr lang="en-US" sz="1300" dirty="0"/>
          </a:p>
        </p:txBody>
      </p:sp>
      <p:sp>
        <p:nvSpPr>
          <p:cNvPr id="10" name="Text 7"/>
          <p:cNvSpPr/>
          <p:nvPr/>
        </p:nvSpPr>
        <p:spPr>
          <a:xfrm>
            <a:off x="868680" y="17363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The employee's grade, which feeds the salary hike or bonus decision</a:t>
            </a:r>
            <a:endParaRPr lang="en-US" sz="1300" dirty="0"/>
          </a:p>
        </p:txBody>
      </p:sp>
      <p:sp>
        <p:nvSpPr>
          <p:cNvPr id="11" name="Text 8"/>
          <p:cNvSpPr/>
          <p:nvPr/>
        </p:nvSpPr>
        <p:spPr>
          <a:xfrm>
            <a:off x="868680" y="19585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A team-building event</a:t>
            </a:r>
            <a:endParaRPr lang="en-US" sz="1300" dirty="0"/>
          </a:p>
        </p:txBody>
      </p:sp>
      <p:sp>
        <p:nvSpPr>
          <p:cNvPr id="12" name="Text 9"/>
          <p:cNvSpPr/>
          <p:nvPr/>
        </p:nvSpPr>
        <p:spPr>
          <a:xfrm>
            <a:off x="868680" y="21808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A written warning in every case</a:t>
            </a:r>
            <a:endParaRPr lang="en-US" sz="1300" dirty="0"/>
          </a:p>
        </p:txBody>
      </p:sp>
      <p:sp>
        <p:nvSpPr>
          <p:cNvPr id="13" name="Text 10"/>
          <p:cNvSpPr/>
          <p:nvPr/>
        </p:nvSpPr>
        <p:spPr>
          <a:xfrm>
            <a:off x="502920" y="2567686"/>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Q5.</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How long should you set aside for an appraisal interview?</a:t>
            </a:r>
            <a:endParaRPr lang="en-US" sz="1500" dirty="0"/>
          </a:p>
        </p:txBody>
      </p:sp>
      <p:sp>
        <p:nvSpPr>
          <p:cNvPr id="14" name="Text 11"/>
          <p:cNvSpPr/>
          <p:nvPr/>
        </p:nvSpPr>
        <p:spPr>
          <a:xfrm>
            <a:off x="868680" y="28473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5 minutes</a:t>
            </a:r>
            <a:endParaRPr lang="en-US" sz="1300" dirty="0"/>
          </a:p>
        </p:txBody>
      </p:sp>
      <p:sp>
        <p:nvSpPr>
          <p:cNvPr id="15" name="Text 12"/>
          <p:cNvSpPr/>
          <p:nvPr/>
        </p:nvSpPr>
        <p:spPr>
          <a:xfrm>
            <a:off x="868680" y="30695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45 to 90 minutes depending on the complexity and seniority of the position</a:t>
            </a:r>
            <a:endParaRPr lang="en-US" sz="1300" dirty="0"/>
          </a:p>
        </p:txBody>
      </p:sp>
      <p:sp>
        <p:nvSpPr>
          <p:cNvPr id="16" name="Text 13"/>
          <p:cNvSpPr/>
          <p:nvPr/>
        </p:nvSpPr>
        <p:spPr>
          <a:xfrm>
            <a:off x="868680" y="32918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A full working week</a:t>
            </a:r>
            <a:endParaRPr lang="en-US" sz="1300" dirty="0"/>
          </a:p>
        </p:txBody>
      </p:sp>
      <p:sp>
        <p:nvSpPr>
          <p:cNvPr id="17" name="Text 14"/>
          <p:cNvSpPr/>
          <p:nvPr/>
        </p:nvSpPr>
        <p:spPr>
          <a:xfrm>
            <a:off x="868680" y="35140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It must never be scheduled</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44</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2</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The preliminary assessment</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07008"/>
            <a:ext cx="11183112" cy="504444"/>
          </a:xfrm>
          <a:prstGeom prst="rect">
            <a:avLst/>
          </a:prstGeom>
          <a:noFill/>
          <a:ln/>
        </p:spPr>
        <p:txBody>
          <a:bodyPr wrap="square" rtlCol="0" anchor="t"/>
          <a:lstStyle/>
          <a:p>
            <a:pPr indent="0" marL="0">
              <a:lnSpc>
                <a:spcPct val="112000"/>
              </a:lnSpc>
              <a:buNone/>
            </a:pPr>
            <a:r>
              <a:rPr lang="en-US" sz="1500" dirty="0">
                <a:solidFill>
                  <a:srgbClr val="6B7280"/>
                </a:solidFill>
                <a:latin typeface="Aptos" pitchFamily="34" charset="0"/>
                <a:ea typeface="Aptos" pitchFamily="34" charset="-122"/>
                <a:cs typeface="Aptos" pitchFamily="34" charset="-120"/>
              </a:rPr>
              <a:t>Before the interview, the supervisor conducts a preliminary assessment of the employee's performance against the agreed standards — and records the findings for the review meeting and future reference.</a:t>
            </a:r>
            <a:endParaRPr lang="en-US" sz="1500" dirty="0"/>
          </a:p>
        </p:txBody>
      </p:sp>
      <p:sp>
        <p:nvSpPr>
          <p:cNvPr id="9" name="Text 6"/>
          <p:cNvSpPr/>
          <p:nvPr/>
        </p:nvSpPr>
        <p:spPr>
          <a:xfrm>
            <a:off x="576072" y="1821180"/>
            <a:ext cx="11036808" cy="255524"/>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Collect all the information you need for the interview.</a:t>
            </a:r>
            <a:endParaRPr lang="en-US" sz="1400" dirty="0"/>
          </a:p>
        </p:txBody>
      </p:sp>
      <p:sp>
        <p:nvSpPr>
          <p:cNvPr id="10" name="Text 7"/>
          <p:cNvSpPr/>
          <p:nvPr/>
        </p:nvSpPr>
        <p:spPr>
          <a:xfrm>
            <a:off x="576072" y="2140712"/>
            <a:ext cx="11036808" cy="255524"/>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Review the relevant job description — then weed out the important duties from the unimportant.</a:t>
            </a:r>
            <a:endParaRPr lang="en-US" sz="1400" dirty="0"/>
          </a:p>
        </p:txBody>
      </p:sp>
      <p:sp>
        <p:nvSpPr>
          <p:cNvPr id="11" name="Text 8"/>
          <p:cNvSpPr/>
          <p:nvPr/>
        </p:nvSpPr>
        <p:spPr>
          <a:xfrm>
            <a:off x="576072" y="2460244"/>
            <a:ext cx="11036808" cy="255524"/>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Compare the employee's performance against these criteria.</a:t>
            </a:r>
            <a:endParaRPr lang="en-US" sz="1400" dirty="0"/>
          </a:p>
        </p:txBody>
      </p:sp>
      <p:sp>
        <p:nvSpPr>
          <p:cNvPr id="12" name="Text 9"/>
          <p:cNvSpPr/>
          <p:nvPr/>
        </p:nvSpPr>
        <p:spPr>
          <a:xfrm>
            <a:off x="576072" y="2779776"/>
            <a:ext cx="11036808" cy="465328"/>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Look at previous appraisals and whether past goals were met — but do not let old evaluations bias your view of current performance.</a:t>
            </a:r>
            <a:endParaRPr lang="en-US" sz="1400" dirty="0"/>
          </a:p>
        </p:txBody>
      </p:sp>
      <p:sp>
        <p:nvSpPr>
          <p:cNvPr id="13" name="Text 10"/>
          <p:cNvSpPr/>
          <p:nvPr/>
        </p:nvSpPr>
        <p:spPr>
          <a:xfrm>
            <a:off x="576072" y="3309112"/>
            <a:ext cx="11036808" cy="255524"/>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Request comments from other managers who have observed the employee's work.</a:t>
            </a:r>
            <a:endParaRPr lang="en-US" sz="1400" dirty="0"/>
          </a:p>
        </p:txBody>
      </p:sp>
      <p:sp>
        <p:nvSpPr>
          <p:cNvPr id="14" name="Text 11"/>
          <p:cNvSpPr/>
          <p:nvPr/>
        </p:nvSpPr>
        <p:spPr>
          <a:xfrm>
            <a:off x="576072" y="3628644"/>
            <a:ext cx="11036808" cy="465328"/>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Complete the appraisal form so the interview is organised — but do NOT draft the improvement plan yet; that is developed WITH the employee in the interview.</a:t>
            </a:r>
            <a:endParaRPr lang="en-US" sz="1400" dirty="0"/>
          </a:p>
        </p:txBody>
      </p:sp>
      <p:sp>
        <p:nvSpPr>
          <p:cNvPr id="15" name="Text 12"/>
          <p:cNvSpPr/>
          <p:nvPr/>
        </p:nvSpPr>
        <p:spPr>
          <a:xfrm>
            <a:off x="576072" y="4157980"/>
            <a:ext cx="11036808" cy="675132"/>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Observe, observe, observe: be balanced and fair; avoid incidents that are too old, too new or from an atypical period; assess job performance, not personality; when in doubt, let the facts guide you; appraise only if you have enough information.</a:t>
            </a:r>
            <a:endParaRPr lang="en-US" sz="1400" dirty="0"/>
          </a:p>
        </p:txBody>
      </p:sp>
      <p:sp>
        <p:nvSpPr>
          <p:cNvPr id="16" name="Text 13"/>
          <p:cNvSpPr/>
          <p:nvPr/>
        </p:nvSpPr>
        <p:spPr>
          <a:xfrm>
            <a:off x="576072" y="4897120"/>
            <a:ext cx="11036808" cy="675132"/>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Record findings on a preliminary worksheet: job description changes, professional goals, employee strengths, areas for improvement, organisational strengths/weaknesses affecting the position, and ways the supervisor or organisation can assist.</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45</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2</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Check yourself — The preliminary assessment</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34440"/>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Q1.</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What must the supervisor do BEFORE the performance review interview?</a:t>
            </a:r>
            <a:endParaRPr lang="en-US" sz="1500" dirty="0"/>
          </a:p>
        </p:txBody>
      </p:sp>
      <p:sp>
        <p:nvSpPr>
          <p:cNvPr id="9" name="Text 6"/>
          <p:cNvSpPr/>
          <p:nvPr/>
        </p:nvSpPr>
        <p:spPr>
          <a:xfrm>
            <a:off x="868680" y="15140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Nothing — spontaneity is best</a:t>
            </a:r>
            <a:endParaRPr lang="en-US" sz="1300" dirty="0"/>
          </a:p>
        </p:txBody>
      </p:sp>
      <p:sp>
        <p:nvSpPr>
          <p:cNvPr id="10" name="Text 7"/>
          <p:cNvSpPr/>
          <p:nvPr/>
        </p:nvSpPr>
        <p:spPr>
          <a:xfrm>
            <a:off x="868680" y="17363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Conduct a preliminary assessment of performance against agreed standards</a:t>
            </a:r>
            <a:endParaRPr lang="en-US" sz="1300" dirty="0"/>
          </a:p>
        </p:txBody>
      </p:sp>
      <p:sp>
        <p:nvSpPr>
          <p:cNvPr id="11" name="Text 8"/>
          <p:cNvSpPr/>
          <p:nvPr/>
        </p:nvSpPr>
        <p:spPr>
          <a:xfrm>
            <a:off x="868680" y="19585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Decide the final rating and lock it in</a:t>
            </a:r>
            <a:endParaRPr lang="en-US" sz="1300" dirty="0"/>
          </a:p>
        </p:txBody>
      </p:sp>
      <p:sp>
        <p:nvSpPr>
          <p:cNvPr id="12" name="Text 9"/>
          <p:cNvSpPr/>
          <p:nvPr/>
        </p:nvSpPr>
        <p:spPr>
          <a:xfrm>
            <a:off x="868680" y="21808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Ask the employee to write their own final review</a:t>
            </a:r>
            <a:endParaRPr lang="en-US" sz="1300" dirty="0"/>
          </a:p>
        </p:txBody>
      </p:sp>
      <p:sp>
        <p:nvSpPr>
          <p:cNvPr id="13" name="Text 10"/>
          <p:cNvSpPr/>
          <p:nvPr/>
        </p:nvSpPr>
        <p:spPr>
          <a:xfrm>
            <a:off x="502920" y="2567686"/>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Q2.</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Why look at previous performance appraisals carefully?</a:t>
            </a:r>
            <a:endParaRPr lang="en-US" sz="1500" dirty="0"/>
          </a:p>
        </p:txBody>
      </p:sp>
      <p:sp>
        <p:nvSpPr>
          <p:cNvPr id="14" name="Text 11"/>
          <p:cNvSpPr/>
          <p:nvPr/>
        </p:nvSpPr>
        <p:spPr>
          <a:xfrm>
            <a:off x="868680" y="28473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To copy last year's comments word for word</a:t>
            </a:r>
            <a:endParaRPr lang="en-US" sz="1300" dirty="0"/>
          </a:p>
        </p:txBody>
      </p:sp>
      <p:sp>
        <p:nvSpPr>
          <p:cNvPr id="15" name="Text 12"/>
          <p:cNvSpPr/>
          <p:nvPr/>
        </p:nvSpPr>
        <p:spPr>
          <a:xfrm>
            <a:off x="868680" y="30695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To check whether past goals were met — without letting old evaluations bias the current one</a:t>
            </a:r>
            <a:endParaRPr lang="en-US" sz="1300" dirty="0"/>
          </a:p>
        </p:txBody>
      </p:sp>
      <p:sp>
        <p:nvSpPr>
          <p:cNvPr id="16" name="Text 13"/>
          <p:cNvSpPr/>
          <p:nvPr/>
        </p:nvSpPr>
        <p:spPr>
          <a:xfrm>
            <a:off x="868680" y="32918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To find reasons to reduce the salary</a:t>
            </a:r>
            <a:endParaRPr lang="en-US" sz="1300" dirty="0"/>
          </a:p>
        </p:txBody>
      </p:sp>
      <p:sp>
        <p:nvSpPr>
          <p:cNvPr id="17" name="Text 14"/>
          <p:cNvSpPr/>
          <p:nvPr/>
        </p:nvSpPr>
        <p:spPr>
          <a:xfrm>
            <a:off x="868680" y="35140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Previous appraisals must never be read</a:t>
            </a:r>
            <a:endParaRPr lang="en-US" sz="1300" dirty="0"/>
          </a:p>
        </p:txBody>
      </p:sp>
      <p:sp>
        <p:nvSpPr>
          <p:cNvPr id="18" name="Text 15"/>
          <p:cNvSpPr/>
          <p:nvPr/>
        </p:nvSpPr>
        <p:spPr>
          <a:xfrm>
            <a:off x="502920" y="3900932"/>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Q3.</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Why should you NOT develop the improvement plan during preliminary assessment?</a:t>
            </a:r>
            <a:endParaRPr lang="en-US" sz="1500" dirty="0"/>
          </a:p>
        </p:txBody>
      </p:sp>
      <p:sp>
        <p:nvSpPr>
          <p:cNvPr id="19" name="Text 16"/>
          <p:cNvSpPr/>
          <p:nvPr/>
        </p:nvSpPr>
        <p:spPr>
          <a:xfrm>
            <a:off x="868680" y="418058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Improvement plans are HR's job only</a:t>
            </a:r>
            <a:endParaRPr lang="en-US" sz="1300" dirty="0"/>
          </a:p>
        </p:txBody>
      </p:sp>
      <p:sp>
        <p:nvSpPr>
          <p:cNvPr id="20" name="Text 17"/>
          <p:cNvSpPr/>
          <p:nvPr/>
        </p:nvSpPr>
        <p:spPr>
          <a:xfrm>
            <a:off x="868680" y="440283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The plan is developed in the interview itself, with primary responsibility on the employee</a:t>
            </a:r>
            <a:endParaRPr lang="en-US" sz="1300" dirty="0"/>
          </a:p>
        </p:txBody>
      </p:sp>
      <p:sp>
        <p:nvSpPr>
          <p:cNvPr id="21" name="Text 18"/>
          <p:cNvSpPr/>
          <p:nvPr/>
        </p:nvSpPr>
        <p:spPr>
          <a:xfrm>
            <a:off x="868680" y="462508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Improvement plans are optional paperwork</a:t>
            </a:r>
            <a:endParaRPr lang="en-US" sz="1300" dirty="0"/>
          </a:p>
        </p:txBody>
      </p:sp>
      <p:sp>
        <p:nvSpPr>
          <p:cNvPr id="22" name="Text 19"/>
          <p:cNvSpPr/>
          <p:nvPr/>
        </p:nvSpPr>
        <p:spPr>
          <a:xfrm>
            <a:off x="868680" y="484733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It saves printing costs</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46</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2</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Check yourself — The preliminary assessment …(continued)</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34440"/>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Q4.</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When you dislike aspects of an employee's personality, you should…</a:t>
            </a:r>
            <a:endParaRPr lang="en-US" sz="1500" dirty="0"/>
          </a:p>
        </p:txBody>
      </p:sp>
      <p:sp>
        <p:nvSpPr>
          <p:cNvPr id="9" name="Text 6"/>
          <p:cNvSpPr/>
          <p:nvPr/>
        </p:nvSpPr>
        <p:spPr>
          <a:xfrm>
            <a:off x="868680" y="15140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Rate them lower to be safe</a:t>
            </a:r>
            <a:endParaRPr lang="en-US" sz="1300" dirty="0"/>
          </a:p>
        </p:txBody>
      </p:sp>
      <p:sp>
        <p:nvSpPr>
          <p:cNvPr id="10" name="Text 7"/>
          <p:cNvSpPr/>
          <p:nvPr/>
        </p:nvSpPr>
        <p:spPr>
          <a:xfrm>
            <a:off x="868680" y="17363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Assess job performance, not personality — and let facts guide your opinion</a:t>
            </a:r>
            <a:endParaRPr lang="en-US" sz="1300" dirty="0"/>
          </a:p>
        </p:txBody>
      </p:sp>
      <p:sp>
        <p:nvSpPr>
          <p:cNvPr id="11" name="Text 8"/>
          <p:cNvSpPr/>
          <p:nvPr/>
        </p:nvSpPr>
        <p:spPr>
          <a:xfrm>
            <a:off x="868680" y="19585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Skip their appraisal</a:t>
            </a:r>
            <a:endParaRPr lang="en-US" sz="1300" dirty="0"/>
          </a:p>
        </p:txBody>
      </p:sp>
      <p:sp>
        <p:nvSpPr>
          <p:cNvPr id="12" name="Text 9"/>
          <p:cNvSpPr/>
          <p:nvPr/>
        </p:nvSpPr>
        <p:spPr>
          <a:xfrm>
            <a:off x="868680" y="21808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Ask a friend to do the rating</a:t>
            </a:r>
            <a:endParaRPr lang="en-US" sz="1300" dirty="0"/>
          </a:p>
        </p:txBody>
      </p:sp>
      <p:sp>
        <p:nvSpPr>
          <p:cNvPr id="13" name="Text 10"/>
          <p:cNvSpPr/>
          <p:nvPr/>
        </p:nvSpPr>
        <p:spPr>
          <a:xfrm>
            <a:off x="502920" y="2567686"/>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Q5.</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Which incidents can mislead a performance rater?</a:t>
            </a:r>
            <a:endParaRPr lang="en-US" sz="1500" dirty="0"/>
          </a:p>
        </p:txBody>
      </p:sp>
      <p:sp>
        <p:nvSpPr>
          <p:cNvPr id="14" name="Text 11"/>
          <p:cNvSpPr/>
          <p:nvPr/>
        </p:nvSpPr>
        <p:spPr>
          <a:xfrm>
            <a:off x="868680" y="28473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Incidents that are too old, too new, or from an atypical work period</a:t>
            </a:r>
            <a:endParaRPr lang="en-US" sz="1300" dirty="0"/>
          </a:p>
        </p:txBody>
      </p:sp>
      <p:sp>
        <p:nvSpPr>
          <p:cNvPr id="15" name="Text 12"/>
          <p:cNvSpPr/>
          <p:nvPr/>
        </p:nvSpPr>
        <p:spPr>
          <a:xfrm>
            <a:off x="868680" y="30695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Incidents witnessed by more than one manager</a:t>
            </a:r>
            <a:endParaRPr lang="en-US" sz="1300" dirty="0"/>
          </a:p>
        </p:txBody>
      </p:sp>
      <p:sp>
        <p:nvSpPr>
          <p:cNvPr id="16" name="Text 13"/>
          <p:cNvSpPr/>
          <p:nvPr/>
        </p:nvSpPr>
        <p:spPr>
          <a:xfrm>
            <a:off x="868680" y="32918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Incidents recorded in the job description</a:t>
            </a:r>
            <a:endParaRPr lang="en-US" sz="1300" dirty="0"/>
          </a:p>
        </p:txBody>
      </p:sp>
      <p:sp>
        <p:nvSpPr>
          <p:cNvPr id="17" name="Text 14"/>
          <p:cNvSpPr/>
          <p:nvPr/>
        </p:nvSpPr>
        <p:spPr>
          <a:xfrm>
            <a:off x="868680" y="35140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Incidents the employee reported themselves</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47</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2</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Employee self-preparation</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07008"/>
            <a:ext cx="11183112" cy="729234"/>
          </a:xfrm>
          <a:prstGeom prst="rect">
            <a:avLst/>
          </a:prstGeom>
          <a:noFill/>
          <a:ln/>
        </p:spPr>
        <p:txBody>
          <a:bodyPr wrap="square" rtlCol="0" anchor="t"/>
          <a:lstStyle/>
          <a:p>
            <a:pPr indent="0" marL="0">
              <a:lnSpc>
                <a:spcPct val="112000"/>
              </a:lnSpc>
              <a:buNone/>
            </a:pPr>
            <a:r>
              <a:rPr lang="en-US" sz="1500" dirty="0">
                <a:solidFill>
                  <a:srgbClr val="6B7280"/>
                </a:solidFill>
                <a:latin typeface="Aptos" pitchFamily="34" charset="0"/>
                <a:ea typeface="Aptos" pitchFamily="34" charset="-122"/>
                <a:cs typeface="Aptos" pitchFamily="34" charset="-120"/>
              </a:rPr>
              <a:t>The employee must also be given the chance to prepare for the review. A self-appraisal preparation form guides their thinking about past performance and the year ahead — and self-evaluation stimulates discussion about how supervisor and employee can work together to increase effectiveness.</a:t>
            </a:r>
            <a:endParaRPr lang="en-US" sz="1500" dirty="0"/>
          </a:p>
        </p:txBody>
      </p:sp>
      <p:sp>
        <p:nvSpPr>
          <p:cNvPr id="9" name="Text 6"/>
          <p:cNvSpPr/>
          <p:nvPr/>
        </p:nvSpPr>
        <p:spPr>
          <a:xfrm>
            <a:off x="576072" y="2045970"/>
            <a:ext cx="11036808" cy="465328"/>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Past performance: How well did I achieve my objectives? What are my key accountabilities, in order of importance? What were my major accomplishments and their measurable results?</a:t>
            </a:r>
            <a:endParaRPr lang="en-US" sz="1400" dirty="0"/>
          </a:p>
        </p:txBody>
      </p:sp>
      <p:sp>
        <p:nvSpPr>
          <p:cNvPr id="10" name="Text 7"/>
          <p:cNvSpPr/>
          <p:nvPr/>
        </p:nvSpPr>
        <p:spPr>
          <a:xfrm>
            <a:off x="576072" y="2575306"/>
            <a:ext cx="11036808" cy="465328"/>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Have any new accountabilities been added or removed this year? Were there special circumstances that helped or hindered my work?</a:t>
            </a:r>
            <a:endParaRPr lang="en-US" sz="1400" dirty="0"/>
          </a:p>
        </p:txBody>
      </p:sp>
      <p:sp>
        <p:nvSpPr>
          <p:cNvPr id="11" name="Text 8"/>
          <p:cNvSpPr/>
          <p:nvPr/>
        </p:nvSpPr>
        <p:spPr>
          <a:xfrm>
            <a:off x="576072" y="3104642"/>
            <a:ext cx="11036808" cy="255524"/>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What knowledge and skills did I develop, and how did I apply them? What development goals did I achieve?</a:t>
            </a:r>
            <a:endParaRPr lang="en-US" sz="1400" dirty="0"/>
          </a:p>
        </p:txBody>
      </p:sp>
      <p:sp>
        <p:nvSpPr>
          <p:cNvPr id="12" name="Text 9"/>
          <p:cNvSpPr/>
          <p:nvPr/>
        </p:nvSpPr>
        <p:spPr>
          <a:xfrm>
            <a:off x="576072" y="3424174"/>
            <a:ext cx="11036808" cy="465328"/>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Problems and support: What problems did I meet? Could my manager give more guidance or help? Are my skills and abilities being fully used?</a:t>
            </a:r>
            <a:endParaRPr lang="en-US" sz="1400" dirty="0"/>
          </a:p>
        </p:txBody>
      </p:sp>
      <p:sp>
        <p:nvSpPr>
          <p:cNvPr id="13" name="Text 10"/>
          <p:cNvSpPr/>
          <p:nvPr/>
        </p:nvSpPr>
        <p:spPr>
          <a:xfrm>
            <a:off x="576072" y="3953510"/>
            <a:ext cx="11036808" cy="465328"/>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The future: What are my goals for next year, and how do they fit the department's goals? Where do I need more experience or training? What direction should my career take? Am I ready for additional responsibilities?</a:t>
            </a:r>
            <a:endParaRPr lang="en-US" sz="1400" dirty="0"/>
          </a:p>
        </p:txBody>
      </p:sp>
      <p:sp>
        <p:nvSpPr>
          <p:cNvPr id="14" name="Text 11"/>
          <p:cNvSpPr/>
          <p:nvPr/>
        </p:nvSpPr>
        <p:spPr>
          <a:xfrm>
            <a:off x="576072" y="4482846"/>
            <a:ext cx="11036808" cy="465328"/>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Optional salary dialogue: How do I assess my current salary relative to my performance, and what changes are needed to be recommended for pay improvements?</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48</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2</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Check yourself — Employee self-preparation</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34440"/>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Q1.</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Why must the employee get a chance to prepare for the review?</a:t>
            </a:r>
            <a:endParaRPr lang="en-US" sz="1500" dirty="0"/>
          </a:p>
        </p:txBody>
      </p:sp>
      <p:sp>
        <p:nvSpPr>
          <p:cNvPr id="9" name="Text 6"/>
          <p:cNvSpPr/>
          <p:nvPr/>
        </p:nvSpPr>
        <p:spPr>
          <a:xfrm>
            <a:off x="868680" y="15140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So they can dispute every point in advance</a:t>
            </a:r>
            <a:endParaRPr lang="en-US" sz="1300" dirty="0"/>
          </a:p>
        </p:txBody>
      </p:sp>
      <p:sp>
        <p:nvSpPr>
          <p:cNvPr id="10" name="Text 7"/>
          <p:cNvSpPr/>
          <p:nvPr/>
        </p:nvSpPr>
        <p:spPr>
          <a:xfrm>
            <a:off x="868680" y="17363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Self-evaluation stimulates discussion on working together more effectively</a:t>
            </a:r>
            <a:endParaRPr lang="en-US" sz="1300" dirty="0"/>
          </a:p>
        </p:txBody>
      </p:sp>
      <p:sp>
        <p:nvSpPr>
          <p:cNvPr id="11" name="Text 8"/>
          <p:cNvSpPr/>
          <p:nvPr/>
        </p:nvSpPr>
        <p:spPr>
          <a:xfrm>
            <a:off x="868680" y="19585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It is only a legal formality</a:t>
            </a:r>
            <a:endParaRPr lang="en-US" sz="1300" dirty="0"/>
          </a:p>
        </p:txBody>
      </p:sp>
      <p:sp>
        <p:nvSpPr>
          <p:cNvPr id="12" name="Text 9"/>
          <p:cNvSpPr/>
          <p:nvPr/>
        </p:nvSpPr>
        <p:spPr>
          <a:xfrm>
            <a:off x="868680" y="21808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So the manager can skip preparation</a:t>
            </a:r>
            <a:endParaRPr lang="en-US" sz="1300" dirty="0"/>
          </a:p>
        </p:txBody>
      </p:sp>
      <p:sp>
        <p:nvSpPr>
          <p:cNvPr id="13" name="Text 10"/>
          <p:cNvSpPr/>
          <p:nvPr/>
        </p:nvSpPr>
        <p:spPr>
          <a:xfrm>
            <a:off x="502920" y="2567686"/>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Q2.</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Which question belongs to the employee's PAST-performance preparation?</a:t>
            </a:r>
            <a:endParaRPr lang="en-US" sz="1500" dirty="0"/>
          </a:p>
        </p:txBody>
      </p:sp>
      <p:sp>
        <p:nvSpPr>
          <p:cNvPr id="14" name="Text 11"/>
          <p:cNvSpPr/>
          <p:nvPr/>
        </p:nvSpPr>
        <p:spPr>
          <a:xfrm>
            <a:off x="868680" y="28473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What are my goals for next year?</a:t>
            </a:r>
            <a:endParaRPr lang="en-US" sz="1300" dirty="0"/>
          </a:p>
        </p:txBody>
      </p:sp>
      <p:sp>
        <p:nvSpPr>
          <p:cNvPr id="15" name="Text 12"/>
          <p:cNvSpPr/>
          <p:nvPr/>
        </p:nvSpPr>
        <p:spPr>
          <a:xfrm>
            <a:off x="868680" y="30695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What were my major accomplishments and their measurable results?</a:t>
            </a:r>
            <a:endParaRPr lang="en-US" sz="1300" dirty="0"/>
          </a:p>
        </p:txBody>
      </p:sp>
      <p:sp>
        <p:nvSpPr>
          <p:cNvPr id="16" name="Text 13"/>
          <p:cNvSpPr/>
          <p:nvPr/>
        </p:nvSpPr>
        <p:spPr>
          <a:xfrm>
            <a:off x="868680" y="32918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What training do I want next year?</a:t>
            </a:r>
            <a:endParaRPr lang="en-US" sz="1300" dirty="0"/>
          </a:p>
        </p:txBody>
      </p:sp>
      <p:sp>
        <p:nvSpPr>
          <p:cNvPr id="17" name="Text 14"/>
          <p:cNvSpPr/>
          <p:nvPr/>
        </p:nvSpPr>
        <p:spPr>
          <a:xfrm>
            <a:off x="868680" y="35140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Which colleagues should be promoted?</a:t>
            </a:r>
            <a:endParaRPr lang="en-US" sz="1300" dirty="0"/>
          </a:p>
        </p:txBody>
      </p:sp>
      <p:sp>
        <p:nvSpPr>
          <p:cNvPr id="18" name="Text 15"/>
          <p:cNvSpPr/>
          <p:nvPr/>
        </p:nvSpPr>
        <p:spPr>
          <a:xfrm>
            <a:off x="502920" y="3900932"/>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Q3.</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Which question belongs to FUTURE-performance preparation?</a:t>
            </a:r>
            <a:endParaRPr lang="en-US" sz="1500" dirty="0"/>
          </a:p>
        </p:txBody>
      </p:sp>
      <p:sp>
        <p:nvSpPr>
          <p:cNvPr id="19" name="Text 16"/>
          <p:cNvSpPr/>
          <p:nvPr/>
        </p:nvSpPr>
        <p:spPr>
          <a:xfrm>
            <a:off x="868680" y="418058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How well did I achieve last year's objectives?</a:t>
            </a:r>
            <a:endParaRPr lang="en-US" sz="1300" dirty="0"/>
          </a:p>
        </p:txBody>
      </p:sp>
      <p:sp>
        <p:nvSpPr>
          <p:cNvPr id="20" name="Text 17"/>
          <p:cNvSpPr/>
          <p:nvPr/>
        </p:nvSpPr>
        <p:spPr>
          <a:xfrm>
            <a:off x="868680" y="440283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What were the special circumstances that hindered me?</a:t>
            </a:r>
            <a:endParaRPr lang="en-US" sz="1300" dirty="0"/>
          </a:p>
        </p:txBody>
      </p:sp>
      <p:sp>
        <p:nvSpPr>
          <p:cNvPr id="21" name="Text 18"/>
          <p:cNvSpPr/>
          <p:nvPr/>
        </p:nvSpPr>
        <p:spPr>
          <a:xfrm>
            <a:off x="868680" y="462508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In what aspects of my job do I need more experience and training?</a:t>
            </a:r>
            <a:endParaRPr lang="en-US" sz="1300" dirty="0"/>
          </a:p>
        </p:txBody>
      </p:sp>
      <p:sp>
        <p:nvSpPr>
          <p:cNvPr id="22" name="Text 19"/>
          <p:cNvSpPr/>
          <p:nvPr/>
        </p:nvSpPr>
        <p:spPr>
          <a:xfrm>
            <a:off x="868680" y="484733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What did I accomplish this year?</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49</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2</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Check yourself — Employee self-preparation …(continued)</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34440"/>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Q4.</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The self-appraisal should list key accountabilities…</a:t>
            </a:r>
            <a:endParaRPr lang="en-US" sz="1500" dirty="0"/>
          </a:p>
        </p:txBody>
      </p:sp>
      <p:sp>
        <p:nvSpPr>
          <p:cNvPr id="9" name="Text 6"/>
          <p:cNvSpPr/>
          <p:nvPr/>
        </p:nvSpPr>
        <p:spPr>
          <a:xfrm>
            <a:off x="868680" y="15140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In alphabetical order</a:t>
            </a:r>
            <a:endParaRPr lang="en-US" sz="1300" dirty="0"/>
          </a:p>
        </p:txBody>
      </p:sp>
      <p:sp>
        <p:nvSpPr>
          <p:cNvPr id="10" name="Text 7"/>
          <p:cNvSpPr/>
          <p:nvPr/>
        </p:nvSpPr>
        <p:spPr>
          <a:xfrm>
            <a:off x="868680" y="17363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In order of importance to the job and department</a:t>
            </a:r>
            <a:endParaRPr lang="en-US" sz="1300" dirty="0"/>
          </a:p>
        </p:txBody>
      </p:sp>
      <p:sp>
        <p:nvSpPr>
          <p:cNvPr id="11" name="Text 8"/>
          <p:cNvSpPr/>
          <p:nvPr/>
        </p:nvSpPr>
        <p:spPr>
          <a:xfrm>
            <a:off x="868680" y="19585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In order of how enjoyable they are</a:t>
            </a:r>
            <a:endParaRPr lang="en-US" sz="1300" dirty="0"/>
          </a:p>
        </p:txBody>
      </p:sp>
      <p:sp>
        <p:nvSpPr>
          <p:cNvPr id="12" name="Text 9"/>
          <p:cNvSpPr/>
          <p:nvPr/>
        </p:nvSpPr>
        <p:spPr>
          <a:xfrm>
            <a:off x="868680" y="21808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Only if they changed this year</a:t>
            </a:r>
            <a:endParaRPr lang="en-US" sz="1300" dirty="0"/>
          </a:p>
        </p:txBody>
      </p:sp>
      <p:sp>
        <p:nvSpPr>
          <p:cNvPr id="13" name="Text 10"/>
          <p:cNvSpPr/>
          <p:nvPr/>
        </p:nvSpPr>
        <p:spPr>
          <a:xfrm>
            <a:off x="502920" y="2567686"/>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Q5.</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Is a salary discussion part of the self-preparation questions?</a:t>
            </a:r>
            <a:endParaRPr lang="en-US" sz="1500" dirty="0"/>
          </a:p>
        </p:txBody>
      </p:sp>
      <p:sp>
        <p:nvSpPr>
          <p:cNvPr id="14" name="Text 11"/>
          <p:cNvSpPr/>
          <p:nvPr/>
        </p:nvSpPr>
        <p:spPr>
          <a:xfrm>
            <a:off x="868680" y="28473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Yes — it is optional: assessing current salary relative to performance and expectations for improvement</a:t>
            </a:r>
            <a:endParaRPr lang="en-US" sz="1300" dirty="0"/>
          </a:p>
        </p:txBody>
      </p:sp>
      <p:sp>
        <p:nvSpPr>
          <p:cNvPr id="15" name="Text 12"/>
          <p:cNvSpPr/>
          <p:nvPr/>
        </p:nvSpPr>
        <p:spPr>
          <a:xfrm>
            <a:off x="868680" y="30695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No — salary may never be mentioned</a:t>
            </a:r>
            <a:endParaRPr lang="en-US" sz="1300" dirty="0"/>
          </a:p>
        </p:txBody>
      </p:sp>
      <p:sp>
        <p:nvSpPr>
          <p:cNvPr id="16" name="Text 13"/>
          <p:cNvSpPr/>
          <p:nvPr/>
        </p:nvSpPr>
        <p:spPr>
          <a:xfrm>
            <a:off x="868680" y="32918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Yes — the employee sets their own increase</a:t>
            </a:r>
            <a:endParaRPr lang="en-US" sz="1300" dirty="0"/>
          </a:p>
        </p:txBody>
      </p:sp>
      <p:sp>
        <p:nvSpPr>
          <p:cNvPr id="17" name="Text 14"/>
          <p:cNvSpPr/>
          <p:nvPr/>
        </p:nvSpPr>
        <p:spPr>
          <a:xfrm>
            <a:off x="868680" y="35140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Only if HR attends the interview</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50</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2</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Feedback methods and the BISA model</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07008"/>
            <a:ext cx="11183112" cy="729234"/>
          </a:xfrm>
          <a:prstGeom prst="rect">
            <a:avLst/>
          </a:prstGeom>
          <a:noFill/>
          <a:ln/>
        </p:spPr>
        <p:txBody>
          <a:bodyPr wrap="square" rtlCol="0" anchor="t"/>
          <a:lstStyle/>
          <a:p>
            <a:pPr indent="0" marL="0">
              <a:lnSpc>
                <a:spcPct val="112000"/>
              </a:lnSpc>
              <a:buNone/>
            </a:pPr>
            <a:r>
              <a:rPr lang="en-US" sz="1500" dirty="0">
                <a:solidFill>
                  <a:srgbClr val="6B7280"/>
                </a:solidFill>
                <a:latin typeface="Aptos" pitchFamily="34" charset="0"/>
                <a:ea typeface="Aptos" pitchFamily="34" charset="-122"/>
                <a:cs typeface="Aptos" pitchFamily="34" charset="-120"/>
              </a:rPr>
              <a:t>During preparation the supervisor decides how to give feedback. Feedback that is sent in a useful way is not rejected — but no matter how accurate it is, a defensive receiver gets no value from it. Give feedback so the receiver can hear it clearly and objectively.</a:t>
            </a:r>
            <a:endParaRPr lang="en-US" sz="1500" dirty="0"/>
          </a:p>
        </p:txBody>
      </p:sp>
      <p:sp>
        <p:nvSpPr>
          <p:cNvPr id="9" name="Text 6"/>
          <p:cNvSpPr/>
          <p:nvPr/>
        </p:nvSpPr>
        <p:spPr>
          <a:xfrm>
            <a:off x="502920" y="2009394"/>
            <a:ext cx="11183112" cy="954024"/>
          </a:xfrm>
          <a:prstGeom prst="rect">
            <a:avLst/>
          </a:prstGeom>
          <a:noFill/>
          <a:ln/>
        </p:spPr>
        <p:txBody>
          <a:bodyPr wrap="square" rtlCol="0" anchor="t"/>
          <a:lstStyle/>
          <a:p>
            <a:pPr indent="0" marL="0">
              <a:lnSpc>
                <a:spcPct val="112000"/>
              </a:lnSpc>
              <a:buNone/>
            </a:pPr>
            <a:r>
              <a:rPr lang="en-US" sz="1500" dirty="0">
                <a:solidFill>
                  <a:srgbClr val="6B7280"/>
                </a:solidFill>
                <a:latin typeface="Aptos" pitchFamily="34" charset="0"/>
                <a:ea typeface="Aptos" pitchFamily="34" charset="-122"/>
                <a:cs typeface="Aptos" pitchFamily="34" charset="-120"/>
              </a:rPr>
              <a:t>The BISA model structures non-judgmental feedback: B = Behaviour — identify the specific behaviour you observed; I = Impact — communicate the impact it had on the people present; S = Silence — pause so the person can process and respond; A = Alternatives — ask what could have been done differently, then offer your own suggestions.</a:t>
            </a:r>
            <a:endParaRPr lang="en-US" sz="1500" dirty="0"/>
          </a:p>
        </p:txBody>
      </p:sp>
      <p:sp>
        <p:nvSpPr>
          <p:cNvPr id="10" name="Text 7"/>
          <p:cNvSpPr/>
          <p:nvPr/>
        </p:nvSpPr>
        <p:spPr>
          <a:xfrm>
            <a:off x="576072" y="3073146"/>
            <a:ext cx="11036808" cy="255524"/>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Focus on the behaviour, not the person — 'she cried during the interview', not 'she's a cry baby'.</a:t>
            </a:r>
            <a:endParaRPr lang="en-US" sz="1400" dirty="0"/>
          </a:p>
        </p:txBody>
      </p:sp>
      <p:sp>
        <p:nvSpPr>
          <p:cNvPr id="11" name="Text 8"/>
          <p:cNvSpPr/>
          <p:nvPr/>
        </p:nvSpPr>
        <p:spPr>
          <a:xfrm>
            <a:off x="576072" y="3392678"/>
            <a:ext cx="11036808" cy="465328"/>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Describe rather than judge; be specific rather than general so the receiver knows exactly what to continue or change.</a:t>
            </a:r>
            <a:endParaRPr lang="en-US" sz="1400" dirty="0"/>
          </a:p>
        </p:txBody>
      </p:sp>
      <p:sp>
        <p:nvSpPr>
          <p:cNvPr id="12" name="Text 9"/>
          <p:cNvSpPr/>
          <p:nvPr/>
        </p:nvSpPr>
        <p:spPr>
          <a:xfrm>
            <a:off x="576072" y="3922014"/>
            <a:ext cx="11036808" cy="465328"/>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Feedback must be well timed — as soon as possible after the event — and at the right place: praise in public, criticise in private.</a:t>
            </a:r>
            <a:endParaRPr lang="en-US" sz="1400" dirty="0"/>
          </a:p>
        </p:txBody>
      </p:sp>
      <p:sp>
        <p:nvSpPr>
          <p:cNvPr id="13" name="Text 10"/>
          <p:cNvSpPr/>
          <p:nvPr/>
        </p:nvSpPr>
        <p:spPr>
          <a:xfrm>
            <a:off x="576072" y="4451350"/>
            <a:ext cx="11036808" cy="465328"/>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Only give feedback on behaviour the person can change; keep the amount usable ('less is more'); share ideas rather than give advice; and check the receiver understood.</a:t>
            </a:r>
            <a:endParaRPr lang="en-US" sz="1400" dirty="0"/>
          </a:p>
        </p:txBody>
      </p:sp>
      <p:sp>
        <p:nvSpPr>
          <p:cNvPr id="14" name="Text 11"/>
          <p:cNvSpPr/>
          <p:nvPr/>
        </p:nvSpPr>
        <p:spPr>
          <a:xfrm>
            <a:off x="576072" y="4980686"/>
            <a:ext cx="11036808" cy="465328"/>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Start with the positive: acknowledge specific good contributions and their impact — more meaningful than a generic 'Good job!'.</a:t>
            </a:r>
            <a:endParaRPr lang="en-US" sz="1400" dirty="0"/>
          </a:p>
        </p:txBody>
      </p:sp>
      <p:sp>
        <p:nvSpPr>
          <p:cNvPr id="15" name="Text 12"/>
          <p:cNvSpPr/>
          <p:nvPr/>
        </p:nvSpPr>
        <p:spPr>
          <a:xfrm>
            <a:off x="576072" y="5510022"/>
            <a:ext cx="11036808" cy="465328"/>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Documents to prepare: the Employee Goal Review &amp; Planning form, the Peer Assessment form, the Performance Review form, and the Interview Questionnaire with guiding questions.</a:t>
            </a:r>
            <a:endParaRPr lang="en-US"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51</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2</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Check yourself — Feedback methods and the BISA model</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34440"/>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Q1.</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In the BISA model, what does the S stand for?</a:t>
            </a:r>
            <a:endParaRPr lang="en-US" sz="1500" dirty="0"/>
          </a:p>
        </p:txBody>
      </p:sp>
      <p:sp>
        <p:nvSpPr>
          <p:cNvPr id="9" name="Text 6"/>
          <p:cNvSpPr/>
          <p:nvPr/>
        </p:nvSpPr>
        <p:spPr>
          <a:xfrm>
            <a:off x="868680" y="15140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Salary — discuss pay immediately</a:t>
            </a:r>
            <a:endParaRPr lang="en-US" sz="1300" dirty="0"/>
          </a:p>
        </p:txBody>
      </p:sp>
      <p:sp>
        <p:nvSpPr>
          <p:cNvPr id="10" name="Text 7"/>
          <p:cNvSpPr/>
          <p:nvPr/>
        </p:nvSpPr>
        <p:spPr>
          <a:xfrm>
            <a:off x="868680" y="17363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Silence — pause so the person can process and respond</a:t>
            </a:r>
            <a:endParaRPr lang="en-US" sz="1300" dirty="0"/>
          </a:p>
        </p:txBody>
      </p:sp>
      <p:sp>
        <p:nvSpPr>
          <p:cNvPr id="11" name="Text 8"/>
          <p:cNvSpPr/>
          <p:nvPr/>
        </p:nvSpPr>
        <p:spPr>
          <a:xfrm>
            <a:off x="868680" y="19585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Sanctions — issue a warning</a:t>
            </a:r>
            <a:endParaRPr lang="en-US" sz="1300" dirty="0"/>
          </a:p>
        </p:txBody>
      </p:sp>
      <p:sp>
        <p:nvSpPr>
          <p:cNvPr id="12" name="Text 9"/>
          <p:cNvSpPr/>
          <p:nvPr/>
        </p:nvSpPr>
        <p:spPr>
          <a:xfrm>
            <a:off x="868680" y="21808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Signature — sign the form</a:t>
            </a:r>
            <a:endParaRPr lang="en-US" sz="1300" dirty="0"/>
          </a:p>
        </p:txBody>
      </p:sp>
      <p:sp>
        <p:nvSpPr>
          <p:cNvPr id="13" name="Text 10"/>
          <p:cNvSpPr/>
          <p:nvPr/>
        </p:nvSpPr>
        <p:spPr>
          <a:xfrm>
            <a:off x="502920" y="2567686"/>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Q2.</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Which feedback statement follows the guidelines?</a:t>
            </a:r>
            <a:endParaRPr lang="en-US" sz="1500" dirty="0"/>
          </a:p>
        </p:txBody>
      </p:sp>
      <p:sp>
        <p:nvSpPr>
          <p:cNvPr id="14" name="Text 11"/>
          <p:cNvSpPr/>
          <p:nvPr/>
        </p:nvSpPr>
        <p:spPr>
          <a:xfrm>
            <a:off x="868680" y="28473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'You are useless at client work.'</a:t>
            </a:r>
            <a:endParaRPr lang="en-US" sz="1300" dirty="0"/>
          </a:p>
        </p:txBody>
      </p:sp>
      <p:sp>
        <p:nvSpPr>
          <p:cNvPr id="15" name="Text 12"/>
          <p:cNvSpPr/>
          <p:nvPr/>
        </p:nvSpPr>
        <p:spPr>
          <a:xfrm>
            <a:off x="868680" y="30695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'You're handling everything wrong.'</a:t>
            </a:r>
            <a:endParaRPr lang="en-US" sz="1300" dirty="0"/>
          </a:p>
        </p:txBody>
      </p:sp>
      <p:sp>
        <p:nvSpPr>
          <p:cNvPr id="16" name="Text 13"/>
          <p:cNvSpPr/>
          <p:nvPr/>
        </p:nvSpPr>
        <p:spPr>
          <a:xfrm>
            <a:off x="868680" y="32918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'Instead of ignoring your supervisor's comments, it might help to discuss the situation in detail.'</a:t>
            </a:r>
            <a:endParaRPr lang="en-US" sz="1300" dirty="0"/>
          </a:p>
        </p:txBody>
      </p:sp>
      <p:sp>
        <p:nvSpPr>
          <p:cNvPr id="17" name="Text 14"/>
          <p:cNvSpPr/>
          <p:nvPr/>
        </p:nvSpPr>
        <p:spPr>
          <a:xfrm>
            <a:off x="868680" y="35140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'Everyone thinks you have a bad attitude.'</a:t>
            </a:r>
            <a:endParaRPr lang="en-US" sz="1300" dirty="0"/>
          </a:p>
        </p:txBody>
      </p:sp>
      <p:sp>
        <p:nvSpPr>
          <p:cNvPr id="18" name="Text 15"/>
          <p:cNvSpPr/>
          <p:nvPr/>
        </p:nvSpPr>
        <p:spPr>
          <a:xfrm>
            <a:off x="502920" y="3900932"/>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Q3.</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The general rule about where to give feedback is…</a:t>
            </a:r>
            <a:endParaRPr lang="en-US" sz="1500" dirty="0"/>
          </a:p>
        </p:txBody>
      </p:sp>
      <p:sp>
        <p:nvSpPr>
          <p:cNvPr id="19" name="Text 16"/>
          <p:cNvSpPr/>
          <p:nvPr/>
        </p:nvSpPr>
        <p:spPr>
          <a:xfrm>
            <a:off x="868680" y="418058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Praise in public, criticise in private</a:t>
            </a:r>
            <a:endParaRPr lang="en-US" sz="1300" dirty="0"/>
          </a:p>
        </p:txBody>
      </p:sp>
      <p:sp>
        <p:nvSpPr>
          <p:cNvPr id="20" name="Text 17"/>
          <p:cNvSpPr/>
          <p:nvPr/>
        </p:nvSpPr>
        <p:spPr>
          <a:xfrm>
            <a:off x="868680" y="440283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Criticise in public so others learn</a:t>
            </a:r>
            <a:endParaRPr lang="en-US" sz="1300" dirty="0"/>
          </a:p>
        </p:txBody>
      </p:sp>
      <p:sp>
        <p:nvSpPr>
          <p:cNvPr id="21" name="Text 18"/>
          <p:cNvSpPr/>
          <p:nvPr/>
        </p:nvSpPr>
        <p:spPr>
          <a:xfrm>
            <a:off x="868680" y="462508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Never praise anyone</a:t>
            </a:r>
            <a:endParaRPr lang="en-US" sz="1300" dirty="0"/>
          </a:p>
        </p:txBody>
      </p:sp>
      <p:sp>
        <p:nvSpPr>
          <p:cNvPr id="22" name="Text 19"/>
          <p:cNvSpPr/>
          <p:nvPr/>
        </p:nvSpPr>
        <p:spPr>
          <a:xfrm>
            <a:off x="868680" y="484733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Give all feedback by SMS</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52</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2</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Check yourself — Feedback methods and the BISA model …(continued)</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34440"/>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Q4.</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Why is feedback on unchangeable things (like a stutter) discouraged?</a:t>
            </a:r>
            <a:endParaRPr lang="en-US" sz="1500" dirty="0"/>
          </a:p>
        </p:txBody>
      </p:sp>
      <p:sp>
        <p:nvSpPr>
          <p:cNvPr id="9" name="Text 6"/>
          <p:cNvSpPr/>
          <p:nvPr/>
        </p:nvSpPr>
        <p:spPr>
          <a:xfrm>
            <a:off x="868680" y="15140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It takes too long to say</a:t>
            </a:r>
            <a:endParaRPr lang="en-US" sz="1300" dirty="0"/>
          </a:p>
        </p:txBody>
      </p:sp>
      <p:sp>
        <p:nvSpPr>
          <p:cNvPr id="10" name="Text 7"/>
          <p:cNvSpPr/>
          <p:nvPr/>
        </p:nvSpPr>
        <p:spPr>
          <a:xfrm>
            <a:off x="868680" y="17363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It only frustrates the receiver, who cannot change it</a:t>
            </a:r>
            <a:endParaRPr lang="en-US" sz="1300" dirty="0"/>
          </a:p>
        </p:txBody>
      </p:sp>
      <p:sp>
        <p:nvSpPr>
          <p:cNvPr id="11" name="Text 8"/>
          <p:cNvSpPr/>
          <p:nvPr/>
        </p:nvSpPr>
        <p:spPr>
          <a:xfrm>
            <a:off x="868680" y="19585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It is too cheap</a:t>
            </a:r>
            <a:endParaRPr lang="en-US" sz="1300" dirty="0"/>
          </a:p>
        </p:txBody>
      </p:sp>
      <p:sp>
        <p:nvSpPr>
          <p:cNvPr id="12" name="Text 9"/>
          <p:cNvSpPr/>
          <p:nvPr/>
        </p:nvSpPr>
        <p:spPr>
          <a:xfrm>
            <a:off x="868680" y="21808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It must be saved for the CEO</a:t>
            </a:r>
            <a:endParaRPr lang="en-US" sz="1300" dirty="0"/>
          </a:p>
        </p:txBody>
      </p:sp>
      <p:sp>
        <p:nvSpPr>
          <p:cNvPr id="13" name="Text 10"/>
          <p:cNvSpPr/>
          <p:nvPr/>
        </p:nvSpPr>
        <p:spPr>
          <a:xfrm>
            <a:off x="502920" y="2567686"/>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Q5.</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Which documents should be ready for a performance review interview?</a:t>
            </a:r>
            <a:endParaRPr lang="en-US" sz="1500" dirty="0"/>
          </a:p>
        </p:txBody>
      </p:sp>
      <p:sp>
        <p:nvSpPr>
          <p:cNvPr id="14" name="Text 11"/>
          <p:cNvSpPr/>
          <p:nvPr/>
        </p:nvSpPr>
        <p:spPr>
          <a:xfrm>
            <a:off x="868680" y="28473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Goal review &amp; planning form, peer assessment form, performance review form and interview questionnaire</a:t>
            </a:r>
            <a:endParaRPr lang="en-US" sz="1300" dirty="0"/>
          </a:p>
        </p:txBody>
      </p:sp>
      <p:sp>
        <p:nvSpPr>
          <p:cNvPr id="15" name="Text 12"/>
          <p:cNvSpPr/>
          <p:nvPr/>
        </p:nvSpPr>
        <p:spPr>
          <a:xfrm>
            <a:off x="868680" y="30695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Only the employee's payslip</a:t>
            </a:r>
            <a:endParaRPr lang="en-US" sz="1300" dirty="0"/>
          </a:p>
        </p:txBody>
      </p:sp>
      <p:sp>
        <p:nvSpPr>
          <p:cNvPr id="16" name="Text 13"/>
          <p:cNvSpPr/>
          <p:nvPr/>
        </p:nvSpPr>
        <p:spPr>
          <a:xfrm>
            <a:off x="868680" y="32918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The office lease agreement</a:t>
            </a:r>
            <a:endParaRPr lang="en-US" sz="1300" dirty="0"/>
          </a:p>
        </p:txBody>
      </p:sp>
      <p:sp>
        <p:nvSpPr>
          <p:cNvPr id="17" name="Text 14"/>
          <p:cNvSpPr/>
          <p:nvPr/>
        </p:nvSpPr>
        <p:spPr>
          <a:xfrm>
            <a:off x="868680" y="35140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The company's marketing brochure</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02050"/>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53</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Shape 3"/>
          <p:cNvSpPr/>
          <p:nvPr/>
        </p:nvSpPr>
        <p:spPr>
          <a:xfrm>
            <a:off x="0" y="0"/>
            <a:ext cx="12188952" cy="109728"/>
          </a:xfrm>
          <a:prstGeom prst="rect">
            <a:avLst/>
          </a:prstGeom>
          <a:solidFill>
            <a:srgbClr val="0F6CBD"/>
          </a:solidFill>
          <a:ln/>
        </p:spPr>
      </p:sp>
      <p:sp>
        <p:nvSpPr>
          <p:cNvPr id="6" name="Text 4"/>
          <p:cNvSpPr/>
          <p:nvPr/>
        </p:nvSpPr>
        <p:spPr>
          <a:xfrm>
            <a:off x="502920" y="1920240"/>
            <a:ext cx="11183112" cy="457200"/>
          </a:xfrm>
          <a:prstGeom prst="rect">
            <a:avLst/>
          </a:prstGeom>
          <a:noFill/>
          <a:ln/>
        </p:spPr>
        <p:txBody>
          <a:bodyPr wrap="square" rtlCol="0" anchor="ctr"/>
          <a:lstStyle/>
          <a:p>
            <a:pPr indent="0" marL="0">
              <a:buNone/>
            </a:pPr>
            <a:r>
              <a:rPr lang="en-US" sz="2000" b="1" spc="300" kern="0" dirty="0">
                <a:solidFill>
                  <a:srgbClr val="8CC2F0"/>
                </a:solidFill>
                <a:latin typeface="Aptos" pitchFamily="34" charset="0"/>
                <a:ea typeface="Aptos" pitchFamily="34" charset="-122"/>
                <a:cs typeface="Aptos" pitchFamily="34" charset="-120"/>
              </a:rPr>
              <a:t>LESSON 3</a:t>
            </a:r>
            <a:endParaRPr lang="en-US" sz="2000" dirty="0"/>
          </a:p>
        </p:txBody>
      </p:sp>
      <p:sp>
        <p:nvSpPr>
          <p:cNvPr id="7" name="Text 5"/>
          <p:cNvSpPr/>
          <p:nvPr/>
        </p:nvSpPr>
        <p:spPr>
          <a:xfrm>
            <a:off x="502920" y="2468880"/>
            <a:ext cx="10424160" cy="1554480"/>
          </a:xfrm>
          <a:prstGeom prst="rect">
            <a:avLst/>
          </a:prstGeom>
          <a:noFill/>
          <a:ln/>
        </p:spPr>
        <p:txBody>
          <a:bodyPr wrap="square" rtlCol="0" anchor="ctr"/>
          <a:lstStyle/>
          <a:p>
            <a:pPr indent="0" marL="0">
              <a:buNone/>
            </a:pPr>
            <a:r>
              <a:rPr lang="en-US" sz="4000" b="1" dirty="0">
                <a:solidFill>
                  <a:srgbClr val="FFFFFF"/>
                </a:solidFill>
                <a:latin typeface="Aptos Display" pitchFamily="34" charset="0"/>
                <a:ea typeface="Aptos Display" pitchFamily="34" charset="-122"/>
                <a:cs typeface="Aptos Display" pitchFamily="34" charset="-120"/>
              </a:rPr>
              <a:t>Conduct a performance review interview</a:t>
            </a:r>
            <a:endParaRPr lang="en-US" sz="400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2920" y="1097280"/>
            <a:ext cx="640080" cy="640080"/>
          </a:xfrm>
          <a:prstGeom prst="rect">
            <a:avLst/>
          </a:prstGeom>
        </p:spPr>
      </p:pic>
      <p:sp>
        <p:nvSpPr>
          <p:cNvPr id="9" name="Text 6"/>
          <p:cNvSpPr/>
          <p:nvPr/>
        </p:nvSpPr>
        <p:spPr>
          <a:xfrm>
            <a:off x="502920" y="6291072"/>
            <a:ext cx="11183112" cy="365760"/>
          </a:xfrm>
          <a:prstGeom prst="rect">
            <a:avLst/>
          </a:prstGeom>
          <a:noFill/>
          <a:ln/>
        </p:spPr>
        <p:txBody>
          <a:bodyPr wrap="square" rtlCol="0" anchor="ctr"/>
          <a:lstStyle/>
          <a:p>
            <a:pPr indent="0" marL="0">
              <a:buNone/>
            </a:pPr>
            <a:r>
              <a:rPr lang="en-US" sz="1400" dirty="0">
                <a:solidFill>
                  <a:srgbClr val="6E93BC"/>
                </a:solidFill>
                <a:latin typeface="Aptos" pitchFamily="34" charset="0"/>
                <a:ea typeface="Aptos" pitchFamily="34" charset="-122"/>
                <a:cs typeface="Aptos" pitchFamily="34" charset="-120"/>
              </a:rPr>
              <a:t>US 252034 · Monitor and evaluate team members against performance standards · NQF 5 · 8 credits · ITSS Learn</a:t>
            </a:r>
            <a:endParaRPr lang="en-US" sz="1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54</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3</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Opening the interview</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07008"/>
            <a:ext cx="11183112" cy="954024"/>
          </a:xfrm>
          <a:prstGeom prst="rect">
            <a:avLst/>
          </a:prstGeom>
          <a:noFill/>
          <a:ln/>
        </p:spPr>
        <p:txBody>
          <a:bodyPr wrap="square" rtlCol="0" anchor="t"/>
          <a:lstStyle/>
          <a:p>
            <a:pPr indent="0" marL="0">
              <a:lnSpc>
                <a:spcPct val="112000"/>
              </a:lnSpc>
              <a:buNone/>
            </a:pPr>
            <a:r>
              <a:rPr lang="en-US" sz="1500" dirty="0">
                <a:solidFill>
                  <a:srgbClr val="6B7280"/>
                </a:solidFill>
                <a:latin typeface="Aptos" pitchFamily="34" charset="0"/>
                <a:ea typeface="Aptos" pitchFamily="34" charset="-122"/>
                <a:cs typeface="Aptos" pitchFamily="34" charset="-120"/>
              </a:rPr>
              <a:t>The appraisal interview improves job performance by communicating appreciation for the employee's contribution, informing them of the overall appraisal and its criteria, opening a proactive dialogue about correcting weaknesses and building on strengths, clarifying expectations, strengthening the working relationship, and setting goals for the coming year.</a:t>
            </a:r>
            <a:endParaRPr lang="en-US" sz="1500" dirty="0"/>
          </a:p>
        </p:txBody>
      </p:sp>
      <p:sp>
        <p:nvSpPr>
          <p:cNvPr id="9" name="Text 6"/>
          <p:cNvSpPr/>
          <p:nvPr/>
        </p:nvSpPr>
        <p:spPr>
          <a:xfrm>
            <a:off x="576072" y="2270760"/>
            <a:ext cx="11036808" cy="465328"/>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Open by establishing rapport. Explain the purpose of the interview and what will take place — some interviewers prepare a standard opening script.</a:t>
            </a:r>
            <a:endParaRPr lang="en-US" sz="1400" dirty="0"/>
          </a:p>
        </p:txBody>
      </p:sp>
      <p:sp>
        <p:nvSpPr>
          <p:cNvPr id="10" name="Text 7"/>
          <p:cNvSpPr/>
          <p:nvPr/>
        </p:nvSpPr>
        <p:spPr>
          <a:xfrm>
            <a:off x="576072" y="2800096"/>
            <a:ext cx="11036808" cy="255524"/>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Emphasise that the interview is part of an ongoing, two-way feedback process.</a:t>
            </a:r>
            <a:endParaRPr lang="en-US" sz="1400" dirty="0"/>
          </a:p>
        </p:txBody>
      </p:sp>
      <p:sp>
        <p:nvSpPr>
          <p:cNvPr id="11" name="Text 8"/>
          <p:cNvSpPr/>
          <p:nvPr/>
        </p:nvSpPr>
        <p:spPr>
          <a:xfrm>
            <a:off x="576072" y="3119628"/>
            <a:ext cx="11036808" cy="255524"/>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Discuss the job in general first and agree on its key tasks, content and responsibilities.</a:t>
            </a:r>
            <a:endParaRPr lang="en-US" sz="1400" dirty="0"/>
          </a:p>
        </p:txBody>
      </p:sp>
      <p:sp>
        <p:nvSpPr>
          <p:cNvPr id="12" name="Text 9"/>
          <p:cNvSpPr/>
          <p:nvPr/>
        </p:nvSpPr>
        <p:spPr>
          <a:xfrm>
            <a:off x="576072" y="3439160"/>
            <a:ext cx="11036808" cy="255524"/>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Start with areas of agreement and strengths, then move gradually into disagreements and performance weaknesses.</a:t>
            </a:r>
            <a:endParaRPr lang="en-US" sz="1400" dirty="0"/>
          </a:p>
        </p:txBody>
      </p:sp>
      <p:sp>
        <p:nvSpPr>
          <p:cNvPr id="13" name="Text 10"/>
          <p:cNvSpPr/>
          <p:nvPr/>
        </p:nvSpPr>
        <p:spPr>
          <a:xfrm>
            <a:off x="576072" y="3758692"/>
            <a:ext cx="11036808" cy="465328"/>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Use specific, actual examples of good performance — but avoid the pattern where praise always signals incoming criticism.</a:t>
            </a:r>
            <a:endParaRPr lang="en-US" sz="1400" dirty="0"/>
          </a:p>
        </p:txBody>
      </p:sp>
      <p:sp>
        <p:nvSpPr>
          <p:cNvPr id="14" name="Text 11"/>
          <p:cNvSpPr/>
          <p:nvPr/>
        </p:nvSpPr>
        <p:spPr>
          <a:xfrm>
            <a:off x="576072" y="4288028"/>
            <a:ext cx="11036808" cy="465328"/>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If the employee is quiet or nervous, ask how particular parts of the job are performed or how specific incidents were handled; give plenty of openings for their own issues, questions and improvement suggestions.</a:t>
            </a:r>
            <a:endParaRPr lang="en-US" sz="1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55</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3</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Check yourself — Opening the interview</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34440"/>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Q1.</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How should a performance review interview open?</a:t>
            </a:r>
            <a:endParaRPr lang="en-US" sz="1500" dirty="0"/>
          </a:p>
        </p:txBody>
      </p:sp>
      <p:sp>
        <p:nvSpPr>
          <p:cNvPr id="9" name="Text 6"/>
          <p:cNvSpPr/>
          <p:nvPr/>
        </p:nvSpPr>
        <p:spPr>
          <a:xfrm>
            <a:off x="868680" y="15140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With the list of everything that went wrong</a:t>
            </a:r>
            <a:endParaRPr lang="en-US" sz="1300" dirty="0"/>
          </a:p>
        </p:txBody>
      </p:sp>
      <p:sp>
        <p:nvSpPr>
          <p:cNvPr id="10" name="Text 7"/>
          <p:cNvSpPr/>
          <p:nvPr/>
        </p:nvSpPr>
        <p:spPr>
          <a:xfrm>
            <a:off x="868680" y="17363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By establishing rapport and explaining the purpose and process</a:t>
            </a:r>
            <a:endParaRPr lang="en-US" sz="1300" dirty="0"/>
          </a:p>
        </p:txBody>
      </p:sp>
      <p:sp>
        <p:nvSpPr>
          <p:cNvPr id="11" name="Text 8"/>
          <p:cNvSpPr/>
          <p:nvPr/>
        </p:nvSpPr>
        <p:spPr>
          <a:xfrm>
            <a:off x="868680" y="19585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With the salary decision</a:t>
            </a:r>
            <a:endParaRPr lang="en-US" sz="1300" dirty="0"/>
          </a:p>
        </p:txBody>
      </p:sp>
      <p:sp>
        <p:nvSpPr>
          <p:cNvPr id="12" name="Text 9"/>
          <p:cNvSpPr/>
          <p:nvPr/>
        </p:nvSpPr>
        <p:spPr>
          <a:xfrm>
            <a:off x="868680" y="21808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In total silence</a:t>
            </a:r>
            <a:endParaRPr lang="en-US" sz="1300" dirty="0"/>
          </a:p>
        </p:txBody>
      </p:sp>
      <p:sp>
        <p:nvSpPr>
          <p:cNvPr id="13" name="Text 10"/>
          <p:cNvSpPr/>
          <p:nvPr/>
        </p:nvSpPr>
        <p:spPr>
          <a:xfrm>
            <a:off x="502920" y="2567686"/>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Q2.</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What should be discussed FIRST, before any ratings?</a:t>
            </a:r>
            <a:endParaRPr lang="en-US" sz="1500" dirty="0"/>
          </a:p>
        </p:txBody>
      </p:sp>
      <p:sp>
        <p:nvSpPr>
          <p:cNvPr id="14" name="Text 11"/>
          <p:cNvSpPr/>
          <p:nvPr/>
        </p:nvSpPr>
        <p:spPr>
          <a:xfrm>
            <a:off x="868680" y="28473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The job in general — agreeing its key tasks, content and responsibilities</a:t>
            </a:r>
            <a:endParaRPr lang="en-US" sz="1300" dirty="0"/>
          </a:p>
        </p:txBody>
      </p:sp>
      <p:sp>
        <p:nvSpPr>
          <p:cNvPr id="15" name="Text 12"/>
          <p:cNvSpPr/>
          <p:nvPr/>
        </p:nvSpPr>
        <p:spPr>
          <a:xfrm>
            <a:off x="868680" y="30695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The employee's personality</a:t>
            </a:r>
            <a:endParaRPr lang="en-US" sz="1300" dirty="0"/>
          </a:p>
        </p:txBody>
      </p:sp>
      <p:sp>
        <p:nvSpPr>
          <p:cNvPr id="16" name="Text 13"/>
          <p:cNvSpPr/>
          <p:nvPr/>
        </p:nvSpPr>
        <p:spPr>
          <a:xfrm>
            <a:off x="868680" y="32918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Office gossip</a:t>
            </a:r>
            <a:endParaRPr lang="en-US" sz="1300" dirty="0"/>
          </a:p>
        </p:txBody>
      </p:sp>
      <p:sp>
        <p:nvSpPr>
          <p:cNvPr id="17" name="Text 14"/>
          <p:cNvSpPr/>
          <p:nvPr/>
        </p:nvSpPr>
        <p:spPr>
          <a:xfrm>
            <a:off x="868680" y="35140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The manager's own career</a:t>
            </a:r>
            <a:endParaRPr lang="en-US" sz="1300" dirty="0"/>
          </a:p>
        </p:txBody>
      </p:sp>
      <p:sp>
        <p:nvSpPr>
          <p:cNvPr id="18" name="Text 15"/>
          <p:cNvSpPr/>
          <p:nvPr/>
        </p:nvSpPr>
        <p:spPr>
          <a:xfrm>
            <a:off x="502920" y="3900932"/>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Q3.</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Why avoid always following praise with criticism?</a:t>
            </a:r>
            <a:endParaRPr lang="en-US" sz="1500" dirty="0"/>
          </a:p>
        </p:txBody>
      </p:sp>
      <p:sp>
        <p:nvSpPr>
          <p:cNvPr id="19" name="Text 16"/>
          <p:cNvSpPr/>
          <p:nvPr/>
        </p:nvSpPr>
        <p:spPr>
          <a:xfrm>
            <a:off x="868680" y="418058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Praise becomes a warning sign and loses its value</a:t>
            </a:r>
            <a:endParaRPr lang="en-US" sz="1300" dirty="0"/>
          </a:p>
        </p:txBody>
      </p:sp>
      <p:sp>
        <p:nvSpPr>
          <p:cNvPr id="20" name="Text 17"/>
          <p:cNvSpPr/>
          <p:nvPr/>
        </p:nvSpPr>
        <p:spPr>
          <a:xfrm>
            <a:off x="868680" y="440283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Criticism is never allowed</a:t>
            </a:r>
            <a:endParaRPr lang="en-US" sz="1300" dirty="0"/>
          </a:p>
        </p:txBody>
      </p:sp>
      <p:sp>
        <p:nvSpPr>
          <p:cNvPr id="21" name="Text 18"/>
          <p:cNvSpPr/>
          <p:nvPr/>
        </p:nvSpPr>
        <p:spPr>
          <a:xfrm>
            <a:off x="868680" y="462508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Praise must be saved for year-end</a:t>
            </a:r>
            <a:endParaRPr lang="en-US" sz="1300" dirty="0"/>
          </a:p>
        </p:txBody>
      </p:sp>
      <p:sp>
        <p:nvSpPr>
          <p:cNvPr id="22" name="Text 19"/>
          <p:cNvSpPr/>
          <p:nvPr/>
        </p:nvSpPr>
        <p:spPr>
          <a:xfrm>
            <a:off x="868680" y="484733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It makes interviews too short</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56</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3</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Check yourself — Opening the interview …(continued)</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34440"/>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Q4.</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The interview should be emphasised as…</a:t>
            </a:r>
            <a:endParaRPr lang="en-US" sz="1500" dirty="0"/>
          </a:p>
        </p:txBody>
      </p:sp>
      <p:sp>
        <p:nvSpPr>
          <p:cNvPr id="9" name="Text 6"/>
          <p:cNvSpPr/>
          <p:nvPr/>
        </p:nvSpPr>
        <p:spPr>
          <a:xfrm>
            <a:off x="868680" y="15140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A one-way verdict from management</a:t>
            </a:r>
            <a:endParaRPr lang="en-US" sz="1300" dirty="0"/>
          </a:p>
        </p:txBody>
      </p:sp>
      <p:sp>
        <p:nvSpPr>
          <p:cNvPr id="10" name="Text 7"/>
          <p:cNvSpPr/>
          <p:nvPr/>
        </p:nvSpPr>
        <p:spPr>
          <a:xfrm>
            <a:off x="868680" y="17363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Part of an ongoing, two-way feedback process</a:t>
            </a:r>
            <a:endParaRPr lang="en-US" sz="1300" dirty="0"/>
          </a:p>
        </p:txBody>
      </p:sp>
      <p:sp>
        <p:nvSpPr>
          <p:cNvPr id="11" name="Text 8"/>
          <p:cNvSpPr/>
          <p:nvPr/>
        </p:nvSpPr>
        <p:spPr>
          <a:xfrm>
            <a:off x="868680" y="19585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A disciplinary hearing</a:t>
            </a:r>
            <a:endParaRPr lang="en-US" sz="1300" dirty="0"/>
          </a:p>
        </p:txBody>
      </p:sp>
      <p:sp>
        <p:nvSpPr>
          <p:cNvPr id="12" name="Text 9"/>
          <p:cNvSpPr/>
          <p:nvPr/>
        </p:nvSpPr>
        <p:spPr>
          <a:xfrm>
            <a:off x="868680" y="21808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A confidential HR investigation</a:t>
            </a:r>
            <a:endParaRPr lang="en-US" sz="1300" dirty="0"/>
          </a:p>
        </p:txBody>
      </p:sp>
      <p:sp>
        <p:nvSpPr>
          <p:cNvPr id="13" name="Text 10"/>
          <p:cNvSpPr/>
          <p:nvPr/>
        </p:nvSpPr>
        <p:spPr>
          <a:xfrm>
            <a:off x="502920" y="2567686"/>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Q5.</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A quiet, nervous employee should be…</a:t>
            </a:r>
            <a:endParaRPr lang="en-US" sz="1500" dirty="0"/>
          </a:p>
        </p:txBody>
      </p:sp>
      <p:sp>
        <p:nvSpPr>
          <p:cNvPr id="14" name="Text 11"/>
          <p:cNvSpPr/>
          <p:nvPr/>
        </p:nvSpPr>
        <p:spPr>
          <a:xfrm>
            <a:off x="868680" y="28473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Skipped over quickly</a:t>
            </a:r>
            <a:endParaRPr lang="en-US" sz="1300" dirty="0"/>
          </a:p>
        </p:txBody>
      </p:sp>
      <p:sp>
        <p:nvSpPr>
          <p:cNvPr id="15" name="Text 12"/>
          <p:cNvSpPr/>
          <p:nvPr/>
        </p:nvSpPr>
        <p:spPr>
          <a:xfrm>
            <a:off x="868680" y="30695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Asked to comment on how specific parts of the job or incidents were handled</a:t>
            </a:r>
            <a:endParaRPr lang="en-US" sz="1300" dirty="0"/>
          </a:p>
        </p:txBody>
      </p:sp>
      <p:sp>
        <p:nvSpPr>
          <p:cNvPr id="16" name="Text 13"/>
          <p:cNvSpPr/>
          <p:nvPr/>
        </p:nvSpPr>
        <p:spPr>
          <a:xfrm>
            <a:off x="868680" y="32918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Rated lower for poor communication</a:t>
            </a:r>
            <a:endParaRPr lang="en-US" sz="1300" dirty="0"/>
          </a:p>
        </p:txBody>
      </p:sp>
      <p:sp>
        <p:nvSpPr>
          <p:cNvPr id="17" name="Text 14"/>
          <p:cNvSpPr/>
          <p:nvPr/>
        </p:nvSpPr>
        <p:spPr>
          <a:xfrm>
            <a:off x="868680" y="35140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Sent back to their desk</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57</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3</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Handling disagreement and rating fairly</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07008"/>
            <a:ext cx="11183112" cy="729234"/>
          </a:xfrm>
          <a:prstGeom prst="rect">
            <a:avLst/>
          </a:prstGeom>
          <a:noFill/>
          <a:ln/>
        </p:spPr>
        <p:txBody>
          <a:bodyPr wrap="square" rtlCol="0" anchor="t"/>
          <a:lstStyle/>
          <a:p>
            <a:pPr indent="0" marL="0">
              <a:lnSpc>
                <a:spcPct val="112000"/>
              </a:lnSpc>
              <a:buNone/>
            </a:pPr>
            <a:r>
              <a:rPr lang="en-US" sz="1500" dirty="0">
                <a:solidFill>
                  <a:srgbClr val="6B7280"/>
                </a:solidFill>
                <a:latin typeface="Aptos" pitchFamily="34" charset="0"/>
                <a:ea typeface="Aptos" pitchFamily="34" charset="-122"/>
                <a:cs typeface="Aptos" pitchFamily="34" charset="-120"/>
              </a:rPr>
              <a:t>Focusing on actual job behaviour keeps the emotional temperature down. Employees may react unpredictably — the classic reactions are 'fight' (defend and argue back) or 'flight' (avoid the issue or pretend to agree). Both must be resolved during the interview.</a:t>
            </a:r>
            <a:endParaRPr lang="en-US" sz="1500" dirty="0"/>
          </a:p>
        </p:txBody>
      </p:sp>
      <p:sp>
        <p:nvSpPr>
          <p:cNvPr id="9" name="Text 6"/>
          <p:cNvSpPr/>
          <p:nvPr/>
        </p:nvSpPr>
        <p:spPr>
          <a:xfrm>
            <a:off x="576072" y="2045970"/>
            <a:ext cx="11036808" cy="255524"/>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Fight: hear the employee out, acknowledge and note what was said, then restate the evidence behind the assessment.</a:t>
            </a:r>
            <a:endParaRPr lang="en-US" sz="1400" dirty="0"/>
          </a:p>
        </p:txBody>
      </p:sp>
      <p:sp>
        <p:nvSpPr>
          <p:cNvPr id="10" name="Text 7"/>
          <p:cNvSpPr/>
          <p:nvPr/>
        </p:nvSpPr>
        <p:spPr>
          <a:xfrm>
            <a:off x="576072" y="2365502"/>
            <a:ext cx="11036808" cy="255524"/>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Flight: persist with more direct questions until you get to the bottom of the issue — do not move on until you have.</a:t>
            </a:r>
            <a:endParaRPr lang="en-US" sz="1400" dirty="0"/>
          </a:p>
        </p:txBody>
      </p:sp>
      <p:sp>
        <p:nvSpPr>
          <p:cNvPr id="11" name="Text 8"/>
          <p:cNvSpPr/>
          <p:nvPr/>
        </p:nvSpPr>
        <p:spPr>
          <a:xfrm>
            <a:off x="576072" y="2685034"/>
            <a:ext cx="11036808" cy="465328"/>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Where performance problems exist, explore the specific gap between current and required performance, ways to close it, and the consequences if it is not closed.</a:t>
            </a:r>
            <a:endParaRPr lang="en-US" sz="1400" dirty="0"/>
          </a:p>
        </p:txBody>
      </p:sp>
      <p:sp>
        <p:nvSpPr>
          <p:cNvPr id="12" name="Text 9"/>
          <p:cNvSpPr/>
          <p:nvPr/>
        </p:nvSpPr>
        <p:spPr>
          <a:xfrm>
            <a:off x="576072" y="3214370"/>
            <a:ext cx="11036808" cy="465328"/>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Never link behaviour to personality — that is when interviews go out of control. Address every relevant matter; nothing may be 'left hanging'.</a:t>
            </a:r>
            <a:endParaRPr lang="en-US" sz="1400" dirty="0"/>
          </a:p>
        </p:txBody>
      </p:sp>
      <p:sp>
        <p:nvSpPr>
          <p:cNvPr id="13" name="Text 10"/>
          <p:cNvSpPr/>
          <p:nvPr/>
        </p:nvSpPr>
        <p:spPr>
          <a:xfrm>
            <a:off x="576072" y="3743706"/>
            <a:ext cx="11036808" cy="465328"/>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If a rating disagreement cannot be resolved, record that it occurred — do not escape with an 'average' rating. Consider follow-up action, and be ready to modify your appraisal if the self-appraisal sheds new light.</a:t>
            </a:r>
            <a:endParaRPr lang="en-US" sz="1400" dirty="0"/>
          </a:p>
        </p:txBody>
      </p:sp>
      <p:sp>
        <p:nvSpPr>
          <p:cNvPr id="14" name="Text 11"/>
          <p:cNvSpPr/>
          <p:nvPr/>
        </p:nvSpPr>
        <p:spPr>
          <a:xfrm>
            <a:off x="576072" y="4273042"/>
            <a:ext cx="11036808" cy="884936"/>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Rating techniques: be factual with specific examples; consider day-in, day-out performance over the whole period — not one or two outstanding events; rate the employee, not the importance of the job; avoid rating consistently high or low; build on strength without avoiding needed improvement; the immediate manager conducts the appraisal with no one else present; both parties sign the form.</a:t>
            </a:r>
            <a:endParaRPr lang="en-US" sz="1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58</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3</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Check yourself — Handling disagreement and rating fairly</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34440"/>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Q1.</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What are the two classic reactions when an employee disagrees with feedback?</a:t>
            </a:r>
            <a:endParaRPr lang="en-US" sz="1500" dirty="0"/>
          </a:p>
        </p:txBody>
      </p:sp>
      <p:sp>
        <p:nvSpPr>
          <p:cNvPr id="9" name="Text 6"/>
          <p:cNvSpPr/>
          <p:nvPr/>
        </p:nvSpPr>
        <p:spPr>
          <a:xfrm>
            <a:off x="868680" y="15140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Fight (argue back) and flight (avoid or pretend to agree)</a:t>
            </a:r>
            <a:endParaRPr lang="en-US" sz="1300" dirty="0"/>
          </a:p>
        </p:txBody>
      </p:sp>
      <p:sp>
        <p:nvSpPr>
          <p:cNvPr id="10" name="Text 7"/>
          <p:cNvSpPr/>
          <p:nvPr/>
        </p:nvSpPr>
        <p:spPr>
          <a:xfrm>
            <a:off x="868680" y="17363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Laughing and crying</a:t>
            </a:r>
            <a:endParaRPr lang="en-US" sz="1300" dirty="0"/>
          </a:p>
        </p:txBody>
      </p:sp>
      <p:sp>
        <p:nvSpPr>
          <p:cNvPr id="11" name="Text 8"/>
          <p:cNvSpPr/>
          <p:nvPr/>
        </p:nvSpPr>
        <p:spPr>
          <a:xfrm>
            <a:off x="868680" y="19585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Resigning and promotion</a:t>
            </a:r>
            <a:endParaRPr lang="en-US" sz="1300" dirty="0"/>
          </a:p>
        </p:txBody>
      </p:sp>
      <p:sp>
        <p:nvSpPr>
          <p:cNvPr id="12" name="Text 9"/>
          <p:cNvSpPr/>
          <p:nvPr/>
        </p:nvSpPr>
        <p:spPr>
          <a:xfrm>
            <a:off x="868680" y="21808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Silence and applause</a:t>
            </a:r>
            <a:endParaRPr lang="en-US" sz="1300" dirty="0"/>
          </a:p>
        </p:txBody>
      </p:sp>
      <p:sp>
        <p:nvSpPr>
          <p:cNvPr id="13" name="Text 10"/>
          <p:cNvSpPr/>
          <p:nvPr/>
        </p:nvSpPr>
        <p:spPr>
          <a:xfrm>
            <a:off x="502920" y="2567686"/>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Q2.</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How should you handle a 'fight' reaction?</a:t>
            </a:r>
            <a:endParaRPr lang="en-US" sz="1500" dirty="0"/>
          </a:p>
        </p:txBody>
      </p:sp>
      <p:sp>
        <p:nvSpPr>
          <p:cNvPr id="14" name="Text 11"/>
          <p:cNvSpPr/>
          <p:nvPr/>
        </p:nvSpPr>
        <p:spPr>
          <a:xfrm>
            <a:off x="868680" y="28473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Argue louder until you win</a:t>
            </a:r>
            <a:endParaRPr lang="en-US" sz="1300" dirty="0"/>
          </a:p>
        </p:txBody>
      </p:sp>
      <p:sp>
        <p:nvSpPr>
          <p:cNvPr id="15" name="Text 12"/>
          <p:cNvSpPr/>
          <p:nvPr/>
        </p:nvSpPr>
        <p:spPr>
          <a:xfrm>
            <a:off x="868680" y="30695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Hear the employee out, acknowledge and note it, then restate the evidence for the assessment</a:t>
            </a:r>
            <a:endParaRPr lang="en-US" sz="1300" dirty="0"/>
          </a:p>
        </p:txBody>
      </p:sp>
      <p:sp>
        <p:nvSpPr>
          <p:cNvPr id="16" name="Text 13"/>
          <p:cNvSpPr/>
          <p:nvPr/>
        </p:nvSpPr>
        <p:spPr>
          <a:xfrm>
            <a:off x="868680" y="32918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End the interview immediately</a:t>
            </a:r>
            <a:endParaRPr lang="en-US" sz="1300" dirty="0"/>
          </a:p>
        </p:txBody>
      </p:sp>
      <p:sp>
        <p:nvSpPr>
          <p:cNvPr id="17" name="Text 14"/>
          <p:cNvSpPr/>
          <p:nvPr/>
        </p:nvSpPr>
        <p:spPr>
          <a:xfrm>
            <a:off x="868680" y="35140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Change the rating to keep the peace</a:t>
            </a:r>
            <a:endParaRPr lang="en-US" sz="1300" dirty="0"/>
          </a:p>
        </p:txBody>
      </p:sp>
      <p:sp>
        <p:nvSpPr>
          <p:cNvPr id="18" name="Text 15"/>
          <p:cNvSpPr/>
          <p:nvPr/>
        </p:nvSpPr>
        <p:spPr>
          <a:xfrm>
            <a:off x="502920" y="3900932"/>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Q3.</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If a rating disagreement cannot be resolved, you should…</a:t>
            </a:r>
            <a:endParaRPr lang="en-US" sz="1500" dirty="0"/>
          </a:p>
        </p:txBody>
      </p:sp>
      <p:sp>
        <p:nvSpPr>
          <p:cNvPr id="19" name="Text 16"/>
          <p:cNvSpPr/>
          <p:nvPr/>
        </p:nvSpPr>
        <p:spPr>
          <a:xfrm>
            <a:off x="868680" y="418058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Issue an 'average' rating to escape the conflict</a:t>
            </a:r>
            <a:endParaRPr lang="en-US" sz="1300" dirty="0"/>
          </a:p>
        </p:txBody>
      </p:sp>
      <p:sp>
        <p:nvSpPr>
          <p:cNvPr id="20" name="Text 17"/>
          <p:cNvSpPr/>
          <p:nvPr/>
        </p:nvSpPr>
        <p:spPr>
          <a:xfrm>
            <a:off x="868680" y="440283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Note that the disagreement occurred and consider follow-up action</a:t>
            </a:r>
            <a:endParaRPr lang="en-US" sz="1300" dirty="0"/>
          </a:p>
        </p:txBody>
      </p:sp>
      <p:sp>
        <p:nvSpPr>
          <p:cNvPr id="21" name="Text 18"/>
          <p:cNvSpPr/>
          <p:nvPr/>
        </p:nvSpPr>
        <p:spPr>
          <a:xfrm>
            <a:off x="868680" y="462508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Delete the element from the plan</a:t>
            </a:r>
            <a:endParaRPr lang="en-US" sz="1300" dirty="0"/>
          </a:p>
        </p:txBody>
      </p:sp>
      <p:sp>
        <p:nvSpPr>
          <p:cNvPr id="22" name="Text 19"/>
          <p:cNvSpPr/>
          <p:nvPr/>
        </p:nvSpPr>
        <p:spPr>
          <a:xfrm>
            <a:off x="868680" y="484733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Ask the employee to leave</a:t>
            </a:r>
            <a:endParaRPr lang="en-US" sz="13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59</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3</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Check yourself — Handling disagreement and rating fairly …(continued)</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34440"/>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Q4.</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Which is a correct rating technique?</a:t>
            </a:r>
            <a:endParaRPr lang="en-US" sz="1500" dirty="0"/>
          </a:p>
        </p:txBody>
      </p:sp>
      <p:sp>
        <p:nvSpPr>
          <p:cNvPr id="9" name="Text 6"/>
          <p:cNvSpPr/>
          <p:nvPr/>
        </p:nvSpPr>
        <p:spPr>
          <a:xfrm>
            <a:off x="868680" y="15140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Let one outstanding incident define the whole year</a:t>
            </a:r>
            <a:endParaRPr lang="en-US" sz="1300" dirty="0"/>
          </a:p>
        </p:txBody>
      </p:sp>
      <p:sp>
        <p:nvSpPr>
          <p:cNvPr id="10" name="Text 7"/>
          <p:cNvSpPr/>
          <p:nvPr/>
        </p:nvSpPr>
        <p:spPr>
          <a:xfrm>
            <a:off x="868680" y="17363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Rate people in 'better' jobs higher automatically</a:t>
            </a:r>
            <a:endParaRPr lang="en-US" sz="1300" dirty="0"/>
          </a:p>
        </p:txBody>
      </p:sp>
      <p:sp>
        <p:nvSpPr>
          <p:cNvPr id="11" name="Text 8"/>
          <p:cNvSpPr/>
          <p:nvPr/>
        </p:nvSpPr>
        <p:spPr>
          <a:xfrm>
            <a:off x="868680" y="19585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Consider day-in, day-out performance over the whole rating period</a:t>
            </a:r>
            <a:endParaRPr lang="en-US" sz="1300" dirty="0"/>
          </a:p>
        </p:txBody>
      </p:sp>
      <p:sp>
        <p:nvSpPr>
          <p:cNvPr id="12" name="Text 9"/>
          <p:cNvSpPr/>
          <p:nvPr/>
        </p:nvSpPr>
        <p:spPr>
          <a:xfrm>
            <a:off x="868680" y="21808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Rate everyone consistently high to stay popular</a:t>
            </a:r>
            <a:endParaRPr lang="en-US" sz="1300" dirty="0"/>
          </a:p>
        </p:txBody>
      </p:sp>
      <p:sp>
        <p:nvSpPr>
          <p:cNvPr id="13" name="Text 10"/>
          <p:cNvSpPr/>
          <p:nvPr/>
        </p:nvSpPr>
        <p:spPr>
          <a:xfrm>
            <a:off x="502920" y="2567686"/>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Q5.</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Who conducts the appraisal, and who signs the form?</a:t>
            </a:r>
            <a:endParaRPr lang="en-US" sz="1500" dirty="0"/>
          </a:p>
        </p:txBody>
      </p:sp>
      <p:sp>
        <p:nvSpPr>
          <p:cNvPr id="14" name="Text 11"/>
          <p:cNvSpPr/>
          <p:nvPr/>
        </p:nvSpPr>
        <p:spPr>
          <a:xfrm>
            <a:off x="868680" y="28473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The whole team conducts it; nobody signs</a:t>
            </a:r>
            <a:endParaRPr lang="en-US" sz="1300" dirty="0"/>
          </a:p>
        </p:txBody>
      </p:sp>
      <p:sp>
        <p:nvSpPr>
          <p:cNvPr id="15" name="Text 12"/>
          <p:cNvSpPr/>
          <p:nvPr/>
        </p:nvSpPr>
        <p:spPr>
          <a:xfrm>
            <a:off x="868680" y="30695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The immediate manager conducts it with no one else present; both manager and employee sign</a:t>
            </a:r>
            <a:endParaRPr lang="en-US" sz="1300" dirty="0"/>
          </a:p>
        </p:txBody>
      </p:sp>
      <p:sp>
        <p:nvSpPr>
          <p:cNvPr id="16" name="Text 13"/>
          <p:cNvSpPr/>
          <p:nvPr/>
        </p:nvSpPr>
        <p:spPr>
          <a:xfrm>
            <a:off x="868680" y="32918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HR conducts it; only HR signs</a:t>
            </a:r>
            <a:endParaRPr lang="en-US" sz="1300" dirty="0"/>
          </a:p>
        </p:txBody>
      </p:sp>
      <p:sp>
        <p:nvSpPr>
          <p:cNvPr id="17" name="Text 14"/>
          <p:cNvSpPr/>
          <p:nvPr/>
        </p:nvSpPr>
        <p:spPr>
          <a:xfrm>
            <a:off x="868680" y="35140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An external consultant conducts it; the CEO signs</a:t>
            </a:r>
            <a:endParaRPr lang="en-US" sz="13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60</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3</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Action plans, closing and records</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07008"/>
            <a:ext cx="11183112" cy="729234"/>
          </a:xfrm>
          <a:prstGeom prst="rect">
            <a:avLst/>
          </a:prstGeom>
          <a:noFill/>
          <a:ln/>
        </p:spPr>
        <p:txBody>
          <a:bodyPr wrap="square" rtlCol="0" anchor="t"/>
          <a:lstStyle/>
          <a:p>
            <a:pPr indent="0" marL="0">
              <a:lnSpc>
                <a:spcPct val="112000"/>
              </a:lnSpc>
              <a:buNone/>
            </a:pPr>
            <a:r>
              <a:rPr lang="en-US" sz="1500" dirty="0">
                <a:solidFill>
                  <a:srgbClr val="6B7280"/>
                </a:solidFill>
                <a:latin typeface="Aptos" pitchFamily="34" charset="0"/>
                <a:ea typeface="Aptos" pitchFamily="34" charset="-122"/>
                <a:cs typeface="Aptos" pitchFamily="34" charset="-120"/>
              </a:rPr>
              <a:t>After agreeing the ratings, develop action plans to address performance gaps — in co-operation with the employee. You are NOT dictating a plan: you are working together on a viable plan focused on the most important goals, not every area that could improve.</a:t>
            </a:r>
            <a:endParaRPr lang="en-US" sz="1500" dirty="0"/>
          </a:p>
        </p:txBody>
      </p:sp>
      <p:sp>
        <p:nvSpPr>
          <p:cNvPr id="9" name="Text 6"/>
          <p:cNvSpPr/>
          <p:nvPr/>
        </p:nvSpPr>
        <p:spPr>
          <a:xfrm>
            <a:off x="502920" y="2009394"/>
            <a:ext cx="11183112" cy="504444"/>
          </a:xfrm>
          <a:prstGeom prst="rect">
            <a:avLst/>
          </a:prstGeom>
          <a:noFill/>
          <a:ln/>
        </p:spPr>
        <p:txBody>
          <a:bodyPr wrap="square" rtlCol="0" anchor="t"/>
          <a:lstStyle/>
          <a:p>
            <a:pPr indent="0" marL="0">
              <a:lnSpc>
                <a:spcPct val="112000"/>
              </a:lnSpc>
              <a:buNone/>
            </a:pPr>
            <a:r>
              <a:rPr lang="en-US" sz="1500" dirty="0">
                <a:solidFill>
                  <a:srgbClr val="6B7280"/>
                </a:solidFill>
                <a:latin typeface="Aptos" pitchFamily="34" charset="0"/>
                <a:ea typeface="Aptos" pitchFamily="34" charset="-122"/>
                <a:cs typeface="Aptos" pitchFamily="34" charset="-120"/>
              </a:rPr>
              <a:t>By the time the appraisal is over, the employee must be able to answer the two most important questions about their work: HOW AM I DOING? and WHERE AM I GOING?</a:t>
            </a:r>
            <a:endParaRPr lang="en-US" sz="1500" dirty="0"/>
          </a:p>
        </p:txBody>
      </p:sp>
      <p:sp>
        <p:nvSpPr>
          <p:cNvPr id="10" name="Text 7"/>
          <p:cNvSpPr/>
          <p:nvPr/>
        </p:nvSpPr>
        <p:spPr>
          <a:xfrm>
            <a:off x="576072" y="2623566"/>
            <a:ext cx="11036808" cy="255524"/>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Choose goals that are specific and practical; set a timetable and ways of measuring achievement.</a:t>
            </a:r>
            <a:endParaRPr lang="en-US" sz="1400" dirty="0"/>
          </a:p>
        </p:txBody>
      </p:sp>
      <p:sp>
        <p:nvSpPr>
          <p:cNvPr id="11" name="Text 8"/>
          <p:cNvSpPr/>
          <p:nvPr/>
        </p:nvSpPr>
        <p:spPr>
          <a:xfrm>
            <a:off x="576072" y="2943098"/>
            <a:ext cx="11036808" cy="465328"/>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Watch for obstacles outside the employee's control — improvement may need education, job experience, counselling, greater responsibility or even a new supervisor.</a:t>
            </a:r>
            <a:endParaRPr lang="en-US" sz="1400" dirty="0"/>
          </a:p>
        </p:txBody>
      </p:sp>
      <p:sp>
        <p:nvSpPr>
          <p:cNvPr id="12" name="Text 9"/>
          <p:cNvSpPr/>
          <p:nvPr/>
        </p:nvSpPr>
        <p:spPr>
          <a:xfrm>
            <a:off x="576072" y="3472434"/>
            <a:ext cx="11036808" cy="465328"/>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Close by summarising the key issues and agreed actions; develop the action plan and give copies to the employee and anyone affected (such as trainers); set a timetable for review and follow-up.</a:t>
            </a:r>
            <a:endParaRPr lang="en-US" sz="1400" dirty="0"/>
          </a:p>
        </p:txBody>
      </p:sp>
      <p:sp>
        <p:nvSpPr>
          <p:cNvPr id="13" name="Text 10"/>
          <p:cNvSpPr/>
          <p:nvPr/>
        </p:nvSpPr>
        <p:spPr>
          <a:xfrm>
            <a:off x="576072" y="4001770"/>
            <a:ext cx="11036808" cy="465328"/>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Complete the rating form; ask the employee to sign it (note if they decline); invite them to add or attach comments; give them a copy; keep appraisals on file for 3–5 years.</a:t>
            </a:r>
            <a:endParaRPr lang="en-US" sz="1400" dirty="0"/>
          </a:p>
        </p:txBody>
      </p:sp>
      <p:sp>
        <p:nvSpPr>
          <p:cNvPr id="14" name="Text 11"/>
          <p:cNvSpPr/>
          <p:nvPr/>
        </p:nvSpPr>
        <p:spPr>
          <a:xfrm>
            <a:off x="576072" y="4531106"/>
            <a:ext cx="11036808" cy="884936"/>
          </a:xfrm>
          <a:prstGeom prst="rect">
            <a:avLst/>
          </a:prstGeom>
          <a:noFill/>
          <a:ln/>
        </p:spPr>
        <p:txBody>
          <a:bodyPr wrap="square" rtlCol="0" anchor="t"/>
          <a:lstStyle/>
          <a:p>
            <a:pPr marL="203200" indent="-203200">
              <a:lnSpc>
                <a:spcPct val="112000"/>
              </a:lnSpc>
              <a:buSzPct val="100000"/>
              <a:buChar char="•"/>
            </a:pPr>
            <a:r>
              <a:rPr lang="en-US" sz="1400" dirty="0">
                <a:solidFill>
                  <a:srgbClr val="002050"/>
                </a:solidFill>
                <a:latin typeface="Aptos" pitchFamily="34" charset="0"/>
                <a:ea typeface="Aptos" pitchFamily="34" charset="-122"/>
                <a:cs typeface="Aptos" pitchFamily="34" charset="-120"/>
              </a:rPr>
              <a:t>Assessment criteria you must meet: performance is monitored against agreed standards using monitoring systems; findings on positive and negative aspects are recorded accurately, fairly and honestly for report-back and follow-up; an action plan addressing gaps and building on positives is agreed with the employee; and agreed actions are documented and signed by both parties.</a:t>
            </a:r>
            <a:endParaRPr lang="en-US" sz="14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61</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3</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Check yourself — Action plans, closing and records</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34440"/>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Q1.</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How is the action plan developed?</a:t>
            </a:r>
            <a:endParaRPr lang="en-US" sz="1500" dirty="0"/>
          </a:p>
        </p:txBody>
      </p:sp>
      <p:sp>
        <p:nvSpPr>
          <p:cNvPr id="9" name="Text 6"/>
          <p:cNvSpPr/>
          <p:nvPr/>
        </p:nvSpPr>
        <p:spPr>
          <a:xfrm>
            <a:off x="868680" y="15140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Dictated by the manager before the interview</a:t>
            </a:r>
            <a:endParaRPr lang="en-US" sz="1300" dirty="0"/>
          </a:p>
        </p:txBody>
      </p:sp>
      <p:sp>
        <p:nvSpPr>
          <p:cNvPr id="10" name="Text 7"/>
          <p:cNvSpPr/>
          <p:nvPr/>
        </p:nvSpPr>
        <p:spPr>
          <a:xfrm>
            <a:off x="868680" y="17363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In co-operation with the employee, focused on the most important goals</a:t>
            </a:r>
            <a:endParaRPr lang="en-US" sz="1300" dirty="0"/>
          </a:p>
        </p:txBody>
      </p:sp>
      <p:sp>
        <p:nvSpPr>
          <p:cNvPr id="11" name="Text 8"/>
          <p:cNvSpPr/>
          <p:nvPr/>
        </p:nvSpPr>
        <p:spPr>
          <a:xfrm>
            <a:off x="868680" y="19585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Copied from another employee's plan</a:t>
            </a:r>
            <a:endParaRPr lang="en-US" sz="1300" dirty="0"/>
          </a:p>
        </p:txBody>
      </p:sp>
      <p:sp>
        <p:nvSpPr>
          <p:cNvPr id="12" name="Text 9"/>
          <p:cNvSpPr/>
          <p:nvPr/>
        </p:nvSpPr>
        <p:spPr>
          <a:xfrm>
            <a:off x="868680" y="21808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Downloaded from the internet</a:t>
            </a:r>
            <a:endParaRPr lang="en-US" sz="1300" dirty="0"/>
          </a:p>
        </p:txBody>
      </p:sp>
      <p:sp>
        <p:nvSpPr>
          <p:cNvPr id="13" name="Text 10"/>
          <p:cNvSpPr/>
          <p:nvPr/>
        </p:nvSpPr>
        <p:spPr>
          <a:xfrm>
            <a:off x="502920" y="2567686"/>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Q2.</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The two questions every employee should be able to answer after the appraisal are…</a:t>
            </a:r>
            <a:endParaRPr lang="en-US" sz="1500" dirty="0"/>
          </a:p>
        </p:txBody>
      </p:sp>
      <p:sp>
        <p:nvSpPr>
          <p:cNvPr id="14" name="Text 11"/>
          <p:cNvSpPr/>
          <p:nvPr/>
        </p:nvSpPr>
        <p:spPr>
          <a:xfrm>
            <a:off x="868680" y="28473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'Who is to blame?' and 'When is lunch?'</a:t>
            </a:r>
            <a:endParaRPr lang="en-US" sz="1300" dirty="0"/>
          </a:p>
        </p:txBody>
      </p:sp>
      <p:sp>
        <p:nvSpPr>
          <p:cNvPr id="15" name="Text 12"/>
          <p:cNvSpPr/>
          <p:nvPr/>
        </p:nvSpPr>
        <p:spPr>
          <a:xfrm>
            <a:off x="868680" y="30695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'How am I doing?' and 'Where am I going?'</a:t>
            </a:r>
            <a:endParaRPr lang="en-US" sz="1300" dirty="0"/>
          </a:p>
        </p:txBody>
      </p:sp>
      <p:sp>
        <p:nvSpPr>
          <p:cNvPr id="16" name="Text 13"/>
          <p:cNvSpPr/>
          <p:nvPr/>
        </p:nvSpPr>
        <p:spPr>
          <a:xfrm>
            <a:off x="868680" y="32918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'What is my colleague earning?' and 'When is my leave?'</a:t>
            </a:r>
            <a:endParaRPr lang="en-US" sz="1300" dirty="0"/>
          </a:p>
        </p:txBody>
      </p:sp>
      <p:sp>
        <p:nvSpPr>
          <p:cNvPr id="17" name="Text 14"/>
          <p:cNvSpPr/>
          <p:nvPr/>
        </p:nvSpPr>
        <p:spPr>
          <a:xfrm>
            <a:off x="868680" y="35140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'Why me?' and 'Who decided this?'</a:t>
            </a:r>
            <a:endParaRPr lang="en-US" sz="1300" dirty="0"/>
          </a:p>
        </p:txBody>
      </p:sp>
      <p:sp>
        <p:nvSpPr>
          <p:cNvPr id="18" name="Text 15"/>
          <p:cNvSpPr/>
          <p:nvPr/>
        </p:nvSpPr>
        <p:spPr>
          <a:xfrm>
            <a:off x="502920" y="3900932"/>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Q3.</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What happens if the employee refuses to sign the completed rating form?</a:t>
            </a:r>
            <a:endParaRPr lang="en-US" sz="1500" dirty="0"/>
          </a:p>
        </p:txBody>
      </p:sp>
      <p:sp>
        <p:nvSpPr>
          <p:cNvPr id="19" name="Text 16"/>
          <p:cNvSpPr/>
          <p:nvPr/>
        </p:nvSpPr>
        <p:spPr>
          <a:xfrm>
            <a:off x="868680" y="418058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The appraisal is cancelled</a:t>
            </a:r>
            <a:endParaRPr lang="en-US" sz="1300" dirty="0"/>
          </a:p>
        </p:txBody>
      </p:sp>
      <p:sp>
        <p:nvSpPr>
          <p:cNvPr id="20" name="Text 17"/>
          <p:cNvSpPr/>
          <p:nvPr/>
        </p:nvSpPr>
        <p:spPr>
          <a:xfrm>
            <a:off x="868680" y="440283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Note that the invitation to sign was made, and let them attach comments</a:t>
            </a:r>
            <a:endParaRPr lang="en-US" sz="1300" dirty="0"/>
          </a:p>
        </p:txBody>
      </p:sp>
      <p:sp>
        <p:nvSpPr>
          <p:cNvPr id="21" name="Text 18"/>
          <p:cNvSpPr/>
          <p:nvPr/>
        </p:nvSpPr>
        <p:spPr>
          <a:xfrm>
            <a:off x="868680" y="462508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The employee is dismissed</a:t>
            </a:r>
            <a:endParaRPr lang="en-US" sz="1300" dirty="0"/>
          </a:p>
        </p:txBody>
      </p:sp>
      <p:sp>
        <p:nvSpPr>
          <p:cNvPr id="22" name="Text 19"/>
          <p:cNvSpPr/>
          <p:nvPr/>
        </p:nvSpPr>
        <p:spPr>
          <a:xfrm>
            <a:off x="868680" y="484733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The form is destroyed</a:t>
            </a:r>
            <a:endParaRPr lang="en-US" sz="13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62</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3</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Check yourself — Action plans, closing and records …(continued)</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34440"/>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Q4.</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How long should appraisal records be kept on file?</a:t>
            </a:r>
            <a:endParaRPr lang="en-US" sz="1500" dirty="0"/>
          </a:p>
        </p:txBody>
      </p:sp>
      <p:sp>
        <p:nvSpPr>
          <p:cNvPr id="9" name="Text 6"/>
          <p:cNvSpPr/>
          <p:nvPr/>
        </p:nvSpPr>
        <p:spPr>
          <a:xfrm>
            <a:off x="868680" y="15140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They should be shredded immediately</a:t>
            </a:r>
            <a:endParaRPr lang="en-US" sz="1300" dirty="0"/>
          </a:p>
        </p:txBody>
      </p:sp>
      <p:sp>
        <p:nvSpPr>
          <p:cNvPr id="10" name="Text 7"/>
          <p:cNvSpPr/>
          <p:nvPr/>
        </p:nvSpPr>
        <p:spPr>
          <a:xfrm>
            <a:off x="868680" y="17363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One month</a:t>
            </a:r>
            <a:endParaRPr lang="en-US" sz="1300" dirty="0"/>
          </a:p>
        </p:txBody>
      </p:sp>
      <p:sp>
        <p:nvSpPr>
          <p:cNvPr id="11" name="Text 8"/>
          <p:cNvSpPr/>
          <p:nvPr/>
        </p:nvSpPr>
        <p:spPr>
          <a:xfrm>
            <a:off x="868680" y="19585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3 to 5 years</a:t>
            </a:r>
            <a:endParaRPr lang="en-US" sz="1300" dirty="0"/>
          </a:p>
        </p:txBody>
      </p:sp>
      <p:sp>
        <p:nvSpPr>
          <p:cNvPr id="12" name="Text 9"/>
          <p:cNvSpPr/>
          <p:nvPr/>
        </p:nvSpPr>
        <p:spPr>
          <a:xfrm>
            <a:off x="868680" y="21808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50 years</a:t>
            </a:r>
            <a:endParaRPr lang="en-US" sz="1300" dirty="0"/>
          </a:p>
        </p:txBody>
      </p:sp>
      <p:sp>
        <p:nvSpPr>
          <p:cNvPr id="13" name="Text 10"/>
          <p:cNvSpPr/>
          <p:nvPr/>
        </p:nvSpPr>
        <p:spPr>
          <a:xfrm>
            <a:off x="502920" y="2567686"/>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Q5.</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Which sequence satisfies the unit's assessment criteria for recording results?</a:t>
            </a:r>
            <a:endParaRPr lang="en-US" sz="1500" dirty="0"/>
          </a:p>
        </p:txBody>
      </p:sp>
      <p:sp>
        <p:nvSpPr>
          <p:cNvPr id="14" name="Text 11"/>
          <p:cNvSpPr/>
          <p:nvPr/>
        </p:nvSpPr>
        <p:spPr>
          <a:xfrm>
            <a:off x="868680" y="2847340"/>
            <a:ext cx="10771632" cy="417068"/>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Record findings accurately, fairly and honestly; agree an action plan with the employee; document and sign the agreed actions</a:t>
            </a:r>
            <a:endParaRPr lang="en-US" sz="1300" dirty="0"/>
          </a:p>
        </p:txBody>
      </p:sp>
      <p:sp>
        <p:nvSpPr>
          <p:cNvPr id="15" name="Text 12"/>
          <p:cNvSpPr/>
          <p:nvPr/>
        </p:nvSpPr>
        <p:spPr>
          <a:xfrm>
            <a:off x="868680" y="3264408"/>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Record only negative findings; file them secretly</a:t>
            </a:r>
            <a:endParaRPr lang="en-US" sz="1300" dirty="0"/>
          </a:p>
        </p:txBody>
      </p:sp>
      <p:sp>
        <p:nvSpPr>
          <p:cNvPr id="16" name="Text 13"/>
          <p:cNvSpPr/>
          <p:nvPr/>
        </p:nvSpPr>
        <p:spPr>
          <a:xfrm>
            <a:off x="868680" y="3486658"/>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Agree actions verbally and never write them down</a:t>
            </a:r>
            <a:endParaRPr lang="en-US" sz="1300" dirty="0"/>
          </a:p>
        </p:txBody>
      </p:sp>
      <p:sp>
        <p:nvSpPr>
          <p:cNvPr id="17" name="Text 14"/>
          <p:cNvSpPr/>
          <p:nvPr/>
        </p:nvSpPr>
        <p:spPr>
          <a:xfrm>
            <a:off x="868680" y="3708908"/>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Sign the form before the interview happens</a:t>
            </a:r>
            <a:endParaRPr lang="en-US" sz="13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63</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LESSON 3</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Unit quiz — monitor and evaluate team members</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07008"/>
            <a:ext cx="11183112" cy="504444"/>
          </a:xfrm>
          <a:prstGeom prst="rect">
            <a:avLst/>
          </a:prstGeom>
          <a:noFill/>
          <a:ln/>
        </p:spPr>
        <p:txBody>
          <a:bodyPr wrap="square" rtlCol="0" anchor="t"/>
          <a:lstStyle/>
          <a:p>
            <a:pPr indent="0" marL="0">
              <a:lnSpc>
                <a:spcPct val="112000"/>
              </a:lnSpc>
              <a:buNone/>
            </a:pPr>
            <a:r>
              <a:rPr lang="en-US" sz="1500" dirty="0">
                <a:solidFill>
                  <a:srgbClr val="6B7280"/>
                </a:solidFill>
                <a:latin typeface="Aptos" pitchFamily="34" charset="0"/>
                <a:ea typeface="Aptos" pitchFamily="34" charset="-122"/>
                <a:cs typeface="Aptos" pitchFamily="34" charset="-120"/>
              </a:rPr>
              <a:t>Answer every question correctly to complete the unit. The quiz covers performance standards, monitoring systems, preparing for reviews, and conducting the review interview.</a:t>
            </a:r>
            <a:endParaRPr lang="en-US" sz="15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64</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UNIT QUIZ</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Unit quiz — 10 questions</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34440"/>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Q1.</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Performance management is best described as…</a:t>
            </a:r>
            <a:endParaRPr lang="en-US" sz="1500" dirty="0"/>
          </a:p>
        </p:txBody>
      </p:sp>
      <p:sp>
        <p:nvSpPr>
          <p:cNvPr id="9" name="Text 6"/>
          <p:cNvSpPr/>
          <p:nvPr/>
        </p:nvSpPr>
        <p:spPr>
          <a:xfrm>
            <a:off x="868680" y="15140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A once-a-year form-filling exercise</a:t>
            </a:r>
            <a:endParaRPr lang="en-US" sz="1300" dirty="0"/>
          </a:p>
        </p:txBody>
      </p:sp>
      <p:sp>
        <p:nvSpPr>
          <p:cNvPr id="10" name="Text 7"/>
          <p:cNvSpPr/>
          <p:nvPr/>
        </p:nvSpPr>
        <p:spPr>
          <a:xfrm>
            <a:off x="868680" y="17363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An ongoing communication process between supervisors and employees throughout the year</a:t>
            </a:r>
            <a:endParaRPr lang="en-US" sz="1300" dirty="0"/>
          </a:p>
        </p:txBody>
      </p:sp>
      <p:sp>
        <p:nvSpPr>
          <p:cNvPr id="11" name="Text 8"/>
          <p:cNvSpPr/>
          <p:nvPr/>
        </p:nvSpPr>
        <p:spPr>
          <a:xfrm>
            <a:off x="868680" y="19585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A disciplinary code</a:t>
            </a:r>
            <a:endParaRPr lang="en-US" sz="1300" dirty="0"/>
          </a:p>
        </p:txBody>
      </p:sp>
      <p:sp>
        <p:nvSpPr>
          <p:cNvPr id="12" name="Text 9"/>
          <p:cNvSpPr/>
          <p:nvPr/>
        </p:nvSpPr>
        <p:spPr>
          <a:xfrm>
            <a:off x="868680" y="21808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A software licence</a:t>
            </a:r>
            <a:endParaRPr lang="en-US" sz="1300" dirty="0"/>
          </a:p>
        </p:txBody>
      </p:sp>
      <p:sp>
        <p:nvSpPr>
          <p:cNvPr id="13" name="Text 10"/>
          <p:cNvSpPr/>
          <p:nvPr/>
        </p:nvSpPr>
        <p:spPr>
          <a:xfrm>
            <a:off x="502920" y="2567686"/>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Q2.</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Which is the correct ORDER of the ongoing performance process?</a:t>
            </a:r>
            <a:endParaRPr lang="en-US" sz="1500" dirty="0"/>
          </a:p>
        </p:txBody>
      </p:sp>
      <p:sp>
        <p:nvSpPr>
          <p:cNvPr id="14" name="Text 11"/>
          <p:cNvSpPr/>
          <p:nvPr/>
        </p:nvSpPr>
        <p:spPr>
          <a:xfrm>
            <a:off x="868680" y="28473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Appraisal → planning → coaching</a:t>
            </a:r>
            <a:endParaRPr lang="en-US" sz="1300" dirty="0"/>
          </a:p>
        </p:txBody>
      </p:sp>
      <p:sp>
        <p:nvSpPr>
          <p:cNvPr id="15" name="Text 12"/>
          <p:cNvSpPr/>
          <p:nvPr/>
        </p:nvSpPr>
        <p:spPr>
          <a:xfrm>
            <a:off x="868680" y="30695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Performance planning → coaching and counselling → appraisal</a:t>
            </a:r>
            <a:endParaRPr lang="en-US" sz="1300" dirty="0"/>
          </a:p>
        </p:txBody>
      </p:sp>
      <p:sp>
        <p:nvSpPr>
          <p:cNvPr id="16" name="Text 13"/>
          <p:cNvSpPr/>
          <p:nvPr/>
        </p:nvSpPr>
        <p:spPr>
          <a:xfrm>
            <a:off x="868680" y="32918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Coaching → appraisal → planning</a:t>
            </a:r>
            <a:endParaRPr lang="en-US" sz="1300" dirty="0"/>
          </a:p>
        </p:txBody>
      </p:sp>
      <p:sp>
        <p:nvSpPr>
          <p:cNvPr id="17" name="Text 14"/>
          <p:cNvSpPr/>
          <p:nvPr/>
        </p:nvSpPr>
        <p:spPr>
          <a:xfrm>
            <a:off x="868680" y="35140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Appraisal only, repeated annually</a:t>
            </a:r>
            <a:endParaRPr lang="en-US" sz="1300" dirty="0"/>
          </a:p>
        </p:txBody>
      </p:sp>
      <p:sp>
        <p:nvSpPr>
          <p:cNvPr id="18" name="Text 15"/>
          <p:cNvSpPr/>
          <p:nvPr/>
        </p:nvSpPr>
        <p:spPr>
          <a:xfrm>
            <a:off x="502920" y="3900932"/>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Q3.</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In the eight-step process, which step converts accomplishments into weighted performance elements?</a:t>
            </a:r>
            <a:endParaRPr lang="en-US" sz="1500" dirty="0"/>
          </a:p>
        </p:txBody>
      </p:sp>
      <p:sp>
        <p:nvSpPr>
          <p:cNvPr id="19" name="Text 16"/>
          <p:cNvSpPr/>
          <p:nvPr/>
        </p:nvSpPr>
        <p:spPr>
          <a:xfrm>
            <a:off x="868680" y="418058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Step 1</a:t>
            </a:r>
            <a:endParaRPr lang="en-US" sz="1300" dirty="0"/>
          </a:p>
        </p:txBody>
      </p:sp>
      <p:sp>
        <p:nvSpPr>
          <p:cNvPr id="20" name="Text 17"/>
          <p:cNvSpPr/>
          <p:nvPr/>
        </p:nvSpPr>
        <p:spPr>
          <a:xfrm>
            <a:off x="868680" y="440283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Step 4</a:t>
            </a:r>
            <a:endParaRPr lang="en-US" sz="1300" dirty="0"/>
          </a:p>
        </p:txBody>
      </p:sp>
      <p:sp>
        <p:nvSpPr>
          <p:cNvPr id="21" name="Text 18"/>
          <p:cNvSpPr/>
          <p:nvPr/>
        </p:nvSpPr>
        <p:spPr>
          <a:xfrm>
            <a:off x="868680" y="462508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Step 7</a:t>
            </a:r>
            <a:endParaRPr lang="en-US" sz="1300" dirty="0"/>
          </a:p>
        </p:txBody>
      </p:sp>
      <p:sp>
        <p:nvSpPr>
          <p:cNvPr id="22" name="Text 19"/>
          <p:cNvSpPr/>
          <p:nvPr/>
        </p:nvSpPr>
        <p:spPr>
          <a:xfrm>
            <a:off x="868680" y="484733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Step 8</a:t>
            </a:r>
            <a:endParaRPr lang="en-US" sz="13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65</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UNIT QUIZ</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Unit quiz — 10 questions …(continued)</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34440"/>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Q4.</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Which element type may NOT measure group performance (with narrow exceptions)?</a:t>
            </a:r>
            <a:endParaRPr lang="en-US" sz="1500" dirty="0"/>
          </a:p>
        </p:txBody>
      </p:sp>
      <p:sp>
        <p:nvSpPr>
          <p:cNvPr id="9" name="Text 6"/>
          <p:cNvSpPr/>
          <p:nvPr/>
        </p:nvSpPr>
        <p:spPr>
          <a:xfrm>
            <a:off x="868680" y="15140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Additional elements</a:t>
            </a:r>
            <a:endParaRPr lang="en-US" sz="1300" dirty="0"/>
          </a:p>
        </p:txBody>
      </p:sp>
      <p:sp>
        <p:nvSpPr>
          <p:cNvPr id="10" name="Text 7"/>
          <p:cNvSpPr/>
          <p:nvPr/>
        </p:nvSpPr>
        <p:spPr>
          <a:xfrm>
            <a:off x="868680" y="17363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Non-critical elements</a:t>
            </a:r>
            <a:endParaRPr lang="en-US" sz="1300" dirty="0"/>
          </a:p>
        </p:txBody>
      </p:sp>
      <p:sp>
        <p:nvSpPr>
          <p:cNvPr id="11" name="Text 8"/>
          <p:cNvSpPr/>
          <p:nvPr/>
        </p:nvSpPr>
        <p:spPr>
          <a:xfrm>
            <a:off x="868680" y="19585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Critical elements</a:t>
            </a:r>
            <a:endParaRPr lang="en-US" sz="1300" dirty="0"/>
          </a:p>
        </p:txBody>
      </p:sp>
      <p:sp>
        <p:nvSpPr>
          <p:cNvPr id="12" name="Text 9"/>
          <p:cNvSpPr/>
          <p:nvPr/>
        </p:nvSpPr>
        <p:spPr>
          <a:xfrm>
            <a:off x="868680" y="21808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Optional elements</a:t>
            </a:r>
            <a:endParaRPr lang="en-US" sz="1300" dirty="0"/>
          </a:p>
        </p:txBody>
      </p:sp>
      <p:sp>
        <p:nvSpPr>
          <p:cNvPr id="13" name="Text 10"/>
          <p:cNvSpPr/>
          <p:nvPr/>
        </p:nvSpPr>
        <p:spPr>
          <a:xfrm>
            <a:off x="502920" y="2567686"/>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Q5.</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Error rates and customer satisfaction rates are examples of which general measure?</a:t>
            </a:r>
            <a:endParaRPr lang="en-US" sz="1500" dirty="0"/>
          </a:p>
        </p:txBody>
      </p:sp>
      <p:sp>
        <p:nvSpPr>
          <p:cNvPr id="14" name="Text 11"/>
          <p:cNvSpPr/>
          <p:nvPr/>
        </p:nvSpPr>
        <p:spPr>
          <a:xfrm>
            <a:off x="868680" y="28473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Quantity</a:t>
            </a:r>
            <a:endParaRPr lang="en-US" sz="1300" dirty="0"/>
          </a:p>
        </p:txBody>
      </p:sp>
      <p:sp>
        <p:nvSpPr>
          <p:cNvPr id="15" name="Text 12"/>
          <p:cNvSpPr/>
          <p:nvPr/>
        </p:nvSpPr>
        <p:spPr>
          <a:xfrm>
            <a:off x="868680" y="30695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Quality</a:t>
            </a:r>
            <a:endParaRPr lang="en-US" sz="1300" dirty="0"/>
          </a:p>
        </p:txBody>
      </p:sp>
      <p:sp>
        <p:nvSpPr>
          <p:cNvPr id="16" name="Text 13"/>
          <p:cNvSpPr/>
          <p:nvPr/>
        </p:nvSpPr>
        <p:spPr>
          <a:xfrm>
            <a:off x="868680" y="32918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Timeliness</a:t>
            </a:r>
            <a:endParaRPr lang="en-US" sz="1300" dirty="0"/>
          </a:p>
        </p:txBody>
      </p:sp>
      <p:sp>
        <p:nvSpPr>
          <p:cNvPr id="17" name="Text 14"/>
          <p:cNvSpPr/>
          <p:nvPr/>
        </p:nvSpPr>
        <p:spPr>
          <a:xfrm>
            <a:off x="868680" y="35140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Cost-effectiveness</a:t>
            </a:r>
            <a:endParaRPr lang="en-US" sz="1300" dirty="0"/>
          </a:p>
        </p:txBody>
      </p:sp>
      <p:sp>
        <p:nvSpPr>
          <p:cNvPr id="18" name="Text 15"/>
          <p:cNvSpPr/>
          <p:nvPr/>
        </p:nvSpPr>
        <p:spPr>
          <a:xfrm>
            <a:off x="502920" y="3900932"/>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Q6.</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Which monitoring approach adds feedback from peers, self-assessment and sometimes clients?</a:t>
            </a:r>
            <a:endParaRPr lang="en-US" sz="1500" dirty="0"/>
          </a:p>
        </p:txBody>
      </p:sp>
      <p:sp>
        <p:nvSpPr>
          <p:cNvPr id="19" name="Text 16"/>
          <p:cNvSpPr/>
          <p:nvPr/>
        </p:nvSpPr>
        <p:spPr>
          <a:xfrm>
            <a:off x="868680" y="418058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Time-sheet review</a:t>
            </a:r>
            <a:endParaRPr lang="en-US" sz="1300" dirty="0"/>
          </a:p>
        </p:txBody>
      </p:sp>
      <p:sp>
        <p:nvSpPr>
          <p:cNvPr id="20" name="Text 17"/>
          <p:cNvSpPr/>
          <p:nvPr/>
        </p:nvSpPr>
        <p:spPr>
          <a:xfrm>
            <a:off x="868680" y="440283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360-degree (multi-rater) feedback</a:t>
            </a:r>
            <a:endParaRPr lang="en-US" sz="1300" dirty="0"/>
          </a:p>
        </p:txBody>
      </p:sp>
      <p:sp>
        <p:nvSpPr>
          <p:cNvPr id="21" name="Text 18"/>
          <p:cNvSpPr/>
          <p:nvPr/>
        </p:nvSpPr>
        <p:spPr>
          <a:xfrm>
            <a:off x="868680" y="462508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Random spot fines</a:t>
            </a:r>
            <a:endParaRPr lang="en-US" sz="1300" dirty="0"/>
          </a:p>
        </p:txBody>
      </p:sp>
      <p:sp>
        <p:nvSpPr>
          <p:cNvPr id="22" name="Text 19"/>
          <p:cNvSpPr/>
          <p:nvPr/>
        </p:nvSpPr>
        <p:spPr>
          <a:xfrm>
            <a:off x="868680" y="484733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Annual staff party</a:t>
            </a:r>
            <a:endParaRPr lang="en-US" sz="13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66</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UNIT QUIZ</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Unit quiz — 10 questions …(continued)</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34440"/>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Q7.</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Before the review interview, the supervisor's preliminary assessment should NOT include…</a:t>
            </a:r>
            <a:endParaRPr lang="en-US" sz="1500" dirty="0"/>
          </a:p>
        </p:txBody>
      </p:sp>
      <p:sp>
        <p:nvSpPr>
          <p:cNvPr id="9" name="Text 6"/>
          <p:cNvSpPr/>
          <p:nvPr/>
        </p:nvSpPr>
        <p:spPr>
          <a:xfrm>
            <a:off x="868680" y="15140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Reviewing the job description</a:t>
            </a:r>
            <a:endParaRPr lang="en-US" sz="1300" dirty="0"/>
          </a:p>
        </p:txBody>
      </p:sp>
      <p:sp>
        <p:nvSpPr>
          <p:cNvPr id="10" name="Text 7"/>
          <p:cNvSpPr/>
          <p:nvPr/>
        </p:nvSpPr>
        <p:spPr>
          <a:xfrm>
            <a:off x="868680" y="17363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Comparing performance against criteria</a:t>
            </a:r>
            <a:endParaRPr lang="en-US" sz="1300" dirty="0"/>
          </a:p>
        </p:txBody>
      </p:sp>
      <p:sp>
        <p:nvSpPr>
          <p:cNvPr id="11" name="Text 8"/>
          <p:cNvSpPr/>
          <p:nvPr/>
        </p:nvSpPr>
        <p:spPr>
          <a:xfrm>
            <a:off x="868680" y="19585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Drafting the final improvement plan alone</a:t>
            </a:r>
            <a:endParaRPr lang="en-US" sz="1300" dirty="0"/>
          </a:p>
        </p:txBody>
      </p:sp>
      <p:sp>
        <p:nvSpPr>
          <p:cNvPr id="12" name="Text 9"/>
          <p:cNvSpPr/>
          <p:nvPr/>
        </p:nvSpPr>
        <p:spPr>
          <a:xfrm>
            <a:off x="868680" y="21808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Requesting comments from other managers</a:t>
            </a:r>
            <a:endParaRPr lang="en-US" sz="1300" dirty="0"/>
          </a:p>
        </p:txBody>
      </p:sp>
      <p:sp>
        <p:nvSpPr>
          <p:cNvPr id="13" name="Text 10"/>
          <p:cNvSpPr/>
          <p:nvPr/>
        </p:nvSpPr>
        <p:spPr>
          <a:xfrm>
            <a:off x="502920" y="2567686"/>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Q8.</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In the BISA model, 'B' means…</a:t>
            </a:r>
            <a:endParaRPr lang="en-US" sz="1500" dirty="0"/>
          </a:p>
        </p:txBody>
      </p:sp>
      <p:sp>
        <p:nvSpPr>
          <p:cNvPr id="14" name="Text 11"/>
          <p:cNvSpPr/>
          <p:nvPr/>
        </p:nvSpPr>
        <p:spPr>
          <a:xfrm>
            <a:off x="868680" y="28473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Blame — identify who is at fault</a:t>
            </a:r>
            <a:endParaRPr lang="en-US" sz="1300" dirty="0"/>
          </a:p>
        </p:txBody>
      </p:sp>
      <p:sp>
        <p:nvSpPr>
          <p:cNvPr id="15" name="Text 12"/>
          <p:cNvSpPr/>
          <p:nvPr/>
        </p:nvSpPr>
        <p:spPr>
          <a:xfrm>
            <a:off x="868680" y="30695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Behaviour — the specific, factual behaviour you observed</a:t>
            </a:r>
            <a:endParaRPr lang="en-US" sz="1300" dirty="0"/>
          </a:p>
        </p:txBody>
      </p:sp>
      <p:sp>
        <p:nvSpPr>
          <p:cNvPr id="16" name="Text 13"/>
          <p:cNvSpPr/>
          <p:nvPr/>
        </p:nvSpPr>
        <p:spPr>
          <a:xfrm>
            <a:off x="868680" y="329184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Bonus — discuss rewards first</a:t>
            </a:r>
            <a:endParaRPr lang="en-US" sz="1300" dirty="0"/>
          </a:p>
        </p:txBody>
      </p:sp>
      <p:sp>
        <p:nvSpPr>
          <p:cNvPr id="17" name="Text 14"/>
          <p:cNvSpPr/>
          <p:nvPr/>
        </p:nvSpPr>
        <p:spPr>
          <a:xfrm>
            <a:off x="868680" y="3514090"/>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Balance — average the ratings</a:t>
            </a:r>
            <a:endParaRPr lang="en-US" sz="1300" dirty="0"/>
          </a:p>
        </p:txBody>
      </p:sp>
      <p:sp>
        <p:nvSpPr>
          <p:cNvPr id="18" name="Text 15"/>
          <p:cNvSpPr/>
          <p:nvPr/>
        </p:nvSpPr>
        <p:spPr>
          <a:xfrm>
            <a:off x="502920" y="3900932"/>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Q9.</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During the interview, where should discussion START?</a:t>
            </a:r>
            <a:endParaRPr lang="en-US" sz="1500" dirty="0"/>
          </a:p>
        </p:txBody>
      </p:sp>
      <p:sp>
        <p:nvSpPr>
          <p:cNvPr id="19" name="Text 16"/>
          <p:cNvSpPr/>
          <p:nvPr/>
        </p:nvSpPr>
        <p:spPr>
          <a:xfrm>
            <a:off x="868680" y="418058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Areas of agreement and strengths</a:t>
            </a:r>
            <a:endParaRPr lang="en-US" sz="1300" dirty="0"/>
          </a:p>
        </p:txBody>
      </p:sp>
      <p:sp>
        <p:nvSpPr>
          <p:cNvPr id="20" name="Text 17"/>
          <p:cNvSpPr/>
          <p:nvPr/>
        </p:nvSpPr>
        <p:spPr>
          <a:xfrm>
            <a:off x="868680" y="440283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The biggest failure of the year</a:t>
            </a:r>
            <a:endParaRPr lang="en-US" sz="1300" dirty="0"/>
          </a:p>
        </p:txBody>
      </p:sp>
      <p:sp>
        <p:nvSpPr>
          <p:cNvPr id="21" name="Text 18"/>
          <p:cNvSpPr/>
          <p:nvPr/>
        </p:nvSpPr>
        <p:spPr>
          <a:xfrm>
            <a:off x="868680" y="462508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Salary demands</a:t>
            </a:r>
            <a:endParaRPr lang="en-US" sz="1300" dirty="0"/>
          </a:p>
        </p:txBody>
      </p:sp>
      <p:sp>
        <p:nvSpPr>
          <p:cNvPr id="22" name="Text 19"/>
          <p:cNvSpPr/>
          <p:nvPr/>
        </p:nvSpPr>
        <p:spPr>
          <a:xfrm>
            <a:off x="868680" y="4847336"/>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Personality flaws</a:t>
            </a:r>
            <a:endParaRPr lang="en-US" sz="13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67</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Text 3"/>
          <p:cNvSpPr/>
          <p:nvPr/>
        </p:nvSpPr>
        <p:spPr>
          <a:xfrm>
            <a:off x="502920" y="219456"/>
            <a:ext cx="11183112" cy="310896"/>
          </a:xfrm>
          <a:prstGeom prst="rect">
            <a:avLst/>
          </a:prstGeom>
          <a:noFill/>
          <a:ln/>
        </p:spPr>
        <p:txBody>
          <a:bodyPr wrap="square" rtlCol="0" anchor="ctr"/>
          <a:lstStyle/>
          <a:p>
            <a:pPr indent="0" marL="0">
              <a:buNone/>
            </a:pPr>
            <a:r>
              <a:rPr lang="en-US" sz="1400" b="1" spc="200" kern="0" dirty="0">
                <a:solidFill>
                  <a:srgbClr val="0F6CBD"/>
                </a:solidFill>
                <a:latin typeface="Aptos" pitchFamily="34" charset="0"/>
                <a:ea typeface="Aptos" pitchFamily="34" charset="-122"/>
                <a:cs typeface="Aptos" pitchFamily="34" charset="-120"/>
              </a:rPr>
              <a:t>UNIT QUIZ</a:t>
            </a:r>
            <a:endParaRPr lang="en-US" sz="1400" dirty="0"/>
          </a:p>
        </p:txBody>
      </p:sp>
      <p:sp>
        <p:nvSpPr>
          <p:cNvPr id="6" name="Text 4"/>
          <p:cNvSpPr/>
          <p:nvPr/>
        </p:nvSpPr>
        <p:spPr>
          <a:xfrm>
            <a:off x="502920" y="530352"/>
            <a:ext cx="11183112" cy="566928"/>
          </a:xfrm>
          <a:prstGeom prst="rect">
            <a:avLst/>
          </a:prstGeom>
          <a:noFill/>
          <a:ln/>
        </p:spPr>
        <p:txBody>
          <a:bodyPr wrap="square" rtlCol="0" anchor="ctr"/>
          <a:lstStyle/>
          <a:p>
            <a:pPr indent="0" marL="0">
              <a:buNone/>
            </a:pPr>
            <a:r>
              <a:rPr lang="en-US" sz="2800" b="1" dirty="0">
                <a:solidFill>
                  <a:srgbClr val="002050"/>
                </a:solidFill>
                <a:latin typeface="Aptos Display" pitchFamily="34" charset="0"/>
                <a:ea typeface="Aptos Display" pitchFamily="34" charset="-122"/>
                <a:cs typeface="Aptos Display" pitchFamily="34" charset="-120"/>
              </a:rPr>
              <a:t>Unit quiz — 10 questions …(continued)</a:t>
            </a:r>
            <a:endParaRPr lang="en-US" sz="2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228832" y="274320"/>
            <a:ext cx="402336" cy="402336"/>
          </a:xfrm>
          <a:prstGeom prst="rect">
            <a:avLst/>
          </a:prstGeom>
        </p:spPr>
      </p:pic>
      <p:sp>
        <p:nvSpPr>
          <p:cNvPr id="8" name="Text 5"/>
          <p:cNvSpPr/>
          <p:nvPr/>
        </p:nvSpPr>
        <p:spPr>
          <a:xfrm>
            <a:off x="502920" y="1234440"/>
            <a:ext cx="11183112" cy="261366"/>
          </a:xfrm>
          <a:prstGeom prst="rect">
            <a:avLst/>
          </a:prstGeom>
          <a:noFill/>
          <a:ln/>
        </p:spPr>
        <p:txBody>
          <a:bodyPr wrap="square" rtlCol="0" anchor="t"/>
          <a:lstStyle/>
          <a:p>
            <a:pPr indent="0" marL="0">
              <a:lnSpc>
                <a:spcPct val="110000"/>
              </a:lnSpc>
              <a:buNone/>
            </a:pPr>
            <a:r>
              <a:rPr lang="en-US" sz="1500" b="1" dirty="0">
                <a:solidFill>
                  <a:srgbClr val="002050"/>
                </a:solidFill>
                <a:latin typeface="Aptos" pitchFamily="34" charset="0"/>
                <a:ea typeface="Aptos" pitchFamily="34" charset="-122"/>
                <a:cs typeface="Aptos" pitchFamily="34" charset="-120"/>
              </a:rPr>
              <a:t>Q10.</a:t>
            </a:r>
            <a:pPr indent="0" marL="0">
              <a:lnSpc>
                <a:spcPct val="110000"/>
              </a:lnSpc>
              <a:buNone/>
            </a:pPr>
            <a:r>
              <a:rPr lang="en-US" sz="1500" dirty="0">
                <a:solidFill>
                  <a:srgbClr val="002050"/>
                </a:solidFill>
                <a:latin typeface="Aptos" pitchFamily="34" charset="0"/>
                <a:ea typeface="Aptos" pitchFamily="34" charset="-122"/>
                <a:cs typeface="Aptos" pitchFamily="34" charset="-120"/>
              </a:rPr>
              <a:t> Which set of actions correctly closes a performance review?</a:t>
            </a:r>
            <a:endParaRPr lang="en-US" sz="1500" dirty="0"/>
          </a:p>
        </p:txBody>
      </p:sp>
      <p:sp>
        <p:nvSpPr>
          <p:cNvPr id="9" name="Text 6"/>
          <p:cNvSpPr/>
          <p:nvPr/>
        </p:nvSpPr>
        <p:spPr>
          <a:xfrm>
            <a:off x="868680" y="15140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a)  Summarise key issues, agree the action plan with copies, set follow-up dates, sign the form, keep it on file 3–5 years</a:t>
            </a:r>
            <a:endParaRPr lang="en-US" sz="1300" dirty="0"/>
          </a:p>
        </p:txBody>
      </p:sp>
      <p:sp>
        <p:nvSpPr>
          <p:cNvPr id="10" name="Text 7"/>
          <p:cNvSpPr/>
          <p:nvPr/>
        </p:nvSpPr>
        <p:spPr>
          <a:xfrm>
            <a:off x="868680" y="17363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b)  End abruptly and file nothing</a:t>
            </a:r>
            <a:endParaRPr lang="en-US" sz="1300" dirty="0"/>
          </a:p>
        </p:txBody>
      </p:sp>
      <p:sp>
        <p:nvSpPr>
          <p:cNvPr id="11" name="Text 8"/>
          <p:cNvSpPr/>
          <p:nvPr/>
        </p:nvSpPr>
        <p:spPr>
          <a:xfrm>
            <a:off x="868680" y="195859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c)  Announce the rating and leave</a:t>
            </a:r>
            <a:endParaRPr lang="en-US" sz="1300" dirty="0"/>
          </a:p>
        </p:txBody>
      </p:sp>
      <p:sp>
        <p:nvSpPr>
          <p:cNvPr id="12" name="Text 9"/>
          <p:cNvSpPr/>
          <p:nvPr/>
        </p:nvSpPr>
        <p:spPr>
          <a:xfrm>
            <a:off x="868680" y="2180844"/>
            <a:ext cx="10771632" cy="222250"/>
          </a:xfrm>
          <a:prstGeom prst="rect">
            <a:avLst/>
          </a:prstGeom>
          <a:noFill/>
          <a:ln/>
        </p:spPr>
        <p:txBody>
          <a:bodyPr wrap="square" rtlCol="0" anchor="t"/>
          <a:lstStyle/>
          <a:p>
            <a:pPr indent="0" marL="0">
              <a:lnSpc>
                <a:spcPct val="108000"/>
              </a:lnSpc>
              <a:buNone/>
            </a:pPr>
            <a:r>
              <a:rPr lang="en-US" sz="1300" dirty="0">
                <a:solidFill>
                  <a:srgbClr val="6B7280"/>
                </a:solidFill>
                <a:latin typeface="Aptos" pitchFamily="34" charset="0"/>
                <a:ea typeface="Aptos" pitchFamily="34" charset="-122"/>
                <a:cs typeface="Aptos" pitchFamily="34" charset="-120"/>
              </a:rPr>
              <a:t>d)  Ask the employee to write the whole report alone</a:t>
            </a:r>
            <a:endParaRPr lang="en-US" sz="13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002050"/>
        </a:solidFill>
      </p:bgPr>
    </p:bg>
    <p:spTree>
      <p:nvGrpSpPr>
        <p:cNvPr id="1" name=""/>
        <p:cNvGrpSpPr/>
        <p:nvPr/>
      </p:nvGrpSpPr>
      <p:grpSpPr>
        <a:xfrm>
          <a:off x="0" y="0"/>
          <a:ext cx="0" cy="0"/>
          <a:chOff x="0" y="0"/>
          <a:chExt cx="0" cy="0"/>
        </a:xfrm>
      </p:grpSpPr>
      <p:sp>
        <p:nvSpPr>
          <p:cNvPr id="2" name="Text 0"/>
          <p:cNvSpPr/>
          <p:nvPr/>
        </p:nvSpPr>
        <p:spPr>
          <a:xfrm>
            <a:off x="502920" y="6437376"/>
            <a:ext cx="10268712" cy="310896"/>
          </a:xfrm>
          <a:prstGeom prst="rect">
            <a:avLst/>
          </a:prstGeom>
          <a:noFill/>
          <a:ln/>
        </p:spPr>
        <p:txBody>
          <a:bodyPr wrap="square" rtlCol="0" anchor="ctr"/>
          <a:lstStyle/>
          <a:p>
            <a:pPr indent="0" marL="0">
              <a:buNone/>
            </a:pPr>
            <a:r>
              <a:rPr lang="en-US" sz="1200" dirty="0">
                <a:solidFill>
                  <a:srgbClr val="6B7280"/>
                </a:solidFill>
                <a:latin typeface="Aptos" pitchFamily="34" charset="0"/>
                <a:ea typeface="Aptos" pitchFamily="34" charset="-122"/>
                <a:cs typeface="Aptos" pitchFamily="34" charset="-120"/>
              </a:rPr>
              <a:t>US 252034 · Monitor and evaluate team members against performance standards · NQF 5 · 8 credits</a:t>
            </a:r>
            <a:endParaRPr lang="en-US" sz="1200" dirty="0"/>
          </a:p>
        </p:txBody>
      </p:sp>
      <p:sp>
        <p:nvSpPr>
          <p:cNvPr id="3" name="Text 1"/>
          <p:cNvSpPr/>
          <p:nvPr/>
        </p:nvSpPr>
        <p:spPr>
          <a:xfrm>
            <a:off x="11045952" y="6437376"/>
            <a:ext cx="640080" cy="310896"/>
          </a:xfrm>
          <a:prstGeom prst="rect">
            <a:avLst/>
          </a:prstGeom>
          <a:noFill/>
          <a:ln/>
        </p:spPr>
        <p:txBody>
          <a:bodyPr wrap="square" rtlCol="0" anchor="ctr"/>
          <a:lstStyle/>
          <a:p>
            <a:pPr algn="r" indent="0" marL="0">
              <a:buNone/>
            </a:pPr>
            <a:r>
              <a:rPr lang="en-US" sz="1200" dirty="0">
                <a:solidFill>
                  <a:srgbClr val="6B7280"/>
                </a:solidFill>
                <a:latin typeface="Aptos" pitchFamily="34" charset="0"/>
                <a:ea typeface="Aptos" pitchFamily="34" charset="-122"/>
                <a:cs typeface="Aptos" pitchFamily="34" charset="-120"/>
              </a:rPr>
              <a:t>68</a:t>
            </a:r>
            <a:endParaRPr lang="en-US" sz="1200" dirty="0"/>
          </a:p>
        </p:txBody>
      </p:sp>
      <p:sp>
        <p:nvSpPr>
          <p:cNvPr id="4" name="Shape 2"/>
          <p:cNvSpPr/>
          <p:nvPr/>
        </p:nvSpPr>
        <p:spPr>
          <a:xfrm>
            <a:off x="0" y="0"/>
            <a:ext cx="12188952" cy="82296"/>
          </a:xfrm>
          <a:prstGeom prst="rect">
            <a:avLst/>
          </a:prstGeom>
          <a:solidFill>
            <a:srgbClr val="0F6CBD"/>
          </a:solidFill>
          <a:ln/>
        </p:spPr>
      </p:sp>
      <p:sp>
        <p:nvSpPr>
          <p:cNvPr id="5" name="Shape 3"/>
          <p:cNvSpPr/>
          <p:nvPr/>
        </p:nvSpPr>
        <p:spPr>
          <a:xfrm>
            <a:off x="0" y="0"/>
            <a:ext cx="12188952" cy="109728"/>
          </a:xfrm>
          <a:prstGeom prst="rect">
            <a:avLst/>
          </a:prstGeom>
          <a:solidFill>
            <a:srgbClr val="0F6CBD"/>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2920" y="1463040"/>
            <a:ext cx="640080" cy="640080"/>
          </a:xfrm>
          <a:prstGeom prst="rect">
            <a:avLst/>
          </a:prstGeom>
        </p:spPr>
      </p:pic>
      <p:sp>
        <p:nvSpPr>
          <p:cNvPr id="7" name="Text 4"/>
          <p:cNvSpPr/>
          <p:nvPr/>
        </p:nvSpPr>
        <p:spPr>
          <a:xfrm>
            <a:off x="502920" y="2240280"/>
            <a:ext cx="11183112" cy="1280160"/>
          </a:xfrm>
          <a:prstGeom prst="rect">
            <a:avLst/>
          </a:prstGeom>
          <a:noFill/>
          <a:ln/>
        </p:spPr>
        <p:txBody>
          <a:bodyPr wrap="square" rtlCol="0" anchor="ctr"/>
          <a:lstStyle/>
          <a:p>
            <a:pPr indent="0" marL="0">
              <a:buNone/>
            </a:pPr>
            <a:r>
              <a:rPr lang="en-US" sz="3600" b="1" dirty="0">
                <a:solidFill>
                  <a:srgbClr val="FFFFFF"/>
                </a:solidFill>
                <a:latin typeface="Aptos Display" pitchFamily="34" charset="0"/>
                <a:ea typeface="Aptos Display" pitchFamily="34" charset="-122"/>
                <a:cs typeface="Aptos Display" pitchFamily="34" charset="-120"/>
              </a:rPr>
              <a:t>Plan. Coach. Appraise.</a:t>
            </a:r>
            <a:endParaRPr lang="en-US" sz="3600" dirty="0"/>
          </a:p>
        </p:txBody>
      </p:sp>
      <p:sp>
        <p:nvSpPr>
          <p:cNvPr id="8" name="Text 5"/>
          <p:cNvSpPr/>
          <p:nvPr/>
        </p:nvSpPr>
        <p:spPr>
          <a:xfrm>
            <a:off x="502920" y="3611880"/>
            <a:ext cx="10058400" cy="1280160"/>
          </a:xfrm>
          <a:prstGeom prst="rect">
            <a:avLst/>
          </a:prstGeom>
          <a:noFill/>
          <a:ln/>
        </p:spPr>
        <p:txBody>
          <a:bodyPr wrap="square" rtlCol="0" anchor="ctr"/>
          <a:lstStyle/>
          <a:p>
            <a:pPr indent="0" marL="0">
              <a:lnSpc>
                <a:spcPct val="125000"/>
              </a:lnSpc>
              <a:buNone/>
            </a:pPr>
            <a:r>
              <a:rPr lang="en-US" sz="1600" dirty="0">
                <a:solidFill>
                  <a:srgbClr val="B9D6F2"/>
                </a:solidFill>
                <a:latin typeface="Aptos" pitchFamily="34" charset="0"/>
                <a:ea typeface="Aptos" pitchFamily="34" charset="-122"/>
                <a:cs typeface="Aptos" pitchFamily="34" charset="-120"/>
              </a:rPr>
              <a:t>You can now formulate performance standards, build a monitoring system, prepare for a review, and conduct a fair, constructive performance review interview. Complete the unit quiz and your Portfolio of Evidence assignment in ITSS Learn.</a:t>
            </a:r>
            <a:endParaRPr lang="en-US" sz="1600" dirty="0"/>
          </a:p>
        </p:txBody>
      </p:sp>
      <p:sp>
        <p:nvSpPr>
          <p:cNvPr id="9" name="Text 6"/>
          <p:cNvSpPr/>
          <p:nvPr/>
        </p:nvSpPr>
        <p:spPr>
          <a:xfrm>
            <a:off x="502920" y="6291072"/>
            <a:ext cx="11183112" cy="365760"/>
          </a:xfrm>
          <a:prstGeom prst="rect">
            <a:avLst/>
          </a:prstGeom>
          <a:noFill/>
          <a:ln/>
        </p:spPr>
        <p:txBody>
          <a:bodyPr wrap="square" rtlCol="0" anchor="ctr"/>
          <a:lstStyle/>
          <a:p>
            <a:pPr indent="0" marL="0">
              <a:buNone/>
            </a:pPr>
            <a:r>
              <a:rPr lang="en-US" sz="1400" dirty="0">
                <a:solidFill>
                  <a:srgbClr val="6E93BC"/>
                </a:solidFill>
                <a:latin typeface="Aptos" pitchFamily="34" charset="0"/>
                <a:ea typeface="Aptos" pitchFamily="34" charset="-122"/>
                <a:cs typeface="Aptos" pitchFamily="34" charset="-120"/>
              </a:rPr>
              <a:t>US 252034 · National Certificate: Generic Management · SAQA ID 59201 · ITSS Learn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68</Slides>
  <Notes>68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68</vt:i4>
      </vt:variant>
    </vt:vector>
  </HeadingPairs>
  <TitlesOfParts>
    <vt:vector size="7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vector>
  </TitlesOfParts>
  <Company>Investec — Corporate Banking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 252034 — Monitor and evaluate team members against performance standards</dc:title>
  <dc:subject>PptxGenJS Presentation</dc:subject>
  <dc:creator>Andre Snell</dc:creator>
  <cp:lastModifiedBy>Andre Snell</cp:lastModifiedBy>
  <cp:revision>1</cp:revision>
  <dcterms:created xsi:type="dcterms:W3CDTF">2026-09-13T19:58:03Z</dcterms:created>
  <dcterms:modified xsi:type="dcterms:W3CDTF">2026-09-13T19:58:03Z</dcterms:modified>
</cp:coreProperties>
</file>