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image" Target="../media/image-14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image" Target="../media/image-16-7.png"/><Relationship Id="rId8" Type="http://schemas.openxmlformats.org/officeDocument/2006/relationships/image" Target="../media/image-16-8.svg"/><Relationship Id="rId9" Type="http://schemas.openxmlformats.org/officeDocument/2006/relationships/image" Target="../media/image-16-9.png"/><Relationship Id="rId10" Type="http://schemas.openxmlformats.org/officeDocument/2006/relationships/image" Target="../media/image-16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1143000"/>
            <a:ext cx="4114800" cy="475488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14300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NQF LEVEL 5 · 4 CREDITS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Explain the Principles of Business and the Role of Information Technology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35204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Forms of enterprise, business objectives and the environment within which businesses operate</a:t>
            </a:r>
            <a:endParaRPr lang="en-US" sz="1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58400" y="1280160"/>
            <a:ext cx="1645920" cy="1645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4160520"/>
            <a:ext cx="11183112" cy="0"/>
          </a:xfrm>
          <a:prstGeom prst="line">
            <a:avLst/>
          </a:prstGeom>
          <a:noFill/>
          <a:ln w="12700">
            <a:solidFill>
              <a:srgbClr val="D5E3F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4389120"/>
            <a:ext cx="2612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02920" y="4681728"/>
            <a:ext cx="26128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 minutes · Self &amp; Group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298698" y="4389120"/>
            <a:ext cx="2612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298698" y="4681728"/>
            <a:ext cx="26128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Friday, 21 Aug 2026 · 09h00 – 14h00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094476" y="4389120"/>
            <a:ext cx="2612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094476" y="4681728"/>
            <a:ext cx="26128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 1 · Professional Team Development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890254" y="4389120"/>
            <a:ext cx="2612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ASSURANCE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890254" y="4681728"/>
            <a:ext cx="261289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QCTO / MICT SETA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02920" y="635508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ITSS Learn · Investec · Corporate Banking Technology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— Explain the principles of business and the role of information technology · NQF 5 · 4 credits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74320"/>
            <a:ext cx="11183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 OUTCOMES &amp; ASSESSMENT CRITERIA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you must be able to do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Specific outcome: Explain the principles of business and the role of information technology. You will be assessed against these criteria: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3605784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2267712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88136" y="2212848"/>
            <a:ext cx="28559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Types of business organisations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67512" y="2834640"/>
            <a:ext cx="327660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description distinguishes types of business organisations — Sole trader, Partnership, Limited Co, Private Co, Public Ltd Company.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291584" y="2103120"/>
            <a:ext cx="3605784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1129030000" dist="322580000" dir="324000000000">
              <a:srgbClr val="9AB4CC">
                <a:alpha val="300000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6176" y="2267712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76800" y="2212848"/>
            <a:ext cx="28559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objectives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456176" y="2834640"/>
            <a:ext cx="327660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description outlines the common objectives within which businesses operate — buying &amp; selling activity, profit, charity, social clubs.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080248" y="2103120"/>
            <a:ext cx="3605784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14338681000000" dist="4096766000000" dir="19440000000000000">
              <a:srgbClr val="9AB4CC">
                <a:alpha val="300000000000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4840" y="2267712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65464" y="2212848"/>
            <a:ext cx="28559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environment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244840" y="2834640"/>
            <a:ext cx="327660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description outlines the environment within which businesses operate.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02920" y="4572000"/>
            <a:ext cx="11183112" cy="566928"/>
          </a:xfrm>
          <a:prstGeom prst="roundRect">
            <a:avLst>
              <a:gd name="adj" fmla="val 14516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182101248700000000" dist="52028928200000000" dir="1.1664e+21">
              <a:srgbClr val="9AB4CC">
                <a:alpha val="3000000000000000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4088" y="470916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69848" y="4572000"/>
            <a:ext cx="10378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your own business setup as you work through this lesson — every form of enterprise you meet is a candidate.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— Explain the principles of business and the role of information technology · NQF 5 · 4 credits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74320"/>
            <a:ext cx="11183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FORMS OF ENTERPRISES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Four ways to own a business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Let's take a closer look at the different types of businesses there are, from which you must choose for your own setup.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1965960"/>
            <a:ext cx="265861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2.31268585849e+21" dist="660767388140000000000" dir="6.9984e+25">
              <a:srgbClr val="9AB4CC">
                <a:alpha val="3e+24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2130552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88136" y="2075688"/>
            <a:ext cx="19088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Sole Proprietor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7512" y="2697480"/>
            <a:ext cx="2329434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owner, no partners or co-owners. No formal registration — but if the business becomes insolvent, you personally become insolvent.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344418" y="1965960"/>
            <a:ext cx="265861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2.9371110402823e+25" dist="8.391745829378e+24" dir="4.19904e+30">
              <a:srgbClr val="9AB4CC">
                <a:alpha val="3e+29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09010" y="2130552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29634" y="2075688"/>
            <a:ext cx="19088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Partnership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09010" y="2697480"/>
            <a:ext cx="2329434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to 20 people making and sharing profits. Not a legal person — partners are jointly and severally liable for its debts.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85916" y="1965960"/>
            <a:ext cx="265861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3.730131021158521e+29" dist="1.0657517203310059e+29" dir="2.519424e+35">
              <a:srgbClr val="9AB4CC">
                <a:alpha val="2.9999999999999997e+34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0508" y="2130552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71132" y="2075688"/>
            <a:ext cx="19088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Closed Corporation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350508" y="2697480"/>
            <a:ext cx="2329434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Simple, flexible, inexpensive legal structure for up to ten natural persons. A legal person in its own right.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9027414" y="1965960"/>
            <a:ext cx="265861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4.737266396871321e+33" dist="1.3535046848203775e+33" dir="1.5116544e+40">
              <a:srgbClr val="9AB4CC">
                <a:alpha val="3e+39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92006" y="213055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12630" y="2075688"/>
            <a:ext cx="19088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Company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192006" y="2697480"/>
            <a:ext cx="2329434" cy="1444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most advanced form (Act 61 of 1973) — eliminates unlimited liability and improves the ability to acquire capital. Private or public.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— Explain the principles of business and the role of information technology · NQF 5 · 4 credits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74320"/>
            <a:ext cx="11183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COMPANY (PTY LTD)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Private vs public company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South Africa two types of profit-seeking companies are found — the private and the public company. The most important differences: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74520"/>
          <a:ext cx="1118311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023360"/>
                <a:gridCol w="40507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Private Company</a:t>
                      </a:r>
                      <a:endParaRPr lang="en-US" sz="13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Public Company</a:t>
                      </a:r>
                      <a:endParaRPr lang="en-US" sz="13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Members (shareholders)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Between one and 50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At least seven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Directors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At least one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At least two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May not be offered to the general public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May be offered to the general public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Transferability of shares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Limited — needs board of directors' consent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Freely transferable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Name ends with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(Pty.) Ltd. or Proprietary (Limited)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Ltd. or Limited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Legal requirements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Subject to less requirements and limitations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Subject to numerous requirements and limitations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— Explain the principles of business and the role of information technology · NQF 5 · 4 credits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74320"/>
            <a:ext cx="11183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FORMS OF ENTERPRISES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Closed corporations (CC)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11183112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simple, flexible, inexpensive and legal business structure for up to ten natural persons involved in business together.</a:t>
            </a:r>
            <a:endParaRPr lang="en-US" sz="15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not have more than ten members and must be registered with the Registrar of Closed Corporations in Pretoria.</a:t>
            </a:r>
            <a:endParaRPr lang="en-US" sz="15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legal person — it can enter into contracts, operate a bank account, own property, sue or be sued in court.</a:t>
            </a:r>
            <a:endParaRPr lang="en-US" sz="15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Formed and owned by its members but exists independently of them — it continues even if membership changes or all members die.</a:t>
            </a:r>
            <a:endParaRPr lang="en-US" sz="15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Establishment, existence or termination can be done only by law, in terms of the Closed Corporations Act.</a:t>
            </a:r>
            <a:endParaRPr lang="en-US" sz="15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Owned and managed by its members: each holds an interest (a percentage) and these must always add up to 100 percent.</a:t>
            </a:r>
            <a:endParaRPr lang="en-US" sz="15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company, corporation or trust may not be a member of a closed corporation.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— Explain the principles of business and the role of information technology · NQF 5 · 4 credits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74320"/>
            <a:ext cx="11183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FORMS OF ENTERPRISES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Partnerships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11183112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business association concluded between people who intend making and sharing profits.</a:t>
            </a:r>
            <a:endParaRPr lang="en-US" sz="15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 legal person — the rights, duties and liabilities of the partnership bind the individual partners.</a:t>
            </a:r>
            <a:endParaRPr lang="en-US" sz="15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Minimum of two and maximum of 20 partners (certain professional partnerships may have more).</a:t>
            </a:r>
            <a:endParaRPr lang="en-US" sz="15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Managed according to the agreement between the partners; each partner is an agent of the partnership and binds all other partners.</a:t>
            </a:r>
            <a:endParaRPr lang="en-US" sz="15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are jointly and severally liable for partnership debts.</a:t>
            </a:r>
            <a:endParaRPr lang="en-US" sz="15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sequestrated due to insolvency, the estates of all the partners are simultaneously sequestrated.</a:t>
            </a:r>
            <a:endParaRPr lang="en-US" sz="15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 have a properly worded agreement drawn up by an attorney — stipulating what happens if a partner dies or the partnership dissolves.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— Explain the principles of business and the role of information technology · NQF 5 · 4 credits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74320"/>
            <a:ext cx="11183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FORMS OF ENTERPRISES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Sole proprietor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11183112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one person owns the business — there are no partners or co-owners.</a:t>
            </a:r>
            <a:endParaRPr lang="en-US" sz="15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need for formal registration, administration or termination; no statutes regulate sole owners and no documentation needs registering.</a:t>
            </a:r>
            <a:endParaRPr lang="en-US" sz="15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do not have to work alone — you may employ people to manage or help you run the business.</a:t>
            </a:r>
            <a:endParaRPr lang="en-US" sz="15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the business becomes insolvent, you personally become insolvent.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4297680"/>
            <a:ext cx="11183112" cy="1737360"/>
          </a:xfrm>
          <a:prstGeom prst="roundRect">
            <a:avLst>
              <a:gd name="adj" fmla="val 4737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6.016328324026578e+37" dist="1.7189509497218795e+37" dir="9.069926400000001e+44">
              <a:srgbClr val="9AB4CC">
                <a:alpha val="3e+44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4480560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YOU START: RESEARCH THE NEED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800600"/>
            <a:ext cx="10725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skills · your interests · your other commitments · is there a market? · who is the market? · how big is it? · who is the competition? · growing or stagnant? · premises or home? · capital requirements · right size · working hours · staffing numbers · the risk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— Explain the principles of business and the role of information technology · NQF 5 · 4 credits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74320"/>
            <a:ext cx="11183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CHOOSING YOUR IDEA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New, existing or franchised?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Rate each business idea against the research criteria on a scale of 1–10 to see which to start with first.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1965960"/>
            <a:ext cx="360578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7.640736971513755e+41" dist="2.183067706146787e+41" dir="5.44195584e+49">
              <a:srgbClr val="9AB4CC">
                <a:alpha val="2.9999999999999997e+49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2130552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88136" y="2075688"/>
            <a:ext cx="28559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a new business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67512" y="2697480"/>
            <a:ext cx="327660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own idea from scratch. Rate it 1–10 against the research checklist — skills, market, competition, capital, location, risk.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291584" y="1965960"/>
            <a:ext cx="360578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9.703735953822469e+45" dist="2.7724959868064195e+45" dir="3.2651735040000005e+54">
              <a:srgbClr val="9AB4CC">
                <a:alpha val="2.9999999999999996e+54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6176" y="2130552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76800" y="2075688"/>
            <a:ext cx="28559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Buy an existing business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456176" y="2697480"/>
            <a:ext cx="327660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ongoing concern — revenue from day one with a customer and supplier base, premises and equipment. But you pay for goodwill and there may be unseen flaws.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80248" y="1965960"/>
            <a:ext cx="3605784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1.2323744661354536e+50" dist="3.5210699032441527e+49" dir="1.9591041024000004e+59">
              <a:srgbClr val="9AB4CC">
                <a:alpha val="2.9999999999999996e+59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4840" y="2130552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65464" y="2075688"/>
            <a:ext cx="28559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 a franchise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244840" y="2697480"/>
            <a:ext cx="3276600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in-between: a new business that is also a known brand. “A marriage between a big business and a small business.”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02920" y="4434840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According to the South African Franchise Association, franchising is about to explode in South Africa — one of the best opportunities for aspiring entrepreneurs.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— Explain the principles of business and the role of information technology · NQF 5 · 4 credits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74320"/>
            <a:ext cx="11183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FRANCHISING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Franchisor and franchisee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5500116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1.5651155719920262e+54" dist="4.471758777120074e+53" dir="1.1754624614400003e+64">
              <a:srgbClr val="9AB4CC">
                <a:alpha val="2.9999999999999996e+64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190195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88136" y="1847088"/>
            <a:ext cx="47503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franchisor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7512" y="2468880"/>
            <a:ext cx="5170932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person or company with a highly marketable product or service. Achieves rapid expansion at relatively low cost.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85916" y="1737360"/>
            <a:ext cx="5500116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1.9876967764298733e+58" dist="5.679133646942494e+57" dir="7.052774768640002e+68">
              <a:srgbClr val="9AB4CC">
                <a:alpha val="2.9999999999999995e+69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0508" y="1901952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71132" y="1847088"/>
            <a:ext cx="47503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franchisee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350508" y="2468880"/>
            <a:ext cx="5170932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Licensed by the franchisor to perform the marketing function; provides most of the capital required. Gains big-business purchasing and advertising advantages.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02920" y="3794760"/>
            <a:ext cx="111831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relatively small size of the franchisee's business keeps small-business advantages — personal dedication and commitment — making franchising particularly suited to service-type businesses, at relatively low risk.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— Explain the principles of business and the role of information technology · NQF 5 · 4 credits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74320"/>
            <a:ext cx="11183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FRANCHISING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Advantages of franchising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11183112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Far greater chances of success — the franchisor supplies goods or services more cheaply than an independent business could source them.</a:t>
            </a:r>
            <a:endParaRPr lang="en-US" sz="15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franchisor obtains bigger discounts by buying in bulk for his outlets.</a:t>
            </a:r>
            <a:endParaRPr lang="en-US" sz="15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franchisee starts with a product or service that has an existing, acceptable image.</a:t>
            </a:r>
            <a:endParaRPr lang="en-US" sz="15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 know the business, even if the outlet is new.</a:t>
            </a:r>
            <a:endParaRPr lang="en-US" sz="15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accepted brand takes years to build — a franchise has it from the start.</a:t>
            </a:r>
            <a:endParaRPr lang="en-US" sz="15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franchisors offer a complete package: operations manual, accounting system, marketing assistance, outlet design, staff selection and training.</a:t>
            </a:r>
            <a:endParaRPr lang="en-US" sz="15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Ongoing management advice — it is in the franchisor's own interest that every outlet succeeds.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— Explain the principles of business and the role of information technology · NQF 5 · 4 credits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74320"/>
            <a:ext cx="11183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FRANCHISING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Disadvantages — and what you need to be a franchisee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5454396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2.524374906065939e+62" dist="7.212499731616968e+61" dir="4.2316648611840007e+73">
              <a:srgbClr val="9AB4CC">
                <a:alpha val="2.9999999999999995e+7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783080"/>
            <a:ext cx="49971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DISADVANTAGES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4997196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Selling rights normally restricted to a particular area only</a:t>
            </a:r>
            <a:endParaRPr lang="en-US" sz="1350" dirty="0"/>
          </a:p>
          <a:p>
            <a:pPr marL="152400" indent="-1524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Strict franchisor controls to keep uniform quality standards and cleanliness</a:t>
            </a:r>
            <a:endParaRPr lang="en-US" sz="1350" dirty="0"/>
          </a:p>
          <a:p>
            <a:pPr marL="152400" indent="-1524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Problems can develop if the franchisee becomes too dependent on the franchisor</a:t>
            </a:r>
            <a:endParaRPr lang="en-US" sz="1350" dirty="0"/>
          </a:p>
          <a:p>
            <a:pPr marL="152400" indent="-1524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costs money — initial franchise fees plus ongoing royalty fees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31636" y="1600200"/>
            <a:ext cx="5454396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3.2059561307037426e+66" dist="9.15987465915355e+65" dir="2.5389989167104004e+78">
              <a:srgbClr val="9AB4CC">
                <a:alpha val="3e+7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60236" y="1783080"/>
            <a:ext cx="49971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 NEED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60236" y="2103120"/>
            <a:ext cx="4997196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qualities of a successful entrepreneur</a:t>
            </a:r>
            <a:endParaRPr lang="en-US" sz="1350" dirty="0"/>
          </a:p>
          <a:p>
            <a:pPr marL="152400" indent="-1524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thorough investigation of the franchisor — track record, industry growth, satisfied franchisees</a:t>
            </a:r>
            <a:endParaRPr lang="en-US" sz="1350" dirty="0"/>
          </a:p>
          <a:p>
            <a:pPr marL="152400" indent="-1524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Established training provision, and an attorney to scrutinise the franchise agreement</a:t>
            </a:r>
            <a:endParaRPr lang="en-US" sz="1350" dirty="0"/>
          </a:p>
          <a:p>
            <a:pPr marL="152400" indent="-1524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Legal and financial aspects clearly defined and fair to both parties</a:t>
            </a:r>
            <a:endParaRPr lang="en-US" sz="1350" dirty="0"/>
          </a:p>
          <a:p>
            <a:pPr marL="152400" indent="-1524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Loans are more readily available to franchises because of the reduced risk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— Explain the principles of business and the role of information technology · NQF 5 · 4 credits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74320"/>
            <a:ext cx="11183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FRANCHISING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are franchised businesses?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McDonald's, Steers, Spar, Shoprite — the same name, the same goods, at more or less the same prices.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1118311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largest criteria: every outlet must look uniformly the same and sell the branded products the franchisor suggests.</a:t>
            </a:r>
            <a:endParaRPr lang="en-US" sz="15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Products are increasingly labelled as “house brands” — a building tool for the franchise brand name.</a:t>
            </a:r>
            <a:endParaRPr lang="en-US" sz="15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brand gives consumers peace of mind: the same quality from one outlet as from the next, wherever they shop.</a:t>
            </a:r>
            <a:endParaRPr lang="en-US" sz="1500" dirty="0"/>
          </a:p>
          <a:p>
            <a:pPr marL="177800" indent="-1778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brand consumers long for — confidence in the quality of the product they are buying.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— Explain the principles of business and the role of information technology · NQF 5 · 4 credits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74320"/>
            <a:ext cx="11183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Aims, objectives and mission statements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sole trader may have unstated aims — like surviving the first year. Others state exactly what they aim to do: Amazon wants to “make history and have fun”.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360578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4.071564285993753e+70" dist="1.1633040817125008e+70" dir="1.5233993500262402e+83">
              <a:srgbClr val="9AB4CC">
                <a:alpha val="2.9999999999999995e+84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2267712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88136" y="2212848"/>
            <a:ext cx="28559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 aim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67512" y="2834640"/>
            <a:ext cx="327660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the business wants to go in the future — its goals. A statement of purpose, e.g. “we want to grow the business into Europe.”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291584" y="2103120"/>
            <a:ext cx="360578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5.170886643212067e+74" dist="1.477396183774876e+74" dir="9.14039610015744e+87">
              <a:srgbClr val="9AB4CC">
                <a:alpha val="2.9999999999999996e+89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6176" y="2267712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76800" y="2212848"/>
            <a:ext cx="28559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objectives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456176" y="2834640"/>
            <a:ext cx="327660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stated, measurable targets of how to achieve the aims — e.g. “sales of €10 million in European markets in 2004.”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80248" y="2103120"/>
            <a:ext cx="360578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6.567026036879325e+78" dist="1.8762931533940924e+78" dir="5.484237660094465e+92">
              <a:srgbClr val="9AB4CC">
                <a:alpha val="2.9999999999999997e+94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4840" y="2267712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65464" y="2212848"/>
            <a:ext cx="285597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mission statement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244840" y="2834640"/>
            <a:ext cx="327660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Sets out the vision and values so employees, managers, customers and even suppliers understand the basis for the business's actions.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— Explain the principles of business and the role of information technology · NQF 5 · 4 credits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74320"/>
            <a:ext cx="11183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OBJECTIVES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 objectives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111831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Objectives give the business a clearly defined target — plans can be made, employees are motivated and progress can be measured.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209031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.340123066836742e+82" dist="2.3828923048104974e+82" dir="3.2905425960566786e+97">
              <a:srgbClr val="9AB4CC">
                <a:alpha val="2.9999999999999997e+99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2267712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88136" y="2212848"/>
            <a:ext cx="13405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 — Specific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7512" y="2834640"/>
            <a:ext cx="176113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Aimed at what the business does, e.g. a hotel filling 60% of its beds a night during October.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76118" y="2103120"/>
            <a:ext cx="209031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1.0591956294882662e+87" dist="3.0262732271093317e+86" dir="1.9743255576340073e+102">
              <a:srgbClr val="9AB4CC">
                <a:alpha val="3e+104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40710" y="2267712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61334" y="2212848"/>
            <a:ext cx="13405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 — Measurable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940710" y="2834640"/>
            <a:ext cx="176113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value can be put on it, e.g. €10,000 in sales in the next half year of trading.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049317" y="2103120"/>
            <a:ext cx="209031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1.3451784494500981e+91" dist="3.8433669984288512e+90" dir="1.1845953345804043e+107">
              <a:srgbClr val="9AB4CC">
                <a:alpha val="2.9999999999999997e+109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13909" y="2267712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634533" y="2212848"/>
            <a:ext cx="13405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— Agreed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213909" y="2834640"/>
            <a:ext cx="176113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all those concerned in trying to achieve the objective.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322515" y="2103120"/>
            <a:ext cx="209031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1.7083766308016246e+95" dist="4.8810760880046414e+94" dir="7.107572007482426e+111">
              <a:srgbClr val="9AB4CC">
                <a:alpha val="2.9999999999999995e+114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87107" y="2267712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907731" y="2212848"/>
            <a:ext cx="13405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 — Realistic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487107" y="2834640"/>
            <a:ext cx="176113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Challenging, but achievable with the resources available.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9595714" y="2103120"/>
            <a:ext cx="209031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2.1696383211180632e+99" dist="6.198966631765894e+98" dir="4.2645432044894554e+116">
              <a:srgbClr val="9AB4CC">
                <a:alpha val="2.9999999999999997e+119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60306" y="2267712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180930" y="2212848"/>
            <a:ext cx="13405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 — Time specific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9760306" y="2834640"/>
            <a:ext cx="176113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time limit for achievement, e.g. by the end of the year.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— Explain the principles of business and the role of information technology · NQF 5 · 4 credits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74320"/>
            <a:ext cx="11183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OBJECTIVES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main objectives businesses pursue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265861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2.7554406678199403e+103" dist="7.872687622342685e+102" dir="2.5587259226936733e+121">
              <a:srgbClr val="9AB4CC">
                <a:alpha val="2.9999999999999995e+124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190195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88136" y="1847088"/>
            <a:ext cx="19088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Survival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67512" y="2468880"/>
            <a:ext cx="232943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Short-term — small businesses starting out, new entrants to a market, or a time of crisis.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44418" y="1737360"/>
            <a:ext cx="265861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3.499409648131324e+107" dist="9.998313280375211e+106" dir="1.535235553616204e+126">
              <a:srgbClr val="9AB4CC">
                <a:alpha val="2.9999999999999997e+129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09010" y="1901952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29634" y="1847088"/>
            <a:ext cx="19088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Profit maximisation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09010" y="2468880"/>
            <a:ext cx="232943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most profit possible — most likely the aim of the owners and shareholders.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85916" y="1737360"/>
            <a:ext cx="265861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4.4442502531267815e+111" dist="1.2697857866076517e+111" dir="9.211413321697224e+130">
              <a:srgbClr val="9AB4CC">
                <a:alpha val="2.9999999999999996e+134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0508" y="190195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71132" y="1847088"/>
            <a:ext cx="19088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Profit satisfying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50508" y="2468880"/>
            <a:ext cx="232943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Enough profit to keep the owners comfortable — smaller businesses whose owners don't want longer hours.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027414" y="1737360"/>
            <a:ext cx="2658618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5.644197821471012e+115" dist="1.6126279489917177e+115" dir="5.526847993018334e+135">
              <a:srgbClr val="9AB4CC">
                <a:alpha val="2.9999999999999994e+139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92006" y="1901952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612630" y="1847088"/>
            <a:ext cx="19088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Sales growth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9192006" y="2468880"/>
            <a:ext cx="2329434" cy="1124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as many sales as possible — survival through size, plus economies of scale.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02920" y="4023360"/>
            <a:ext cx="11183112" cy="1737360"/>
          </a:xfrm>
          <a:prstGeom prst="roundRect">
            <a:avLst>
              <a:gd name="adj" fmla="val 4737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7.168131233268186e+119" dist="2.0480374952194813e+119" dir="3.3161087958110005e+140">
              <a:srgbClr val="9AB4CC">
                <a:alpha val="2.9999999999999996e+144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731520" y="4206240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OBJECTIVES CONFLICT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731520" y="4526280"/>
            <a:ext cx="10725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 vs profit: higher short-term sales (e.g. price cuts) reduce short-term profit.  ·  Short-term vs long-term: lower cash flows now while investing in new products, plant and equipment.  ·  Large Stock Exchange investors are often accused of chasing short-term performance instead of investing for the long term.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— Explain the principles of business and the role of information technology · NQF 5 · 4 credits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74320"/>
            <a:ext cx="11183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ALTERNATIVE AIMS AND OBJECTIVES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 all businesses seek profit or growth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2090318" cy="2148840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9.103526666250596e+123" dist="2.6010076189287412e+123" dir="1.9896652774866004e+145">
              <a:srgbClr val="9AB4CC">
                <a:alpha val="2.9999999999999996e+149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190195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88136" y="1847088"/>
            <a:ext cx="13405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Ethical &amp; socially responsible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67512" y="2468880"/>
            <a:ext cx="1761134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Co-op, the Body Shop — objectives based on beliefs about the environment and the less fortunate.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776118" y="1737360"/>
            <a:ext cx="2090318" cy="2148840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1.1561478866138256e+128" dist="3.303279676039501e+127" dir="1.1937991664919603e+150">
              <a:srgbClr val="9AB4CC">
                <a:alpha val="2.9999999999999997e+154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40710" y="1901952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61334" y="1847088"/>
            <a:ext cx="13405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sector corporations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940710" y="2468880"/>
            <a:ext cx="1761134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plus a public service — meeting the needs of the less well off, e.g. cheap and accessible transport.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049317" y="1737360"/>
            <a:ext cx="2090318" cy="2148840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1.4683078159995586e+132" dist="4.195165188570166e+131" dir="7.162794998951762e+154">
              <a:srgbClr val="9AB4CC">
                <a:alpha val="2.9999999999999998e+159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13909" y="190195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634533" y="1847088"/>
            <a:ext cx="13405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sector regulators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213909" y="2468880"/>
            <a:ext cx="1761134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or control private sector activities — ensuring businesses comply with the laws laid down.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322515" y="1737360"/>
            <a:ext cx="2090318" cy="2148840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1.8647509263194394e+136" dist="5.327859789484111e+135" dir="4.297676999371057e+159">
              <a:srgbClr val="9AB4CC">
                <a:alpha val="3e+164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87107" y="1901952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907731" y="1847088"/>
            <a:ext cx="13405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Health care &amp; education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7487107" y="2468880"/>
            <a:ext cx="1761134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 a service — most private schools have charitable status; the aim is the enhancement of pupils through education.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9595714" y="1737360"/>
            <a:ext cx="2090318" cy="2148840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2.368233676425688e+140" dist="6.766381932644821e+139" dir="2.5786061996226343e+164">
              <a:srgbClr val="9AB4CC">
                <a:alpha val="3e+169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60306" y="1901952"/>
            <a:ext cx="329184" cy="32918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180930" y="1847088"/>
            <a:ext cx="13405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Charities &amp; voluntary bodies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9760306" y="2468880"/>
            <a:ext cx="1761134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Aims and objectives led by the beliefs they stand for.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502920" y="4206240"/>
            <a:ext cx="11183112" cy="1371600"/>
          </a:xfrm>
          <a:prstGeom prst="roundRect">
            <a:avLst>
              <a:gd name="adj" fmla="val 6000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3.0076567690606238e+144" dist="8.593305054458923e+143" dir="1.5471637197735807e+169">
              <a:srgbClr val="9AB4CC">
                <a:alpha val="3e+174"/>
              </a:srgbClr>
            </a:outerShdw>
          </a:effectLst>
        </p:spPr>
      </p:sp>
      <p:sp>
        <p:nvSpPr>
          <p:cNvPr id="28" name="Text 21"/>
          <p:cNvSpPr/>
          <p:nvPr/>
        </p:nvSpPr>
        <p:spPr>
          <a:xfrm>
            <a:off x="731520" y="4370832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OBJECTIVES CHANGE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731520" y="4681728"/>
            <a:ext cx="1072591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objective is achieved and a new one is needed (survival year one → profit year two)  ·  competitors launch new products  ·  technology changes product designs, so sales and production targets must change.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— Explain the principles of business and the role of information technology · NQF 5 · 4 credits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74320"/>
            <a:ext cx="11183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PROVE IT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Your work for this unit standard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265861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3.819724096706992e+148" dist="1.0913497419162833e+148" dir="9.282982318641485e+173">
              <a:srgbClr val="9AB4CC">
                <a:alpha val="3e+179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199339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88136" y="1938528"/>
            <a:ext cx="19088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Questioning session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67512" y="2560320"/>
            <a:ext cx="2329434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Distinguish the forms of enterprise, outline the common objectives and describe the business environment — typed answers, AI-marked.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44418" y="1828800"/>
            <a:ext cx="265861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4.85104960281788e+152" dist="1.38601417223368e+152" dir="5.569789391184891e+178">
              <a:srgbClr val="9AB4CC">
                <a:alpha val="3e+184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09010" y="1993392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29634" y="1938528"/>
            <a:ext cx="19088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quiz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509010" y="2560320"/>
            <a:ext cx="2329434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questions on everything covered in this lesson. 80%+ is competent.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85916" y="1828800"/>
            <a:ext cx="265861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6.160832995578707e+156" dist="1.7602379987367734e+156" dir="3.3418736347109347e+183">
              <a:srgbClr val="9AB4CC">
                <a:alpha val="3e+189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0508" y="199339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71132" y="1938528"/>
            <a:ext cx="19088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Self assessment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350508" y="2560320"/>
            <a:ext cx="2329434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 honest with yourself — tick what you can do, write goals for what you can't.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27414" y="1828800"/>
            <a:ext cx="265861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7.824257904384958e+160" dist="2.235502258395702e+160" dir="2.0051241808265608e+188">
              <a:srgbClr val="9AB4CC">
                <a:alpha val="2.9999999999999997e+194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92006" y="1993392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612630" y="1938528"/>
            <a:ext cx="190881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Logbook project — Research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9192006" y="2560320"/>
            <a:ext cx="2329434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 a project demonstrating how IT is used in everyday business. Use articles, pictures and other media. Mark it 114050.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2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— Explain the principles of business and the role of information technology · NQF 5 · 4 credits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6CB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155448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286000"/>
            <a:ext cx="1118311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 the business — then support its technology.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02920" y="3611880"/>
            <a:ext cx="9326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B9D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Forms of enterprise → researching the idea → franchising → aims, SMART objectives and the environments businesses operate in — the business context every IT systems support professional works inside.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02920" y="630936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93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 114050 · National Certificate: Information Technology — System Support · SAQA ID 48573 · ITSS Learn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Investec — Corporate Banking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114050 — Principles of Business and the Role of Information Technology</dc:title>
  <dc:subject>PptxGenJS Presentation</dc:subject>
  <dc:creator>Andre Snell</dc:creator>
  <cp:lastModifiedBy>Andre Snell</cp:lastModifiedBy>
  <cp:revision>1</cp:revision>
  <dcterms:created xsi:type="dcterms:W3CDTF">2026-08-19T06:44:26Z</dcterms:created>
  <dcterms:modified xsi:type="dcterms:W3CDTF">2026-08-19T06:44:26Z</dcterms:modified>
</cp:coreProperties>
</file>