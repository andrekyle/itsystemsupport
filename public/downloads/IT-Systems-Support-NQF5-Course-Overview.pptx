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9" Type="http://schemas.openxmlformats.org/officeDocument/2006/relationships/hyperlink" Target="https://allqs.saqa.org.za/showQualification.php?id=48573" TargetMode="External"/><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image" Target="../media/image-2-15.png"/><Relationship Id="rId16" Type="http://schemas.openxmlformats.org/officeDocument/2006/relationships/image" Target="../media/image-2-16.svg"/><Relationship Id="rId17" Type="http://schemas.openxmlformats.org/officeDocument/2006/relationships/image" Target="../media/image-2-17.png"/><Relationship Id="rId18" Type="http://schemas.openxmlformats.org/officeDocument/2006/relationships/image" Target="../media/image-2-18.svg"/><Relationship Id="rId20" Type="http://schemas.openxmlformats.org/officeDocument/2006/relationships/slideLayout" Target="../slideLayouts/slideLayout1.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slideLayout" Target="../slideLayouts/slideLayout1.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image" Target="../media/image-7-17.png"/><Relationship Id="rId18" Type="http://schemas.openxmlformats.org/officeDocument/2006/relationships/image" Target="../media/image-7-18.svg"/><Relationship Id="rId19" Type="http://schemas.openxmlformats.org/officeDocument/2006/relationships/image" Target="../media/image-7-19.png"/><Relationship Id="rId20" Type="http://schemas.openxmlformats.org/officeDocument/2006/relationships/image" Target="../media/image-7-20.svg"/><Relationship Id="rId21" Type="http://schemas.openxmlformats.org/officeDocument/2006/relationships/image" Target="../media/image-7-21.png"/><Relationship Id="rId22" Type="http://schemas.openxmlformats.org/officeDocument/2006/relationships/image" Target="../media/image-7-22.svg"/><Relationship Id="rId23" Type="http://schemas.openxmlformats.org/officeDocument/2006/relationships/image" Target="../media/image-7-23.png"/><Relationship Id="rId24" Type="http://schemas.openxmlformats.org/officeDocument/2006/relationships/image" Target="../media/image-7-24.svg"/><Relationship Id="rId25" Type="http://schemas.openxmlformats.org/officeDocument/2006/relationships/image" Target="../media/image-7-25.png"/><Relationship Id="rId26" Type="http://schemas.openxmlformats.org/officeDocument/2006/relationships/image" Target="../media/image-7-26.svg"/><Relationship Id="rId27" Type="http://schemas.openxmlformats.org/officeDocument/2006/relationships/slideLayout" Target="../slideLayouts/slideLayout1.xml"/><Relationship Id="rId2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image" Target="../media/image-11-13.png"/><Relationship Id="rId14" Type="http://schemas.openxmlformats.org/officeDocument/2006/relationships/image" Target="../media/image-11-14.sv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image" Target="../media/image-12-13.png"/><Relationship Id="rId14" Type="http://schemas.openxmlformats.org/officeDocument/2006/relationships/image" Target="../media/image-12-14.svg"/><Relationship Id="rId15" Type="http://schemas.openxmlformats.org/officeDocument/2006/relationships/slideLayout" Target="../slideLayouts/slideLayout1.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9.png"/><Relationship Id="rId10" Type="http://schemas.openxmlformats.org/officeDocument/2006/relationships/image" Target="../media/image-14-10.svg"/><Relationship Id="rId11" Type="http://schemas.openxmlformats.org/officeDocument/2006/relationships/image" Target="../media/image-14-11.png"/><Relationship Id="rId12" Type="http://schemas.openxmlformats.org/officeDocument/2006/relationships/image" Target="../media/image-14-12.svg"/><Relationship Id="rId13" Type="http://schemas.openxmlformats.org/officeDocument/2006/relationships/image" Target="../media/image-14-13.png"/><Relationship Id="rId14" Type="http://schemas.openxmlformats.org/officeDocument/2006/relationships/image" Target="../media/image-14-14.svg"/><Relationship Id="rId15" Type="http://schemas.openxmlformats.org/officeDocument/2006/relationships/slideLayout" Target="../slideLayouts/slideLayout1.xml"/><Relationship Id="rId1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9.png"/><Relationship Id="rId10" Type="http://schemas.openxmlformats.org/officeDocument/2006/relationships/image" Target="../media/image-15-10.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6CBD"/>
          </a:solidFill>
          <a:ln/>
        </p:spPr>
      </p:sp>
      <p:sp>
        <p:nvSpPr>
          <p:cNvPr id="3" name="Shape 1"/>
          <p:cNvSpPr/>
          <p:nvPr/>
        </p:nvSpPr>
        <p:spPr>
          <a:xfrm>
            <a:off x="502920" y="1143000"/>
            <a:ext cx="3840480" cy="475488"/>
          </a:xfrm>
          <a:prstGeom prst="roundRect">
            <a:avLst>
              <a:gd name="adj" fmla="val 50000"/>
            </a:avLst>
          </a:prstGeom>
          <a:solidFill>
            <a:srgbClr val="0F6CBD"/>
          </a:solidFill>
          <a:ln/>
        </p:spPr>
      </p:sp>
      <p:sp>
        <p:nvSpPr>
          <p:cNvPr id="4" name="Text 2"/>
          <p:cNvSpPr/>
          <p:nvPr/>
        </p:nvSpPr>
        <p:spPr>
          <a:xfrm>
            <a:off x="502920" y="1143000"/>
            <a:ext cx="3840480" cy="475488"/>
          </a:xfrm>
          <a:prstGeom prst="rect">
            <a:avLst/>
          </a:prstGeom>
          <a:noFill/>
          <a:ln/>
        </p:spPr>
        <p:txBody>
          <a:bodyPr wrap="square" rtlCol="0" anchor="ctr"/>
          <a:lstStyle/>
          <a:p>
            <a:pPr algn="ctr" indent="0" marL="0">
              <a:buNone/>
            </a:pPr>
            <a:r>
              <a:rPr lang="en-US" sz="1200" b="1" spc="100" kern="0" dirty="0">
                <a:solidFill>
                  <a:srgbClr val="FFFFFF"/>
                </a:solidFill>
                <a:latin typeface="Aptos" pitchFamily="34" charset="0"/>
                <a:ea typeface="Aptos" pitchFamily="34" charset="-122"/>
                <a:cs typeface="Aptos" pitchFamily="34" charset="-120"/>
              </a:rPr>
              <a:t>SAQA ID 48573 · NQF LEVEL 5 · 148 CREDITS</a:t>
            </a:r>
            <a:endParaRPr lang="en-US" sz="1200" dirty="0"/>
          </a:p>
        </p:txBody>
      </p:sp>
      <p:sp>
        <p:nvSpPr>
          <p:cNvPr id="5" name="Text 3"/>
          <p:cNvSpPr/>
          <p:nvPr/>
        </p:nvSpPr>
        <p:spPr>
          <a:xfrm>
            <a:off x="502920" y="1783080"/>
            <a:ext cx="9692640" cy="1737360"/>
          </a:xfrm>
          <a:prstGeom prst="rect">
            <a:avLst/>
          </a:prstGeom>
          <a:noFill/>
          <a:ln/>
        </p:spPr>
        <p:txBody>
          <a:bodyPr wrap="square" rtlCol="0" anchor="ctr"/>
          <a:lstStyle/>
          <a:p>
            <a:pPr indent="0" marL="0">
              <a:buNone/>
            </a:pPr>
            <a:r>
              <a:rPr lang="en-US" sz="4000" b="1" dirty="0">
                <a:solidFill>
                  <a:srgbClr val="002050"/>
                </a:solidFill>
                <a:latin typeface="Aptos Display" pitchFamily="34" charset="0"/>
                <a:ea typeface="Aptos Display" pitchFamily="34" charset="-122"/>
                <a:cs typeface="Aptos Display" pitchFamily="34" charset="-120"/>
              </a:rPr>
              <a:t>National Certificate: Information Technology System Support (Legacy)</a:t>
            </a:r>
            <a:endParaRPr lang="en-US" sz="4000" dirty="0"/>
          </a:p>
        </p:txBody>
      </p:sp>
      <p:sp>
        <p:nvSpPr>
          <p:cNvPr id="6" name="Text 4"/>
          <p:cNvSpPr/>
          <p:nvPr/>
        </p:nvSpPr>
        <p:spPr>
          <a:xfrm>
            <a:off x="502920" y="3520440"/>
            <a:ext cx="8686800" cy="548640"/>
          </a:xfrm>
          <a:prstGeom prst="rect">
            <a:avLst/>
          </a:prstGeom>
          <a:noFill/>
          <a:ln/>
        </p:spPr>
        <p:txBody>
          <a:bodyPr wrap="square" rtlCol="0" anchor="ctr"/>
          <a:lstStyle/>
          <a:p>
            <a:pPr indent="0" marL="0">
              <a:buNone/>
            </a:pPr>
            <a:r>
              <a:rPr lang="en-US" sz="1900" dirty="0">
                <a:solidFill>
                  <a:srgbClr val="6B7280"/>
                </a:solidFill>
                <a:latin typeface="Aptos" pitchFamily="34" charset="0"/>
                <a:ea typeface="Aptos" pitchFamily="34" charset="-122"/>
                <a:cs typeface="Aptos" pitchFamily="34" charset="-120"/>
              </a:rPr>
              <a:t>Programme overview — modules, unit standards, purpose and outcomes</a:t>
            </a:r>
            <a:endParaRPr lang="en-US" sz="19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0" y="1280160"/>
            <a:ext cx="1645920" cy="1645920"/>
          </a:xfrm>
          <a:prstGeom prst="rect">
            <a:avLst/>
          </a:prstGeom>
        </p:spPr>
      </p:pic>
      <p:sp>
        <p:nvSpPr>
          <p:cNvPr id="8" name="Shape 5"/>
          <p:cNvSpPr/>
          <p:nvPr/>
        </p:nvSpPr>
        <p:spPr>
          <a:xfrm>
            <a:off x="502920" y="4160520"/>
            <a:ext cx="11183112" cy="0"/>
          </a:xfrm>
          <a:prstGeom prst="line">
            <a:avLst/>
          </a:prstGeom>
          <a:noFill/>
          <a:ln w="12700">
            <a:solidFill>
              <a:srgbClr val="D5E3F2"/>
            </a:solidFill>
            <a:prstDash val="solid"/>
          </a:ln>
        </p:spPr>
      </p:sp>
      <p:sp>
        <p:nvSpPr>
          <p:cNvPr id="9" name="Text 6"/>
          <p:cNvSpPr/>
          <p:nvPr/>
        </p:nvSpPr>
        <p:spPr>
          <a:xfrm>
            <a:off x="502920" y="4389120"/>
            <a:ext cx="2612898" cy="274320"/>
          </a:xfrm>
          <a:prstGeom prst="rect">
            <a:avLst/>
          </a:prstGeom>
          <a:noFill/>
          <a:ln/>
        </p:spPr>
        <p:txBody>
          <a:bodyPr wrap="square" rtlCol="0" anchor="ctr"/>
          <a:lstStyle/>
          <a:p>
            <a:pPr indent="0" marL="0">
              <a:buNone/>
            </a:pPr>
            <a:r>
              <a:rPr lang="en-US" sz="1150" b="1" spc="200" kern="0" dirty="0">
                <a:solidFill>
                  <a:srgbClr val="0F6CBD"/>
                </a:solidFill>
                <a:latin typeface="Aptos" pitchFamily="34" charset="0"/>
                <a:ea typeface="Aptos" pitchFamily="34" charset="-122"/>
                <a:cs typeface="Aptos" pitchFamily="34" charset="-120"/>
              </a:rPr>
              <a:t>MODULES</a:t>
            </a:r>
            <a:endParaRPr lang="en-US" sz="1150" dirty="0"/>
          </a:p>
        </p:txBody>
      </p:sp>
      <p:sp>
        <p:nvSpPr>
          <p:cNvPr id="10" name="Text 7"/>
          <p:cNvSpPr/>
          <p:nvPr/>
        </p:nvSpPr>
        <p:spPr>
          <a:xfrm>
            <a:off x="502920" y="4681728"/>
            <a:ext cx="2612898" cy="548640"/>
          </a:xfrm>
          <a:prstGeom prst="rect">
            <a:avLst/>
          </a:prstGeom>
          <a:noFill/>
          <a:ln/>
        </p:spPr>
        <p:txBody>
          <a:bodyPr wrap="square" rtlCol="0" anchor="ctr"/>
          <a:lstStyle/>
          <a:p>
            <a:pPr indent="0" marL="0">
              <a:buNone/>
            </a:pPr>
            <a:r>
              <a:rPr lang="en-US" sz="1400" dirty="0">
                <a:solidFill>
                  <a:srgbClr val="002050"/>
                </a:solidFill>
                <a:latin typeface="Aptos" pitchFamily="34" charset="0"/>
                <a:ea typeface="Aptos" pitchFamily="34" charset="-122"/>
                <a:cs typeface="Aptos" pitchFamily="34" charset="-120"/>
              </a:rPr>
              <a:t>6 modules · 24 unit standards</a:t>
            </a:r>
            <a:endParaRPr lang="en-US" sz="1400" dirty="0"/>
          </a:p>
        </p:txBody>
      </p:sp>
      <p:sp>
        <p:nvSpPr>
          <p:cNvPr id="11" name="Text 8"/>
          <p:cNvSpPr/>
          <p:nvPr/>
        </p:nvSpPr>
        <p:spPr>
          <a:xfrm>
            <a:off x="3298698" y="4389120"/>
            <a:ext cx="2612898" cy="274320"/>
          </a:xfrm>
          <a:prstGeom prst="rect">
            <a:avLst/>
          </a:prstGeom>
          <a:noFill/>
          <a:ln/>
        </p:spPr>
        <p:txBody>
          <a:bodyPr wrap="square" rtlCol="0" anchor="ctr"/>
          <a:lstStyle/>
          <a:p>
            <a:pPr indent="0" marL="0">
              <a:buNone/>
            </a:pPr>
            <a:r>
              <a:rPr lang="en-US" sz="1150" b="1" spc="200" kern="0" dirty="0">
                <a:solidFill>
                  <a:srgbClr val="0F6CBD"/>
                </a:solidFill>
                <a:latin typeface="Aptos" pitchFamily="34" charset="0"/>
                <a:ea typeface="Aptos" pitchFamily="34" charset="-122"/>
                <a:cs typeface="Aptos" pitchFamily="34" charset="-120"/>
              </a:rPr>
              <a:t>DURATION</a:t>
            </a:r>
            <a:endParaRPr lang="en-US" sz="1150" dirty="0"/>
          </a:p>
        </p:txBody>
      </p:sp>
      <p:sp>
        <p:nvSpPr>
          <p:cNvPr id="12" name="Text 9"/>
          <p:cNvSpPr/>
          <p:nvPr/>
        </p:nvSpPr>
        <p:spPr>
          <a:xfrm>
            <a:off x="3298698" y="4681728"/>
            <a:ext cx="2612898" cy="548640"/>
          </a:xfrm>
          <a:prstGeom prst="rect">
            <a:avLst/>
          </a:prstGeom>
          <a:noFill/>
          <a:ln/>
        </p:spPr>
        <p:txBody>
          <a:bodyPr wrap="square" rtlCol="0" anchor="ctr"/>
          <a:lstStyle/>
          <a:p>
            <a:pPr indent="0" marL="0">
              <a:buNone/>
            </a:pPr>
            <a:r>
              <a:rPr lang="en-US" sz="1400" dirty="0">
                <a:solidFill>
                  <a:srgbClr val="002050"/>
                </a:solidFill>
                <a:latin typeface="Aptos" pitchFamily="34" charset="0"/>
                <a:ea typeface="Aptos" pitchFamily="34" charset="-122"/>
                <a:cs typeface="Aptos" pitchFamily="34" charset="-120"/>
              </a:rPr>
              <a:t>1 Year · 17 Jul 2026 – 30 Jul 2027</a:t>
            </a:r>
            <a:endParaRPr lang="en-US" sz="1400" dirty="0"/>
          </a:p>
        </p:txBody>
      </p:sp>
      <p:sp>
        <p:nvSpPr>
          <p:cNvPr id="13" name="Text 10"/>
          <p:cNvSpPr/>
          <p:nvPr/>
        </p:nvSpPr>
        <p:spPr>
          <a:xfrm>
            <a:off x="6094476" y="4389120"/>
            <a:ext cx="2612898" cy="274320"/>
          </a:xfrm>
          <a:prstGeom prst="rect">
            <a:avLst/>
          </a:prstGeom>
          <a:noFill/>
          <a:ln/>
        </p:spPr>
        <p:txBody>
          <a:bodyPr wrap="square" rtlCol="0" anchor="ctr"/>
          <a:lstStyle/>
          <a:p>
            <a:pPr indent="0" marL="0">
              <a:buNone/>
            </a:pPr>
            <a:r>
              <a:rPr lang="en-US" sz="1150" b="1" spc="200" kern="0" dirty="0">
                <a:solidFill>
                  <a:srgbClr val="0F6CBD"/>
                </a:solidFill>
                <a:latin typeface="Aptos" pitchFamily="34" charset="0"/>
                <a:ea typeface="Aptos" pitchFamily="34" charset="-122"/>
                <a:cs typeface="Aptos" pitchFamily="34" charset="-120"/>
              </a:rPr>
              <a:t>SESSIONS</a:t>
            </a:r>
            <a:endParaRPr lang="en-US" sz="1150" dirty="0"/>
          </a:p>
        </p:txBody>
      </p:sp>
      <p:sp>
        <p:nvSpPr>
          <p:cNvPr id="14" name="Text 11"/>
          <p:cNvSpPr/>
          <p:nvPr/>
        </p:nvSpPr>
        <p:spPr>
          <a:xfrm>
            <a:off x="6094476" y="4681728"/>
            <a:ext cx="2612898" cy="548640"/>
          </a:xfrm>
          <a:prstGeom prst="rect">
            <a:avLst/>
          </a:prstGeom>
          <a:noFill/>
          <a:ln/>
        </p:spPr>
        <p:txBody>
          <a:bodyPr wrap="square" rtlCol="0" anchor="ctr"/>
          <a:lstStyle/>
          <a:p>
            <a:pPr indent="0" marL="0">
              <a:buNone/>
            </a:pPr>
            <a:r>
              <a:rPr lang="en-US" sz="1400" dirty="0">
                <a:solidFill>
                  <a:srgbClr val="002050"/>
                </a:solidFill>
                <a:latin typeface="Aptos" pitchFamily="34" charset="0"/>
                <a:ea typeface="Aptos" pitchFamily="34" charset="-122"/>
                <a:cs typeface="Aptos" pitchFamily="34" charset="-120"/>
              </a:rPr>
              <a:t>Mainly Fridays · 09h00 – 14h00</a:t>
            </a:r>
            <a:endParaRPr lang="en-US" sz="1400" dirty="0"/>
          </a:p>
        </p:txBody>
      </p:sp>
      <p:sp>
        <p:nvSpPr>
          <p:cNvPr id="15" name="Text 12"/>
          <p:cNvSpPr/>
          <p:nvPr/>
        </p:nvSpPr>
        <p:spPr>
          <a:xfrm>
            <a:off x="8890254" y="4389120"/>
            <a:ext cx="2612898" cy="274320"/>
          </a:xfrm>
          <a:prstGeom prst="rect">
            <a:avLst/>
          </a:prstGeom>
          <a:noFill/>
          <a:ln/>
        </p:spPr>
        <p:txBody>
          <a:bodyPr wrap="square" rtlCol="0" anchor="ctr"/>
          <a:lstStyle/>
          <a:p>
            <a:pPr indent="0" marL="0">
              <a:buNone/>
            </a:pPr>
            <a:r>
              <a:rPr lang="en-US" sz="1150" b="1" spc="200" kern="0" dirty="0">
                <a:solidFill>
                  <a:srgbClr val="0F6CBD"/>
                </a:solidFill>
                <a:latin typeface="Aptos" pitchFamily="34" charset="0"/>
                <a:ea typeface="Aptos" pitchFamily="34" charset="-122"/>
                <a:cs typeface="Aptos" pitchFamily="34" charset="-120"/>
              </a:rPr>
              <a:t>QUALITY ASSURANCE</a:t>
            </a:r>
            <a:endParaRPr lang="en-US" sz="1150" dirty="0"/>
          </a:p>
        </p:txBody>
      </p:sp>
      <p:sp>
        <p:nvSpPr>
          <p:cNvPr id="16" name="Text 13"/>
          <p:cNvSpPr/>
          <p:nvPr/>
        </p:nvSpPr>
        <p:spPr>
          <a:xfrm>
            <a:off x="8890254" y="4681728"/>
            <a:ext cx="2612898" cy="548640"/>
          </a:xfrm>
          <a:prstGeom prst="rect">
            <a:avLst/>
          </a:prstGeom>
          <a:noFill/>
          <a:ln/>
        </p:spPr>
        <p:txBody>
          <a:bodyPr wrap="square" rtlCol="0" anchor="ctr"/>
          <a:lstStyle/>
          <a:p>
            <a:pPr indent="0" marL="0">
              <a:buNone/>
            </a:pPr>
            <a:r>
              <a:rPr lang="en-US" sz="1400" dirty="0">
                <a:solidFill>
                  <a:srgbClr val="002050"/>
                </a:solidFill>
                <a:latin typeface="Aptos" pitchFamily="34" charset="0"/>
                <a:ea typeface="Aptos" pitchFamily="34" charset="-122"/>
                <a:cs typeface="Aptos" pitchFamily="34" charset="-120"/>
              </a:rPr>
              <a:t>QCTO / MICT SETA</a:t>
            </a:r>
            <a:endParaRPr lang="en-US" sz="1400" dirty="0"/>
          </a:p>
        </p:txBody>
      </p:sp>
      <p:sp>
        <p:nvSpPr>
          <p:cNvPr id="17" name="Text 14"/>
          <p:cNvSpPr/>
          <p:nvPr/>
        </p:nvSpPr>
        <p:spPr>
          <a:xfrm>
            <a:off x="502920" y="6355080"/>
            <a:ext cx="11183112" cy="320040"/>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ITSS Learn · Investec · Corporate Banking Technology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ABOUT THIS PROGRAMME</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A career in IT support</a:t>
            </a:r>
            <a:endParaRPr lang="en-US" sz="3000" dirty="0"/>
          </a:p>
        </p:txBody>
      </p:sp>
      <p:sp>
        <p:nvSpPr>
          <p:cNvPr id="7" name="Text 5"/>
          <p:cNvSpPr/>
          <p:nvPr/>
        </p:nvSpPr>
        <p:spPr>
          <a:xfrm>
            <a:off x="502920" y="1298448"/>
            <a:ext cx="11183112" cy="548640"/>
          </a:xfrm>
          <a:prstGeom prst="rect">
            <a:avLst/>
          </a:prstGeom>
          <a:noFill/>
          <a:ln/>
        </p:spPr>
        <p:txBody>
          <a:bodyPr wrap="square" rtlCol="0" anchor="t"/>
          <a:lstStyle/>
          <a:p>
            <a:pPr indent="0" marL="0">
              <a:lnSpc>
                <a:spcPct val="115000"/>
              </a:lnSpc>
              <a:buNone/>
            </a:pPr>
            <a:r>
              <a:rPr lang="en-US" sz="1600" dirty="0">
                <a:solidFill>
                  <a:srgbClr val="6B7280"/>
                </a:solidFill>
                <a:latin typeface="Aptos" pitchFamily="34" charset="0"/>
                <a:ea typeface="Aptos" pitchFamily="34" charset="-122"/>
                <a:cs typeface="Aptos" pitchFamily="34" charset="-120"/>
              </a:rPr>
              <a:t>This qualification provides the student with the opportunity to pursue a career in support in the Information Technology field. On completion, the graduate will be able to:</a:t>
            </a:r>
            <a:endParaRPr lang="en-US" sz="1600" dirty="0"/>
          </a:p>
        </p:txBody>
      </p:sp>
      <p:sp>
        <p:nvSpPr>
          <p:cNvPr id="8" name="Shape 6"/>
          <p:cNvSpPr/>
          <p:nvPr/>
        </p:nvSpPr>
        <p:spPr>
          <a:xfrm>
            <a:off x="502920" y="1965960"/>
            <a:ext cx="2658618" cy="1371600"/>
          </a:xfrm>
          <a:prstGeom prst="roundRect">
            <a:avLst>
              <a:gd name="adj" fmla="val 6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512" y="2487168"/>
            <a:ext cx="329184" cy="329184"/>
          </a:xfrm>
          <a:prstGeom prst="rect">
            <a:avLst/>
          </a:prstGeom>
        </p:spPr>
      </p:pic>
      <p:sp>
        <p:nvSpPr>
          <p:cNvPr id="10" name="Text 7"/>
          <p:cNvSpPr/>
          <p:nvPr/>
        </p:nvSpPr>
        <p:spPr>
          <a:xfrm>
            <a:off x="1106424" y="2039112"/>
            <a:ext cx="1890522" cy="1225296"/>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Troubleshoot hardware &amp; software problems — investigate, diagnose, solve</a:t>
            </a:r>
            <a:endParaRPr lang="en-US" sz="1400" dirty="0"/>
          </a:p>
        </p:txBody>
      </p:sp>
      <p:sp>
        <p:nvSpPr>
          <p:cNvPr id="11" name="Shape 8"/>
          <p:cNvSpPr/>
          <p:nvPr/>
        </p:nvSpPr>
        <p:spPr>
          <a:xfrm>
            <a:off x="3344418" y="1965960"/>
            <a:ext cx="2658618" cy="1371600"/>
          </a:xfrm>
          <a:prstGeom prst="roundRect">
            <a:avLst>
              <a:gd name="adj" fmla="val 6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09010" y="2487168"/>
            <a:ext cx="329184" cy="329184"/>
          </a:xfrm>
          <a:prstGeom prst="rect">
            <a:avLst/>
          </a:prstGeom>
        </p:spPr>
      </p:pic>
      <p:sp>
        <p:nvSpPr>
          <p:cNvPr id="13" name="Text 9"/>
          <p:cNvSpPr/>
          <p:nvPr/>
        </p:nvSpPr>
        <p:spPr>
          <a:xfrm>
            <a:off x="3947922" y="2039112"/>
            <a:ext cx="1890522" cy="1225296"/>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Install, configure &amp; maintain hardware, applications, systems and networks</a:t>
            </a:r>
            <a:endParaRPr lang="en-US" sz="1400" dirty="0"/>
          </a:p>
        </p:txBody>
      </p:sp>
      <p:sp>
        <p:nvSpPr>
          <p:cNvPr id="14" name="Shape 10"/>
          <p:cNvSpPr/>
          <p:nvPr/>
        </p:nvSpPr>
        <p:spPr>
          <a:xfrm>
            <a:off x="6185916" y="1965960"/>
            <a:ext cx="2658618" cy="1371600"/>
          </a:xfrm>
          <a:prstGeom prst="roundRect">
            <a:avLst>
              <a:gd name="adj" fmla="val 6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0508" y="2487168"/>
            <a:ext cx="329184" cy="329184"/>
          </a:xfrm>
          <a:prstGeom prst="rect">
            <a:avLst/>
          </a:prstGeom>
        </p:spPr>
      </p:pic>
      <p:sp>
        <p:nvSpPr>
          <p:cNvPr id="16" name="Text 11"/>
          <p:cNvSpPr/>
          <p:nvPr/>
        </p:nvSpPr>
        <p:spPr>
          <a:xfrm>
            <a:off x="6789420" y="2039112"/>
            <a:ext cx="1890522" cy="1225296"/>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Understand the role of technology in the business context</a:t>
            </a:r>
            <a:endParaRPr lang="en-US" sz="1400" dirty="0"/>
          </a:p>
        </p:txBody>
      </p:sp>
      <p:sp>
        <p:nvSpPr>
          <p:cNvPr id="17" name="Shape 12"/>
          <p:cNvSpPr/>
          <p:nvPr/>
        </p:nvSpPr>
        <p:spPr>
          <a:xfrm>
            <a:off x="9027414" y="1965960"/>
            <a:ext cx="2658618" cy="1371600"/>
          </a:xfrm>
          <a:prstGeom prst="roundRect">
            <a:avLst>
              <a:gd name="adj" fmla="val 6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92006" y="2487168"/>
            <a:ext cx="329184" cy="329184"/>
          </a:xfrm>
          <a:prstGeom prst="rect">
            <a:avLst/>
          </a:prstGeom>
        </p:spPr>
      </p:pic>
      <p:sp>
        <p:nvSpPr>
          <p:cNvPr id="19" name="Text 13"/>
          <p:cNvSpPr/>
          <p:nvPr/>
        </p:nvSpPr>
        <p:spPr>
          <a:xfrm>
            <a:off x="9630918" y="2039112"/>
            <a:ext cx="1890522" cy="1225296"/>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Store, manage &amp; retrieve data to meet organisational requirements</a:t>
            </a:r>
            <a:endParaRPr lang="en-US" sz="1400" dirty="0"/>
          </a:p>
        </p:txBody>
      </p:sp>
      <p:sp>
        <p:nvSpPr>
          <p:cNvPr id="20" name="Shape 14"/>
          <p:cNvSpPr/>
          <p:nvPr/>
        </p:nvSpPr>
        <p:spPr>
          <a:xfrm>
            <a:off x="502920" y="3520440"/>
            <a:ext cx="2658618" cy="1371600"/>
          </a:xfrm>
          <a:prstGeom prst="roundRect">
            <a:avLst>
              <a:gd name="adj" fmla="val 6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4041648"/>
            <a:ext cx="329184" cy="329184"/>
          </a:xfrm>
          <a:prstGeom prst="rect">
            <a:avLst/>
          </a:prstGeom>
        </p:spPr>
      </p:pic>
      <p:sp>
        <p:nvSpPr>
          <p:cNvPr id="22" name="Text 15"/>
          <p:cNvSpPr/>
          <p:nvPr/>
        </p:nvSpPr>
        <p:spPr>
          <a:xfrm>
            <a:off x="1106424" y="3593592"/>
            <a:ext cx="1890522" cy="1225296"/>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Secure information systems against data loss and breaches of integrity</a:t>
            </a:r>
            <a:endParaRPr lang="en-US" sz="1400" dirty="0"/>
          </a:p>
        </p:txBody>
      </p:sp>
      <p:sp>
        <p:nvSpPr>
          <p:cNvPr id="23" name="Shape 16"/>
          <p:cNvSpPr/>
          <p:nvPr/>
        </p:nvSpPr>
        <p:spPr>
          <a:xfrm>
            <a:off x="3344418" y="3520440"/>
            <a:ext cx="2658618" cy="1371600"/>
          </a:xfrm>
          <a:prstGeom prst="roundRect">
            <a:avLst>
              <a:gd name="adj" fmla="val 6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09010" y="4041648"/>
            <a:ext cx="329184" cy="329184"/>
          </a:xfrm>
          <a:prstGeom prst="rect">
            <a:avLst/>
          </a:prstGeom>
        </p:spPr>
      </p:pic>
      <p:sp>
        <p:nvSpPr>
          <p:cNvPr id="25" name="Text 17"/>
          <p:cNvSpPr/>
          <p:nvPr/>
        </p:nvSpPr>
        <p:spPr>
          <a:xfrm>
            <a:off x="3947922" y="3593592"/>
            <a:ext cx="1890522" cy="1225296"/>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Plan &amp; undertake scheduled maintenance upgrades</a:t>
            </a:r>
            <a:endParaRPr lang="en-US" sz="1400" dirty="0"/>
          </a:p>
        </p:txBody>
      </p:sp>
      <p:sp>
        <p:nvSpPr>
          <p:cNvPr id="26" name="Shape 18"/>
          <p:cNvSpPr/>
          <p:nvPr/>
        </p:nvSpPr>
        <p:spPr>
          <a:xfrm>
            <a:off x="6185916" y="3520440"/>
            <a:ext cx="2658618" cy="1371600"/>
          </a:xfrm>
          <a:prstGeom prst="roundRect">
            <a:avLst>
              <a:gd name="adj" fmla="val 6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50508" y="4041648"/>
            <a:ext cx="329184" cy="329184"/>
          </a:xfrm>
          <a:prstGeom prst="rect">
            <a:avLst/>
          </a:prstGeom>
        </p:spPr>
      </p:pic>
      <p:sp>
        <p:nvSpPr>
          <p:cNvPr id="28" name="Text 19"/>
          <p:cNvSpPr/>
          <p:nvPr/>
        </p:nvSpPr>
        <p:spPr>
          <a:xfrm>
            <a:off x="6789420" y="3593592"/>
            <a:ext cx="1890522" cy="1225296"/>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Talk to clients and users to determine the nature of problems</a:t>
            </a:r>
            <a:endParaRPr lang="en-US" sz="1400" dirty="0"/>
          </a:p>
        </p:txBody>
      </p:sp>
      <p:sp>
        <p:nvSpPr>
          <p:cNvPr id="29" name="Shape 20"/>
          <p:cNvSpPr/>
          <p:nvPr/>
        </p:nvSpPr>
        <p:spPr>
          <a:xfrm>
            <a:off x="9027414" y="3520440"/>
            <a:ext cx="2658618" cy="1371600"/>
          </a:xfrm>
          <a:prstGeom prst="roundRect">
            <a:avLst>
              <a:gd name="adj" fmla="val 6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192006" y="4041648"/>
            <a:ext cx="329184" cy="329184"/>
          </a:xfrm>
          <a:prstGeom prst="rect">
            <a:avLst/>
          </a:prstGeom>
        </p:spPr>
      </p:pic>
      <p:sp>
        <p:nvSpPr>
          <p:cNvPr id="31" name="Text 21"/>
          <p:cNvSpPr/>
          <p:nvPr/>
        </p:nvSpPr>
        <p:spPr>
          <a:xfrm>
            <a:off x="9630918" y="3593592"/>
            <a:ext cx="1890522" cy="1225296"/>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Repair equipment and replace parts</a:t>
            </a:r>
            <a:endParaRPr lang="en-US" sz="1400" dirty="0"/>
          </a:p>
        </p:txBody>
      </p:sp>
      <p:sp>
        <p:nvSpPr>
          <p:cNvPr id="32" name="Shape 22"/>
          <p:cNvSpPr/>
          <p:nvPr/>
        </p:nvSpPr>
        <p:spPr>
          <a:xfrm>
            <a:off x="502920" y="5257800"/>
            <a:ext cx="11183112" cy="566928"/>
          </a:xfrm>
          <a:prstGeom prst="roundRect">
            <a:avLst>
              <a:gd name="adj" fmla="val 14516"/>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3"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04088" y="5394960"/>
            <a:ext cx="274320" cy="274320"/>
          </a:xfrm>
          <a:prstGeom prst="rect">
            <a:avLst/>
          </a:prstGeom>
        </p:spPr>
      </p:pic>
      <p:sp>
        <p:nvSpPr>
          <p:cNvPr id="34" name="Text 23"/>
          <p:cNvSpPr/>
          <p:nvPr/>
        </p:nvSpPr>
        <p:spPr>
          <a:xfrm>
            <a:off x="1069848" y="5257800"/>
            <a:ext cx="10378440" cy="566928"/>
          </a:xfrm>
          <a:prstGeom prst="rect">
            <a:avLst/>
          </a:prstGeom>
          <a:noFill/>
          <a:ln/>
        </p:spPr>
        <p:txBody>
          <a:bodyPr wrap="square" rtlCol="0" anchor="ctr"/>
          <a:lstStyle/>
          <a:p>
            <a:pPr indent="0" marL="0">
              <a:buNone/>
            </a:pPr>
            <a:r>
              <a:rPr lang="en-US" sz="1350" b="1" dirty="0">
                <a:solidFill>
                  <a:srgbClr val="002050"/>
                </a:solidFill>
                <a:latin typeface="Aptos" pitchFamily="34" charset="0"/>
                <a:ea typeface="Aptos" pitchFamily="34" charset="-122"/>
                <a:cs typeface="Aptos" pitchFamily="34" charset="-120"/>
              </a:rPr>
              <a:t>View the registered qualification on SAQA (ID 48573):  </a:t>
            </a:r>
            <a:pPr indent="0" marL="0">
              <a:buNone/>
            </a:pPr>
            <a:r>
              <a:rPr lang="en-US" sz="1350" u="sng" dirty="0">
                <a:solidFill>
                  <a:srgbClr val="0F6CBD"/>
                </a:solidFill>
                <a:latin typeface="Aptos" pitchFamily="34" charset="0"/>
                <a:ea typeface="Aptos" pitchFamily="34" charset="-122"/>
                <a:cs typeface="Aptos" pitchFamily="34" charset="-120"/>
                <a:hlinkClick r:id="rId19" invalidUrl="" action="" tgtFrame="" tooltip="" history="1" highlightClick="0" endSnd="0">
                  <a:extLst>
                    <a:ext uri="{A12FA001-AC4F-418D-AE19-62706E023703}">
                      <ahyp:hlinkClr xmlns:ahyp="http://schemas.microsoft.com/office/drawing/2018/hyperlinkcolor" val="tx"/>
                    </a:ext>
                  </a:extLst>
                </a:hlinkClick>
              </a:rPr>
              <a:t>allqs.saqa.org.za/showQualification.php?id=48573</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WHAT YOU'LL LEARN</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Seven learning areas</a:t>
            </a:r>
            <a:endParaRPr lang="en-US" sz="3000" dirty="0"/>
          </a:p>
        </p:txBody>
      </p:sp>
      <p:sp>
        <p:nvSpPr>
          <p:cNvPr id="7" name="Text 5"/>
          <p:cNvSpPr/>
          <p:nvPr/>
        </p:nvSpPr>
        <p:spPr>
          <a:xfrm>
            <a:off x="502920" y="1298448"/>
            <a:ext cx="11183112" cy="548640"/>
          </a:xfrm>
          <a:prstGeom prst="rect">
            <a:avLst/>
          </a:prstGeom>
          <a:noFill/>
          <a:ln/>
        </p:spPr>
        <p:txBody>
          <a:bodyPr wrap="square" rtlCol="0" anchor="t"/>
          <a:lstStyle/>
          <a:p>
            <a:pPr indent="0" marL="0">
              <a:lnSpc>
                <a:spcPct val="115000"/>
              </a:lnSpc>
              <a:buNone/>
            </a:pPr>
            <a:r>
              <a:rPr lang="en-US" sz="1600" dirty="0">
                <a:solidFill>
                  <a:srgbClr val="6B7280"/>
                </a:solidFill>
                <a:latin typeface="Aptos" pitchFamily="34" charset="0"/>
                <a:ea typeface="Aptos" pitchFamily="34" charset="-122"/>
                <a:cs typeface="Aptos" pitchFamily="34" charset="-120"/>
              </a:rPr>
              <a:t>The programme builds competence across seven areas, from personal development to enterprise-grade infrastructure.</a:t>
            </a:r>
            <a:endParaRPr lang="en-US" sz="1600" dirty="0"/>
          </a:p>
        </p:txBody>
      </p:sp>
      <p:sp>
        <p:nvSpPr>
          <p:cNvPr id="8" name="Shape 6"/>
          <p:cNvSpPr/>
          <p:nvPr/>
        </p:nvSpPr>
        <p:spPr>
          <a:xfrm>
            <a:off x="502920" y="1965960"/>
            <a:ext cx="2658618"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512" y="2130552"/>
            <a:ext cx="329184" cy="329184"/>
          </a:xfrm>
          <a:prstGeom prst="rect">
            <a:avLst/>
          </a:prstGeom>
        </p:spPr>
      </p:pic>
      <p:sp>
        <p:nvSpPr>
          <p:cNvPr id="10" name="Text 7"/>
          <p:cNvSpPr/>
          <p:nvPr/>
        </p:nvSpPr>
        <p:spPr>
          <a:xfrm>
            <a:off x="1088136" y="2075688"/>
            <a:ext cx="1908810" cy="566928"/>
          </a:xfrm>
          <a:prstGeom prst="rect">
            <a:avLst/>
          </a:prstGeom>
          <a:noFill/>
          <a:ln/>
        </p:spPr>
        <p:txBody>
          <a:bodyPr wrap="square" rtlCol="0" anchor="ctr"/>
          <a:lstStyle/>
          <a:p>
            <a:pPr indent="0" marL="0">
              <a:lnSpc>
                <a:spcPct val="100000"/>
              </a:lnSpc>
              <a:buNone/>
            </a:pPr>
            <a:r>
              <a:rPr lang="en-US" sz="1350" b="1" dirty="0">
                <a:solidFill>
                  <a:srgbClr val="002050"/>
                </a:solidFill>
                <a:latin typeface="Aptos Display" pitchFamily="34" charset="0"/>
                <a:ea typeface="Aptos Display" pitchFamily="34" charset="-122"/>
                <a:cs typeface="Aptos Display" pitchFamily="34" charset="-120"/>
              </a:rPr>
              <a:t>Personal Development</a:t>
            </a:r>
            <a:endParaRPr lang="en-US" sz="1350" dirty="0"/>
          </a:p>
        </p:txBody>
      </p:sp>
      <p:sp>
        <p:nvSpPr>
          <p:cNvPr id="11" name="Text 8"/>
          <p:cNvSpPr/>
          <p:nvPr/>
        </p:nvSpPr>
        <p:spPr>
          <a:xfrm>
            <a:off x="667512" y="2697480"/>
            <a:ext cx="2329434" cy="941832"/>
          </a:xfrm>
          <a:prstGeom prst="rect">
            <a:avLst/>
          </a:prstGeom>
          <a:noFill/>
          <a:ln/>
        </p:spPr>
        <p:txBody>
          <a:bodyPr wrap="square" rtlCol="0" anchor="t"/>
          <a:lstStyle/>
          <a:p>
            <a:pPr indent="0" marL="0">
              <a:lnSpc>
                <a:spcPct val="110000"/>
              </a:lnSpc>
              <a:buNone/>
            </a:pPr>
            <a:r>
              <a:rPr lang="en-US" sz="1150" dirty="0">
                <a:solidFill>
                  <a:srgbClr val="6B7280"/>
                </a:solidFill>
                <a:latin typeface="Aptos" pitchFamily="34" charset="0"/>
                <a:ea typeface="Aptos" pitchFamily="34" charset="-122"/>
                <a:cs typeface="Aptos" pitchFamily="34" charset="-120"/>
              </a:rPr>
              <a:t>Business reports, project teamwork, technical meetings, ethics and professional conduct in IT.</a:t>
            </a:r>
            <a:endParaRPr lang="en-US" sz="1150" dirty="0"/>
          </a:p>
        </p:txBody>
      </p:sp>
      <p:sp>
        <p:nvSpPr>
          <p:cNvPr id="12" name="Shape 9"/>
          <p:cNvSpPr/>
          <p:nvPr/>
        </p:nvSpPr>
        <p:spPr>
          <a:xfrm>
            <a:off x="3344418" y="1965960"/>
            <a:ext cx="2658618"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09010" y="2130552"/>
            <a:ext cx="329184" cy="329184"/>
          </a:xfrm>
          <a:prstGeom prst="rect">
            <a:avLst/>
          </a:prstGeom>
        </p:spPr>
      </p:pic>
      <p:sp>
        <p:nvSpPr>
          <p:cNvPr id="14" name="Text 10"/>
          <p:cNvSpPr/>
          <p:nvPr/>
        </p:nvSpPr>
        <p:spPr>
          <a:xfrm>
            <a:off x="3929634" y="2075688"/>
            <a:ext cx="1908810" cy="566928"/>
          </a:xfrm>
          <a:prstGeom prst="rect">
            <a:avLst/>
          </a:prstGeom>
          <a:noFill/>
          <a:ln/>
        </p:spPr>
        <p:txBody>
          <a:bodyPr wrap="square" rtlCol="0" anchor="ctr"/>
          <a:lstStyle/>
          <a:p>
            <a:pPr indent="0" marL="0">
              <a:lnSpc>
                <a:spcPct val="100000"/>
              </a:lnSpc>
              <a:buNone/>
            </a:pPr>
            <a:r>
              <a:rPr lang="en-US" sz="1350" b="1" dirty="0">
                <a:solidFill>
                  <a:srgbClr val="002050"/>
                </a:solidFill>
                <a:latin typeface="Aptos Display" pitchFamily="34" charset="0"/>
                <a:ea typeface="Aptos Display" pitchFamily="34" charset="-122"/>
                <a:cs typeface="Aptos Display" pitchFamily="34" charset="-120"/>
              </a:rPr>
              <a:t>Server Installation and Configuration</a:t>
            </a:r>
            <a:endParaRPr lang="en-US" sz="1350" dirty="0"/>
          </a:p>
        </p:txBody>
      </p:sp>
      <p:sp>
        <p:nvSpPr>
          <p:cNvPr id="15" name="Text 11"/>
          <p:cNvSpPr/>
          <p:nvPr/>
        </p:nvSpPr>
        <p:spPr>
          <a:xfrm>
            <a:off x="3509010" y="2697480"/>
            <a:ext cx="2329434" cy="941832"/>
          </a:xfrm>
          <a:prstGeom prst="rect">
            <a:avLst/>
          </a:prstGeom>
          <a:noFill/>
          <a:ln/>
        </p:spPr>
        <p:txBody>
          <a:bodyPr wrap="square" rtlCol="0" anchor="t"/>
          <a:lstStyle/>
          <a:p>
            <a:pPr indent="0" marL="0">
              <a:lnSpc>
                <a:spcPct val="110000"/>
              </a:lnSpc>
              <a:buNone/>
            </a:pPr>
            <a:r>
              <a:rPr lang="en-US" sz="1150" dirty="0">
                <a:solidFill>
                  <a:srgbClr val="6B7280"/>
                </a:solidFill>
                <a:latin typeface="Aptos" pitchFamily="34" charset="0"/>
                <a:ea typeface="Aptos" pitchFamily="34" charset="-122"/>
                <a:cs typeface="Aptos" pitchFamily="34" charset="-120"/>
              </a:rPr>
              <a:t>Install and configure multi-user networked operating systems from bare metal to running service.</a:t>
            </a:r>
            <a:endParaRPr lang="en-US" sz="1150" dirty="0"/>
          </a:p>
        </p:txBody>
      </p:sp>
      <p:sp>
        <p:nvSpPr>
          <p:cNvPr id="16" name="Shape 12"/>
          <p:cNvSpPr/>
          <p:nvPr/>
        </p:nvSpPr>
        <p:spPr>
          <a:xfrm>
            <a:off x="6185916" y="1965960"/>
            <a:ext cx="2658618"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0508" y="2130552"/>
            <a:ext cx="329184" cy="329184"/>
          </a:xfrm>
          <a:prstGeom prst="rect">
            <a:avLst/>
          </a:prstGeom>
        </p:spPr>
      </p:pic>
      <p:sp>
        <p:nvSpPr>
          <p:cNvPr id="18" name="Text 13"/>
          <p:cNvSpPr/>
          <p:nvPr/>
        </p:nvSpPr>
        <p:spPr>
          <a:xfrm>
            <a:off x="6771132" y="2075688"/>
            <a:ext cx="1908810" cy="566928"/>
          </a:xfrm>
          <a:prstGeom prst="rect">
            <a:avLst/>
          </a:prstGeom>
          <a:noFill/>
          <a:ln/>
        </p:spPr>
        <p:txBody>
          <a:bodyPr wrap="square" rtlCol="0" anchor="ctr"/>
          <a:lstStyle/>
          <a:p>
            <a:pPr indent="0" marL="0">
              <a:lnSpc>
                <a:spcPct val="100000"/>
              </a:lnSpc>
              <a:buNone/>
            </a:pPr>
            <a:r>
              <a:rPr lang="en-US" sz="1350" b="1" dirty="0">
                <a:solidFill>
                  <a:srgbClr val="002050"/>
                </a:solidFill>
                <a:latin typeface="Aptos Display" pitchFamily="34" charset="0"/>
                <a:ea typeface="Aptos Display" pitchFamily="34" charset="-122"/>
                <a:cs typeface="Aptos Display" pitchFamily="34" charset="-120"/>
              </a:rPr>
              <a:t>Server Administration</a:t>
            </a:r>
            <a:endParaRPr lang="en-US" sz="1350" dirty="0"/>
          </a:p>
        </p:txBody>
      </p:sp>
      <p:sp>
        <p:nvSpPr>
          <p:cNvPr id="19" name="Text 14"/>
          <p:cNvSpPr/>
          <p:nvPr/>
        </p:nvSpPr>
        <p:spPr>
          <a:xfrm>
            <a:off x="6350508" y="2697480"/>
            <a:ext cx="2329434" cy="941832"/>
          </a:xfrm>
          <a:prstGeom prst="rect">
            <a:avLst/>
          </a:prstGeom>
          <a:noFill/>
          <a:ln/>
        </p:spPr>
        <p:txBody>
          <a:bodyPr wrap="square" rtlCol="0" anchor="t"/>
          <a:lstStyle/>
          <a:p>
            <a:pPr indent="0" marL="0">
              <a:lnSpc>
                <a:spcPct val="110000"/>
              </a:lnSpc>
              <a:buNone/>
            </a:pPr>
            <a:r>
              <a:rPr lang="en-US" sz="1150" dirty="0">
                <a:solidFill>
                  <a:srgbClr val="6B7280"/>
                </a:solidFill>
                <a:latin typeface="Aptos" pitchFamily="34" charset="0"/>
                <a:ea typeface="Aptos" pitchFamily="34" charset="-122"/>
                <a:cs typeface="Aptos" pitchFamily="34" charset="-120"/>
              </a:rPr>
              <a:t>Monitor, maintain and administer servers, networks and backups day to day.</a:t>
            </a:r>
            <a:endParaRPr lang="en-US" sz="1150" dirty="0"/>
          </a:p>
        </p:txBody>
      </p:sp>
      <p:sp>
        <p:nvSpPr>
          <p:cNvPr id="20" name="Shape 15"/>
          <p:cNvSpPr/>
          <p:nvPr/>
        </p:nvSpPr>
        <p:spPr>
          <a:xfrm>
            <a:off x="9027414" y="1965960"/>
            <a:ext cx="2658618"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92006" y="2130552"/>
            <a:ext cx="329184" cy="329184"/>
          </a:xfrm>
          <a:prstGeom prst="rect">
            <a:avLst/>
          </a:prstGeom>
        </p:spPr>
      </p:pic>
      <p:sp>
        <p:nvSpPr>
          <p:cNvPr id="22" name="Text 16"/>
          <p:cNvSpPr/>
          <p:nvPr/>
        </p:nvSpPr>
        <p:spPr>
          <a:xfrm>
            <a:off x="9612630" y="2075688"/>
            <a:ext cx="1908810" cy="566928"/>
          </a:xfrm>
          <a:prstGeom prst="rect">
            <a:avLst/>
          </a:prstGeom>
          <a:noFill/>
          <a:ln/>
        </p:spPr>
        <p:txBody>
          <a:bodyPr wrap="square" rtlCol="0" anchor="ctr"/>
          <a:lstStyle/>
          <a:p>
            <a:pPr indent="0" marL="0">
              <a:lnSpc>
                <a:spcPct val="100000"/>
              </a:lnSpc>
              <a:buNone/>
            </a:pPr>
            <a:r>
              <a:rPr lang="en-US" sz="1350" b="1" dirty="0">
                <a:solidFill>
                  <a:srgbClr val="002050"/>
                </a:solidFill>
                <a:latin typeface="Aptos Display" pitchFamily="34" charset="0"/>
                <a:ea typeface="Aptos Display" pitchFamily="34" charset="-122"/>
                <a:cs typeface="Aptos Display" pitchFamily="34" charset="-120"/>
              </a:rPr>
              <a:t>Server Configuring Advanced Services</a:t>
            </a:r>
            <a:endParaRPr lang="en-US" sz="1350" dirty="0"/>
          </a:p>
        </p:txBody>
      </p:sp>
      <p:sp>
        <p:nvSpPr>
          <p:cNvPr id="23" name="Text 17"/>
          <p:cNvSpPr/>
          <p:nvPr/>
        </p:nvSpPr>
        <p:spPr>
          <a:xfrm>
            <a:off x="9192006" y="2697480"/>
            <a:ext cx="2329434" cy="941832"/>
          </a:xfrm>
          <a:prstGeom prst="rect">
            <a:avLst/>
          </a:prstGeom>
          <a:noFill/>
          <a:ln/>
        </p:spPr>
        <p:txBody>
          <a:bodyPr wrap="square" rtlCol="0" anchor="t"/>
          <a:lstStyle/>
          <a:p>
            <a:pPr indent="0" marL="0">
              <a:lnSpc>
                <a:spcPct val="110000"/>
              </a:lnSpc>
              <a:buNone/>
            </a:pPr>
            <a:r>
              <a:rPr lang="en-US" sz="1150" dirty="0">
                <a:solidFill>
                  <a:srgbClr val="6B7280"/>
                </a:solidFill>
                <a:latin typeface="Aptos" pitchFamily="34" charset="0"/>
                <a:ea typeface="Aptos" pitchFamily="34" charset="-122"/>
                <a:cs typeface="Aptos" pitchFamily="34" charset="-120"/>
              </a:rPr>
              <a:t>Configure advanced network services, security and multi-user environments against specification.</a:t>
            </a:r>
            <a:endParaRPr lang="en-US" sz="1150" dirty="0"/>
          </a:p>
        </p:txBody>
      </p:sp>
      <p:sp>
        <p:nvSpPr>
          <p:cNvPr id="24" name="Shape 18"/>
          <p:cNvSpPr/>
          <p:nvPr/>
        </p:nvSpPr>
        <p:spPr>
          <a:xfrm>
            <a:off x="502920" y="3931920"/>
            <a:ext cx="2658618"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4096512"/>
            <a:ext cx="329184" cy="329184"/>
          </a:xfrm>
          <a:prstGeom prst="rect">
            <a:avLst/>
          </a:prstGeom>
        </p:spPr>
      </p:pic>
      <p:sp>
        <p:nvSpPr>
          <p:cNvPr id="26" name="Text 19"/>
          <p:cNvSpPr/>
          <p:nvPr/>
        </p:nvSpPr>
        <p:spPr>
          <a:xfrm>
            <a:off x="1088136" y="4041648"/>
            <a:ext cx="1908810" cy="566928"/>
          </a:xfrm>
          <a:prstGeom prst="rect">
            <a:avLst/>
          </a:prstGeom>
          <a:noFill/>
          <a:ln/>
        </p:spPr>
        <p:txBody>
          <a:bodyPr wrap="square" rtlCol="0" anchor="ctr"/>
          <a:lstStyle/>
          <a:p>
            <a:pPr indent="0" marL="0">
              <a:lnSpc>
                <a:spcPct val="100000"/>
              </a:lnSpc>
              <a:buNone/>
            </a:pPr>
            <a:r>
              <a:rPr lang="en-US" sz="1350" b="1" dirty="0">
                <a:solidFill>
                  <a:srgbClr val="002050"/>
                </a:solidFill>
                <a:latin typeface="Aptos Display" pitchFamily="34" charset="0"/>
                <a:ea typeface="Aptos Display" pitchFamily="34" charset="-122"/>
                <a:cs typeface="Aptos Display" pitchFamily="34" charset="-120"/>
              </a:rPr>
              <a:t>Desktop Infrastructure Implementation</a:t>
            </a:r>
            <a:endParaRPr lang="en-US" sz="1350" dirty="0"/>
          </a:p>
        </p:txBody>
      </p:sp>
      <p:sp>
        <p:nvSpPr>
          <p:cNvPr id="27" name="Text 20"/>
          <p:cNvSpPr/>
          <p:nvPr/>
        </p:nvSpPr>
        <p:spPr>
          <a:xfrm>
            <a:off x="667512" y="4663440"/>
            <a:ext cx="2329434" cy="941832"/>
          </a:xfrm>
          <a:prstGeom prst="rect">
            <a:avLst/>
          </a:prstGeom>
          <a:noFill/>
          <a:ln/>
        </p:spPr>
        <p:txBody>
          <a:bodyPr wrap="square" rtlCol="0" anchor="t"/>
          <a:lstStyle/>
          <a:p>
            <a:pPr indent="0" marL="0">
              <a:lnSpc>
                <a:spcPct val="110000"/>
              </a:lnSpc>
              <a:buNone/>
            </a:pPr>
            <a:r>
              <a:rPr lang="en-US" sz="1150" dirty="0">
                <a:solidFill>
                  <a:srgbClr val="6B7280"/>
                </a:solidFill>
                <a:latin typeface="Aptos" pitchFamily="34" charset="0"/>
                <a:ea typeface="Aptos" pitchFamily="34" charset="-122"/>
                <a:cs typeface="Aptos" pitchFamily="34" charset="-120"/>
              </a:rPr>
              <a:t>Build, install and support networked workstations and the desktop environment.</a:t>
            </a:r>
            <a:endParaRPr lang="en-US" sz="1150" dirty="0"/>
          </a:p>
        </p:txBody>
      </p:sp>
      <p:sp>
        <p:nvSpPr>
          <p:cNvPr id="28" name="Shape 21"/>
          <p:cNvSpPr/>
          <p:nvPr/>
        </p:nvSpPr>
        <p:spPr>
          <a:xfrm>
            <a:off x="3344418" y="3931920"/>
            <a:ext cx="2658618"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09010" y="4096512"/>
            <a:ext cx="329184" cy="329184"/>
          </a:xfrm>
          <a:prstGeom prst="rect">
            <a:avLst/>
          </a:prstGeom>
        </p:spPr>
      </p:pic>
      <p:sp>
        <p:nvSpPr>
          <p:cNvPr id="30" name="Text 22"/>
          <p:cNvSpPr/>
          <p:nvPr/>
        </p:nvSpPr>
        <p:spPr>
          <a:xfrm>
            <a:off x="3929634" y="4041648"/>
            <a:ext cx="1908810" cy="566928"/>
          </a:xfrm>
          <a:prstGeom prst="rect">
            <a:avLst/>
          </a:prstGeom>
          <a:noFill/>
          <a:ln/>
        </p:spPr>
        <p:txBody>
          <a:bodyPr wrap="square" rtlCol="0" anchor="ctr"/>
          <a:lstStyle/>
          <a:p>
            <a:pPr indent="0" marL="0">
              <a:lnSpc>
                <a:spcPct val="100000"/>
              </a:lnSpc>
              <a:buNone/>
            </a:pPr>
            <a:r>
              <a:rPr lang="en-US" sz="1350" b="1" dirty="0">
                <a:solidFill>
                  <a:srgbClr val="002050"/>
                </a:solidFill>
                <a:latin typeface="Aptos Display" pitchFamily="34" charset="0"/>
                <a:ea typeface="Aptos Display" pitchFamily="34" charset="-122"/>
                <a:cs typeface="Aptos Display" pitchFamily="34" charset="-120"/>
              </a:rPr>
              <a:t>Desktop Application Environment Implementation</a:t>
            </a:r>
            <a:endParaRPr lang="en-US" sz="1350" dirty="0"/>
          </a:p>
        </p:txBody>
      </p:sp>
      <p:sp>
        <p:nvSpPr>
          <p:cNvPr id="31" name="Text 23"/>
          <p:cNvSpPr/>
          <p:nvPr/>
        </p:nvSpPr>
        <p:spPr>
          <a:xfrm>
            <a:off x="3509010" y="4663440"/>
            <a:ext cx="2329434" cy="941832"/>
          </a:xfrm>
          <a:prstGeom prst="rect">
            <a:avLst/>
          </a:prstGeom>
          <a:noFill/>
          <a:ln/>
        </p:spPr>
        <p:txBody>
          <a:bodyPr wrap="square" rtlCol="0" anchor="t"/>
          <a:lstStyle/>
          <a:p>
            <a:pPr indent="0" marL="0">
              <a:lnSpc>
                <a:spcPct val="110000"/>
              </a:lnSpc>
              <a:buNone/>
            </a:pPr>
            <a:r>
              <a:rPr lang="en-US" sz="1150" dirty="0">
                <a:solidFill>
                  <a:srgbClr val="6B7280"/>
                </a:solidFill>
                <a:latin typeface="Aptos" pitchFamily="34" charset="0"/>
                <a:ea typeface="Aptos" pitchFamily="34" charset="-122"/>
                <a:cs typeface="Aptos" pitchFamily="34" charset="-120"/>
              </a:rPr>
              <a:t>Deploy, support and maintain end-user applications across the organisation.</a:t>
            </a:r>
            <a:endParaRPr lang="en-US" sz="1150" dirty="0"/>
          </a:p>
        </p:txBody>
      </p:sp>
      <p:sp>
        <p:nvSpPr>
          <p:cNvPr id="32" name="Shape 24"/>
          <p:cNvSpPr/>
          <p:nvPr/>
        </p:nvSpPr>
        <p:spPr>
          <a:xfrm>
            <a:off x="6185916" y="3931920"/>
            <a:ext cx="2658618"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50508" y="4096512"/>
            <a:ext cx="329184" cy="329184"/>
          </a:xfrm>
          <a:prstGeom prst="rect">
            <a:avLst/>
          </a:prstGeom>
        </p:spPr>
      </p:pic>
      <p:sp>
        <p:nvSpPr>
          <p:cNvPr id="34" name="Text 25"/>
          <p:cNvSpPr/>
          <p:nvPr/>
        </p:nvSpPr>
        <p:spPr>
          <a:xfrm>
            <a:off x="6771132" y="4041648"/>
            <a:ext cx="1908810" cy="566928"/>
          </a:xfrm>
          <a:prstGeom prst="rect">
            <a:avLst/>
          </a:prstGeom>
          <a:noFill/>
          <a:ln/>
        </p:spPr>
        <p:txBody>
          <a:bodyPr wrap="square" rtlCol="0" anchor="ctr"/>
          <a:lstStyle/>
          <a:p>
            <a:pPr indent="0" marL="0">
              <a:lnSpc>
                <a:spcPct val="100000"/>
              </a:lnSpc>
              <a:buNone/>
            </a:pPr>
            <a:r>
              <a:rPr lang="en-US" sz="1350" b="1" dirty="0">
                <a:solidFill>
                  <a:srgbClr val="002050"/>
                </a:solidFill>
                <a:latin typeface="Aptos Display" pitchFamily="34" charset="0"/>
                <a:ea typeface="Aptos Display" pitchFamily="34" charset="-122"/>
                <a:cs typeface="Aptos Display" pitchFamily="34" charset="-120"/>
              </a:rPr>
              <a:t>Enterprise Development</a:t>
            </a:r>
            <a:endParaRPr lang="en-US" sz="1350" dirty="0"/>
          </a:p>
        </p:txBody>
      </p:sp>
      <p:sp>
        <p:nvSpPr>
          <p:cNvPr id="35" name="Text 26"/>
          <p:cNvSpPr/>
          <p:nvPr/>
        </p:nvSpPr>
        <p:spPr>
          <a:xfrm>
            <a:off x="6350508" y="4663440"/>
            <a:ext cx="2329434" cy="941832"/>
          </a:xfrm>
          <a:prstGeom prst="rect">
            <a:avLst/>
          </a:prstGeom>
          <a:noFill/>
          <a:ln/>
        </p:spPr>
        <p:txBody>
          <a:bodyPr wrap="square" rtlCol="0" anchor="t"/>
          <a:lstStyle/>
          <a:p>
            <a:pPr indent="0" marL="0">
              <a:lnSpc>
                <a:spcPct val="110000"/>
              </a:lnSpc>
              <a:buNone/>
            </a:pPr>
            <a:r>
              <a:rPr lang="en-US" sz="1150" dirty="0">
                <a:solidFill>
                  <a:srgbClr val="6B7280"/>
                </a:solidFill>
                <a:latin typeface="Aptos" pitchFamily="34" charset="0"/>
                <a:ea typeface="Aptos" pitchFamily="34" charset="-122"/>
                <a:cs typeface="Aptos" pitchFamily="34" charset="-120"/>
              </a:rPr>
              <a:t>LAN design for departmental offices, enterprise systems management and SQL database access.</a:t>
            </a:r>
            <a:endParaRPr lang="en-US" sz="1150" dirty="0"/>
          </a:p>
        </p:txBody>
      </p:sp>
      <p:sp>
        <p:nvSpPr>
          <p:cNvPr id="36" name="Text 27"/>
          <p:cNvSpPr/>
          <p:nvPr/>
        </p:nvSpPr>
        <p:spPr>
          <a:xfrm>
            <a:off x="502920" y="5897880"/>
            <a:ext cx="11183112" cy="457200"/>
          </a:xfrm>
          <a:prstGeom prst="rect">
            <a:avLst/>
          </a:prstGeom>
          <a:noFill/>
          <a:ln/>
        </p:spPr>
        <p:txBody>
          <a:bodyPr wrap="square" rtlCol="0" anchor="ctr"/>
          <a:lstStyle/>
          <a:p>
            <a:pPr indent="0" marL="0">
              <a:buNone/>
            </a:pPr>
            <a:r>
              <a:rPr lang="en-US" sz="1400" i="1" dirty="0">
                <a:solidFill>
                  <a:srgbClr val="6B7280"/>
                </a:solidFill>
                <a:latin typeface="Aptos" pitchFamily="34" charset="0"/>
                <a:ea typeface="Aptos" pitchFamily="34" charset="-122"/>
                <a:cs typeface="Aptos" pitchFamily="34" charset="-120"/>
              </a:rPr>
              <a:t>Each area is covered by dedicated unit standards, assessed formatively in class and summatively in your Portfolio of Evidence.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WHAT YOU'LL LEARN</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Programme facts</a:t>
            </a:r>
            <a:endParaRPr lang="en-US" sz="3000" dirty="0"/>
          </a:p>
        </p:txBody>
      </p:sp>
      <p:sp>
        <p:nvSpPr>
          <p:cNvPr id="7" name="Shape 5"/>
          <p:cNvSpPr/>
          <p:nvPr/>
        </p:nvSpPr>
        <p:spPr>
          <a:xfrm>
            <a:off x="502920" y="1737360"/>
            <a:ext cx="2644902" cy="3200400"/>
          </a:xfrm>
          <a:prstGeom prst="roundRect">
            <a:avLst>
              <a:gd name="adj" fmla="val 311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2376" y="2011680"/>
            <a:ext cx="475488" cy="475488"/>
          </a:xfrm>
          <a:prstGeom prst="rect">
            <a:avLst/>
          </a:prstGeom>
        </p:spPr>
      </p:pic>
      <p:sp>
        <p:nvSpPr>
          <p:cNvPr id="9" name="Text 6"/>
          <p:cNvSpPr/>
          <p:nvPr/>
        </p:nvSpPr>
        <p:spPr>
          <a:xfrm>
            <a:off x="722376" y="2633472"/>
            <a:ext cx="2205990" cy="566928"/>
          </a:xfrm>
          <a:prstGeom prst="rect">
            <a:avLst/>
          </a:prstGeom>
          <a:noFill/>
          <a:ln/>
        </p:spPr>
        <p:txBody>
          <a:bodyPr wrap="square" rtlCol="0" anchor="ctr"/>
          <a:lstStyle/>
          <a:p>
            <a:pPr indent="0" marL="0">
              <a:buNone/>
            </a:pPr>
            <a:r>
              <a:rPr lang="en-US" sz="1150" b="1" spc="100" kern="0" dirty="0">
                <a:solidFill>
                  <a:srgbClr val="6B7280"/>
                </a:solidFill>
                <a:latin typeface="Aptos" pitchFamily="34" charset="0"/>
                <a:ea typeface="Aptos" pitchFamily="34" charset="-122"/>
                <a:cs typeface="Aptos" pitchFamily="34" charset="-120"/>
              </a:rPr>
              <a:t>QUALIFICATION LEVEL</a:t>
            </a:r>
            <a:endParaRPr lang="en-US" sz="1150" dirty="0"/>
          </a:p>
        </p:txBody>
      </p:sp>
      <p:sp>
        <p:nvSpPr>
          <p:cNvPr id="10" name="Text 7"/>
          <p:cNvSpPr/>
          <p:nvPr/>
        </p:nvSpPr>
        <p:spPr>
          <a:xfrm>
            <a:off x="722376" y="3218688"/>
            <a:ext cx="2205990" cy="502920"/>
          </a:xfrm>
          <a:prstGeom prst="rect">
            <a:avLst/>
          </a:prstGeom>
          <a:noFill/>
          <a:ln/>
        </p:spPr>
        <p:txBody>
          <a:bodyPr wrap="square" rtlCol="0" anchor="ctr"/>
          <a:lstStyle/>
          <a:p>
            <a:pPr indent="0" marL="0">
              <a:buNone/>
            </a:pPr>
            <a:r>
              <a:rPr lang="en-US" sz="2400" b="1" dirty="0">
                <a:solidFill>
                  <a:srgbClr val="0F6CBD"/>
                </a:solidFill>
                <a:latin typeface="Aptos Display" pitchFamily="34" charset="0"/>
                <a:ea typeface="Aptos Display" pitchFamily="34" charset="-122"/>
                <a:cs typeface="Aptos Display" pitchFamily="34" charset="-120"/>
              </a:rPr>
              <a:t>NQF Level 5</a:t>
            </a:r>
            <a:endParaRPr lang="en-US" sz="2400" dirty="0"/>
          </a:p>
        </p:txBody>
      </p:sp>
      <p:sp>
        <p:nvSpPr>
          <p:cNvPr id="11" name="Text 8"/>
          <p:cNvSpPr/>
          <p:nvPr/>
        </p:nvSpPr>
        <p:spPr>
          <a:xfrm>
            <a:off x="722376" y="3767328"/>
            <a:ext cx="2205990" cy="1097280"/>
          </a:xfrm>
          <a:prstGeom prst="rect">
            <a:avLst/>
          </a:prstGeom>
          <a:noFill/>
          <a:ln/>
        </p:spPr>
        <p:txBody>
          <a:bodyPr wrap="square" rtlCol="0" anchor="t"/>
          <a:lstStyle/>
          <a:p>
            <a:pPr indent="0" marL="0">
              <a:lnSpc>
                <a:spcPct val="120000"/>
              </a:lnSpc>
              <a:buNone/>
            </a:pPr>
            <a:r>
              <a:rPr lang="en-US" sz="1350" dirty="0">
                <a:solidFill>
                  <a:srgbClr val="002050"/>
                </a:solidFill>
                <a:latin typeface="Aptos" pitchFamily="34" charset="0"/>
                <a:ea typeface="Aptos" pitchFamily="34" charset="-122"/>
                <a:cs typeface="Aptos" pitchFamily="34" charset="-120"/>
              </a:rPr>
              <a:t>148 credits · SAQA ID 48573</a:t>
            </a:r>
            <a:endParaRPr lang="en-US" sz="1350" dirty="0"/>
          </a:p>
        </p:txBody>
      </p:sp>
      <p:sp>
        <p:nvSpPr>
          <p:cNvPr id="12" name="Shape 9"/>
          <p:cNvSpPr/>
          <p:nvPr/>
        </p:nvSpPr>
        <p:spPr>
          <a:xfrm>
            <a:off x="3348990" y="1737360"/>
            <a:ext cx="2644902" cy="3200400"/>
          </a:xfrm>
          <a:prstGeom prst="roundRect">
            <a:avLst>
              <a:gd name="adj" fmla="val 311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68446" y="2011680"/>
            <a:ext cx="475488" cy="475488"/>
          </a:xfrm>
          <a:prstGeom prst="rect">
            <a:avLst/>
          </a:prstGeom>
        </p:spPr>
      </p:pic>
      <p:sp>
        <p:nvSpPr>
          <p:cNvPr id="14" name="Text 10"/>
          <p:cNvSpPr/>
          <p:nvPr/>
        </p:nvSpPr>
        <p:spPr>
          <a:xfrm>
            <a:off x="3568446" y="2633472"/>
            <a:ext cx="2205990" cy="566928"/>
          </a:xfrm>
          <a:prstGeom prst="rect">
            <a:avLst/>
          </a:prstGeom>
          <a:noFill/>
          <a:ln/>
        </p:spPr>
        <p:txBody>
          <a:bodyPr wrap="square" rtlCol="0" anchor="ctr"/>
          <a:lstStyle/>
          <a:p>
            <a:pPr indent="0" marL="0">
              <a:buNone/>
            </a:pPr>
            <a:r>
              <a:rPr lang="en-US" sz="1150" b="1" spc="100" kern="0" dirty="0">
                <a:solidFill>
                  <a:srgbClr val="6B7280"/>
                </a:solidFill>
                <a:latin typeface="Aptos" pitchFamily="34" charset="0"/>
                <a:ea typeface="Aptos" pitchFamily="34" charset="-122"/>
                <a:cs typeface="Aptos" pitchFamily="34" charset="-120"/>
              </a:rPr>
              <a:t>MINIMUM ADMISSION REQUIREMENTS</a:t>
            </a:r>
            <a:endParaRPr lang="en-US" sz="1150" dirty="0"/>
          </a:p>
        </p:txBody>
      </p:sp>
      <p:sp>
        <p:nvSpPr>
          <p:cNvPr id="15" name="Text 11"/>
          <p:cNvSpPr/>
          <p:nvPr/>
        </p:nvSpPr>
        <p:spPr>
          <a:xfrm>
            <a:off x="3568446" y="3218688"/>
            <a:ext cx="2205990" cy="502920"/>
          </a:xfrm>
          <a:prstGeom prst="rect">
            <a:avLst/>
          </a:prstGeom>
          <a:noFill/>
          <a:ln/>
        </p:spPr>
        <p:txBody>
          <a:bodyPr wrap="square" rtlCol="0" anchor="ctr"/>
          <a:lstStyle/>
          <a:p>
            <a:pPr indent="0" marL="0">
              <a:buNone/>
            </a:pPr>
            <a:r>
              <a:rPr lang="en-US" sz="2400" b="1" dirty="0">
                <a:solidFill>
                  <a:srgbClr val="0F6CBD"/>
                </a:solidFill>
                <a:latin typeface="Aptos Display" pitchFamily="34" charset="0"/>
                <a:ea typeface="Aptos Display" pitchFamily="34" charset="-122"/>
                <a:cs typeface="Aptos Display" pitchFamily="34" charset="-120"/>
              </a:rPr>
              <a:t>Grade 12</a:t>
            </a:r>
            <a:endParaRPr lang="en-US" sz="2400" dirty="0"/>
          </a:p>
        </p:txBody>
      </p:sp>
      <p:sp>
        <p:nvSpPr>
          <p:cNvPr id="16" name="Text 12"/>
          <p:cNvSpPr/>
          <p:nvPr/>
        </p:nvSpPr>
        <p:spPr>
          <a:xfrm>
            <a:off x="3568446" y="3767328"/>
            <a:ext cx="2205990" cy="1097280"/>
          </a:xfrm>
          <a:prstGeom prst="rect">
            <a:avLst/>
          </a:prstGeom>
          <a:noFill/>
          <a:ln/>
        </p:spPr>
        <p:txBody>
          <a:bodyPr wrap="square" rtlCol="0" anchor="t"/>
          <a:lstStyle/>
          <a:p>
            <a:pPr indent="0" marL="0">
              <a:lnSpc>
                <a:spcPct val="120000"/>
              </a:lnSpc>
              <a:buNone/>
            </a:pPr>
            <a:r>
              <a:rPr lang="en-US" sz="1350" dirty="0">
                <a:solidFill>
                  <a:srgbClr val="002050"/>
                </a:solidFill>
                <a:latin typeface="Aptos" pitchFamily="34" charset="0"/>
                <a:ea typeface="Aptos" pitchFamily="34" charset="-122"/>
                <a:cs typeface="Aptos" pitchFamily="34" charset="-120"/>
              </a:rPr>
              <a:t>National Senior Certificate or equivalent</a:t>
            </a:r>
            <a:endParaRPr lang="en-US" sz="1350" dirty="0"/>
          </a:p>
        </p:txBody>
      </p:sp>
      <p:sp>
        <p:nvSpPr>
          <p:cNvPr id="17" name="Shape 13"/>
          <p:cNvSpPr/>
          <p:nvPr/>
        </p:nvSpPr>
        <p:spPr>
          <a:xfrm>
            <a:off x="6195060" y="1737360"/>
            <a:ext cx="2644902" cy="3200400"/>
          </a:xfrm>
          <a:prstGeom prst="roundRect">
            <a:avLst>
              <a:gd name="adj" fmla="val 311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14516" y="2011680"/>
            <a:ext cx="475488" cy="475488"/>
          </a:xfrm>
          <a:prstGeom prst="rect">
            <a:avLst/>
          </a:prstGeom>
        </p:spPr>
      </p:pic>
      <p:sp>
        <p:nvSpPr>
          <p:cNvPr id="19" name="Text 14"/>
          <p:cNvSpPr/>
          <p:nvPr/>
        </p:nvSpPr>
        <p:spPr>
          <a:xfrm>
            <a:off x="6414516" y="2633472"/>
            <a:ext cx="2205990" cy="566928"/>
          </a:xfrm>
          <a:prstGeom prst="rect">
            <a:avLst/>
          </a:prstGeom>
          <a:noFill/>
          <a:ln/>
        </p:spPr>
        <p:txBody>
          <a:bodyPr wrap="square" rtlCol="0" anchor="ctr"/>
          <a:lstStyle/>
          <a:p>
            <a:pPr indent="0" marL="0">
              <a:buNone/>
            </a:pPr>
            <a:r>
              <a:rPr lang="en-US" sz="1150" b="1" spc="100" kern="0" dirty="0">
                <a:solidFill>
                  <a:srgbClr val="6B7280"/>
                </a:solidFill>
                <a:latin typeface="Aptos" pitchFamily="34" charset="0"/>
                <a:ea typeface="Aptos" pitchFamily="34" charset="-122"/>
                <a:cs typeface="Aptos" pitchFamily="34" charset="-120"/>
              </a:rPr>
              <a:t>CAREER OPPORTUNITIES</a:t>
            </a:r>
            <a:endParaRPr lang="en-US" sz="1150" dirty="0"/>
          </a:p>
        </p:txBody>
      </p:sp>
      <p:sp>
        <p:nvSpPr>
          <p:cNvPr id="20" name="Text 15"/>
          <p:cNvSpPr/>
          <p:nvPr/>
        </p:nvSpPr>
        <p:spPr>
          <a:xfrm>
            <a:off x="6414516" y="3218688"/>
            <a:ext cx="2205990" cy="1097280"/>
          </a:xfrm>
          <a:prstGeom prst="rect">
            <a:avLst/>
          </a:prstGeom>
          <a:noFill/>
          <a:ln/>
        </p:spPr>
        <p:txBody>
          <a:bodyPr wrap="square" rtlCol="0" anchor="t"/>
          <a:lstStyle/>
          <a:p>
            <a:pPr indent="0" marL="0">
              <a:lnSpc>
                <a:spcPct val="120000"/>
              </a:lnSpc>
              <a:buNone/>
            </a:pPr>
            <a:r>
              <a:rPr lang="en-US" sz="1350" dirty="0">
                <a:solidFill>
                  <a:srgbClr val="002050"/>
                </a:solidFill>
                <a:latin typeface="Aptos" pitchFamily="34" charset="0"/>
                <a:ea typeface="Aptos" pitchFamily="34" charset="-122"/>
                <a:cs typeface="Aptos" pitchFamily="34" charset="-120"/>
              </a:rPr>
              <a:t>End-User Support Technician · IT Technician · Network Technician · System Administrator</a:t>
            </a:r>
            <a:endParaRPr lang="en-US" sz="1350" dirty="0"/>
          </a:p>
        </p:txBody>
      </p:sp>
      <p:sp>
        <p:nvSpPr>
          <p:cNvPr id="21" name="Shape 16"/>
          <p:cNvSpPr/>
          <p:nvPr/>
        </p:nvSpPr>
        <p:spPr>
          <a:xfrm>
            <a:off x="9041130" y="1737360"/>
            <a:ext cx="2644902" cy="3200400"/>
          </a:xfrm>
          <a:prstGeom prst="roundRect">
            <a:avLst>
              <a:gd name="adj" fmla="val 311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60586" y="2011680"/>
            <a:ext cx="475488" cy="475488"/>
          </a:xfrm>
          <a:prstGeom prst="rect">
            <a:avLst/>
          </a:prstGeom>
        </p:spPr>
      </p:pic>
      <p:sp>
        <p:nvSpPr>
          <p:cNvPr id="23" name="Text 17"/>
          <p:cNvSpPr/>
          <p:nvPr/>
        </p:nvSpPr>
        <p:spPr>
          <a:xfrm>
            <a:off x="9260586" y="2633472"/>
            <a:ext cx="2205990" cy="566928"/>
          </a:xfrm>
          <a:prstGeom prst="rect">
            <a:avLst/>
          </a:prstGeom>
          <a:noFill/>
          <a:ln/>
        </p:spPr>
        <p:txBody>
          <a:bodyPr wrap="square" rtlCol="0" anchor="ctr"/>
          <a:lstStyle/>
          <a:p>
            <a:pPr indent="0" marL="0">
              <a:buNone/>
            </a:pPr>
            <a:r>
              <a:rPr lang="en-US" sz="1150" b="1" spc="100" kern="0" dirty="0">
                <a:solidFill>
                  <a:srgbClr val="6B7280"/>
                </a:solidFill>
                <a:latin typeface="Aptos" pitchFamily="34" charset="0"/>
                <a:ea typeface="Aptos" pitchFamily="34" charset="-122"/>
                <a:cs typeface="Aptos" pitchFamily="34" charset="-120"/>
              </a:rPr>
              <a:t>DURATION</a:t>
            </a:r>
            <a:endParaRPr lang="en-US" sz="1150" dirty="0"/>
          </a:p>
        </p:txBody>
      </p:sp>
      <p:sp>
        <p:nvSpPr>
          <p:cNvPr id="24" name="Text 18"/>
          <p:cNvSpPr/>
          <p:nvPr/>
        </p:nvSpPr>
        <p:spPr>
          <a:xfrm>
            <a:off x="9260586" y="3218688"/>
            <a:ext cx="2205990" cy="502920"/>
          </a:xfrm>
          <a:prstGeom prst="rect">
            <a:avLst/>
          </a:prstGeom>
          <a:noFill/>
          <a:ln/>
        </p:spPr>
        <p:txBody>
          <a:bodyPr wrap="square" rtlCol="0" anchor="ctr"/>
          <a:lstStyle/>
          <a:p>
            <a:pPr indent="0" marL="0">
              <a:buNone/>
            </a:pPr>
            <a:r>
              <a:rPr lang="en-US" sz="2400" b="1" dirty="0">
                <a:solidFill>
                  <a:srgbClr val="0F6CBD"/>
                </a:solidFill>
                <a:latin typeface="Aptos Display" pitchFamily="34" charset="0"/>
                <a:ea typeface="Aptos Display" pitchFamily="34" charset="-122"/>
                <a:cs typeface="Aptos Display" pitchFamily="34" charset="-120"/>
              </a:rPr>
              <a:t>1 Year</a:t>
            </a:r>
            <a:endParaRPr lang="en-US" sz="2400" dirty="0"/>
          </a:p>
        </p:txBody>
      </p:sp>
      <p:sp>
        <p:nvSpPr>
          <p:cNvPr id="25" name="Text 19"/>
          <p:cNvSpPr/>
          <p:nvPr/>
        </p:nvSpPr>
        <p:spPr>
          <a:xfrm>
            <a:off x="9260586" y="3767328"/>
            <a:ext cx="2205990" cy="1097280"/>
          </a:xfrm>
          <a:prstGeom prst="rect">
            <a:avLst/>
          </a:prstGeom>
          <a:noFill/>
          <a:ln/>
        </p:spPr>
        <p:txBody>
          <a:bodyPr wrap="square" rtlCol="0" anchor="t"/>
          <a:lstStyle/>
          <a:p>
            <a:pPr indent="0" marL="0">
              <a:lnSpc>
                <a:spcPct val="120000"/>
              </a:lnSpc>
              <a:buNone/>
            </a:pPr>
            <a:r>
              <a:rPr lang="en-US" sz="1350" dirty="0">
                <a:solidFill>
                  <a:srgbClr val="002050"/>
                </a:solidFill>
                <a:latin typeface="Aptos" pitchFamily="34" charset="0"/>
                <a:ea typeface="Aptos" pitchFamily="34" charset="-122"/>
                <a:cs typeface="Aptos" pitchFamily="34" charset="-120"/>
              </a:rPr>
              <a:t>Full-time · 17 Jul 2026 – 30 Jul 2027</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PURPOSE OF THE QUALIFICATION</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Why this qualification exists</a:t>
            </a:r>
            <a:endParaRPr lang="en-US" sz="3000" dirty="0"/>
          </a:p>
        </p:txBody>
      </p:sp>
      <p:sp>
        <p:nvSpPr>
          <p:cNvPr id="7" name="Text 5"/>
          <p:cNvSpPr/>
          <p:nvPr/>
        </p:nvSpPr>
        <p:spPr>
          <a:xfrm>
            <a:off x="502920" y="1298448"/>
            <a:ext cx="11183112" cy="777240"/>
          </a:xfrm>
          <a:prstGeom prst="rect">
            <a:avLst/>
          </a:prstGeom>
          <a:noFill/>
          <a:ln/>
        </p:spPr>
        <p:txBody>
          <a:bodyPr wrap="square" rtlCol="0" anchor="t"/>
          <a:lstStyle/>
          <a:p>
            <a:pPr indent="0" marL="0">
              <a:lnSpc>
                <a:spcPct val="115000"/>
              </a:lnSpc>
              <a:buNone/>
            </a:pPr>
            <a:r>
              <a:rPr lang="en-US" sz="1600" dirty="0">
                <a:solidFill>
                  <a:srgbClr val="6B7280"/>
                </a:solidFill>
                <a:latin typeface="Aptos" pitchFamily="34" charset="0"/>
                <a:ea typeface="Aptos" pitchFamily="34" charset="-122"/>
                <a:cs typeface="Aptos" pitchFamily="34" charset="-120"/>
              </a:rPr>
              <a:t>The purpose of this qualification is to develop learners with the requisite competencies against the skills profile for the systems support career path — the overarching aim being to develop a broader base of skilled ICT professionals to underpin economic growth.</a:t>
            </a:r>
            <a:endParaRPr lang="en-US" sz="1600" dirty="0"/>
          </a:p>
        </p:txBody>
      </p:sp>
      <p:sp>
        <p:nvSpPr>
          <p:cNvPr id="8" name="Text 6"/>
          <p:cNvSpPr/>
          <p:nvPr/>
        </p:nvSpPr>
        <p:spPr>
          <a:xfrm>
            <a:off x="502920" y="2240280"/>
            <a:ext cx="11183112" cy="274320"/>
          </a:xfrm>
          <a:prstGeom prst="rect">
            <a:avLst/>
          </a:prstGeom>
          <a:noFill/>
          <a:ln/>
        </p:spPr>
        <p:txBody>
          <a:bodyPr wrap="square" rtlCol="0" anchor="ctr"/>
          <a:lstStyle/>
          <a:p>
            <a:pPr indent="0" marL="0">
              <a:buNone/>
            </a:pPr>
            <a:r>
              <a:rPr lang="en-US" sz="1250" b="1" spc="150" kern="0" dirty="0">
                <a:solidFill>
                  <a:srgbClr val="0F6CBD"/>
                </a:solidFill>
                <a:latin typeface="Aptos" pitchFamily="34" charset="0"/>
                <a:ea typeface="Aptos" pitchFamily="34" charset="-122"/>
                <a:cs typeface="Aptos" pitchFamily="34" charset="-120"/>
              </a:rPr>
              <a:t>YOUR QUALIFICATION PATHWAY</a:t>
            </a:r>
            <a:endParaRPr lang="en-US" sz="1250" dirty="0"/>
          </a:p>
        </p:txBody>
      </p:sp>
      <p:sp>
        <p:nvSpPr>
          <p:cNvPr id="9" name="Shape 7"/>
          <p:cNvSpPr/>
          <p:nvPr/>
        </p:nvSpPr>
        <p:spPr>
          <a:xfrm>
            <a:off x="502920" y="2606040"/>
            <a:ext cx="3331464"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2788920"/>
            <a:ext cx="384048" cy="384048"/>
          </a:xfrm>
          <a:prstGeom prst="rect">
            <a:avLst/>
          </a:prstGeom>
        </p:spPr>
      </p:pic>
      <p:sp>
        <p:nvSpPr>
          <p:cNvPr id="11" name="Text 8"/>
          <p:cNvSpPr/>
          <p:nvPr/>
        </p:nvSpPr>
        <p:spPr>
          <a:xfrm>
            <a:off x="704088" y="3246120"/>
            <a:ext cx="2929128" cy="384048"/>
          </a:xfrm>
          <a:prstGeom prst="rect">
            <a:avLst/>
          </a:prstGeom>
          <a:noFill/>
          <a:ln/>
        </p:spPr>
        <p:txBody>
          <a:bodyPr wrap="square" rtlCol="0" anchor="ctr"/>
          <a:lstStyle/>
          <a:p>
            <a:pPr indent="0" marL="0">
              <a:buNone/>
            </a:pPr>
            <a:r>
              <a:rPr lang="en-US" sz="1500" b="1" dirty="0">
                <a:solidFill>
                  <a:srgbClr val="002050"/>
                </a:solidFill>
                <a:latin typeface="Aptos Display" pitchFamily="34" charset="0"/>
                <a:ea typeface="Aptos Display" pitchFamily="34" charset="-122"/>
                <a:cs typeface="Aptos Display" pitchFamily="34" charset="-120"/>
              </a:rPr>
              <a:t>NQF Level 4</a:t>
            </a:r>
            <a:endParaRPr lang="en-US" sz="1500" dirty="0"/>
          </a:p>
        </p:txBody>
      </p:sp>
      <p:sp>
        <p:nvSpPr>
          <p:cNvPr id="12" name="Text 9"/>
          <p:cNvSpPr/>
          <p:nvPr/>
        </p:nvSpPr>
        <p:spPr>
          <a:xfrm>
            <a:off x="704088" y="3639312"/>
            <a:ext cx="2929128" cy="74980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National Certificate: IT Technical Support (or equivalent) — used as prior learning</a:t>
            </a:r>
            <a:endParaRPr lang="en-US" sz="1200" dirty="0"/>
          </a:p>
        </p:txBody>
      </p:sp>
      <p:sp>
        <p:nvSpPr>
          <p:cNvPr id="13" name="Shape 10"/>
          <p:cNvSpPr/>
          <p:nvPr/>
        </p:nvSpPr>
        <p:spPr>
          <a:xfrm>
            <a:off x="3962400" y="3337560"/>
            <a:ext cx="347472" cy="310896"/>
          </a:xfrm>
          <a:prstGeom prst="rightArrow">
            <a:avLst/>
          </a:prstGeom>
          <a:solidFill>
            <a:srgbClr val="0F6CBD"/>
          </a:solidFill>
          <a:ln/>
        </p:spPr>
      </p:sp>
      <p:sp>
        <p:nvSpPr>
          <p:cNvPr id="14" name="Shape 11"/>
          <p:cNvSpPr/>
          <p:nvPr/>
        </p:nvSpPr>
        <p:spPr>
          <a:xfrm>
            <a:off x="4428744" y="2606040"/>
            <a:ext cx="3331464" cy="1783080"/>
          </a:xfrm>
          <a:prstGeom prst="roundRect">
            <a:avLst>
              <a:gd name="adj" fmla="val 4615"/>
            </a:avLst>
          </a:prstGeom>
          <a:solidFill>
            <a:srgbClr val="EAF4FF"/>
          </a:solidFill>
          <a:ln w="12700">
            <a:solidFill>
              <a:srgbClr val="0F6CBD"/>
            </a:solidFill>
            <a:prstDash val="solid"/>
          </a:ln>
          <a:effectLst>
            <a:outerShdw sx="100000" sy="100000" kx="0" ky="0" algn="bl" rotWithShape="0" blurRad="88900" dist="25400" dir="5400000">
              <a:srgbClr val="9AB4CC">
                <a:alpha val="30000"/>
              </a:srgbClr>
            </a:outerShdw>
          </a:effectLst>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29912" y="2788920"/>
            <a:ext cx="384048" cy="384048"/>
          </a:xfrm>
          <a:prstGeom prst="rect">
            <a:avLst/>
          </a:prstGeom>
        </p:spPr>
      </p:pic>
      <p:sp>
        <p:nvSpPr>
          <p:cNvPr id="16" name="Text 12"/>
          <p:cNvSpPr/>
          <p:nvPr/>
        </p:nvSpPr>
        <p:spPr>
          <a:xfrm>
            <a:off x="4629912" y="3246120"/>
            <a:ext cx="2929128" cy="384048"/>
          </a:xfrm>
          <a:prstGeom prst="rect">
            <a:avLst/>
          </a:prstGeom>
          <a:noFill/>
          <a:ln/>
        </p:spPr>
        <p:txBody>
          <a:bodyPr wrap="square" rtlCol="0" anchor="ctr"/>
          <a:lstStyle/>
          <a:p>
            <a:pPr indent="0" marL="0">
              <a:buNone/>
            </a:pPr>
            <a:r>
              <a:rPr lang="en-US" sz="1500" b="1" dirty="0">
                <a:solidFill>
                  <a:srgbClr val="0F6CBD"/>
                </a:solidFill>
                <a:latin typeface="Aptos Display" pitchFamily="34" charset="0"/>
                <a:ea typeface="Aptos Display" pitchFamily="34" charset="-122"/>
                <a:cs typeface="Aptos Display" pitchFamily="34" charset="-120"/>
              </a:rPr>
              <a:t>NQF Level 5 — you are here</a:t>
            </a:r>
            <a:endParaRPr lang="en-US" sz="1500" dirty="0"/>
          </a:p>
        </p:txBody>
      </p:sp>
      <p:sp>
        <p:nvSpPr>
          <p:cNvPr id="17" name="Text 13"/>
          <p:cNvSpPr/>
          <p:nvPr/>
        </p:nvSpPr>
        <p:spPr>
          <a:xfrm>
            <a:off x="4629912" y="3639312"/>
            <a:ext cx="2929128" cy="74980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Systems Support, 148 credits, earned in the workplace through the learnership</a:t>
            </a:r>
            <a:endParaRPr lang="en-US" sz="1200" dirty="0"/>
          </a:p>
        </p:txBody>
      </p:sp>
      <p:sp>
        <p:nvSpPr>
          <p:cNvPr id="18" name="Shape 14"/>
          <p:cNvSpPr/>
          <p:nvPr/>
        </p:nvSpPr>
        <p:spPr>
          <a:xfrm>
            <a:off x="7888224" y="3337560"/>
            <a:ext cx="347472" cy="310896"/>
          </a:xfrm>
          <a:prstGeom prst="rightArrow">
            <a:avLst/>
          </a:prstGeom>
          <a:solidFill>
            <a:srgbClr val="0F6CBD"/>
          </a:solidFill>
          <a:ln/>
        </p:spPr>
      </p:sp>
      <p:sp>
        <p:nvSpPr>
          <p:cNvPr id="19" name="Shape 15"/>
          <p:cNvSpPr/>
          <p:nvPr/>
        </p:nvSpPr>
        <p:spPr>
          <a:xfrm>
            <a:off x="8354568" y="2606040"/>
            <a:ext cx="3331464"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55736" y="2788920"/>
            <a:ext cx="384048" cy="384048"/>
          </a:xfrm>
          <a:prstGeom prst="rect">
            <a:avLst/>
          </a:prstGeom>
        </p:spPr>
      </p:pic>
      <p:sp>
        <p:nvSpPr>
          <p:cNvPr id="21" name="Text 16"/>
          <p:cNvSpPr/>
          <p:nvPr/>
        </p:nvSpPr>
        <p:spPr>
          <a:xfrm>
            <a:off x="8555736" y="3246120"/>
            <a:ext cx="2929128" cy="384048"/>
          </a:xfrm>
          <a:prstGeom prst="rect">
            <a:avLst/>
          </a:prstGeom>
          <a:noFill/>
          <a:ln/>
        </p:spPr>
        <p:txBody>
          <a:bodyPr wrap="square" rtlCol="0" anchor="ctr"/>
          <a:lstStyle/>
          <a:p>
            <a:pPr indent="0" marL="0">
              <a:buNone/>
            </a:pPr>
            <a:r>
              <a:rPr lang="en-US" sz="1500" b="1" dirty="0">
                <a:solidFill>
                  <a:srgbClr val="002050"/>
                </a:solidFill>
                <a:latin typeface="Aptos Display" pitchFamily="34" charset="0"/>
                <a:ea typeface="Aptos Display" pitchFamily="34" charset="-122"/>
                <a:cs typeface="Aptos Display" pitchFamily="34" charset="-120"/>
              </a:rPr>
              <a:t>Beyond</a:t>
            </a:r>
            <a:endParaRPr lang="en-US" sz="1500" dirty="0"/>
          </a:p>
        </p:txBody>
      </p:sp>
      <p:sp>
        <p:nvSpPr>
          <p:cNvPr id="22" name="Text 17"/>
          <p:cNvSpPr/>
          <p:nvPr/>
        </p:nvSpPr>
        <p:spPr>
          <a:xfrm>
            <a:off x="8555736" y="3639312"/>
            <a:ext cx="2929128" cy="74980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Credits towards Computer Studies/Science · employment in industry · professional body membership</a:t>
            </a:r>
            <a:endParaRPr lang="en-US" sz="1200" dirty="0"/>
          </a:p>
        </p:txBody>
      </p:sp>
      <p:sp>
        <p:nvSpPr>
          <p:cNvPr id="23" name="Shape 18"/>
          <p:cNvSpPr/>
          <p:nvPr/>
        </p:nvSpPr>
        <p:spPr>
          <a:xfrm>
            <a:off x="502920" y="4663440"/>
            <a:ext cx="11183112" cy="1051560"/>
          </a:xfrm>
          <a:prstGeom prst="roundRect">
            <a:avLst>
              <a:gd name="adj" fmla="val 7826"/>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4892040"/>
            <a:ext cx="310896" cy="310896"/>
          </a:xfrm>
          <a:prstGeom prst="rect">
            <a:avLst/>
          </a:prstGeom>
        </p:spPr>
      </p:pic>
      <p:sp>
        <p:nvSpPr>
          <p:cNvPr id="25" name="Text 19"/>
          <p:cNvSpPr/>
          <p:nvPr/>
        </p:nvSpPr>
        <p:spPr>
          <a:xfrm>
            <a:off x="1124712" y="4754880"/>
            <a:ext cx="10314432" cy="868680"/>
          </a:xfrm>
          <a:prstGeom prst="rect">
            <a:avLst/>
          </a:prstGeom>
          <a:noFill/>
          <a:ln/>
        </p:spPr>
        <p:txBody>
          <a:bodyPr wrap="square" rtlCol="0" anchor="ctr"/>
          <a:lstStyle/>
          <a:p>
            <a:pPr indent="0" marL="0">
              <a:lnSpc>
                <a:spcPct val="115000"/>
              </a:lnSpc>
              <a:buNone/>
            </a:pPr>
            <a:r>
              <a:rPr lang="en-US" sz="1400" dirty="0">
                <a:solidFill>
                  <a:srgbClr val="002050"/>
                </a:solidFill>
                <a:latin typeface="Aptos" pitchFamily="34" charset="0"/>
                <a:ea typeface="Aptos" pitchFamily="34" charset="-122"/>
                <a:cs typeface="Aptos" pitchFamily="34" charset="-120"/>
              </a:rPr>
              <a:t>The qualification may be acquired through formal study or in the workplace through learnerships — so practical experience is gained WHILE qualifying, solving the old problem of graduates being turned away for lacking experience.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PURPOSE OF THE QUALIFICATION</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The qualification is designed to</a:t>
            </a:r>
            <a:endParaRPr lang="en-US" sz="3000" dirty="0"/>
          </a:p>
        </p:txBody>
      </p:sp>
      <p:sp>
        <p:nvSpPr>
          <p:cNvPr id="7" name="Shape 5"/>
          <p:cNvSpPr/>
          <p:nvPr/>
        </p:nvSpPr>
        <p:spPr>
          <a:xfrm>
            <a:off x="502920" y="1600200"/>
            <a:ext cx="5500116" cy="1051560"/>
          </a:xfrm>
          <a:prstGeom prst="roundRect">
            <a:avLst>
              <a:gd name="adj" fmla="val 782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512" y="1961388"/>
            <a:ext cx="329184" cy="329184"/>
          </a:xfrm>
          <a:prstGeom prst="rect">
            <a:avLst/>
          </a:prstGeom>
        </p:spPr>
      </p:pic>
      <p:sp>
        <p:nvSpPr>
          <p:cNvPr id="9" name="Text 6"/>
          <p:cNvSpPr/>
          <p:nvPr/>
        </p:nvSpPr>
        <p:spPr>
          <a:xfrm>
            <a:off x="1106424" y="1673352"/>
            <a:ext cx="4732020" cy="905256"/>
          </a:xfrm>
          <a:prstGeom prst="rect">
            <a:avLst/>
          </a:prstGeom>
          <a:noFill/>
          <a:ln/>
        </p:spPr>
        <p:txBody>
          <a:bodyPr wrap="square" rtlCol="0" anchor="ctr"/>
          <a:lstStyle/>
          <a:p>
            <a:pPr indent="0" marL="0">
              <a:lnSpc>
                <a:spcPct val="105000"/>
              </a:lnSpc>
              <a:buNone/>
            </a:pPr>
            <a:r>
              <a:rPr lang="en-US" sz="1500" dirty="0">
                <a:solidFill>
                  <a:srgbClr val="002050"/>
                </a:solidFill>
                <a:latin typeface="Aptos" pitchFamily="34" charset="0"/>
                <a:ea typeface="Aptos" pitchFamily="34" charset="-122"/>
                <a:cs typeface="Aptos" pitchFamily="34" charset="-120"/>
              </a:rPr>
              <a:t>Give undergraduate entry into networking/systems support with credits towards tertiary study</a:t>
            </a:r>
            <a:endParaRPr lang="en-US" sz="1500" dirty="0"/>
          </a:p>
        </p:txBody>
      </p:sp>
      <p:sp>
        <p:nvSpPr>
          <p:cNvPr id="10" name="Shape 7"/>
          <p:cNvSpPr/>
          <p:nvPr/>
        </p:nvSpPr>
        <p:spPr>
          <a:xfrm>
            <a:off x="6185916" y="1600200"/>
            <a:ext cx="5500116" cy="1051560"/>
          </a:xfrm>
          <a:prstGeom prst="roundRect">
            <a:avLst>
              <a:gd name="adj" fmla="val 782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50508" y="1961388"/>
            <a:ext cx="329184" cy="329184"/>
          </a:xfrm>
          <a:prstGeom prst="rect">
            <a:avLst/>
          </a:prstGeom>
        </p:spPr>
      </p:pic>
      <p:sp>
        <p:nvSpPr>
          <p:cNvPr id="12" name="Text 8"/>
          <p:cNvSpPr/>
          <p:nvPr/>
        </p:nvSpPr>
        <p:spPr>
          <a:xfrm>
            <a:off x="6789420" y="1673352"/>
            <a:ext cx="4732020" cy="905256"/>
          </a:xfrm>
          <a:prstGeom prst="rect">
            <a:avLst/>
          </a:prstGeom>
          <a:noFill/>
          <a:ln/>
        </p:spPr>
        <p:txBody>
          <a:bodyPr wrap="square" rtlCol="0" anchor="ctr"/>
          <a:lstStyle/>
          <a:p>
            <a:pPr indent="0" marL="0">
              <a:lnSpc>
                <a:spcPct val="105000"/>
              </a:lnSpc>
              <a:buNone/>
            </a:pPr>
            <a:r>
              <a:rPr lang="en-US" sz="1500" dirty="0">
                <a:solidFill>
                  <a:srgbClr val="002050"/>
                </a:solidFill>
                <a:latin typeface="Aptos" pitchFamily="34" charset="0"/>
                <a:ea typeface="Aptos" pitchFamily="34" charset="-122"/>
                <a:cs typeface="Aptos" pitchFamily="34" charset="-120"/>
              </a:rPr>
              <a:t>Prepare learners for initial employment in the computer industry</a:t>
            </a:r>
            <a:endParaRPr lang="en-US" sz="1500" dirty="0"/>
          </a:p>
        </p:txBody>
      </p:sp>
      <p:sp>
        <p:nvSpPr>
          <p:cNvPr id="13" name="Shape 9"/>
          <p:cNvSpPr/>
          <p:nvPr/>
        </p:nvSpPr>
        <p:spPr>
          <a:xfrm>
            <a:off x="502920" y="2834640"/>
            <a:ext cx="5500116" cy="1051560"/>
          </a:xfrm>
          <a:prstGeom prst="roundRect">
            <a:avLst>
              <a:gd name="adj" fmla="val 782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7512" y="3195828"/>
            <a:ext cx="329184" cy="329184"/>
          </a:xfrm>
          <a:prstGeom prst="rect">
            <a:avLst/>
          </a:prstGeom>
        </p:spPr>
      </p:pic>
      <p:sp>
        <p:nvSpPr>
          <p:cNvPr id="15" name="Text 10"/>
          <p:cNvSpPr/>
          <p:nvPr/>
        </p:nvSpPr>
        <p:spPr>
          <a:xfrm>
            <a:off x="1106424" y="2907792"/>
            <a:ext cx="4732020" cy="905256"/>
          </a:xfrm>
          <a:prstGeom prst="rect">
            <a:avLst/>
          </a:prstGeom>
          <a:noFill/>
          <a:ln/>
        </p:spPr>
        <p:txBody>
          <a:bodyPr wrap="square" rtlCol="0" anchor="ctr"/>
          <a:lstStyle/>
          <a:p>
            <a:pPr indent="0" marL="0">
              <a:lnSpc>
                <a:spcPct val="105000"/>
              </a:lnSpc>
              <a:buNone/>
            </a:pPr>
            <a:r>
              <a:rPr lang="en-US" sz="1500" dirty="0">
                <a:solidFill>
                  <a:srgbClr val="002050"/>
                </a:solidFill>
                <a:latin typeface="Aptos" pitchFamily="34" charset="0"/>
                <a:ea typeface="Aptos" pitchFamily="34" charset="-122"/>
                <a:cs typeface="Aptos" pitchFamily="34" charset="-120"/>
              </a:rPr>
              <a:t>Recognise NQF Level 4 IT credits as prior learning</a:t>
            </a:r>
            <a:endParaRPr lang="en-US" sz="1500" dirty="0"/>
          </a:p>
        </p:txBody>
      </p:sp>
      <p:sp>
        <p:nvSpPr>
          <p:cNvPr id="16" name="Shape 11"/>
          <p:cNvSpPr/>
          <p:nvPr/>
        </p:nvSpPr>
        <p:spPr>
          <a:xfrm>
            <a:off x="6185916" y="2834640"/>
            <a:ext cx="5500116" cy="1051560"/>
          </a:xfrm>
          <a:prstGeom prst="roundRect">
            <a:avLst>
              <a:gd name="adj" fmla="val 782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0508" y="3195828"/>
            <a:ext cx="329184" cy="329184"/>
          </a:xfrm>
          <a:prstGeom prst="rect">
            <a:avLst/>
          </a:prstGeom>
        </p:spPr>
      </p:pic>
      <p:sp>
        <p:nvSpPr>
          <p:cNvPr id="18" name="Text 12"/>
          <p:cNvSpPr/>
          <p:nvPr/>
        </p:nvSpPr>
        <p:spPr>
          <a:xfrm>
            <a:off x="6789420" y="2907792"/>
            <a:ext cx="4732020" cy="905256"/>
          </a:xfrm>
          <a:prstGeom prst="rect">
            <a:avLst/>
          </a:prstGeom>
          <a:noFill/>
          <a:ln/>
        </p:spPr>
        <p:txBody>
          <a:bodyPr wrap="square" rtlCol="0" anchor="ctr"/>
          <a:lstStyle/>
          <a:p>
            <a:pPr indent="0" marL="0">
              <a:lnSpc>
                <a:spcPct val="105000"/>
              </a:lnSpc>
              <a:buNone/>
            </a:pPr>
            <a:r>
              <a:rPr lang="en-US" sz="1500" dirty="0">
                <a:solidFill>
                  <a:srgbClr val="002050"/>
                </a:solidFill>
                <a:latin typeface="Aptos" pitchFamily="34" charset="0"/>
                <a:ea typeface="Aptos" pitchFamily="34" charset="-122"/>
                <a:cs typeface="Aptos" pitchFamily="34" charset="-120"/>
              </a:rPr>
              <a:t>Feed learnership schemes across the ICT sector and beyond</a:t>
            </a:r>
            <a:endParaRPr lang="en-US" sz="1500" dirty="0"/>
          </a:p>
        </p:txBody>
      </p:sp>
      <p:sp>
        <p:nvSpPr>
          <p:cNvPr id="19" name="Text 13"/>
          <p:cNvSpPr/>
          <p:nvPr/>
        </p:nvSpPr>
        <p:spPr>
          <a:xfrm>
            <a:off x="502920" y="4114800"/>
            <a:ext cx="11183112" cy="274320"/>
          </a:xfrm>
          <a:prstGeom prst="rect">
            <a:avLst/>
          </a:prstGeom>
          <a:noFill/>
          <a:ln/>
        </p:spPr>
        <p:txBody>
          <a:bodyPr wrap="square" rtlCol="0" anchor="ctr"/>
          <a:lstStyle/>
          <a:p>
            <a:pPr indent="0" marL="0">
              <a:buNone/>
            </a:pPr>
            <a:r>
              <a:rPr lang="en-US" sz="1250" b="1" spc="150" kern="0" dirty="0">
                <a:solidFill>
                  <a:srgbClr val="0F6CBD"/>
                </a:solidFill>
                <a:latin typeface="Aptos" pitchFamily="34" charset="0"/>
                <a:ea typeface="Aptos" pitchFamily="34" charset="-122"/>
                <a:cs typeface="Aptos" pitchFamily="34" charset="-120"/>
              </a:rPr>
              <a:t>NB</a:t>
            </a:r>
            <a:endParaRPr lang="en-US" sz="1250" dirty="0"/>
          </a:p>
        </p:txBody>
      </p:sp>
      <p:sp>
        <p:nvSpPr>
          <p:cNvPr id="20" name="Shape 14"/>
          <p:cNvSpPr/>
          <p:nvPr/>
        </p:nvSpPr>
        <p:spPr>
          <a:xfrm>
            <a:off x="502920" y="4434840"/>
            <a:ext cx="11183112" cy="1691640"/>
          </a:xfrm>
          <a:prstGeom prst="roundRect">
            <a:avLst>
              <a:gd name="adj" fmla="val 4865"/>
            </a:avLst>
          </a:prstGeom>
          <a:solidFill>
            <a:srgbClr val="F8FAFC"/>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1" name="Text 15"/>
          <p:cNvSpPr/>
          <p:nvPr/>
        </p:nvSpPr>
        <p:spPr>
          <a:xfrm>
            <a:off x="731520" y="4553712"/>
            <a:ext cx="10725912" cy="1463040"/>
          </a:xfrm>
          <a:prstGeom prst="rect">
            <a:avLst/>
          </a:prstGeom>
          <a:noFill/>
          <a:ln/>
        </p:spPr>
        <p:txBody>
          <a:bodyPr wrap="square" rtlCol="0" anchor="t"/>
          <a:lstStyle/>
          <a:p>
            <a:pPr indent="0" marL="0">
              <a:lnSpc>
                <a:spcPct val="120000"/>
              </a:lnSpc>
              <a:buNone/>
            </a:pPr>
            <a:r>
              <a:rPr lang="en-US" sz="1350" dirty="0">
                <a:solidFill>
                  <a:srgbClr val="002050"/>
                </a:solidFill>
                <a:latin typeface="Aptos" pitchFamily="34" charset="0"/>
                <a:ea typeface="Aptos" pitchFamily="34" charset="-122"/>
                <a:cs typeface="Aptos" pitchFamily="34" charset="-120"/>
              </a:rPr>
              <a:t>This qualification has been developed within a contextual qualifications framework — electives indicate the context in which the overall learning programme is designed and assessed. The core components form the generic base, contextualised to meet the unique and specific issues of the ICT sector and the range of enabled (vertical) markets. It has also been developed to assist with professionalisation across the IT industry, allowing qualified learners to gain membership of registered professional bodies in the ICT industry.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PURPOSE OF THE QUALIFICATION</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To qualify, you must demonstrate competence in 13 areas</a:t>
            </a:r>
            <a:endParaRPr lang="en-US" sz="3000" dirty="0"/>
          </a:p>
        </p:txBody>
      </p:sp>
      <p:sp>
        <p:nvSpPr>
          <p:cNvPr id="7" name="Shape 5"/>
          <p:cNvSpPr/>
          <p:nvPr/>
        </p:nvSpPr>
        <p:spPr>
          <a:xfrm>
            <a:off x="502920" y="1554480"/>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512" y="1810512"/>
            <a:ext cx="329184" cy="329184"/>
          </a:xfrm>
          <a:prstGeom prst="rect">
            <a:avLst/>
          </a:prstGeom>
        </p:spPr>
      </p:pic>
      <p:sp>
        <p:nvSpPr>
          <p:cNvPr id="9" name="Text 6"/>
          <p:cNvSpPr/>
          <p:nvPr/>
        </p:nvSpPr>
        <p:spPr>
          <a:xfrm>
            <a:off x="1106424" y="1627632"/>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Logical troubleshooting of day-to-day hardware &amp; software problems</a:t>
            </a:r>
            <a:endParaRPr lang="en-US" sz="1250" dirty="0"/>
          </a:p>
        </p:txBody>
      </p:sp>
      <p:sp>
        <p:nvSpPr>
          <p:cNvPr id="10" name="Shape 7"/>
          <p:cNvSpPr/>
          <p:nvPr/>
        </p:nvSpPr>
        <p:spPr>
          <a:xfrm>
            <a:off x="4273296" y="1554480"/>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37888" y="1810512"/>
            <a:ext cx="329184" cy="329184"/>
          </a:xfrm>
          <a:prstGeom prst="rect">
            <a:avLst/>
          </a:prstGeom>
        </p:spPr>
      </p:pic>
      <p:sp>
        <p:nvSpPr>
          <p:cNvPr id="12" name="Text 8"/>
          <p:cNvSpPr/>
          <p:nvPr/>
        </p:nvSpPr>
        <p:spPr>
          <a:xfrm>
            <a:off x="4876800" y="1627632"/>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The role of technology in the business context</a:t>
            </a:r>
            <a:endParaRPr lang="en-US" sz="1250" dirty="0"/>
          </a:p>
        </p:txBody>
      </p:sp>
      <p:sp>
        <p:nvSpPr>
          <p:cNvPr id="13" name="Shape 9"/>
          <p:cNvSpPr/>
          <p:nvPr/>
        </p:nvSpPr>
        <p:spPr>
          <a:xfrm>
            <a:off x="8043672" y="1554480"/>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08264" y="1810512"/>
            <a:ext cx="329184" cy="329184"/>
          </a:xfrm>
          <a:prstGeom prst="rect">
            <a:avLst/>
          </a:prstGeom>
        </p:spPr>
      </p:pic>
      <p:sp>
        <p:nvSpPr>
          <p:cNvPr id="15" name="Text 10"/>
          <p:cNvSpPr/>
          <p:nvPr/>
        </p:nvSpPr>
        <p:spPr>
          <a:xfrm>
            <a:off x="8647176" y="1627632"/>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Integrated technology-based communication systems</a:t>
            </a:r>
            <a:endParaRPr lang="en-US" sz="1250" dirty="0"/>
          </a:p>
        </p:txBody>
      </p:sp>
      <p:sp>
        <p:nvSpPr>
          <p:cNvPr id="16" name="Shape 11"/>
          <p:cNvSpPr/>
          <p:nvPr/>
        </p:nvSpPr>
        <p:spPr>
          <a:xfrm>
            <a:off x="502920" y="2523744"/>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7512" y="2779776"/>
            <a:ext cx="329184" cy="329184"/>
          </a:xfrm>
          <a:prstGeom prst="rect">
            <a:avLst/>
          </a:prstGeom>
        </p:spPr>
      </p:pic>
      <p:sp>
        <p:nvSpPr>
          <p:cNvPr id="18" name="Text 12"/>
          <p:cNvSpPr/>
          <p:nvPr/>
        </p:nvSpPr>
        <p:spPr>
          <a:xfrm>
            <a:off x="1106424" y="2596896"/>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Storing, managing &amp; retrieving data for the organisation</a:t>
            </a:r>
            <a:endParaRPr lang="en-US" sz="1250" dirty="0"/>
          </a:p>
        </p:txBody>
      </p:sp>
      <p:sp>
        <p:nvSpPr>
          <p:cNvPr id="19" name="Shape 13"/>
          <p:cNvSpPr/>
          <p:nvPr/>
        </p:nvSpPr>
        <p:spPr>
          <a:xfrm>
            <a:off x="4273296" y="2523744"/>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37888" y="2779776"/>
            <a:ext cx="329184" cy="329184"/>
          </a:xfrm>
          <a:prstGeom prst="rect">
            <a:avLst/>
          </a:prstGeom>
        </p:spPr>
      </p:pic>
      <p:sp>
        <p:nvSpPr>
          <p:cNvPr id="21" name="Text 14"/>
          <p:cNvSpPr/>
          <p:nvPr/>
        </p:nvSpPr>
        <p:spPr>
          <a:xfrm>
            <a:off x="4876800" y="2596896"/>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Secure information systems — no data loss, no integrity breaches</a:t>
            </a:r>
            <a:endParaRPr lang="en-US" sz="1250" dirty="0"/>
          </a:p>
        </p:txBody>
      </p:sp>
      <p:sp>
        <p:nvSpPr>
          <p:cNvPr id="22" name="Shape 15"/>
          <p:cNvSpPr/>
          <p:nvPr/>
        </p:nvSpPr>
        <p:spPr>
          <a:xfrm>
            <a:off x="8043672" y="2523744"/>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08264" y="2779776"/>
            <a:ext cx="329184" cy="329184"/>
          </a:xfrm>
          <a:prstGeom prst="rect">
            <a:avLst/>
          </a:prstGeom>
        </p:spPr>
      </p:pic>
      <p:sp>
        <p:nvSpPr>
          <p:cNvPr id="24" name="Text 16"/>
          <p:cNvSpPr/>
          <p:nvPr/>
        </p:nvSpPr>
        <p:spPr>
          <a:xfrm>
            <a:off x="8647176" y="2596896"/>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Reflecting business structure in IT systems for efficiency</a:t>
            </a:r>
            <a:endParaRPr lang="en-US" sz="1250" dirty="0"/>
          </a:p>
        </p:txBody>
      </p:sp>
      <p:sp>
        <p:nvSpPr>
          <p:cNvPr id="25" name="Shape 17"/>
          <p:cNvSpPr/>
          <p:nvPr/>
        </p:nvSpPr>
        <p:spPr>
          <a:xfrm>
            <a:off x="502920" y="3493008"/>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7512" y="3749040"/>
            <a:ext cx="329184" cy="329184"/>
          </a:xfrm>
          <a:prstGeom prst="rect">
            <a:avLst/>
          </a:prstGeom>
        </p:spPr>
      </p:pic>
      <p:sp>
        <p:nvSpPr>
          <p:cNvPr id="27" name="Text 18"/>
          <p:cNvSpPr/>
          <p:nvPr/>
        </p:nvSpPr>
        <p:spPr>
          <a:xfrm>
            <a:off x="1106424" y="3566160"/>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Mobilising technical resources to solve business problems</a:t>
            </a:r>
            <a:endParaRPr lang="en-US" sz="1250" dirty="0"/>
          </a:p>
        </p:txBody>
      </p:sp>
      <p:sp>
        <p:nvSpPr>
          <p:cNvPr id="28" name="Shape 19"/>
          <p:cNvSpPr/>
          <p:nvPr/>
        </p:nvSpPr>
        <p:spPr>
          <a:xfrm>
            <a:off x="4273296" y="3493008"/>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37888" y="3749040"/>
            <a:ext cx="329184" cy="329184"/>
          </a:xfrm>
          <a:prstGeom prst="rect">
            <a:avLst/>
          </a:prstGeom>
        </p:spPr>
      </p:pic>
      <p:sp>
        <p:nvSpPr>
          <p:cNvPr id="30" name="Text 20"/>
          <p:cNvSpPr/>
          <p:nvPr/>
        </p:nvSpPr>
        <p:spPr>
          <a:xfrm>
            <a:off x="4876800" y="3566160"/>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Cost-effective performance in technology-based projects</a:t>
            </a:r>
            <a:endParaRPr lang="en-US" sz="1250" dirty="0"/>
          </a:p>
        </p:txBody>
      </p:sp>
      <p:sp>
        <p:nvSpPr>
          <p:cNvPr id="31" name="Shape 21"/>
          <p:cNvSpPr/>
          <p:nvPr/>
        </p:nvSpPr>
        <p:spPr>
          <a:xfrm>
            <a:off x="8043672" y="3493008"/>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2"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08264" y="3749040"/>
            <a:ext cx="329184" cy="329184"/>
          </a:xfrm>
          <a:prstGeom prst="rect">
            <a:avLst/>
          </a:prstGeom>
        </p:spPr>
      </p:pic>
      <p:sp>
        <p:nvSpPr>
          <p:cNvPr id="33" name="Text 22"/>
          <p:cNvSpPr/>
          <p:nvPr/>
        </p:nvSpPr>
        <p:spPr>
          <a:xfrm>
            <a:off x="8647176" y="3566160"/>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Managing customer relations appropriately</a:t>
            </a:r>
            <a:endParaRPr lang="en-US" sz="1250" dirty="0"/>
          </a:p>
        </p:txBody>
      </p:sp>
      <p:sp>
        <p:nvSpPr>
          <p:cNvPr id="34" name="Shape 23"/>
          <p:cNvSpPr/>
          <p:nvPr/>
        </p:nvSpPr>
        <p:spPr>
          <a:xfrm>
            <a:off x="502920" y="4462272"/>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5"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67512" y="4718304"/>
            <a:ext cx="329184" cy="329184"/>
          </a:xfrm>
          <a:prstGeom prst="rect">
            <a:avLst/>
          </a:prstGeom>
        </p:spPr>
      </p:pic>
      <p:sp>
        <p:nvSpPr>
          <p:cNvPr id="36" name="Text 24"/>
          <p:cNvSpPr/>
          <p:nvPr/>
        </p:nvSpPr>
        <p:spPr>
          <a:xfrm>
            <a:off x="1106424" y="4535424"/>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Working within change, release &amp; configuration processes</a:t>
            </a:r>
            <a:endParaRPr lang="en-US" sz="1250" dirty="0"/>
          </a:p>
        </p:txBody>
      </p:sp>
      <p:sp>
        <p:nvSpPr>
          <p:cNvPr id="37" name="Shape 25"/>
          <p:cNvSpPr/>
          <p:nvPr/>
        </p:nvSpPr>
        <p:spPr>
          <a:xfrm>
            <a:off x="4273296" y="4462272"/>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8"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437888" y="4718304"/>
            <a:ext cx="329184" cy="329184"/>
          </a:xfrm>
          <a:prstGeom prst="rect">
            <a:avLst/>
          </a:prstGeom>
        </p:spPr>
      </p:pic>
      <p:sp>
        <p:nvSpPr>
          <p:cNvPr id="39" name="Text 26"/>
          <p:cNvSpPr/>
          <p:nvPr/>
        </p:nvSpPr>
        <p:spPr>
          <a:xfrm>
            <a:off x="4876800" y="4535424"/>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Using research tools and knowledge-base repositories</a:t>
            </a:r>
            <a:endParaRPr lang="en-US" sz="1250" dirty="0"/>
          </a:p>
        </p:txBody>
      </p:sp>
      <p:sp>
        <p:nvSpPr>
          <p:cNvPr id="40" name="Shape 27"/>
          <p:cNvSpPr/>
          <p:nvPr/>
        </p:nvSpPr>
        <p:spPr>
          <a:xfrm>
            <a:off x="8043672" y="4462272"/>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41"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208264" y="4718304"/>
            <a:ext cx="329184" cy="329184"/>
          </a:xfrm>
          <a:prstGeom prst="rect">
            <a:avLst/>
          </a:prstGeom>
        </p:spPr>
      </p:pic>
      <p:sp>
        <p:nvSpPr>
          <p:cNvPr id="42" name="Text 28"/>
          <p:cNvSpPr/>
          <p:nvPr/>
        </p:nvSpPr>
        <p:spPr>
          <a:xfrm>
            <a:off x="8647176" y="4535424"/>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Identifying &amp; communicating business opportunities</a:t>
            </a:r>
            <a:endParaRPr lang="en-US" sz="1250" dirty="0"/>
          </a:p>
        </p:txBody>
      </p:sp>
      <p:sp>
        <p:nvSpPr>
          <p:cNvPr id="43" name="Shape 29"/>
          <p:cNvSpPr/>
          <p:nvPr/>
        </p:nvSpPr>
        <p:spPr>
          <a:xfrm>
            <a:off x="502920" y="5431536"/>
            <a:ext cx="3642360" cy="841248"/>
          </a:xfrm>
          <a:prstGeom prst="roundRect">
            <a:avLst>
              <a:gd name="adj" fmla="val 978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44"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67512" y="5687568"/>
            <a:ext cx="329184" cy="329184"/>
          </a:xfrm>
          <a:prstGeom prst="rect">
            <a:avLst/>
          </a:prstGeom>
        </p:spPr>
      </p:pic>
      <p:sp>
        <p:nvSpPr>
          <p:cNvPr id="45" name="Text 30"/>
          <p:cNvSpPr/>
          <p:nvPr/>
        </p:nvSpPr>
        <p:spPr>
          <a:xfrm>
            <a:off x="1106424" y="5504688"/>
            <a:ext cx="2874264" cy="694944"/>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Installing, supporting &amp; maintaining end-user applications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PURPOSE OF THE QUALIFICATION</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Rationale</a:t>
            </a:r>
            <a:endParaRPr lang="en-US" sz="3000" dirty="0"/>
          </a:p>
        </p:txBody>
      </p:sp>
      <p:sp>
        <p:nvSpPr>
          <p:cNvPr id="7" name="Shape 5"/>
          <p:cNvSpPr/>
          <p:nvPr/>
        </p:nvSpPr>
        <p:spPr>
          <a:xfrm>
            <a:off x="502920" y="1554480"/>
            <a:ext cx="11183112" cy="1508760"/>
          </a:xfrm>
          <a:prstGeom prst="roundRect">
            <a:avLst>
              <a:gd name="adj" fmla="val 5455"/>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554480"/>
            <a:ext cx="82296" cy="1508760"/>
          </a:xfrm>
          <a:prstGeom prst="rect">
            <a:avLst/>
          </a:prstGeom>
          <a:solidFill>
            <a:srgbClr val="0F6CBD"/>
          </a:solidFill>
          <a:ln/>
        </p:spPr>
      </p:sp>
      <p:sp>
        <p:nvSpPr>
          <p:cNvPr id="9" name="Text 7"/>
          <p:cNvSpPr/>
          <p:nvPr/>
        </p:nvSpPr>
        <p:spPr>
          <a:xfrm>
            <a:off x="795528" y="1691640"/>
            <a:ext cx="10597896" cy="1234440"/>
          </a:xfrm>
          <a:prstGeom prst="rect">
            <a:avLst/>
          </a:prstGeom>
          <a:noFill/>
          <a:ln/>
        </p:spPr>
        <p:txBody>
          <a:bodyPr wrap="square" rtlCol="0" anchor="ctr"/>
          <a:lstStyle/>
          <a:p>
            <a:pPr indent="0" marL="0">
              <a:lnSpc>
                <a:spcPct val="120000"/>
              </a:lnSpc>
              <a:buNone/>
            </a:pPr>
            <a:r>
              <a:rPr lang="en-US" sz="1600" dirty="0">
                <a:solidFill>
                  <a:srgbClr val="002050"/>
                </a:solidFill>
                <a:latin typeface="Aptos" pitchFamily="34" charset="0"/>
                <a:ea typeface="Aptos" pitchFamily="34" charset="-122"/>
                <a:cs typeface="Aptos" pitchFamily="34" charset="-120"/>
              </a:rPr>
              <a:t>An increasing dissatisfaction of industry employers with the stated lack of ability of 'paper-certified' graduates seeking employment in systems support and networking precipitated a review of the competencies desired by industry.</a:t>
            </a:r>
            <a:endParaRPr lang="en-US" sz="1600" dirty="0"/>
          </a:p>
        </p:txBody>
      </p:sp>
      <p:sp>
        <p:nvSpPr>
          <p:cNvPr id="10" name="Text 8"/>
          <p:cNvSpPr/>
          <p:nvPr/>
        </p:nvSpPr>
        <p:spPr>
          <a:xfrm>
            <a:off x="502920" y="3337560"/>
            <a:ext cx="11183112" cy="1280160"/>
          </a:xfrm>
          <a:prstGeom prst="rect">
            <a:avLst/>
          </a:prstGeom>
          <a:noFill/>
          <a:ln/>
        </p:spPr>
        <p:txBody>
          <a:bodyPr wrap="square" rtlCol="0" anchor="t"/>
          <a:lstStyle/>
          <a:p>
            <a:pPr indent="0" marL="0">
              <a:lnSpc>
                <a:spcPct val="125000"/>
              </a:lnSpc>
              <a:buNone/>
            </a:pPr>
            <a:r>
              <a:rPr lang="en-US" sz="1500" dirty="0">
                <a:solidFill>
                  <a:srgbClr val="6B7280"/>
                </a:solidFill>
                <a:latin typeface="Aptos" pitchFamily="34" charset="0"/>
                <a:ea typeface="Aptos" pitchFamily="34" charset="-122"/>
                <a:cs typeface="Aptos" pitchFamily="34" charset="-120"/>
              </a:rPr>
              <a:t>Three years of research in the sector revealed the need for entry-level candidates who can apply a range of institutionally acquired skills in the workplace, in the field of systems support, in a manner that adds business value. The stated requirement is for a new set of skills and competencies, within the specific focus of networking/systems support, contextualised as appropriate for a wide range of related industry sectors.</a:t>
            </a:r>
            <a:endParaRPr lang="en-US" sz="1500" dirty="0"/>
          </a:p>
        </p:txBody>
      </p:sp>
      <p:sp>
        <p:nvSpPr>
          <p:cNvPr id="11" name="Shape 9"/>
          <p:cNvSpPr/>
          <p:nvPr/>
        </p:nvSpPr>
        <p:spPr>
          <a:xfrm>
            <a:off x="502920" y="4892040"/>
            <a:ext cx="11183112" cy="777240"/>
          </a:xfrm>
          <a:prstGeom prst="roundRect">
            <a:avLst>
              <a:gd name="adj" fmla="val 10588"/>
            </a:avLst>
          </a:prstGeom>
          <a:solidFill>
            <a:srgbClr val="F8FAFC"/>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5120640"/>
            <a:ext cx="310896" cy="310896"/>
          </a:xfrm>
          <a:prstGeom prst="rect">
            <a:avLst/>
          </a:prstGeom>
        </p:spPr>
      </p:pic>
      <p:sp>
        <p:nvSpPr>
          <p:cNvPr id="13" name="Text 10"/>
          <p:cNvSpPr/>
          <p:nvPr/>
        </p:nvSpPr>
        <p:spPr>
          <a:xfrm>
            <a:off x="1124712" y="4892040"/>
            <a:ext cx="10314432" cy="777240"/>
          </a:xfrm>
          <a:prstGeom prst="rect">
            <a:avLst/>
          </a:prstGeom>
          <a:noFill/>
          <a:ln/>
        </p:spPr>
        <p:txBody>
          <a:bodyPr wrap="square" rtlCol="0" anchor="ctr"/>
          <a:lstStyle/>
          <a:p>
            <a:pPr indent="0" marL="0">
              <a:buNone/>
            </a:pPr>
            <a:r>
              <a:rPr lang="en-US" sz="1400" b="1" dirty="0">
                <a:solidFill>
                  <a:srgbClr val="002050"/>
                </a:solidFill>
                <a:latin typeface="Aptos" pitchFamily="34" charset="0"/>
                <a:ea typeface="Aptos" pitchFamily="34" charset="-122"/>
                <a:cs typeface="Aptos" pitchFamily="34" charset="-120"/>
              </a:rPr>
              <a:t>The answer: skills applied in the workplace, in a manner that adds business value — exactly what this learnership delivers.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PURPOSE OF THE QUALIFICATION</a:t>
            </a:r>
            <a:endParaRPr lang="en-US" sz="1300" dirty="0"/>
          </a:p>
        </p:txBody>
      </p:sp>
      <p:sp>
        <p:nvSpPr>
          <p:cNvPr id="6" name="Text 4"/>
          <p:cNvSpPr/>
          <p:nvPr/>
        </p:nvSpPr>
        <p:spPr>
          <a:xfrm>
            <a:off x="502920" y="566928"/>
            <a:ext cx="11183112" cy="548640"/>
          </a:xfrm>
          <a:prstGeom prst="rect">
            <a:avLst/>
          </a:prstGeom>
          <a:noFill/>
          <a:ln/>
        </p:spPr>
        <p:txBody>
          <a:bodyPr wrap="square" rtlCol="0" anchor="ctr"/>
          <a:lstStyle/>
          <a:p>
            <a:pPr indent="0" marL="0">
              <a:buNone/>
            </a:pPr>
            <a:r>
              <a:rPr lang="en-US" sz="2300" b="1" dirty="0">
                <a:solidFill>
                  <a:srgbClr val="002050"/>
                </a:solidFill>
                <a:latin typeface="Aptos Display" pitchFamily="34" charset="0"/>
                <a:ea typeface="Aptos Display" pitchFamily="34" charset="-122"/>
                <a:cs typeface="Aptos Display" pitchFamily="34" charset="-120"/>
              </a:rPr>
              <a:t>Is this qualification worth pursuing — and for how long will it remain industry-relevant?</a:t>
            </a:r>
            <a:endParaRPr lang="en-US" sz="2300" dirty="0"/>
          </a:p>
        </p:txBody>
      </p:sp>
      <p:sp>
        <p:nvSpPr>
          <p:cNvPr id="7" name="Text 5"/>
          <p:cNvSpPr/>
          <p:nvPr/>
        </p:nvSpPr>
        <p:spPr>
          <a:xfrm>
            <a:off x="502920" y="1234440"/>
            <a:ext cx="11183112" cy="822960"/>
          </a:xfrm>
          <a:prstGeom prst="rect">
            <a:avLst/>
          </a:prstGeom>
          <a:noFill/>
          <a:ln/>
        </p:spPr>
        <p:txBody>
          <a:bodyPr wrap="square" rtlCol="0" anchor="t"/>
          <a:lstStyle/>
          <a:p>
            <a:pPr indent="0" marL="0">
              <a:lnSpc>
                <a:spcPct val="115000"/>
              </a:lnSpc>
              <a:buNone/>
            </a:pPr>
            <a:r>
              <a:rPr lang="en-US" sz="1600" dirty="0">
                <a:solidFill>
                  <a:srgbClr val="6B7280"/>
                </a:solidFill>
                <a:latin typeface="Aptos" pitchFamily="34" charset="0"/>
                <a:ea typeface="Aptos" pitchFamily="34" charset="-122"/>
                <a:cs typeface="Aptos" pitchFamily="34" charset="-120"/>
              </a:rPr>
              <a:t>Yes. The qualification is registered on the NQF and, once achieved, your certificate never lapses — it is a lifetime asset. The competencies it builds (troubleshooting, networking, server administration, security, databases) map directly onto the IT support roles industry hires for today.</a:t>
            </a:r>
            <a:endParaRPr lang="en-US" sz="1600" dirty="0"/>
          </a:p>
        </p:txBody>
      </p:sp>
      <p:sp>
        <p:nvSpPr>
          <p:cNvPr id="8" name="Shape 6"/>
          <p:cNvSpPr/>
          <p:nvPr/>
        </p:nvSpPr>
        <p:spPr>
          <a:xfrm>
            <a:off x="502920" y="2286000"/>
            <a:ext cx="5490972" cy="1600200"/>
          </a:xfrm>
          <a:prstGeom prst="roundRect">
            <a:avLst>
              <a:gd name="adj" fmla="val 514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2376" y="2487168"/>
            <a:ext cx="402336" cy="402336"/>
          </a:xfrm>
          <a:prstGeom prst="rect">
            <a:avLst/>
          </a:prstGeom>
        </p:spPr>
      </p:pic>
      <p:sp>
        <p:nvSpPr>
          <p:cNvPr id="10" name="Text 7"/>
          <p:cNvSpPr/>
          <p:nvPr/>
        </p:nvSpPr>
        <p:spPr>
          <a:xfrm>
            <a:off x="1271016" y="2468880"/>
            <a:ext cx="4521708" cy="274320"/>
          </a:xfrm>
          <a:prstGeom prst="rect">
            <a:avLst/>
          </a:prstGeom>
          <a:noFill/>
          <a:ln/>
        </p:spPr>
        <p:txBody>
          <a:bodyPr wrap="square" rtlCol="0" anchor="ctr"/>
          <a:lstStyle/>
          <a:p>
            <a:pPr indent="0" marL="0">
              <a:buNone/>
            </a:pPr>
            <a:r>
              <a:rPr lang="en-US" sz="1150" b="1" spc="150" kern="0" dirty="0">
                <a:solidFill>
                  <a:srgbClr val="6B7280"/>
                </a:solidFill>
                <a:latin typeface="Aptos" pitchFamily="34" charset="0"/>
                <a:ea typeface="Aptos" pitchFamily="34" charset="-122"/>
                <a:cs typeface="Aptos" pitchFamily="34" charset="-120"/>
              </a:rPr>
              <a:t>LAST DATE FOR ENROLMENT</a:t>
            </a:r>
            <a:endParaRPr lang="en-US" sz="1150" dirty="0"/>
          </a:p>
        </p:txBody>
      </p:sp>
      <p:sp>
        <p:nvSpPr>
          <p:cNvPr id="11" name="Text 8"/>
          <p:cNvSpPr/>
          <p:nvPr/>
        </p:nvSpPr>
        <p:spPr>
          <a:xfrm>
            <a:off x="1271016" y="2743200"/>
            <a:ext cx="4521708" cy="457200"/>
          </a:xfrm>
          <a:prstGeom prst="rect">
            <a:avLst/>
          </a:prstGeom>
          <a:noFill/>
          <a:ln/>
        </p:spPr>
        <p:txBody>
          <a:bodyPr wrap="square" rtlCol="0" anchor="ctr"/>
          <a:lstStyle/>
          <a:p>
            <a:pPr indent="0" marL="0">
              <a:buNone/>
            </a:pPr>
            <a:r>
              <a:rPr lang="en-US" sz="2400" b="1" dirty="0">
                <a:solidFill>
                  <a:srgbClr val="0F6CBD"/>
                </a:solidFill>
                <a:latin typeface="Aptos Display" pitchFamily="34" charset="0"/>
                <a:ea typeface="Aptos Display" pitchFamily="34" charset="-122"/>
                <a:cs typeface="Aptos Display" pitchFamily="34" charset="-120"/>
              </a:rPr>
              <a:t>30 Dec 2026</a:t>
            </a:r>
            <a:endParaRPr lang="en-US" sz="2400" dirty="0"/>
          </a:p>
        </p:txBody>
      </p:sp>
      <p:sp>
        <p:nvSpPr>
          <p:cNvPr id="12" name="Text 9"/>
          <p:cNvSpPr/>
          <p:nvPr/>
        </p:nvSpPr>
        <p:spPr>
          <a:xfrm>
            <a:off x="722376" y="3246120"/>
            <a:ext cx="5052060" cy="56692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New learners must be registered on the qualification by this date — this intake is inside the window.</a:t>
            </a:r>
            <a:endParaRPr lang="en-US" sz="1200" dirty="0"/>
          </a:p>
        </p:txBody>
      </p:sp>
      <p:sp>
        <p:nvSpPr>
          <p:cNvPr id="13" name="Shape 10"/>
          <p:cNvSpPr/>
          <p:nvPr/>
        </p:nvSpPr>
        <p:spPr>
          <a:xfrm>
            <a:off x="6195060" y="2286000"/>
            <a:ext cx="5490972" cy="1600200"/>
          </a:xfrm>
          <a:prstGeom prst="roundRect">
            <a:avLst>
              <a:gd name="adj" fmla="val 514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4516" y="2487168"/>
            <a:ext cx="402336" cy="402336"/>
          </a:xfrm>
          <a:prstGeom prst="rect">
            <a:avLst/>
          </a:prstGeom>
        </p:spPr>
      </p:pic>
      <p:sp>
        <p:nvSpPr>
          <p:cNvPr id="15" name="Text 11"/>
          <p:cNvSpPr/>
          <p:nvPr/>
        </p:nvSpPr>
        <p:spPr>
          <a:xfrm>
            <a:off x="6963156" y="2468880"/>
            <a:ext cx="4521708" cy="274320"/>
          </a:xfrm>
          <a:prstGeom prst="rect">
            <a:avLst/>
          </a:prstGeom>
          <a:noFill/>
          <a:ln/>
        </p:spPr>
        <p:txBody>
          <a:bodyPr wrap="square" rtlCol="0" anchor="ctr"/>
          <a:lstStyle/>
          <a:p>
            <a:pPr indent="0" marL="0">
              <a:buNone/>
            </a:pPr>
            <a:r>
              <a:rPr lang="en-US" sz="1150" b="1" spc="150" kern="0" dirty="0">
                <a:solidFill>
                  <a:srgbClr val="6B7280"/>
                </a:solidFill>
                <a:latin typeface="Aptos" pitchFamily="34" charset="0"/>
                <a:ea typeface="Aptos" pitchFamily="34" charset="-122"/>
                <a:cs typeface="Aptos" pitchFamily="34" charset="-120"/>
              </a:rPr>
              <a:t>LAST DATE FOR ACHIEVEMENT</a:t>
            </a:r>
            <a:endParaRPr lang="en-US" sz="1150" dirty="0"/>
          </a:p>
        </p:txBody>
      </p:sp>
      <p:sp>
        <p:nvSpPr>
          <p:cNvPr id="16" name="Text 12"/>
          <p:cNvSpPr/>
          <p:nvPr/>
        </p:nvSpPr>
        <p:spPr>
          <a:xfrm>
            <a:off x="6963156" y="2743200"/>
            <a:ext cx="4521708" cy="457200"/>
          </a:xfrm>
          <a:prstGeom prst="rect">
            <a:avLst/>
          </a:prstGeom>
          <a:noFill/>
          <a:ln/>
        </p:spPr>
        <p:txBody>
          <a:bodyPr wrap="square" rtlCol="0" anchor="ctr"/>
          <a:lstStyle/>
          <a:p>
            <a:pPr indent="0" marL="0">
              <a:buNone/>
            </a:pPr>
            <a:r>
              <a:rPr lang="en-US" sz="2400" b="1" dirty="0">
                <a:solidFill>
                  <a:srgbClr val="0F6CBD"/>
                </a:solidFill>
                <a:latin typeface="Aptos Display" pitchFamily="34" charset="0"/>
                <a:ea typeface="Aptos Display" pitchFamily="34" charset="-122"/>
                <a:cs typeface="Aptos Display" pitchFamily="34" charset="-120"/>
              </a:rPr>
              <a:t>30 Dec 2029</a:t>
            </a:r>
            <a:endParaRPr lang="en-US" sz="2400" dirty="0"/>
          </a:p>
        </p:txBody>
      </p:sp>
      <p:sp>
        <p:nvSpPr>
          <p:cNvPr id="17" name="Text 13"/>
          <p:cNvSpPr/>
          <p:nvPr/>
        </p:nvSpPr>
        <p:spPr>
          <a:xfrm>
            <a:off x="6414516" y="3246120"/>
            <a:ext cx="5052060" cy="56692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All assessment and certification must be completed by this date — this programme certificates in July 2027, well within it.</a:t>
            </a:r>
            <a:endParaRPr lang="en-US" sz="1200" dirty="0"/>
          </a:p>
        </p:txBody>
      </p:sp>
      <p:sp>
        <p:nvSpPr>
          <p:cNvPr id="18" name="Shape 14"/>
          <p:cNvSpPr/>
          <p:nvPr/>
        </p:nvSpPr>
        <p:spPr>
          <a:xfrm>
            <a:off x="502920" y="411480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7512" y="4430268"/>
            <a:ext cx="329184" cy="329184"/>
          </a:xfrm>
          <a:prstGeom prst="rect">
            <a:avLst/>
          </a:prstGeom>
        </p:spPr>
      </p:pic>
      <p:sp>
        <p:nvSpPr>
          <p:cNvPr id="20" name="Text 15"/>
          <p:cNvSpPr/>
          <p:nvPr/>
        </p:nvSpPr>
        <p:spPr>
          <a:xfrm>
            <a:off x="1106424" y="418795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Your certificate never expires — achieved credits are a lifetime asset on the NQF</a:t>
            </a:r>
            <a:endParaRPr lang="en-US" sz="1250" dirty="0"/>
          </a:p>
        </p:txBody>
      </p:sp>
      <p:sp>
        <p:nvSpPr>
          <p:cNvPr id="21" name="Shape 16"/>
          <p:cNvSpPr/>
          <p:nvPr/>
        </p:nvSpPr>
        <p:spPr>
          <a:xfrm>
            <a:off x="4291584" y="411480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56176" y="4430268"/>
            <a:ext cx="329184" cy="329184"/>
          </a:xfrm>
          <a:prstGeom prst="rect">
            <a:avLst/>
          </a:prstGeom>
        </p:spPr>
      </p:pic>
      <p:sp>
        <p:nvSpPr>
          <p:cNvPr id="23" name="Text 17"/>
          <p:cNvSpPr/>
          <p:nvPr/>
        </p:nvSpPr>
        <p:spPr>
          <a:xfrm>
            <a:off x="4895088" y="418795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Credits are recognised for RPL and articulation into newer QCTO occupational qualifications</a:t>
            </a:r>
            <a:endParaRPr lang="en-US" sz="1250" dirty="0"/>
          </a:p>
        </p:txBody>
      </p:sp>
      <p:sp>
        <p:nvSpPr>
          <p:cNvPr id="24" name="Shape 18"/>
          <p:cNvSpPr/>
          <p:nvPr/>
        </p:nvSpPr>
        <p:spPr>
          <a:xfrm>
            <a:off x="8080248" y="411480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44840" y="4430268"/>
            <a:ext cx="329184" cy="329184"/>
          </a:xfrm>
          <a:prstGeom prst="rect">
            <a:avLst/>
          </a:prstGeom>
        </p:spPr>
      </p:pic>
      <p:sp>
        <p:nvSpPr>
          <p:cNvPr id="26" name="Text 19"/>
          <p:cNvSpPr/>
          <p:nvPr/>
        </p:nvSpPr>
        <p:spPr>
          <a:xfrm>
            <a:off x="8683752" y="418795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The skills — support, networks, servers, security, SQL — remain the core of IT support work</a:t>
            </a:r>
            <a:endParaRPr lang="en-US" sz="1250" dirty="0"/>
          </a:p>
        </p:txBody>
      </p:sp>
      <p:sp>
        <p:nvSpPr>
          <p:cNvPr id="27" name="Shape 20"/>
          <p:cNvSpPr/>
          <p:nvPr/>
        </p:nvSpPr>
        <p:spPr>
          <a:xfrm>
            <a:off x="502920" y="5349240"/>
            <a:ext cx="11183112" cy="731520"/>
          </a:xfrm>
          <a:prstGeom prst="roundRect">
            <a:avLst>
              <a:gd name="adj" fmla="val 1125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4088" y="5559552"/>
            <a:ext cx="310896" cy="310896"/>
          </a:xfrm>
          <a:prstGeom prst="rect">
            <a:avLst/>
          </a:prstGeom>
        </p:spPr>
      </p:pic>
      <p:sp>
        <p:nvSpPr>
          <p:cNvPr id="29" name="Text 21"/>
          <p:cNvSpPr/>
          <p:nvPr/>
        </p:nvSpPr>
        <p:spPr>
          <a:xfrm>
            <a:off x="1124712" y="5349240"/>
            <a:ext cx="10314432" cy="731520"/>
          </a:xfrm>
          <a:prstGeom prst="rect">
            <a:avLst/>
          </a:prstGeom>
          <a:noFill/>
          <a:ln/>
        </p:spPr>
        <p:txBody>
          <a:bodyPr wrap="square" rtlCol="0" anchor="ctr"/>
          <a:lstStyle/>
          <a:p>
            <a:pPr indent="0" marL="0">
              <a:buNone/>
            </a:pPr>
            <a:r>
              <a:rPr lang="en-US" sz="1400" b="1" dirty="0">
                <a:solidFill>
                  <a:srgbClr val="002050"/>
                </a:solidFill>
                <a:latin typeface="Aptos" pitchFamily="34" charset="0"/>
                <a:ea typeface="Aptos" pitchFamily="34" charset="-122"/>
                <a:cs typeface="Aptos" pitchFamily="34" charset="-120"/>
              </a:rPr>
              <a:t>Bottom line: </a:t>
            </a:r>
            <a:pPr indent="0" marL="0">
              <a:buNone/>
            </a:pPr>
            <a:r>
              <a:rPr lang="en-US" sz="1400" dirty="0">
                <a:solidFill>
                  <a:srgbClr val="002050"/>
                </a:solidFill>
                <a:latin typeface="Aptos" pitchFamily="34" charset="0"/>
                <a:ea typeface="Aptos" pitchFamily="34" charset="-122"/>
                <a:cs typeface="Aptos" pitchFamily="34" charset="-120"/>
              </a:rPr>
              <a:t>enrol within the window, certificate by July 2027, and the qualification — and the experience gained in the workplace — stays with you for life.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D13438"/>
                </a:solidFill>
                <a:latin typeface="Aptos" pitchFamily="34" charset="0"/>
                <a:ea typeface="Aptos" pitchFamily="34" charset="-122"/>
                <a:cs typeface="Aptos" pitchFamily="34" charset="-120"/>
              </a:rPr>
              <a:t>ACCREDITATION</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621792"/>
            <a:ext cx="475488" cy="475488"/>
          </a:xfrm>
          <a:prstGeom prst="rect">
            <a:avLst/>
          </a:prstGeom>
        </p:spPr>
      </p:pic>
      <p:sp>
        <p:nvSpPr>
          <p:cNvPr id="7" name="Text 4"/>
          <p:cNvSpPr/>
          <p:nvPr/>
        </p:nvSpPr>
        <p:spPr>
          <a:xfrm>
            <a:off x="1124712" y="566928"/>
            <a:ext cx="10561320" cy="731520"/>
          </a:xfrm>
          <a:prstGeom prst="rect">
            <a:avLst/>
          </a:prstGeom>
          <a:noFill/>
          <a:ln/>
        </p:spPr>
        <p:txBody>
          <a:bodyPr wrap="square" rtlCol="0" anchor="ctr"/>
          <a:lstStyle/>
          <a:p>
            <a:pPr indent="0" marL="0">
              <a:buNone/>
            </a:pPr>
            <a:r>
              <a:rPr lang="en-US" sz="3000" b="1" dirty="0">
                <a:solidFill>
                  <a:srgbClr val="D13438"/>
                </a:solidFill>
                <a:latin typeface="Aptos Display" pitchFamily="34" charset="0"/>
                <a:ea typeface="Aptos Display" pitchFamily="34" charset="-122"/>
                <a:cs typeface="Aptos Display" pitchFamily="34" charset="-120"/>
              </a:rPr>
              <a:t>Important Accreditation Note!</a:t>
            </a:r>
            <a:endParaRPr lang="en-US" sz="3000" dirty="0"/>
          </a:p>
        </p:txBody>
      </p:sp>
      <p:sp>
        <p:nvSpPr>
          <p:cNvPr id="8" name="Shape 5"/>
          <p:cNvSpPr/>
          <p:nvPr/>
        </p:nvSpPr>
        <p:spPr>
          <a:xfrm>
            <a:off x="502920" y="1600200"/>
            <a:ext cx="11183112" cy="1600200"/>
          </a:xfrm>
          <a:prstGeom prst="roundRect">
            <a:avLst>
              <a:gd name="adj" fmla="val 5143"/>
            </a:avLst>
          </a:prstGeom>
          <a:solidFill>
            <a:srgbClr val="FDF3F4"/>
          </a:solidFill>
          <a:ln w="12700">
            <a:solidFill>
              <a:srgbClr val="E8B3B5"/>
            </a:solidFill>
            <a:prstDash val="solid"/>
          </a:ln>
          <a:effectLst>
            <a:outerShdw sx="100000" sy="100000" kx="0" ky="0" algn="bl" rotWithShape="0" blurRad="88900" dist="25400" dir="5400000">
              <a:srgbClr val="9AB4CC">
                <a:alpha val="30000"/>
              </a:srgbClr>
            </a:outerShdw>
          </a:effectLst>
        </p:spPr>
      </p:sp>
      <p:sp>
        <p:nvSpPr>
          <p:cNvPr id="9" name="Shape 6"/>
          <p:cNvSpPr/>
          <p:nvPr/>
        </p:nvSpPr>
        <p:spPr>
          <a:xfrm>
            <a:off x="502920" y="1600200"/>
            <a:ext cx="82296" cy="1600200"/>
          </a:xfrm>
          <a:prstGeom prst="rect">
            <a:avLst/>
          </a:prstGeom>
          <a:solidFill>
            <a:srgbClr val="D13438"/>
          </a:solidFill>
          <a:ln/>
        </p:spPr>
      </p:sp>
      <p:sp>
        <p:nvSpPr>
          <p:cNvPr id="10" name="Text 7"/>
          <p:cNvSpPr/>
          <p:nvPr/>
        </p:nvSpPr>
        <p:spPr>
          <a:xfrm>
            <a:off x="822960" y="1737360"/>
            <a:ext cx="10543032" cy="1325880"/>
          </a:xfrm>
          <a:prstGeom prst="rect">
            <a:avLst/>
          </a:prstGeom>
          <a:noFill/>
          <a:ln/>
        </p:spPr>
        <p:txBody>
          <a:bodyPr wrap="square" rtlCol="0" anchor="ctr"/>
          <a:lstStyle/>
          <a:p>
            <a:pPr indent="0" marL="0">
              <a:lnSpc>
                <a:spcPct val="125000"/>
              </a:lnSpc>
              <a:buNone/>
            </a:pPr>
            <a:r>
              <a:rPr lang="en-US" sz="1600" dirty="0">
                <a:solidFill>
                  <a:srgbClr val="002050"/>
                </a:solidFill>
                <a:latin typeface="Aptos" pitchFamily="34" charset="0"/>
                <a:ea typeface="Aptos" pitchFamily="34" charset="-122"/>
                <a:cs typeface="Aptos" pitchFamily="34" charset="-120"/>
              </a:rPr>
              <a:t>While this remains a highly requested MICT SETA IT Learnership program for entry-level tech roles, its final quality assurance, assessment oversight, and certification are </a:t>
            </a:r>
            <a:pPr indent="0" marL="0">
              <a:lnSpc>
                <a:spcPct val="125000"/>
              </a:lnSpc>
              <a:buNone/>
            </a:pPr>
            <a:r>
              <a:rPr lang="en-US" sz="1600" i="1" dirty="0">
                <a:solidFill>
                  <a:srgbClr val="0F6CBD"/>
                </a:solidFill>
                <a:latin typeface="Aptos" pitchFamily="34" charset="0"/>
                <a:ea typeface="Aptos" pitchFamily="34" charset="-122"/>
                <a:cs typeface="Aptos" pitchFamily="34" charset="-120"/>
              </a:rPr>
              <a:t>transitioning</a:t>
            </a:r>
            <a:pPr indent="0" marL="0">
              <a:lnSpc>
                <a:spcPct val="125000"/>
              </a:lnSpc>
              <a:buNone/>
            </a:pPr>
            <a:r>
              <a:rPr lang="en-US" sz="1600" dirty="0">
                <a:solidFill>
                  <a:srgbClr val="002050"/>
                </a:solidFill>
                <a:latin typeface="Aptos" pitchFamily="34" charset="0"/>
                <a:ea typeface="Aptos" pitchFamily="34" charset="-122"/>
                <a:cs typeface="Aptos" pitchFamily="34" charset="-120"/>
              </a:rPr>
              <a:t> to the </a:t>
            </a:r>
            <a:pPr indent="0" marL="0">
              <a:lnSpc>
                <a:spcPct val="125000"/>
              </a:lnSpc>
              <a:buNone/>
            </a:pPr>
            <a:r>
              <a:rPr lang="en-US" sz="1600" b="1" dirty="0">
                <a:solidFill>
                  <a:srgbClr val="0F6CBD"/>
                </a:solidFill>
                <a:latin typeface="Aptos" pitchFamily="34" charset="0"/>
                <a:ea typeface="Aptos" pitchFamily="34" charset="-122"/>
                <a:cs typeface="Aptos" pitchFamily="34" charset="-120"/>
              </a:rPr>
              <a:t>QCTO</a:t>
            </a:r>
            <a:pPr indent="0" marL="0">
              <a:lnSpc>
                <a:spcPct val="125000"/>
              </a:lnSpc>
              <a:buNone/>
            </a:pPr>
            <a:r>
              <a:rPr lang="en-US" sz="1600" dirty="0">
                <a:solidFill>
                  <a:srgbClr val="002050"/>
                </a:solidFill>
                <a:latin typeface="Aptos" pitchFamily="34" charset="0"/>
                <a:ea typeface="Aptos" pitchFamily="34" charset="-122"/>
                <a:cs typeface="Aptos" pitchFamily="34" charset="-120"/>
              </a:rPr>
              <a:t> (Quality Council for Trades and Occupations) under the modern occupational qualification's framework.</a:t>
            </a:r>
            <a:endParaRPr lang="en-US" sz="1600" dirty="0"/>
          </a:p>
        </p:txBody>
      </p:sp>
      <p:sp>
        <p:nvSpPr>
          <p:cNvPr id="11" name="Shape 8"/>
          <p:cNvSpPr/>
          <p:nvPr/>
        </p:nvSpPr>
        <p:spPr>
          <a:xfrm>
            <a:off x="502920" y="3520440"/>
            <a:ext cx="5490972" cy="1463040"/>
          </a:xfrm>
          <a:prstGeom prst="roundRect">
            <a:avLst>
              <a:gd name="adj" fmla="val 562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2376" y="3730752"/>
            <a:ext cx="402336" cy="402336"/>
          </a:xfrm>
          <a:prstGeom prst="rect">
            <a:avLst/>
          </a:prstGeom>
        </p:spPr>
      </p:pic>
      <p:sp>
        <p:nvSpPr>
          <p:cNvPr id="13" name="Text 9"/>
          <p:cNvSpPr/>
          <p:nvPr/>
        </p:nvSpPr>
        <p:spPr>
          <a:xfrm>
            <a:off x="1271016" y="3703320"/>
            <a:ext cx="4521708" cy="320040"/>
          </a:xfrm>
          <a:prstGeom prst="rect">
            <a:avLst/>
          </a:prstGeom>
          <a:noFill/>
          <a:ln/>
        </p:spPr>
        <p:txBody>
          <a:bodyPr wrap="square" rtlCol="0" anchor="ctr"/>
          <a:lstStyle/>
          <a:p>
            <a:pPr indent="0" marL="0">
              <a:buNone/>
            </a:pPr>
            <a:r>
              <a:rPr lang="en-US" sz="1400" b="1" spc="100" kern="0" dirty="0">
                <a:solidFill>
                  <a:srgbClr val="6BA02B"/>
                </a:solidFill>
                <a:latin typeface="Aptos Display" pitchFamily="34" charset="0"/>
                <a:ea typeface="Aptos Display" pitchFamily="34" charset="-122"/>
                <a:cs typeface="Aptos Display" pitchFamily="34" charset="-120"/>
              </a:rPr>
              <a:t>LAST DATE FOR ENROLMENT</a:t>
            </a:r>
            <a:endParaRPr lang="en-US" sz="1400" dirty="0"/>
          </a:p>
        </p:txBody>
      </p:sp>
      <p:sp>
        <p:nvSpPr>
          <p:cNvPr id="14" name="Text 10"/>
          <p:cNvSpPr/>
          <p:nvPr/>
        </p:nvSpPr>
        <p:spPr>
          <a:xfrm>
            <a:off x="1271016" y="4069080"/>
            <a:ext cx="4521708" cy="548640"/>
          </a:xfrm>
          <a:prstGeom prst="rect">
            <a:avLst/>
          </a:prstGeom>
          <a:noFill/>
          <a:ln/>
        </p:spPr>
        <p:txBody>
          <a:bodyPr wrap="square" rtlCol="0" anchor="ctr"/>
          <a:lstStyle/>
          <a:p>
            <a:pPr indent="0" marL="0">
              <a:buNone/>
            </a:pPr>
            <a:r>
              <a:rPr lang="en-US" sz="2600" b="1" dirty="0">
                <a:solidFill>
                  <a:srgbClr val="6BA02B"/>
                </a:solidFill>
                <a:latin typeface="Aptos Display" pitchFamily="34" charset="0"/>
                <a:ea typeface="Aptos Display" pitchFamily="34" charset="-122"/>
                <a:cs typeface="Aptos Display" pitchFamily="34" charset="-120"/>
              </a:rPr>
              <a:t>2026-12-30</a:t>
            </a:r>
            <a:endParaRPr lang="en-US" sz="2600" dirty="0"/>
          </a:p>
        </p:txBody>
      </p:sp>
      <p:sp>
        <p:nvSpPr>
          <p:cNvPr id="15" name="Shape 11"/>
          <p:cNvSpPr/>
          <p:nvPr/>
        </p:nvSpPr>
        <p:spPr>
          <a:xfrm>
            <a:off x="6195060" y="3520440"/>
            <a:ext cx="5490972" cy="1463040"/>
          </a:xfrm>
          <a:prstGeom prst="roundRect">
            <a:avLst>
              <a:gd name="adj" fmla="val 562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14516" y="3730752"/>
            <a:ext cx="402336" cy="402336"/>
          </a:xfrm>
          <a:prstGeom prst="rect">
            <a:avLst/>
          </a:prstGeom>
        </p:spPr>
      </p:pic>
      <p:sp>
        <p:nvSpPr>
          <p:cNvPr id="17" name="Text 12"/>
          <p:cNvSpPr/>
          <p:nvPr/>
        </p:nvSpPr>
        <p:spPr>
          <a:xfrm>
            <a:off x="6963156" y="3703320"/>
            <a:ext cx="4521708" cy="320040"/>
          </a:xfrm>
          <a:prstGeom prst="rect">
            <a:avLst/>
          </a:prstGeom>
          <a:noFill/>
          <a:ln/>
        </p:spPr>
        <p:txBody>
          <a:bodyPr wrap="square" rtlCol="0" anchor="ctr"/>
          <a:lstStyle/>
          <a:p>
            <a:pPr indent="0" marL="0">
              <a:buNone/>
            </a:pPr>
            <a:r>
              <a:rPr lang="en-US" sz="1400" b="1" spc="100" kern="0" dirty="0">
                <a:solidFill>
                  <a:srgbClr val="D13438"/>
                </a:solidFill>
                <a:latin typeface="Aptos Display" pitchFamily="34" charset="0"/>
                <a:ea typeface="Aptos Display" pitchFamily="34" charset="-122"/>
                <a:cs typeface="Aptos Display" pitchFamily="34" charset="-120"/>
              </a:rPr>
              <a:t>LAST DATE FOR ACHIEVEMENT</a:t>
            </a:r>
            <a:endParaRPr lang="en-US" sz="1400" dirty="0"/>
          </a:p>
        </p:txBody>
      </p:sp>
      <p:sp>
        <p:nvSpPr>
          <p:cNvPr id="18" name="Text 13"/>
          <p:cNvSpPr/>
          <p:nvPr/>
        </p:nvSpPr>
        <p:spPr>
          <a:xfrm>
            <a:off x="6963156" y="4069080"/>
            <a:ext cx="4521708" cy="548640"/>
          </a:xfrm>
          <a:prstGeom prst="rect">
            <a:avLst/>
          </a:prstGeom>
          <a:noFill/>
          <a:ln/>
        </p:spPr>
        <p:txBody>
          <a:bodyPr wrap="square" rtlCol="0" anchor="ctr"/>
          <a:lstStyle/>
          <a:p>
            <a:pPr indent="0" marL="0">
              <a:buNone/>
            </a:pPr>
            <a:r>
              <a:rPr lang="en-US" sz="2600" b="1" dirty="0">
                <a:solidFill>
                  <a:srgbClr val="D13438"/>
                </a:solidFill>
                <a:latin typeface="Aptos Display" pitchFamily="34" charset="0"/>
                <a:ea typeface="Aptos Display" pitchFamily="34" charset="-122"/>
                <a:cs typeface="Aptos Display" pitchFamily="34" charset="-120"/>
              </a:rPr>
              <a:t>2029-12-30</a:t>
            </a:r>
            <a:endParaRPr lang="en-US" sz="2600" dirty="0"/>
          </a:p>
        </p:txBody>
      </p:sp>
      <p:sp>
        <p:nvSpPr>
          <p:cNvPr id="19" name="Shape 14"/>
          <p:cNvSpPr/>
          <p:nvPr/>
        </p:nvSpPr>
        <p:spPr>
          <a:xfrm>
            <a:off x="502920" y="5257800"/>
            <a:ext cx="11183112" cy="777240"/>
          </a:xfrm>
          <a:prstGeom prst="roundRect">
            <a:avLst>
              <a:gd name="adj" fmla="val 10588"/>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486400"/>
            <a:ext cx="310896" cy="310896"/>
          </a:xfrm>
          <a:prstGeom prst="rect">
            <a:avLst/>
          </a:prstGeom>
        </p:spPr>
      </p:pic>
      <p:sp>
        <p:nvSpPr>
          <p:cNvPr id="21" name="Text 15"/>
          <p:cNvSpPr/>
          <p:nvPr/>
        </p:nvSpPr>
        <p:spPr>
          <a:xfrm>
            <a:off x="1124712" y="5257800"/>
            <a:ext cx="10314432" cy="777240"/>
          </a:xfrm>
          <a:prstGeom prst="rect">
            <a:avLst/>
          </a:prstGeom>
          <a:noFill/>
          <a:ln/>
        </p:spPr>
        <p:txBody>
          <a:bodyPr wrap="square" rtlCol="0" anchor="ctr"/>
          <a:lstStyle/>
          <a:p>
            <a:pPr indent="0" marL="0">
              <a:buNone/>
            </a:pPr>
            <a:r>
              <a:rPr lang="en-US" sz="1400" b="1" dirty="0">
                <a:solidFill>
                  <a:srgbClr val="002050"/>
                </a:solidFill>
                <a:latin typeface="Aptos" pitchFamily="34" charset="0"/>
                <a:ea typeface="Aptos" pitchFamily="34" charset="-122"/>
                <a:cs typeface="Aptos" pitchFamily="34" charset="-120"/>
              </a:rPr>
              <a:t>This intake is safely inside both windows: </a:t>
            </a:r>
            <a:pPr indent="0" marL="0">
              <a:buNone/>
            </a:pPr>
            <a:r>
              <a:rPr lang="en-US" sz="1400" dirty="0">
                <a:solidFill>
                  <a:srgbClr val="002050"/>
                </a:solidFill>
                <a:latin typeface="Aptos" pitchFamily="34" charset="0"/>
                <a:ea typeface="Aptos" pitchFamily="34" charset="-122"/>
                <a:cs typeface="Aptos" pitchFamily="34" charset="-120"/>
              </a:rPr>
              <a:t>enrolment July 2026, certification July 2027 — well before the last date for achievement.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QUALITY ASSURANCE</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MICT SETA</a:t>
            </a:r>
            <a:endParaRPr lang="en-US" sz="3000" dirty="0"/>
          </a:p>
        </p:txBody>
      </p:sp>
      <p:sp>
        <p:nvSpPr>
          <p:cNvPr id="7" name="Text 5"/>
          <p:cNvSpPr/>
          <p:nvPr/>
        </p:nvSpPr>
        <p:spPr>
          <a:xfrm>
            <a:off x="502920" y="1298448"/>
            <a:ext cx="11183112" cy="548640"/>
          </a:xfrm>
          <a:prstGeom prst="rect">
            <a:avLst/>
          </a:prstGeom>
          <a:noFill/>
          <a:ln/>
        </p:spPr>
        <p:txBody>
          <a:bodyPr wrap="square" rtlCol="0" anchor="t"/>
          <a:lstStyle/>
          <a:p>
            <a:pPr indent="0" marL="0">
              <a:lnSpc>
                <a:spcPct val="115000"/>
              </a:lnSpc>
              <a:buNone/>
            </a:pPr>
            <a:r>
              <a:rPr lang="en-US" sz="1600" dirty="0">
                <a:solidFill>
                  <a:srgbClr val="6B7280"/>
                </a:solidFill>
                <a:latin typeface="Aptos" pitchFamily="34" charset="0"/>
                <a:ea typeface="Aptos" pitchFamily="34" charset="-122"/>
                <a:cs typeface="Aptos" pitchFamily="34" charset="-120"/>
              </a:rPr>
              <a:t>Media, Information and Communication Technologies Sector Education and Training Authority — the statutory body that oversees skills development in the media and ICT sectors.</a:t>
            </a:r>
            <a:endParaRPr lang="en-US" sz="1600" dirty="0"/>
          </a:p>
        </p:txBody>
      </p:sp>
      <p:sp>
        <p:nvSpPr>
          <p:cNvPr id="8" name="Text 6"/>
          <p:cNvSpPr/>
          <p:nvPr/>
        </p:nvSpPr>
        <p:spPr>
          <a:xfrm>
            <a:off x="502920" y="1965960"/>
            <a:ext cx="11183112" cy="274320"/>
          </a:xfrm>
          <a:prstGeom prst="rect">
            <a:avLst/>
          </a:prstGeom>
          <a:noFill/>
          <a:ln/>
        </p:spPr>
        <p:txBody>
          <a:bodyPr wrap="square" rtlCol="0" anchor="ctr"/>
          <a:lstStyle/>
          <a:p>
            <a:pPr indent="0" marL="0">
              <a:buNone/>
            </a:pPr>
            <a:r>
              <a:rPr lang="en-US" sz="1250" b="1" spc="150" kern="0" dirty="0">
                <a:solidFill>
                  <a:srgbClr val="0F6CBD"/>
                </a:solidFill>
                <a:latin typeface="Aptos" pitchFamily="34" charset="0"/>
                <a:ea typeface="Aptos" pitchFamily="34" charset="-122"/>
                <a:cs typeface="Aptos" pitchFamily="34" charset="-120"/>
              </a:rPr>
              <a:t>CORE MANDATE</a:t>
            </a:r>
            <a:endParaRPr lang="en-US" sz="1250" dirty="0"/>
          </a:p>
        </p:txBody>
      </p:sp>
      <p:sp>
        <p:nvSpPr>
          <p:cNvPr id="9" name="Shape 7"/>
          <p:cNvSpPr/>
          <p:nvPr/>
        </p:nvSpPr>
        <p:spPr>
          <a:xfrm>
            <a:off x="502920" y="2286000"/>
            <a:ext cx="11183112" cy="868680"/>
          </a:xfrm>
          <a:prstGeom prst="roundRect">
            <a:avLst>
              <a:gd name="adj" fmla="val 9474"/>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0" name="Shape 8"/>
          <p:cNvSpPr/>
          <p:nvPr/>
        </p:nvSpPr>
        <p:spPr>
          <a:xfrm>
            <a:off x="502920" y="2286000"/>
            <a:ext cx="82296" cy="868680"/>
          </a:xfrm>
          <a:prstGeom prst="rect">
            <a:avLst/>
          </a:prstGeom>
          <a:solidFill>
            <a:srgbClr val="0F6CBD"/>
          </a:solidFill>
          <a:ln/>
        </p:spPr>
      </p:sp>
      <p:sp>
        <p:nvSpPr>
          <p:cNvPr id="11" name="Text 9"/>
          <p:cNvSpPr/>
          <p:nvPr/>
        </p:nvSpPr>
        <p:spPr>
          <a:xfrm>
            <a:off x="822960" y="2286000"/>
            <a:ext cx="10543032" cy="868680"/>
          </a:xfrm>
          <a:prstGeom prst="rect">
            <a:avLst/>
          </a:prstGeom>
          <a:noFill/>
          <a:ln/>
        </p:spPr>
        <p:txBody>
          <a:bodyPr wrap="square" rtlCol="0" anchor="ctr"/>
          <a:lstStyle/>
          <a:p>
            <a:pPr indent="0" marL="0">
              <a:lnSpc>
                <a:spcPct val="115000"/>
              </a:lnSpc>
              <a:buNone/>
            </a:pPr>
            <a:r>
              <a:rPr lang="en-US" sz="1550" b="1" dirty="0">
                <a:solidFill>
                  <a:srgbClr val="002050"/>
                </a:solidFill>
                <a:latin typeface="Aptos" pitchFamily="34" charset="0"/>
                <a:ea typeface="Aptos" pitchFamily="34" charset="-122"/>
                <a:cs typeface="Aptos" pitchFamily="34" charset="-120"/>
              </a:rPr>
              <a:t>Bridges the gap between educational institutions and the labour market </a:t>
            </a:r>
            <a:pPr indent="0" marL="0">
              <a:lnSpc>
                <a:spcPct val="115000"/>
              </a:lnSpc>
              <a:buNone/>
            </a:pPr>
            <a:r>
              <a:rPr lang="en-US" sz="1550" dirty="0">
                <a:solidFill>
                  <a:srgbClr val="002050"/>
                </a:solidFill>
                <a:latin typeface="Aptos" pitchFamily="34" charset="0"/>
                <a:ea typeface="Aptos" pitchFamily="34" charset="-122"/>
                <a:cs typeface="Aptos" pitchFamily="34" charset="-120"/>
              </a:rPr>
              <a:t>— turning classroom learning into workplace-ready skills the sector actually needs.</a:t>
            </a:r>
            <a:endParaRPr lang="en-US" sz="1550" dirty="0"/>
          </a:p>
        </p:txBody>
      </p:sp>
      <p:sp>
        <p:nvSpPr>
          <p:cNvPr id="12" name="Text 10"/>
          <p:cNvSpPr/>
          <p:nvPr/>
        </p:nvSpPr>
        <p:spPr>
          <a:xfrm>
            <a:off x="502920" y="3383280"/>
            <a:ext cx="11183112" cy="274320"/>
          </a:xfrm>
          <a:prstGeom prst="rect">
            <a:avLst/>
          </a:prstGeom>
          <a:noFill/>
          <a:ln/>
        </p:spPr>
        <p:txBody>
          <a:bodyPr wrap="square" rtlCol="0" anchor="ctr"/>
          <a:lstStyle/>
          <a:p>
            <a:pPr indent="0" marL="0">
              <a:buNone/>
            </a:pPr>
            <a:r>
              <a:rPr lang="en-US" sz="1250" b="1" spc="150" kern="0" dirty="0">
                <a:solidFill>
                  <a:srgbClr val="0F6CBD"/>
                </a:solidFill>
                <a:latin typeface="Aptos" pitchFamily="34" charset="0"/>
                <a:ea typeface="Aptos" pitchFamily="34" charset="-122"/>
                <a:cs typeface="Aptos" pitchFamily="34" charset="-120"/>
              </a:rPr>
              <a:t>ROLE</a:t>
            </a:r>
            <a:endParaRPr lang="en-US" sz="1250" dirty="0"/>
          </a:p>
        </p:txBody>
      </p:sp>
      <p:sp>
        <p:nvSpPr>
          <p:cNvPr id="13" name="Shape 11"/>
          <p:cNvSpPr/>
          <p:nvPr/>
        </p:nvSpPr>
        <p:spPr>
          <a:xfrm>
            <a:off x="502920" y="3703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512" y="4018788"/>
            <a:ext cx="329184" cy="329184"/>
          </a:xfrm>
          <a:prstGeom prst="rect">
            <a:avLst/>
          </a:prstGeom>
        </p:spPr>
      </p:pic>
      <p:sp>
        <p:nvSpPr>
          <p:cNvPr id="15" name="Text 12"/>
          <p:cNvSpPr/>
          <p:nvPr/>
        </p:nvSpPr>
        <p:spPr>
          <a:xfrm>
            <a:off x="1106424" y="3776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Funds and administers learnerships, internships and skills programmes — including this one</a:t>
            </a:r>
            <a:endParaRPr lang="en-US" sz="1250" dirty="0"/>
          </a:p>
        </p:txBody>
      </p:sp>
      <p:sp>
        <p:nvSpPr>
          <p:cNvPr id="16" name="Shape 13"/>
          <p:cNvSpPr/>
          <p:nvPr/>
        </p:nvSpPr>
        <p:spPr>
          <a:xfrm>
            <a:off x="4291584" y="3703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56176" y="4018788"/>
            <a:ext cx="329184" cy="329184"/>
          </a:xfrm>
          <a:prstGeom prst="rect">
            <a:avLst/>
          </a:prstGeom>
        </p:spPr>
      </p:pic>
      <p:sp>
        <p:nvSpPr>
          <p:cNvPr id="18" name="Text 14"/>
          <p:cNvSpPr/>
          <p:nvPr/>
        </p:nvSpPr>
        <p:spPr>
          <a:xfrm>
            <a:off x="4895088" y="3776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Accredits training providers and quality-assures learning programmes and assessments</a:t>
            </a:r>
            <a:endParaRPr lang="en-US" sz="1250" dirty="0"/>
          </a:p>
        </p:txBody>
      </p:sp>
      <p:sp>
        <p:nvSpPr>
          <p:cNvPr id="19" name="Shape 15"/>
          <p:cNvSpPr/>
          <p:nvPr/>
        </p:nvSpPr>
        <p:spPr>
          <a:xfrm>
            <a:off x="8080248" y="3703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4840" y="4018788"/>
            <a:ext cx="329184" cy="329184"/>
          </a:xfrm>
          <a:prstGeom prst="rect">
            <a:avLst/>
          </a:prstGeom>
        </p:spPr>
      </p:pic>
      <p:sp>
        <p:nvSpPr>
          <p:cNvPr id="21" name="Text 16"/>
          <p:cNvSpPr/>
          <p:nvPr/>
        </p:nvSpPr>
        <p:spPr>
          <a:xfrm>
            <a:off x="8683752" y="3776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Certifies learners and registers achievements on the NQF</a:t>
            </a:r>
            <a:endParaRPr lang="en-US" sz="1250" dirty="0"/>
          </a:p>
        </p:txBody>
      </p:sp>
      <p:sp>
        <p:nvSpPr>
          <p:cNvPr id="22" name="Shape 17"/>
          <p:cNvSpPr/>
          <p:nvPr/>
        </p:nvSpPr>
        <p:spPr>
          <a:xfrm>
            <a:off x="502920" y="4846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7512" y="5161788"/>
            <a:ext cx="329184" cy="329184"/>
          </a:xfrm>
          <a:prstGeom prst="rect">
            <a:avLst/>
          </a:prstGeom>
        </p:spPr>
      </p:pic>
      <p:sp>
        <p:nvSpPr>
          <p:cNvPr id="24" name="Text 18"/>
          <p:cNvSpPr/>
          <p:nvPr/>
        </p:nvSpPr>
        <p:spPr>
          <a:xfrm>
            <a:off x="1106424" y="4919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Registers assessors and moderators to guarantee credible assessment</a:t>
            </a:r>
            <a:endParaRPr lang="en-US" sz="1250" dirty="0"/>
          </a:p>
        </p:txBody>
      </p:sp>
      <p:sp>
        <p:nvSpPr>
          <p:cNvPr id="25" name="Shape 19"/>
          <p:cNvSpPr/>
          <p:nvPr/>
        </p:nvSpPr>
        <p:spPr>
          <a:xfrm>
            <a:off x="4291584" y="4846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56176" y="5161788"/>
            <a:ext cx="329184" cy="329184"/>
          </a:xfrm>
          <a:prstGeom prst="rect">
            <a:avLst/>
          </a:prstGeom>
        </p:spPr>
      </p:pic>
      <p:sp>
        <p:nvSpPr>
          <p:cNvPr id="27" name="Text 20"/>
          <p:cNvSpPr/>
          <p:nvPr/>
        </p:nvSpPr>
        <p:spPr>
          <a:xfrm>
            <a:off x="4895088" y="4919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Researches sector skills needs and publishes the Sector Skills Plan</a:t>
            </a:r>
            <a:endParaRPr lang="en-US" sz="1250" dirty="0"/>
          </a:p>
        </p:txBody>
      </p:sp>
      <p:sp>
        <p:nvSpPr>
          <p:cNvPr id="28" name="Shape 21"/>
          <p:cNvSpPr/>
          <p:nvPr/>
        </p:nvSpPr>
        <p:spPr>
          <a:xfrm>
            <a:off x="8080248" y="4846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44840" y="5161788"/>
            <a:ext cx="329184" cy="329184"/>
          </a:xfrm>
          <a:prstGeom prst="rect">
            <a:avLst/>
          </a:prstGeom>
        </p:spPr>
      </p:pic>
      <p:sp>
        <p:nvSpPr>
          <p:cNvPr id="30" name="Text 22"/>
          <p:cNvSpPr/>
          <p:nvPr/>
        </p:nvSpPr>
        <p:spPr>
          <a:xfrm>
            <a:off x="8683752" y="4919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Disburses mandatory and discretionary grants that make workplace learning viable</a:t>
            </a:r>
            <a:endParaRPr lang="en-US" sz="1250" dirty="0"/>
          </a:p>
        </p:txBody>
      </p:sp>
      <p:sp>
        <p:nvSpPr>
          <p:cNvPr id="31" name="Shape 23"/>
          <p:cNvSpPr/>
          <p:nvPr/>
        </p:nvSpPr>
        <p:spPr>
          <a:xfrm>
            <a:off x="502920" y="5806440"/>
            <a:ext cx="11183112" cy="566928"/>
          </a:xfrm>
          <a:prstGeom prst="roundRect">
            <a:avLst>
              <a:gd name="adj" fmla="val 14516"/>
            </a:avLst>
          </a:prstGeom>
          <a:solidFill>
            <a:srgbClr val="F8FAFC"/>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04088" y="5943600"/>
            <a:ext cx="274320" cy="274320"/>
          </a:xfrm>
          <a:prstGeom prst="rect">
            <a:avLst/>
          </a:prstGeom>
        </p:spPr>
      </p:pic>
      <p:sp>
        <p:nvSpPr>
          <p:cNvPr id="33" name="Text 24"/>
          <p:cNvSpPr/>
          <p:nvPr/>
        </p:nvSpPr>
        <p:spPr>
          <a:xfrm>
            <a:off x="1069848" y="5806440"/>
            <a:ext cx="10378440" cy="566928"/>
          </a:xfrm>
          <a:prstGeom prst="rect">
            <a:avLst/>
          </a:prstGeom>
          <a:noFill/>
          <a:ln/>
        </p:spPr>
        <p:txBody>
          <a:bodyPr wrap="square" rtlCol="0" anchor="ctr"/>
          <a:lstStyle/>
          <a:p>
            <a:pPr indent="0" marL="0">
              <a:buNone/>
            </a:pPr>
            <a:r>
              <a:rPr lang="en-US" sz="1300" dirty="0">
                <a:solidFill>
                  <a:srgbClr val="002050"/>
                </a:solidFill>
                <a:latin typeface="Aptos" pitchFamily="34" charset="0"/>
                <a:ea typeface="Aptos" pitchFamily="34" charset="-122"/>
                <a:cs typeface="Aptos" pitchFamily="34" charset="-120"/>
              </a:rPr>
              <a:t>Your learnership is registered with MICT SETA — with quality assurance transitioning to the QCTO under the occupational qualifications framework.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QUALITY ASSURANCE</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QCTO</a:t>
            </a:r>
            <a:endParaRPr lang="en-US" sz="3000" dirty="0"/>
          </a:p>
        </p:txBody>
      </p:sp>
      <p:sp>
        <p:nvSpPr>
          <p:cNvPr id="7" name="Text 5"/>
          <p:cNvSpPr/>
          <p:nvPr/>
        </p:nvSpPr>
        <p:spPr>
          <a:xfrm>
            <a:off x="502920" y="1298448"/>
            <a:ext cx="11183112" cy="548640"/>
          </a:xfrm>
          <a:prstGeom prst="rect">
            <a:avLst/>
          </a:prstGeom>
          <a:noFill/>
          <a:ln/>
        </p:spPr>
        <p:txBody>
          <a:bodyPr wrap="square" rtlCol="0" anchor="t"/>
          <a:lstStyle/>
          <a:p>
            <a:pPr indent="0" marL="0">
              <a:lnSpc>
                <a:spcPct val="115000"/>
              </a:lnSpc>
              <a:buNone/>
            </a:pPr>
            <a:r>
              <a:rPr lang="en-US" sz="1600" dirty="0">
                <a:solidFill>
                  <a:srgbClr val="6B7280"/>
                </a:solidFill>
                <a:latin typeface="Aptos" pitchFamily="34" charset="0"/>
                <a:ea typeface="Aptos" pitchFamily="34" charset="-122"/>
                <a:cs typeface="Aptos" pitchFamily="34" charset="-120"/>
              </a:rPr>
              <a:t>Quality Council for Trades and Occupations — the quality council responsible for occupational qualifications on the National Qualifications Framework (NQF).</a:t>
            </a:r>
            <a:endParaRPr lang="en-US" sz="1600" dirty="0"/>
          </a:p>
        </p:txBody>
      </p:sp>
      <p:sp>
        <p:nvSpPr>
          <p:cNvPr id="8" name="Text 6"/>
          <p:cNvSpPr/>
          <p:nvPr/>
        </p:nvSpPr>
        <p:spPr>
          <a:xfrm>
            <a:off x="502920" y="1965960"/>
            <a:ext cx="11183112" cy="274320"/>
          </a:xfrm>
          <a:prstGeom prst="rect">
            <a:avLst/>
          </a:prstGeom>
          <a:noFill/>
          <a:ln/>
        </p:spPr>
        <p:txBody>
          <a:bodyPr wrap="square" rtlCol="0" anchor="ctr"/>
          <a:lstStyle/>
          <a:p>
            <a:pPr indent="0" marL="0">
              <a:buNone/>
            </a:pPr>
            <a:r>
              <a:rPr lang="en-US" sz="1250" b="1" spc="150" kern="0" dirty="0">
                <a:solidFill>
                  <a:srgbClr val="0F6CBD"/>
                </a:solidFill>
                <a:latin typeface="Aptos" pitchFamily="34" charset="0"/>
                <a:ea typeface="Aptos" pitchFamily="34" charset="-122"/>
                <a:cs typeface="Aptos" pitchFamily="34" charset="-120"/>
              </a:rPr>
              <a:t>CORE MANDATE</a:t>
            </a:r>
            <a:endParaRPr lang="en-US" sz="1250" dirty="0"/>
          </a:p>
        </p:txBody>
      </p:sp>
      <p:sp>
        <p:nvSpPr>
          <p:cNvPr id="9" name="Shape 7"/>
          <p:cNvSpPr/>
          <p:nvPr/>
        </p:nvSpPr>
        <p:spPr>
          <a:xfrm>
            <a:off x="502920" y="2286000"/>
            <a:ext cx="11183112" cy="868680"/>
          </a:xfrm>
          <a:prstGeom prst="roundRect">
            <a:avLst>
              <a:gd name="adj" fmla="val 9474"/>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0" name="Shape 8"/>
          <p:cNvSpPr/>
          <p:nvPr/>
        </p:nvSpPr>
        <p:spPr>
          <a:xfrm>
            <a:off x="502920" y="2286000"/>
            <a:ext cx="82296" cy="868680"/>
          </a:xfrm>
          <a:prstGeom prst="rect">
            <a:avLst/>
          </a:prstGeom>
          <a:solidFill>
            <a:srgbClr val="0F6CBD"/>
          </a:solidFill>
          <a:ln/>
        </p:spPr>
      </p:sp>
      <p:sp>
        <p:nvSpPr>
          <p:cNvPr id="11" name="Text 9"/>
          <p:cNvSpPr/>
          <p:nvPr/>
        </p:nvSpPr>
        <p:spPr>
          <a:xfrm>
            <a:off x="822960" y="2286000"/>
            <a:ext cx="10543032" cy="868680"/>
          </a:xfrm>
          <a:prstGeom prst="rect">
            <a:avLst/>
          </a:prstGeom>
          <a:noFill/>
          <a:ln/>
        </p:spPr>
        <p:txBody>
          <a:bodyPr wrap="square" rtlCol="0" anchor="ctr"/>
          <a:lstStyle/>
          <a:p>
            <a:pPr indent="0" marL="0">
              <a:lnSpc>
                <a:spcPct val="115000"/>
              </a:lnSpc>
              <a:buNone/>
            </a:pPr>
            <a:r>
              <a:rPr lang="en-US" sz="1550" b="1" dirty="0">
                <a:solidFill>
                  <a:srgbClr val="002050"/>
                </a:solidFill>
                <a:latin typeface="Aptos" pitchFamily="34" charset="0"/>
                <a:ea typeface="Aptos" pitchFamily="34" charset="-122"/>
                <a:cs typeface="Aptos" pitchFamily="34" charset="-120"/>
              </a:rPr>
              <a:t>Oversees the design, implementation, assessment and certification of occupational qualifications </a:t>
            </a:r>
            <a:pPr indent="0" marL="0">
              <a:lnSpc>
                <a:spcPct val="115000"/>
              </a:lnSpc>
              <a:buNone/>
            </a:pPr>
            <a:r>
              <a:rPr lang="en-US" sz="1550" dirty="0">
                <a:solidFill>
                  <a:srgbClr val="002050"/>
                </a:solidFill>
                <a:latin typeface="Aptos" pitchFamily="34" charset="0"/>
                <a:ea typeface="Aptos" pitchFamily="34" charset="-122"/>
                <a:cs typeface="Aptos" pitchFamily="34" charset="-120"/>
              </a:rPr>
              <a:t>on the National Qualifications Framework (NQF) — ensuring every qualification reflects real workplace competence.</a:t>
            </a:r>
            <a:endParaRPr lang="en-US" sz="1550" dirty="0"/>
          </a:p>
        </p:txBody>
      </p:sp>
      <p:sp>
        <p:nvSpPr>
          <p:cNvPr id="12" name="Text 10"/>
          <p:cNvSpPr/>
          <p:nvPr/>
        </p:nvSpPr>
        <p:spPr>
          <a:xfrm>
            <a:off x="502920" y="3383280"/>
            <a:ext cx="11183112" cy="274320"/>
          </a:xfrm>
          <a:prstGeom prst="rect">
            <a:avLst/>
          </a:prstGeom>
          <a:noFill/>
          <a:ln/>
        </p:spPr>
        <p:txBody>
          <a:bodyPr wrap="square" rtlCol="0" anchor="ctr"/>
          <a:lstStyle/>
          <a:p>
            <a:pPr indent="0" marL="0">
              <a:buNone/>
            </a:pPr>
            <a:r>
              <a:rPr lang="en-US" sz="1250" b="1" spc="150" kern="0" dirty="0">
                <a:solidFill>
                  <a:srgbClr val="0F6CBD"/>
                </a:solidFill>
                <a:latin typeface="Aptos" pitchFamily="34" charset="0"/>
                <a:ea typeface="Aptos" pitchFamily="34" charset="-122"/>
                <a:cs typeface="Aptos" pitchFamily="34" charset="-120"/>
              </a:rPr>
              <a:t>TRANSITION</a:t>
            </a:r>
            <a:endParaRPr lang="en-US" sz="1250" dirty="0"/>
          </a:p>
        </p:txBody>
      </p:sp>
      <p:sp>
        <p:nvSpPr>
          <p:cNvPr id="13" name="Shape 11"/>
          <p:cNvSpPr/>
          <p:nvPr/>
        </p:nvSpPr>
        <p:spPr>
          <a:xfrm>
            <a:off x="502920" y="3703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512" y="4018788"/>
            <a:ext cx="329184" cy="329184"/>
          </a:xfrm>
          <a:prstGeom prst="rect">
            <a:avLst/>
          </a:prstGeom>
        </p:spPr>
      </p:pic>
      <p:sp>
        <p:nvSpPr>
          <p:cNvPr id="15" name="Text 12"/>
          <p:cNvSpPr/>
          <p:nvPr/>
        </p:nvSpPr>
        <p:spPr>
          <a:xfrm>
            <a:off x="1106424" y="3776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Legacy SETA qualifications — like this National Certificate — are migrating to the QCTO's occupational framework</a:t>
            </a:r>
            <a:endParaRPr lang="en-US" sz="1250" dirty="0"/>
          </a:p>
        </p:txBody>
      </p:sp>
      <p:sp>
        <p:nvSpPr>
          <p:cNvPr id="16" name="Shape 13"/>
          <p:cNvSpPr/>
          <p:nvPr/>
        </p:nvSpPr>
        <p:spPr>
          <a:xfrm>
            <a:off x="4291584" y="3703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56176" y="4018788"/>
            <a:ext cx="329184" cy="329184"/>
          </a:xfrm>
          <a:prstGeom prst="rect">
            <a:avLst/>
          </a:prstGeom>
        </p:spPr>
      </p:pic>
      <p:sp>
        <p:nvSpPr>
          <p:cNvPr id="18" name="Text 14"/>
          <p:cNvSpPr/>
          <p:nvPr/>
        </p:nvSpPr>
        <p:spPr>
          <a:xfrm>
            <a:off x="4895088" y="3776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The QCTO now holds final quality assurance and assessment oversight for this programme</a:t>
            </a:r>
            <a:endParaRPr lang="en-US" sz="1250" dirty="0"/>
          </a:p>
        </p:txBody>
      </p:sp>
      <p:sp>
        <p:nvSpPr>
          <p:cNvPr id="19" name="Shape 15"/>
          <p:cNvSpPr/>
          <p:nvPr/>
        </p:nvSpPr>
        <p:spPr>
          <a:xfrm>
            <a:off x="8080248" y="3703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4840" y="4018788"/>
            <a:ext cx="329184" cy="329184"/>
          </a:xfrm>
          <a:prstGeom prst="rect">
            <a:avLst/>
          </a:prstGeom>
        </p:spPr>
      </p:pic>
      <p:sp>
        <p:nvSpPr>
          <p:cNvPr id="21" name="Text 16"/>
          <p:cNvSpPr/>
          <p:nvPr/>
        </p:nvSpPr>
        <p:spPr>
          <a:xfrm>
            <a:off x="8683752" y="3776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Certification is issued under QCTO oversight — your certificate remains registered on the NQF</a:t>
            </a:r>
            <a:endParaRPr lang="en-US" sz="1250" dirty="0"/>
          </a:p>
        </p:txBody>
      </p:sp>
      <p:sp>
        <p:nvSpPr>
          <p:cNvPr id="22" name="Shape 17"/>
          <p:cNvSpPr/>
          <p:nvPr/>
        </p:nvSpPr>
        <p:spPr>
          <a:xfrm>
            <a:off x="502920" y="4846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7512" y="5161788"/>
            <a:ext cx="329184" cy="329184"/>
          </a:xfrm>
          <a:prstGeom prst="rect">
            <a:avLst/>
          </a:prstGeom>
        </p:spPr>
      </p:pic>
      <p:sp>
        <p:nvSpPr>
          <p:cNvPr id="24" name="Text 18"/>
          <p:cNvSpPr/>
          <p:nvPr/>
        </p:nvSpPr>
        <p:spPr>
          <a:xfrm>
            <a:off x="1106424" y="4919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Enrol by 30 Dec 2026, achieve by 30 Dec 2029 — after that, successor occupational qualifications take over</a:t>
            </a:r>
            <a:endParaRPr lang="en-US" sz="1250" dirty="0"/>
          </a:p>
        </p:txBody>
      </p:sp>
      <p:sp>
        <p:nvSpPr>
          <p:cNvPr id="25" name="Shape 19"/>
          <p:cNvSpPr/>
          <p:nvPr/>
        </p:nvSpPr>
        <p:spPr>
          <a:xfrm>
            <a:off x="4291584" y="4846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56176" y="5161788"/>
            <a:ext cx="329184" cy="329184"/>
          </a:xfrm>
          <a:prstGeom prst="rect">
            <a:avLst/>
          </a:prstGeom>
        </p:spPr>
      </p:pic>
      <p:sp>
        <p:nvSpPr>
          <p:cNvPr id="27" name="Text 20"/>
          <p:cNvSpPr/>
          <p:nvPr/>
        </p:nvSpPr>
        <p:spPr>
          <a:xfrm>
            <a:off x="4895088" y="4919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Credits achieved now articulate into the newer occupational qualifications via RPL</a:t>
            </a:r>
            <a:endParaRPr lang="en-US" sz="1250" dirty="0"/>
          </a:p>
        </p:txBody>
      </p:sp>
      <p:sp>
        <p:nvSpPr>
          <p:cNvPr id="28" name="Shape 21"/>
          <p:cNvSpPr/>
          <p:nvPr/>
        </p:nvSpPr>
        <p:spPr>
          <a:xfrm>
            <a:off x="8080248" y="4846320"/>
            <a:ext cx="3605784" cy="960120"/>
          </a:xfrm>
          <a:prstGeom prst="roundRect">
            <a:avLst>
              <a:gd name="adj" fmla="val 857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44840" y="5161788"/>
            <a:ext cx="329184" cy="329184"/>
          </a:xfrm>
          <a:prstGeom prst="rect">
            <a:avLst/>
          </a:prstGeom>
        </p:spPr>
      </p:pic>
      <p:sp>
        <p:nvSpPr>
          <p:cNvPr id="30" name="Text 22"/>
          <p:cNvSpPr/>
          <p:nvPr/>
        </p:nvSpPr>
        <p:spPr>
          <a:xfrm>
            <a:off x="8683752" y="4919472"/>
            <a:ext cx="2837688" cy="813816"/>
          </a:xfrm>
          <a:prstGeom prst="rect">
            <a:avLst/>
          </a:prstGeom>
          <a:noFill/>
          <a:ln/>
        </p:spPr>
        <p:txBody>
          <a:bodyPr wrap="square" rtlCol="0" anchor="ctr"/>
          <a:lstStyle/>
          <a:p>
            <a:pPr indent="0" marL="0">
              <a:lnSpc>
                <a:spcPct val="105000"/>
              </a:lnSpc>
              <a:buNone/>
            </a:pPr>
            <a:r>
              <a:rPr lang="en-US" sz="1250" dirty="0">
                <a:solidFill>
                  <a:srgbClr val="002050"/>
                </a:solidFill>
                <a:latin typeface="Aptos" pitchFamily="34" charset="0"/>
                <a:ea typeface="Aptos" pitchFamily="34" charset="-122"/>
                <a:cs typeface="Aptos" pitchFamily="34" charset="-120"/>
              </a:rPr>
              <a:t>One national standard: external, integrated summative assessment protects the value of your qualification</a:t>
            </a:r>
            <a:endParaRPr lang="en-US" sz="1250" dirty="0"/>
          </a:p>
        </p:txBody>
      </p:sp>
      <p:sp>
        <p:nvSpPr>
          <p:cNvPr id="31" name="Shape 23"/>
          <p:cNvSpPr/>
          <p:nvPr/>
        </p:nvSpPr>
        <p:spPr>
          <a:xfrm>
            <a:off x="502920" y="5806440"/>
            <a:ext cx="11183112" cy="566928"/>
          </a:xfrm>
          <a:prstGeom prst="roundRect">
            <a:avLst>
              <a:gd name="adj" fmla="val 14516"/>
            </a:avLst>
          </a:prstGeom>
          <a:solidFill>
            <a:srgbClr val="F8FAFC"/>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04088" y="5943600"/>
            <a:ext cx="274320" cy="274320"/>
          </a:xfrm>
          <a:prstGeom prst="rect">
            <a:avLst/>
          </a:prstGeom>
        </p:spPr>
      </p:pic>
      <p:sp>
        <p:nvSpPr>
          <p:cNvPr id="33" name="Text 24"/>
          <p:cNvSpPr/>
          <p:nvPr/>
        </p:nvSpPr>
        <p:spPr>
          <a:xfrm>
            <a:off x="1069848" y="5806440"/>
            <a:ext cx="10378440" cy="566928"/>
          </a:xfrm>
          <a:prstGeom prst="rect">
            <a:avLst/>
          </a:prstGeom>
          <a:noFill/>
          <a:ln/>
        </p:spPr>
        <p:txBody>
          <a:bodyPr wrap="square" rtlCol="0" anchor="ctr"/>
          <a:lstStyle/>
          <a:p>
            <a:pPr indent="0" marL="0">
              <a:buNone/>
            </a:pPr>
            <a:r>
              <a:rPr lang="en-US" sz="1300" dirty="0">
                <a:solidFill>
                  <a:srgbClr val="002050"/>
                </a:solidFill>
                <a:latin typeface="Aptos" pitchFamily="34" charset="0"/>
                <a:ea typeface="Aptos" pitchFamily="34" charset="-122"/>
                <a:cs typeface="Aptos" pitchFamily="34" charset="-120"/>
              </a:rPr>
              <a:t>MICT SETA administers your learnership day to day; the QCTO guarantees the standard behind your certificate.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HOW EACH MODULE WORKS</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Five steps, every module</a:t>
            </a:r>
            <a:endParaRPr lang="en-US" sz="3000" dirty="0"/>
          </a:p>
        </p:txBody>
      </p:sp>
      <p:sp>
        <p:nvSpPr>
          <p:cNvPr id="7" name="Shape 5"/>
          <p:cNvSpPr/>
          <p:nvPr/>
        </p:nvSpPr>
        <p:spPr>
          <a:xfrm>
            <a:off x="502920" y="1828800"/>
            <a:ext cx="2075688" cy="1920240"/>
          </a:xfrm>
          <a:prstGeom prst="roundRect">
            <a:avLst>
              <a:gd name="adj" fmla="val 428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685800" y="2011680"/>
            <a:ext cx="420624" cy="420624"/>
          </a:xfrm>
          <a:prstGeom prst="ellipse">
            <a:avLst/>
          </a:prstGeom>
          <a:solidFill>
            <a:srgbClr val="0F6CBD"/>
          </a:solidFill>
          <a:ln/>
        </p:spPr>
      </p:sp>
      <p:sp>
        <p:nvSpPr>
          <p:cNvPr id="9" name="Text 7"/>
          <p:cNvSpPr/>
          <p:nvPr/>
        </p:nvSpPr>
        <p:spPr>
          <a:xfrm>
            <a:off x="685800" y="2011680"/>
            <a:ext cx="420624" cy="420624"/>
          </a:xfrm>
          <a:prstGeom prst="rect">
            <a:avLst/>
          </a:prstGeom>
          <a:noFill/>
          <a:ln/>
        </p:spPr>
        <p:txBody>
          <a:bodyPr wrap="square" rtlCol="0" anchor="ct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1</a:t>
            </a:r>
            <a:endParaRPr lang="en-US" sz="1600" dirty="0"/>
          </a:p>
        </p:txBody>
      </p:sp>
      <p:sp>
        <p:nvSpPr>
          <p:cNvPr id="10" name="Text 8"/>
          <p:cNvSpPr/>
          <p:nvPr/>
        </p:nvSpPr>
        <p:spPr>
          <a:xfrm>
            <a:off x="685800" y="2560320"/>
            <a:ext cx="1709928" cy="384048"/>
          </a:xfrm>
          <a:prstGeom prst="rect">
            <a:avLst/>
          </a:prstGeom>
          <a:noFill/>
          <a:ln/>
        </p:spPr>
        <p:txBody>
          <a:bodyPr wrap="square" rtlCol="0" anchor="ctr"/>
          <a:lstStyle/>
          <a:p>
            <a:pPr indent="0" marL="0">
              <a:buNone/>
            </a:pPr>
            <a:r>
              <a:rPr lang="en-US" sz="1600" b="1" dirty="0">
                <a:solidFill>
                  <a:srgbClr val="002050"/>
                </a:solidFill>
                <a:latin typeface="Aptos Display" pitchFamily="34" charset="0"/>
                <a:ea typeface="Aptos Display" pitchFamily="34" charset="-122"/>
                <a:cs typeface="Aptos Display" pitchFamily="34" charset="-120"/>
              </a:rPr>
              <a:t>Study</a:t>
            </a:r>
            <a:endParaRPr lang="en-US" sz="1600" dirty="0"/>
          </a:p>
        </p:txBody>
      </p:sp>
      <p:sp>
        <p:nvSpPr>
          <p:cNvPr id="11" name="Text 9"/>
          <p:cNvSpPr/>
          <p:nvPr/>
        </p:nvSpPr>
        <p:spPr>
          <a:xfrm>
            <a:off x="685800" y="2962656"/>
            <a:ext cx="1709928" cy="74980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Work through the unit standard study notes</a:t>
            </a:r>
            <a:endParaRPr lang="en-US" sz="1200" dirty="0"/>
          </a:p>
        </p:txBody>
      </p:sp>
      <p:sp>
        <p:nvSpPr>
          <p:cNvPr id="12" name="Shape 10"/>
          <p:cNvSpPr/>
          <p:nvPr/>
        </p:nvSpPr>
        <p:spPr>
          <a:xfrm>
            <a:off x="2779776" y="1828800"/>
            <a:ext cx="2075688" cy="1920240"/>
          </a:xfrm>
          <a:prstGeom prst="roundRect">
            <a:avLst>
              <a:gd name="adj" fmla="val 428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1"/>
          <p:cNvSpPr/>
          <p:nvPr/>
        </p:nvSpPr>
        <p:spPr>
          <a:xfrm>
            <a:off x="2962656" y="2011680"/>
            <a:ext cx="420624" cy="420624"/>
          </a:xfrm>
          <a:prstGeom prst="ellipse">
            <a:avLst/>
          </a:prstGeom>
          <a:solidFill>
            <a:srgbClr val="0F6CBD"/>
          </a:solidFill>
          <a:ln/>
        </p:spPr>
      </p:sp>
      <p:sp>
        <p:nvSpPr>
          <p:cNvPr id="14" name="Text 12"/>
          <p:cNvSpPr/>
          <p:nvPr/>
        </p:nvSpPr>
        <p:spPr>
          <a:xfrm>
            <a:off x="2962656" y="2011680"/>
            <a:ext cx="420624" cy="420624"/>
          </a:xfrm>
          <a:prstGeom prst="rect">
            <a:avLst/>
          </a:prstGeom>
          <a:noFill/>
          <a:ln/>
        </p:spPr>
        <p:txBody>
          <a:bodyPr wrap="square" rtlCol="0" anchor="ct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2</a:t>
            </a:r>
            <a:endParaRPr lang="en-US" sz="1600" dirty="0"/>
          </a:p>
        </p:txBody>
      </p:sp>
      <p:sp>
        <p:nvSpPr>
          <p:cNvPr id="15" name="Text 13"/>
          <p:cNvSpPr/>
          <p:nvPr/>
        </p:nvSpPr>
        <p:spPr>
          <a:xfrm>
            <a:off x="2962656" y="2560320"/>
            <a:ext cx="1709928" cy="384048"/>
          </a:xfrm>
          <a:prstGeom prst="rect">
            <a:avLst/>
          </a:prstGeom>
          <a:noFill/>
          <a:ln/>
        </p:spPr>
        <p:txBody>
          <a:bodyPr wrap="square" rtlCol="0" anchor="ctr"/>
          <a:lstStyle/>
          <a:p>
            <a:pPr indent="0" marL="0">
              <a:buNone/>
            </a:pPr>
            <a:r>
              <a:rPr lang="en-US" sz="1600" b="1" dirty="0">
                <a:solidFill>
                  <a:srgbClr val="002050"/>
                </a:solidFill>
                <a:latin typeface="Aptos Display" pitchFamily="34" charset="0"/>
                <a:ea typeface="Aptos Display" pitchFamily="34" charset="-122"/>
                <a:cs typeface="Aptos Display" pitchFamily="34" charset="-120"/>
              </a:rPr>
              <a:t>Practise</a:t>
            </a:r>
            <a:endParaRPr lang="en-US" sz="1600" dirty="0"/>
          </a:p>
        </p:txBody>
      </p:sp>
      <p:sp>
        <p:nvSpPr>
          <p:cNvPr id="16" name="Text 14"/>
          <p:cNvSpPr/>
          <p:nvPr/>
        </p:nvSpPr>
        <p:spPr>
          <a:xfrm>
            <a:off x="2962656" y="2962656"/>
            <a:ext cx="1709928" cy="74980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Complete the activities &amp; practicals</a:t>
            </a:r>
            <a:endParaRPr lang="en-US" sz="1200" dirty="0"/>
          </a:p>
        </p:txBody>
      </p:sp>
      <p:sp>
        <p:nvSpPr>
          <p:cNvPr id="17" name="Shape 15"/>
          <p:cNvSpPr/>
          <p:nvPr/>
        </p:nvSpPr>
        <p:spPr>
          <a:xfrm>
            <a:off x="5056632" y="1828800"/>
            <a:ext cx="2075688" cy="1920240"/>
          </a:xfrm>
          <a:prstGeom prst="roundRect">
            <a:avLst>
              <a:gd name="adj" fmla="val 428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8" name="Shape 16"/>
          <p:cNvSpPr/>
          <p:nvPr/>
        </p:nvSpPr>
        <p:spPr>
          <a:xfrm>
            <a:off x="5239512" y="2011680"/>
            <a:ext cx="420624" cy="420624"/>
          </a:xfrm>
          <a:prstGeom prst="ellipse">
            <a:avLst/>
          </a:prstGeom>
          <a:solidFill>
            <a:srgbClr val="0F6CBD"/>
          </a:solidFill>
          <a:ln/>
        </p:spPr>
      </p:sp>
      <p:sp>
        <p:nvSpPr>
          <p:cNvPr id="19" name="Text 17"/>
          <p:cNvSpPr/>
          <p:nvPr/>
        </p:nvSpPr>
        <p:spPr>
          <a:xfrm>
            <a:off x="5239512" y="2011680"/>
            <a:ext cx="420624" cy="420624"/>
          </a:xfrm>
          <a:prstGeom prst="rect">
            <a:avLst/>
          </a:prstGeom>
          <a:noFill/>
          <a:ln/>
        </p:spPr>
        <p:txBody>
          <a:bodyPr wrap="square" rtlCol="0" anchor="ct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3</a:t>
            </a:r>
            <a:endParaRPr lang="en-US" sz="1600" dirty="0"/>
          </a:p>
        </p:txBody>
      </p:sp>
      <p:sp>
        <p:nvSpPr>
          <p:cNvPr id="20" name="Text 18"/>
          <p:cNvSpPr/>
          <p:nvPr/>
        </p:nvSpPr>
        <p:spPr>
          <a:xfrm>
            <a:off x="5239512" y="2560320"/>
            <a:ext cx="1709928" cy="384048"/>
          </a:xfrm>
          <a:prstGeom prst="rect">
            <a:avLst/>
          </a:prstGeom>
          <a:noFill/>
          <a:ln/>
        </p:spPr>
        <p:txBody>
          <a:bodyPr wrap="square" rtlCol="0" anchor="ctr"/>
          <a:lstStyle/>
          <a:p>
            <a:pPr indent="0" marL="0">
              <a:buNone/>
            </a:pPr>
            <a:r>
              <a:rPr lang="en-US" sz="1600" b="1" dirty="0">
                <a:solidFill>
                  <a:srgbClr val="002050"/>
                </a:solidFill>
                <a:latin typeface="Aptos Display" pitchFamily="34" charset="0"/>
                <a:ea typeface="Aptos Display" pitchFamily="34" charset="-122"/>
                <a:cs typeface="Aptos Display" pitchFamily="34" charset="-120"/>
              </a:rPr>
              <a:t>Logbook</a:t>
            </a:r>
            <a:endParaRPr lang="en-US" sz="1600" dirty="0"/>
          </a:p>
        </p:txBody>
      </p:sp>
      <p:sp>
        <p:nvSpPr>
          <p:cNvPr id="21" name="Text 19"/>
          <p:cNvSpPr/>
          <p:nvPr/>
        </p:nvSpPr>
        <p:spPr>
          <a:xfrm>
            <a:off x="5239512" y="2962656"/>
            <a:ext cx="1709928" cy="74980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Record your workplace evidence</a:t>
            </a:r>
            <a:endParaRPr lang="en-US" sz="1200" dirty="0"/>
          </a:p>
        </p:txBody>
      </p:sp>
      <p:sp>
        <p:nvSpPr>
          <p:cNvPr id="22" name="Shape 20"/>
          <p:cNvSpPr/>
          <p:nvPr/>
        </p:nvSpPr>
        <p:spPr>
          <a:xfrm>
            <a:off x="7333488" y="1828800"/>
            <a:ext cx="2075688" cy="1920240"/>
          </a:xfrm>
          <a:prstGeom prst="roundRect">
            <a:avLst>
              <a:gd name="adj" fmla="val 428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3" name="Shape 21"/>
          <p:cNvSpPr/>
          <p:nvPr/>
        </p:nvSpPr>
        <p:spPr>
          <a:xfrm>
            <a:off x="7516368" y="2011680"/>
            <a:ext cx="420624" cy="420624"/>
          </a:xfrm>
          <a:prstGeom prst="ellipse">
            <a:avLst/>
          </a:prstGeom>
          <a:solidFill>
            <a:srgbClr val="0F6CBD"/>
          </a:solidFill>
          <a:ln/>
        </p:spPr>
      </p:sp>
      <p:sp>
        <p:nvSpPr>
          <p:cNvPr id="24" name="Text 22"/>
          <p:cNvSpPr/>
          <p:nvPr/>
        </p:nvSpPr>
        <p:spPr>
          <a:xfrm>
            <a:off x="7516368" y="2011680"/>
            <a:ext cx="420624" cy="420624"/>
          </a:xfrm>
          <a:prstGeom prst="rect">
            <a:avLst/>
          </a:prstGeom>
          <a:noFill/>
          <a:ln/>
        </p:spPr>
        <p:txBody>
          <a:bodyPr wrap="square" rtlCol="0" anchor="ct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4</a:t>
            </a:r>
            <a:endParaRPr lang="en-US" sz="1600" dirty="0"/>
          </a:p>
        </p:txBody>
      </p:sp>
      <p:sp>
        <p:nvSpPr>
          <p:cNvPr id="25" name="Text 23"/>
          <p:cNvSpPr/>
          <p:nvPr/>
        </p:nvSpPr>
        <p:spPr>
          <a:xfrm>
            <a:off x="7516368" y="2560320"/>
            <a:ext cx="1709928" cy="384048"/>
          </a:xfrm>
          <a:prstGeom prst="rect">
            <a:avLst/>
          </a:prstGeom>
          <a:noFill/>
          <a:ln/>
        </p:spPr>
        <p:txBody>
          <a:bodyPr wrap="square" rtlCol="0" anchor="ctr"/>
          <a:lstStyle/>
          <a:p>
            <a:pPr indent="0" marL="0">
              <a:buNone/>
            </a:pPr>
            <a:r>
              <a:rPr lang="en-US" sz="1600" b="1" dirty="0">
                <a:solidFill>
                  <a:srgbClr val="002050"/>
                </a:solidFill>
                <a:latin typeface="Aptos Display" pitchFamily="34" charset="0"/>
                <a:ea typeface="Aptos Display" pitchFamily="34" charset="-122"/>
                <a:cs typeface="Aptos Display" pitchFamily="34" charset="-120"/>
              </a:rPr>
              <a:t>Quiz</a:t>
            </a:r>
            <a:endParaRPr lang="en-US" sz="1600" dirty="0"/>
          </a:p>
        </p:txBody>
      </p:sp>
      <p:sp>
        <p:nvSpPr>
          <p:cNvPr id="26" name="Text 24"/>
          <p:cNvSpPr/>
          <p:nvPr/>
        </p:nvSpPr>
        <p:spPr>
          <a:xfrm>
            <a:off x="7516368" y="2962656"/>
            <a:ext cx="1709928" cy="74980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Pass the module quiz (80%+)</a:t>
            </a:r>
            <a:endParaRPr lang="en-US" sz="1200" dirty="0"/>
          </a:p>
        </p:txBody>
      </p:sp>
      <p:sp>
        <p:nvSpPr>
          <p:cNvPr id="27" name="Shape 25"/>
          <p:cNvSpPr/>
          <p:nvPr/>
        </p:nvSpPr>
        <p:spPr>
          <a:xfrm>
            <a:off x="9610344" y="1828800"/>
            <a:ext cx="2075688" cy="1920240"/>
          </a:xfrm>
          <a:prstGeom prst="roundRect">
            <a:avLst>
              <a:gd name="adj" fmla="val 428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8" name="Shape 26"/>
          <p:cNvSpPr/>
          <p:nvPr/>
        </p:nvSpPr>
        <p:spPr>
          <a:xfrm>
            <a:off x="9793224" y="2011680"/>
            <a:ext cx="420624" cy="420624"/>
          </a:xfrm>
          <a:prstGeom prst="ellipse">
            <a:avLst/>
          </a:prstGeom>
          <a:solidFill>
            <a:srgbClr val="002050"/>
          </a:solidFill>
          <a:ln/>
        </p:spPr>
      </p:sp>
      <p:sp>
        <p:nvSpPr>
          <p:cNvPr id="29" name="Text 27"/>
          <p:cNvSpPr/>
          <p:nvPr/>
        </p:nvSpPr>
        <p:spPr>
          <a:xfrm>
            <a:off x="9793224" y="2011680"/>
            <a:ext cx="420624" cy="420624"/>
          </a:xfrm>
          <a:prstGeom prst="rect">
            <a:avLst/>
          </a:prstGeom>
          <a:noFill/>
          <a:ln/>
        </p:spPr>
        <p:txBody>
          <a:bodyPr wrap="square" rtlCol="0" anchor="ct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5</a:t>
            </a:r>
            <a:endParaRPr lang="en-US" sz="1600" dirty="0"/>
          </a:p>
        </p:txBody>
      </p:sp>
      <p:sp>
        <p:nvSpPr>
          <p:cNvPr id="30" name="Text 28"/>
          <p:cNvSpPr/>
          <p:nvPr/>
        </p:nvSpPr>
        <p:spPr>
          <a:xfrm>
            <a:off x="9793224" y="2560320"/>
            <a:ext cx="1709928" cy="384048"/>
          </a:xfrm>
          <a:prstGeom prst="rect">
            <a:avLst/>
          </a:prstGeom>
          <a:noFill/>
          <a:ln/>
        </p:spPr>
        <p:txBody>
          <a:bodyPr wrap="square" rtlCol="0" anchor="ctr"/>
          <a:lstStyle/>
          <a:p>
            <a:pPr indent="0" marL="0">
              <a:buNone/>
            </a:pPr>
            <a:r>
              <a:rPr lang="en-US" sz="1600" b="1" dirty="0">
                <a:solidFill>
                  <a:srgbClr val="002050"/>
                </a:solidFill>
                <a:latin typeface="Aptos Display" pitchFamily="34" charset="0"/>
                <a:ea typeface="Aptos Display" pitchFamily="34" charset="-122"/>
                <a:cs typeface="Aptos Display" pitchFamily="34" charset="-120"/>
              </a:rPr>
              <a:t>Assignment</a:t>
            </a:r>
            <a:endParaRPr lang="en-US" sz="1600" dirty="0"/>
          </a:p>
        </p:txBody>
      </p:sp>
      <p:sp>
        <p:nvSpPr>
          <p:cNvPr id="31" name="Text 29"/>
          <p:cNvSpPr/>
          <p:nvPr/>
        </p:nvSpPr>
        <p:spPr>
          <a:xfrm>
            <a:off x="9793224" y="2962656"/>
            <a:ext cx="1709928" cy="749808"/>
          </a:xfrm>
          <a:prstGeom prst="rect">
            <a:avLst/>
          </a:prstGeom>
          <a:noFill/>
          <a:ln/>
        </p:spPr>
        <p:txBody>
          <a:bodyPr wrap="square" rtlCol="0" anchor="t"/>
          <a:lstStyle/>
          <a:p>
            <a:pPr indent="0" marL="0">
              <a:lnSpc>
                <a:spcPct val="110000"/>
              </a:lnSpc>
              <a:buNone/>
            </a:pPr>
            <a:r>
              <a:rPr lang="en-US" sz="1200" dirty="0">
                <a:solidFill>
                  <a:srgbClr val="6B7280"/>
                </a:solidFill>
                <a:latin typeface="Aptos" pitchFamily="34" charset="0"/>
                <a:ea typeface="Aptos" pitchFamily="34" charset="-122"/>
                <a:cs typeface="Aptos" pitchFamily="34" charset="-120"/>
              </a:rPr>
              <a:t>Submit the official assignment for your POE</a:t>
            </a:r>
            <a:endParaRPr lang="en-US" sz="1200" dirty="0"/>
          </a:p>
        </p:txBody>
      </p:sp>
      <p:sp>
        <p:nvSpPr>
          <p:cNvPr id="32" name="Shape 30"/>
          <p:cNvSpPr/>
          <p:nvPr/>
        </p:nvSpPr>
        <p:spPr>
          <a:xfrm>
            <a:off x="502920" y="4114800"/>
            <a:ext cx="11183112" cy="777240"/>
          </a:xfrm>
          <a:prstGeom prst="roundRect">
            <a:avLst>
              <a:gd name="adj" fmla="val 10588"/>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4343400"/>
            <a:ext cx="310896" cy="310896"/>
          </a:xfrm>
          <a:prstGeom prst="rect">
            <a:avLst/>
          </a:prstGeom>
        </p:spPr>
      </p:pic>
      <p:sp>
        <p:nvSpPr>
          <p:cNvPr id="34" name="Text 31"/>
          <p:cNvSpPr/>
          <p:nvPr/>
        </p:nvSpPr>
        <p:spPr>
          <a:xfrm>
            <a:off x="1124712" y="4114800"/>
            <a:ext cx="10314432" cy="777240"/>
          </a:xfrm>
          <a:prstGeom prst="rect">
            <a:avLst/>
          </a:prstGeom>
          <a:noFill/>
          <a:ln/>
        </p:spPr>
        <p:txBody>
          <a:bodyPr wrap="square" rtlCol="0" anchor="ctr"/>
          <a:lstStyle/>
          <a:p>
            <a:pPr indent="0" marL="0">
              <a:buNone/>
            </a:pPr>
            <a:r>
              <a:rPr lang="en-US" sz="1450" b="1" dirty="0">
                <a:solidFill>
                  <a:srgbClr val="002050"/>
                </a:solidFill>
                <a:latin typeface="Aptos" pitchFamily="34" charset="0"/>
                <a:ea typeface="Aptos" pitchFamily="34" charset="-122"/>
                <a:cs typeface="Aptos" pitchFamily="34" charset="-120"/>
              </a:rPr>
              <a:t>After all six modules:  </a:t>
            </a:r>
            <a:pPr indent="0" marL="0">
              <a:buNone/>
            </a:pPr>
            <a:r>
              <a:rPr lang="en-US" sz="1450" dirty="0">
                <a:solidFill>
                  <a:srgbClr val="002050"/>
                </a:solidFill>
                <a:latin typeface="Aptos" pitchFamily="34" charset="0"/>
                <a:ea typeface="Aptos" pitchFamily="34" charset="-122"/>
                <a:cs typeface="Aptos" pitchFamily="34" charset="-120"/>
              </a:rPr>
              <a:t>Remedials (if needed) → FISA → Logbook sign-off → Certification (148 credits)</a:t>
            </a:r>
            <a:endParaRPr lang="en-US" sz="1450" dirty="0"/>
          </a:p>
        </p:txBody>
      </p:sp>
      <p:sp>
        <p:nvSpPr>
          <p:cNvPr id="35" name="Text 32"/>
          <p:cNvSpPr/>
          <p:nvPr/>
        </p:nvSpPr>
        <p:spPr>
          <a:xfrm>
            <a:off x="502920" y="5074920"/>
            <a:ext cx="11183112" cy="365760"/>
          </a:xfrm>
          <a:prstGeom prst="rect">
            <a:avLst/>
          </a:prstGeom>
          <a:noFill/>
          <a:ln/>
        </p:spPr>
        <p:txBody>
          <a:bodyPr wrap="square" rtlCol="0" anchor="ctr"/>
          <a:lstStyle/>
          <a:p>
            <a:pPr indent="0" marL="0">
              <a:buNone/>
            </a:pPr>
            <a:r>
              <a:rPr lang="en-US" sz="1250" i="1" dirty="0">
                <a:solidFill>
                  <a:srgbClr val="6B7280"/>
                </a:solidFill>
                <a:latin typeface="Aptos" pitchFamily="34" charset="0"/>
                <a:ea typeface="Aptos" pitchFamily="34" charset="-122"/>
                <a:cs typeface="Aptos" pitchFamily="34" charset="-120"/>
              </a:rPr>
              <a:t>Remedials: 11, 18, 25 Jun 2027 · FISA (Final Integrated Summative Assessment): 2, 9 Jul 2027 · Logbook: 6, 23, 30 Jul 2027 — all sessions 09h00 – 14h00.</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AFTER THE SIX MODULES</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Remedials · FISA · Logbook</a:t>
            </a:r>
            <a:endParaRPr lang="en-US" sz="3000" dirty="0"/>
          </a:p>
        </p:txBody>
      </p:sp>
      <p:sp>
        <p:nvSpPr>
          <p:cNvPr id="7" name="Text 5"/>
          <p:cNvSpPr/>
          <p:nvPr/>
        </p:nvSpPr>
        <p:spPr>
          <a:xfrm>
            <a:off x="502920" y="1298448"/>
            <a:ext cx="11183112" cy="548640"/>
          </a:xfrm>
          <a:prstGeom prst="rect">
            <a:avLst/>
          </a:prstGeom>
          <a:noFill/>
          <a:ln/>
        </p:spPr>
        <p:txBody>
          <a:bodyPr wrap="square" rtlCol="0" anchor="t"/>
          <a:lstStyle/>
          <a:p>
            <a:pPr indent="0" marL="0">
              <a:lnSpc>
                <a:spcPct val="115000"/>
              </a:lnSpc>
              <a:buNone/>
            </a:pPr>
            <a:r>
              <a:rPr lang="en-US" sz="1600" dirty="0">
                <a:solidFill>
                  <a:srgbClr val="6B7280"/>
                </a:solidFill>
                <a:latin typeface="Aptos" pitchFamily="34" charset="0"/>
                <a:ea typeface="Aptos" pitchFamily="34" charset="-122"/>
                <a:cs typeface="Aptos" pitchFamily="34" charset="-120"/>
              </a:rPr>
              <a:t>Once all six modules are complete, three final steps stand between you and certification.</a:t>
            </a:r>
            <a:endParaRPr lang="en-US" sz="1600" dirty="0"/>
          </a:p>
        </p:txBody>
      </p:sp>
      <p:sp>
        <p:nvSpPr>
          <p:cNvPr id="8" name="Shape 6"/>
          <p:cNvSpPr/>
          <p:nvPr/>
        </p:nvSpPr>
        <p:spPr>
          <a:xfrm>
            <a:off x="502920" y="1965960"/>
            <a:ext cx="3593592" cy="2880360"/>
          </a:xfrm>
          <a:prstGeom prst="roundRect">
            <a:avLst>
              <a:gd name="adj" fmla="val 285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2376" y="2194560"/>
            <a:ext cx="420624" cy="420624"/>
          </a:xfrm>
          <a:prstGeom prst="rect">
            <a:avLst/>
          </a:prstGeom>
        </p:spPr>
      </p:pic>
      <p:sp>
        <p:nvSpPr>
          <p:cNvPr id="10" name="Text 7"/>
          <p:cNvSpPr/>
          <p:nvPr/>
        </p:nvSpPr>
        <p:spPr>
          <a:xfrm>
            <a:off x="1271016" y="2212848"/>
            <a:ext cx="2624328" cy="420624"/>
          </a:xfrm>
          <a:prstGeom prst="rect">
            <a:avLst/>
          </a:prstGeom>
          <a:noFill/>
          <a:ln/>
        </p:spPr>
        <p:txBody>
          <a:bodyPr wrap="square" rtlCol="0" anchor="ctr"/>
          <a:lstStyle/>
          <a:p>
            <a:pPr indent="0" marL="0">
              <a:buNone/>
            </a:pPr>
            <a:r>
              <a:rPr lang="en-US" sz="2000" b="1" dirty="0">
                <a:solidFill>
                  <a:srgbClr val="002050"/>
                </a:solidFill>
                <a:latin typeface="Aptos Display" pitchFamily="34" charset="0"/>
                <a:ea typeface="Aptos Display" pitchFamily="34" charset="-122"/>
                <a:cs typeface="Aptos Display" pitchFamily="34" charset="-120"/>
              </a:rPr>
              <a:t>Remedials</a:t>
            </a:r>
            <a:endParaRPr lang="en-US" sz="2000" dirty="0"/>
          </a:p>
        </p:txBody>
      </p:sp>
      <p:sp>
        <p:nvSpPr>
          <p:cNvPr id="11" name="Text 8"/>
          <p:cNvSpPr/>
          <p:nvPr/>
        </p:nvSpPr>
        <p:spPr>
          <a:xfrm>
            <a:off x="722376" y="2788920"/>
            <a:ext cx="3154680" cy="1463040"/>
          </a:xfrm>
          <a:prstGeom prst="rect">
            <a:avLst/>
          </a:prstGeom>
          <a:noFill/>
          <a:ln/>
        </p:spPr>
        <p:txBody>
          <a:bodyPr wrap="square" rtlCol="0" anchor="t"/>
          <a:lstStyle/>
          <a:p>
            <a:pPr indent="0" marL="0">
              <a:lnSpc>
                <a:spcPct val="120000"/>
              </a:lnSpc>
              <a:buNone/>
            </a:pPr>
            <a:r>
              <a:rPr lang="en-US" sz="1300" dirty="0">
                <a:solidFill>
                  <a:srgbClr val="6B7280"/>
                </a:solidFill>
                <a:latin typeface="Aptos" pitchFamily="34" charset="0"/>
                <a:ea typeface="Aptos" pitchFamily="34" charset="-122"/>
                <a:cs typeface="Aptos" pitchFamily="34" charset="-120"/>
              </a:rPr>
              <a:t>Extra support sessions to close any gaps identified in your assessments. You re-attempt only the outcomes not yet achieved — attend only if needed.</a:t>
            </a:r>
            <a:endParaRPr lang="en-US" sz="1300" dirty="0"/>
          </a:p>
        </p:txBody>
      </p:sp>
      <p:sp>
        <p:nvSpPr>
          <p:cNvPr id="12" name="Shape 9"/>
          <p:cNvSpPr/>
          <p:nvPr/>
        </p:nvSpPr>
        <p:spPr>
          <a:xfrm>
            <a:off x="722376" y="4315968"/>
            <a:ext cx="3154680" cy="402336"/>
          </a:xfrm>
          <a:prstGeom prst="roundRect">
            <a:avLst>
              <a:gd name="adj" fmla="val 50000"/>
            </a:avLst>
          </a:prstGeom>
          <a:solidFill>
            <a:srgbClr val="EAF4FF"/>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0392" y="4389120"/>
            <a:ext cx="256032" cy="256032"/>
          </a:xfrm>
          <a:prstGeom prst="rect">
            <a:avLst/>
          </a:prstGeom>
        </p:spPr>
      </p:pic>
      <p:sp>
        <p:nvSpPr>
          <p:cNvPr id="14" name="Text 10"/>
          <p:cNvSpPr/>
          <p:nvPr/>
        </p:nvSpPr>
        <p:spPr>
          <a:xfrm>
            <a:off x="1161288" y="4315968"/>
            <a:ext cx="2679192" cy="402336"/>
          </a:xfrm>
          <a:prstGeom prst="rect">
            <a:avLst/>
          </a:prstGeom>
          <a:noFill/>
          <a:ln/>
        </p:spPr>
        <p:txBody>
          <a:bodyPr wrap="square" rtlCol="0" anchor="ctr"/>
          <a:lstStyle/>
          <a:p>
            <a:pPr indent="0" marL="0">
              <a:buNone/>
            </a:pPr>
            <a:r>
              <a:rPr lang="en-US" sz="1250" b="1" dirty="0">
                <a:solidFill>
                  <a:srgbClr val="0F6CBD"/>
                </a:solidFill>
                <a:latin typeface="Aptos" pitchFamily="34" charset="0"/>
                <a:ea typeface="Aptos" pitchFamily="34" charset="-122"/>
                <a:cs typeface="Aptos" pitchFamily="34" charset="-120"/>
              </a:rPr>
              <a:t>11, 18, 25 Jun 2027</a:t>
            </a:r>
            <a:endParaRPr lang="en-US" sz="1250" dirty="0"/>
          </a:p>
        </p:txBody>
      </p:sp>
      <p:sp>
        <p:nvSpPr>
          <p:cNvPr id="15" name="Shape 11"/>
          <p:cNvSpPr/>
          <p:nvPr/>
        </p:nvSpPr>
        <p:spPr>
          <a:xfrm>
            <a:off x="4114800" y="3246120"/>
            <a:ext cx="365760" cy="329184"/>
          </a:xfrm>
          <a:prstGeom prst="rightArrow">
            <a:avLst/>
          </a:prstGeom>
          <a:solidFill>
            <a:srgbClr val="0F6CBD"/>
          </a:solidFill>
          <a:ln/>
        </p:spPr>
      </p:sp>
      <p:sp>
        <p:nvSpPr>
          <p:cNvPr id="16" name="Shape 12"/>
          <p:cNvSpPr/>
          <p:nvPr/>
        </p:nvSpPr>
        <p:spPr>
          <a:xfrm>
            <a:off x="4297680" y="1965960"/>
            <a:ext cx="3593592" cy="2880360"/>
          </a:xfrm>
          <a:prstGeom prst="roundRect">
            <a:avLst>
              <a:gd name="adj" fmla="val 285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17136" y="2194560"/>
            <a:ext cx="420624" cy="420624"/>
          </a:xfrm>
          <a:prstGeom prst="rect">
            <a:avLst/>
          </a:prstGeom>
        </p:spPr>
      </p:pic>
      <p:sp>
        <p:nvSpPr>
          <p:cNvPr id="18" name="Text 13"/>
          <p:cNvSpPr/>
          <p:nvPr/>
        </p:nvSpPr>
        <p:spPr>
          <a:xfrm>
            <a:off x="5065776" y="2212848"/>
            <a:ext cx="2624328" cy="420624"/>
          </a:xfrm>
          <a:prstGeom prst="rect">
            <a:avLst/>
          </a:prstGeom>
          <a:noFill/>
          <a:ln/>
        </p:spPr>
        <p:txBody>
          <a:bodyPr wrap="square" rtlCol="0" anchor="ctr"/>
          <a:lstStyle/>
          <a:p>
            <a:pPr indent="0" marL="0">
              <a:buNone/>
            </a:pPr>
            <a:r>
              <a:rPr lang="en-US" sz="2000" b="1" dirty="0">
                <a:solidFill>
                  <a:srgbClr val="002050"/>
                </a:solidFill>
                <a:latin typeface="Aptos Display" pitchFamily="34" charset="0"/>
                <a:ea typeface="Aptos Display" pitchFamily="34" charset="-122"/>
                <a:cs typeface="Aptos Display" pitchFamily="34" charset="-120"/>
              </a:rPr>
              <a:t>FISA</a:t>
            </a:r>
            <a:endParaRPr lang="en-US" sz="2000" dirty="0"/>
          </a:p>
        </p:txBody>
      </p:sp>
      <p:sp>
        <p:nvSpPr>
          <p:cNvPr id="19" name="Text 14"/>
          <p:cNvSpPr/>
          <p:nvPr/>
        </p:nvSpPr>
        <p:spPr>
          <a:xfrm>
            <a:off x="4517136" y="2788920"/>
            <a:ext cx="3154680" cy="1463040"/>
          </a:xfrm>
          <a:prstGeom prst="rect">
            <a:avLst/>
          </a:prstGeom>
          <a:noFill/>
          <a:ln/>
        </p:spPr>
        <p:txBody>
          <a:bodyPr wrap="square" rtlCol="0" anchor="t"/>
          <a:lstStyle/>
          <a:p>
            <a:pPr indent="0" marL="0">
              <a:lnSpc>
                <a:spcPct val="120000"/>
              </a:lnSpc>
              <a:buNone/>
            </a:pPr>
            <a:r>
              <a:rPr lang="en-US" sz="1300" dirty="0">
                <a:solidFill>
                  <a:srgbClr val="6B7280"/>
                </a:solidFill>
                <a:latin typeface="Aptos" pitchFamily="34" charset="0"/>
                <a:ea typeface="Aptos" pitchFamily="34" charset="-122"/>
                <a:cs typeface="Aptos" pitchFamily="34" charset="-120"/>
              </a:rPr>
              <a:t>Final Integrated Summative Assessment — the final comprehensive exam covering the whole curriculum, integrating all six modules and 24 unit standards.</a:t>
            </a:r>
            <a:endParaRPr lang="en-US" sz="1300" dirty="0"/>
          </a:p>
        </p:txBody>
      </p:sp>
      <p:sp>
        <p:nvSpPr>
          <p:cNvPr id="20" name="Shape 15"/>
          <p:cNvSpPr/>
          <p:nvPr/>
        </p:nvSpPr>
        <p:spPr>
          <a:xfrm>
            <a:off x="4517136" y="4315968"/>
            <a:ext cx="3154680" cy="402336"/>
          </a:xfrm>
          <a:prstGeom prst="roundRect">
            <a:avLst>
              <a:gd name="adj" fmla="val 50000"/>
            </a:avLst>
          </a:prstGeom>
          <a:solidFill>
            <a:srgbClr val="EAF4FF"/>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45152" y="4389120"/>
            <a:ext cx="256032" cy="256032"/>
          </a:xfrm>
          <a:prstGeom prst="rect">
            <a:avLst/>
          </a:prstGeom>
        </p:spPr>
      </p:pic>
      <p:sp>
        <p:nvSpPr>
          <p:cNvPr id="22" name="Text 16"/>
          <p:cNvSpPr/>
          <p:nvPr/>
        </p:nvSpPr>
        <p:spPr>
          <a:xfrm>
            <a:off x="4956048" y="4315968"/>
            <a:ext cx="2679192" cy="402336"/>
          </a:xfrm>
          <a:prstGeom prst="rect">
            <a:avLst/>
          </a:prstGeom>
          <a:noFill/>
          <a:ln/>
        </p:spPr>
        <p:txBody>
          <a:bodyPr wrap="square" rtlCol="0" anchor="ctr"/>
          <a:lstStyle/>
          <a:p>
            <a:pPr indent="0" marL="0">
              <a:buNone/>
            </a:pPr>
            <a:r>
              <a:rPr lang="en-US" sz="1250" b="1" dirty="0">
                <a:solidFill>
                  <a:srgbClr val="0F6CBD"/>
                </a:solidFill>
                <a:latin typeface="Aptos" pitchFamily="34" charset="0"/>
                <a:ea typeface="Aptos" pitchFamily="34" charset="-122"/>
                <a:cs typeface="Aptos" pitchFamily="34" charset="-120"/>
              </a:rPr>
              <a:t>2, 9 Jul 2027</a:t>
            </a:r>
            <a:endParaRPr lang="en-US" sz="1250" dirty="0"/>
          </a:p>
        </p:txBody>
      </p:sp>
      <p:sp>
        <p:nvSpPr>
          <p:cNvPr id="23" name="Shape 17"/>
          <p:cNvSpPr/>
          <p:nvPr/>
        </p:nvSpPr>
        <p:spPr>
          <a:xfrm>
            <a:off x="7909560" y="3246120"/>
            <a:ext cx="365760" cy="329184"/>
          </a:xfrm>
          <a:prstGeom prst="rightArrow">
            <a:avLst/>
          </a:prstGeom>
          <a:solidFill>
            <a:srgbClr val="0F6CBD"/>
          </a:solidFill>
          <a:ln/>
        </p:spPr>
      </p:sp>
      <p:sp>
        <p:nvSpPr>
          <p:cNvPr id="24" name="Shape 18"/>
          <p:cNvSpPr/>
          <p:nvPr/>
        </p:nvSpPr>
        <p:spPr>
          <a:xfrm>
            <a:off x="8092440" y="1965960"/>
            <a:ext cx="3593592" cy="2880360"/>
          </a:xfrm>
          <a:prstGeom prst="roundRect">
            <a:avLst>
              <a:gd name="adj" fmla="val 285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11896" y="2194560"/>
            <a:ext cx="420624" cy="420624"/>
          </a:xfrm>
          <a:prstGeom prst="rect">
            <a:avLst/>
          </a:prstGeom>
        </p:spPr>
      </p:pic>
      <p:sp>
        <p:nvSpPr>
          <p:cNvPr id="26" name="Text 19"/>
          <p:cNvSpPr/>
          <p:nvPr/>
        </p:nvSpPr>
        <p:spPr>
          <a:xfrm>
            <a:off x="8860536" y="2212848"/>
            <a:ext cx="2624328" cy="420624"/>
          </a:xfrm>
          <a:prstGeom prst="rect">
            <a:avLst/>
          </a:prstGeom>
          <a:noFill/>
          <a:ln/>
        </p:spPr>
        <p:txBody>
          <a:bodyPr wrap="square" rtlCol="0" anchor="ctr"/>
          <a:lstStyle/>
          <a:p>
            <a:pPr indent="0" marL="0">
              <a:buNone/>
            </a:pPr>
            <a:r>
              <a:rPr lang="en-US" sz="2000" b="1" dirty="0">
                <a:solidFill>
                  <a:srgbClr val="002050"/>
                </a:solidFill>
                <a:latin typeface="Aptos Display" pitchFamily="34" charset="0"/>
                <a:ea typeface="Aptos Display" pitchFamily="34" charset="-122"/>
                <a:cs typeface="Aptos Display" pitchFamily="34" charset="-120"/>
              </a:rPr>
              <a:t>Logbook</a:t>
            </a:r>
            <a:endParaRPr lang="en-US" sz="2000" dirty="0"/>
          </a:p>
        </p:txBody>
      </p:sp>
      <p:sp>
        <p:nvSpPr>
          <p:cNvPr id="27" name="Text 20"/>
          <p:cNvSpPr/>
          <p:nvPr/>
        </p:nvSpPr>
        <p:spPr>
          <a:xfrm>
            <a:off x="8311896" y="2788920"/>
            <a:ext cx="3154680" cy="1463040"/>
          </a:xfrm>
          <a:prstGeom prst="rect">
            <a:avLst/>
          </a:prstGeom>
          <a:noFill/>
          <a:ln/>
        </p:spPr>
        <p:txBody>
          <a:bodyPr wrap="square" rtlCol="0" anchor="t"/>
          <a:lstStyle/>
          <a:p>
            <a:pPr indent="0" marL="0">
              <a:lnSpc>
                <a:spcPct val="120000"/>
              </a:lnSpc>
              <a:buNone/>
            </a:pPr>
            <a:r>
              <a:rPr lang="en-US" sz="1300" dirty="0">
                <a:solidFill>
                  <a:srgbClr val="6B7280"/>
                </a:solidFill>
                <a:latin typeface="Aptos" pitchFamily="34" charset="0"/>
                <a:ea typeface="Aptos" pitchFamily="34" charset="-122"/>
                <a:cs typeface="Aptos" pitchFamily="34" charset="-120"/>
              </a:rPr>
              <a:t>Your workplace evidence logbook is completed, verified and signed off with your facilitator and workplace mentor as final proof of applied competence.</a:t>
            </a:r>
            <a:endParaRPr lang="en-US" sz="1300" dirty="0"/>
          </a:p>
        </p:txBody>
      </p:sp>
      <p:sp>
        <p:nvSpPr>
          <p:cNvPr id="28" name="Shape 21"/>
          <p:cNvSpPr/>
          <p:nvPr/>
        </p:nvSpPr>
        <p:spPr>
          <a:xfrm>
            <a:off x="8311896" y="4315968"/>
            <a:ext cx="3154680" cy="402336"/>
          </a:xfrm>
          <a:prstGeom prst="roundRect">
            <a:avLst>
              <a:gd name="adj" fmla="val 50000"/>
            </a:avLst>
          </a:prstGeom>
          <a:solidFill>
            <a:srgbClr val="EAF4FF"/>
          </a:solidFill>
          <a:ln/>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39912" y="4389120"/>
            <a:ext cx="256032" cy="256032"/>
          </a:xfrm>
          <a:prstGeom prst="rect">
            <a:avLst/>
          </a:prstGeom>
        </p:spPr>
      </p:pic>
      <p:sp>
        <p:nvSpPr>
          <p:cNvPr id="30" name="Text 22"/>
          <p:cNvSpPr/>
          <p:nvPr/>
        </p:nvSpPr>
        <p:spPr>
          <a:xfrm>
            <a:off x="8750808" y="4315968"/>
            <a:ext cx="2679192" cy="402336"/>
          </a:xfrm>
          <a:prstGeom prst="rect">
            <a:avLst/>
          </a:prstGeom>
          <a:noFill/>
          <a:ln/>
        </p:spPr>
        <p:txBody>
          <a:bodyPr wrap="square" rtlCol="0" anchor="ctr"/>
          <a:lstStyle/>
          <a:p>
            <a:pPr indent="0" marL="0">
              <a:buNone/>
            </a:pPr>
            <a:r>
              <a:rPr lang="en-US" sz="1250" b="1" dirty="0">
                <a:solidFill>
                  <a:srgbClr val="0F6CBD"/>
                </a:solidFill>
                <a:latin typeface="Aptos" pitchFamily="34" charset="0"/>
                <a:ea typeface="Aptos" pitchFamily="34" charset="-122"/>
                <a:cs typeface="Aptos" pitchFamily="34" charset="-120"/>
              </a:rPr>
              <a:t>6, 23, 30 Jul 2027</a:t>
            </a:r>
            <a:endParaRPr lang="en-US" sz="1250" dirty="0"/>
          </a:p>
        </p:txBody>
      </p:sp>
      <p:sp>
        <p:nvSpPr>
          <p:cNvPr id="31" name="Shape 23"/>
          <p:cNvSpPr/>
          <p:nvPr/>
        </p:nvSpPr>
        <p:spPr>
          <a:xfrm>
            <a:off x="502920" y="5257800"/>
            <a:ext cx="11183112" cy="777240"/>
          </a:xfrm>
          <a:prstGeom prst="roundRect">
            <a:avLst>
              <a:gd name="adj" fmla="val 10588"/>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04088" y="5486400"/>
            <a:ext cx="310896" cy="310896"/>
          </a:xfrm>
          <a:prstGeom prst="rect">
            <a:avLst/>
          </a:prstGeom>
        </p:spPr>
      </p:pic>
      <p:sp>
        <p:nvSpPr>
          <p:cNvPr id="33" name="Text 24"/>
          <p:cNvSpPr/>
          <p:nvPr/>
        </p:nvSpPr>
        <p:spPr>
          <a:xfrm>
            <a:off x="1124712" y="5257800"/>
            <a:ext cx="10314432" cy="777240"/>
          </a:xfrm>
          <a:prstGeom prst="rect">
            <a:avLst/>
          </a:prstGeom>
          <a:noFill/>
          <a:ln/>
        </p:spPr>
        <p:txBody>
          <a:bodyPr wrap="square" rtlCol="0" anchor="ctr"/>
          <a:lstStyle/>
          <a:p>
            <a:pPr indent="0" marL="0">
              <a:buNone/>
            </a:pPr>
            <a:r>
              <a:rPr lang="en-US" sz="1400" b="1" dirty="0">
                <a:solidFill>
                  <a:srgbClr val="002050"/>
                </a:solidFill>
                <a:latin typeface="Aptos" pitchFamily="34" charset="0"/>
                <a:ea typeface="Aptos" pitchFamily="34" charset="-122"/>
                <a:cs typeface="Aptos" pitchFamily="34" charset="-120"/>
              </a:rPr>
              <a:t>Pass FISA and have your logbook signed off </a:t>
            </a:r>
            <a:pPr indent="0" marL="0">
              <a:buNone/>
            </a:pPr>
            <a:r>
              <a:rPr lang="en-US" sz="1400" dirty="0">
                <a:solidFill>
                  <a:srgbClr val="002050"/>
                </a:solidFill>
                <a:latin typeface="Aptos" pitchFamily="34" charset="0"/>
                <a:ea typeface="Aptos" pitchFamily="34" charset="-122"/>
                <a:cs typeface="Aptos" pitchFamily="34" charset="-120"/>
              </a:rPr>
              <a:t>— and you are certificated with the National Certificate: Information Technology — System Support (148 credits, NQF 5).</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MODULES</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Six modules · 24 unit standards · 148 credits</a:t>
            </a:r>
            <a:endParaRPr lang="en-US" sz="3000" dirty="0"/>
          </a:p>
        </p:txBody>
      </p:sp>
      <p:sp>
        <p:nvSpPr>
          <p:cNvPr id="7" name="Shape 5"/>
          <p:cNvSpPr/>
          <p:nvPr/>
        </p:nvSpPr>
        <p:spPr>
          <a:xfrm>
            <a:off x="502920" y="1691640"/>
            <a:ext cx="3593592"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892808"/>
            <a:ext cx="384048" cy="384048"/>
          </a:xfrm>
          <a:prstGeom prst="rect">
            <a:avLst/>
          </a:prstGeom>
        </p:spPr>
      </p:pic>
      <p:sp>
        <p:nvSpPr>
          <p:cNvPr id="9" name="Text 6"/>
          <p:cNvSpPr/>
          <p:nvPr/>
        </p:nvSpPr>
        <p:spPr>
          <a:xfrm>
            <a:off x="1216152" y="1911096"/>
            <a:ext cx="2679192" cy="274320"/>
          </a:xfrm>
          <a:prstGeom prst="rect">
            <a:avLst/>
          </a:prstGeom>
          <a:noFill/>
          <a:ln/>
        </p:spPr>
        <p:txBody>
          <a:bodyPr wrap="square" rtlCol="0" anchor="ctr"/>
          <a:lstStyle/>
          <a:p>
            <a:pPr indent="0" marL="0">
              <a:buNone/>
            </a:pPr>
            <a:r>
              <a:rPr lang="en-US" sz="1150" b="1" spc="150" kern="0" dirty="0">
                <a:solidFill>
                  <a:srgbClr val="0F6CBD"/>
                </a:solidFill>
                <a:latin typeface="Aptos" pitchFamily="34" charset="0"/>
                <a:ea typeface="Aptos" pitchFamily="34" charset="-122"/>
                <a:cs typeface="Aptos" pitchFamily="34" charset="-120"/>
              </a:rPr>
              <a:t>MODULE 1</a:t>
            </a:r>
            <a:endParaRPr lang="en-US" sz="1150" dirty="0"/>
          </a:p>
        </p:txBody>
      </p:sp>
      <p:sp>
        <p:nvSpPr>
          <p:cNvPr id="10" name="Text 7"/>
          <p:cNvSpPr/>
          <p:nvPr/>
        </p:nvSpPr>
        <p:spPr>
          <a:xfrm>
            <a:off x="704088" y="2350008"/>
            <a:ext cx="3191256" cy="713232"/>
          </a:xfrm>
          <a:prstGeom prst="rect">
            <a:avLst/>
          </a:prstGeom>
          <a:noFill/>
          <a:ln/>
        </p:spPr>
        <p:txBody>
          <a:bodyPr wrap="square" rtlCol="0" anchor="t"/>
          <a:lstStyle/>
          <a:p>
            <a:pPr indent="0" marL="0">
              <a:lnSpc>
                <a:spcPct val="105000"/>
              </a:lnSpc>
              <a:buNone/>
            </a:pPr>
            <a:r>
              <a:rPr lang="en-US" sz="1450" b="1" dirty="0">
                <a:solidFill>
                  <a:srgbClr val="002050"/>
                </a:solidFill>
                <a:latin typeface="Aptos Display" pitchFamily="34" charset="0"/>
                <a:ea typeface="Aptos Display" pitchFamily="34" charset="-122"/>
                <a:cs typeface="Aptos Display" pitchFamily="34" charset="-120"/>
              </a:rPr>
              <a:t>Personal Development</a:t>
            </a:r>
            <a:endParaRPr lang="en-US" sz="1450" dirty="0"/>
          </a:p>
        </p:txBody>
      </p:sp>
      <p:sp>
        <p:nvSpPr>
          <p:cNvPr id="11" name="Text 8"/>
          <p:cNvSpPr/>
          <p:nvPr/>
        </p:nvSpPr>
        <p:spPr>
          <a:xfrm>
            <a:off x="704088" y="3081528"/>
            <a:ext cx="3191256" cy="292608"/>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7 unit standards · 36 credits · 6 activities</a:t>
            </a:r>
            <a:endParaRPr lang="en-US" sz="1200" dirty="0"/>
          </a:p>
        </p:txBody>
      </p:sp>
      <p:sp>
        <p:nvSpPr>
          <p:cNvPr id="12" name="Shape 9"/>
          <p:cNvSpPr/>
          <p:nvPr/>
        </p:nvSpPr>
        <p:spPr>
          <a:xfrm>
            <a:off x="4297680" y="1691640"/>
            <a:ext cx="3593592"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848" y="1892808"/>
            <a:ext cx="384048" cy="384048"/>
          </a:xfrm>
          <a:prstGeom prst="rect">
            <a:avLst/>
          </a:prstGeom>
        </p:spPr>
      </p:pic>
      <p:sp>
        <p:nvSpPr>
          <p:cNvPr id="14" name="Text 10"/>
          <p:cNvSpPr/>
          <p:nvPr/>
        </p:nvSpPr>
        <p:spPr>
          <a:xfrm>
            <a:off x="5010912" y="1911096"/>
            <a:ext cx="2679192" cy="274320"/>
          </a:xfrm>
          <a:prstGeom prst="rect">
            <a:avLst/>
          </a:prstGeom>
          <a:noFill/>
          <a:ln/>
        </p:spPr>
        <p:txBody>
          <a:bodyPr wrap="square" rtlCol="0" anchor="ctr"/>
          <a:lstStyle/>
          <a:p>
            <a:pPr indent="0" marL="0">
              <a:buNone/>
            </a:pPr>
            <a:r>
              <a:rPr lang="en-US" sz="1150" b="1" spc="150" kern="0" dirty="0">
                <a:solidFill>
                  <a:srgbClr val="0F6CBD"/>
                </a:solidFill>
                <a:latin typeface="Aptos" pitchFamily="34" charset="0"/>
                <a:ea typeface="Aptos" pitchFamily="34" charset="-122"/>
                <a:cs typeface="Aptos" pitchFamily="34" charset="-120"/>
              </a:rPr>
              <a:t>MODULE 2</a:t>
            </a:r>
            <a:endParaRPr lang="en-US" sz="1150" dirty="0"/>
          </a:p>
        </p:txBody>
      </p:sp>
      <p:sp>
        <p:nvSpPr>
          <p:cNvPr id="15" name="Text 11"/>
          <p:cNvSpPr/>
          <p:nvPr/>
        </p:nvSpPr>
        <p:spPr>
          <a:xfrm>
            <a:off x="4498848" y="2350008"/>
            <a:ext cx="3191256" cy="713232"/>
          </a:xfrm>
          <a:prstGeom prst="rect">
            <a:avLst/>
          </a:prstGeom>
          <a:noFill/>
          <a:ln/>
        </p:spPr>
        <p:txBody>
          <a:bodyPr wrap="square" rtlCol="0" anchor="t"/>
          <a:lstStyle/>
          <a:p>
            <a:pPr indent="0" marL="0">
              <a:lnSpc>
                <a:spcPct val="105000"/>
              </a:lnSpc>
              <a:buNone/>
            </a:pPr>
            <a:r>
              <a:rPr lang="en-US" sz="1450" b="1" dirty="0">
                <a:solidFill>
                  <a:srgbClr val="002050"/>
                </a:solidFill>
                <a:latin typeface="Aptos Display" pitchFamily="34" charset="0"/>
                <a:ea typeface="Aptos Display" pitchFamily="34" charset="-122"/>
                <a:cs typeface="Aptos Display" pitchFamily="34" charset="-120"/>
              </a:rPr>
              <a:t>Client Server Networking</a:t>
            </a:r>
            <a:endParaRPr lang="en-US" sz="1450" dirty="0"/>
          </a:p>
        </p:txBody>
      </p:sp>
      <p:sp>
        <p:nvSpPr>
          <p:cNvPr id="16" name="Text 12"/>
          <p:cNvSpPr/>
          <p:nvPr/>
        </p:nvSpPr>
        <p:spPr>
          <a:xfrm>
            <a:off x="4498848" y="3081528"/>
            <a:ext cx="3191256" cy="292608"/>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3 unit standards · 15 credits · 4 activities</a:t>
            </a:r>
            <a:endParaRPr lang="en-US" sz="1200" dirty="0"/>
          </a:p>
        </p:txBody>
      </p:sp>
      <p:sp>
        <p:nvSpPr>
          <p:cNvPr id="17" name="Shape 13"/>
          <p:cNvSpPr/>
          <p:nvPr/>
        </p:nvSpPr>
        <p:spPr>
          <a:xfrm>
            <a:off x="8092440" y="1691640"/>
            <a:ext cx="3593592"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93608" y="1892808"/>
            <a:ext cx="384048" cy="384048"/>
          </a:xfrm>
          <a:prstGeom prst="rect">
            <a:avLst/>
          </a:prstGeom>
        </p:spPr>
      </p:pic>
      <p:sp>
        <p:nvSpPr>
          <p:cNvPr id="19" name="Text 14"/>
          <p:cNvSpPr/>
          <p:nvPr/>
        </p:nvSpPr>
        <p:spPr>
          <a:xfrm>
            <a:off x="8805672" y="1911096"/>
            <a:ext cx="2679192" cy="274320"/>
          </a:xfrm>
          <a:prstGeom prst="rect">
            <a:avLst/>
          </a:prstGeom>
          <a:noFill/>
          <a:ln/>
        </p:spPr>
        <p:txBody>
          <a:bodyPr wrap="square" rtlCol="0" anchor="ctr"/>
          <a:lstStyle/>
          <a:p>
            <a:pPr indent="0" marL="0">
              <a:buNone/>
            </a:pPr>
            <a:r>
              <a:rPr lang="en-US" sz="1150" b="1" spc="150" kern="0" dirty="0">
                <a:solidFill>
                  <a:srgbClr val="0F6CBD"/>
                </a:solidFill>
                <a:latin typeface="Aptos" pitchFamily="34" charset="0"/>
                <a:ea typeface="Aptos" pitchFamily="34" charset="-122"/>
                <a:cs typeface="Aptos" pitchFamily="34" charset="-120"/>
              </a:rPr>
              <a:t>MODULE 3</a:t>
            </a:r>
            <a:endParaRPr lang="en-US" sz="1150" dirty="0"/>
          </a:p>
        </p:txBody>
      </p:sp>
      <p:sp>
        <p:nvSpPr>
          <p:cNvPr id="20" name="Text 15"/>
          <p:cNvSpPr/>
          <p:nvPr/>
        </p:nvSpPr>
        <p:spPr>
          <a:xfrm>
            <a:off x="8293608" y="2350008"/>
            <a:ext cx="3191256" cy="713232"/>
          </a:xfrm>
          <a:prstGeom prst="rect">
            <a:avLst/>
          </a:prstGeom>
          <a:noFill/>
          <a:ln/>
        </p:spPr>
        <p:txBody>
          <a:bodyPr wrap="square" rtlCol="0" anchor="t"/>
          <a:lstStyle/>
          <a:p>
            <a:pPr indent="0" marL="0">
              <a:lnSpc>
                <a:spcPct val="105000"/>
              </a:lnSpc>
              <a:buNone/>
            </a:pPr>
            <a:r>
              <a:rPr lang="en-US" sz="1450" b="1" dirty="0">
                <a:solidFill>
                  <a:srgbClr val="002050"/>
                </a:solidFill>
                <a:latin typeface="Aptos Display" pitchFamily="34" charset="0"/>
                <a:ea typeface="Aptos Display" pitchFamily="34" charset="-122"/>
                <a:cs typeface="Aptos Display" pitchFamily="34" charset="-120"/>
              </a:rPr>
              <a:t>Network, Concept, Architecture</a:t>
            </a:r>
            <a:endParaRPr lang="en-US" sz="1450" dirty="0"/>
          </a:p>
        </p:txBody>
      </p:sp>
      <p:sp>
        <p:nvSpPr>
          <p:cNvPr id="21" name="Text 16"/>
          <p:cNvSpPr/>
          <p:nvPr/>
        </p:nvSpPr>
        <p:spPr>
          <a:xfrm>
            <a:off x="8293608" y="3081528"/>
            <a:ext cx="3191256" cy="292608"/>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4 unit standards · 24 credits · 5 activities</a:t>
            </a:r>
            <a:endParaRPr lang="en-US" sz="1200" dirty="0"/>
          </a:p>
        </p:txBody>
      </p:sp>
      <p:sp>
        <p:nvSpPr>
          <p:cNvPr id="22" name="Shape 17"/>
          <p:cNvSpPr/>
          <p:nvPr/>
        </p:nvSpPr>
        <p:spPr>
          <a:xfrm>
            <a:off x="502920" y="3657600"/>
            <a:ext cx="3593592"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3858768"/>
            <a:ext cx="384048" cy="384048"/>
          </a:xfrm>
          <a:prstGeom prst="rect">
            <a:avLst/>
          </a:prstGeom>
        </p:spPr>
      </p:pic>
      <p:sp>
        <p:nvSpPr>
          <p:cNvPr id="24" name="Text 18"/>
          <p:cNvSpPr/>
          <p:nvPr/>
        </p:nvSpPr>
        <p:spPr>
          <a:xfrm>
            <a:off x="1216152" y="3877056"/>
            <a:ext cx="2679192" cy="274320"/>
          </a:xfrm>
          <a:prstGeom prst="rect">
            <a:avLst/>
          </a:prstGeom>
          <a:noFill/>
          <a:ln/>
        </p:spPr>
        <p:txBody>
          <a:bodyPr wrap="square" rtlCol="0" anchor="ctr"/>
          <a:lstStyle/>
          <a:p>
            <a:pPr indent="0" marL="0">
              <a:buNone/>
            </a:pPr>
            <a:r>
              <a:rPr lang="en-US" sz="1150" b="1" spc="150" kern="0" dirty="0">
                <a:solidFill>
                  <a:srgbClr val="0F6CBD"/>
                </a:solidFill>
                <a:latin typeface="Aptos" pitchFamily="34" charset="0"/>
                <a:ea typeface="Aptos" pitchFamily="34" charset="-122"/>
                <a:cs typeface="Aptos" pitchFamily="34" charset="-120"/>
              </a:rPr>
              <a:t>MODULE 4</a:t>
            </a:r>
            <a:endParaRPr lang="en-US" sz="1150" dirty="0"/>
          </a:p>
        </p:txBody>
      </p:sp>
      <p:sp>
        <p:nvSpPr>
          <p:cNvPr id="25" name="Text 19"/>
          <p:cNvSpPr/>
          <p:nvPr/>
        </p:nvSpPr>
        <p:spPr>
          <a:xfrm>
            <a:off x="704088" y="4315968"/>
            <a:ext cx="3191256" cy="713232"/>
          </a:xfrm>
          <a:prstGeom prst="rect">
            <a:avLst/>
          </a:prstGeom>
          <a:noFill/>
          <a:ln/>
        </p:spPr>
        <p:txBody>
          <a:bodyPr wrap="square" rtlCol="0" anchor="t"/>
          <a:lstStyle/>
          <a:p>
            <a:pPr indent="0" marL="0">
              <a:lnSpc>
                <a:spcPct val="105000"/>
              </a:lnSpc>
              <a:buNone/>
            </a:pPr>
            <a:r>
              <a:rPr lang="en-US" sz="1450" b="1" dirty="0">
                <a:solidFill>
                  <a:srgbClr val="002050"/>
                </a:solidFill>
                <a:latin typeface="Aptos Display" pitchFamily="34" charset="0"/>
                <a:ea typeface="Aptos Display" pitchFamily="34" charset="-122"/>
                <a:cs typeface="Aptos Display" pitchFamily="34" charset="-120"/>
              </a:rPr>
              <a:t>Design a LAN for Developmental Office &amp; Enterprise Development</a:t>
            </a:r>
            <a:endParaRPr lang="en-US" sz="1450" dirty="0"/>
          </a:p>
        </p:txBody>
      </p:sp>
      <p:sp>
        <p:nvSpPr>
          <p:cNvPr id="26" name="Text 20"/>
          <p:cNvSpPr/>
          <p:nvPr/>
        </p:nvSpPr>
        <p:spPr>
          <a:xfrm>
            <a:off x="704088" y="5047488"/>
            <a:ext cx="3191256" cy="292608"/>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3 unit standards · 14 credits · 5 activities</a:t>
            </a:r>
            <a:endParaRPr lang="en-US" sz="1200" dirty="0"/>
          </a:p>
        </p:txBody>
      </p:sp>
      <p:sp>
        <p:nvSpPr>
          <p:cNvPr id="27" name="Shape 21"/>
          <p:cNvSpPr/>
          <p:nvPr/>
        </p:nvSpPr>
        <p:spPr>
          <a:xfrm>
            <a:off x="4297680" y="3657600"/>
            <a:ext cx="3593592"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98848" y="3858768"/>
            <a:ext cx="384048" cy="384048"/>
          </a:xfrm>
          <a:prstGeom prst="rect">
            <a:avLst/>
          </a:prstGeom>
        </p:spPr>
      </p:pic>
      <p:sp>
        <p:nvSpPr>
          <p:cNvPr id="29" name="Text 22"/>
          <p:cNvSpPr/>
          <p:nvPr/>
        </p:nvSpPr>
        <p:spPr>
          <a:xfrm>
            <a:off x="5010912" y="3877056"/>
            <a:ext cx="2679192" cy="274320"/>
          </a:xfrm>
          <a:prstGeom prst="rect">
            <a:avLst/>
          </a:prstGeom>
          <a:noFill/>
          <a:ln/>
        </p:spPr>
        <p:txBody>
          <a:bodyPr wrap="square" rtlCol="0" anchor="ctr"/>
          <a:lstStyle/>
          <a:p>
            <a:pPr indent="0" marL="0">
              <a:buNone/>
            </a:pPr>
            <a:r>
              <a:rPr lang="en-US" sz="1150" b="1" spc="150" kern="0" dirty="0">
                <a:solidFill>
                  <a:srgbClr val="0F6CBD"/>
                </a:solidFill>
                <a:latin typeface="Aptos" pitchFamily="34" charset="0"/>
                <a:ea typeface="Aptos" pitchFamily="34" charset="-122"/>
                <a:cs typeface="Aptos" pitchFamily="34" charset="-120"/>
              </a:rPr>
              <a:t>MODULE 5</a:t>
            </a:r>
            <a:endParaRPr lang="en-US" sz="1150" dirty="0"/>
          </a:p>
        </p:txBody>
      </p:sp>
      <p:sp>
        <p:nvSpPr>
          <p:cNvPr id="30" name="Text 23"/>
          <p:cNvSpPr/>
          <p:nvPr/>
        </p:nvSpPr>
        <p:spPr>
          <a:xfrm>
            <a:off x="4498848" y="4315968"/>
            <a:ext cx="3191256" cy="713232"/>
          </a:xfrm>
          <a:prstGeom prst="rect">
            <a:avLst/>
          </a:prstGeom>
          <a:noFill/>
          <a:ln/>
        </p:spPr>
        <p:txBody>
          <a:bodyPr wrap="square" rtlCol="0" anchor="t"/>
          <a:lstStyle/>
          <a:p>
            <a:pPr indent="0" marL="0">
              <a:lnSpc>
                <a:spcPct val="105000"/>
              </a:lnSpc>
              <a:buNone/>
            </a:pPr>
            <a:r>
              <a:rPr lang="en-US" sz="1450" b="1" dirty="0">
                <a:solidFill>
                  <a:srgbClr val="002050"/>
                </a:solidFill>
                <a:latin typeface="Aptos Display" pitchFamily="34" charset="0"/>
                <a:ea typeface="Aptos Display" pitchFamily="34" charset="-122"/>
                <a:cs typeface="Aptos Display" pitchFamily="34" charset="-120"/>
              </a:rPr>
              <a:t>Configure, Operate &amp; Administer Server Computer &amp; Peripherals</a:t>
            </a:r>
            <a:endParaRPr lang="en-US" sz="1450" dirty="0"/>
          </a:p>
        </p:txBody>
      </p:sp>
      <p:sp>
        <p:nvSpPr>
          <p:cNvPr id="31" name="Text 24"/>
          <p:cNvSpPr/>
          <p:nvPr/>
        </p:nvSpPr>
        <p:spPr>
          <a:xfrm>
            <a:off x="4498848" y="5047488"/>
            <a:ext cx="3191256" cy="292608"/>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4 unit standards · 26 credits · 5 activities</a:t>
            </a:r>
            <a:endParaRPr lang="en-US" sz="1200" dirty="0"/>
          </a:p>
        </p:txBody>
      </p:sp>
      <p:sp>
        <p:nvSpPr>
          <p:cNvPr id="32" name="Shape 25"/>
          <p:cNvSpPr/>
          <p:nvPr/>
        </p:nvSpPr>
        <p:spPr>
          <a:xfrm>
            <a:off x="8092440" y="3657600"/>
            <a:ext cx="3593592" cy="1783080"/>
          </a:xfrm>
          <a:prstGeom prst="roundRect">
            <a:avLst>
              <a:gd name="adj" fmla="val 461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93608" y="3858768"/>
            <a:ext cx="384048" cy="384048"/>
          </a:xfrm>
          <a:prstGeom prst="rect">
            <a:avLst/>
          </a:prstGeom>
        </p:spPr>
      </p:pic>
      <p:sp>
        <p:nvSpPr>
          <p:cNvPr id="34" name="Text 26"/>
          <p:cNvSpPr/>
          <p:nvPr/>
        </p:nvSpPr>
        <p:spPr>
          <a:xfrm>
            <a:off x="8805672" y="3877056"/>
            <a:ext cx="2679192" cy="274320"/>
          </a:xfrm>
          <a:prstGeom prst="rect">
            <a:avLst/>
          </a:prstGeom>
          <a:noFill/>
          <a:ln/>
        </p:spPr>
        <p:txBody>
          <a:bodyPr wrap="square" rtlCol="0" anchor="ctr"/>
          <a:lstStyle/>
          <a:p>
            <a:pPr indent="0" marL="0">
              <a:buNone/>
            </a:pPr>
            <a:r>
              <a:rPr lang="en-US" sz="1150" b="1" spc="150" kern="0" dirty="0">
                <a:solidFill>
                  <a:srgbClr val="0F6CBD"/>
                </a:solidFill>
                <a:latin typeface="Aptos" pitchFamily="34" charset="0"/>
                <a:ea typeface="Aptos" pitchFamily="34" charset="-122"/>
                <a:cs typeface="Aptos" pitchFamily="34" charset="-120"/>
              </a:rPr>
              <a:t>MODULE 6</a:t>
            </a:r>
            <a:endParaRPr lang="en-US" sz="1150" dirty="0"/>
          </a:p>
        </p:txBody>
      </p:sp>
      <p:sp>
        <p:nvSpPr>
          <p:cNvPr id="35" name="Text 27"/>
          <p:cNvSpPr/>
          <p:nvPr/>
        </p:nvSpPr>
        <p:spPr>
          <a:xfrm>
            <a:off x="8293608" y="4315968"/>
            <a:ext cx="3191256" cy="713232"/>
          </a:xfrm>
          <a:prstGeom prst="rect">
            <a:avLst/>
          </a:prstGeom>
          <a:noFill/>
          <a:ln/>
        </p:spPr>
        <p:txBody>
          <a:bodyPr wrap="square" rtlCol="0" anchor="t"/>
          <a:lstStyle/>
          <a:p>
            <a:pPr indent="0" marL="0">
              <a:lnSpc>
                <a:spcPct val="105000"/>
              </a:lnSpc>
              <a:buNone/>
            </a:pPr>
            <a:r>
              <a:rPr lang="en-US" sz="1450" b="1" dirty="0">
                <a:solidFill>
                  <a:srgbClr val="002050"/>
                </a:solidFill>
                <a:latin typeface="Aptos Display" pitchFamily="34" charset="0"/>
                <a:ea typeface="Aptos Display" pitchFamily="34" charset="-122"/>
                <a:cs typeface="Aptos Display" pitchFamily="34" charset="-120"/>
              </a:rPr>
              <a:t>Database Access</a:t>
            </a:r>
            <a:endParaRPr lang="en-US" sz="1450" dirty="0"/>
          </a:p>
        </p:txBody>
      </p:sp>
      <p:sp>
        <p:nvSpPr>
          <p:cNvPr id="36" name="Text 28"/>
          <p:cNvSpPr/>
          <p:nvPr/>
        </p:nvSpPr>
        <p:spPr>
          <a:xfrm>
            <a:off x="8293608" y="5047488"/>
            <a:ext cx="3191256" cy="292608"/>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3 unit standards · 31 credits · 5 activities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MODULES</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Module summary — unit standards &amp; activities</a:t>
            </a:r>
            <a:endParaRPr lang="en-US" sz="3000" dirty="0"/>
          </a:p>
        </p:txBody>
      </p:sp>
      <p:sp>
        <p:nvSpPr>
          <p:cNvPr id="7" name="Text 5"/>
          <p:cNvSpPr/>
          <p:nvPr/>
        </p:nvSpPr>
        <p:spPr>
          <a:xfrm>
            <a:off x="502920" y="1298448"/>
            <a:ext cx="11183112" cy="548640"/>
          </a:xfrm>
          <a:prstGeom prst="rect">
            <a:avLst/>
          </a:prstGeom>
          <a:noFill/>
          <a:ln/>
        </p:spPr>
        <p:txBody>
          <a:bodyPr wrap="square" rtlCol="0" anchor="t"/>
          <a:lstStyle/>
          <a:p>
            <a:pPr indent="0" marL="0">
              <a:lnSpc>
                <a:spcPct val="115000"/>
              </a:lnSpc>
              <a:buNone/>
            </a:pPr>
            <a:r>
              <a:rPr lang="en-US" sz="1600" dirty="0">
                <a:solidFill>
                  <a:srgbClr val="6B7280"/>
                </a:solidFill>
                <a:latin typeface="Aptos" pitchFamily="34" charset="0"/>
                <a:ea typeface="Aptos" pitchFamily="34" charset="-122"/>
                <a:cs typeface="Aptos" pitchFamily="34" charset="-120"/>
              </a:rPr>
              <a:t>Every module combines unit standards (credit-bearing theory and practice) with formal learning activities completed in class and in the workplace.</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11183112" cy="914400"/>
        </p:xfrm>
        <a:graphic>
          <a:graphicData uri="http://schemas.openxmlformats.org/drawingml/2006/table">
            <a:tbl>
              <a:tblPr/>
              <a:tblGrid>
                <a:gridCol w="6976872"/>
                <a:gridCol w="1554480"/>
                <a:gridCol w="1371600"/>
                <a:gridCol w="1280160"/>
              </a:tblGrid>
              <a:tr h="420624">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Module</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Unit standards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Activities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Credits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20624">
                <a:tc>
                  <a:txBody>
                    <a:bodyPr/>
                    <a:lstStyle/>
                    <a:p>
                      <a:pPr indent="0" marL="0">
                        <a:buNone/>
                      </a:pPr>
                      <a:r>
                        <a:rPr lang="en-US" sz="1200" dirty="0">
                          <a:solidFill>
                            <a:srgbClr val="002050"/>
                          </a:solidFill>
                          <a:latin typeface="Aptos" pitchFamily="34" charset="0"/>
                          <a:ea typeface="Aptos" pitchFamily="34" charset="-122"/>
                          <a:cs typeface="Aptos" pitchFamily="34" charset="-120"/>
                        </a:rPr>
                        <a:t>1. Personal Development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7</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6</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36</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02050"/>
                          </a:solidFill>
                          <a:latin typeface="Aptos" pitchFamily="34" charset="0"/>
                          <a:ea typeface="Aptos" pitchFamily="34" charset="-122"/>
                          <a:cs typeface="Aptos" pitchFamily="34" charset="-120"/>
                        </a:rPr>
                        <a:t>2. Client Server Networking</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3</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4</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15</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00" dirty="0">
                          <a:solidFill>
                            <a:srgbClr val="002050"/>
                          </a:solidFill>
                          <a:latin typeface="Aptos" pitchFamily="34" charset="0"/>
                          <a:ea typeface="Aptos" pitchFamily="34" charset="-122"/>
                          <a:cs typeface="Aptos" pitchFamily="34" charset="-120"/>
                        </a:rPr>
                        <a:t>3. Network, Concept, Architecture</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4</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5</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24</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02050"/>
                          </a:solidFill>
                          <a:latin typeface="Aptos" pitchFamily="34" charset="0"/>
                          <a:ea typeface="Aptos" pitchFamily="34" charset="-122"/>
                          <a:cs typeface="Aptos" pitchFamily="34" charset="-120"/>
                        </a:rPr>
                        <a:t>4. Design a LAN for Developmental Office &amp; Enterprise Development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3</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5</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14</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00" dirty="0">
                          <a:solidFill>
                            <a:srgbClr val="002050"/>
                          </a:solidFill>
                          <a:latin typeface="Aptos" pitchFamily="34" charset="0"/>
                          <a:ea typeface="Aptos" pitchFamily="34" charset="-122"/>
                          <a:cs typeface="Aptos" pitchFamily="34" charset="-120"/>
                        </a:rPr>
                        <a:t>5. Configure, Operate &amp; Administer Server Computer &amp; Peripherals</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4</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5</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26</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02050"/>
                          </a:solidFill>
                          <a:latin typeface="Aptos" pitchFamily="34" charset="0"/>
                          <a:ea typeface="Aptos" pitchFamily="34" charset="-122"/>
                          <a:cs typeface="Aptos" pitchFamily="34" charset="-120"/>
                        </a:rPr>
                        <a:t>6. Database Access</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3</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5</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31</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
        <p:nvSpPr>
          <p:cNvPr id="9" name="Text 6"/>
          <p:cNvSpPr/>
          <p:nvPr/>
        </p:nvSpPr>
        <p:spPr>
          <a:xfrm>
            <a:off x="502920" y="5486400"/>
            <a:ext cx="11183112" cy="365760"/>
          </a:xfrm>
          <a:prstGeom prst="rect">
            <a:avLst/>
          </a:prstGeom>
          <a:noFill/>
          <a:ln/>
        </p:spPr>
        <p:txBody>
          <a:bodyPr wrap="square" rtlCol="0" anchor="ctr"/>
          <a:lstStyle/>
          <a:p>
            <a:pPr indent="0" marL="0">
              <a:buNone/>
            </a:pPr>
            <a:r>
              <a:rPr lang="en-US" sz="1450" b="1" dirty="0">
                <a:solidFill>
                  <a:srgbClr val="002050"/>
                </a:solidFill>
                <a:latin typeface="Aptos" pitchFamily="34" charset="0"/>
                <a:ea typeface="Aptos" pitchFamily="34" charset="-122"/>
                <a:cs typeface="Aptos" pitchFamily="34" charset="-120"/>
              </a:rPr>
              <a:t>Totals: 24 unit standards · 30 activities · 148 credits</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MODULES · 1 OF 6</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Module 1 — Personal Development</a:t>
            </a:r>
            <a:endParaRPr lang="en-US" sz="3000" dirty="0"/>
          </a:p>
        </p:txBody>
      </p:sp>
      <p:sp>
        <p:nvSpPr>
          <p:cNvPr id="7" name="Text 5"/>
          <p:cNvSpPr/>
          <p:nvPr/>
        </p:nvSpPr>
        <p:spPr>
          <a:xfrm>
            <a:off x="502920" y="1298448"/>
            <a:ext cx="11183112" cy="320040"/>
          </a:xfrm>
          <a:prstGeom prst="rect">
            <a:avLst/>
          </a:prstGeom>
          <a:noFill/>
          <a:ln/>
        </p:spPr>
        <p:txBody>
          <a:bodyPr wrap="square" rtlCol="0" anchor="ctr"/>
          <a:lstStyle/>
          <a:p>
            <a:pPr indent="0" marL="0">
              <a:buNone/>
            </a:pPr>
            <a:r>
              <a:rPr lang="en-US" sz="1400" dirty="0">
                <a:solidFill>
                  <a:srgbClr val="6B7280"/>
                </a:solidFill>
                <a:latin typeface="Aptos" pitchFamily="34" charset="0"/>
                <a:ea typeface="Aptos" pitchFamily="34" charset="-122"/>
                <a:cs typeface="Aptos" pitchFamily="34" charset="-120"/>
              </a:rPr>
              <a:t>7 unit standards · 36 credits · all sessions 09h00 – 14h00</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914400"/>
                <a:gridCol w="6428232"/>
                <a:gridCol w="731520"/>
                <a:gridCol w="822960"/>
                <a:gridCol w="2286000"/>
              </a:tblGrid>
              <a:tr h="420624">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Unit standard title</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NQF</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Credits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Dates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8252</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Writing business reports in Retail/Wholesale practices</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17 Jul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10135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Work as a project team member</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4</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8</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24, 31 Jul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an awareness of ethics and professionalism for the computer industry in South Africa</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3</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7 Aug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114050</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Explain the principles of business and the role of information technology</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4</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21, 28 Aug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114051</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Conduct a technical practitioners meeting</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4</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3, 4 Sep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114046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an understanding of issues affecting the management of a local area computer network (LAN)</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4</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25 Sep, 2 Oct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114183</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Apply the principles of resolving problems for single-user and multi-user computer operating systems</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6, 13 Nov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MODULES · 2 OF 6</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Module 2 — Client Server Networking</a:t>
            </a:r>
            <a:endParaRPr lang="en-US" sz="3000" dirty="0"/>
          </a:p>
        </p:txBody>
      </p:sp>
      <p:sp>
        <p:nvSpPr>
          <p:cNvPr id="7" name="Text 5"/>
          <p:cNvSpPr/>
          <p:nvPr/>
        </p:nvSpPr>
        <p:spPr>
          <a:xfrm>
            <a:off x="502920" y="1298448"/>
            <a:ext cx="11183112" cy="320040"/>
          </a:xfrm>
          <a:prstGeom prst="rect">
            <a:avLst/>
          </a:prstGeom>
          <a:noFill/>
          <a:ln/>
        </p:spPr>
        <p:txBody>
          <a:bodyPr wrap="square" rtlCol="0" anchor="ctr"/>
          <a:lstStyle/>
          <a:p>
            <a:pPr indent="0" marL="0">
              <a:buNone/>
            </a:pPr>
            <a:r>
              <a:rPr lang="en-US" sz="1400" dirty="0">
                <a:solidFill>
                  <a:srgbClr val="6B7280"/>
                </a:solidFill>
                <a:latin typeface="Aptos" pitchFamily="34" charset="0"/>
                <a:ea typeface="Aptos" pitchFamily="34" charset="-122"/>
                <a:cs typeface="Aptos" pitchFamily="34" charset="-120"/>
              </a:rPr>
              <a:t>3 unit standards · 15 credits · all sessions 09h00 – 14h00</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914400"/>
                <a:gridCol w="6428232"/>
                <a:gridCol w="731520"/>
                <a:gridCol w="822960"/>
                <a:gridCol w="2286000"/>
              </a:tblGrid>
              <a:tr h="420624">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Unit standard title</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NQF</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Credits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Dates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114059</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an understanding of estimating a unit of work and the implications of late delivery</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11, 18 Sep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114076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Use computer technology to research a computer topic</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4</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3</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23 Oct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114058</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an understanding of the concepts of Multi-User computer Operating systems</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20, 27 Nov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MODULES · 3 OF 6</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Module 3 — Network, Concept, Architecture</a:t>
            </a:r>
            <a:endParaRPr lang="en-US" sz="3000" dirty="0"/>
          </a:p>
        </p:txBody>
      </p:sp>
      <p:sp>
        <p:nvSpPr>
          <p:cNvPr id="7" name="Text 5"/>
          <p:cNvSpPr/>
          <p:nvPr/>
        </p:nvSpPr>
        <p:spPr>
          <a:xfrm>
            <a:off x="502920" y="1298448"/>
            <a:ext cx="11183112" cy="320040"/>
          </a:xfrm>
          <a:prstGeom prst="rect">
            <a:avLst/>
          </a:prstGeom>
          <a:noFill/>
          <a:ln/>
        </p:spPr>
        <p:txBody>
          <a:bodyPr wrap="square" rtlCol="0" anchor="ctr"/>
          <a:lstStyle/>
          <a:p>
            <a:pPr indent="0" marL="0">
              <a:buNone/>
            </a:pPr>
            <a:r>
              <a:rPr lang="en-US" sz="1400" dirty="0">
                <a:solidFill>
                  <a:srgbClr val="6B7280"/>
                </a:solidFill>
                <a:latin typeface="Aptos" pitchFamily="34" charset="0"/>
                <a:ea typeface="Aptos" pitchFamily="34" charset="-122"/>
                <a:cs typeface="Aptos" pitchFamily="34" charset="-120"/>
              </a:rPr>
              <a:t>4 unit standards · 24 credits · all sessions 09h00 – 14h00</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914400"/>
                <a:gridCol w="6428232"/>
                <a:gridCol w="731520"/>
                <a:gridCol w="822960"/>
                <a:gridCol w="2286000"/>
              </a:tblGrid>
              <a:tr h="420624">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Unit standard title</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NQF</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Credits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Dates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114074</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an understanding of different computer network architectures and standards</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9, 16 Oct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114061</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an understanding of Wide Area Computer Networks (WANs), comparing them with Local Area Networks (LANs)</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4 Dec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114072</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Install and commission a local area computer network</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9</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29 Jan, 5 Feb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114060</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an understanding of local area computer networks, by installing a networked workstation</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12 Feb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MODULES · 4 OF 6</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Module 4 — Design a LAN for Developmental Office &amp; Enterprise Development</a:t>
            </a:r>
            <a:endParaRPr lang="en-US" sz="3000" dirty="0"/>
          </a:p>
        </p:txBody>
      </p:sp>
      <p:sp>
        <p:nvSpPr>
          <p:cNvPr id="7" name="Text 5"/>
          <p:cNvSpPr/>
          <p:nvPr/>
        </p:nvSpPr>
        <p:spPr>
          <a:xfrm>
            <a:off x="502920" y="1298448"/>
            <a:ext cx="11183112" cy="320040"/>
          </a:xfrm>
          <a:prstGeom prst="rect">
            <a:avLst/>
          </a:prstGeom>
          <a:noFill/>
          <a:ln/>
        </p:spPr>
        <p:txBody>
          <a:bodyPr wrap="square" rtlCol="0" anchor="ctr"/>
          <a:lstStyle/>
          <a:p>
            <a:pPr indent="0" marL="0">
              <a:buNone/>
            </a:pPr>
            <a:r>
              <a:rPr lang="en-US" sz="1400" dirty="0">
                <a:solidFill>
                  <a:srgbClr val="6B7280"/>
                </a:solidFill>
                <a:latin typeface="Aptos" pitchFamily="34" charset="0"/>
                <a:ea typeface="Aptos" pitchFamily="34" charset="-122"/>
                <a:cs typeface="Aptos" pitchFamily="34" charset="-120"/>
              </a:rPr>
              <a:t>3 unit standards · 14 credits · all sessions 09h00 – 14h00</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914400"/>
                <a:gridCol w="6428232"/>
                <a:gridCol w="731520"/>
                <a:gridCol w="822960"/>
                <a:gridCol w="2286000"/>
              </a:tblGrid>
              <a:tr h="420624">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Unit standard title</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NQF</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Credits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Dates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Describe enterprise systems management and its role in IT systems support</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3</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29, 30 Oct 2026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114075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Design a local area computer network for a departmental office environment</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3</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22 Jan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114052</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appropriate customer care in the context of IT support, according to a Service Level Agreement</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8</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2, 9 Apr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MODULES · 5 OF 6</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Module 5 — Configure, Operate &amp; Administer Server Computer &amp; Peripherals</a:t>
            </a:r>
            <a:endParaRPr lang="en-US" sz="3000" dirty="0"/>
          </a:p>
        </p:txBody>
      </p:sp>
      <p:sp>
        <p:nvSpPr>
          <p:cNvPr id="7" name="Text 5"/>
          <p:cNvSpPr/>
          <p:nvPr/>
        </p:nvSpPr>
        <p:spPr>
          <a:xfrm>
            <a:off x="502920" y="1298448"/>
            <a:ext cx="11183112" cy="320040"/>
          </a:xfrm>
          <a:prstGeom prst="rect">
            <a:avLst/>
          </a:prstGeom>
          <a:noFill/>
          <a:ln/>
        </p:spPr>
        <p:txBody>
          <a:bodyPr wrap="square" rtlCol="0" anchor="ctr"/>
          <a:lstStyle/>
          <a:p>
            <a:pPr indent="0" marL="0">
              <a:buNone/>
            </a:pPr>
            <a:r>
              <a:rPr lang="en-US" sz="1400" dirty="0">
                <a:solidFill>
                  <a:srgbClr val="6B7280"/>
                </a:solidFill>
                <a:latin typeface="Aptos" pitchFamily="34" charset="0"/>
                <a:ea typeface="Aptos" pitchFamily="34" charset="-122"/>
                <a:cs typeface="Aptos" pitchFamily="34" charset="-120"/>
              </a:rPr>
              <a:t>4 unit standards · 26 credits · all sessions 09h00 – 14h00</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914400"/>
                <a:gridCol w="6428232"/>
                <a:gridCol w="731520"/>
                <a:gridCol w="822960"/>
                <a:gridCol w="2286000"/>
              </a:tblGrid>
              <a:tr h="420624">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Unit standard title</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NQF</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Credits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Dates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114054</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Administer a local area computer network</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11 Dec 2026, 15 Jan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114047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Install and configure a multi-user networked operating system</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9</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19, 26 Feb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114053</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Monitor and maintain a multi-user networked operating system</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 Mar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114066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Test Networked IT systems against given specifications</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4</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12 Mar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74320"/>
            <a:ext cx="11183112" cy="310896"/>
          </a:xfrm>
          <a:prstGeom prst="rect">
            <a:avLst/>
          </a:prstGeom>
          <a:noFill/>
          <a:ln/>
        </p:spPr>
        <p:txBody>
          <a:bodyPr wrap="square" rtlCol="0" anchor="ctr"/>
          <a:lstStyle/>
          <a:p>
            <a:pPr indent="0" marL="0">
              <a:buNone/>
            </a:pPr>
            <a:r>
              <a:rPr lang="en-US" sz="1300" b="1" spc="200" kern="0" dirty="0">
                <a:solidFill>
                  <a:srgbClr val="0F6CBD"/>
                </a:solidFill>
                <a:latin typeface="Aptos" pitchFamily="34" charset="0"/>
                <a:ea typeface="Aptos" pitchFamily="34" charset="-122"/>
                <a:cs typeface="Aptos" pitchFamily="34" charset="-120"/>
              </a:rPr>
              <a:t>MODULES · 6 OF 6</a:t>
            </a:r>
            <a:endParaRPr lang="en-US" sz="1300" dirty="0"/>
          </a:p>
        </p:txBody>
      </p:sp>
      <p:sp>
        <p:nvSpPr>
          <p:cNvPr id="6" name="Text 4"/>
          <p:cNvSpPr/>
          <p:nvPr/>
        </p:nvSpPr>
        <p:spPr>
          <a:xfrm>
            <a:off x="502920" y="566928"/>
            <a:ext cx="11183112" cy="731520"/>
          </a:xfrm>
          <a:prstGeom prst="rect">
            <a:avLst/>
          </a:prstGeom>
          <a:noFill/>
          <a:ln/>
        </p:spPr>
        <p:txBody>
          <a:bodyPr wrap="square" rtlCol="0" anchor="ctr"/>
          <a:lstStyle/>
          <a:p>
            <a:pPr indent="0" marL="0">
              <a:buNone/>
            </a:pPr>
            <a:r>
              <a:rPr lang="en-US" sz="3000" b="1" dirty="0">
                <a:solidFill>
                  <a:srgbClr val="002050"/>
                </a:solidFill>
                <a:latin typeface="Aptos Display" pitchFamily="34" charset="0"/>
                <a:ea typeface="Aptos Display" pitchFamily="34" charset="-122"/>
                <a:cs typeface="Aptos Display" pitchFamily="34" charset="-120"/>
              </a:rPr>
              <a:t>Module 6 — Database Access</a:t>
            </a:r>
            <a:endParaRPr lang="en-US" sz="3000" dirty="0"/>
          </a:p>
        </p:txBody>
      </p:sp>
      <p:sp>
        <p:nvSpPr>
          <p:cNvPr id="7" name="Text 5"/>
          <p:cNvSpPr/>
          <p:nvPr/>
        </p:nvSpPr>
        <p:spPr>
          <a:xfrm>
            <a:off x="502920" y="1298448"/>
            <a:ext cx="11183112" cy="320040"/>
          </a:xfrm>
          <a:prstGeom prst="rect">
            <a:avLst/>
          </a:prstGeom>
          <a:noFill/>
          <a:ln/>
        </p:spPr>
        <p:txBody>
          <a:bodyPr wrap="square" rtlCol="0" anchor="ctr"/>
          <a:lstStyle/>
          <a:p>
            <a:pPr indent="0" marL="0">
              <a:buNone/>
            </a:pPr>
            <a:r>
              <a:rPr lang="en-US" sz="1400" dirty="0">
                <a:solidFill>
                  <a:srgbClr val="6B7280"/>
                </a:solidFill>
                <a:latin typeface="Aptos" pitchFamily="34" charset="0"/>
                <a:ea typeface="Aptos" pitchFamily="34" charset="-122"/>
                <a:cs typeface="Aptos" pitchFamily="34" charset="-120"/>
              </a:rPr>
              <a:t>3 unit standards · 31 credits · all sessions 09h00 – 14h00</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914400"/>
                <a:gridCol w="6428232"/>
                <a:gridCol w="731520"/>
                <a:gridCol w="822960"/>
                <a:gridCol w="2286000"/>
              </a:tblGrid>
              <a:tr h="420624">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Unit standard title</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NQF</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Credits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Dates</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114049</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Demonstrate an understanding of Computer Database Management Systems</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19, 26 Mar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114048</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Create database access for a computer application using structured query language</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9</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16, 22, 23, 30 Apr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20624">
                <a:tc>
                  <a:txBody>
                    <a:bodyPr/>
                    <a:lstStyle/>
                    <a:p>
                      <a:pPr indent="0" marL="0">
                        <a:buNone/>
                      </a:pPr>
                      <a:r>
                        <a:rPr lang="en-US" sz="1250" dirty="0">
                          <a:solidFill>
                            <a:srgbClr val="002050"/>
                          </a:solidFill>
                          <a:latin typeface="Aptos" pitchFamily="34" charset="0"/>
                          <a:ea typeface="Aptos" pitchFamily="34" charset="-122"/>
                          <a:cs typeface="Aptos" pitchFamily="34" charset="-120"/>
                        </a:rPr>
                        <a:t>114069</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Administer security systems for a multi-user computer system</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6</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15</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7, 14, 21, 28 May, 4 Jun 2027</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2050"/>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National Certificate: Information Technology — System Support · SAQA ID 48573 ·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109728"/>
          </a:xfrm>
          <a:prstGeom prst="rect">
            <a:avLst/>
          </a:prstGeom>
          <a:solidFill>
            <a:srgbClr val="0F6CB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554480"/>
            <a:ext cx="594360" cy="594360"/>
          </a:xfrm>
          <a:prstGeom prst="rect">
            <a:avLst/>
          </a:prstGeom>
        </p:spPr>
      </p:pic>
      <p:sp>
        <p:nvSpPr>
          <p:cNvPr id="7" name="Text 4"/>
          <p:cNvSpPr/>
          <p:nvPr/>
        </p:nvSpPr>
        <p:spPr>
          <a:xfrm>
            <a:off x="502920" y="2286000"/>
            <a:ext cx="11183112" cy="1280160"/>
          </a:xfrm>
          <a:prstGeom prst="rect">
            <a:avLst/>
          </a:prstGeom>
          <a:noFill/>
          <a:ln/>
        </p:spPr>
        <p:txBody>
          <a:bodyPr wrap="square" rtlCol="0" anchor="ct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Six modules. 24 unit standards. 148 credits. One career.</a:t>
            </a:r>
            <a:endParaRPr lang="en-US" sz="3600" dirty="0"/>
          </a:p>
        </p:txBody>
      </p:sp>
      <p:sp>
        <p:nvSpPr>
          <p:cNvPr id="8" name="Text 5"/>
          <p:cNvSpPr/>
          <p:nvPr/>
        </p:nvSpPr>
        <p:spPr>
          <a:xfrm>
            <a:off x="502920" y="3611880"/>
            <a:ext cx="9326880" cy="914400"/>
          </a:xfrm>
          <a:prstGeom prst="rect">
            <a:avLst/>
          </a:prstGeom>
          <a:noFill/>
          <a:ln/>
        </p:spPr>
        <p:txBody>
          <a:bodyPr wrap="square" rtlCol="0" anchor="ctr"/>
          <a:lstStyle/>
          <a:p>
            <a:pPr indent="0" marL="0">
              <a:lnSpc>
                <a:spcPct val="125000"/>
              </a:lnSpc>
              <a:buNone/>
            </a:pPr>
            <a:r>
              <a:rPr lang="en-US" sz="1700" dirty="0">
                <a:solidFill>
                  <a:srgbClr val="B9D6F2"/>
                </a:solidFill>
                <a:latin typeface="Aptos" pitchFamily="34" charset="0"/>
                <a:ea typeface="Aptos" pitchFamily="34" charset="-122"/>
                <a:cs typeface="Aptos" pitchFamily="34" charset="-120"/>
              </a:rPr>
              <a:t>Study → Practise → Logbook → Quiz → Assignment, module by module — then Remedials, FISA and logbook sign-off to certification in July 2027.</a:t>
            </a:r>
            <a:endParaRPr lang="en-US" sz="1700" dirty="0"/>
          </a:p>
        </p:txBody>
      </p:sp>
      <p:sp>
        <p:nvSpPr>
          <p:cNvPr id="9" name="Text 6"/>
          <p:cNvSpPr/>
          <p:nvPr/>
        </p:nvSpPr>
        <p:spPr>
          <a:xfrm>
            <a:off x="502920" y="6309360"/>
            <a:ext cx="11183112" cy="320040"/>
          </a:xfrm>
          <a:prstGeom prst="rect">
            <a:avLst/>
          </a:prstGeom>
          <a:noFill/>
          <a:ln/>
        </p:spPr>
        <p:txBody>
          <a:bodyPr wrap="square" rtlCol="0" anchor="ctr"/>
          <a:lstStyle/>
          <a:p>
            <a:pPr indent="0" marL="0">
              <a:buNone/>
            </a:pPr>
            <a:r>
              <a:rPr lang="en-US" sz="1200" dirty="0">
                <a:solidFill>
                  <a:srgbClr val="6E93BC"/>
                </a:solidFill>
                <a:latin typeface="Aptos" pitchFamily="34" charset="0"/>
                <a:ea typeface="Aptos" pitchFamily="34" charset="-122"/>
                <a:cs typeface="Aptos" pitchFamily="34" charset="-120"/>
              </a:rPr>
              <a:t>National Certificate: Information Technology — System Support · SAQA ID 48573 · ITSS Learn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Investec — Corporate Banking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Systems Support NQF 5 — Course Overview</dc:title>
  <dc:subject>PptxGenJS Presentation</dc:subject>
  <dc:creator>Andre Snell</dc:creator>
  <cp:lastModifiedBy>Andre Snell</cp:lastModifiedBy>
  <cp:revision>1</cp:revision>
  <dcterms:created xsi:type="dcterms:W3CDTF">2026-09-15T17:25:18Z</dcterms:created>
  <dcterms:modified xsi:type="dcterms:W3CDTF">2026-09-15T17:25:18Z</dcterms:modified>
</cp:coreProperties>
</file>