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image" Target="../media/image-2-19.png"/><Relationship Id="rId20" Type="http://schemas.openxmlformats.org/officeDocument/2006/relationships/image" Target="../media/image-2-20.sv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image" Target="../media/image-26-7.png"/><Relationship Id="rId8" Type="http://schemas.openxmlformats.org/officeDocument/2006/relationships/image" Target="../media/image-26-8.sv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image" Target="../media/image-28-5.png"/><Relationship Id="rId6" Type="http://schemas.openxmlformats.org/officeDocument/2006/relationships/image" Target="../media/image-28-6.svg"/><Relationship Id="rId7" Type="http://schemas.openxmlformats.org/officeDocument/2006/relationships/image" Target="../media/image-28-7.png"/><Relationship Id="rId8" Type="http://schemas.openxmlformats.org/officeDocument/2006/relationships/image" Target="../media/image-28-8.sv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image" Target="../media/image-30-7.png"/><Relationship Id="rId8" Type="http://schemas.openxmlformats.org/officeDocument/2006/relationships/image" Target="../media/image-30-8.svg"/><Relationship Id="rId9" Type="http://schemas.openxmlformats.org/officeDocument/2006/relationships/image" Target="../media/image-30-9.png"/><Relationship Id="rId10" Type="http://schemas.openxmlformats.org/officeDocument/2006/relationships/image" Target="../media/image-30-10.svg"/><Relationship Id="rId11" Type="http://schemas.openxmlformats.org/officeDocument/2006/relationships/image" Target="../media/image-30-11.png"/><Relationship Id="rId12" Type="http://schemas.openxmlformats.org/officeDocument/2006/relationships/image" Target="../media/image-30-12.svg"/><Relationship Id="rId13" Type="http://schemas.openxmlformats.org/officeDocument/2006/relationships/image" Target="../media/image-30-13.png"/><Relationship Id="rId14" Type="http://schemas.openxmlformats.org/officeDocument/2006/relationships/image" Target="../media/image-30-14.svg"/><Relationship Id="rId15" Type="http://schemas.openxmlformats.org/officeDocument/2006/relationships/image" Target="../media/image-30-15.png"/><Relationship Id="rId16" Type="http://schemas.openxmlformats.org/officeDocument/2006/relationships/image" Target="../media/image-30-16.svg"/><Relationship Id="rId17" Type="http://schemas.openxmlformats.org/officeDocument/2006/relationships/slideLayout" Target="../slideLayouts/slideLayout1.xml"/><Relationship Id="rId1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6CBD"/>
          </a:solidFill>
          <a:ln/>
        </p:spPr>
      </p:sp>
      <p:sp>
        <p:nvSpPr>
          <p:cNvPr id="3" name="Shape 1"/>
          <p:cNvSpPr/>
          <p:nvPr/>
        </p:nvSpPr>
        <p:spPr>
          <a:xfrm>
            <a:off x="502920" y="1234440"/>
            <a:ext cx="2651760" cy="457200"/>
          </a:xfrm>
          <a:prstGeom prst="roundRect">
            <a:avLst>
              <a:gd name="adj" fmla="val 50000"/>
            </a:avLst>
          </a:prstGeom>
          <a:solidFill>
            <a:srgbClr val="0F6CBD"/>
          </a:solidFill>
          <a:ln/>
        </p:spPr>
      </p:sp>
      <p:sp>
        <p:nvSpPr>
          <p:cNvPr id="4" name="Text 2"/>
          <p:cNvSpPr/>
          <p:nvPr/>
        </p:nvSpPr>
        <p:spPr>
          <a:xfrm>
            <a:off x="502920" y="1234440"/>
            <a:ext cx="2651760" cy="457200"/>
          </a:xfrm>
          <a:prstGeom prst="rect">
            <a:avLst/>
          </a:prstGeom>
          <a:noFill/>
          <a:ln/>
        </p:spPr>
        <p:txBody>
          <a:bodyPr wrap="square"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UNIT STANDARD 8252 · NQF 5 · 5 CREDITS</a:t>
            </a:r>
            <a:endParaRPr lang="en-US" sz="1050" dirty="0"/>
          </a:p>
        </p:txBody>
      </p:sp>
      <p:sp>
        <p:nvSpPr>
          <p:cNvPr id="5" name="Text 3"/>
          <p:cNvSpPr/>
          <p:nvPr/>
        </p:nvSpPr>
        <p:spPr>
          <a:xfrm>
            <a:off x="502920" y="1874520"/>
            <a:ext cx="11183112" cy="1463040"/>
          </a:xfrm>
          <a:prstGeom prst="rect">
            <a:avLst/>
          </a:prstGeom>
          <a:noFill/>
          <a:ln/>
        </p:spPr>
        <p:txBody>
          <a:bodyPr wrap="square" rtlCol="0" anchor="ct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Compile and Produce Reports</a:t>
            </a:r>
            <a:endParaRPr lang="en-US" sz="4400" dirty="0"/>
          </a:p>
        </p:txBody>
      </p:sp>
      <p:sp>
        <p:nvSpPr>
          <p:cNvPr id="6" name="Text 4"/>
          <p:cNvSpPr/>
          <p:nvPr/>
        </p:nvSpPr>
        <p:spPr>
          <a:xfrm>
            <a:off x="502920" y="3200400"/>
            <a:ext cx="8686800" cy="548640"/>
          </a:xfrm>
          <a:prstGeom prst="rect">
            <a:avLst/>
          </a:prstGeom>
          <a:noFill/>
          <a:ln/>
        </p:spPr>
        <p:txBody>
          <a:bodyPr wrap="square" rtlCol="0" anchor="ctr"/>
          <a:lstStyle/>
          <a:p>
            <a:pPr indent="0" marL="0">
              <a:buNone/>
            </a:pPr>
            <a:r>
              <a:rPr lang="en-US" sz="1700" dirty="0">
                <a:solidFill>
                  <a:srgbClr val="B9D6F2"/>
                </a:solidFill>
                <a:latin typeface="Aptos" pitchFamily="34" charset="0"/>
                <a:ea typeface="Aptos" pitchFamily="34" charset="-122"/>
                <a:cs typeface="Aptos" pitchFamily="34" charset="-120"/>
              </a:rPr>
              <a:t>Professional business-report writing for IT Systems Support — facilitator training deck</a:t>
            </a:r>
            <a:endParaRPr lang="en-US" sz="17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2640" y="1371600"/>
            <a:ext cx="1828800" cy="1828800"/>
          </a:xfrm>
          <a:prstGeom prst="rect">
            <a:avLst/>
          </a:prstGeom>
        </p:spPr>
      </p:pic>
      <p:sp>
        <p:nvSpPr>
          <p:cNvPr id="8" name="Shape 5"/>
          <p:cNvSpPr/>
          <p:nvPr/>
        </p:nvSpPr>
        <p:spPr>
          <a:xfrm>
            <a:off x="502920" y="4160520"/>
            <a:ext cx="11183112" cy="0"/>
          </a:xfrm>
          <a:prstGeom prst="line">
            <a:avLst/>
          </a:prstGeom>
          <a:noFill/>
          <a:ln w="12700">
            <a:solidFill>
              <a:srgbClr val="1B4272"/>
            </a:solidFill>
            <a:prstDash val="solid"/>
          </a:ln>
        </p:spPr>
      </p:sp>
      <p:sp>
        <p:nvSpPr>
          <p:cNvPr id="9" name="Text 6"/>
          <p:cNvSpPr/>
          <p:nvPr/>
        </p:nvSpPr>
        <p:spPr>
          <a:xfrm>
            <a:off x="502920" y="4389120"/>
            <a:ext cx="2612898" cy="274320"/>
          </a:xfrm>
          <a:prstGeom prst="rect">
            <a:avLst/>
          </a:prstGeom>
          <a:noFill/>
          <a:ln/>
        </p:spPr>
        <p:txBody>
          <a:bodyPr wrap="square" rtlCol="0" anchor="ctr"/>
          <a:lstStyle/>
          <a:p>
            <a:pPr indent="0" marL="0">
              <a:buNone/>
            </a:pPr>
            <a:r>
              <a:rPr lang="en-US" sz="1000" b="1" spc="200" kern="0" dirty="0">
                <a:solidFill>
                  <a:srgbClr val="8CC2F0"/>
                </a:solidFill>
                <a:latin typeface="Aptos" pitchFamily="34" charset="0"/>
                <a:ea typeface="Aptos" pitchFamily="34" charset="-122"/>
                <a:cs typeface="Aptos" pitchFamily="34" charset="-120"/>
              </a:rPr>
              <a:t>FACILITATOR</a:t>
            </a:r>
            <a:endParaRPr lang="en-US" sz="1000" dirty="0"/>
          </a:p>
        </p:txBody>
      </p:sp>
      <p:sp>
        <p:nvSpPr>
          <p:cNvPr id="10" name="Text 7"/>
          <p:cNvSpPr/>
          <p:nvPr/>
        </p:nvSpPr>
        <p:spPr>
          <a:xfrm>
            <a:off x="502920"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Andre Snell</a:t>
            </a:r>
            <a:endParaRPr lang="en-US" sz="1350" dirty="0"/>
          </a:p>
        </p:txBody>
      </p:sp>
      <p:sp>
        <p:nvSpPr>
          <p:cNvPr id="11" name="Text 8"/>
          <p:cNvSpPr/>
          <p:nvPr/>
        </p:nvSpPr>
        <p:spPr>
          <a:xfrm>
            <a:off x="3298698" y="4389120"/>
            <a:ext cx="2612898" cy="274320"/>
          </a:xfrm>
          <a:prstGeom prst="rect">
            <a:avLst/>
          </a:prstGeom>
          <a:noFill/>
          <a:ln/>
        </p:spPr>
        <p:txBody>
          <a:bodyPr wrap="square" rtlCol="0" anchor="ctr"/>
          <a:lstStyle/>
          <a:p>
            <a:pPr indent="0" marL="0">
              <a:buNone/>
            </a:pPr>
            <a:r>
              <a:rPr lang="en-US" sz="1000" b="1" spc="200" kern="0" dirty="0">
                <a:solidFill>
                  <a:srgbClr val="8CC2F0"/>
                </a:solidFill>
                <a:latin typeface="Aptos" pitchFamily="34" charset="0"/>
                <a:ea typeface="Aptos" pitchFamily="34" charset="-122"/>
                <a:cs typeface="Aptos" pitchFamily="34" charset="-120"/>
              </a:rPr>
              <a:t>DATE</a:t>
            </a:r>
            <a:endParaRPr lang="en-US" sz="1000" dirty="0"/>
          </a:p>
        </p:txBody>
      </p:sp>
      <p:sp>
        <p:nvSpPr>
          <p:cNvPr id="12" name="Text 9"/>
          <p:cNvSpPr/>
          <p:nvPr/>
        </p:nvSpPr>
        <p:spPr>
          <a:xfrm>
            <a:off x="3298698"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Friday, 17 July 2026</a:t>
            </a:r>
            <a:endParaRPr lang="en-US" sz="1350" dirty="0"/>
          </a:p>
        </p:txBody>
      </p:sp>
      <p:sp>
        <p:nvSpPr>
          <p:cNvPr id="13" name="Text 10"/>
          <p:cNvSpPr/>
          <p:nvPr/>
        </p:nvSpPr>
        <p:spPr>
          <a:xfrm>
            <a:off x="6094476" y="4389120"/>
            <a:ext cx="2612898" cy="274320"/>
          </a:xfrm>
          <a:prstGeom prst="rect">
            <a:avLst/>
          </a:prstGeom>
          <a:noFill/>
          <a:ln/>
        </p:spPr>
        <p:txBody>
          <a:bodyPr wrap="square" rtlCol="0" anchor="ctr"/>
          <a:lstStyle/>
          <a:p>
            <a:pPr indent="0" marL="0">
              <a:buNone/>
            </a:pPr>
            <a:r>
              <a:rPr lang="en-US" sz="1000" b="1" spc="200" kern="0" dirty="0">
                <a:solidFill>
                  <a:srgbClr val="8CC2F0"/>
                </a:solidFill>
                <a:latin typeface="Aptos" pitchFamily="34" charset="0"/>
                <a:ea typeface="Aptos" pitchFamily="34" charset="-122"/>
                <a:cs typeface="Aptos" pitchFamily="34" charset="-120"/>
              </a:rPr>
              <a:t>TIME</a:t>
            </a:r>
            <a:endParaRPr lang="en-US" sz="1000" dirty="0"/>
          </a:p>
        </p:txBody>
      </p:sp>
      <p:sp>
        <p:nvSpPr>
          <p:cNvPr id="14" name="Text 11"/>
          <p:cNvSpPr/>
          <p:nvPr/>
        </p:nvSpPr>
        <p:spPr>
          <a:xfrm>
            <a:off x="6094476"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09:00 – 14:00</a:t>
            </a:r>
            <a:endParaRPr lang="en-US" sz="1350" dirty="0"/>
          </a:p>
        </p:txBody>
      </p:sp>
      <p:sp>
        <p:nvSpPr>
          <p:cNvPr id="15" name="Text 12"/>
          <p:cNvSpPr/>
          <p:nvPr/>
        </p:nvSpPr>
        <p:spPr>
          <a:xfrm>
            <a:off x="8890254" y="4389120"/>
            <a:ext cx="2612898" cy="274320"/>
          </a:xfrm>
          <a:prstGeom prst="rect">
            <a:avLst/>
          </a:prstGeom>
          <a:noFill/>
          <a:ln/>
        </p:spPr>
        <p:txBody>
          <a:bodyPr wrap="square" rtlCol="0" anchor="ctr"/>
          <a:lstStyle/>
          <a:p>
            <a:pPr indent="0" marL="0">
              <a:buNone/>
            </a:pPr>
            <a:r>
              <a:rPr lang="en-US" sz="1000" b="1" spc="200" kern="0" dirty="0">
                <a:solidFill>
                  <a:srgbClr val="8CC2F0"/>
                </a:solidFill>
                <a:latin typeface="Aptos" pitchFamily="34" charset="0"/>
                <a:ea typeface="Aptos" pitchFamily="34" charset="-122"/>
                <a:cs typeface="Aptos" pitchFamily="34" charset="-120"/>
              </a:rPr>
              <a:t>VENUE</a:t>
            </a:r>
            <a:endParaRPr lang="en-US" sz="1000" dirty="0"/>
          </a:p>
        </p:txBody>
      </p:sp>
      <p:sp>
        <p:nvSpPr>
          <p:cNvPr id="16" name="Text 13"/>
          <p:cNvSpPr/>
          <p:nvPr/>
        </p:nvSpPr>
        <p:spPr>
          <a:xfrm>
            <a:off x="8890254"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Investec, Sandton, Johannesburg</a:t>
            </a:r>
            <a:endParaRPr lang="en-US" sz="1350" dirty="0"/>
          </a:p>
        </p:txBody>
      </p:sp>
      <p:sp>
        <p:nvSpPr>
          <p:cNvPr id="17" name="Text 14"/>
          <p:cNvSpPr/>
          <p:nvPr/>
        </p:nvSpPr>
        <p:spPr>
          <a:xfrm>
            <a:off x="502920" y="6355080"/>
            <a:ext cx="11183112" cy="320040"/>
          </a:xfrm>
          <a:prstGeom prst="rect">
            <a:avLst/>
          </a:prstGeom>
          <a:noFill/>
          <a:ln/>
        </p:spPr>
        <p:txBody>
          <a:bodyPr wrap="square" rtlCol="0" anchor="ctr"/>
          <a:lstStyle/>
          <a:p>
            <a:pPr indent="0" marL="0">
              <a:buNone/>
            </a:pPr>
            <a:r>
              <a:rPr lang="en-US" sz="1050" dirty="0">
                <a:solidFill>
                  <a:srgbClr val="6E93BC"/>
                </a:solidFill>
                <a:latin typeface="Aptos" pitchFamily="34" charset="0"/>
                <a:ea typeface="Aptos" pitchFamily="34" charset="-122"/>
                <a:cs typeface="Aptos" pitchFamily="34" charset="-120"/>
              </a:rPr>
              <a:t>Investec · Corporate Banking Technology · IT Systems Support NQF Level 5 (SAQA ID 48573)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COURSE INTRODUCTION</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What you will be able to do</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By the end of Unit Standard 8252 you can plan, compile and produce professional business reports that support decision-making.</a:t>
            </a:r>
            <a:endParaRPr lang="en-US" sz="1050" dirty="0"/>
          </a:p>
        </p:txBody>
      </p:sp>
      <p:sp>
        <p:nvSpPr>
          <p:cNvPr id="10" name="Shape 7"/>
          <p:cNvSpPr/>
          <p:nvPr/>
        </p:nvSpPr>
        <p:spPr>
          <a:xfrm>
            <a:off x="502920" y="2148840"/>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304288"/>
            <a:ext cx="310896" cy="310896"/>
          </a:xfrm>
          <a:prstGeom prst="rect">
            <a:avLst/>
          </a:prstGeom>
        </p:spPr>
      </p:pic>
      <p:sp>
        <p:nvSpPr>
          <p:cNvPr id="12" name="Text 8"/>
          <p:cNvSpPr/>
          <p:nvPr/>
        </p:nvSpPr>
        <p:spPr>
          <a:xfrm>
            <a:off x="1069848" y="226771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Purpose</a:t>
            </a:r>
            <a:endParaRPr lang="en-US" sz="1350" dirty="0"/>
          </a:p>
        </p:txBody>
      </p:sp>
      <p:sp>
        <p:nvSpPr>
          <p:cNvPr id="13" name="Text 9"/>
          <p:cNvSpPr/>
          <p:nvPr/>
        </p:nvSpPr>
        <p:spPr>
          <a:xfrm>
            <a:off x="66751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Understand why each report is written and who it is for.</a:t>
            </a:r>
            <a:endParaRPr lang="en-US" sz="1050" dirty="0"/>
          </a:p>
        </p:txBody>
      </p:sp>
      <p:sp>
        <p:nvSpPr>
          <p:cNvPr id="14" name="Shape 10"/>
          <p:cNvSpPr/>
          <p:nvPr/>
        </p:nvSpPr>
        <p:spPr>
          <a:xfrm>
            <a:off x="3348990" y="2148840"/>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582" y="2304288"/>
            <a:ext cx="310896" cy="310896"/>
          </a:xfrm>
          <a:prstGeom prst="rect">
            <a:avLst/>
          </a:prstGeom>
        </p:spPr>
      </p:pic>
      <p:sp>
        <p:nvSpPr>
          <p:cNvPr id="16" name="Text 11"/>
          <p:cNvSpPr/>
          <p:nvPr/>
        </p:nvSpPr>
        <p:spPr>
          <a:xfrm>
            <a:off x="3915918" y="226771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Sources</a:t>
            </a:r>
            <a:endParaRPr lang="en-US" sz="1350" dirty="0"/>
          </a:p>
        </p:txBody>
      </p:sp>
      <p:sp>
        <p:nvSpPr>
          <p:cNvPr id="17" name="Text 12"/>
          <p:cNvSpPr/>
          <p:nvPr/>
        </p:nvSpPr>
        <p:spPr>
          <a:xfrm>
            <a:off x="351358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Gather information from reliable business systems and records.</a:t>
            </a:r>
            <a:endParaRPr lang="en-US" sz="1050" dirty="0"/>
          </a:p>
        </p:txBody>
      </p:sp>
      <p:sp>
        <p:nvSpPr>
          <p:cNvPr id="18" name="Shape 13"/>
          <p:cNvSpPr/>
          <p:nvPr/>
        </p:nvSpPr>
        <p:spPr>
          <a:xfrm>
            <a:off x="6195060" y="2148840"/>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652" y="2304288"/>
            <a:ext cx="310896" cy="310896"/>
          </a:xfrm>
          <a:prstGeom prst="rect">
            <a:avLst/>
          </a:prstGeom>
        </p:spPr>
      </p:pic>
      <p:sp>
        <p:nvSpPr>
          <p:cNvPr id="20" name="Text 14"/>
          <p:cNvSpPr/>
          <p:nvPr/>
        </p:nvSpPr>
        <p:spPr>
          <a:xfrm>
            <a:off x="6761988" y="226771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Confidentiality</a:t>
            </a:r>
            <a:endParaRPr lang="en-US" sz="1350" dirty="0"/>
          </a:p>
        </p:txBody>
      </p:sp>
      <p:sp>
        <p:nvSpPr>
          <p:cNvPr id="21" name="Text 15"/>
          <p:cNvSpPr/>
          <p:nvPr/>
        </p:nvSpPr>
        <p:spPr>
          <a:xfrm>
            <a:off x="635965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Protect sensitive information and share it correctly.</a:t>
            </a:r>
            <a:endParaRPr lang="en-US" sz="1050" dirty="0"/>
          </a:p>
        </p:txBody>
      </p:sp>
      <p:sp>
        <p:nvSpPr>
          <p:cNvPr id="22" name="Shape 16"/>
          <p:cNvSpPr/>
          <p:nvPr/>
        </p:nvSpPr>
        <p:spPr>
          <a:xfrm>
            <a:off x="9041130" y="2148840"/>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5722" y="2304288"/>
            <a:ext cx="310896" cy="310896"/>
          </a:xfrm>
          <a:prstGeom prst="rect">
            <a:avLst/>
          </a:prstGeom>
        </p:spPr>
      </p:pic>
      <p:sp>
        <p:nvSpPr>
          <p:cNvPr id="24" name="Text 17"/>
          <p:cNvSpPr/>
          <p:nvPr/>
        </p:nvSpPr>
        <p:spPr>
          <a:xfrm>
            <a:off x="9608058" y="226771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Standards</a:t>
            </a:r>
            <a:endParaRPr lang="en-US" sz="1350" dirty="0"/>
          </a:p>
        </p:txBody>
      </p:sp>
      <p:sp>
        <p:nvSpPr>
          <p:cNvPr id="25" name="Text 18"/>
          <p:cNvSpPr/>
          <p:nvPr/>
        </p:nvSpPr>
        <p:spPr>
          <a:xfrm>
            <a:off x="920572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Apply organisational layout and format standards.</a:t>
            </a:r>
            <a:endParaRPr lang="en-US" sz="1050" dirty="0"/>
          </a:p>
        </p:txBody>
      </p:sp>
      <p:sp>
        <p:nvSpPr>
          <p:cNvPr id="26" name="Shape 19"/>
          <p:cNvSpPr/>
          <p:nvPr/>
        </p:nvSpPr>
        <p:spPr>
          <a:xfrm>
            <a:off x="502920" y="3767328"/>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7512" y="3922776"/>
            <a:ext cx="310896" cy="310896"/>
          </a:xfrm>
          <a:prstGeom prst="rect">
            <a:avLst/>
          </a:prstGeom>
        </p:spPr>
      </p:pic>
      <p:sp>
        <p:nvSpPr>
          <p:cNvPr id="28" name="Text 20"/>
          <p:cNvSpPr/>
          <p:nvPr/>
        </p:nvSpPr>
        <p:spPr>
          <a:xfrm>
            <a:off x="1069848" y="3886200"/>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Writing</a:t>
            </a:r>
            <a:endParaRPr lang="en-US" sz="1350" dirty="0"/>
          </a:p>
        </p:txBody>
      </p:sp>
      <p:sp>
        <p:nvSpPr>
          <p:cNvPr id="29" name="Text 21"/>
          <p:cNvSpPr/>
          <p:nvPr/>
        </p:nvSpPr>
        <p:spPr>
          <a:xfrm>
            <a:off x="66751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Write clear, factual, objective and professional reports.</a:t>
            </a:r>
            <a:endParaRPr lang="en-US" sz="1050" dirty="0"/>
          </a:p>
        </p:txBody>
      </p:sp>
      <p:sp>
        <p:nvSpPr>
          <p:cNvPr id="30" name="Shape 22"/>
          <p:cNvSpPr/>
          <p:nvPr/>
        </p:nvSpPr>
        <p:spPr>
          <a:xfrm>
            <a:off x="3348990" y="3767328"/>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513582" y="3922776"/>
            <a:ext cx="310896" cy="310896"/>
          </a:xfrm>
          <a:prstGeom prst="rect">
            <a:avLst/>
          </a:prstGeom>
        </p:spPr>
      </p:pic>
      <p:sp>
        <p:nvSpPr>
          <p:cNvPr id="32" name="Text 23"/>
          <p:cNvSpPr/>
          <p:nvPr/>
        </p:nvSpPr>
        <p:spPr>
          <a:xfrm>
            <a:off x="3915918" y="3886200"/>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Deadlines</a:t>
            </a:r>
            <a:endParaRPr lang="en-US" sz="1350" dirty="0"/>
          </a:p>
        </p:txBody>
      </p:sp>
      <p:sp>
        <p:nvSpPr>
          <p:cNvPr id="33" name="Text 24"/>
          <p:cNvSpPr/>
          <p:nvPr/>
        </p:nvSpPr>
        <p:spPr>
          <a:xfrm>
            <a:off x="351358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Meet organisational reporting deadlines every time.</a:t>
            </a:r>
            <a:endParaRPr lang="en-US" sz="1050" dirty="0"/>
          </a:p>
        </p:txBody>
      </p:sp>
      <p:sp>
        <p:nvSpPr>
          <p:cNvPr id="34" name="Shape 25"/>
          <p:cNvSpPr/>
          <p:nvPr/>
        </p:nvSpPr>
        <p:spPr>
          <a:xfrm>
            <a:off x="6195060" y="3767328"/>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59652" y="3922776"/>
            <a:ext cx="310896" cy="310896"/>
          </a:xfrm>
          <a:prstGeom prst="rect">
            <a:avLst/>
          </a:prstGeom>
        </p:spPr>
      </p:pic>
      <p:sp>
        <p:nvSpPr>
          <p:cNvPr id="36" name="Text 26"/>
          <p:cNvSpPr/>
          <p:nvPr/>
        </p:nvSpPr>
        <p:spPr>
          <a:xfrm>
            <a:off x="6761988" y="3886200"/>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Audience</a:t>
            </a:r>
            <a:endParaRPr lang="en-US" sz="1350" dirty="0"/>
          </a:p>
        </p:txBody>
      </p:sp>
      <p:sp>
        <p:nvSpPr>
          <p:cNvPr id="37" name="Text 27"/>
          <p:cNvSpPr/>
          <p:nvPr/>
        </p:nvSpPr>
        <p:spPr>
          <a:xfrm>
            <a:off x="635965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Match content and language to each report's reader.</a:t>
            </a:r>
            <a:endParaRPr lang="en-US" sz="1050" dirty="0"/>
          </a:p>
        </p:txBody>
      </p:sp>
      <p:sp>
        <p:nvSpPr>
          <p:cNvPr id="38" name="Shape 28"/>
          <p:cNvSpPr/>
          <p:nvPr/>
        </p:nvSpPr>
        <p:spPr>
          <a:xfrm>
            <a:off x="9041130" y="3767328"/>
            <a:ext cx="2644902" cy="1417320"/>
          </a:xfrm>
          <a:prstGeom prst="roundRect">
            <a:avLst>
              <a:gd name="adj" fmla="val 580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205722" y="3922776"/>
            <a:ext cx="310896" cy="310896"/>
          </a:xfrm>
          <a:prstGeom prst="rect">
            <a:avLst/>
          </a:prstGeom>
        </p:spPr>
      </p:pic>
      <p:sp>
        <p:nvSpPr>
          <p:cNvPr id="40" name="Text 29"/>
          <p:cNvSpPr/>
          <p:nvPr/>
        </p:nvSpPr>
        <p:spPr>
          <a:xfrm>
            <a:off x="9608058" y="3886200"/>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Decisions</a:t>
            </a:r>
            <a:endParaRPr lang="en-US" sz="1350" dirty="0"/>
          </a:p>
        </p:txBody>
      </p:sp>
      <p:sp>
        <p:nvSpPr>
          <p:cNvPr id="41" name="Text 30"/>
          <p:cNvSpPr/>
          <p:nvPr/>
        </p:nvSpPr>
        <p:spPr>
          <a:xfrm>
            <a:off x="920572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Produce reports that enable informed business decisions.</a:t>
            </a:r>
            <a:endParaRPr lang="en-US" sz="1050" dirty="0"/>
          </a:p>
        </p:txBody>
      </p:sp>
      <p:sp>
        <p:nvSpPr>
          <p:cNvPr id="42" name="Shape 31"/>
          <p:cNvSpPr/>
          <p:nvPr/>
        </p:nvSpPr>
        <p:spPr>
          <a:xfrm>
            <a:off x="502920" y="5779008"/>
            <a:ext cx="11183112" cy="603504"/>
          </a:xfrm>
          <a:prstGeom prst="roundRect">
            <a:avLst>
              <a:gd name="adj" fmla="val 10606"/>
            </a:avLst>
          </a:prstGeom>
          <a:solidFill>
            <a:srgbClr val="002050"/>
          </a:solidFill>
          <a:ln/>
        </p:spPr>
      </p:sp>
      <p:pic>
        <p:nvPicPr>
          <p:cNvPr id="43"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4088" y="5943600"/>
            <a:ext cx="274320" cy="274320"/>
          </a:xfrm>
          <a:prstGeom prst="rect">
            <a:avLst/>
          </a:prstGeom>
        </p:spPr>
      </p:pic>
      <p:sp>
        <p:nvSpPr>
          <p:cNvPr id="44" name="Text 32"/>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Which of these eight skills do you already use in your current support role — and which one needs the most work?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COURSE INTRODUCTION</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Why report writing matters in IT support</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Recognise the business value of professional reporting in a corporate banking technology environment.</a:t>
            </a:r>
            <a:endParaRPr lang="en-US" sz="1050" dirty="0"/>
          </a:p>
        </p:txBody>
      </p:sp>
      <p:sp>
        <p:nvSpPr>
          <p:cNvPr id="10" name="Shape 7"/>
          <p:cNvSpPr/>
          <p:nvPr/>
        </p:nvSpPr>
        <p:spPr>
          <a:xfrm>
            <a:off x="502920" y="2148840"/>
            <a:ext cx="359359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304288"/>
            <a:ext cx="310896" cy="310896"/>
          </a:xfrm>
          <a:prstGeom prst="rect">
            <a:avLst/>
          </a:prstGeom>
        </p:spPr>
      </p:pic>
      <p:sp>
        <p:nvSpPr>
          <p:cNvPr id="12" name="Text 8"/>
          <p:cNvSpPr/>
          <p:nvPr/>
        </p:nvSpPr>
        <p:spPr>
          <a:xfrm>
            <a:off x="1069848" y="2267712"/>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Decisions</a:t>
            </a:r>
            <a:endParaRPr lang="en-US" sz="1350" dirty="0"/>
          </a:p>
        </p:txBody>
      </p:sp>
      <p:sp>
        <p:nvSpPr>
          <p:cNvPr id="13" name="Text 9"/>
          <p:cNvSpPr/>
          <p:nvPr/>
        </p:nvSpPr>
        <p:spPr>
          <a:xfrm>
            <a:off x="667512" y="2697480"/>
            <a:ext cx="326440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Managers approve budgets, staffing and fixes based on what your reports tell them.</a:t>
            </a:r>
            <a:endParaRPr lang="en-US" sz="1050" dirty="0"/>
          </a:p>
        </p:txBody>
      </p:sp>
      <p:sp>
        <p:nvSpPr>
          <p:cNvPr id="14" name="Shape 10"/>
          <p:cNvSpPr/>
          <p:nvPr/>
        </p:nvSpPr>
        <p:spPr>
          <a:xfrm>
            <a:off x="4297680" y="2148840"/>
            <a:ext cx="359359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62272" y="2304288"/>
            <a:ext cx="310896" cy="310896"/>
          </a:xfrm>
          <a:prstGeom prst="rect">
            <a:avLst/>
          </a:prstGeom>
        </p:spPr>
      </p:pic>
      <p:sp>
        <p:nvSpPr>
          <p:cNvPr id="16" name="Text 11"/>
          <p:cNvSpPr/>
          <p:nvPr/>
        </p:nvSpPr>
        <p:spPr>
          <a:xfrm>
            <a:off x="4864608" y="2267712"/>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Compliance</a:t>
            </a:r>
            <a:endParaRPr lang="en-US" sz="1350" dirty="0"/>
          </a:p>
        </p:txBody>
      </p:sp>
      <p:sp>
        <p:nvSpPr>
          <p:cNvPr id="17" name="Text 12"/>
          <p:cNvSpPr/>
          <p:nvPr/>
        </p:nvSpPr>
        <p:spPr>
          <a:xfrm>
            <a:off x="4462272" y="2697480"/>
            <a:ext cx="326440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POPIA and financial-sector regulation demand accurate, controlled records of incidents.</a:t>
            </a:r>
            <a:endParaRPr lang="en-US" sz="1050" dirty="0"/>
          </a:p>
        </p:txBody>
      </p:sp>
      <p:sp>
        <p:nvSpPr>
          <p:cNvPr id="18" name="Shape 13"/>
          <p:cNvSpPr/>
          <p:nvPr/>
        </p:nvSpPr>
        <p:spPr>
          <a:xfrm>
            <a:off x="8092440" y="2148840"/>
            <a:ext cx="359359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57032" y="2304288"/>
            <a:ext cx="310896" cy="310896"/>
          </a:xfrm>
          <a:prstGeom prst="rect">
            <a:avLst/>
          </a:prstGeom>
        </p:spPr>
      </p:pic>
      <p:sp>
        <p:nvSpPr>
          <p:cNvPr id="20" name="Text 14"/>
          <p:cNvSpPr/>
          <p:nvPr/>
        </p:nvSpPr>
        <p:spPr>
          <a:xfrm>
            <a:off x="8659368" y="2267712"/>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Reputation</a:t>
            </a:r>
            <a:endParaRPr lang="en-US" sz="1350" dirty="0"/>
          </a:p>
        </p:txBody>
      </p:sp>
      <p:sp>
        <p:nvSpPr>
          <p:cNvPr id="21" name="Text 15"/>
          <p:cNvSpPr/>
          <p:nvPr/>
        </p:nvSpPr>
        <p:spPr>
          <a:xfrm>
            <a:off x="8257032" y="2697480"/>
            <a:ext cx="326440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 clear, professional report builds trust in you and the whole support team.</a:t>
            </a:r>
            <a:endParaRPr lang="en-US" sz="1050" dirty="0"/>
          </a:p>
        </p:txBody>
      </p:sp>
      <p:sp>
        <p:nvSpPr>
          <p:cNvPr id="22" name="Shape 16"/>
          <p:cNvSpPr/>
          <p:nvPr/>
        </p:nvSpPr>
        <p:spPr>
          <a:xfrm>
            <a:off x="502920" y="4069080"/>
            <a:ext cx="11183112" cy="1417320"/>
          </a:xfrm>
          <a:prstGeom prst="roundRect">
            <a:avLst>
              <a:gd name="adj" fmla="val 5806"/>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3" name="Shape 17"/>
          <p:cNvSpPr/>
          <p:nvPr/>
        </p:nvSpPr>
        <p:spPr>
          <a:xfrm>
            <a:off x="502920" y="4069080"/>
            <a:ext cx="82296" cy="1417320"/>
          </a:xfrm>
          <a:prstGeom prst="rect">
            <a:avLst/>
          </a:prstGeom>
          <a:solidFill>
            <a:srgbClr val="0F6CBD"/>
          </a:solidFill>
          <a:ln/>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82528" y="4251960"/>
            <a:ext cx="347472" cy="347472"/>
          </a:xfrm>
          <a:prstGeom prst="rect">
            <a:avLst/>
          </a:prstGeom>
        </p:spPr>
      </p:pic>
      <p:sp>
        <p:nvSpPr>
          <p:cNvPr id="25" name="Text 18"/>
          <p:cNvSpPr/>
          <p:nvPr/>
        </p:nvSpPr>
        <p:spPr>
          <a:xfrm>
            <a:off x="795528" y="4215384"/>
            <a:ext cx="10177272" cy="112471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One outage, three audiences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After a trading-floor network outage, the same facts feed an incident report for the IT Manager, a compliance record for the risk team and an executive summary for business heads. Writing it well once saves the business three times.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4</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COURSE INTRODUCTION</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Course roadmap — 11 assessment criteria</a:t>
            </a:r>
            <a:endParaRPr lang="en-US" sz="2600" dirty="0"/>
          </a:p>
        </p:txBody>
      </p:sp>
      <p:sp>
        <p:nvSpPr>
          <p:cNvPr id="7" name="Text 5"/>
          <p:cNvSpPr/>
          <p:nvPr/>
        </p:nvSpPr>
        <p:spPr>
          <a:xfrm>
            <a:off x="502920" y="1417320"/>
            <a:ext cx="11183112" cy="274320"/>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SECTION 1 — EMBEDDED KNOWLEDGE (THEORY)</a:t>
            </a:r>
            <a:endParaRPr lang="en-US" sz="1100" dirty="0"/>
          </a:p>
        </p:txBody>
      </p:sp>
      <p:sp>
        <p:nvSpPr>
          <p:cNvPr id="8" name="Shape 6"/>
          <p:cNvSpPr/>
          <p:nvPr/>
        </p:nvSpPr>
        <p:spPr>
          <a:xfrm>
            <a:off x="502920" y="1783080"/>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667512" y="1947672"/>
            <a:ext cx="384048" cy="384048"/>
          </a:xfrm>
          <a:prstGeom prst="ellipse">
            <a:avLst/>
          </a:prstGeom>
          <a:solidFill>
            <a:srgbClr val="0F6CBD"/>
          </a:solidFill>
          <a:ln/>
        </p:spPr>
      </p:sp>
      <p:sp>
        <p:nvSpPr>
          <p:cNvPr id="10" name="Text 8"/>
          <p:cNvSpPr/>
          <p:nvPr/>
        </p:nvSpPr>
        <p:spPr>
          <a:xfrm>
            <a:off x="667512"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1" name="Text 9"/>
          <p:cNvSpPr/>
          <p:nvPr/>
        </p:nvSpPr>
        <p:spPr>
          <a:xfrm>
            <a:off x="1161288" y="1874520"/>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Purpose of reports</a:t>
            </a:r>
            <a:endParaRPr lang="en-US" sz="1250" dirty="0"/>
          </a:p>
        </p:txBody>
      </p:sp>
      <p:sp>
        <p:nvSpPr>
          <p:cNvPr id="12" name="Shape 10"/>
          <p:cNvSpPr/>
          <p:nvPr/>
        </p:nvSpPr>
        <p:spPr>
          <a:xfrm>
            <a:off x="4285488" y="1783080"/>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1"/>
          <p:cNvSpPr/>
          <p:nvPr/>
        </p:nvSpPr>
        <p:spPr>
          <a:xfrm>
            <a:off x="4450080" y="1947672"/>
            <a:ext cx="384048" cy="384048"/>
          </a:xfrm>
          <a:prstGeom prst="ellipse">
            <a:avLst/>
          </a:prstGeom>
          <a:solidFill>
            <a:srgbClr val="0F6CBD"/>
          </a:solidFill>
          <a:ln/>
        </p:spPr>
      </p:sp>
      <p:sp>
        <p:nvSpPr>
          <p:cNvPr id="14" name="Text 12"/>
          <p:cNvSpPr/>
          <p:nvPr/>
        </p:nvSpPr>
        <p:spPr>
          <a:xfrm>
            <a:off x="4450080"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5" name="Text 13"/>
          <p:cNvSpPr/>
          <p:nvPr/>
        </p:nvSpPr>
        <p:spPr>
          <a:xfrm>
            <a:off x="4943856" y="1874520"/>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Information resources</a:t>
            </a:r>
            <a:endParaRPr lang="en-US" sz="1250" dirty="0"/>
          </a:p>
        </p:txBody>
      </p:sp>
      <p:sp>
        <p:nvSpPr>
          <p:cNvPr id="16" name="Shape 14"/>
          <p:cNvSpPr/>
          <p:nvPr/>
        </p:nvSpPr>
        <p:spPr>
          <a:xfrm>
            <a:off x="8068056" y="1783080"/>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5"/>
          <p:cNvSpPr/>
          <p:nvPr/>
        </p:nvSpPr>
        <p:spPr>
          <a:xfrm>
            <a:off x="8232648" y="1947672"/>
            <a:ext cx="384048" cy="384048"/>
          </a:xfrm>
          <a:prstGeom prst="ellipse">
            <a:avLst/>
          </a:prstGeom>
          <a:solidFill>
            <a:srgbClr val="0F6CBD"/>
          </a:solidFill>
          <a:ln/>
        </p:spPr>
      </p:sp>
      <p:sp>
        <p:nvSpPr>
          <p:cNvPr id="18" name="Text 16"/>
          <p:cNvSpPr/>
          <p:nvPr/>
        </p:nvSpPr>
        <p:spPr>
          <a:xfrm>
            <a:off x="8232648"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19" name="Text 17"/>
          <p:cNvSpPr/>
          <p:nvPr/>
        </p:nvSpPr>
        <p:spPr>
          <a:xfrm>
            <a:off x="8726424" y="1874520"/>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Confidential dissemination</a:t>
            </a:r>
            <a:endParaRPr lang="en-US" sz="1250" dirty="0"/>
          </a:p>
        </p:txBody>
      </p:sp>
      <p:sp>
        <p:nvSpPr>
          <p:cNvPr id="20" name="Shape 18"/>
          <p:cNvSpPr/>
          <p:nvPr/>
        </p:nvSpPr>
        <p:spPr>
          <a:xfrm>
            <a:off x="502920" y="2660904"/>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9"/>
          <p:cNvSpPr/>
          <p:nvPr/>
        </p:nvSpPr>
        <p:spPr>
          <a:xfrm>
            <a:off x="667512" y="2825496"/>
            <a:ext cx="384048" cy="384048"/>
          </a:xfrm>
          <a:prstGeom prst="ellipse">
            <a:avLst/>
          </a:prstGeom>
          <a:solidFill>
            <a:srgbClr val="0F6CBD"/>
          </a:solidFill>
          <a:ln/>
        </p:spPr>
      </p:sp>
      <p:sp>
        <p:nvSpPr>
          <p:cNvPr id="22" name="Text 20"/>
          <p:cNvSpPr/>
          <p:nvPr/>
        </p:nvSpPr>
        <p:spPr>
          <a:xfrm>
            <a:off x="667512" y="282549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3" name="Text 21"/>
          <p:cNvSpPr/>
          <p:nvPr/>
        </p:nvSpPr>
        <p:spPr>
          <a:xfrm>
            <a:off x="1161288" y="2752344"/>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Layout &amp; format standards</a:t>
            </a:r>
            <a:endParaRPr lang="en-US" sz="1250" dirty="0"/>
          </a:p>
        </p:txBody>
      </p:sp>
      <p:sp>
        <p:nvSpPr>
          <p:cNvPr id="24" name="Shape 22"/>
          <p:cNvSpPr/>
          <p:nvPr/>
        </p:nvSpPr>
        <p:spPr>
          <a:xfrm>
            <a:off x="4285488" y="2660904"/>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5" name="Shape 23"/>
          <p:cNvSpPr/>
          <p:nvPr/>
        </p:nvSpPr>
        <p:spPr>
          <a:xfrm>
            <a:off x="4450080" y="2825496"/>
            <a:ext cx="384048" cy="384048"/>
          </a:xfrm>
          <a:prstGeom prst="ellipse">
            <a:avLst/>
          </a:prstGeom>
          <a:solidFill>
            <a:srgbClr val="0F6CBD"/>
          </a:solidFill>
          <a:ln/>
        </p:spPr>
      </p:sp>
      <p:sp>
        <p:nvSpPr>
          <p:cNvPr id="26" name="Text 24"/>
          <p:cNvSpPr/>
          <p:nvPr/>
        </p:nvSpPr>
        <p:spPr>
          <a:xfrm>
            <a:off x="4450080" y="282549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27" name="Text 25"/>
          <p:cNvSpPr/>
          <p:nvPr/>
        </p:nvSpPr>
        <p:spPr>
          <a:xfrm>
            <a:off x="4943856" y="2752344"/>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Information needs</a:t>
            </a:r>
            <a:endParaRPr lang="en-US" sz="1250" dirty="0"/>
          </a:p>
        </p:txBody>
      </p:sp>
      <p:sp>
        <p:nvSpPr>
          <p:cNvPr id="28" name="Shape 26"/>
          <p:cNvSpPr/>
          <p:nvPr/>
        </p:nvSpPr>
        <p:spPr>
          <a:xfrm>
            <a:off x="8068056" y="2660904"/>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9" name="Shape 27"/>
          <p:cNvSpPr/>
          <p:nvPr/>
        </p:nvSpPr>
        <p:spPr>
          <a:xfrm>
            <a:off x="8232648" y="2825496"/>
            <a:ext cx="384048" cy="384048"/>
          </a:xfrm>
          <a:prstGeom prst="ellipse">
            <a:avLst/>
          </a:prstGeom>
          <a:solidFill>
            <a:srgbClr val="0F6CBD"/>
          </a:solidFill>
          <a:ln/>
        </p:spPr>
      </p:sp>
      <p:sp>
        <p:nvSpPr>
          <p:cNvPr id="30" name="Text 28"/>
          <p:cNvSpPr/>
          <p:nvPr/>
        </p:nvSpPr>
        <p:spPr>
          <a:xfrm>
            <a:off x="8232648" y="282549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1" name="Text 29"/>
          <p:cNvSpPr/>
          <p:nvPr/>
        </p:nvSpPr>
        <p:spPr>
          <a:xfrm>
            <a:off x="8726424" y="2752344"/>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Report types (range)</a:t>
            </a:r>
            <a:endParaRPr lang="en-US" sz="1250" dirty="0"/>
          </a:p>
        </p:txBody>
      </p:sp>
      <p:sp>
        <p:nvSpPr>
          <p:cNvPr id="32" name="Shape 30"/>
          <p:cNvSpPr/>
          <p:nvPr/>
        </p:nvSpPr>
        <p:spPr>
          <a:xfrm>
            <a:off x="502920" y="3538728"/>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33" name="Shape 31"/>
          <p:cNvSpPr/>
          <p:nvPr/>
        </p:nvSpPr>
        <p:spPr>
          <a:xfrm>
            <a:off x="667512" y="3703320"/>
            <a:ext cx="384048" cy="384048"/>
          </a:xfrm>
          <a:prstGeom prst="ellipse">
            <a:avLst/>
          </a:prstGeom>
          <a:solidFill>
            <a:srgbClr val="0F6CBD"/>
          </a:solidFill>
          <a:ln/>
        </p:spPr>
      </p:sp>
      <p:sp>
        <p:nvSpPr>
          <p:cNvPr id="34" name="Text 32"/>
          <p:cNvSpPr/>
          <p:nvPr/>
        </p:nvSpPr>
        <p:spPr>
          <a:xfrm>
            <a:off x="667512"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7</a:t>
            </a:r>
            <a:endParaRPr lang="en-US" sz="1400" dirty="0"/>
          </a:p>
        </p:txBody>
      </p:sp>
      <p:sp>
        <p:nvSpPr>
          <p:cNvPr id="35" name="Text 33"/>
          <p:cNvSpPr/>
          <p:nvPr/>
        </p:nvSpPr>
        <p:spPr>
          <a:xfrm>
            <a:off x="1161288" y="3630168"/>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Reporting deadlines</a:t>
            </a:r>
            <a:endParaRPr lang="en-US" sz="1250" dirty="0"/>
          </a:p>
        </p:txBody>
      </p:sp>
      <p:sp>
        <p:nvSpPr>
          <p:cNvPr id="36" name="Shape 34"/>
          <p:cNvSpPr/>
          <p:nvPr/>
        </p:nvSpPr>
        <p:spPr>
          <a:xfrm>
            <a:off x="4285488" y="3538728"/>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37" name="Shape 35"/>
          <p:cNvSpPr/>
          <p:nvPr/>
        </p:nvSpPr>
        <p:spPr>
          <a:xfrm>
            <a:off x="4450080" y="3703320"/>
            <a:ext cx="384048" cy="384048"/>
          </a:xfrm>
          <a:prstGeom prst="ellipse">
            <a:avLst/>
          </a:prstGeom>
          <a:solidFill>
            <a:srgbClr val="0F6CBD"/>
          </a:solidFill>
          <a:ln/>
        </p:spPr>
      </p:sp>
      <p:sp>
        <p:nvSpPr>
          <p:cNvPr id="38" name="Text 36"/>
          <p:cNvSpPr/>
          <p:nvPr/>
        </p:nvSpPr>
        <p:spPr>
          <a:xfrm>
            <a:off x="4450080"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8</a:t>
            </a:r>
            <a:endParaRPr lang="en-US" sz="1400" dirty="0"/>
          </a:p>
        </p:txBody>
      </p:sp>
      <p:sp>
        <p:nvSpPr>
          <p:cNvPr id="39" name="Text 37"/>
          <p:cNvSpPr/>
          <p:nvPr/>
        </p:nvSpPr>
        <p:spPr>
          <a:xfrm>
            <a:off x="4943856" y="3630168"/>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Writing techniques</a:t>
            </a:r>
            <a:endParaRPr lang="en-US" sz="1250" dirty="0"/>
          </a:p>
        </p:txBody>
      </p:sp>
      <p:sp>
        <p:nvSpPr>
          <p:cNvPr id="40" name="Shape 38"/>
          <p:cNvSpPr/>
          <p:nvPr/>
        </p:nvSpPr>
        <p:spPr>
          <a:xfrm>
            <a:off x="8068056" y="3538728"/>
            <a:ext cx="3617976" cy="713232"/>
          </a:xfrm>
          <a:prstGeom prst="roundRect">
            <a:avLst>
              <a:gd name="adj" fmla="val 115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41" name="Shape 39"/>
          <p:cNvSpPr/>
          <p:nvPr/>
        </p:nvSpPr>
        <p:spPr>
          <a:xfrm>
            <a:off x="8232648" y="3703320"/>
            <a:ext cx="384048" cy="384048"/>
          </a:xfrm>
          <a:prstGeom prst="ellipse">
            <a:avLst/>
          </a:prstGeom>
          <a:solidFill>
            <a:srgbClr val="0F6CBD"/>
          </a:solidFill>
          <a:ln/>
        </p:spPr>
      </p:sp>
      <p:sp>
        <p:nvSpPr>
          <p:cNvPr id="42" name="Text 40"/>
          <p:cNvSpPr/>
          <p:nvPr/>
        </p:nvSpPr>
        <p:spPr>
          <a:xfrm>
            <a:off x="8232648"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9</a:t>
            </a:r>
            <a:endParaRPr lang="en-US" sz="1400" dirty="0"/>
          </a:p>
        </p:txBody>
      </p:sp>
      <p:sp>
        <p:nvSpPr>
          <p:cNvPr id="43" name="Text 41"/>
          <p:cNvSpPr/>
          <p:nvPr/>
        </p:nvSpPr>
        <p:spPr>
          <a:xfrm>
            <a:off x="8726424" y="3630168"/>
            <a:ext cx="2795016" cy="530352"/>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Report recipients</a:t>
            </a:r>
            <a:endParaRPr lang="en-US" sz="1250" dirty="0"/>
          </a:p>
        </p:txBody>
      </p:sp>
      <p:sp>
        <p:nvSpPr>
          <p:cNvPr id="44" name="Text 42"/>
          <p:cNvSpPr/>
          <p:nvPr/>
        </p:nvSpPr>
        <p:spPr>
          <a:xfrm>
            <a:off x="502920" y="4617720"/>
            <a:ext cx="11183112" cy="274320"/>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SECTION 2 — PRACTICAL ACTIVITIES (APPLICATION)</a:t>
            </a:r>
            <a:endParaRPr lang="en-US" sz="1100" dirty="0"/>
          </a:p>
        </p:txBody>
      </p:sp>
      <p:sp>
        <p:nvSpPr>
          <p:cNvPr id="45" name="Shape 43"/>
          <p:cNvSpPr/>
          <p:nvPr/>
        </p:nvSpPr>
        <p:spPr>
          <a:xfrm>
            <a:off x="502920" y="4983480"/>
            <a:ext cx="5477256" cy="777240"/>
          </a:xfrm>
          <a:prstGeom prst="roundRect">
            <a:avLst>
              <a:gd name="adj" fmla="val 1058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46" name="Shape 44"/>
          <p:cNvSpPr/>
          <p:nvPr/>
        </p:nvSpPr>
        <p:spPr>
          <a:xfrm>
            <a:off x="667512" y="5184648"/>
            <a:ext cx="384048" cy="384048"/>
          </a:xfrm>
          <a:prstGeom prst="ellipse">
            <a:avLst/>
          </a:prstGeom>
          <a:solidFill>
            <a:srgbClr val="002050"/>
          </a:solidFill>
          <a:ln/>
        </p:spPr>
      </p:sp>
      <p:sp>
        <p:nvSpPr>
          <p:cNvPr id="47" name="Text 45"/>
          <p:cNvSpPr/>
          <p:nvPr/>
        </p:nvSpPr>
        <p:spPr>
          <a:xfrm>
            <a:off x="667512" y="518464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10</a:t>
            </a:r>
            <a:endParaRPr lang="en-US" sz="1400" dirty="0"/>
          </a:p>
        </p:txBody>
      </p:sp>
      <p:sp>
        <p:nvSpPr>
          <p:cNvPr id="48" name="Text 46"/>
          <p:cNvSpPr/>
          <p:nvPr/>
        </p:nvSpPr>
        <p:spPr>
          <a:xfrm>
            <a:off x="1161288" y="4983480"/>
            <a:ext cx="4654296" cy="777240"/>
          </a:xfrm>
          <a:prstGeom prst="rect">
            <a:avLst/>
          </a:prstGeom>
          <a:noFill/>
          <a:ln/>
        </p:spPr>
        <p:txBody>
          <a:bodyPr wrap="square" rtlCol="0" anchor="ctr"/>
          <a:lstStyle/>
          <a:p>
            <a:pPr indent="0" marL="0">
              <a:buNone/>
            </a:pPr>
            <a:r>
              <a:rPr lang="en-US" sz="1300" b="1" dirty="0">
                <a:solidFill>
                  <a:srgbClr val="002050"/>
                </a:solidFill>
                <a:latin typeface="Aptos Display" pitchFamily="34" charset="0"/>
                <a:ea typeface="Aptos Display" pitchFamily="34" charset="-122"/>
                <a:cs typeface="Aptos Display" pitchFamily="34" charset="-120"/>
              </a:rPr>
              <a:t>Obtain &amp; distribute confidential information correctly</a:t>
            </a:r>
            <a:endParaRPr lang="en-US" sz="1300" dirty="0"/>
          </a:p>
        </p:txBody>
      </p:sp>
      <p:sp>
        <p:nvSpPr>
          <p:cNvPr id="49" name="Shape 47"/>
          <p:cNvSpPr/>
          <p:nvPr/>
        </p:nvSpPr>
        <p:spPr>
          <a:xfrm>
            <a:off x="6208776" y="4983480"/>
            <a:ext cx="5477256" cy="777240"/>
          </a:xfrm>
          <a:prstGeom prst="roundRect">
            <a:avLst>
              <a:gd name="adj" fmla="val 1058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50" name="Shape 48"/>
          <p:cNvSpPr/>
          <p:nvPr/>
        </p:nvSpPr>
        <p:spPr>
          <a:xfrm>
            <a:off x="6373368" y="5184648"/>
            <a:ext cx="384048" cy="384048"/>
          </a:xfrm>
          <a:prstGeom prst="ellipse">
            <a:avLst/>
          </a:prstGeom>
          <a:solidFill>
            <a:srgbClr val="002050"/>
          </a:solidFill>
          <a:ln/>
        </p:spPr>
      </p:sp>
      <p:sp>
        <p:nvSpPr>
          <p:cNvPr id="51" name="Text 49"/>
          <p:cNvSpPr/>
          <p:nvPr/>
        </p:nvSpPr>
        <p:spPr>
          <a:xfrm>
            <a:off x="6373368" y="518464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11</a:t>
            </a:r>
            <a:endParaRPr lang="en-US" sz="1400" dirty="0"/>
          </a:p>
        </p:txBody>
      </p:sp>
      <p:sp>
        <p:nvSpPr>
          <p:cNvPr id="52" name="Text 50"/>
          <p:cNvSpPr/>
          <p:nvPr/>
        </p:nvSpPr>
        <p:spPr>
          <a:xfrm>
            <a:off x="6867144" y="4983480"/>
            <a:ext cx="4654296" cy="777240"/>
          </a:xfrm>
          <a:prstGeom prst="rect">
            <a:avLst/>
          </a:prstGeom>
          <a:noFill/>
          <a:ln/>
        </p:spPr>
        <p:txBody>
          <a:bodyPr wrap="square" rtlCol="0" anchor="ctr"/>
          <a:lstStyle/>
          <a:p>
            <a:pPr indent="0" marL="0">
              <a:buNone/>
            </a:pPr>
            <a:r>
              <a:rPr lang="en-US" sz="1300" b="1" dirty="0">
                <a:solidFill>
                  <a:srgbClr val="002050"/>
                </a:solidFill>
                <a:latin typeface="Aptos Display" pitchFamily="34" charset="0"/>
                <a:ea typeface="Aptos Display" pitchFamily="34" charset="-122"/>
                <a:cs typeface="Aptos Display" pitchFamily="34" charset="-120"/>
              </a:rPr>
              <a:t>Compile complete reports — right content, format and deadline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4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5</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82296"/>
          </a:xfrm>
          <a:prstGeom prst="rect">
            <a:avLst/>
          </a:prstGeom>
          <a:solidFill>
            <a:srgbClr val="0F6C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48640" cy="548640"/>
          </a:xfrm>
          <a:prstGeom prst="rect">
            <a:avLst/>
          </a:prstGeom>
        </p:spPr>
      </p:pic>
      <p:sp>
        <p:nvSpPr>
          <p:cNvPr id="7" name="Text 4"/>
          <p:cNvSpPr/>
          <p:nvPr/>
        </p:nvSpPr>
        <p:spPr>
          <a:xfrm>
            <a:off x="502920" y="2286000"/>
            <a:ext cx="11183112" cy="365760"/>
          </a:xfrm>
          <a:prstGeom prst="rect">
            <a:avLst/>
          </a:prstGeom>
          <a:noFill/>
          <a:ln/>
        </p:spPr>
        <p:txBody>
          <a:bodyPr wrap="square" rtlCol="0" anchor="ctr"/>
          <a:lstStyle/>
          <a:p>
            <a:pPr indent="0" marL="0">
              <a:buNone/>
            </a:pPr>
            <a:r>
              <a:rPr lang="en-US" sz="1400" b="1" spc="300" kern="0" dirty="0">
                <a:solidFill>
                  <a:srgbClr val="0F6CBD"/>
                </a:solidFill>
                <a:latin typeface="Aptos" pitchFamily="34" charset="0"/>
                <a:ea typeface="Aptos" pitchFamily="34" charset="-122"/>
                <a:cs typeface="Aptos" pitchFamily="34" charset="-120"/>
              </a:rPr>
              <a:t>SECTION 1</a:t>
            </a:r>
            <a:endParaRPr lang="en-US" sz="1400" dirty="0"/>
          </a:p>
        </p:txBody>
      </p:sp>
      <p:sp>
        <p:nvSpPr>
          <p:cNvPr id="8" name="Text 5"/>
          <p:cNvSpPr/>
          <p:nvPr/>
        </p:nvSpPr>
        <p:spPr>
          <a:xfrm>
            <a:off x="502920" y="2697480"/>
            <a:ext cx="11183112" cy="914400"/>
          </a:xfrm>
          <a:prstGeom prst="rect">
            <a:avLst/>
          </a:prstGeom>
          <a:noFill/>
          <a:ln/>
        </p:spPr>
        <p:txBody>
          <a:bodyPr wrap="square" rtlCol="0" anchor="ctr"/>
          <a:lstStyle/>
          <a:p>
            <a:pPr indent="0" marL="0">
              <a:buNone/>
            </a:pPr>
            <a:r>
              <a:rPr lang="en-US" sz="4000" b="1" dirty="0">
                <a:solidFill>
                  <a:srgbClr val="002050"/>
                </a:solidFill>
                <a:latin typeface="Aptos Display" pitchFamily="34" charset="0"/>
                <a:ea typeface="Aptos Display" pitchFamily="34" charset="-122"/>
                <a:cs typeface="Aptos Display" pitchFamily="34" charset="-120"/>
              </a:rPr>
              <a:t>Embedded Knowledge Questions</a:t>
            </a:r>
            <a:endParaRPr lang="en-US" sz="4000" dirty="0"/>
          </a:p>
        </p:txBody>
      </p:sp>
      <p:sp>
        <p:nvSpPr>
          <p:cNvPr id="9" name="Text 6"/>
          <p:cNvSpPr/>
          <p:nvPr/>
        </p:nvSpPr>
        <p:spPr>
          <a:xfrm>
            <a:off x="502920" y="3657600"/>
            <a:ext cx="8439912" cy="73152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Nine criteria that assess whether the learner understands the theory behind professional report writing.</a:t>
            </a:r>
            <a:endParaRPr lang="en-US" sz="1500" dirty="0"/>
          </a:p>
        </p:txBody>
      </p:sp>
      <p:sp>
        <p:nvSpPr>
          <p:cNvPr id="10" name="Shape 7"/>
          <p:cNvSpPr/>
          <p:nvPr/>
        </p:nvSpPr>
        <p:spPr>
          <a:xfrm>
            <a:off x="502920" y="4480560"/>
            <a:ext cx="1280160" cy="109728"/>
          </a:xfrm>
          <a:prstGeom prst="roundRect">
            <a:avLst>
              <a:gd name="adj" fmla="val 50000"/>
            </a:avLst>
          </a:prstGeom>
          <a:solidFill>
            <a:srgbClr val="0F6CBD"/>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6</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Purpose and content of reports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Relate the purpose and content of a range of reports to the information needs of the business.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Every report exists to answer a reader's questions so a decision can be made. Content must match what the reader needs — nothing more, nothing less.</a:t>
            </a:r>
            <a:endParaRPr lang="en-US" sz="1350" dirty="0"/>
          </a:p>
        </p:txBody>
      </p:sp>
      <p:sp>
        <p:nvSpPr>
          <p:cNvPr id="11" name="Shape 8"/>
          <p:cNvSpPr/>
          <p:nvPr/>
        </p:nvSpPr>
        <p:spPr>
          <a:xfrm>
            <a:off x="502920" y="2880360"/>
            <a:ext cx="2987802" cy="1371600"/>
          </a:xfrm>
          <a:prstGeom prst="homePlate">
            <a:avLst/>
          </a:prstGeom>
          <a:solidFill>
            <a:srgbClr val="0F6CBD"/>
          </a:solidFill>
          <a:ln w="19050">
            <a:solidFill>
              <a:srgbClr val="FFFFFF"/>
            </a:solidFill>
            <a:prstDash val="solid"/>
          </a:ln>
        </p:spPr>
      </p:sp>
      <p:sp>
        <p:nvSpPr>
          <p:cNvPr id="12" name="Text 9"/>
          <p:cNvSpPr/>
          <p:nvPr/>
        </p:nvSpPr>
        <p:spPr>
          <a:xfrm>
            <a:off x="612648"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Why am I</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writing this?</a:t>
            </a:r>
            <a:endParaRPr lang="en-US" sz="1200" dirty="0"/>
          </a:p>
        </p:txBody>
      </p:sp>
      <p:sp>
        <p:nvSpPr>
          <p:cNvPr id="13" name="Shape 10"/>
          <p:cNvSpPr/>
          <p:nvPr/>
        </p:nvSpPr>
        <p:spPr>
          <a:xfrm>
            <a:off x="3234690" y="2880360"/>
            <a:ext cx="2987802" cy="1371600"/>
          </a:xfrm>
          <a:prstGeom prst="chevron">
            <a:avLst/>
          </a:prstGeom>
          <a:solidFill>
            <a:srgbClr val="002050"/>
          </a:solidFill>
          <a:ln w="19050">
            <a:solidFill>
              <a:srgbClr val="FFFFFF"/>
            </a:solidFill>
            <a:prstDash val="solid"/>
          </a:ln>
        </p:spPr>
      </p:sp>
      <p:sp>
        <p:nvSpPr>
          <p:cNvPr id="14" name="Text 11"/>
          <p:cNvSpPr/>
          <p:nvPr/>
        </p:nvSpPr>
        <p:spPr>
          <a:xfrm>
            <a:off x="3509010"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Who will</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read it?</a:t>
            </a:r>
            <a:endParaRPr lang="en-US" sz="1200" dirty="0"/>
          </a:p>
        </p:txBody>
      </p:sp>
      <p:sp>
        <p:nvSpPr>
          <p:cNvPr id="15" name="Shape 12"/>
          <p:cNvSpPr/>
          <p:nvPr/>
        </p:nvSpPr>
        <p:spPr>
          <a:xfrm>
            <a:off x="5966460" y="2880360"/>
            <a:ext cx="2987802" cy="1371600"/>
          </a:xfrm>
          <a:prstGeom prst="chevron">
            <a:avLst/>
          </a:prstGeom>
          <a:solidFill>
            <a:srgbClr val="0F6CBD"/>
          </a:solidFill>
          <a:ln w="19050">
            <a:solidFill>
              <a:srgbClr val="FFFFFF"/>
            </a:solidFill>
            <a:prstDash val="solid"/>
          </a:ln>
        </p:spPr>
      </p:sp>
      <p:sp>
        <p:nvSpPr>
          <p:cNvPr id="16" name="Text 13"/>
          <p:cNvSpPr/>
          <p:nvPr/>
        </p:nvSpPr>
        <p:spPr>
          <a:xfrm>
            <a:off x="6240780"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What will</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they decide?</a:t>
            </a:r>
            <a:endParaRPr lang="en-US" sz="1200" dirty="0"/>
          </a:p>
        </p:txBody>
      </p:sp>
      <p:sp>
        <p:nvSpPr>
          <p:cNvPr id="17" name="Shape 14"/>
          <p:cNvSpPr/>
          <p:nvPr/>
        </p:nvSpPr>
        <p:spPr>
          <a:xfrm>
            <a:off x="8698230" y="2880360"/>
            <a:ext cx="2987802" cy="1371600"/>
          </a:xfrm>
          <a:prstGeom prst="chevron">
            <a:avLst/>
          </a:prstGeom>
          <a:solidFill>
            <a:srgbClr val="002050"/>
          </a:solidFill>
          <a:ln w="19050">
            <a:solidFill>
              <a:srgbClr val="FFFFFF"/>
            </a:solidFill>
            <a:prstDash val="solid"/>
          </a:ln>
        </p:spPr>
      </p:sp>
      <p:sp>
        <p:nvSpPr>
          <p:cNvPr id="18" name="Text 15"/>
          <p:cNvSpPr/>
          <p:nvPr/>
        </p:nvSpPr>
        <p:spPr>
          <a:xfrm>
            <a:off x="8972550"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Write only what</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answers that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7</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Purpose and content of reports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Incident report after a network outage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An Investec IT Support Technician writes an incident report after a network outage. The IT Manager needs five answers: What happened? Why did it happen? Which users were affected? How was it fixed? How will it be prevented? The report answers exactly those questions — with no unnecessary technical detail.</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Confirm the reader's questions before you write a single word.</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Padding the report with technical detail the reader never asked for.</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Your IT Manager requests an outage report. Name three questions the report must answer before they will call it complete.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8</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2</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Available information resources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Identify reliable sources of information for compiling accurate business reports.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A report is only as good as its evidence. Draw on official business systems and records — never on memory or assumption.</a:t>
            </a:r>
            <a:endParaRPr lang="en-US" sz="1350" dirty="0"/>
          </a:p>
        </p:txBody>
      </p:sp>
      <p:sp>
        <p:nvSpPr>
          <p:cNvPr id="11" name="Shape 8"/>
          <p:cNvSpPr/>
          <p:nvPr/>
        </p:nvSpPr>
        <p:spPr>
          <a:xfrm>
            <a:off x="50292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898648"/>
            <a:ext cx="310896" cy="310896"/>
          </a:xfrm>
          <a:prstGeom prst="rect">
            <a:avLst/>
          </a:prstGeom>
        </p:spPr>
      </p:pic>
      <p:sp>
        <p:nvSpPr>
          <p:cNvPr id="13" name="Text 9"/>
          <p:cNvSpPr/>
          <p:nvPr/>
        </p:nvSpPr>
        <p:spPr>
          <a:xfrm>
            <a:off x="106984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System logs</a:t>
            </a:r>
            <a:endParaRPr lang="en-US" sz="1350" dirty="0"/>
          </a:p>
        </p:txBody>
      </p:sp>
      <p:sp>
        <p:nvSpPr>
          <p:cNvPr id="14" name="Text 10"/>
          <p:cNvSpPr/>
          <p:nvPr/>
        </p:nvSpPr>
        <p:spPr>
          <a:xfrm>
            <a:off x="66751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Windows Event Viewer · SQL Server logs · firewall logs</a:t>
            </a:r>
            <a:endParaRPr lang="en-US" sz="1050" dirty="0"/>
          </a:p>
        </p:txBody>
      </p:sp>
      <p:sp>
        <p:nvSpPr>
          <p:cNvPr id="15" name="Shape 11"/>
          <p:cNvSpPr/>
          <p:nvPr/>
        </p:nvSpPr>
        <p:spPr>
          <a:xfrm>
            <a:off x="334899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582" y="2898648"/>
            <a:ext cx="310896" cy="310896"/>
          </a:xfrm>
          <a:prstGeom prst="rect">
            <a:avLst/>
          </a:prstGeom>
        </p:spPr>
      </p:pic>
      <p:sp>
        <p:nvSpPr>
          <p:cNvPr id="17" name="Text 12"/>
          <p:cNvSpPr/>
          <p:nvPr/>
        </p:nvSpPr>
        <p:spPr>
          <a:xfrm>
            <a:off x="391591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Service platforms</a:t>
            </a:r>
            <a:endParaRPr lang="en-US" sz="1350" dirty="0"/>
          </a:p>
        </p:txBody>
      </p:sp>
      <p:sp>
        <p:nvSpPr>
          <p:cNvPr id="18" name="Text 13"/>
          <p:cNvSpPr/>
          <p:nvPr/>
        </p:nvSpPr>
        <p:spPr>
          <a:xfrm>
            <a:off x="351358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ServiceNow · helpdesk tickets · Microsoft Intune · Microsoft Entra ID</a:t>
            </a:r>
            <a:endParaRPr lang="en-US" sz="1050" dirty="0"/>
          </a:p>
        </p:txBody>
      </p:sp>
      <p:sp>
        <p:nvSpPr>
          <p:cNvPr id="19" name="Shape 14"/>
          <p:cNvSpPr/>
          <p:nvPr/>
        </p:nvSpPr>
        <p:spPr>
          <a:xfrm>
            <a:off x="619506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652" y="2898648"/>
            <a:ext cx="310896" cy="310896"/>
          </a:xfrm>
          <a:prstGeom prst="rect">
            <a:avLst/>
          </a:prstGeom>
        </p:spPr>
      </p:pic>
      <p:sp>
        <p:nvSpPr>
          <p:cNvPr id="21" name="Text 15"/>
          <p:cNvSpPr/>
          <p:nvPr/>
        </p:nvSpPr>
        <p:spPr>
          <a:xfrm>
            <a:off x="676198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Business records</a:t>
            </a:r>
            <a:endParaRPr lang="en-US" sz="1350" dirty="0"/>
          </a:p>
        </p:txBody>
      </p:sp>
      <p:sp>
        <p:nvSpPr>
          <p:cNvPr id="22" name="Text 16"/>
          <p:cNvSpPr/>
          <p:nvPr/>
        </p:nvSpPr>
        <p:spPr>
          <a:xfrm>
            <a:off x="635965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Email records · asset register · company policies · previous reports</a:t>
            </a:r>
            <a:endParaRPr lang="en-US" sz="1050" dirty="0"/>
          </a:p>
        </p:txBody>
      </p:sp>
      <p:sp>
        <p:nvSpPr>
          <p:cNvPr id="23" name="Shape 17"/>
          <p:cNvSpPr/>
          <p:nvPr/>
        </p:nvSpPr>
        <p:spPr>
          <a:xfrm>
            <a:off x="904113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5722" y="2898648"/>
            <a:ext cx="310896" cy="310896"/>
          </a:xfrm>
          <a:prstGeom prst="rect">
            <a:avLst/>
          </a:prstGeom>
        </p:spPr>
      </p:pic>
      <p:sp>
        <p:nvSpPr>
          <p:cNvPr id="25" name="Text 18"/>
          <p:cNvSpPr/>
          <p:nvPr/>
        </p:nvSpPr>
        <p:spPr>
          <a:xfrm>
            <a:off x="960805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People</a:t>
            </a:r>
            <a:endParaRPr lang="en-US" sz="1350" dirty="0"/>
          </a:p>
        </p:txBody>
      </p:sp>
      <p:sp>
        <p:nvSpPr>
          <p:cNvPr id="26" name="Text 19"/>
          <p:cNvSpPr/>
          <p:nvPr/>
        </p:nvSpPr>
        <p:spPr>
          <a:xfrm>
            <a:off x="920572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User interviews · Microsoft Teams messages · escalation notes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9</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2</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Available information resources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Verify before you write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Investigating a login failure spike, a technician exports the sign-in log from Microsoft Entra ID, cross-checks affected users against ServiceNow tickets and confirms the change window in the previous maintenance report — three official sources, zero guesswork.</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Verify every fact against an official business record before it goes in the report.</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Relying on memory or assumptions instead of system evidence.</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A user says 'the server was down all morning'. Which two sources would you check to verify that claim?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10</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3</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Disseminating confidential information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Follow organisational procedures for who may access, share and store confidential reports.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Not everyone may see every report. Policy defines who may access it, how it is shared, where it is stored and how it is protected.</a:t>
            </a:r>
            <a:endParaRPr lang="en-US" sz="1350" dirty="0"/>
          </a:p>
        </p:txBody>
      </p:sp>
      <p:sp>
        <p:nvSpPr>
          <p:cNvPr id="11" name="Shape 8"/>
          <p:cNvSpPr/>
          <p:nvPr/>
        </p:nvSpPr>
        <p:spPr>
          <a:xfrm>
            <a:off x="502920" y="2743200"/>
            <a:ext cx="2987802" cy="1188720"/>
          </a:xfrm>
          <a:prstGeom prst="homePlate">
            <a:avLst/>
          </a:prstGeom>
          <a:solidFill>
            <a:srgbClr val="0F6CBD"/>
          </a:solidFill>
          <a:ln w="19050">
            <a:solidFill>
              <a:srgbClr val="FFFFFF"/>
            </a:solidFill>
            <a:prstDash val="solid"/>
          </a:ln>
        </p:spPr>
      </p:sp>
      <p:sp>
        <p:nvSpPr>
          <p:cNvPr id="12" name="Text 9"/>
          <p:cNvSpPr/>
          <p:nvPr/>
        </p:nvSpPr>
        <p:spPr>
          <a:xfrm>
            <a:off x="612648"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Classify the</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report</a:t>
            </a:r>
            <a:endParaRPr lang="en-US" sz="1200" dirty="0"/>
          </a:p>
        </p:txBody>
      </p:sp>
      <p:sp>
        <p:nvSpPr>
          <p:cNvPr id="13" name="Shape 10"/>
          <p:cNvSpPr/>
          <p:nvPr/>
        </p:nvSpPr>
        <p:spPr>
          <a:xfrm>
            <a:off x="3234690" y="2743200"/>
            <a:ext cx="2987802" cy="1188720"/>
          </a:xfrm>
          <a:prstGeom prst="chevron">
            <a:avLst/>
          </a:prstGeom>
          <a:solidFill>
            <a:srgbClr val="002050"/>
          </a:solidFill>
          <a:ln w="19050">
            <a:solidFill>
              <a:srgbClr val="FFFFFF"/>
            </a:solidFill>
            <a:prstDash val="solid"/>
          </a:ln>
        </p:spPr>
      </p:sp>
      <p:sp>
        <p:nvSpPr>
          <p:cNvPr id="14" name="Text 11"/>
          <p:cNvSpPr/>
          <p:nvPr/>
        </p:nvSpPr>
        <p:spPr>
          <a:xfrm>
            <a:off x="3509010"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Check the</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access policy</a:t>
            </a:r>
            <a:endParaRPr lang="en-US" sz="1200" dirty="0"/>
          </a:p>
        </p:txBody>
      </p:sp>
      <p:sp>
        <p:nvSpPr>
          <p:cNvPr id="15" name="Shape 12"/>
          <p:cNvSpPr/>
          <p:nvPr/>
        </p:nvSpPr>
        <p:spPr>
          <a:xfrm>
            <a:off x="5966460" y="2743200"/>
            <a:ext cx="2987802" cy="1188720"/>
          </a:xfrm>
          <a:prstGeom prst="chevron">
            <a:avLst/>
          </a:prstGeom>
          <a:solidFill>
            <a:srgbClr val="0F6CBD"/>
          </a:solidFill>
          <a:ln w="19050">
            <a:solidFill>
              <a:srgbClr val="FFFFFF"/>
            </a:solidFill>
            <a:prstDash val="solid"/>
          </a:ln>
        </p:spPr>
      </p:sp>
      <p:sp>
        <p:nvSpPr>
          <p:cNvPr id="16" name="Text 13"/>
          <p:cNvSpPr/>
          <p:nvPr/>
        </p:nvSpPr>
        <p:spPr>
          <a:xfrm>
            <a:off x="6240780"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Share via approved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channel only</a:t>
            </a:r>
            <a:endParaRPr lang="en-US" sz="1200" dirty="0"/>
          </a:p>
        </p:txBody>
      </p:sp>
      <p:sp>
        <p:nvSpPr>
          <p:cNvPr id="17" name="Shape 14"/>
          <p:cNvSpPr/>
          <p:nvPr/>
        </p:nvSpPr>
        <p:spPr>
          <a:xfrm>
            <a:off x="8698230" y="2743200"/>
            <a:ext cx="2987802" cy="1188720"/>
          </a:xfrm>
          <a:prstGeom prst="chevron">
            <a:avLst/>
          </a:prstGeom>
          <a:solidFill>
            <a:srgbClr val="002050"/>
          </a:solidFill>
          <a:ln w="19050">
            <a:solidFill>
              <a:srgbClr val="FFFFFF"/>
            </a:solidFill>
            <a:prstDash val="solid"/>
          </a:ln>
        </p:spPr>
      </p:sp>
      <p:sp>
        <p:nvSpPr>
          <p:cNvPr id="18" name="Text 15"/>
          <p:cNvSpPr/>
          <p:nvPr/>
        </p:nvSpPr>
        <p:spPr>
          <a:xfrm>
            <a:off x="8972550"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Store in controlled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location</a:t>
            </a:r>
            <a:endParaRPr lang="en-US" sz="1200" dirty="0"/>
          </a:p>
        </p:txBody>
      </p:sp>
      <p:sp>
        <p:nvSpPr>
          <p:cNvPr id="19" name="Text 16"/>
          <p:cNvSpPr/>
          <p:nvPr/>
        </p:nvSpPr>
        <p:spPr>
          <a:xfrm>
            <a:off x="502920" y="4206240"/>
            <a:ext cx="11183112" cy="457200"/>
          </a:xfrm>
          <a:prstGeom prst="rect">
            <a:avLst/>
          </a:prstGeom>
          <a:noFill/>
          <a:ln/>
        </p:spPr>
        <p:txBody>
          <a:bodyPr wrap="square" rtlCol="0" anchor="ctr"/>
          <a:lstStyle/>
          <a:p>
            <a:pPr indent="0" marL="0">
              <a:buNone/>
            </a:pPr>
            <a:r>
              <a:rPr lang="en-US" sz="1250" b="1" dirty="0">
                <a:solidFill>
                  <a:srgbClr val="002050"/>
                </a:solidFill>
                <a:latin typeface="Aptos" pitchFamily="34" charset="0"/>
                <a:ea typeface="Aptos" pitchFamily="34" charset="-122"/>
                <a:cs typeface="Aptos" pitchFamily="34" charset="-120"/>
              </a:rPr>
              <a:t>Authorised readers of a cyber-security report:  </a:t>
            </a:r>
            <a:pPr indent="0" marL="0">
              <a:buNone/>
            </a:pPr>
            <a:r>
              <a:rPr lang="en-US" sz="1250" dirty="0">
                <a:solidFill>
                  <a:srgbClr val="6B7280"/>
                </a:solidFill>
                <a:latin typeface="Aptos" pitchFamily="34" charset="0"/>
                <a:ea typeface="Aptos" pitchFamily="34" charset="-122"/>
                <a:cs typeface="Aptos" pitchFamily="34" charset="-120"/>
              </a:rPr>
              <a:t>IT Manager · Information Security Team · Compliance Officer — never the whole company.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11</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3</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Disseminating confidential information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Security report with usernames and IP addresses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A cyber-security report identifies employee usernames and IP addresses involved in a phishing attempt. It is shared only with the IT Manager, the Information Security Team and the Compliance Officer through the approved document management system — it is not emailed to every employee.</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Classify first, then share only with named, authorised roles via approved channels.</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Emailing a sensitive report to a broad distribution list 'for awareness'.</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Your security report names three staff members. Who may receive it — and through which channel?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12</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4</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Layout and format standards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Apply organisational standards for the layout and format of reports.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Consistent formatting makes reports easier to read and reinforces the organisation's professional image.</a:t>
            </a:r>
            <a:endParaRPr lang="en-US" sz="1350" dirty="0"/>
          </a:p>
        </p:txBody>
      </p:sp>
      <p:sp>
        <p:nvSpPr>
          <p:cNvPr id="11" name="Shape 8"/>
          <p:cNvSpPr/>
          <p:nvPr/>
        </p:nvSpPr>
        <p:spPr>
          <a:xfrm>
            <a:off x="50292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898648"/>
            <a:ext cx="310896" cy="310896"/>
          </a:xfrm>
          <a:prstGeom prst="rect">
            <a:avLst/>
          </a:prstGeom>
        </p:spPr>
      </p:pic>
      <p:sp>
        <p:nvSpPr>
          <p:cNvPr id="13" name="Text 9"/>
          <p:cNvSpPr/>
          <p:nvPr/>
        </p:nvSpPr>
        <p:spPr>
          <a:xfrm>
            <a:off x="106984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Identity</a:t>
            </a:r>
            <a:endParaRPr lang="en-US" sz="1350" dirty="0"/>
          </a:p>
        </p:txBody>
      </p:sp>
      <p:sp>
        <p:nvSpPr>
          <p:cNvPr id="14" name="Text 10"/>
          <p:cNvSpPr/>
          <p:nvPr/>
        </p:nvSpPr>
        <p:spPr>
          <a:xfrm>
            <a:off x="66751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Company logo · title page · confidential classification</a:t>
            </a:r>
            <a:endParaRPr lang="en-US" sz="1050" dirty="0"/>
          </a:p>
        </p:txBody>
      </p:sp>
      <p:sp>
        <p:nvSpPr>
          <p:cNvPr id="15" name="Shape 11"/>
          <p:cNvSpPr/>
          <p:nvPr/>
        </p:nvSpPr>
        <p:spPr>
          <a:xfrm>
            <a:off x="334899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582" y="2898648"/>
            <a:ext cx="310896" cy="310896"/>
          </a:xfrm>
          <a:prstGeom prst="rect">
            <a:avLst/>
          </a:prstGeom>
        </p:spPr>
      </p:pic>
      <p:sp>
        <p:nvSpPr>
          <p:cNvPr id="17" name="Text 12"/>
          <p:cNvSpPr/>
          <p:nvPr/>
        </p:nvSpPr>
        <p:spPr>
          <a:xfrm>
            <a:off x="391591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Structure</a:t>
            </a:r>
            <a:endParaRPr lang="en-US" sz="1350" dirty="0"/>
          </a:p>
        </p:txBody>
      </p:sp>
      <p:sp>
        <p:nvSpPr>
          <p:cNvPr id="18" name="Text 13"/>
          <p:cNvSpPr/>
          <p:nvPr/>
        </p:nvSpPr>
        <p:spPr>
          <a:xfrm>
            <a:off x="351358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Heading styles · numbered sections · automatic table of contents</a:t>
            </a:r>
            <a:endParaRPr lang="en-US" sz="1050" dirty="0"/>
          </a:p>
        </p:txBody>
      </p:sp>
      <p:sp>
        <p:nvSpPr>
          <p:cNvPr id="19" name="Shape 14"/>
          <p:cNvSpPr/>
          <p:nvPr/>
        </p:nvSpPr>
        <p:spPr>
          <a:xfrm>
            <a:off x="619506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652" y="2898648"/>
            <a:ext cx="310896" cy="310896"/>
          </a:xfrm>
          <a:prstGeom prst="rect">
            <a:avLst/>
          </a:prstGeom>
        </p:spPr>
      </p:pic>
      <p:sp>
        <p:nvSpPr>
          <p:cNvPr id="21" name="Text 15"/>
          <p:cNvSpPr/>
          <p:nvPr/>
        </p:nvSpPr>
        <p:spPr>
          <a:xfrm>
            <a:off x="676198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Typography</a:t>
            </a:r>
            <a:endParaRPr lang="en-US" sz="1350" dirty="0"/>
          </a:p>
        </p:txBody>
      </p:sp>
      <p:sp>
        <p:nvSpPr>
          <p:cNvPr id="22" name="Text 16"/>
          <p:cNvSpPr/>
          <p:nvPr/>
        </p:nvSpPr>
        <p:spPr>
          <a:xfrm>
            <a:off x="635965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Aptos font · blue headings · consistent sizes</a:t>
            </a:r>
            <a:endParaRPr lang="en-US" sz="1050" dirty="0"/>
          </a:p>
        </p:txBody>
      </p:sp>
      <p:sp>
        <p:nvSpPr>
          <p:cNvPr id="23" name="Shape 17"/>
          <p:cNvSpPr/>
          <p:nvPr/>
        </p:nvSpPr>
        <p:spPr>
          <a:xfrm>
            <a:off x="9041130" y="2743200"/>
            <a:ext cx="2644902" cy="1691640"/>
          </a:xfrm>
          <a:prstGeom prst="roundRect">
            <a:avLst>
              <a:gd name="adj" fmla="val 486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5722" y="2898648"/>
            <a:ext cx="310896" cy="310896"/>
          </a:xfrm>
          <a:prstGeom prst="rect">
            <a:avLst/>
          </a:prstGeom>
        </p:spPr>
      </p:pic>
      <p:sp>
        <p:nvSpPr>
          <p:cNvPr id="25" name="Text 18"/>
          <p:cNvSpPr/>
          <p:nvPr/>
        </p:nvSpPr>
        <p:spPr>
          <a:xfrm>
            <a:off x="9608058" y="2862072"/>
            <a:ext cx="191338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Navigation</a:t>
            </a:r>
            <a:endParaRPr lang="en-US" sz="1350" dirty="0"/>
          </a:p>
        </p:txBody>
      </p:sp>
      <p:sp>
        <p:nvSpPr>
          <p:cNvPr id="26" name="Text 19"/>
          <p:cNvSpPr/>
          <p:nvPr/>
        </p:nvSpPr>
        <p:spPr>
          <a:xfrm>
            <a:off x="920572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Page numbers · tables for data · professional finish</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13</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4</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Layout and format standards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The Investec house style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Investec reports use the Aptos font, defined heading styles with blue headings, page numbering, a confidential classification on the cover and an automatic table of contents. A report in house style is recognised — and trusted — instantly.</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Start from the approved company template so every standard is applied automatically.</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Building each report from a blank page with improvised fonts and headings.</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Name four formatting elements every company report must carry before it can be submitted.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14</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5</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Information needs of the organisation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Provide the quantified information management needs to make informed business decisions.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Management thinks in cost, impact, cause and next steps. Quantify everything — vague statements cannot support decisions.</a:t>
            </a:r>
            <a:endParaRPr lang="en-US" sz="1350" dirty="0"/>
          </a:p>
        </p:txBody>
      </p:sp>
      <p:sp>
        <p:nvSpPr>
          <p:cNvPr id="11" name="Shape 8"/>
          <p:cNvSpPr/>
          <p:nvPr/>
        </p:nvSpPr>
        <p:spPr>
          <a:xfrm>
            <a:off x="502920" y="2697480"/>
            <a:ext cx="5362956" cy="2194560"/>
          </a:xfrm>
          <a:prstGeom prst="roundRect">
            <a:avLst>
              <a:gd name="adj" fmla="val 375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2862072"/>
            <a:ext cx="256032" cy="256032"/>
          </a:xfrm>
          <a:prstGeom prst="rect">
            <a:avLst/>
          </a:prstGeom>
        </p:spPr>
      </p:pic>
      <p:sp>
        <p:nvSpPr>
          <p:cNvPr id="13" name="Text 9"/>
          <p:cNvSpPr/>
          <p:nvPr/>
        </p:nvSpPr>
        <p:spPr>
          <a:xfrm>
            <a:off x="1069848" y="2834640"/>
            <a:ext cx="4585716" cy="320040"/>
          </a:xfrm>
          <a:prstGeom prst="rect">
            <a:avLst/>
          </a:prstGeom>
          <a:noFill/>
          <a:ln/>
        </p:spPr>
        <p:txBody>
          <a:bodyPr wrap="square" rtlCol="0" anchor="ctr"/>
          <a:lstStyle/>
          <a:p>
            <a:pPr indent="0" marL="0">
              <a:buNone/>
            </a:pPr>
            <a:r>
              <a:rPr lang="en-US" sz="1200" b="1" spc="150" kern="0" dirty="0">
                <a:solidFill>
                  <a:srgbClr val="6B7280"/>
                </a:solidFill>
                <a:latin typeface="Aptos" pitchFamily="34" charset="0"/>
                <a:ea typeface="Aptos" pitchFamily="34" charset="-122"/>
                <a:cs typeface="Aptos" pitchFamily="34" charset="-120"/>
              </a:rPr>
              <a:t>WEAK</a:t>
            </a:r>
            <a:endParaRPr lang="en-US" sz="1200" dirty="0"/>
          </a:p>
        </p:txBody>
      </p:sp>
      <p:sp>
        <p:nvSpPr>
          <p:cNvPr id="14" name="Text 10"/>
          <p:cNvSpPr/>
          <p:nvPr/>
        </p:nvSpPr>
        <p:spPr>
          <a:xfrm>
            <a:off x="731520" y="3246120"/>
            <a:ext cx="4905756" cy="1417320"/>
          </a:xfrm>
          <a:prstGeom prst="rect">
            <a:avLst/>
          </a:prstGeom>
          <a:noFill/>
          <a:ln/>
        </p:spPr>
        <p:txBody>
          <a:bodyPr wrap="square" rtlCol="0" anchor="t"/>
          <a:lstStyle/>
          <a:p>
            <a:pPr indent="0" marL="0">
              <a:buNone/>
            </a:pPr>
            <a:r>
              <a:rPr lang="en-US" sz="1600" i="1" dirty="0">
                <a:solidFill>
                  <a:srgbClr val="6B7280"/>
                </a:solidFill>
                <a:latin typeface="Aptos" pitchFamily="34" charset="0"/>
                <a:ea typeface="Aptos" pitchFamily="34" charset="-122"/>
                <a:cs typeface="Aptos" pitchFamily="34" charset="-120"/>
              </a:rPr>
              <a:t>“The server crashed.”</a:t>
            </a:r>
            <a:endParaRPr lang="en-US" sz="1600" dirty="0"/>
          </a:p>
        </p:txBody>
      </p:sp>
      <p:sp>
        <p:nvSpPr>
          <p:cNvPr id="15" name="Shape 11"/>
          <p:cNvSpPr/>
          <p:nvPr/>
        </p:nvSpPr>
        <p:spPr>
          <a:xfrm>
            <a:off x="6323076" y="2697480"/>
            <a:ext cx="5362956" cy="2194560"/>
          </a:xfrm>
          <a:prstGeom prst="roundRect">
            <a:avLst>
              <a:gd name="adj" fmla="val 375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2862072"/>
            <a:ext cx="256032" cy="256032"/>
          </a:xfrm>
          <a:prstGeom prst="rect">
            <a:avLst/>
          </a:prstGeom>
        </p:spPr>
      </p:pic>
      <p:sp>
        <p:nvSpPr>
          <p:cNvPr id="17" name="Text 12"/>
          <p:cNvSpPr/>
          <p:nvPr/>
        </p:nvSpPr>
        <p:spPr>
          <a:xfrm>
            <a:off x="6890004" y="2834640"/>
            <a:ext cx="4585716" cy="320040"/>
          </a:xfrm>
          <a:prstGeom prst="rect">
            <a:avLst/>
          </a:prstGeom>
          <a:noFill/>
          <a:ln/>
        </p:spPr>
        <p:txBody>
          <a:bodyPr wrap="square" rtlCol="0" anchor="ctr"/>
          <a:lstStyle/>
          <a:p>
            <a:pPr indent="0" marL="0">
              <a:buNone/>
            </a:pPr>
            <a:r>
              <a:rPr lang="en-US" sz="1200" b="1" spc="150" kern="0" dirty="0">
                <a:solidFill>
                  <a:srgbClr val="0F6CBD"/>
                </a:solidFill>
                <a:latin typeface="Aptos" pitchFamily="34" charset="0"/>
                <a:ea typeface="Aptos" pitchFamily="34" charset="-122"/>
                <a:cs typeface="Aptos" pitchFamily="34" charset="-120"/>
              </a:rPr>
              <a:t>STRONG</a:t>
            </a:r>
            <a:endParaRPr lang="en-US" sz="1200" dirty="0"/>
          </a:p>
        </p:txBody>
      </p:sp>
      <p:sp>
        <p:nvSpPr>
          <p:cNvPr id="18" name="Text 13"/>
          <p:cNvSpPr/>
          <p:nvPr/>
        </p:nvSpPr>
        <p:spPr>
          <a:xfrm>
            <a:off x="6551676" y="3246120"/>
            <a:ext cx="4905756" cy="1417320"/>
          </a:xfrm>
          <a:prstGeom prst="rect">
            <a:avLst/>
          </a:prstGeom>
          <a:noFill/>
          <a:ln/>
        </p:spPr>
        <p:txBody>
          <a:bodyPr wrap="square" rtlCol="0" anchor="t"/>
          <a:lstStyle/>
          <a:p>
            <a:pPr indent="0" marL="0">
              <a:buNone/>
            </a:pPr>
            <a:r>
              <a:rPr lang="en-US" sz="1500" dirty="0">
                <a:solidFill>
                  <a:srgbClr val="002050"/>
                </a:solidFill>
                <a:latin typeface="Aptos" pitchFamily="34" charset="0"/>
                <a:ea typeface="Aptos" pitchFamily="34" charset="-122"/>
                <a:cs typeface="Aptos" pitchFamily="34" charset="-120"/>
              </a:rPr>
              <a:t>“The server outage affected 43 users, interrupted online banking for 18 minutes, delayed two client transactions, and generated 26 helpdesk tickets.”</a:t>
            </a:r>
            <a:endParaRPr lang="en-US" sz="1500" dirty="0"/>
          </a:p>
        </p:txBody>
      </p:sp>
      <p:sp>
        <p:nvSpPr>
          <p:cNvPr id="19" name="Shape 14"/>
          <p:cNvSpPr/>
          <p:nvPr/>
        </p:nvSpPr>
        <p:spPr>
          <a:xfrm>
            <a:off x="5939028" y="3639312"/>
            <a:ext cx="329184" cy="310896"/>
          </a:xfrm>
          <a:prstGeom prst="rightArrow">
            <a:avLst/>
          </a:prstGeom>
          <a:solidFill>
            <a:srgbClr val="0F6CBD"/>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15</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5</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Information needs of the organisation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Answer management's five questions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How much did it cost? Which departments were affected? What caused the issue? What is the business impact? What should we do next? A report that answers all five lets an Investec department head act the same day, without a follow-up meeting.</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Quantify impact: users, minutes, tickets, transactions, rands.</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Vague statements — 'the system was slow' — that no one can act on.</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Rewrite 'Email was down for a while this morning' so that it answers management's impact questions.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16</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6</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Purpose and content of a range of reports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Distinguish the purpose of the report types used in business practice.</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The principles come from Retail/Wholesale practice but apply to every industry, including IT: each report type answers a different question.</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83112" cy="914400"/>
        </p:xfrm>
        <a:graphic>
          <a:graphicData uri="http://schemas.openxmlformats.org/drawingml/2006/table">
            <a:tbl>
              <a:tblPr/>
              <a:tblGrid>
                <a:gridCol w="2795778"/>
                <a:gridCol w="2795778"/>
                <a:gridCol w="2795778"/>
                <a:gridCol w="2795778"/>
              </a:tblGrid>
              <a:tr h="384048">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Report type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It answers…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Report type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It answers…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Incident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What happened?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Risk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What could go wrong?</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Service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How did the service perform?</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Audit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Do we comply?</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Fault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What is broken?</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Security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Are we protected?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Maintenance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What work was completed?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Performance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How well are we doing?</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Progress / project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How far are we?</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Inventory report</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What do we have?</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17</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6</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Purpose and content of a range of reports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Same outage, different reports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One SAN failure at Investec produces an incident report (what happened), a maintenance report (the disk replacement completed), and feeds the monthly service report (availability against SLA). Three documents, three purposes — never mixed into one.</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Name the report type before you start writing — it fixes the purpose and the content.</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Mixing incident detail, maintenance logs and performance stats into one unfocused document.</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A director asks 'what work was completed on the SAN last night?' — which report type answers that?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18</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7</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Organisational reporting deadlines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Meet the reporting deadlines the organisation sets for each report type.</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A late report loses its value — timeliness is a key measure of professionalism.</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11183112" cy="914400"/>
        </p:xfrm>
        <a:graphic>
          <a:graphicData uri="http://schemas.openxmlformats.org/drawingml/2006/table">
            <a:tbl>
              <a:tblPr/>
              <a:tblGrid>
                <a:gridCol w="5943600"/>
                <a:gridCol w="5239512"/>
              </a:tblGrid>
              <a:tr h="384048">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Report</a:t>
                      </a:r>
                      <a:endParaRPr lang="en-US" sz="13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Deadline</a:t>
                      </a:r>
                      <a:endParaRPr lang="en-US" sz="13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84048">
                <a:tc>
                  <a:txBody>
                    <a:bodyPr/>
                    <a:lstStyle/>
                    <a:p>
                      <a:pPr indent="0" marL="0">
                        <a:buNone/>
                      </a:pPr>
                      <a:r>
                        <a:rPr lang="en-US" sz="1300" dirty="0">
                          <a:solidFill>
                            <a:srgbClr val="002050"/>
                          </a:solidFill>
                          <a:latin typeface="Aptos" pitchFamily="34" charset="0"/>
                          <a:ea typeface="Aptos" pitchFamily="34" charset="-122"/>
                          <a:cs typeface="Aptos" pitchFamily="34" charset="-120"/>
                        </a:rPr>
                        <a:t>Security incident</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Within 1 hour</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2050"/>
                          </a:solidFill>
                          <a:latin typeface="Aptos" pitchFamily="34" charset="0"/>
                          <a:ea typeface="Aptos" pitchFamily="34" charset="-122"/>
                          <a:cs typeface="Aptos" pitchFamily="34" charset="-120"/>
                        </a:rPr>
                        <a:t>Major outage report</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Within 24 hours</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84048">
                <a:tc>
                  <a:txBody>
                    <a:bodyPr/>
                    <a:lstStyle/>
                    <a:p>
                      <a:pPr indent="0" marL="0">
                        <a:buNone/>
                      </a:pPr>
                      <a:r>
                        <a:rPr lang="en-US" sz="1300" dirty="0">
                          <a:solidFill>
                            <a:srgbClr val="002050"/>
                          </a:solidFill>
                          <a:latin typeface="Aptos" pitchFamily="34" charset="0"/>
                          <a:ea typeface="Aptos" pitchFamily="34" charset="-122"/>
                          <a:cs typeface="Aptos" pitchFamily="34" charset="-120"/>
                        </a:rPr>
                        <a:t>Weekly IT report</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Every Friday</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2050"/>
                          </a:solidFill>
                          <a:latin typeface="Aptos" pitchFamily="34" charset="0"/>
                          <a:ea typeface="Aptos" pitchFamily="34" charset="-122"/>
                          <a:cs typeface="Aptos" pitchFamily="34" charset="-120"/>
                        </a:rPr>
                        <a:t>Monthly performance report</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Last working day of the month</a:t>
                      </a:r>
                      <a:endParaRPr lang="en-US" sz="13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19</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7</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Organisational reporting deadlines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The 24-hour outage clock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A core switch fails at 14:00 on Tuesday. The major-outage report is due by 14:00 Wednesday. The technician books thirty minutes the same afternoon to capture evidence while it is fresh — the report is submitted with three hours to spare.</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Start capturing evidence immediately — the deadline clock starts when the incident does.</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Leaving the report until 'things calm down' and missing the submission window.</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A security incident is confirmed at 10:15. By what time must the first report be submitted?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20</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8</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Business report writing techniques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Apply techniques that make reports clear, concise, objective and professional.</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Good technique turns raw facts into a document a busy manager can absorb in minutes.</a:t>
            </a:r>
            <a:endParaRPr lang="en-US" sz="1350" dirty="0"/>
          </a:p>
        </p:txBody>
      </p:sp>
      <p:sp>
        <p:nvSpPr>
          <p:cNvPr id="11" name="Shape 8"/>
          <p:cNvSpPr/>
          <p:nvPr/>
        </p:nvSpPr>
        <p:spPr>
          <a:xfrm>
            <a:off x="502920" y="2697480"/>
            <a:ext cx="3593592" cy="1024128"/>
          </a:xfrm>
          <a:prstGeom prst="roundRect">
            <a:avLst>
              <a:gd name="adj" fmla="val 803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667512" y="3017520"/>
            <a:ext cx="384048" cy="384048"/>
          </a:xfrm>
          <a:prstGeom prst="ellipse">
            <a:avLst/>
          </a:prstGeom>
          <a:solidFill>
            <a:srgbClr val="0F6CBD"/>
          </a:solidFill>
          <a:ln/>
        </p:spPr>
      </p:sp>
      <p:sp>
        <p:nvSpPr>
          <p:cNvPr id="13" name="Text 10"/>
          <p:cNvSpPr/>
          <p:nvPr/>
        </p:nvSpPr>
        <p:spPr>
          <a:xfrm>
            <a:off x="667512" y="30175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4" name="Text 11"/>
          <p:cNvSpPr/>
          <p:nvPr/>
        </p:nvSpPr>
        <p:spPr>
          <a:xfrm>
            <a:off x="1161288" y="2788920"/>
            <a:ext cx="2770632" cy="841248"/>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Structure it
</a:t>
            </a:r>
            <a:pPr indent="0" marL="0">
              <a:buNone/>
            </a:pPr>
            <a:r>
              <a:rPr lang="en-US" sz="1050" dirty="0">
                <a:solidFill>
                  <a:srgbClr val="6B7280"/>
                </a:solidFill>
                <a:latin typeface="Aptos" pitchFamily="34" charset="0"/>
                <a:ea typeface="Aptos" pitchFamily="34" charset="-122"/>
                <a:cs typeface="Aptos" pitchFamily="34" charset="-120"/>
              </a:rPr>
              <a:t>Headings, subheadings, correct numbering</a:t>
            </a:r>
            <a:endParaRPr lang="en-US" sz="1250" dirty="0"/>
          </a:p>
        </p:txBody>
      </p:sp>
      <p:sp>
        <p:nvSpPr>
          <p:cNvPr id="15" name="Shape 12"/>
          <p:cNvSpPr/>
          <p:nvPr/>
        </p:nvSpPr>
        <p:spPr>
          <a:xfrm>
            <a:off x="4297680" y="2697480"/>
            <a:ext cx="3593592" cy="1024128"/>
          </a:xfrm>
          <a:prstGeom prst="roundRect">
            <a:avLst>
              <a:gd name="adj" fmla="val 803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3"/>
          <p:cNvSpPr/>
          <p:nvPr/>
        </p:nvSpPr>
        <p:spPr>
          <a:xfrm>
            <a:off x="4462272" y="3017520"/>
            <a:ext cx="384048" cy="384048"/>
          </a:xfrm>
          <a:prstGeom prst="ellipse">
            <a:avLst/>
          </a:prstGeom>
          <a:solidFill>
            <a:srgbClr val="0F6CBD"/>
          </a:solidFill>
          <a:ln/>
        </p:spPr>
      </p:sp>
      <p:sp>
        <p:nvSpPr>
          <p:cNvPr id="17" name="Text 14"/>
          <p:cNvSpPr/>
          <p:nvPr/>
        </p:nvSpPr>
        <p:spPr>
          <a:xfrm>
            <a:off x="4462272" y="30175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8" name="Text 15"/>
          <p:cNvSpPr/>
          <p:nvPr/>
        </p:nvSpPr>
        <p:spPr>
          <a:xfrm>
            <a:off x="4956048" y="2788920"/>
            <a:ext cx="2770632" cy="841248"/>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Keep it plain
</a:t>
            </a:r>
            <a:pPr indent="0" marL="0">
              <a:buNone/>
            </a:pPr>
            <a:r>
              <a:rPr lang="en-US" sz="1050" dirty="0">
                <a:solidFill>
                  <a:srgbClr val="6B7280"/>
                </a:solidFill>
                <a:latin typeface="Aptos" pitchFamily="34" charset="0"/>
                <a:ea typeface="Aptos" pitchFamily="34" charset="-122"/>
                <a:cs typeface="Aptos" pitchFamily="34" charset="-120"/>
              </a:rPr>
              <a:t>Plain English, short sentences, bullets</a:t>
            </a:r>
            <a:endParaRPr lang="en-US" sz="1250" dirty="0"/>
          </a:p>
        </p:txBody>
      </p:sp>
      <p:sp>
        <p:nvSpPr>
          <p:cNvPr id="19" name="Shape 16"/>
          <p:cNvSpPr/>
          <p:nvPr/>
        </p:nvSpPr>
        <p:spPr>
          <a:xfrm>
            <a:off x="8092440" y="2697480"/>
            <a:ext cx="3593592" cy="1024128"/>
          </a:xfrm>
          <a:prstGeom prst="roundRect">
            <a:avLst>
              <a:gd name="adj" fmla="val 803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0" name="Shape 17"/>
          <p:cNvSpPr/>
          <p:nvPr/>
        </p:nvSpPr>
        <p:spPr>
          <a:xfrm>
            <a:off x="8257032" y="3017520"/>
            <a:ext cx="384048" cy="384048"/>
          </a:xfrm>
          <a:prstGeom prst="ellipse">
            <a:avLst/>
          </a:prstGeom>
          <a:solidFill>
            <a:srgbClr val="0F6CBD"/>
          </a:solidFill>
          <a:ln/>
        </p:spPr>
      </p:sp>
      <p:sp>
        <p:nvSpPr>
          <p:cNvPr id="21" name="Text 18"/>
          <p:cNvSpPr/>
          <p:nvPr/>
        </p:nvSpPr>
        <p:spPr>
          <a:xfrm>
            <a:off x="8257032" y="30175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2" name="Text 19"/>
          <p:cNvSpPr/>
          <p:nvPr/>
        </p:nvSpPr>
        <p:spPr>
          <a:xfrm>
            <a:off x="8750808" y="2788920"/>
            <a:ext cx="2770632" cy="841248"/>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Stay objective
</a:t>
            </a:r>
            <a:pPr indent="0" marL="0">
              <a:buNone/>
            </a:pPr>
            <a:r>
              <a:rPr lang="en-US" sz="1050" dirty="0">
                <a:solidFill>
                  <a:srgbClr val="6B7280"/>
                </a:solidFill>
                <a:latin typeface="Aptos" pitchFamily="34" charset="0"/>
                <a:ea typeface="Aptos" pitchFamily="34" charset="-122"/>
                <a:cs typeface="Aptos" pitchFamily="34" charset="-120"/>
              </a:rPr>
              <a:t>Facts and evidence — never opinions</a:t>
            </a:r>
            <a:endParaRPr lang="en-US" sz="1250" dirty="0"/>
          </a:p>
        </p:txBody>
      </p:sp>
      <p:sp>
        <p:nvSpPr>
          <p:cNvPr id="23" name="Shape 20"/>
          <p:cNvSpPr/>
          <p:nvPr/>
        </p:nvSpPr>
        <p:spPr>
          <a:xfrm>
            <a:off x="502920" y="3922776"/>
            <a:ext cx="3593592" cy="1024128"/>
          </a:xfrm>
          <a:prstGeom prst="roundRect">
            <a:avLst>
              <a:gd name="adj" fmla="val 803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4" name="Shape 21"/>
          <p:cNvSpPr/>
          <p:nvPr/>
        </p:nvSpPr>
        <p:spPr>
          <a:xfrm>
            <a:off x="667512" y="4242816"/>
            <a:ext cx="384048" cy="384048"/>
          </a:xfrm>
          <a:prstGeom prst="ellipse">
            <a:avLst/>
          </a:prstGeom>
          <a:solidFill>
            <a:srgbClr val="0F6CBD"/>
          </a:solidFill>
          <a:ln/>
        </p:spPr>
      </p:sp>
      <p:sp>
        <p:nvSpPr>
          <p:cNvPr id="25" name="Text 22"/>
          <p:cNvSpPr/>
          <p:nvPr/>
        </p:nvSpPr>
        <p:spPr>
          <a:xfrm>
            <a:off x="667512"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6" name="Text 23"/>
          <p:cNvSpPr/>
          <p:nvPr/>
        </p:nvSpPr>
        <p:spPr>
          <a:xfrm>
            <a:off x="1161288" y="4014216"/>
            <a:ext cx="2770632" cy="841248"/>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Show the data
</a:t>
            </a:r>
            <a:pPr indent="0" marL="0">
              <a:buNone/>
            </a:pPr>
            <a:r>
              <a:rPr lang="en-US" sz="1050" dirty="0">
                <a:solidFill>
                  <a:srgbClr val="6B7280"/>
                </a:solidFill>
                <a:latin typeface="Aptos" pitchFamily="34" charset="0"/>
                <a:ea typeface="Aptos" pitchFamily="34" charset="-122"/>
                <a:cs typeface="Aptos" pitchFamily="34" charset="-120"/>
              </a:rPr>
              <a:t>Tables for figures, realistic recommendations</a:t>
            </a:r>
            <a:endParaRPr lang="en-US" sz="1250" dirty="0"/>
          </a:p>
        </p:txBody>
      </p:sp>
      <p:sp>
        <p:nvSpPr>
          <p:cNvPr id="27" name="Shape 24"/>
          <p:cNvSpPr/>
          <p:nvPr/>
        </p:nvSpPr>
        <p:spPr>
          <a:xfrm>
            <a:off x="4297680" y="3922776"/>
            <a:ext cx="3593592" cy="1024128"/>
          </a:xfrm>
          <a:prstGeom prst="roundRect">
            <a:avLst>
              <a:gd name="adj" fmla="val 803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8" name="Shape 25"/>
          <p:cNvSpPr/>
          <p:nvPr/>
        </p:nvSpPr>
        <p:spPr>
          <a:xfrm>
            <a:off x="4462272" y="4242816"/>
            <a:ext cx="384048" cy="384048"/>
          </a:xfrm>
          <a:prstGeom prst="ellipse">
            <a:avLst/>
          </a:prstGeom>
          <a:solidFill>
            <a:srgbClr val="0F6CBD"/>
          </a:solidFill>
          <a:ln/>
        </p:spPr>
      </p:sp>
      <p:sp>
        <p:nvSpPr>
          <p:cNvPr id="29" name="Text 26"/>
          <p:cNvSpPr/>
          <p:nvPr/>
        </p:nvSpPr>
        <p:spPr>
          <a:xfrm>
            <a:off x="4462272"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30" name="Text 27"/>
          <p:cNvSpPr/>
          <p:nvPr/>
        </p:nvSpPr>
        <p:spPr>
          <a:xfrm>
            <a:off x="4956048" y="4014216"/>
            <a:ext cx="2770632" cy="841248"/>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Prove it
</a:t>
            </a:r>
            <a:pPr indent="0" marL="0">
              <a:buNone/>
            </a:pPr>
            <a:r>
              <a:rPr lang="en-US" sz="1050" dirty="0">
                <a:solidFill>
                  <a:srgbClr val="6B7280"/>
                </a:solidFill>
                <a:latin typeface="Aptos" pitchFamily="34" charset="0"/>
                <a:ea typeface="Aptos" pitchFamily="34" charset="-122"/>
                <a:cs typeface="Aptos" pitchFamily="34" charset="-120"/>
              </a:rPr>
              <a:t>Support every finding with evidence</a:t>
            </a:r>
            <a:endParaRPr lang="en-US" sz="1250" dirty="0"/>
          </a:p>
        </p:txBody>
      </p:sp>
      <p:sp>
        <p:nvSpPr>
          <p:cNvPr id="31" name="Shape 28"/>
          <p:cNvSpPr/>
          <p:nvPr/>
        </p:nvSpPr>
        <p:spPr>
          <a:xfrm>
            <a:off x="8092440" y="3922776"/>
            <a:ext cx="3593592" cy="1024128"/>
          </a:xfrm>
          <a:prstGeom prst="roundRect">
            <a:avLst>
              <a:gd name="adj" fmla="val 8036"/>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32" name="Shape 29"/>
          <p:cNvSpPr/>
          <p:nvPr/>
        </p:nvSpPr>
        <p:spPr>
          <a:xfrm>
            <a:off x="8257032" y="4242816"/>
            <a:ext cx="384048" cy="384048"/>
          </a:xfrm>
          <a:prstGeom prst="ellipse">
            <a:avLst/>
          </a:prstGeom>
          <a:solidFill>
            <a:srgbClr val="0F6CBD"/>
          </a:solidFill>
          <a:ln/>
        </p:spPr>
      </p:sp>
      <p:sp>
        <p:nvSpPr>
          <p:cNvPr id="33" name="Text 30"/>
          <p:cNvSpPr/>
          <p:nvPr/>
        </p:nvSpPr>
        <p:spPr>
          <a:xfrm>
            <a:off x="8257032"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4" name="Text 31"/>
          <p:cNvSpPr/>
          <p:nvPr/>
        </p:nvSpPr>
        <p:spPr>
          <a:xfrm>
            <a:off x="8750808" y="4014216"/>
            <a:ext cx="2770632" cy="841248"/>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Polish it
</a:t>
            </a:r>
            <a:pPr indent="0" marL="0">
              <a:buNone/>
            </a:pPr>
            <a:r>
              <a:rPr lang="en-US" sz="1050" dirty="0">
                <a:solidFill>
                  <a:srgbClr val="6B7280"/>
                </a:solidFill>
                <a:latin typeface="Aptos" pitchFamily="34" charset="0"/>
                <a:ea typeface="Aptos" pitchFamily="34" charset="-122"/>
                <a:cs typeface="Aptos" pitchFamily="34" charset="-120"/>
              </a:rPr>
              <a:t>Check spelling, grammar and numbering</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21</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8</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Business report writing techniques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Objective beats dramatic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Weak: 'The network was really bad.'  Strong: 'Network latency increased to 780 ms between 09:12 and 09:48, preventing users from accessing shared resources.' The second version is evidence a manager can act on — and an auditor can verify.</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Write facts with numbers, times and sources; let the evidence carry the argument.</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Opinion words — 'terrible', 'really bad', 'fine' — that cannot be verified.</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Turn 'the Wi-Fi was awful in the boardroom' into one objective, evidence-based sentence.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22</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9</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Recipients of various reports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Match each report to its correct audience and write with that reader in mind.</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Technical language that suits an IT engineer may be wrong for a senior executive. Audience decides tone, depth and detail.</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83112" cy="914400"/>
        </p:xfrm>
        <a:graphic>
          <a:graphicData uri="http://schemas.openxmlformats.org/drawingml/2006/table">
            <a:tbl>
              <a:tblPr/>
              <a:tblGrid>
                <a:gridCol w="2795778"/>
                <a:gridCol w="2795778"/>
                <a:gridCol w="2795778"/>
                <a:gridCol w="2795778"/>
              </a:tblGrid>
              <a:tr h="384048">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Report</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Reader</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Report</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Reader</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84048">
                <a:tc>
                  <a:txBody>
                    <a:bodyPr/>
                    <a:lstStyle/>
                    <a:p>
                      <a:pPr indent="0" marL="0">
                        <a:buNone/>
                      </a:pPr>
                      <a:r>
                        <a:rPr lang="en-US" sz="1250" dirty="0">
                          <a:solidFill>
                            <a:srgbClr val="002050"/>
                          </a:solidFill>
                          <a:latin typeface="Aptos" pitchFamily="34" charset="0"/>
                          <a:ea typeface="Aptos" pitchFamily="34" charset="-122"/>
                          <a:cs typeface="Aptos" pitchFamily="34" charset="-120"/>
                        </a:rPr>
                        <a:t>Incident report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IT Manager</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Project report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Project sponsor</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02050"/>
                          </a:solidFill>
                          <a:latin typeface="Aptos" pitchFamily="34" charset="0"/>
                          <a:ea typeface="Aptos" pitchFamily="34" charset="-122"/>
                          <a:cs typeface="Aptos" pitchFamily="34" charset="-120"/>
                        </a:rPr>
                        <a:t>Financial report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Finance Manager</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Executive summary</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CEO</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84048">
                <a:tc>
                  <a:txBody>
                    <a:bodyPr/>
                    <a:lstStyle/>
                    <a:p>
                      <a:pPr indent="0" marL="0">
                        <a:buNone/>
                      </a:pPr>
                      <a:r>
                        <a:rPr lang="en-US" sz="1250" dirty="0">
                          <a:solidFill>
                            <a:srgbClr val="002050"/>
                          </a:solidFill>
                          <a:latin typeface="Aptos" pitchFamily="34" charset="0"/>
                          <a:ea typeface="Aptos" pitchFamily="34" charset="-122"/>
                          <a:cs typeface="Aptos" pitchFamily="34" charset="-120"/>
                        </a:rPr>
                        <a:t>Security report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Security team</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Audit report</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50" dirty="0">
                          <a:solidFill>
                            <a:srgbClr val="002050"/>
                          </a:solidFill>
                          <a:latin typeface="Aptos" pitchFamily="34" charset="0"/>
                          <a:ea typeface="Aptos" pitchFamily="34" charset="-122"/>
                          <a:cs typeface="Aptos" pitchFamily="34" charset="-120"/>
                        </a:rPr>
                        <a:t>Internal auditors</a:t>
                      </a:r>
                      <a:endParaRPr lang="en-US" sz="125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23</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EMBEDDED KNOWLEDGE · CRITERION 9</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Recipients of various reports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One incident, two versions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For the Corporate Banking Technology manager the report details certificate chains and Entra ID sign-in logs. The executive summary for business heads says: 'Email authentication failed for 90 minutes; client impact contained; fix and prevention in place.' Same facts, right depth for each reader.</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Ask 'what does this reader already know, and what do they need to decide?'</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Sending an engineer-level technical report to a non-technical executive unchanged.</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The CEO wants an update on last week's outage. Which document do you send — and what stays out of it?</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AF4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24</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82296"/>
          </a:xfrm>
          <a:prstGeom prst="rect">
            <a:avLst/>
          </a:prstGeom>
          <a:solidFill>
            <a:srgbClr val="0F6C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48640" cy="548640"/>
          </a:xfrm>
          <a:prstGeom prst="rect">
            <a:avLst/>
          </a:prstGeom>
        </p:spPr>
      </p:pic>
      <p:sp>
        <p:nvSpPr>
          <p:cNvPr id="7" name="Text 4"/>
          <p:cNvSpPr/>
          <p:nvPr/>
        </p:nvSpPr>
        <p:spPr>
          <a:xfrm>
            <a:off x="502920" y="2286000"/>
            <a:ext cx="11183112" cy="365760"/>
          </a:xfrm>
          <a:prstGeom prst="rect">
            <a:avLst/>
          </a:prstGeom>
          <a:noFill/>
          <a:ln/>
        </p:spPr>
        <p:txBody>
          <a:bodyPr wrap="square" rtlCol="0" anchor="ctr"/>
          <a:lstStyle/>
          <a:p>
            <a:pPr indent="0" marL="0">
              <a:buNone/>
            </a:pPr>
            <a:r>
              <a:rPr lang="en-US" sz="1400" b="1" spc="300" kern="0" dirty="0">
                <a:solidFill>
                  <a:srgbClr val="0F6CBD"/>
                </a:solidFill>
                <a:latin typeface="Aptos" pitchFamily="34" charset="0"/>
                <a:ea typeface="Aptos" pitchFamily="34" charset="-122"/>
                <a:cs typeface="Aptos" pitchFamily="34" charset="-120"/>
              </a:rPr>
              <a:t>SECTION 2</a:t>
            </a:r>
            <a:endParaRPr lang="en-US" sz="1400" dirty="0"/>
          </a:p>
        </p:txBody>
      </p:sp>
      <p:sp>
        <p:nvSpPr>
          <p:cNvPr id="8" name="Text 5"/>
          <p:cNvSpPr/>
          <p:nvPr/>
        </p:nvSpPr>
        <p:spPr>
          <a:xfrm>
            <a:off x="502920" y="2697480"/>
            <a:ext cx="11183112" cy="914400"/>
          </a:xfrm>
          <a:prstGeom prst="rect">
            <a:avLst/>
          </a:prstGeom>
          <a:noFill/>
          <a:ln/>
        </p:spPr>
        <p:txBody>
          <a:bodyPr wrap="square" rtlCol="0" anchor="ctr"/>
          <a:lstStyle/>
          <a:p>
            <a:pPr indent="0" marL="0">
              <a:buNone/>
            </a:pPr>
            <a:r>
              <a:rPr lang="en-US" sz="4000" b="1" dirty="0">
                <a:solidFill>
                  <a:srgbClr val="002050"/>
                </a:solidFill>
                <a:latin typeface="Aptos Display" pitchFamily="34" charset="0"/>
                <a:ea typeface="Aptos Display" pitchFamily="34" charset="-122"/>
                <a:cs typeface="Aptos Display" pitchFamily="34" charset="-120"/>
              </a:rPr>
              <a:t>Practical Activities</a:t>
            </a:r>
            <a:endParaRPr lang="en-US" sz="4000" dirty="0"/>
          </a:p>
        </p:txBody>
      </p:sp>
      <p:sp>
        <p:nvSpPr>
          <p:cNvPr id="9" name="Text 6"/>
          <p:cNvSpPr/>
          <p:nvPr/>
        </p:nvSpPr>
        <p:spPr>
          <a:xfrm>
            <a:off x="502920" y="3657600"/>
            <a:ext cx="8439912" cy="73152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Two criteria that assess whether the learner can apply the knowledge in realistic workplace situations.</a:t>
            </a:r>
            <a:endParaRPr lang="en-US" sz="1500" dirty="0"/>
          </a:p>
        </p:txBody>
      </p:sp>
      <p:sp>
        <p:nvSpPr>
          <p:cNvPr id="10" name="Shape 7"/>
          <p:cNvSpPr/>
          <p:nvPr/>
        </p:nvSpPr>
        <p:spPr>
          <a:xfrm>
            <a:off x="502920" y="4480560"/>
            <a:ext cx="1280160" cy="109728"/>
          </a:xfrm>
          <a:prstGeom prst="roundRect">
            <a:avLst>
              <a:gd name="adj" fmla="val 50000"/>
            </a:avLst>
          </a:prstGeom>
          <a:solidFill>
            <a:srgbClr val="0F6CBD"/>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25</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PRACTICAL ACTIVITY · CRITERION 10</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Obtaining and distributing confidential information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Demonstrate the correct sources, procedures and protections when handling confidential report information.</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The assessor watches the whole chain: the right sources, accurate collection, company procedure, protection, and authorised distribution only.</a:t>
            </a:r>
            <a:endParaRPr lang="en-US" sz="1350" dirty="0"/>
          </a:p>
        </p:txBody>
      </p:sp>
      <p:sp>
        <p:nvSpPr>
          <p:cNvPr id="11" name="Shape 8"/>
          <p:cNvSpPr/>
          <p:nvPr/>
        </p:nvSpPr>
        <p:spPr>
          <a:xfrm>
            <a:off x="502920" y="2788920"/>
            <a:ext cx="2441448" cy="1280160"/>
          </a:xfrm>
          <a:prstGeom prst="homePlate">
            <a:avLst/>
          </a:prstGeom>
          <a:solidFill>
            <a:srgbClr val="0F6CBD"/>
          </a:solidFill>
          <a:ln w="19050">
            <a:solidFill>
              <a:srgbClr val="FFFFFF"/>
            </a:solidFill>
            <a:prstDash val="solid"/>
          </a:ln>
        </p:spPr>
      </p:sp>
      <p:sp>
        <p:nvSpPr>
          <p:cNvPr id="12" name="Text 9"/>
          <p:cNvSpPr/>
          <p:nvPr/>
        </p:nvSpPr>
        <p:spPr>
          <a:xfrm>
            <a:off x="612648"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Identify correct</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sources</a:t>
            </a:r>
            <a:endParaRPr lang="en-US" sz="1200" dirty="0"/>
          </a:p>
        </p:txBody>
      </p:sp>
      <p:sp>
        <p:nvSpPr>
          <p:cNvPr id="13" name="Shape 10"/>
          <p:cNvSpPr/>
          <p:nvPr/>
        </p:nvSpPr>
        <p:spPr>
          <a:xfrm>
            <a:off x="2688336" y="2788920"/>
            <a:ext cx="2441448" cy="1280160"/>
          </a:xfrm>
          <a:prstGeom prst="chevron">
            <a:avLst/>
          </a:prstGeom>
          <a:solidFill>
            <a:srgbClr val="002050"/>
          </a:solidFill>
          <a:ln w="19050">
            <a:solidFill>
              <a:srgbClr val="FFFFFF"/>
            </a:solidFill>
            <a:prstDash val="solid"/>
          </a:ln>
        </p:spPr>
      </p:sp>
      <p:sp>
        <p:nvSpPr>
          <p:cNvPr id="14" name="Text 11"/>
          <p:cNvSpPr/>
          <p:nvPr/>
        </p:nvSpPr>
        <p:spPr>
          <a:xfrm>
            <a:off x="2962656"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Collect accurate</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information</a:t>
            </a:r>
            <a:endParaRPr lang="en-US" sz="1200" dirty="0"/>
          </a:p>
        </p:txBody>
      </p:sp>
      <p:sp>
        <p:nvSpPr>
          <p:cNvPr id="15" name="Shape 12"/>
          <p:cNvSpPr/>
          <p:nvPr/>
        </p:nvSpPr>
        <p:spPr>
          <a:xfrm>
            <a:off x="4873752" y="2788920"/>
            <a:ext cx="2441448" cy="1280160"/>
          </a:xfrm>
          <a:prstGeom prst="chevron">
            <a:avLst/>
          </a:prstGeom>
          <a:solidFill>
            <a:srgbClr val="0F6CBD"/>
          </a:solidFill>
          <a:ln w="19050">
            <a:solidFill>
              <a:srgbClr val="FFFFFF"/>
            </a:solidFill>
            <a:prstDash val="solid"/>
          </a:ln>
        </p:spPr>
      </p:sp>
      <p:sp>
        <p:nvSpPr>
          <p:cNvPr id="16" name="Text 13"/>
          <p:cNvSpPr/>
          <p:nvPr/>
        </p:nvSpPr>
        <p:spPr>
          <a:xfrm>
            <a:off x="5148072"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Follow company</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procedure</a:t>
            </a:r>
            <a:endParaRPr lang="en-US" sz="1200" dirty="0"/>
          </a:p>
        </p:txBody>
      </p:sp>
      <p:sp>
        <p:nvSpPr>
          <p:cNvPr id="17" name="Shape 14"/>
          <p:cNvSpPr/>
          <p:nvPr/>
        </p:nvSpPr>
        <p:spPr>
          <a:xfrm>
            <a:off x="7059168" y="2788920"/>
            <a:ext cx="2441448" cy="1280160"/>
          </a:xfrm>
          <a:prstGeom prst="chevron">
            <a:avLst/>
          </a:prstGeom>
          <a:solidFill>
            <a:srgbClr val="002050"/>
          </a:solidFill>
          <a:ln w="19050">
            <a:solidFill>
              <a:srgbClr val="FFFFFF"/>
            </a:solidFill>
            <a:prstDash val="solid"/>
          </a:ln>
        </p:spPr>
      </p:sp>
      <p:sp>
        <p:nvSpPr>
          <p:cNvPr id="18" name="Text 15"/>
          <p:cNvSpPr/>
          <p:nvPr/>
        </p:nvSpPr>
        <p:spPr>
          <a:xfrm>
            <a:off x="7333488"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Protect confidential</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data</a:t>
            </a:r>
            <a:endParaRPr lang="en-US" sz="1200" dirty="0"/>
          </a:p>
        </p:txBody>
      </p:sp>
      <p:sp>
        <p:nvSpPr>
          <p:cNvPr id="19" name="Shape 16"/>
          <p:cNvSpPr/>
          <p:nvPr/>
        </p:nvSpPr>
        <p:spPr>
          <a:xfrm>
            <a:off x="9244584" y="2788920"/>
            <a:ext cx="2441448" cy="1280160"/>
          </a:xfrm>
          <a:prstGeom prst="chevron">
            <a:avLst/>
          </a:prstGeom>
          <a:solidFill>
            <a:srgbClr val="0F6CBD"/>
          </a:solidFill>
          <a:ln w="19050">
            <a:solidFill>
              <a:srgbClr val="FFFFFF"/>
            </a:solidFill>
            <a:prstDash val="solid"/>
          </a:ln>
        </p:spPr>
      </p:sp>
      <p:sp>
        <p:nvSpPr>
          <p:cNvPr id="20" name="Text 17"/>
          <p:cNvSpPr/>
          <p:nvPr/>
        </p:nvSpPr>
        <p:spPr>
          <a:xfrm>
            <a:off x="9518904"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Share with authorised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people only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26</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PRACTICAL ACTIVITY · CRITERION 10</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Obtaining and distributing confidential information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Printer failure investigation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The learner investigates a printer failure by reviewing helpdesk tickets, interviewing the user, checking printer logs and consulting the asset register. The completed report goes to the IT Manager through the approved document management system — confidential information never reaches unauthorised staff.</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Run the full chain every time: source → collect → procedure → protect → authorised share.</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Getting the investigation right, then leaking the result by sharing it outside approved channels.</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List the four sources the learner used in the printer investigation — and the one approved way the report was distributed.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27</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PRACTICAL ACTIVITY · CRITERION 11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Compiling complete reports on deadline</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Compile a report with content and format appropriate to the information requirements — and meet the reporting deadline.</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This is the practical demonstration of the entire unit standard: nine steps from planning to on-time submission.</a:t>
            </a:r>
            <a:endParaRPr lang="en-US" sz="1350" dirty="0"/>
          </a:p>
        </p:txBody>
      </p:sp>
      <p:sp>
        <p:nvSpPr>
          <p:cNvPr id="11" name="Shape 8"/>
          <p:cNvSpPr/>
          <p:nvPr/>
        </p:nvSpPr>
        <p:spPr>
          <a:xfrm>
            <a:off x="502920" y="2697480"/>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667512" y="2894076"/>
            <a:ext cx="384048" cy="384048"/>
          </a:xfrm>
          <a:prstGeom prst="ellipse">
            <a:avLst/>
          </a:prstGeom>
          <a:solidFill>
            <a:srgbClr val="0F6CBD"/>
          </a:solidFill>
          <a:ln/>
        </p:spPr>
      </p:sp>
      <p:sp>
        <p:nvSpPr>
          <p:cNvPr id="13" name="Text 10"/>
          <p:cNvSpPr/>
          <p:nvPr/>
        </p:nvSpPr>
        <p:spPr>
          <a:xfrm>
            <a:off x="667512" y="289407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4" name="Text 11"/>
          <p:cNvSpPr/>
          <p:nvPr/>
        </p:nvSpPr>
        <p:spPr>
          <a:xfrm>
            <a:off x="1161288" y="2788920"/>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Plan the report</a:t>
            </a:r>
            <a:endParaRPr lang="en-US" sz="1250" dirty="0"/>
          </a:p>
        </p:txBody>
      </p:sp>
      <p:sp>
        <p:nvSpPr>
          <p:cNvPr id="15" name="Shape 12"/>
          <p:cNvSpPr/>
          <p:nvPr/>
        </p:nvSpPr>
        <p:spPr>
          <a:xfrm>
            <a:off x="4285488" y="2697480"/>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3"/>
          <p:cNvSpPr/>
          <p:nvPr/>
        </p:nvSpPr>
        <p:spPr>
          <a:xfrm>
            <a:off x="4450080" y="2894076"/>
            <a:ext cx="384048" cy="384048"/>
          </a:xfrm>
          <a:prstGeom prst="ellipse">
            <a:avLst/>
          </a:prstGeom>
          <a:solidFill>
            <a:srgbClr val="0F6CBD"/>
          </a:solidFill>
          <a:ln/>
        </p:spPr>
      </p:sp>
      <p:sp>
        <p:nvSpPr>
          <p:cNvPr id="17" name="Text 14"/>
          <p:cNvSpPr/>
          <p:nvPr/>
        </p:nvSpPr>
        <p:spPr>
          <a:xfrm>
            <a:off x="4450080" y="289407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8" name="Text 15"/>
          <p:cNvSpPr/>
          <p:nvPr/>
        </p:nvSpPr>
        <p:spPr>
          <a:xfrm>
            <a:off x="4943856" y="2788920"/>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Gather evidence</a:t>
            </a:r>
            <a:endParaRPr lang="en-US" sz="1250" dirty="0"/>
          </a:p>
        </p:txBody>
      </p:sp>
      <p:sp>
        <p:nvSpPr>
          <p:cNvPr id="19" name="Shape 16"/>
          <p:cNvSpPr/>
          <p:nvPr/>
        </p:nvSpPr>
        <p:spPr>
          <a:xfrm>
            <a:off x="8068056" y="2697480"/>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0" name="Shape 17"/>
          <p:cNvSpPr/>
          <p:nvPr/>
        </p:nvSpPr>
        <p:spPr>
          <a:xfrm>
            <a:off x="8232648" y="2894076"/>
            <a:ext cx="384048" cy="384048"/>
          </a:xfrm>
          <a:prstGeom prst="ellipse">
            <a:avLst/>
          </a:prstGeom>
          <a:solidFill>
            <a:srgbClr val="0F6CBD"/>
          </a:solidFill>
          <a:ln/>
        </p:spPr>
      </p:sp>
      <p:sp>
        <p:nvSpPr>
          <p:cNvPr id="21" name="Text 18"/>
          <p:cNvSpPr/>
          <p:nvPr/>
        </p:nvSpPr>
        <p:spPr>
          <a:xfrm>
            <a:off x="8232648" y="289407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2" name="Text 19"/>
          <p:cNvSpPr/>
          <p:nvPr/>
        </p:nvSpPr>
        <p:spPr>
          <a:xfrm>
            <a:off x="8726424" y="2788920"/>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Verify facts</a:t>
            </a:r>
            <a:endParaRPr lang="en-US" sz="1250" dirty="0"/>
          </a:p>
        </p:txBody>
      </p:sp>
      <p:sp>
        <p:nvSpPr>
          <p:cNvPr id="23" name="Shape 20"/>
          <p:cNvSpPr/>
          <p:nvPr/>
        </p:nvSpPr>
        <p:spPr>
          <a:xfrm>
            <a:off x="502920" y="3639312"/>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4" name="Shape 21"/>
          <p:cNvSpPr/>
          <p:nvPr/>
        </p:nvSpPr>
        <p:spPr>
          <a:xfrm>
            <a:off x="667512" y="3835908"/>
            <a:ext cx="384048" cy="384048"/>
          </a:xfrm>
          <a:prstGeom prst="ellipse">
            <a:avLst/>
          </a:prstGeom>
          <a:solidFill>
            <a:srgbClr val="0F6CBD"/>
          </a:solidFill>
          <a:ln/>
        </p:spPr>
      </p:sp>
      <p:sp>
        <p:nvSpPr>
          <p:cNvPr id="25" name="Text 22"/>
          <p:cNvSpPr/>
          <p:nvPr/>
        </p:nvSpPr>
        <p:spPr>
          <a:xfrm>
            <a:off x="667512" y="383590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6" name="Text 23"/>
          <p:cNvSpPr/>
          <p:nvPr/>
        </p:nvSpPr>
        <p:spPr>
          <a:xfrm>
            <a:off x="1161288" y="3730752"/>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Organise logically</a:t>
            </a:r>
            <a:endParaRPr lang="en-US" sz="1250" dirty="0"/>
          </a:p>
        </p:txBody>
      </p:sp>
      <p:sp>
        <p:nvSpPr>
          <p:cNvPr id="27" name="Shape 24"/>
          <p:cNvSpPr/>
          <p:nvPr/>
        </p:nvSpPr>
        <p:spPr>
          <a:xfrm>
            <a:off x="4285488" y="3639312"/>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8" name="Shape 25"/>
          <p:cNvSpPr/>
          <p:nvPr/>
        </p:nvSpPr>
        <p:spPr>
          <a:xfrm>
            <a:off x="4450080" y="3835908"/>
            <a:ext cx="384048" cy="384048"/>
          </a:xfrm>
          <a:prstGeom prst="ellipse">
            <a:avLst/>
          </a:prstGeom>
          <a:solidFill>
            <a:srgbClr val="0F6CBD"/>
          </a:solidFill>
          <a:ln/>
        </p:spPr>
      </p:sp>
      <p:sp>
        <p:nvSpPr>
          <p:cNvPr id="29" name="Text 26"/>
          <p:cNvSpPr/>
          <p:nvPr/>
        </p:nvSpPr>
        <p:spPr>
          <a:xfrm>
            <a:off x="4450080" y="383590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30" name="Text 27"/>
          <p:cNvSpPr/>
          <p:nvPr/>
        </p:nvSpPr>
        <p:spPr>
          <a:xfrm>
            <a:off x="4943856" y="3730752"/>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Use correct format</a:t>
            </a:r>
            <a:endParaRPr lang="en-US" sz="1250" dirty="0"/>
          </a:p>
        </p:txBody>
      </p:sp>
      <p:sp>
        <p:nvSpPr>
          <p:cNvPr id="31" name="Shape 28"/>
          <p:cNvSpPr/>
          <p:nvPr/>
        </p:nvSpPr>
        <p:spPr>
          <a:xfrm>
            <a:off x="8068056" y="3639312"/>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32" name="Shape 29"/>
          <p:cNvSpPr/>
          <p:nvPr/>
        </p:nvSpPr>
        <p:spPr>
          <a:xfrm>
            <a:off x="8232648" y="3835908"/>
            <a:ext cx="384048" cy="384048"/>
          </a:xfrm>
          <a:prstGeom prst="ellipse">
            <a:avLst/>
          </a:prstGeom>
          <a:solidFill>
            <a:srgbClr val="0F6CBD"/>
          </a:solidFill>
          <a:ln/>
        </p:spPr>
      </p:sp>
      <p:sp>
        <p:nvSpPr>
          <p:cNvPr id="33" name="Text 30"/>
          <p:cNvSpPr/>
          <p:nvPr/>
        </p:nvSpPr>
        <p:spPr>
          <a:xfrm>
            <a:off x="8232648" y="383590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4" name="Text 31"/>
          <p:cNvSpPr/>
          <p:nvPr/>
        </p:nvSpPr>
        <p:spPr>
          <a:xfrm>
            <a:off x="8726424" y="3730752"/>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Apply company standards</a:t>
            </a:r>
            <a:endParaRPr lang="en-US" sz="1250" dirty="0"/>
          </a:p>
        </p:txBody>
      </p:sp>
      <p:sp>
        <p:nvSpPr>
          <p:cNvPr id="35" name="Shape 32"/>
          <p:cNvSpPr/>
          <p:nvPr/>
        </p:nvSpPr>
        <p:spPr>
          <a:xfrm>
            <a:off x="502920" y="4581144"/>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36" name="Shape 33"/>
          <p:cNvSpPr/>
          <p:nvPr/>
        </p:nvSpPr>
        <p:spPr>
          <a:xfrm>
            <a:off x="667512" y="4777740"/>
            <a:ext cx="384048" cy="384048"/>
          </a:xfrm>
          <a:prstGeom prst="ellipse">
            <a:avLst/>
          </a:prstGeom>
          <a:solidFill>
            <a:srgbClr val="0F6CBD"/>
          </a:solidFill>
          <a:ln/>
        </p:spPr>
      </p:sp>
      <p:sp>
        <p:nvSpPr>
          <p:cNvPr id="37" name="Text 34"/>
          <p:cNvSpPr/>
          <p:nvPr/>
        </p:nvSpPr>
        <p:spPr>
          <a:xfrm>
            <a:off x="667512" y="47777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7</a:t>
            </a:r>
            <a:endParaRPr lang="en-US" sz="1400" dirty="0"/>
          </a:p>
        </p:txBody>
      </p:sp>
      <p:sp>
        <p:nvSpPr>
          <p:cNvPr id="38" name="Text 35"/>
          <p:cNvSpPr/>
          <p:nvPr/>
        </p:nvSpPr>
        <p:spPr>
          <a:xfrm>
            <a:off x="1161288" y="4672584"/>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Write professionally</a:t>
            </a:r>
            <a:endParaRPr lang="en-US" sz="1250" dirty="0"/>
          </a:p>
        </p:txBody>
      </p:sp>
      <p:sp>
        <p:nvSpPr>
          <p:cNvPr id="39" name="Shape 36"/>
          <p:cNvSpPr/>
          <p:nvPr/>
        </p:nvSpPr>
        <p:spPr>
          <a:xfrm>
            <a:off x="4285488" y="4581144"/>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40" name="Shape 37"/>
          <p:cNvSpPr/>
          <p:nvPr/>
        </p:nvSpPr>
        <p:spPr>
          <a:xfrm>
            <a:off x="4450080" y="4777740"/>
            <a:ext cx="384048" cy="384048"/>
          </a:xfrm>
          <a:prstGeom prst="ellipse">
            <a:avLst/>
          </a:prstGeom>
          <a:solidFill>
            <a:srgbClr val="0F6CBD"/>
          </a:solidFill>
          <a:ln/>
        </p:spPr>
      </p:sp>
      <p:sp>
        <p:nvSpPr>
          <p:cNvPr id="41" name="Text 38"/>
          <p:cNvSpPr/>
          <p:nvPr/>
        </p:nvSpPr>
        <p:spPr>
          <a:xfrm>
            <a:off x="4450080" y="47777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8</a:t>
            </a:r>
            <a:endParaRPr lang="en-US" sz="1400" dirty="0"/>
          </a:p>
        </p:txBody>
      </p:sp>
      <p:sp>
        <p:nvSpPr>
          <p:cNvPr id="42" name="Text 39"/>
          <p:cNvSpPr/>
          <p:nvPr/>
        </p:nvSpPr>
        <p:spPr>
          <a:xfrm>
            <a:off x="4943856" y="4672584"/>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Proofread</a:t>
            </a:r>
            <a:endParaRPr lang="en-US" sz="1250" dirty="0"/>
          </a:p>
        </p:txBody>
      </p:sp>
      <p:sp>
        <p:nvSpPr>
          <p:cNvPr id="43" name="Shape 40"/>
          <p:cNvSpPr/>
          <p:nvPr/>
        </p:nvSpPr>
        <p:spPr>
          <a:xfrm>
            <a:off x="8068056" y="4581144"/>
            <a:ext cx="3617976" cy="777240"/>
          </a:xfrm>
          <a:prstGeom prst="roundRect">
            <a:avLst>
              <a:gd name="adj" fmla="val 1058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44" name="Shape 41"/>
          <p:cNvSpPr/>
          <p:nvPr/>
        </p:nvSpPr>
        <p:spPr>
          <a:xfrm>
            <a:off x="8232648" y="4777740"/>
            <a:ext cx="384048" cy="384048"/>
          </a:xfrm>
          <a:prstGeom prst="ellipse">
            <a:avLst/>
          </a:prstGeom>
          <a:solidFill>
            <a:srgbClr val="0F6CBD"/>
          </a:solidFill>
          <a:ln/>
        </p:spPr>
      </p:sp>
      <p:sp>
        <p:nvSpPr>
          <p:cNvPr id="45" name="Text 42"/>
          <p:cNvSpPr/>
          <p:nvPr/>
        </p:nvSpPr>
        <p:spPr>
          <a:xfrm>
            <a:off x="8232648" y="47777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9</a:t>
            </a:r>
            <a:endParaRPr lang="en-US" sz="1400" dirty="0"/>
          </a:p>
        </p:txBody>
      </p:sp>
      <p:sp>
        <p:nvSpPr>
          <p:cNvPr id="46" name="Text 43"/>
          <p:cNvSpPr/>
          <p:nvPr/>
        </p:nvSpPr>
        <p:spPr>
          <a:xfrm>
            <a:off x="8726424" y="4672584"/>
            <a:ext cx="2795016" cy="59436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Submit on time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28</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PRACTICAL ACTIVITY · CRITERION 11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Compiling complete reports on deadline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371600"/>
            <a:ext cx="82296" cy="2468880"/>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Outlook outage — Corporate Banking Technology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An Investec IT Support Technician investigates a Microsoft Outlook outage. Evidence comes from ServiceNow tickets, Microsoft Entra ID logs and user interviews; the cause is a failed authentication certificate. The incident report is prepared on the approved template with clear headings, findings, conclusions and recommendations, proofread, and submitted to the IT Support Manager inside the 24-hour deadline.</a:t>
            </a:r>
            <a:endParaRPr lang="en-US" sz="1050" dirty="0"/>
          </a:p>
        </p:txBody>
      </p:sp>
      <p:sp>
        <p:nvSpPr>
          <p:cNvPr id="11" name="Shape 8"/>
          <p:cNvSpPr/>
          <p:nvPr/>
        </p:nvSpPr>
        <p:spPr>
          <a:xfrm>
            <a:off x="502920" y="4023360"/>
            <a:ext cx="5362956"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0F6CB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Work the nine steps in order — planning and verification prevent rewrites later.</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002050"/>
                </a:solidFill>
                <a:latin typeface="Aptos" pitchFamily="34" charset="0"/>
                <a:ea typeface="Aptos" pitchFamily="34" charset="-122"/>
                <a:cs typeface="Aptos" pitchFamily="34" charset="-120"/>
              </a:rPr>
              <a:t>Jumping straight to writing before evidence is gathered and verified.</a:t>
            </a:r>
            <a:endParaRPr lang="en-US" sz="1250" dirty="0"/>
          </a:p>
        </p:txBody>
      </p:sp>
      <p:sp>
        <p:nvSpPr>
          <p:cNvPr id="19" name="Shape 14"/>
          <p:cNvSpPr/>
          <p:nvPr/>
        </p:nvSpPr>
        <p:spPr>
          <a:xfrm>
            <a:off x="502920" y="5779008"/>
            <a:ext cx="11183112" cy="603504"/>
          </a:xfrm>
          <a:prstGeom prst="roundRect">
            <a:avLst>
              <a:gd name="adj" fmla="val 10606"/>
            </a:avLst>
          </a:prstGeom>
          <a:solidFill>
            <a:srgbClr val="00205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Which three evidence sources did the technician combine in the Outlook outage investigation?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AF4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29</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82296"/>
          </a:xfrm>
          <a:prstGeom prst="rect">
            <a:avLst/>
          </a:prstGeom>
          <a:solidFill>
            <a:srgbClr val="0F6C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48640" cy="548640"/>
          </a:xfrm>
          <a:prstGeom prst="rect">
            <a:avLst/>
          </a:prstGeom>
        </p:spPr>
      </p:pic>
      <p:sp>
        <p:nvSpPr>
          <p:cNvPr id="7" name="Text 4"/>
          <p:cNvSpPr/>
          <p:nvPr/>
        </p:nvSpPr>
        <p:spPr>
          <a:xfrm>
            <a:off x="502920" y="2286000"/>
            <a:ext cx="11183112" cy="365760"/>
          </a:xfrm>
          <a:prstGeom prst="rect">
            <a:avLst/>
          </a:prstGeom>
          <a:noFill/>
          <a:ln/>
        </p:spPr>
        <p:txBody>
          <a:bodyPr wrap="square" rtlCol="0" anchor="ctr"/>
          <a:lstStyle/>
          <a:p>
            <a:pPr indent="0" marL="0">
              <a:buNone/>
            </a:pPr>
            <a:r>
              <a:rPr lang="en-US" sz="1400" b="1" spc="300" kern="0" dirty="0">
                <a:solidFill>
                  <a:srgbClr val="0F6CBD"/>
                </a:solidFill>
                <a:latin typeface="Aptos" pitchFamily="34" charset="0"/>
                <a:ea typeface="Aptos" pitchFamily="34" charset="-122"/>
                <a:cs typeface="Aptos" pitchFamily="34" charset="-120"/>
              </a:rPr>
              <a:t>SECTION 3</a:t>
            </a:r>
            <a:endParaRPr lang="en-US" sz="1400" dirty="0"/>
          </a:p>
        </p:txBody>
      </p:sp>
      <p:sp>
        <p:nvSpPr>
          <p:cNvPr id="8" name="Text 5"/>
          <p:cNvSpPr/>
          <p:nvPr/>
        </p:nvSpPr>
        <p:spPr>
          <a:xfrm>
            <a:off x="502920" y="2697480"/>
            <a:ext cx="11183112" cy="914400"/>
          </a:xfrm>
          <a:prstGeom prst="rect">
            <a:avLst/>
          </a:prstGeom>
          <a:noFill/>
          <a:ln/>
        </p:spPr>
        <p:txBody>
          <a:bodyPr wrap="square" rtlCol="0" anchor="ctr"/>
          <a:lstStyle/>
          <a:p>
            <a:pPr indent="0" marL="0">
              <a:buNone/>
            </a:pPr>
            <a:r>
              <a:rPr lang="en-US" sz="4000" b="1" dirty="0">
                <a:solidFill>
                  <a:srgbClr val="002050"/>
                </a:solidFill>
                <a:latin typeface="Aptos Display" pitchFamily="34" charset="0"/>
                <a:ea typeface="Aptos Display" pitchFamily="34" charset="-122"/>
                <a:cs typeface="Aptos Display" pitchFamily="34" charset="-120"/>
              </a:rPr>
              <a:t>Wrap-up and Assessment</a:t>
            </a:r>
            <a:endParaRPr lang="en-US" sz="4000" dirty="0"/>
          </a:p>
        </p:txBody>
      </p:sp>
      <p:sp>
        <p:nvSpPr>
          <p:cNvPr id="9" name="Text 6"/>
          <p:cNvSpPr/>
          <p:nvPr/>
        </p:nvSpPr>
        <p:spPr>
          <a:xfrm>
            <a:off x="502920" y="3657600"/>
            <a:ext cx="8439912" cy="73152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Summary, assessment preparation, practical activity and final knowledge check.</a:t>
            </a:r>
            <a:endParaRPr lang="en-US" sz="1500" dirty="0"/>
          </a:p>
        </p:txBody>
      </p:sp>
      <p:sp>
        <p:nvSpPr>
          <p:cNvPr id="10" name="Shape 7"/>
          <p:cNvSpPr/>
          <p:nvPr/>
        </p:nvSpPr>
        <p:spPr>
          <a:xfrm>
            <a:off x="502920" y="4480560"/>
            <a:ext cx="1280160" cy="109728"/>
          </a:xfrm>
          <a:prstGeom prst="roundRect">
            <a:avLst>
              <a:gd name="adj" fmla="val 50000"/>
            </a:avLst>
          </a:prstGeom>
          <a:solidFill>
            <a:srgbClr val="0F6CBD"/>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30</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Summary — what competent looks like</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Consolidate the nine knowledge criteria and two practical activities of US 8252.</a:t>
            </a:r>
            <a:endParaRPr lang="en-US" sz="1050" dirty="0"/>
          </a:p>
        </p:txBody>
      </p:sp>
      <p:sp>
        <p:nvSpPr>
          <p:cNvPr id="10" name="Shape 7"/>
          <p:cNvSpPr/>
          <p:nvPr/>
        </p:nvSpPr>
        <p:spPr>
          <a:xfrm>
            <a:off x="502920" y="2148840"/>
            <a:ext cx="3593592"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304288"/>
            <a:ext cx="310896" cy="310896"/>
          </a:xfrm>
          <a:prstGeom prst="rect">
            <a:avLst/>
          </a:prstGeom>
        </p:spPr>
      </p:pic>
      <p:sp>
        <p:nvSpPr>
          <p:cNvPr id="12" name="Text 8"/>
          <p:cNvSpPr/>
          <p:nvPr/>
        </p:nvSpPr>
        <p:spPr>
          <a:xfrm>
            <a:off x="1069848" y="2267712"/>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Purpose first</a:t>
            </a:r>
            <a:endParaRPr lang="en-US" sz="1350" dirty="0"/>
          </a:p>
        </p:txBody>
      </p:sp>
      <p:sp>
        <p:nvSpPr>
          <p:cNvPr id="13" name="Text 9"/>
          <p:cNvSpPr/>
          <p:nvPr/>
        </p:nvSpPr>
        <p:spPr>
          <a:xfrm>
            <a:off x="667512" y="2697480"/>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Know why the report is written and who reads it.</a:t>
            </a:r>
            <a:endParaRPr lang="en-US" sz="1050" dirty="0"/>
          </a:p>
        </p:txBody>
      </p:sp>
      <p:sp>
        <p:nvSpPr>
          <p:cNvPr id="14" name="Shape 10"/>
          <p:cNvSpPr/>
          <p:nvPr/>
        </p:nvSpPr>
        <p:spPr>
          <a:xfrm>
            <a:off x="4297680" y="2148840"/>
            <a:ext cx="3593592"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62272" y="2304288"/>
            <a:ext cx="310896" cy="310896"/>
          </a:xfrm>
          <a:prstGeom prst="rect">
            <a:avLst/>
          </a:prstGeom>
        </p:spPr>
      </p:pic>
      <p:sp>
        <p:nvSpPr>
          <p:cNvPr id="16" name="Text 11"/>
          <p:cNvSpPr/>
          <p:nvPr/>
        </p:nvSpPr>
        <p:spPr>
          <a:xfrm>
            <a:off x="4864608" y="2267712"/>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Real evidence</a:t>
            </a:r>
            <a:endParaRPr lang="en-US" sz="1350" dirty="0"/>
          </a:p>
        </p:txBody>
      </p:sp>
      <p:sp>
        <p:nvSpPr>
          <p:cNvPr id="17" name="Text 12"/>
          <p:cNvSpPr/>
          <p:nvPr/>
        </p:nvSpPr>
        <p:spPr>
          <a:xfrm>
            <a:off x="4462272" y="2697480"/>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Reliable business sources, verified facts.</a:t>
            </a:r>
            <a:endParaRPr lang="en-US" sz="1050" dirty="0"/>
          </a:p>
        </p:txBody>
      </p:sp>
      <p:sp>
        <p:nvSpPr>
          <p:cNvPr id="18" name="Shape 13"/>
          <p:cNvSpPr/>
          <p:nvPr/>
        </p:nvSpPr>
        <p:spPr>
          <a:xfrm>
            <a:off x="8092440" y="2148840"/>
            <a:ext cx="3593592"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57032" y="2304288"/>
            <a:ext cx="310896" cy="310896"/>
          </a:xfrm>
          <a:prstGeom prst="rect">
            <a:avLst/>
          </a:prstGeom>
        </p:spPr>
      </p:pic>
      <p:sp>
        <p:nvSpPr>
          <p:cNvPr id="20" name="Text 14"/>
          <p:cNvSpPr/>
          <p:nvPr/>
        </p:nvSpPr>
        <p:spPr>
          <a:xfrm>
            <a:off x="8659368" y="2267712"/>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Confidential control</a:t>
            </a:r>
            <a:endParaRPr lang="en-US" sz="1350" dirty="0"/>
          </a:p>
        </p:txBody>
      </p:sp>
      <p:sp>
        <p:nvSpPr>
          <p:cNvPr id="21" name="Text 15"/>
          <p:cNvSpPr/>
          <p:nvPr/>
        </p:nvSpPr>
        <p:spPr>
          <a:xfrm>
            <a:off x="8257032" y="2697480"/>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Authorised readers, approved channels, safe storage.</a:t>
            </a:r>
            <a:endParaRPr lang="en-US" sz="1050" dirty="0"/>
          </a:p>
        </p:txBody>
      </p:sp>
      <p:sp>
        <p:nvSpPr>
          <p:cNvPr id="22" name="Shape 16"/>
          <p:cNvSpPr/>
          <p:nvPr/>
        </p:nvSpPr>
        <p:spPr>
          <a:xfrm>
            <a:off x="502920" y="3538728"/>
            <a:ext cx="3593592"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694176"/>
            <a:ext cx="310896" cy="310896"/>
          </a:xfrm>
          <a:prstGeom prst="rect">
            <a:avLst/>
          </a:prstGeom>
        </p:spPr>
      </p:pic>
      <p:sp>
        <p:nvSpPr>
          <p:cNvPr id="24" name="Text 17"/>
          <p:cNvSpPr/>
          <p:nvPr/>
        </p:nvSpPr>
        <p:spPr>
          <a:xfrm>
            <a:off x="1069848" y="3657600"/>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House standards</a:t>
            </a:r>
            <a:endParaRPr lang="en-US" sz="1350" dirty="0"/>
          </a:p>
        </p:txBody>
      </p:sp>
      <p:sp>
        <p:nvSpPr>
          <p:cNvPr id="25" name="Text 18"/>
          <p:cNvSpPr/>
          <p:nvPr/>
        </p:nvSpPr>
        <p:spPr>
          <a:xfrm>
            <a:off x="667512" y="4087368"/>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Template, headings, numbering, classification.</a:t>
            </a:r>
            <a:endParaRPr lang="en-US" sz="1050" dirty="0"/>
          </a:p>
        </p:txBody>
      </p:sp>
      <p:sp>
        <p:nvSpPr>
          <p:cNvPr id="26" name="Shape 19"/>
          <p:cNvSpPr/>
          <p:nvPr/>
        </p:nvSpPr>
        <p:spPr>
          <a:xfrm>
            <a:off x="4297680" y="3538728"/>
            <a:ext cx="3593592"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62272" y="3694176"/>
            <a:ext cx="310896" cy="310896"/>
          </a:xfrm>
          <a:prstGeom prst="rect">
            <a:avLst/>
          </a:prstGeom>
        </p:spPr>
      </p:pic>
      <p:sp>
        <p:nvSpPr>
          <p:cNvPr id="28" name="Text 20"/>
          <p:cNvSpPr/>
          <p:nvPr/>
        </p:nvSpPr>
        <p:spPr>
          <a:xfrm>
            <a:off x="4864608" y="3657600"/>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Professional writing</a:t>
            </a:r>
            <a:endParaRPr lang="en-US" sz="1350" dirty="0"/>
          </a:p>
        </p:txBody>
      </p:sp>
      <p:sp>
        <p:nvSpPr>
          <p:cNvPr id="29" name="Text 21"/>
          <p:cNvSpPr/>
          <p:nvPr/>
        </p:nvSpPr>
        <p:spPr>
          <a:xfrm>
            <a:off x="4462272" y="4087368"/>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Objective, quantified, plain-English content.</a:t>
            </a:r>
            <a:endParaRPr lang="en-US" sz="1050" dirty="0"/>
          </a:p>
        </p:txBody>
      </p:sp>
      <p:sp>
        <p:nvSpPr>
          <p:cNvPr id="30" name="Shape 22"/>
          <p:cNvSpPr/>
          <p:nvPr/>
        </p:nvSpPr>
        <p:spPr>
          <a:xfrm>
            <a:off x="8092440" y="3538728"/>
            <a:ext cx="3593592" cy="1188720"/>
          </a:xfrm>
          <a:prstGeom prst="roundRect">
            <a:avLst>
              <a:gd name="adj" fmla="val 6923"/>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57032" y="3694176"/>
            <a:ext cx="310896" cy="310896"/>
          </a:xfrm>
          <a:prstGeom prst="rect">
            <a:avLst/>
          </a:prstGeom>
        </p:spPr>
      </p:pic>
      <p:sp>
        <p:nvSpPr>
          <p:cNvPr id="32" name="Text 23"/>
          <p:cNvSpPr/>
          <p:nvPr/>
        </p:nvSpPr>
        <p:spPr>
          <a:xfrm>
            <a:off x="8659368" y="3657600"/>
            <a:ext cx="2862072" cy="384048"/>
          </a:xfrm>
          <a:prstGeom prst="rect">
            <a:avLst/>
          </a:prstGeom>
          <a:noFill/>
          <a:ln/>
        </p:spPr>
        <p:txBody>
          <a:bodyPr wrap="square" rtlCol="0" anchor="ctr"/>
          <a:lstStyle/>
          <a:p>
            <a:pPr indent="0" marL="0">
              <a:buNone/>
            </a:pPr>
            <a:r>
              <a:rPr lang="en-US" sz="1350" b="1" dirty="0">
                <a:solidFill>
                  <a:srgbClr val="002050"/>
                </a:solidFill>
                <a:latin typeface="Aptos Display" pitchFamily="34" charset="0"/>
                <a:ea typeface="Aptos Display" pitchFamily="34" charset="-122"/>
                <a:cs typeface="Aptos Display" pitchFamily="34" charset="-120"/>
              </a:rPr>
              <a:t>On time, every time</a:t>
            </a:r>
            <a:endParaRPr lang="en-US" sz="1350" dirty="0"/>
          </a:p>
        </p:txBody>
      </p:sp>
      <p:sp>
        <p:nvSpPr>
          <p:cNvPr id="33" name="Text 24"/>
          <p:cNvSpPr/>
          <p:nvPr/>
        </p:nvSpPr>
        <p:spPr>
          <a:xfrm>
            <a:off x="8257032" y="4087368"/>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Deadlines met; decisions enabled.</a:t>
            </a:r>
            <a:endParaRPr lang="en-US" sz="1050" dirty="0"/>
          </a:p>
        </p:txBody>
      </p:sp>
      <p:sp>
        <p:nvSpPr>
          <p:cNvPr id="34" name="Shape 25"/>
          <p:cNvSpPr/>
          <p:nvPr/>
        </p:nvSpPr>
        <p:spPr>
          <a:xfrm>
            <a:off x="502920" y="5779008"/>
            <a:ext cx="11183112" cy="603504"/>
          </a:xfrm>
          <a:prstGeom prst="roundRect">
            <a:avLst>
              <a:gd name="adj" fmla="val 10606"/>
            </a:avLst>
          </a:prstGeom>
          <a:solidFill>
            <a:srgbClr val="002050"/>
          </a:solidFill>
          <a:ln/>
        </p:spPr>
      </p:sp>
      <p:pic>
        <p:nvPicPr>
          <p:cNvPr id="3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088" y="5943600"/>
            <a:ext cx="274320" cy="274320"/>
          </a:xfrm>
          <a:prstGeom prst="rect">
            <a:avLst/>
          </a:prstGeom>
        </p:spPr>
      </p:pic>
      <p:sp>
        <p:nvSpPr>
          <p:cNvPr id="36" name="Text 26"/>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Which single criterion would an assessor say is your strongest today — and which needs deliberate practice this week?</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31</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Assessment preparation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Know exactly what the assessor checks before you submit your evidence.</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11183112" cy="914400"/>
        </p:xfrm>
        <a:graphic>
          <a:graphicData uri="http://schemas.openxmlformats.org/drawingml/2006/table">
            <a:tbl>
              <a:tblPr/>
              <a:tblGrid>
                <a:gridCol w="5577840"/>
                <a:gridCol w="5605272"/>
              </a:tblGrid>
              <a:tr h="384048">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Assessor checks…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Your evidence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Knowledge questions answered in own words</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Questionnaire 1 (LM p10–11) complete and signed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Correct sources identified and used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Report references tickets, logs and records</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Confidentiality procedure followed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Distribution list and channel recorded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Company format standards applied</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Template, headings, numbering, classification</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Report submitted on deadline</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Submission timestamp inside the window</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02050"/>
                          </a:solidFill>
                          <a:latin typeface="Aptos" pitchFamily="34" charset="0"/>
                          <a:ea typeface="Aptos" pitchFamily="34" charset="-122"/>
                          <a:cs typeface="Aptos" pitchFamily="34" charset="-120"/>
                        </a:rPr>
                        <a:t>Logbook and self-assessment complete</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Signed logbook entries filed in the POE</a:t>
                      </a:r>
                      <a:endParaRPr lang="en-US" sz="1200" dirty="0">
                        <a:latin typeface="Aptos" charset="0"/>
                        <a:ea typeface="Aptos" charset="0"/>
                        <a:cs typeface="Aptos" charset="0"/>
                      </a:endParaRPr>
                    </a:p>
                  </a:txBody>
                  <a:tcPr marL="82296" marR="82296" marT="82296" marB="82296"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
        <p:nvSpPr>
          <p:cNvPr id="11" name="Shape 7"/>
          <p:cNvSpPr/>
          <p:nvPr/>
        </p:nvSpPr>
        <p:spPr>
          <a:xfrm>
            <a:off x="502920" y="5779008"/>
            <a:ext cx="11183112" cy="603504"/>
          </a:xfrm>
          <a:prstGeom prst="roundRect">
            <a:avLst>
              <a:gd name="adj" fmla="val 10606"/>
            </a:avLst>
          </a:prstGeom>
          <a:solidFill>
            <a:srgbClr val="002050"/>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088" y="5943600"/>
            <a:ext cx="274320" cy="274320"/>
          </a:xfrm>
          <a:prstGeom prst="rect">
            <a:avLst/>
          </a:prstGeom>
        </p:spPr>
      </p:pic>
      <p:sp>
        <p:nvSpPr>
          <p:cNvPr id="13" name="Text 8"/>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8CC2F0"/>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Open your logbook now: which evidence row above is still missing for you?</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32</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Practical activity — your turn</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Apply all eleven criteria to a realistic Investec support scenario.</a:t>
            </a:r>
            <a:endParaRPr lang="en-US" sz="1050" dirty="0"/>
          </a:p>
        </p:txBody>
      </p:sp>
      <p:sp>
        <p:nvSpPr>
          <p:cNvPr id="10" name="Shape 7"/>
          <p:cNvSpPr/>
          <p:nvPr/>
        </p:nvSpPr>
        <p:spPr>
          <a:xfrm>
            <a:off x="502920" y="2103120"/>
            <a:ext cx="11183112" cy="2103120"/>
          </a:xfrm>
          <a:prstGeom prst="roundRect">
            <a:avLst>
              <a:gd name="adj" fmla="val 391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1" name="Shape 8"/>
          <p:cNvSpPr/>
          <p:nvPr/>
        </p:nvSpPr>
        <p:spPr>
          <a:xfrm>
            <a:off x="502920" y="2103120"/>
            <a:ext cx="82296" cy="2103120"/>
          </a:xfrm>
          <a:prstGeom prst="rect">
            <a:avLst/>
          </a:prstGeom>
          <a:solidFill>
            <a:srgbClr val="0F6CBD"/>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2528" y="2286000"/>
            <a:ext cx="347472" cy="347472"/>
          </a:xfrm>
          <a:prstGeom prst="rect">
            <a:avLst/>
          </a:prstGeom>
        </p:spPr>
      </p:pic>
      <p:sp>
        <p:nvSpPr>
          <p:cNvPr id="13" name="Text 9"/>
          <p:cNvSpPr/>
          <p:nvPr/>
        </p:nvSpPr>
        <p:spPr>
          <a:xfrm>
            <a:off x="795528" y="2249424"/>
            <a:ext cx="10177272" cy="1810512"/>
          </a:xfrm>
          <a:prstGeom prst="rect">
            <a:avLst/>
          </a:prstGeom>
          <a:noFill/>
          <a:ln/>
        </p:spPr>
        <p:txBody>
          <a:bodyPr wrap="square" rtlCol="0" anchor="t"/>
          <a:lstStyle/>
          <a:p>
            <a:pPr indent="0" marL="0">
              <a:lnSpc>
                <a:spcPct val="115000"/>
              </a:lnSpc>
              <a:buNone/>
            </a:pPr>
            <a:r>
              <a:rPr lang="en-US" sz="1050" b="1" spc="150" kern="0" dirty="0">
                <a:solidFill>
                  <a:srgbClr val="0F6CB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002050"/>
                </a:solidFill>
                <a:latin typeface="Aptos Display" pitchFamily="34" charset="0"/>
                <a:ea typeface="Aptos Display" pitchFamily="34" charset="-122"/>
                <a:cs typeface="Aptos Display" pitchFamily="34" charset="-120"/>
              </a:rPr>
              <a:t>Scenario — Teams outage on the trading floor
</a:t>
            </a:r>
            <a:pPr indent="0" marL="0">
              <a:lnSpc>
                <a:spcPct val="115000"/>
              </a:lnSpc>
              <a:buNone/>
            </a:pPr>
            <a:r>
              <a:rPr lang="en-US" sz="1250" dirty="0">
                <a:solidFill>
                  <a:srgbClr val="002050"/>
                </a:solidFill>
                <a:latin typeface="Aptos" pitchFamily="34" charset="0"/>
                <a:ea typeface="Aptos" pitchFamily="34" charset="-122"/>
                <a:cs typeface="Aptos" pitchFamily="34" charset="-120"/>
              </a:rPr>
              <a:t>At 08:40, Microsoft Teams stops connecting for 30 users in Corporate Banking Technology. By 09:25 the cause is traced to an expired proxy certificate and service is restored. Your task: compile the incident report. Gather evidence from ServiceNow, Entra ID sign-in logs and two user interviews; quantify the impact; apply the company template; and submit to the IT Support Manager within 24 hours.</a:t>
            </a:r>
            <a:endParaRPr lang="en-US" sz="1050" dirty="0"/>
          </a:p>
        </p:txBody>
      </p:sp>
      <p:sp>
        <p:nvSpPr>
          <p:cNvPr id="14" name="Shape 10"/>
          <p:cNvSpPr/>
          <p:nvPr/>
        </p:nvSpPr>
        <p:spPr>
          <a:xfrm>
            <a:off x="502920" y="4434840"/>
            <a:ext cx="3593592" cy="914400"/>
          </a:xfrm>
          <a:prstGeom prst="roundRect">
            <a:avLst>
              <a:gd name="adj" fmla="val 9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5" name="Shape 11"/>
          <p:cNvSpPr/>
          <p:nvPr/>
        </p:nvSpPr>
        <p:spPr>
          <a:xfrm>
            <a:off x="667512" y="4700016"/>
            <a:ext cx="384048" cy="384048"/>
          </a:xfrm>
          <a:prstGeom prst="ellipse">
            <a:avLst/>
          </a:prstGeom>
          <a:solidFill>
            <a:srgbClr val="0F6CBD"/>
          </a:solidFill>
          <a:ln/>
        </p:spPr>
      </p:sp>
      <p:sp>
        <p:nvSpPr>
          <p:cNvPr id="16" name="Text 12"/>
          <p:cNvSpPr/>
          <p:nvPr/>
        </p:nvSpPr>
        <p:spPr>
          <a:xfrm>
            <a:off x="667512" y="47000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7" name="Text 13"/>
          <p:cNvSpPr/>
          <p:nvPr/>
        </p:nvSpPr>
        <p:spPr>
          <a:xfrm>
            <a:off x="1161288" y="4526280"/>
            <a:ext cx="2770632" cy="73152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Plan &amp; gather
</a:t>
            </a:r>
            <a:pPr indent="0" marL="0">
              <a:buNone/>
            </a:pPr>
            <a:r>
              <a:rPr lang="en-US" sz="1050" dirty="0">
                <a:solidFill>
                  <a:srgbClr val="6B7280"/>
                </a:solidFill>
                <a:latin typeface="Aptos" pitchFamily="34" charset="0"/>
                <a:ea typeface="Aptos" pitchFamily="34" charset="-122"/>
                <a:cs typeface="Aptos" pitchFamily="34" charset="-120"/>
              </a:rPr>
              <a:t>20 min — sources and impact figures</a:t>
            </a:r>
            <a:endParaRPr lang="en-US" sz="1250" dirty="0"/>
          </a:p>
        </p:txBody>
      </p:sp>
      <p:sp>
        <p:nvSpPr>
          <p:cNvPr id="18" name="Shape 14"/>
          <p:cNvSpPr/>
          <p:nvPr/>
        </p:nvSpPr>
        <p:spPr>
          <a:xfrm>
            <a:off x="4297680" y="4434840"/>
            <a:ext cx="3593592" cy="914400"/>
          </a:xfrm>
          <a:prstGeom prst="roundRect">
            <a:avLst>
              <a:gd name="adj" fmla="val 9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9" name="Shape 15"/>
          <p:cNvSpPr/>
          <p:nvPr/>
        </p:nvSpPr>
        <p:spPr>
          <a:xfrm>
            <a:off x="4462272" y="4700016"/>
            <a:ext cx="384048" cy="384048"/>
          </a:xfrm>
          <a:prstGeom prst="ellipse">
            <a:avLst/>
          </a:prstGeom>
          <a:solidFill>
            <a:srgbClr val="0F6CBD"/>
          </a:solidFill>
          <a:ln/>
        </p:spPr>
      </p:sp>
      <p:sp>
        <p:nvSpPr>
          <p:cNvPr id="20" name="Text 16"/>
          <p:cNvSpPr/>
          <p:nvPr/>
        </p:nvSpPr>
        <p:spPr>
          <a:xfrm>
            <a:off x="4462272" y="47000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21" name="Text 17"/>
          <p:cNvSpPr/>
          <p:nvPr/>
        </p:nvSpPr>
        <p:spPr>
          <a:xfrm>
            <a:off x="4956048" y="4526280"/>
            <a:ext cx="2770632" cy="73152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Draft
</a:t>
            </a:r>
            <a:pPr indent="0" marL="0">
              <a:buNone/>
            </a:pPr>
            <a:r>
              <a:rPr lang="en-US" sz="1050" dirty="0">
                <a:solidFill>
                  <a:srgbClr val="6B7280"/>
                </a:solidFill>
                <a:latin typeface="Aptos" pitchFamily="34" charset="0"/>
                <a:ea typeface="Aptos" pitchFamily="34" charset="-122"/>
                <a:cs typeface="Aptos" pitchFamily="34" charset="-120"/>
              </a:rPr>
              <a:t>40 min — template, headings, findings</a:t>
            </a:r>
            <a:endParaRPr lang="en-US" sz="1250" dirty="0"/>
          </a:p>
        </p:txBody>
      </p:sp>
      <p:sp>
        <p:nvSpPr>
          <p:cNvPr id="22" name="Shape 18"/>
          <p:cNvSpPr/>
          <p:nvPr/>
        </p:nvSpPr>
        <p:spPr>
          <a:xfrm>
            <a:off x="8092440" y="4434840"/>
            <a:ext cx="3593592" cy="914400"/>
          </a:xfrm>
          <a:prstGeom prst="roundRect">
            <a:avLst>
              <a:gd name="adj" fmla="val 90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3" name="Shape 19"/>
          <p:cNvSpPr/>
          <p:nvPr/>
        </p:nvSpPr>
        <p:spPr>
          <a:xfrm>
            <a:off x="8257032" y="4700016"/>
            <a:ext cx="384048" cy="384048"/>
          </a:xfrm>
          <a:prstGeom prst="ellipse">
            <a:avLst/>
          </a:prstGeom>
          <a:solidFill>
            <a:srgbClr val="0F6CBD"/>
          </a:solidFill>
          <a:ln/>
        </p:spPr>
      </p:sp>
      <p:sp>
        <p:nvSpPr>
          <p:cNvPr id="24" name="Text 20"/>
          <p:cNvSpPr/>
          <p:nvPr/>
        </p:nvSpPr>
        <p:spPr>
          <a:xfrm>
            <a:off x="8257032" y="47000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5" name="Text 21"/>
          <p:cNvSpPr/>
          <p:nvPr/>
        </p:nvSpPr>
        <p:spPr>
          <a:xfrm>
            <a:off x="8750808" y="4526280"/>
            <a:ext cx="2770632" cy="731520"/>
          </a:xfrm>
          <a:prstGeom prst="rect">
            <a:avLst/>
          </a:prstGeom>
          <a:noFill/>
          <a:ln/>
        </p:spPr>
        <p:txBody>
          <a:bodyPr wrap="square" rtlCol="0" anchor="ctr"/>
          <a:lstStyle/>
          <a:p>
            <a:pPr indent="0" marL="0">
              <a:buNone/>
            </a:pPr>
            <a:r>
              <a:rPr lang="en-US" sz="1250" b="1" dirty="0">
                <a:solidFill>
                  <a:srgbClr val="002050"/>
                </a:solidFill>
                <a:latin typeface="Aptos Display" pitchFamily="34" charset="0"/>
                <a:ea typeface="Aptos Display" pitchFamily="34" charset="-122"/>
                <a:cs typeface="Aptos Display" pitchFamily="34" charset="-120"/>
              </a:rPr>
              <a:t>Verify &amp; submit
</a:t>
            </a:r>
            <a:pPr indent="0" marL="0">
              <a:buNone/>
            </a:pPr>
            <a:r>
              <a:rPr lang="en-US" sz="1050" dirty="0">
                <a:solidFill>
                  <a:srgbClr val="6B7280"/>
                </a:solidFill>
                <a:latin typeface="Aptos" pitchFamily="34" charset="0"/>
                <a:ea typeface="Aptos" pitchFamily="34" charset="-122"/>
                <a:cs typeface="Aptos" pitchFamily="34" charset="-120"/>
              </a:rPr>
              <a:t>15 min — proofread, authorised channel</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33</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Key takeaways</a:t>
            </a:r>
            <a:endParaRPr lang="en-US" sz="2600" dirty="0"/>
          </a:p>
        </p:txBody>
      </p:sp>
      <p:sp>
        <p:nvSpPr>
          <p:cNvPr id="7" name="Shape 5"/>
          <p:cNvSpPr/>
          <p:nvPr/>
        </p:nvSpPr>
        <p:spPr>
          <a:xfrm>
            <a:off x="502920" y="1554480"/>
            <a:ext cx="11183112" cy="731520"/>
          </a:xfrm>
          <a:prstGeom prst="roundRect">
            <a:avLst>
              <a:gd name="adj" fmla="val 1125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685800" y="1728216"/>
            <a:ext cx="384048" cy="384048"/>
          </a:xfrm>
          <a:prstGeom prst="ellipse">
            <a:avLst/>
          </a:prstGeom>
          <a:solidFill>
            <a:srgbClr val="002050"/>
          </a:solidFill>
          <a:ln/>
        </p:spPr>
      </p:sp>
      <p:sp>
        <p:nvSpPr>
          <p:cNvPr id="9" name="Text 7"/>
          <p:cNvSpPr/>
          <p:nvPr/>
        </p:nvSpPr>
        <p:spPr>
          <a:xfrm>
            <a:off x="685800" y="17282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0" name="Text 8"/>
          <p:cNvSpPr/>
          <p:nvPr/>
        </p:nvSpPr>
        <p:spPr>
          <a:xfrm>
            <a:off x="1234440" y="1554480"/>
            <a:ext cx="10268712" cy="731520"/>
          </a:xfrm>
          <a:prstGeom prst="rect">
            <a:avLst/>
          </a:prstGeom>
          <a:noFill/>
          <a:ln/>
        </p:spPr>
        <p:txBody>
          <a:bodyPr wrap="square" rtlCol="0" anchor="ctr"/>
          <a:lstStyle/>
          <a:p>
            <a:pPr indent="0" marL="0">
              <a:buNone/>
            </a:pPr>
            <a:r>
              <a:rPr lang="en-US" sz="1450" dirty="0">
                <a:solidFill>
                  <a:srgbClr val="002050"/>
                </a:solidFill>
                <a:latin typeface="Aptos" pitchFamily="34" charset="0"/>
                <a:ea typeface="Aptos" pitchFamily="34" charset="-122"/>
                <a:cs typeface="Aptos" pitchFamily="34" charset="-120"/>
              </a:rPr>
              <a:t>A report answers its reader's questions so a decision can be made.</a:t>
            </a:r>
            <a:endParaRPr lang="en-US" sz="1450" dirty="0"/>
          </a:p>
        </p:txBody>
      </p:sp>
      <p:sp>
        <p:nvSpPr>
          <p:cNvPr id="11" name="Shape 9"/>
          <p:cNvSpPr/>
          <p:nvPr/>
        </p:nvSpPr>
        <p:spPr>
          <a:xfrm>
            <a:off x="502920" y="2450592"/>
            <a:ext cx="11183112" cy="731520"/>
          </a:xfrm>
          <a:prstGeom prst="roundRect">
            <a:avLst>
              <a:gd name="adj" fmla="val 1125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10"/>
          <p:cNvSpPr/>
          <p:nvPr/>
        </p:nvSpPr>
        <p:spPr>
          <a:xfrm>
            <a:off x="685800" y="2624328"/>
            <a:ext cx="384048" cy="384048"/>
          </a:xfrm>
          <a:prstGeom prst="ellipse">
            <a:avLst/>
          </a:prstGeom>
          <a:solidFill>
            <a:srgbClr val="002050"/>
          </a:solidFill>
          <a:ln/>
        </p:spPr>
      </p:sp>
      <p:sp>
        <p:nvSpPr>
          <p:cNvPr id="13" name="Text 11"/>
          <p:cNvSpPr/>
          <p:nvPr/>
        </p:nvSpPr>
        <p:spPr>
          <a:xfrm>
            <a:off x="685800" y="262432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4" name="Text 12"/>
          <p:cNvSpPr/>
          <p:nvPr/>
        </p:nvSpPr>
        <p:spPr>
          <a:xfrm>
            <a:off x="1234440" y="2450592"/>
            <a:ext cx="10268712" cy="731520"/>
          </a:xfrm>
          <a:prstGeom prst="rect">
            <a:avLst/>
          </a:prstGeom>
          <a:noFill/>
          <a:ln/>
        </p:spPr>
        <p:txBody>
          <a:bodyPr wrap="square" rtlCol="0" anchor="ctr"/>
          <a:lstStyle/>
          <a:p>
            <a:pPr indent="0" marL="0">
              <a:buNone/>
            </a:pPr>
            <a:r>
              <a:rPr lang="en-US" sz="1450" dirty="0">
                <a:solidFill>
                  <a:srgbClr val="002050"/>
                </a:solidFill>
                <a:latin typeface="Aptos" pitchFamily="34" charset="0"/>
                <a:ea typeface="Aptos" pitchFamily="34" charset="-122"/>
                <a:cs typeface="Aptos" pitchFamily="34" charset="-120"/>
              </a:rPr>
              <a:t>Evidence comes from official systems — never memory or assumption.</a:t>
            </a:r>
            <a:endParaRPr lang="en-US" sz="1450" dirty="0"/>
          </a:p>
        </p:txBody>
      </p:sp>
      <p:sp>
        <p:nvSpPr>
          <p:cNvPr id="15" name="Shape 13"/>
          <p:cNvSpPr/>
          <p:nvPr/>
        </p:nvSpPr>
        <p:spPr>
          <a:xfrm>
            <a:off x="502920" y="3346704"/>
            <a:ext cx="11183112" cy="731520"/>
          </a:xfrm>
          <a:prstGeom prst="roundRect">
            <a:avLst>
              <a:gd name="adj" fmla="val 1125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4"/>
          <p:cNvSpPr/>
          <p:nvPr/>
        </p:nvSpPr>
        <p:spPr>
          <a:xfrm>
            <a:off x="685800" y="3520440"/>
            <a:ext cx="384048" cy="384048"/>
          </a:xfrm>
          <a:prstGeom prst="ellipse">
            <a:avLst/>
          </a:prstGeom>
          <a:solidFill>
            <a:srgbClr val="002050"/>
          </a:solidFill>
          <a:ln/>
        </p:spPr>
      </p:sp>
      <p:sp>
        <p:nvSpPr>
          <p:cNvPr id="17" name="Text 15"/>
          <p:cNvSpPr/>
          <p:nvPr/>
        </p:nvSpPr>
        <p:spPr>
          <a:xfrm>
            <a:off x="685800" y="35204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18" name="Text 16"/>
          <p:cNvSpPr/>
          <p:nvPr/>
        </p:nvSpPr>
        <p:spPr>
          <a:xfrm>
            <a:off x="1234440" y="3346704"/>
            <a:ext cx="10268712" cy="731520"/>
          </a:xfrm>
          <a:prstGeom prst="rect">
            <a:avLst/>
          </a:prstGeom>
          <a:noFill/>
          <a:ln/>
        </p:spPr>
        <p:txBody>
          <a:bodyPr wrap="square" rtlCol="0" anchor="ctr"/>
          <a:lstStyle/>
          <a:p>
            <a:pPr indent="0" marL="0">
              <a:buNone/>
            </a:pPr>
            <a:r>
              <a:rPr lang="en-US" sz="1450" dirty="0">
                <a:solidFill>
                  <a:srgbClr val="002050"/>
                </a:solidFill>
                <a:latin typeface="Aptos" pitchFamily="34" charset="0"/>
                <a:ea typeface="Aptos" pitchFamily="34" charset="-122"/>
                <a:cs typeface="Aptos" pitchFamily="34" charset="-120"/>
              </a:rPr>
              <a:t>Confidential information moves only through approved channels to authorised people.</a:t>
            </a:r>
            <a:endParaRPr lang="en-US" sz="1450" dirty="0"/>
          </a:p>
        </p:txBody>
      </p:sp>
      <p:sp>
        <p:nvSpPr>
          <p:cNvPr id="19" name="Shape 17"/>
          <p:cNvSpPr/>
          <p:nvPr/>
        </p:nvSpPr>
        <p:spPr>
          <a:xfrm>
            <a:off x="502920" y="4242816"/>
            <a:ext cx="11183112" cy="731520"/>
          </a:xfrm>
          <a:prstGeom prst="roundRect">
            <a:avLst>
              <a:gd name="adj" fmla="val 1125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0" name="Shape 18"/>
          <p:cNvSpPr/>
          <p:nvPr/>
        </p:nvSpPr>
        <p:spPr>
          <a:xfrm>
            <a:off x="685800" y="4416552"/>
            <a:ext cx="384048" cy="384048"/>
          </a:xfrm>
          <a:prstGeom prst="ellipse">
            <a:avLst/>
          </a:prstGeom>
          <a:solidFill>
            <a:srgbClr val="002050"/>
          </a:solidFill>
          <a:ln/>
        </p:spPr>
      </p:sp>
      <p:sp>
        <p:nvSpPr>
          <p:cNvPr id="21" name="Text 19"/>
          <p:cNvSpPr/>
          <p:nvPr/>
        </p:nvSpPr>
        <p:spPr>
          <a:xfrm>
            <a:off x="685800" y="441655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2" name="Text 20"/>
          <p:cNvSpPr/>
          <p:nvPr/>
        </p:nvSpPr>
        <p:spPr>
          <a:xfrm>
            <a:off x="1234440" y="4242816"/>
            <a:ext cx="10268712" cy="731520"/>
          </a:xfrm>
          <a:prstGeom prst="rect">
            <a:avLst/>
          </a:prstGeom>
          <a:noFill/>
          <a:ln/>
        </p:spPr>
        <p:txBody>
          <a:bodyPr wrap="square" rtlCol="0" anchor="ctr"/>
          <a:lstStyle/>
          <a:p>
            <a:pPr indent="0" marL="0">
              <a:buNone/>
            </a:pPr>
            <a:r>
              <a:rPr lang="en-US" sz="1450" dirty="0">
                <a:solidFill>
                  <a:srgbClr val="002050"/>
                </a:solidFill>
                <a:latin typeface="Aptos" pitchFamily="34" charset="0"/>
                <a:ea typeface="Aptos" pitchFamily="34" charset="-122"/>
                <a:cs typeface="Aptos" pitchFamily="34" charset="-120"/>
              </a:rPr>
              <a:t>House standards and objective, quantified writing make reports trusted.</a:t>
            </a:r>
            <a:endParaRPr lang="en-US" sz="1450" dirty="0"/>
          </a:p>
        </p:txBody>
      </p:sp>
      <p:sp>
        <p:nvSpPr>
          <p:cNvPr id="23" name="Shape 21"/>
          <p:cNvSpPr/>
          <p:nvPr/>
        </p:nvSpPr>
        <p:spPr>
          <a:xfrm>
            <a:off x="502920" y="5138928"/>
            <a:ext cx="11183112" cy="731520"/>
          </a:xfrm>
          <a:prstGeom prst="roundRect">
            <a:avLst>
              <a:gd name="adj" fmla="val 1125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4" name="Shape 22"/>
          <p:cNvSpPr/>
          <p:nvPr/>
        </p:nvSpPr>
        <p:spPr>
          <a:xfrm>
            <a:off x="685800" y="5312664"/>
            <a:ext cx="384048" cy="384048"/>
          </a:xfrm>
          <a:prstGeom prst="ellipse">
            <a:avLst/>
          </a:prstGeom>
          <a:solidFill>
            <a:srgbClr val="002050"/>
          </a:solidFill>
          <a:ln/>
        </p:spPr>
      </p:sp>
      <p:sp>
        <p:nvSpPr>
          <p:cNvPr id="25" name="Text 23"/>
          <p:cNvSpPr/>
          <p:nvPr/>
        </p:nvSpPr>
        <p:spPr>
          <a:xfrm>
            <a:off x="685800" y="5312664"/>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26" name="Text 24"/>
          <p:cNvSpPr/>
          <p:nvPr/>
        </p:nvSpPr>
        <p:spPr>
          <a:xfrm>
            <a:off x="1234440" y="5138928"/>
            <a:ext cx="10268712" cy="731520"/>
          </a:xfrm>
          <a:prstGeom prst="rect">
            <a:avLst/>
          </a:prstGeom>
          <a:noFill/>
          <a:ln/>
        </p:spPr>
        <p:txBody>
          <a:bodyPr wrap="square" rtlCol="0" anchor="ctr"/>
          <a:lstStyle/>
          <a:p>
            <a:pPr indent="0" marL="0">
              <a:buNone/>
            </a:pPr>
            <a:r>
              <a:rPr lang="en-US" sz="1450" dirty="0">
                <a:solidFill>
                  <a:srgbClr val="002050"/>
                </a:solidFill>
                <a:latin typeface="Aptos" pitchFamily="34" charset="0"/>
                <a:ea typeface="Aptos" pitchFamily="34" charset="-122"/>
                <a:cs typeface="Aptos" pitchFamily="34" charset="-120"/>
              </a:rPr>
              <a:t>A late report is a failed report — the deadline is part of the job.</a:t>
            </a:r>
            <a:endParaRPr lang="en-US" sz="14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34</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0F6CB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002050"/>
                </a:solidFill>
                <a:latin typeface="Aptos Display" pitchFamily="34" charset="0"/>
                <a:ea typeface="Aptos Display" pitchFamily="34" charset="-122"/>
                <a:cs typeface="Aptos Display" pitchFamily="34" charset="-120"/>
              </a:rPr>
              <a:t>Final quiz — 5 questions</a:t>
            </a:r>
            <a:endParaRPr lang="en-US" sz="2600" dirty="0"/>
          </a:p>
        </p:txBody>
      </p:sp>
      <p:sp>
        <p:nvSpPr>
          <p:cNvPr id="7" name="Shape 5"/>
          <p:cNvSpPr/>
          <p:nvPr/>
        </p:nvSpPr>
        <p:spPr>
          <a:xfrm>
            <a:off x="502920" y="1298448"/>
            <a:ext cx="11183112" cy="566928"/>
          </a:xfrm>
          <a:prstGeom prst="roundRect">
            <a:avLst>
              <a:gd name="adj" fmla="val 11290"/>
            </a:avLst>
          </a:prstGeom>
          <a:solidFill>
            <a:srgbClr val="EAF4FF"/>
          </a:solidFill>
          <a:ln w="9525">
            <a:solidFill>
              <a:srgbClr val="D5E3F2"/>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0F6CBD"/>
                </a:solidFill>
                <a:latin typeface="Aptos" pitchFamily="34" charset="0"/>
                <a:ea typeface="Aptos" pitchFamily="34" charset="-122"/>
                <a:cs typeface="Aptos" pitchFamily="34" charset="-120"/>
              </a:rPr>
              <a:t>LEARNING OBJECTIVE   </a:t>
            </a:r>
            <a:pPr indent="0" marL="0">
              <a:buNone/>
            </a:pPr>
            <a:r>
              <a:rPr lang="en-US" sz="1300" dirty="0">
                <a:solidFill>
                  <a:srgbClr val="002050"/>
                </a:solidFill>
                <a:latin typeface="Aptos" pitchFamily="34" charset="0"/>
                <a:ea typeface="Aptos" pitchFamily="34" charset="-122"/>
                <a:cs typeface="Aptos" pitchFamily="34" charset="-120"/>
              </a:rPr>
              <a:t>Answer individually, then discuss as a class. 80%+ is considered competent.</a:t>
            </a:r>
            <a:endParaRPr lang="en-US" sz="1050" dirty="0"/>
          </a:p>
        </p:txBody>
      </p:sp>
      <p:sp>
        <p:nvSpPr>
          <p:cNvPr id="10" name="Shape 7"/>
          <p:cNvSpPr/>
          <p:nvPr/>
        </p:nvSpPr>
        <p:spPr>
          <a:xfrm>
            <a:off x="502920" y="2103120"/>
            <a:ext cx="11183112" cy="640080"/>
          </a:xfrm>
          <a:prstGeom prst="roundRect">
            <a:avLst>
              <a:gd name="adj" fmla="val 1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1" name="Text 8"/>
          <p:cNvSpPr/>
          <p:nvPr/>
        </p:nvSpPr>
        <p:spPr>
          <a:xfrm>
            <a:off x="704088" y="2103120"/>
            <a:ext cx="10780776" cy="640080"/>
          </a:xfrm>
          <a:prstGeom prst="rect">
            <a:avLst/>
          </a:prstGeom>
          <a:noFill/>
          <a:ln/>
        </p:spPr>
        <p:txBody>
          <a:bodyPr wrap="square" rtlCol="0" anchor="ctr"/>
          <a:lstStyle/>
          <a:p>
            <a:pPr indent="0" marL="0">
              <a:buNone/>
            </a:pPr>
            <a:r>
              <a:rPr lang="en-US" sz="1300" b="1" dirty="0">
                <a:solidFill>
                  <a:srgbClr val="0F6CBD"/>
                </a:solidFill>
                <a:latin typeface="Aptos Display" pitchFamily="34" charset="0"/>
                <a:ea typeface="Aptos Display" pitchFamily="34" charset="-122"/>
                <a:cs typeface="Aptos Display" pitchFamily="34" charset="-120"/>
              </a:rPr>
              <a:t>Q1   </a:t>
            </a:r>
            <a:pPr indent="0" marL="0">
              <a:buNone/>
            </a:pPr>
            <a:r>
              <a:rPr lang="en-US" sz="1250" dirty="0">
                <a:solidFill>
                  <a:srgbClr val="002050"/>
                </a:solidFill>
                <a:latin typeface="Aptos" pitchFamily="34" charset="0"/>
                <a:ea typeface="Aptos" pitchFamily="34" charset="-122"/>
                <a:cs typeface="Aptos" pitchFamily="34" charset="-120"/>
              </a:rPr>
              <a:t>Name the five questions an incident report must answer for the IT Manager.</a:t>
            </a:r>
            <a:endParaRPr lang="en-US" sz="1300" dirty="0"/>
          </a:p>
        </p:txBody>
      </p:sp>
      <p:sp>
        <p:nvSpPr>
          <p:cNvPr id="12" name="Shape 9"/>
          <p:cNvSpPr/>
          <p:nvPr/>
        </p:nvSpPr>
        <p:spPr>
          <a:xfrm>
            <a:off x="502920" y="2880360"/>
            <a:ext cx="11183112" cy="640080"/>
          </a:xfrm>
          <a:prstGeom prst="roundRect">
            <a:avLst>
              <a:gd name="adj" fmla="val 1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Text 10"/>
          <p:cNvSpPr/>
          <p:nvPr/>
        </p:nvSpPr>
        <p:spPr>
          <a:xfrm>
            <a:off x="704088" y="2880360"/>
            <a:ext cx="10780776" cy="640080"/>
          </a:xfrm>
          <a:prstGeom prst="rect">
            <a:avLst/>
          </a:prstGeom>
          <a:noFill/>
          <a:ln/>
        </p:spPr>
        <p:txBody>
          <a:bodyPr wrap="square" rtlCol="0" anchor="ctr"/>
          <a:lstStyle/>
          <a:p>
            <a:pPr indent="0" marL="0">
              <a:buNone/>
            </a:pPr>
            <a:r>
              <a:rPr lang="en-US" sz="1300" b="1" dirty="0">
                <a:solidFill>
                  <a:srgbClr val="0F6CBD"/>
                </a:solidFill>
                <a:latin typeface="Aptos Display" pitchFamily="34" charset="0"/>
                <a:ea typeface="Aptos Display" pitchFamily="34" charset="-122"/>
                <a:cs typeface="Aptos Display" pitchFamily="34" charset="-120"/>
              </a:rPr>
              <a:t>Q2   </a:t>
            </a:r>
            <a:pPr indent="0" marL="0">
              <a:buNone/>
            </a:pPr>
            <a:r>
              <a:rPr lang="en-US" sz="1250" dirty="0">
                <a:solidFill>
                  <a:srgbClr val="002050"/>
                </a:solidFill>
                <a:latin typeface="Aptos" pitchFamily="34" charset="0"/>
                <a:ea typeface="Aptos" pitchFamily="34" charset="-122"/>
                <a:cs typeface="Aptos" pitchFamily="34" charset="-120"/>
              </a:rPr>
              <a:t>Give four reliable information sources for an IT report — and one source you must never rely on.</a:t>
            </a:r>
            <a:endParaRPr lang="en-US" sz="1300" dirty="0"/>
          </a:p>
        </p:txBody>
      </p:sp>
      <p:sp>
        <p:nvSpPr>
          <p:cNvPr id="14" name="Shape 11"/>
          <p:cNvSpPr/>
          <p:nvPr/>
        </p:nvSpPr>
        <p:spPr>
          <a:xfrm>
            <a:off x="502920" y="3657600"/>
            <a:ext cx="11183112" cy="640080"/>
          </a:xfrm>
          <a:prstGeom prst="roundRect">
            <a:avLst>
              <a:gd name="adj" fmla="val 1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5" name="Text 12"/>
          <p:cNvSpPr/>
          <p:nvPr/>
        </p:nvSpPr>
        <p:spPr>
          <a:xfrm>
            <a:off x="704088" y="3657600"/>
            <a:ext cx="10780776" cy="640080"/>
          </a:xfrm>
          <a:prstGeom prst="rect">
            <a:avLst/>
          </a:prstGeom>
          <a:noFill/>
          <a:ln/>
        </p:spPr>
        <p:txBody>
          <a:bodyPr wrap="square" rtlCol="0" anchor="ctr"/>
          <a:lstStyle/>
          <a:p>
            <a:pPr indent="0" marL="0">
              <a:buNone/>
            </a:pPr>
            <a:r>
              <a:rPr lang="en-US" sz="1300" b="1" dirty="0">
                <a:solidFill>
                  <a:srgbClr val="0F6CBD"/>
                </a:solidFill>
                <a:latin typeface="Aptos Display" pitchFamily="34" charset="0"/>
                <a:ea typeface="Aptos Display" pitchFamily="34" charset="-122"/>
                <a:cs typeface="Aptos Display" pitchFamily="34" charset="-120"/>
              </a:rPr>
              <a:t>Q3   </a:t>
            </a:r>
            <a:pPr indent="0" marL="0">
              <a:buNone/>
            </a:pPr>
            <a:r>
              <a:rPr lang="en-US" sz="1250" dirty="0">
                <a:solidFill>
                  <a:srgbClr val="002050"/>
                </a:solidFill>
                <a:latin typeface="Aptos" pitchFamily="34" charset="0"/>
                <a:ea typeface="Aptos" pitchFamily="34" charset="-122"/>
                <a:cs typeface="Aptos" pitchFamily="34" charset="-120"/>
              </a:rPr>
              <a:t>Who may receive a cyber-security report naming staff members, and through which channel?</a:t>
            </a:r>
            <a:endParaRPr lang="en-US" sz="1300" dirty="0"/>
          </a:p>
        </p:txBody>
      </p:sp>
      <p:sp>
        <p:nvSpPr>
          <p:cNvPr id="16" name="Shape 13"/>
          <p:cNvSpPr/>
          <p:nvPr/>
        </p:nvSpPr>
        <p:spPr>
          <a:xfrm>
            <a:off x="502920" y="4434840"/>
            <a:ext cx="11183112" cy="640080"/>
          </a:xfrm>
          <a:prstGeom prst="roundRect">
            <a:avLst>
              <a:gd name="adj" fmla="val 1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Text 14"/>
          <p:cNvSpPr/>
          <p:nvPr/>
        </p:nvSpPr>
        <p:spPr>
          <a:xfrm>
            <a:off x="704088" y="4434840"/>
            <a:ext cx="10780776" cy="640080"/>
          </a:xfrm>
          <a:prstGeom prst="rect">
            <a:avLst/>
          </a:prstGeom>
          <a:noFill/>
          <a:ln/>
        </p:spPr>
        <p:txBody>
          <a:bodyPr wrap="square" rtlCol="0" anchor="ctr"/>
          <a:lstStyle/>
          <a:p>
            <a:pPr indent="0" marL="0">
              <a:buNone/>
            </a:pPr>
            <a:r>
              <a:rPr lang="en-US" sz="1300" b="1" dirty="0">
                <a:solidFill>
                  <a:srgbClr val="0F6CBD"/>
                </a:solidFill>
                <a:latin typeface="Aptos Display" pitchFamily="34" charset="0"/>
                <a:ea typeface="Aptos Display" pitchFamily="34" charset="-122"/>
                <a:cs typeface="Aptos Display" pitchFamily="34" charset="-120"/>
              </a:rPr>
              <a:t>Q4   </a:t>
            </a:r>
            <a:pPr indent="0" marL="0">
              <a:buNone/>
            </a:pPr>
            <a:r>
              <a:rPr lang="en-US" sz="1250" dirty="0">
                <a:solidFill>
                  <a:srgbClr val="002050"/>
                </a:solidFill>
                <a:latin typeface="Aptos" pitchFamily="34" charset="0"/>
                <a:ea typeface="Aptos" pitchFamily="34" charset="-122"/>
                <a:cs typeface="Aptos" pitchFamily="34" charset="-120"/>
              </a:rPr>
              <a:t>Rewrite 'the server crashed' as a quantified, decision-ready sentence.</a:t>
            </a:r>
            <a:endParaRPr lang="en-US" sz="1300" dirty="0"/>
          </a:p>
        </p:txBody>
      </p:sp>
      <p:sp>
        <p:nvSpPr>
          <p:cNvPr id="18" name="Shape 15"/>
          <p:cNvSpPr/>
          <p:nvPr/>
        </p:nvSpPr>
        <p:spPr>
          <a:xfrm>
            <a:off x="502920" y="5212080"/>
            <a:ext cx="11183112" cy="640080"/>
          </a:xfrm>
          <a:prstGeom prst="roundRect">
            <a:avLst>
              <a:gd name="adj" fmla="val 1285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9" name="Text 16"/>
          <p:cNvSpPr/>
          <p:nvPr/>
        </p:nvSpPr>
        <p:spPr>
          <a:xfrm>
            <a:off x="704088" y="5212080"/>
            <a:ext cx="10780776" cy="640080"/>
          </a:xfrm>
          <a:prstGeom prst="rect">
            <a:avLst/>
          </a:prstGeom>
          <a:noFill/>
          <a:ln/>
        </p:spPr>
        <p:txBody>
          <a:bodyPr wrap="square" rtlCol="0" anchor="ctr"/>
          <a:lstStyle/>
          <a:p>
            <a:pPr indent="0" marL="0">
              <a:buNone/>
            </a:pPr>
            <a:r>
              <a:rPr lang="en-US" sz="1300" b="1" dirty="0">
                <a:solidFill>
                  <a:srgbClr val="0F6CBD"/>
                </a:solidFill>
                <a:latin typeface="Aptos Display" pitchFamily="34" charset="0"/>
                <a:ea typeface="Aptos Display" pitchFamily="34" charset="-122"/>
                <a:cs typeface="Aptos Display" pitchFamily="34" charset="-120"/>
              </a:rPr>
              <a:t>Q5   </a:t>
            </a:r>
            <a:pPr indent="0" marL="0">
              <a:buNone/>
            </a:pPr>
            <a:r>
              <a:rPr lang="en-US" sz="1250" dirty="0">
                <a:solidFill>
                  <a:srgbClr val="002050"/>
                </a:solidFill>
                <a:latin typeface="Aptos" pitchFamily="34" charset="0"/>
                <a:ea typeface="Aptos" pitchFamily="34" charset="-122"/>
                <a:cs typeface="Aptos" pitchFamily="34" charset="-120"/>
              </a:rPr>
              <a:t>A major outage starts at 14:00 Tuesday — when is the report due, and what do you do first?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2050"/>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35</a:t>
            </a:r>
            <a:endParaRPr lang="en-US" sz="9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109728"/>
          </a:xfrm>
          <a:prstGeom prst="rect">
            <a:avLst/>
          </a:prstGeom>
          <a:solidFill>
            <a:srgbClr val="0F6C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645920"/>
            <a:ext cx="548640" cy="548640"/>
          </a:xfrm>
          <a:prstGeom prst="rect">
            <a:avLst/>
          </a:prstGeom>
        </p:spPr>
      </p:pic>
      <p:sp>
        <p:nvSpPr>
          <p:cNvPr id="7" name="Text 4"/>
          <p:cNvSpPr/>
          <p:nvPr/>
        </p:nvSpPr>
        <p:spPr>
          <a:xfrm>
            <a:off x="502920" y="2377440"/>
            <a:ext cx="11183112" cy="1280160"/>
          </a:xfrm>
          <a:prstGeom prst="rect">
            <a:avLst/>
          </a:prstGeom>
          <a:noFill/>
          <a:ln/>
        </p:spPr>
        <p:txBody>
          <a:bodyPr wrap="square"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You can now compile and produce professional reports.</a:t>
            </a:r>
            <a:endParaRPr lang="en-US" sz="3400" dirty="0"/>
          </a:p>
        </p:txBody>
      </p:sp>
      <p:sp>
        <p:nvSpPr>
          <p:cNvPr id="8" name="Text 5"/>
          <p:cNvSpPr/>
          <p:nvPr/>
        </p:nvSpPr>
        <p:spPr>
          <a:xfrm>
            <a:off x="502920" y="3703320"/>
            <a:ext cx="9144000" cy="914400"/>
          </a:xfrm>
          <a:prstGeom prst="rect">
            <a:avLst/>
          </a:prstGeom>
          <a:noFill/>
          <a:ln/>
        </p:spPr>
        <p:txBody>
          <a:bodyPr wrap="square" rtlCol="0" anchor="ctr"/>
          <a:lstStyle/>
          <a:p>
            <a:pPr indent="0" marL="0">
              <a:lnSpc>
                <a:spcPct val="125000"/>
              </a:lnSpc>
              <a:buNone/>
            </a:pPr>
            <a:r>
              <a:rPr lang="en-US" sz="1500" dirty="0">
                <a:solidFill>
                  <a:srgbClr val="B9D6F2"/>
                </a:solidFill>
                <a:latin typeface="Aptos" pitchFamily="34" charset="0"/>
                <a:ea typeface="Aptos" pitchFamily="34" charset="-122"/>
                <a:cs typeface="Aptos" pitchFamily="34" charset="-120"/>
              </a:rPr>
              <a:t>File your questionnaire, self-assessment and logbook evidence in your Portfolio of Evidence.</a:t>
            </a:r>
            <a:endParaRPr lang="en-US" sz="1500" dirty="0"/>
          </a:p>
          <a:p>
            <a:pPr indent="0" marL="0">
              <a:lnSpc>
                <a:spcPct val="125000"/>
              </a:lnSpc>
              <a:buNone/>
            </a:pPr>
            <a:r>
              <a:rPr lang="en-US" sz="1500" dirty="0">
                <a:solidFill>
                  <a:srgbClr val="B9D6F2"/>
                </a:solidFill>
                <a:latin typeface="Aptos" pitchFamily="34" charset="0"/>
                <a:ea typeface="Aptos" pitchFamily="34" charset="-122"/>
                <a:cs typeface="Aptos" pitchFamily="34" charset="-120"/>
              </a:rPr>
              <a:t>Next session date to be agreed at close — thank you for your participation.</a:t>
            </a:r>
            <a:endParaRPr lang="en-US" sz="1500" dirty="0"/>
          </a:p>
        </p:txBody>
      </p:sp>
      <p:sp>
        <p:nvSpPr>
          <p:cNvPr id="9" name="Text 6"/>
          <p:cNvSpPr/>
          <p:nvPr/>
        </p:nvSpPr>
        <p:spPr>
          <a:xfrm>
            <a:off x="502920" y="6309360"/>
            <a:ext cx="11183112" cy="320040"/>
          </a:xfrm>
          <a:prstGeom prst="rect">
            <a:avLst/>
          </a:prstGeom>
          <a:noFill/>
          <a:ln/>
        </p:spPr>
        <p:txBody>
          <a:bodyPr wrap="square" rtlCol="0" anchor="ctr"/>
          <a:lstStyle/>
          <a:p>
            <a:pPr indent="0" marL="0">
              <a:buNone/>
            </a:pPr>
            <a:r>
              <a:rPr lang="en-US" sz="1050" dirty="0">
                <a:solidFill>
                  <a:srgbClr val="6E93BC"/>
                </a:solidFill>
                <a:latin typeface="Aptos" pitchFamily="34" charset="0"/>
                <a:ea typeface="Aptos" pitchFamily="34" charset="-122"/>
                <a:cs typeface="Aptos" pitchFamily="34" charset="-120"/>
              </a:rPr>
              <a:t>Unit Standard 8252 · Andre Snell · Investec, Sandton, Johannesburg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8252 — Compile and Produce Reports</dc:title>
  <dc:subject>PptxGenJS Presentation</dc:subject>
  <dc:creator>Andre Snell</dc:creator>
  <cp:lastModifiedBy>Andre Snell</cp:lastModifiedBy>
  <cp:revision>1</cp:revision>
  <dcterms:created xsi:type="dcterms:W3CDTF">2026-08-23T00:10:48Z</dcterms:created>
  <dcterms:modified xsi:type="dcterms:W3CDTF">2026-08-23T00:10:48Z</dcterms:modified>
</cp:coreProperties>
</file>