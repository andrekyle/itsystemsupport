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image" Target="../media/image-2-9.png"/><Relationship Id="rId10" Type="http://schemas.openxmlformats.org/officeDocument/2006/relationships/image" Target="../media/image-2-10.svg"/><Relationship Id="rId11" Type="http://schemas.openxmlformats.org/officeDocument/2006/relationships/image" Target="../media/image-2-11.png"/><Relationship Id="rId12" Type="http://schemas.openxmlformats.org/officeDocument/2006/relationships/image" Target="../media/image-2-12.svg"/><Relationship Id="rId13" Type="http://schemas.openxmlformats.org/officeDocument/2006/relationships/image" Target="../media/image-2-13.png"/><Relationship Id="rId14" Type="http://schemas.openxmlformats.org/officeDocument/2006/relationships/image" Target="../media/image-2-14.svg"/><Relationship Id="rId15" Type="http://schemas.openxmlformats.org/officeDocument/2006/relationships/image" Target="../media/image-2-15.png"/><Relationship Id="rId16" Type="http://schemas.openxmlformats.org/officeDocument/2006/relationships/image" Target="../media/image-2-16.svg"/><Relationship Id="rId17" Type="http://schemas.openxmlformats.org/officeDocument/2006/relationships/image" Target="../media/image-2-17.png"/><Relationship Id="rId18" Type="http://schemas.openxmlformats.org/officeDocument/2006/relationships/image" Target="../media/image-2-18.svg"/><Relationship Id="rId19" Type="http://schemas.openxmlformats.org/officeDocument/2006/relationships/image" Target="../media/image-2-19.png"/><Relationship Id="rId20" Type="http://schemas.openxmlformats.org/officeDocument/2006/relationships/image" Target="../media/image-2-20.svg"/><Relationship Id="rId21" Type="http://schemas.openxmlformats.org/officeDocument/2006/relationships/slideLayout" Target="../slideLayouts/slideLayout1.xml"/><Relationship Id="rId2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image" Target="../media/image-3-9.png"/><Relationship Id="rId10" Type="http://schemas.openxmlformats.org/officeDocument/2006/relationships/image" Target="../media/image-3-10.svg"/><Relationship Id="rId11" Type="http://schemas.openxmlformats.org/officeDocument/2006/relationships/slideLayout" Target="../slideLayouts/slideLayout1.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image" Target="../media/image-8-9.png"/><Relationship Id="rId10" Type="http://schemas.openxmlformats.org/officeDocument/2006/relationships/image" Target="../media/image-8-10.svg"/><Relationship Id="rId11" Type="http://schemas.openxmlformats.org/officeDocument/2006/relationships/slideLayout" Target="../slideLayouts/slideLayout1.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sv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image" Target="../media/image-11-4.svg"/><Relationship Id="rId5" Type="http://schemas.openxmlformats.org/officeDocument/2006/relationships/image" Target="../media/image-11-5.png"/><Relationship Id="rId6" Type="http://schemas.openxmlformats.org/officeDocument/2006/relationships/image" Target="../media/image-11-6.svg"/><Relationship Id="rId7" Type="http://schemas.openxmlformats.org/officeDocument/2006/relationships/image" Target="../media/image-11-7.png"/><Relationship Id="rId8" Type="http://schemas.openxmlformats.org/officeDocument/2006/relationships/image" Target="../media/image-11-8.sv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image" Target="../media/image-12-4.svg"/><Relationship Id="rId5" Type="http://schemas.openxmlformats.org/officeDocument/2006/relationships/image" Target="../media/image-12-5.png"/><Relationship Id="rId6" Type="http://schemas.openxmlformats.org/officeDocument/2006/relationships/image" Target="../media/image-12-6.svg"/><Relationship Id="rId7" Type="http://schemas.openxmlformats.org/officeDocument/2006/relationships/image" Target="../media/image-12-7.png"/><Relationship Id="rId8" Type="http://schemas.openxmlformats.org/officeDocument/2006/relationships/image" Target="../media/image-12-8.svg"/><Relationship Id="rId9" Type="http://schemas.openxmlformats.org/officeDocument/2006/relationships/image" Target="../media/image-12-9.png"/><Relationship Id="rId10" Type="http://schemas.openxmlformats.org/officeDocument/2006/relationships/image" Target="../media/image-12-10.svg"/><Relationship Id="rId11" Type="http://schemas.openxmlformats.org/officeDocument/2006/relationships/slideLayout" Target="../slideLayouts/slideLayout1.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image" Target="../media/image-13-3.png"/><Relationship Id="rId4" Type="http://schemas.openxmlformats.org/officeDocument/2006/relationships/image" Target="../media/image-13-4.svg"/><Relationship Id="rId5" Type="http://schemas.openxmlformats.org/officeDocument/2006/relationships/image" Target="../media/image-13-5.png"/><Relationship Id="rId6" Type="http://schemas.openxmlformats.org/officeDocument/2006/relationships/image" Target="../media/image-13-6.svg"/><Relationship Id="rId7" Type="http://schemas.openxmlformats.org/officeDocument/2006/relationships/image" Target="../media/image-13-7.png"/><Relationship Id="rId8" Type="http://schemas.openxmlformats.org/officeDocument/2006/relationships/image" Target="../media/image-13-8.sv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image" Target="../media/image-14-3.png"/><Relationship Id="rId4" Type="http://schemas.openxmlformats.org/officeDocument/2006/relationships/image" Target="../media/image-14-4.svg"/><Relationship Id="rId5" Type="http://schemas.openxmlformats.org/officeDocument/2006/relationships/image" Target="../media/image-14-5.png"/><Relationship Id="rId6" Type="http://schemas.openxmlformats.org/officeDocument/2006/relationships/image" Target="../media/image-14-6.sv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image" Target="../media/image-15-3.png"/><Relationship Id="rId4" Type="http://schemas.openxmlformats.org/officeDocument/2006/relationships/image" Target="../media/image-15-4.svg"/><Relationship Id="rId5" Type="http://schemas.openxmlformats.org/officeDocument/2006/relationships/image" Target="../media/image-15-5.png"/><Relationship Id="rId6" Type="http://schemas.openxmlformats.org/officeDocument/2006/relationships/image" Target="../media/image-15-6.svg"/><Relationship Id="rId7" Type="http://schemas.openxmlformats.org/officeDocument/2006/relationships/image" Target="../media/image-15-7.png"/><Relationship Id="rId8" Type="http://schemas.openxmlformats.org/officeDocument/2006/relationships/image" Target="../media/image-15-8.svg"/><Relationship Id="rId9" Type="http://schemas.openxmlformats.org/officeDocument/2006/relationships/slideLayout" Target="../slideLayouts/slideLayout1.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image" Target="../media/image-17-3.png"/><Relationship Id="rId4" Type="http://schemas.openxmlformats.org/officeDocument/2006/relationships/image" Target="../media/image-17-4.svg"/><Relationship Id="rId5" Type="http://schemas.openxmlformats.org/officeDocument/2006/relationships/image" Target="../media/image-17-5.png"/><Relationship Id="rId6" Type="http://schemas.openxmlformats.org/officeDocument/2006/relationships/image" Target="../media/image-17-6.svg"/><Relationship Id="rId7" Type="http://schemas.openxmlformats.org/officeDocument/2006/relationships/image" Target="../media/image-17-7.png"/><Relationship Id="rId8" Type="http://schemas.openxmlformats.org/officeDocument/2006/relationships/image" Target="../media/image-17-8.svg"/><Relationship Id="rId9" Type="http://schemas.openxmlformats.org/officeDocument/2006/relationships/slideLayout" Target="../slideLayouts/slideLayout1.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svg"/><Relationship Id="rId3" Type="http://schemas.openxmlformats.org/officeDocument/2006/relationships/image" Target="../media/image-19-3.png"/><Relationship Id="rId4" Type="http://schemas.openxmlformats.org/officeDocument/2006/relationships/image" Target="../media/image-19-4.svg"/><Relationship Id="rId5" Type="http://schemas.openxmlformats.org/officeDocument/2006/relationships/image" Target="../media/image-19-5.png"/><Relationship Id="rId6" Type="http://schemas.openxmlformats.org/officeDocument/2006/relationships/image" Target="../media/image-19-6.svg"/><Relationship Id="rId7" Type="http://schemas.openxmlformats.org/officeDocument/2006/relationships/image" Target="../media/image-19-7.png"/><Relationship Id="rId8" Type="http://schemas.openxmlformats.org/officeDocument/2006/relationships/image" Target="../media/image-19-8.svg"/><Relationship Id="rId9" Type="http://schemas.openxmlformats.org/officeDocument/2006/relationships/slideLayout" Target="../slideLayouts/slideLayout1.xml"/><Relationship Id="rId1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sv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svg"/><Relationship Id="rId3" Type="http://schemas.openxmlformats.org/officeDocument/2006/relationships/image" Target="../media/image-21-3.png"/><Relationship Id="rId4" Type="http://schemas.openxmlformats.org/officeDocument/2006/relationships/image" Target="../media/image-21-4.svg"/><Relationship Id="rId5" Type="http://schemas.openxmlformats.org/officeDocument/2006/relationships/image" Target="../media/image-21-5.png"/><Relationship Id="rId6" Type="http://schemas.openxmlformats.org/officeDocument/2006/relationships/image" Target="../media/image-21-6.svg"/><Relationship Id="rId7" Type="http://schemas.openxmlformats.org/officeDocument/2006/relationships/image" Target="../media/image-21-7.png"/><Relationship Id="rId8" Type="http://schemas.openxmlformats.org/officeDocument/2006/relationships/image" Target="../media/image-21-8.svg"/><Relationship Id="rId9" Type="http://schemas.openxmlformats.org/officeDocument/2006/relationships/slideLayout" Target="../slideLayouts/slideLayout1.xml"/><Relationship Id="rId1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sv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svg"/><Relationship Id="rId3" Type="http://schemas.openxmlformats.org/officeDocument/2006/relationships/image" Target="../media/image-23-3.png"/><Relationship Id="rId4" Type="http://schemas.openxmlformats.org/officeDocument/2006/relationships/image" Target="../media/image-23-4.svg"/><Relationship Id="rId5" Type="http://schemas.openxmlformats.org/officeDocument/2006/relationships/image" Target="../media/image-23-5.png"/><Relationship Id="rId6" Type="http://schemas.openxmlformats.org/officeDocument/2006/relationships/image" Target="../media/image-23-6.svg"/><Relationship Id="rId7" Type="http://schemas.openxmlformats.org/officeDocument/2006/relationships/image" Target="../media/image-23-7.png"/><Relationship Id="rId8" Type="http://schemas.openxmlformats.org/officeDocument/2006/relationships/image" Target="../media/image-23-8.svg"/><Relationship Id="rId9" Type="http://schemas.openxmlformats.org/officeDocument/2006/relationships/slideLayout" Target="../slideLayouts/slideLayout1.xml"/><Relationship Id="rId10"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sv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sv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image" Target="../media/image-26-3.png"/><Relationship Id="rId4" Type="http://schemas.openxmlformats.org/officeDocument/2006/relationships/image" Target="../media/image-26-4.svg"/><Relationship Id="rId5" Type="http://schemas.openxmlformats.org/officeDocument/2006/relationships/image" Target="../media/image-26-5.png"/><Relationship Id="rId6" Type="http://schemas.openxmlformats.org/officeDocument/2006/relationships/image" Target="../media/image-26-6.svg"/><Relationship Id="rId7" Type="http://schemas.openxmlformats.org/officeDocument/2006/relationships/image" Target="../media/image-26-7.png"/><Relationship Id="rId8" Type="http://schemas.openxmlformats.org/officeDocument/2006/relationships/image" Target="../media/image-26-8.svg"/><Relationship Id="rId9" Type="http://schemas.openxmlformats.org/officeDocument/2006/relationships/slideLayout" Target="../slideLayouts/slideLayout1.xml"/><Relationship Id="rId10"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sv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svg"/><Relationship Id="rId3" Type="http://schemas.openxmlformats.org/officeDocument/2006/relationships/image" Target="../media/image-28-3.png"/><Relationship Id="rId4" Type="http://schemas.openxmlformats.org/officeDocument/2006/relationships/image" Target="../media/image-28-4.svg"/><Relationship Id="rId5" Type="http://schemas.openxmlformats.org/officeDocument/2006/relationships/image" Target="../media/image-28-5.png"/><Relationship Id="rId6" Type="http://schemas.openxmlformats.org/officeDocument/2006/relationships/image" Target="../media/image-28-6.svg"/><Relationship Id="rId7" Type="http://schemas.openxmlformats.org/officeDocument/2006/relationships/image" Target="../media/image-28-7.png"/><Relationship Id="rId8" Type="http://schemas.openxmlformats.org/officeDocument/2006/relationships/image" Target="../media/image-28-8.svg"/><Relationship Id="rId9" Type="http://schemas.openxmlformats.org/officeDocument/2006/relationships/slideLayout" Target="../slideLayouts/slideLayout1.xml"/><Relationship Id="rId10"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sv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svg"/><Relationship Id="rId3" Type="http://schemas.openxmlformats.org/officeDocument/2006/relationships/image" Target="../media/image-30-3.png"/><Relationship Id="rId4" Type="http://schemas.openxmlformats.org/officeDocument/2006/relationships/image" Target="../media/image-30-4.svg"/><Relationship Id="rId5" Type="http://schemas.openxmlformats.org/officeDocument/2006/relationships/image" Target="../media/image-30-5.png"/><Relationship Id="rId6" Type="http://schemas.openxmlformats.org/officeDocument/2006/relationships/image" Target="../media/image-30-6.svg"/><Relationship Id="rId7" Type="http://schemas.openxmlformats.org/officeDocument/2006/relationships/image" Target="../media/image-30-7.png"/><Relationship Id="rId8" Type="http://schemas.openxmlformats.org/officeDocument/2006/relationships/image" Target="../media/image-30-8.svg"/><Relationship Id="rId9" Type="http://schemas.openxmlformats.org/officeDocument/2006/relationships/image" Target="../media/image-30-9.png"/><Relationship Id="rId10" Type="http://schemas.openxmlformats.org/officeDocument/2006/relationships/image" Target="../media/image-30-10.svg"/><Relationship Id="rId11" Type="http://schemas.openxmlformats.org/officeDocument/2006/relationships/image" Target="../media/image-30-11.png"/><Relationship Id="rId12" Type="http://schemas.openxmlformats.org/officeDocument/2006/relationships/image" Target="../media/image-30-12.svg"/><Relationship Id="rId13" Type="http://schemas.openxmlformats.org/officeDocument/2006/relationships/image" Target="../media/image-30-13.png"/><Relationship Id="rId14" Type="http://schemas.openxmlformats.org/officeDocument/2006/relationships/image" Target="../media/image-30-14.svg"/><Relationship Id="rId15" Type="http://schemas.openxmlformats.org/officeDocument/2006/relationships/image" Target="../media/image-30-15.png"/><Relationship Id="rId16" Type="http://schemas.openxmlformats.org/officeDocument/2006/relationships/image" Target="../media/image-30-16.svg"/><Relationship Id="rId17" Type="http://schemas.openxmlformats.org/officeDocument/2006/relationships/slideLayout" Target="../slideLayouts/slideLayout1.xml"/><Relationship Id="rId1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svg"/><Relationship Id="rId3" Type="http://schemas.openxmlformats.org/officeDocument/2006/relationships/image" Target="../media/image-31-3.png"/><Relationship Id="rId4" Type="http://schemas.openxmlformats.org/officeDocument/2006/relationships/image" Target="../media/image-31-4.sv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svg"/><Relationship Id="rId3" Type="http://schemas.openxmlformats.org/officeDocument/2006/relationships/image" Target="../media/image-32-3.png"/><Relationship Id="rId4" Type="http://schemas.openxmlformats.org/officeDocument/2006/relationships/image" Target="../media/image-32-4.svg"/><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sv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sv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4"/>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3D3D3D"/>
          </a:solidFill>
          <a:ln/>
        </p:spPr>
      </p:sp>
      <p:sp>
        <p:nvSpPr>
          <p:cNvPr id="3" name="Shape 1"/>
          <p:cNvSpPr/>
          <p:nvPr/>
        </p:nvSpPr>
        <p:spPr>
          <a:xfrm>
            <a:off x="502920" y="1234440"/>
            <a:ext cx="2651760" cy="457200"/>
          </a:xfrm>
          <a:prstGeom prst="roundRect">
            <a:avLst>
              <a:gd name="adj" fmla="val 50000"/>
            </a:avLst>
          </a:prstGeom>
          <a:solidFill>
            <a:srgbClr val="3D3D3D"/>
          </a:solidFill>
          <a:ln/>
        </p:spPr>
      </p:sp>
      <p:sp>
        <p:nvSpPr>
          <p:cNvPr id="4" name="Text 2"/>
          <p:cNvSpPr/>
          <p:nvPr/>
        </p:nvSpPr>
        <p:spPr>
          <a:xfrm>
            <a:off x="502920" y="1234440"/>
            <a:ext cx="2651760" cy="457200"/>
          </a:xfrm>
          <a:prstGeom prst="rect">
            <a:avLst/>
          </a:prstGeom>
          <a:noFill/>
          <a:ln/>
        </p:spPr>
        <p:txBody>
          <a:bodyPr wrap="square" rtlCol="0" anchor="ctr"/>
          <a:lstStyle/>
          <a:p>
            <a:pPr algn="ctr" indent="0" marL="0">
              <a:buNone/>
            </a:pPr>
            <a:r>
              <a:rPr lang="en-US" sz="1050" b="1" spc="100" kern="0" dirty="0">
                <a:solidFill>
                  <a:srgbClr val="FFFFFF"/>
                </a:solidFill>
                <a:latin typeface="Aptos" pitchFamily="34" charset="0"/>
                <a:ea typeface="Aptos" pitchFamily="34" charset="-122"/>
                <a:cs typeface="Aptos" pitchFamily="34" charset="-120"/>
              </a:rPr>
              <a:t>UNIT STANDARD 8252 · NQF 5 · 5 CREDITS</a:t>
            </a:r>
            <a:endParaRPr lang="en-US" sz="1050" dirty="0"/>
          </a:p>
        </p:txBody>
      </p:sp>
      <p:sp>
        <p:nvSpPr>
          <p:cNvPr id="5" name="Text 3"/>
          <p:cNvSpPr/>
          <p:nvPr/>
        </p:nvSpPr>
        <p:spPr>
          <a:xfrm>
            <a:off x="502920" y="1874520"/>
            <a:ext cx="11183112" cy="1463040"/>
          </a:xfrm>
          <a:prstGeom prst="rect">
            <a:avLst/>
          </a:prstGeom>
          <a:noFill/>
          <a:ln/>
        </p:spPr>
        <p:txBody>
          <a:bodyPr wrap="square" rtlCol="0" anchor="ctr"/>
          <a:lstStyle/>
          <a:p>
            <a:pPr indent="0" marL="0">
              <a:buNone/>
            </a:pPr>
            <a:r>
              <a:rPr lang="en-US" sz="4400" b="1" dirty="0">
                <a:solidFill>
                  <a:srgbClr val="FFFFFF"/>
                </a:solidFill>
                <a:latin typeface="Aptos Display" pitchFamily="34" charset="0"/>
                <a:ea typeface="Aptos Display" pitchFamily="34" charset="-122"/>
                <a:cs typeface="Aptos Display" pitchFamily="34" charset="-120"/>
              </a:rPr>
              <a:t>Compile and Produce Reports</a:t>
            </a:r>
            <a:endParaRPr lang="en-US" sz="4400" dirty="0"/>
          </a:p>
        </p:txBody>
      </p:sp>
      <p:sp>
        <p:nvSpPr>
          <p:cNvPr id="6" name="Text 4"/>
          <p:cNvSpPr/>
          <p:nvPr/>
        </p:nvSpPr>
        <p:spPr>
          <a:xfrm>
            <a:off x="502920" y="3200400"/>
            <a:ext cx="8686800" cy="548640"/>
          </a:xfrm>
          <a:prstGeom prst="rect">
            <a:avLst/>
          </a:prstGeom>
          <a:noFill/>
          <a:ln/>
        </p:spPr>
        <p:txBody>
          <a:bodyPr wrap="square" rtlCol="0" anchor="ctr"/>
          <a:lstStyle/>
          <a:p>
            <a:pPr indent="0" marL="0">
              <a:buNone/>
            </a:pPr>
            <a:r>
              <a:rPr lang="en-US" sz="1700" dirty="0">
                <a:solidFill>
                  <a:srgbClr val="CFCFCF"/>
                </a:solidFill>
                <a:latin typeface="Aptos" pitchFamily="34" charset="0"/>
                <a:ea typeface="Aptos" pitchFamily="34" charset="-122"/>
                <a:cs typeface="Aptos" pitchFamily="34" charset="-120"/>
              </a:rPr>
              <a:t>Professional business-report writing for IT Systems Support — facilitator training deck</a:t>
            </a:r>
            <a:endParaRPr lang="en-US" sz="17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692640" y="1371600"/>
            <a:ext cx="1828800" cy="1828800"/>
          </a:xfrm>
          <a:prstGeom prst="rect">
            <a:avLst/>
          </a:prstGeom>
        </p:spPr>
      </p:pic>
      <p:sp>
        <p:nvSpPr>
          <p:cNvPr id="8" name="Shape 5"/>
          <p:cNvSpPr/>
          <p:nvPr/>
        </p:nvSpPr>
        <p:spPr>
          <a:xfrm>
            <a:off x="502920" y="4160520"/>
            <a:ext cx="11183112" cy="0"/>
          </a:xfrm>
          <a:prstGeom prst="line">
            <a:avLst/>
          </a:prstGeom>
          <a:noFill/>
          <a:ln w="12700">
            <a:solidFill>
              <a:srgbClr val="3F3F3F"/>
            </a:solidFill>
            <a:prstDash val="solid"/>
          </a:ln>
        </p:spPr>
      </p:sp>
      <p:sp>
        <p:nvSpPr>
          <p:cNvPr id="9" name="Text 6"/>
          <p:cNvSpPr/>
          <p:nvPr/>
        </p:nvSpPr>
        <p:spPr>
          <a:xfrm>
            <a:off x="502920" y="4389120"/>
            <a:ext cx="2612898" cy="274320"/>
          </a:xfrm>
          <a:prstGeom prst="rect">
            <a:avLst/>
          </a:prstGeom>
          <a:noFill/>
          <a:ln/>
        </p:spPr>
        <p:txBody>
          <a:bodyPr wrap="square" rtlCol="0" anchor="ctr"/>
          <a:lstStyle/>
          <a:p>
            <a:pPr indent="0" marL="0">
              <a:buNone/>
            </a:pPr>
            <a:r>
              <a:rPr lang="en-US" sz="1000" b="1" spc="200" kern="0" dirty="0">
                <a:solidFill>
                  <a:srgbClr val="C9C9C9"/>
                </a:solidFill>
                <a:latin typeface="Aptos" pitchFamily="34" charset="0"/>
                <a:ea typeface="Aptos" pitchFamily="34" charset="-122"/>
                <a:cs typeface="Aptos" pitchFamily="34" charset="-120"/>
              </a:rPr>
              <a:t>FACILITATOR</a:t>
            </a:r>
            <a:endParaRPr lang="en-US" sz="1000" dirty="0"/>
          </a:p>
        </p:txBody>
      </p:sp>
      <p:sp>
        <p:nvSpPr>
          <p:cNvPr id="10" name="Text 7"/>
          <p:cNvSpPr/>
          <p:nvPr/>
        </p:nvSpPr>
        <p:spPr>
          <a:xfrm>
            <a:off x="502920" y="4663440"/>
            <a:ext cx="2612898" cy="320040"/>
          </a:xfrm>
          <a:prstGeom prst="rect">
            <a:avLst/>
          </a:prstGeom>
          <a:noFill/>
          <a:ln/>
        </p:spPr>
        <p:txBody>
          <a:bodyPr wrap="square" rtlCol="0" anchor="ctr"/>
          <a:lstStyle/>
          <a:p>
            <a:pPr indent="0" marL="0">
              <a:buNone/>
            </a:pPr>
            <a:r>
              <a:rPr lang="en-US" sz="1350" dirty="0">
                <a:solidFill>
                  <a:srgbClr val="FFFFFF"/>
                </a:solidFill>
                <a:latin typeface="Aptos" pitchFamily="34" charset="0"/>
                <a:ea typeface="Aptos" pitchFamily="34" charset="-122"/>
                <a:cs typeface="Aptos" pitchFamily="34" charset="-120"/>
              </a:rPr>
              <a:t>Andre Snell</a:t>
            </a:r>
            <a:endParaRPr lang="en-US" sz="1350" dirty="0"/>
          </a:p>
        </p:txBody>
      </p:sp>
      <p:sp>
        <p:nvSpPr>
          <p:cNvPr id="11" name="Text 8"/>
          <p:cNvSpPr/>
          <p:nvPr/>
        </p:nvSpPr>
        <p:spPr>
          <a:xfrm>
            <a:off x="3298698" y="4389120"/>
            <a:ext cx="2612898" cy="274320"/>
          </a:xfrm>
          <a:prstGeom prst="rect">
            <a:avLst/>
          </a:prstGeom>
          <a:noFill/>
          <a:ln/>
        </p:spPr>
        <p:txBody>
          <a:bodyPr wrap="square" rtlCol="0" anchor="ctr"/>
          <a:lstStyle/>
          <a:p>
            <a:pPr indent="0" marL="0">
              <a:buNone/>
            </a:pPr>
            <a:r>
              <a:rPr lang="en-US" sz="1000" b="1" spc="200" kern="0" dirty="0">
                <a:solidFill>
                  <a:srgbClr val="C9C9C9"/>
                </a:solidFill>
                <a:latin typeface="Aptos" pitchFamily="34" charset="0"/>
                <a:ea typeface="Aptos" pitchFamily="34" charset="-122"/>
                <a:cs typeface="Aptos" pitchFamily="34" charset="-120"/>
              </a:rPr>
              <a:t>DATE</a:t>
            </a:r>
            <a:endParaRPr lang="en-US" sz="1000" dirty="0"/>
          </a:p>
        </p:txBody>
      </p:sp>
      <p:sp>
        <p:nvSpPr>
          <p:cNvPr id="12" name="Text 9"/>
          <p:cNvSpPr/>
          <p:nvPr/>
        </p:nvSpPr>
        <p:spPr>
          <a:xfrm>
            <a:off x="3298698" y="4663440"/>
            <a:ext cx="2612898" cy="320040"/>
          </a:xfrm>
          <a:prstGeom prst="rect">
            <a:avLst/>
          </a:prstGeom>
          <a:noFill/>
          <a:ln/>
        </p:spPr>
        <p:txBody>
          <a:bodyPr wrap="square" rtlCol="0" anchor="ctr"/>
          <a:lstStyle/>
          <a:p>
            <a:pPr indent="0" marL="0">
              <a:buNone/>
            </a:pPr>
            <a:r>
              <a:rPr lang="en-US" sz="1350" dirty="0">
                <a:solidFill>
                  <a:srgbClr val="FFFFFF"/>
                </a:solidFill>
                <a:latin typeface="Aptos" pitchFamily="34" charset="0"/>
                <a:ea typeface="Aptos" pitchFamily="34" charset="-122"/>
                <a:cs typeface="Aptos" pitchFamily="34" charset="-120"/>
              </a:rPr>
              <a:t>Friday, 17 July 2026</a:t>
            </a:r>
            <a:endParaRPr lang="en-US" sz="1350" dirty="0"/>
          </a:p>
        </p:txBody>
      </p:sp>
      <p:sp>
        <p:nvSpPr>
          <p:cNvPr id="13" name="Text 10"/>
          <p:cNvSpPr/>
          <p:nvPr/>
        </p:nvSpPr>
        <p:spPr>
          <a:xfrm>
            <a:off x="6094476" y="4389120"/>
            <a:ext cx="2612898" cy="274320"/>
          </a:xfrm>
          <a:prstGeom prst="rect">
            <a:avLst/>
          </a:prstGeom>
          <a:noFill/>
          <a:ln/>
        </p:spPr>
        <p:txBody>
          <a:bodyPr wrap="square" rtlCol="0" anchor="ctr"/>
          <a:lstStyle/>
          <a:p>
            <a:pPr indent="0" marL="0">
              <a:buNone/>
            </a:pPr>
            <a:r>
              <a:rPr lang="en-US" sz="1000" b="1" spc="200" kern="0" dirty="0">
                <a:solidFill>
                  <a:srgbClr val="C9C9C9"/>
                </a:solidFill>
                <a:latin typeface="Aptos" pitchFamily="34" charset="0"/>
                <a:ea typeface="Aptos" pitchFamily="34" charset="-122"/>
                <a:cs typeface="Aptos" pitchFamily="34" charset="-120"/>
              </a:rPr>
              <a:t>TIME</a:t>
            </a:r>
            <a:endParaRPr lang="en-US" sz="1000" dirty="0"/>
          </a:p>
        </p:txBody>
      </p:sp>
      <p:sp>
        <p:nvSpPr>
          <p:cNvPr id="14" name="Text 11"/>
          <p:cNvSpPr/>
          <p:nvPr/>
        </p:nvSpPr>
        <p:spPr>
          <a:xfrm>
            <a:off x="6094476" y="4663440"/>
            <a:ext cx="2612898" cy="320040"/>
          </a:xfrm>
          <a:prstGeom prst="rect">
            <a:avLst/>
          </a:prstGeom>
          <a:noFill/>
          <a:ln/>
        </p:spPr>
        <p:txBody>
          <a:bodyPr wrap="square" rtlCol="0" anchor="ctr"/>
          <a:lstStyle/>
          <a:p>
            <a:pPr indent="0" marL="0">
              <a:buNone/>
            </a:pPr>
            <a:r>
              <a:rPr lang="en-US" sz="1350" dirty="0">
                <a:solidFill>
                  <a:srgbClr val="FFFFFF"/>
                </a:solidFill>
                <a:latin typeface="Aptos" pitchFamily="34" charset="0"/>
                <a:ea typeface="Aptos" pitchFamily="34" charset="-122"/>
                <a:cs typeface="Aptos" pitchFamily="34" charset="-120"/>
              </a:rPr>
              <a:t>09:00 – 14:00</a:t>
            </a:r>
            <a:endParaRPr lang="en-US" sz="1350" dirty="0"/>
          </a:p>
        </p:txBody>
      </p:sp>
      <p:sp>
        <p:nvSpPr>
          <p:cNvPr id="15" name="Text 12"/>
          <p:cNvSpPr/>
          <p:nvPr/>
        </p:nvSpPr>
        <p:spPr>
          <a:xfrm>
            <a:off x="8890254" y="4389120"/>
            <a:ext cx="2612898" cy="274320"/>
          </a:xfrm>
          <a:prstGeom prst="rect">
            <a:avLst/>
          </a:prstGeom>
          <a:noFill/>
          <a:ln/>
        </p:spPr>
        <p:txBody>
          <a:bodyPr wrap="square" rtlCol="0" anchor="ctr"/>
          <a:lstStyle/>
          <a:p>
            <a:pPr indent="0" marL="0">
              <a:buNone/>
            </a:pPr>
            <a:r>
              <a:rPr lang="en-US" sz="1000" b="1" spc="200" kern="0" dirty="0">
                <a:solidFill>
                  <a:srgbClr val="C9C9C9"/>
                </a:solidFill>
                <a:latin typeface="Aptos" pitchFamily="34" charset="0"/>
                <a:ea typeface="Aptos" pitchFamily="34" charset="-122"/>
                <a:cs typeface="Aptos" pitchFamily="34" charset="-120"/>
              </a:rPr>
              <a:t>VENUE</a:t>
            </a:r>
            <a:endParaRPr lang="en-US" sz="1000" dirty="0"/>
          </a:p>
        </p:txBody>
      </p:sp>
      <p:sp>
        <p:nvSpPr>
          <p:cNvPr id="16" name="Text 13"/>
          <p:cNvSpPr/>
          <p:nvPr/>
        </p:nvSpPr>
        <p:spPr>
          <a:xfrm>
            <a:off x="8890254" y="4663440"/>
            <a:ext cx="2612898" cy="320040"/>
          </a:xfrm>
          <a:prstGeom prst="rect">
            <a:avLst/>
          </a:prstGeom>
          <a:noFill/>
          <a:ln/>
        </p:spPr>
        <p:txBody>
          <a:bodyPr wrap="square" rtlCol="0" anchor="ctr"/>
          <a:lstStyle/>
          <a:p>
            <a:pPr indent="0" marL="0">
              <a:buNone/>
            </a:pPr>
            <a:r>
              <a:rPr lang="en-US" sz="1350" dirty="0">
                <a:solidFill>
                  <a:srgbClr val="FFFFFF"/>
                </a:solidFill>
                <a:latin typeface="Aptos" pitchFamily="34" charset="0"/>
                <a:ea typeface="Aptos" pitchFamily="34" charset="-122"/>
                <a:cs typeface="Aptos" pitchFamily="34" charset="-120"/>
              </a:rPr>
              <a:t>Investec, Sandton, Johannesburg</a:t>
            </a:r>
            <a:endParaRPr lang="en-US" sz="1350" dirty="0"/>
          </a:p>
        </p:txBody>
      </p:sp>
      <p:sp>
        <p:nvSpPr>
          <p:cNvPr id="17" name="Text 14"/>
          <p:cNvSpPr/>
          <p:nvPr/>
        </p:nvSpPr>
        <p:spPr>
          <a:xfrm>
            <a:off x="502920" y="6355080"/>
            <a:ext cx="11183112" cy="320040"/>
          </a:xfrm>
          <a:prstGeom prst="rect">
            <a:avLst/>
          </a:prstGeom>
          <a:noFill/>
          <a:ln/>
        </p:spPr>
        <p:txBody>
          <a:bodyPr wrap="square" rtlCol="0" anchor="ctr"/>
          <a:lstStyle/>
          <a:p>
            <a:pPr indent="0" marL="0">
              <a:buNone/>
            </a:pPr>
            <a:r>
              <a:rPr lang="en-US" sz="1050" dirty="0">
                <a:solidFill>
                  <a:srgbClr val="8F8F8F"/>
                </a:solidFill>
                <a:latin typeface="Aptos" pitchFamily="34" charset="0"/>
                <a:ea typeface="Aptos" pitchFamily="34" charset="-122"/>
                <a:cs typeface="Aptos" pitchFamily="34" charset="-120"/>
              </a:rPr>
              <a:t>Investec · Corporate Banking Technology · IT Systems Support NQF Level 5 (SAQA ID 48573)</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2</a:t>
            </a:r>
            <a:endParaRPr lang="en-US" sz="900" dirty="0"/>
          </a:p>
        </p:txBody>
      </p:sp>
      <p:sp>
        <p:nvSpPr>
          <p:cNvPr id="4" name="Shape 2"/>
          <p:cNvSpPr/>
          <p:nvPr/>
        </p:nvSpPr>
        <p:spPr>
          <a:xfrm>
            <a:off x="0" y="0"/>
            <a:ext cx="12188952" cy="82296"/>
          </a:xfrm>
          <a:prstGeom prst="rect">
            <a:avLst/>
          </a:prstGeom>
          <a:solidFill>
            <a:srgbClr val="3D3D3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3D3D3D"/>
                </a:solidFill>
                <a:latin typeface="Aptos" pitchFamily="34" charset="0"/>
                <a:ea typeface="Aptos" pitchFamily="34" charset="-122"/>
                <a:cs typeface="Aptos" pitchFamily="34" charset="-120"/>
              </a:rPr>
              <a:t>COURSE INTRODUCTION</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141414"/>
                </a:solidFill>
                <a:latin typeface="Aptos Display" pitchFamily="34" charset="0"/>
                <a:ea typeface="Aptos Display" pitchFamily="34" charset="-122"/>
                <a:cs typeface="Aptos Display" pitchFamily="34" charset="-120"/>
              </a:rPr>
              <a:t>What you will be able to do</a:t>
            </a:r>
            <a:endParaRPr lang="en-US" sz="2600" dirty="0"/>
          </a:p>
        </p:txBody>
      </p:sp>
      <p:sp>
        <p:nvSpPr>
          <p:cNvPr id="7" name="Shape 5"/>
          <p:cNvSpPr/>
          <p:nvPr/>
        </p:nvSpPr>
        <p:spPr>
          <a:xfrm>
            <a:off x="502920" y="1298448"/>
            <a:ext cx="11183112" cy="566928"/>
          </a:xfrm>
          <a:prstGeom prst="roundRect">
            <a:avLst>
              <a:gd name="adj" fmla="val 11290"/>
            </a:avLst>
          </a:prstGeom>
          <a:solidFill>
            <a:srgbClr val="F2F2F2"/>
          </a:solidFill>
          <a:ln w="9525">
            <a:solidFill>
              <a:srgbClr val="DBDBDB"/>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1444752"/>
            <a:ext cx="274320" cy="274320"/>
          </a:xfrm>
          <a:prstGeom prst="rect">
            <a:avLst/>
          </a:prstGeom>
        </p:spPr>
      </p:pic>
      <p:sp>
        <p:nvSpPr>
          <p:cNvPr id="9" name="Text 6"/>
          <p:cNvSpPr/>
          <p:nvPr/>
        </p:nvSpPr>
        <p:spPr>
          <a:xfrm>
            <a:off x="1069848" y="1298448"/>
            <a:ext cx="10378440" cy="566928"/>
          </a:xfrm>
          <a:prstGeom prst="rect">
            <a:avLst/>
          </a:prstGeom>
          <a:noFill/>
          <a:ln/>
        </p:spPr>
        <p:txBody>
          <a:bodyPr wrap="square" rtlCol="0" anchor="ctr"/>
          <a:lstStyle/>
          <a:p>
            <a:pPr indent="0" marL="0">
              <a:buNone/>
            </a:pPr>
            <a:r>
              <a:rPr lang="en-US" sz="1050" b="1" spc="150" kern="0" dirty="0">
                <a:solidFill>
                  <a:srgbClr val="3D3D3D"/>
                </a:solidFill>
                <a:latin typeface="Aptos" pitchFamily="34" charset="0"/>
                <a:ea typeface="Aptos" pitchFamily="34" charset="-122"/>
                <a:cs typeface="Aptos" pitchFamily="34" charset="-120"/>
              </a:rPr>
              <a:t>LEARNING OBJECTIVE   </a:t>
            </a:r>
            <a:pPr indent="0" marL="0">
              <a:buNone/>
            </a:pPr>
            <a:r>
              <a:rPr lang="en-US" sz="1300" dirty="0">
                <a:solidFill>
                  <a:srgbClr val="141414"/>
                </a:solidFill>
                <a:latin typeface="Aptos" pitchFamily="34" charset="0"/>
                <a:ea typeface="Aptos" pitchFamily="34" charset="-122"/>
                <a:cs typeface="Aptos" pitchFamily="34" charset="-120"/>
              </a:rPr>
              <a:t>By the end of Unit Standard 8252 you can plan, compile and produce professional business reports that support decision-making.</a:t>
            </a:r>
            <a:endParaRPr lang="en-US" sz="1050" dirty="0"/>
          </a:p>
        </p:txBody>
      </p:sp>
      <p:sp>
        <p:nvSpPr>
          <p:cNvPr id="10" name="Shape 7"/>
          <p:cNvSpPr/>
          <p:nvPr/>
        </p:nvSpPr>
        <p:spPr>
          <a:xfrm>
            <a:off x="502920" y="2148840"/>
            <a:ext cx="2644902" cy="1417320"/>
          </a:xfrm>
          <a:prstGeom prst="roundRect">
            <a:avLst>
              <a:gd name="adj" fmla="val 5806"/>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512" y="2304288"/>
            <a:ext cx="310896" cy="310896"/>
          </a:xfrm>
          <a:prstGeom prst="rect">
            <a:avLst/>
          </a:prstGeom>
        </p:spPr>
      </p:pic>
      <p:sp>
        <p:nvSpPr>
          <p:cNvPr id="12" name="Text 8"/>
          <p:cNvSpPr/>
          <p:nvPr/>
        </p:nvSpPr>
        <p:spPr>
          <a:xfrm>
            <a:off x="1069848" y="2267712"/>
            <a:ext cx="1913382" cy="384048"/>
          </a:xfrm>
          <a:prstGeom prst="rect">
            <a:avLst/>
          </a:prstGeom>
          <a:noFill/>
          <a:ln/>
        </p:spPr>
        <p:txBody>
          <a:bodyPr wrap="square" rtlCol="0" anchor="ctr"/>
          <a:lstStyle/>
          <a:p>
            <a:pPr indent="0" marL="0">
              <a:buNone/>
            </a:pPr>
            <a:r>
              <a:rPr lang="en-US" sz="1350" b="1" dirty="0">
                <a:solidFill>
                  <a:srgbClr val="141414"/>
                </a:solidFill>
                <a:latin typeface="Aptos Display" pitchFamily="34" charset="0"/>
                <a:ea typeface="Aptos Display" pitchFamily="34" charset="-122"/>
                <a:cs typeface="Aptos Display" pitchFamily="34" charset="-120"/>
              </a:rPr>
              <a:t>Purpose</a:t>
            </a:r>
            <a:endParaRPr lang="en-US" sz="1350" dirty="0"/>
          </a:p>
        </p:txBody>
      </p:sp>
      <p:sp>
        <p:nvSpPr>
          <p:cNvPr id="13" name="Text 9"/>
          <p:cNvSpPr/>
          <p:nvPr/>
        </p:nvSpPr>
        <p:spPr>
          <a:xfrm>
            <a:off x="667512" y="2697480"/>
            <a:ext cx="2315718" cy="75895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Understand why each report is written and who it is for.</a:t>
            </a:r>
            <a:endParaRPr lang="en-US" sz="1050" dirty="0"/>
          </a:p>
        </p:txBody>
      </p:sp>
      <p:sp>
        <p:nvSpPr>
          <p:cNvPr id="14" name="Shape 10"/>
          <p:cNvSpPr/>
          <p:nvPr/>
        </p:nvSpPr>
        <p:spPr>
          <a:xfrm>
            <a:off x="3348990" y="2148840"/>
            <a:ext cx="2644902" cy="1417320"/>
          </a:xfrm>
          <a:prstGeom prst="roundRect">
            <a:avLst>
              <a:gd name="adj" fmla="val 5806"/>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513582" y="2304288"/>
            <a:ext cx="310896" cy="310896"/>
          </a:xfrm>
          <a:prstGeom prst="rect">
            <a:avLst/>
          </a:prstGeom>
        </p:spPr>
      </p:pic>
      <p:sp>
        <p:nvSpPr>
          <p:cNvPr id="16" name="Text 11"/>
          <p:cNvSpPr/>
          <p:nvPr/>
        </p:nvSpPr>
        <p:spPr>
          <a:xfrm>
            <a:off x="3915918" y="2267712"/>
            <a:ext cx="1913382" cy="384048"/>
          </a:xfrm>
          <a:prstGeom prst="rect">
            <a:avLst/>
          </a:prstGeom>
          <a:noFill/>
          <a:ln/>
        </p:spPr>
        <p:txBody>
          <a:bodyPr wrap="square" rtlCol="0" anchor="ctr"/>
          <a:lstStyle/>
          <a:p>
            <a:pPr indent="0" marL="0">
              <a:buNone/>
            </a:pPr>
            <a:r>
              <a:rPr lang="en-US" sz="1350" b="1" dirty="0">
                <a:solidFill>
                  <a:srgbClr val="141414"/>
                </a:solidFill>
                <a:latin typeface="Aptos Display" pitchFamily="34" charset="0"/>
                <a:ea typeface="Aptos Display" pitchFamily="34" charset="-122"/>
                <a:cs typeface="Aptos Display" pitchFamily="34" charset="-120"/>
              </a:rPr>
              <a:t>Sources</a:t>
            </a:r>
            <a:endParaRPr lang="en-US" sz="1350" dirty="0"/>
          </a:p>
        </p:txBody>
      </p:sp>
      <p:sp>
        <p:nvSpPr>
          <p:cNvPr id="17" name="Text 12"/>
          <p:cNvSpPr/>
          <p:nvPr/>
        </p:nvSpPr>
        <p:spPr>
          <a:xfrm>
            <a:off x="3513582" y="2697480"/>
            <a:ext cx="2315718" cy="75895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Gather information from reliable business systems and records.</a:t>
            </a:r>
            <a:endParaRPr lang="en-US" sz="1050" dirty="0"/>
          </a:p>
        </p:txBody>
      </p:sp>
      <p:sp>
        <p:nvSpPr>
          <p:cNvPr id="18" name="Shape 13"/>
          <p:cNvSpPr/>
          <p:nvPr/>
        </p:nvSpPr>
        <p:spPr>
          <a:xfrm>
            <a:off x="6195060" y="2148840"/>
            <a:ext cx="2644902" cy="1417320"/>
          </a:xfrm>
          <a:prstGeom prst="roundRect">
            <a:avLst>
              <a:gd name="adj" fmla="val 5806"/>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pic>
        <p:nvPicPr>
          <p:cNvPr id="1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59652" y="2304288"/>
            <a:ext cx="310896" cy="310896"/>
          </a:xfrm>
          <a:prstGeom prst="rect">
            <a:avLst/>
          </a:prstGeom>
        </p:spPr>
      </p:pic>
      <p:sp>
        <p:nvSpPr>
          <p:cNvPr id="20" name="Text 14"/>
          <p:cNvSpPr/>
          <p:nvPr/>
        </p:nvSpPr>
        <p:spPr>
          <a:xfrm>
            <a:off x="6761988" y="2267712"/>
            <a:ext cx="1913382" cy="384048"/>
          </a:xfrm>
          <a:prstGeom prst="rect">
            <a:avLst/>
          </a:prstGeom>
          <a:noFill/>
          <a:ln/>
        </p:spPr>
        <p:txBody>
          <a:bodyPr wrap="square" rtlCol="0" anchor="ctr"/>
          <a:lstStyle/>
          <a:p>
            <a:pPr indent="0" marL="0">
              <a:buNone/>
            </a:pPr>
            <a:r>
              <a:rPr lang="en-US" sz="1350" b="1" dirty="0">
                <a:solidFill>
                  <a:srgbClr val="141414"/>
                </a:solidFill>
                <a:latin typeface="Aptos Display" pitchFamily="34" charset="0"/>
                <a:ea typeface="Aptos Display" pitchFamily="34" charset="-122"/>
                <a:cs typeface="Aptos Display" pitchFamily="34" charset="-120"/>
              </a:rPr>
              <a:t>Confidentiality</a:t>
            </a:r>
            <a:endParaRPr lang="en-US" sz="1350" dirty="0"/>
          </a:p>
        </p:txBody>
      </p:sp>
      <p:sp>
        <p:nvSpPr>
          <p:cNvPr id="21" name="Text 15"/>
          <p:cNvSpPr/>
          <p:nvPr/>
        </p:nvSpPr>
        <p:spPr>
          <a:xfrm>
            <a:off x="6359652" y="2697480"/>
            <a:ext cx="2315718" cy="75895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Protect sensitive information and share it correctly.</a:t>
            </a:r>
            <a:endParaRPr lang="en-US" sz="1050" dirty="0"/>
          </a:p>
        </p:txBody>
      </p:sp>
      <p:sp>
        <p:nvSpPr>
          <p:cNvPr id="22" name="Shape 16"/>
          <p:cNvSpPr/>
          <p:nvPr/>
        </p:nvSpPr>
        <p:spPr>
          <a:xfrm>
            <a:off x="9041130" y="2148840"/>
            <a:ext cx="2644902" cy="1417320"/>
          </a:xfrm>
          <a:prstGeom prst="roundRect">
            <a:avLst>
              <a:gd name="adj" fmla="val 5806"/>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pic>
        <p:nvPicPr>
          <p:cNvPr id="23"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205722" y="2304288"/>
            <a:ext cx="310896" cy="310896"/>
          </a:xfrm>
          <a:prstGeom prst="rect">
            <a:avLst/>
          </a:prstGeom>
        </p:spPr>
      </p:pic>
      <p:sp>
        <p:nvSpPr>
          <p:cNvPr id="24" name="Text 17"/>
          <p:cNvSpPr/>
          <p:nvPr/>
        </p:nvSpPr>
        <p:spPr>
          <a:xfrm>
            <a:off x="9608058" y="2267712"/>
            <a:ext cx="1913382" cy="384048"/>
          </a:xfrm>
          <a:prstGeom prst="rect">
            <a:avLst/>
          </a:prstGeom>
          <a:noFill/>
          <a:ln/>
        </p:spPr>
        <p:txBody>
          <a:bodyPr wrap="square" rtlCol="0" anchor="ctr"/>
          <a:lstStyle/>
          <a:p>
            <a:pPr indent="0" marL="0">
              <a:buNone/>
            </a:pPr>
            <a:r>
              <a:rPr lang="en-US" sz="1350" b="1" dirty="0">
                <a:solidFill>
                  <a:srgbClr val="141414"/>
                </a:solidFill>
                <a:latin typeface="Aptos Display" pitchFamily="34" charset="0"/>
                <a:ea typeface="Aptos Display" pitchFamily="34" charset="-122"/>
                <a:cs typeface="Aptos Display" pitchFamily="34" charset="-120"/>
              </a:rPr>
              <a:t>Standards</a:t>
            </a:r>
            <a:endParaRPr lang="en-US" sz="1350" dirty="0"/>
          </a:p>
        </p:txBody>
      </p:sp>
      <p:sp>
        <p:nvSpPr>
          <p:cNvPr id="25" name="Text 18"/>
          <p:cNvSpPr/>
          <p:nvPr/>
        </p:nvSpPr>
        <p:spPr>
          <a:xfrm>
            <a:off x="9205722" y="2697480"/>
            <a:ext cx="2315718" cy="75895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Apply organisational layout and format standards.</a:t>
            </a:r>
            <a:endParaRPr lang="en-US" sz="1050" dirty="0"/>
          </a:p>
        </p:txBody>
      </p:sp>
      <p:sp>
        <p:nvSpPr>
          <p:cNvPr id="26" name="Shape 19"/>
          <p:cNvSpPr/>
          <p:nvPr/>
        </p:nvSpPr>
        <p:spPr>
          <a:xfrm>
            <a:off x="502920" y="3767328"/>
            <a:ext cx="2644902" cy="1417320"/>
          </a:xfrm>
          <a:prstGeom prst="roundRect">
            <a:avLst>
              <a:gd name="adj" fmla="val 5806"/>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pic>
        <p:nvPicPr>
          <p:cNvPr id="27"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67512" y="3922776"/>
            <a:ext cx="310896" cy="310896"/>
          </a:xfrm>
          <a:prstGeom prst="rect">
            <a:avLst/>
          </a:prstGeom>
        </p:spPr>
      </p:pic>
      <p:sp>
        <p:nvSpPr>
          <p:cNvPr id="28" name="Text 20"/>
          <p:cNvSpPr/>
          <p:nvPr/>
        </p:nvSpPr>
        <p:spPr>
          <a:xfrm>
            <a:off x="1069848" y="3886200"/>
            <a:ext cx="1913382" cy="384048"/>
          </a:xfrm>
          <a:prstGeom prst="rect">
            <a:avLst/>
          </a:prstGeom>
          <a:noFill/>
          <a:ln/>
        </p:spPr>
        <p:txBody>
          <a:bodyPr wrap="square" rtlCol="0" anchor="ctr"/>
          <a:lstStyle/>
          <a:p>
            <a:pPr indent="0" marL="0">
              <a:buNone/>
            </a:pPr>
            <a:r>
              <a:rPr lang="en-US" sz="1350" b="1" dirty="0">
                <a:solidFill>
                  <a:srgbClr val="141414"/>
                </a:solidFill>
                <a:latin typeface="Aptos Display" pitchFamily="34" charset="0"/>
                <a:ea typeface="Aptos Display" pitchFamily="34" charset="-122"/>
                <a:cs typeface="Aptos Display" pitchFamily="34" charset="-120"/>
              </a:rPr>
              <a:t>Writing</a:t>
            </a:r>
            <a:endParaRPr lang="en-US" sz="1350" dirty="0"/>
          </a:p>
        </p:txBody>
      </p:sp>
      <p:sp>
        <p:nvSpPr>
          <p:cNvPr id="29" name="Text 21"/>
          <p:cNvSpPr/>
          <p:nvPr/>
        </p:nvSpPr>
        <p:spPr>
          <a:xfrm>
            <a:off x="667512" y="4315968"/>
            <a:ext cx="2315718" cy="75895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Write clear, factual, objective and professional reports.</a:t>
            </a:r>
            <a:endParaRPr lang="en-US" sz="1050" dirty="0"/>
          </a:p>
        </p:txBody>
      </p:sp>
      <p:sp>
        <p:nvSpPr>
          <p:cNvPr id="30" name="Shape 22"/>
          <p:cNvSpPr/>
          <p:nvPr/>
        </p:nvSpPr>
        <p:spPr>
          <a:xfrm>
            <a:off x="3348990" y="3767328"/>
            <a:ext cx="2644902" cy="1417320"/>
          </a:xfrm>
          <a:prstGeom prst="roundRect">
            <a:avLst>
              <a:gd name="adj" fmla="val 5806"/>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pic>
        <p:nvPicPr>
          <p:cNvPr id="31"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513582" y="3922776"/>
            <a:ext cx="310896" cy="310896"/>
          </a:xfrm>
          <a:prstGeom prst="rect">
            <a:avLst/>
          </a:prstGeom>
        </p:spPr>
      </p:pic>
      <p:sp>
        <p:nvSpPr>
          <p:cNvPr id="32" name="Text 23"/>
          <p:cNvSpPr/>
          <p:nvPr/>
        </p:nvSpPr>
        <p:spPr>
          <a:xfrm>
            <a:off x="3915918" y="3886200"/>
            <a:ext cx="1913382" cy="384048"/>
          </a:xfrm>
          <a:prstGeom prst="rect">
            <a:avLst/>
          </a:prstGeom>
          <a:noFill/>
          <a:ln/>
        </p:spPr>
        <p:txBody>
          <a:bodyPr wrap="square" rtlCol="0" anchor="ctr"/>
          <a:lstStyle/>
          <a:p>
            <a:pPr indent="0" marL="0">
              <a:buNone/>
            </a:pPr>
            <a:r>
              <a:rPr lang="en-US" sz="1350" b="1" dirty="0">
                <a:solidFill>
                  <a:srgbClr val="141414"/>
                </a:solidFill>
                <a:latin typeface="Aptos Display" pitchFamily="34" charset="0"/>
                <a:ea typeface="Aptos Display" pitchFamily="34" charset="-122"/>
                <a:cs typeface="Aptos Display" pitchFamily="34" charset="-120"/>
              </a:rPr>
              <a:t>Deadlines</a:t>
            </a:r>
            <a:endParaRPr lang="en-US" sz="1350" dirty="0"/>
          </a:p>
        </p:txBody>
      </p:sp>
      <p:sp>
        <p:nvSpPr>
          <p:cNvPr id="33" name="Text 24"/>
          <p:cNvSpPr/>
          <p:nvPr/>
        </p:nvSpPr>
        <p:spPr>
          <a:xfrm>
            <a:off x="3513582" y="4315968"/>
            <a:ext cx="2315718" cy="75895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Meet organisational reporting deadlines every time.</a:t>
            </a:r>
            <a:endParaRPr lang="en-US" sz="1050" dirty="0"/>
          </a:p>
        </p:txBody>
      </p:sp>
      <p:sp>
        <p:nvSpPr>
          <p:cNvPr id="34" name="Shape 25"/>
          <p:cNvSpPr/>
          <p:nvPr/>
        </p:nvSpPr>
        <p:spPr>
          <a:xfrm>
            <a:off x="6195060" y="3767328"/>
            <a:ext cx="2644902" cy="1417320"/>
          </a:xfrm>
          <a:prstGeom prst="roundRect">
            <a:avLst>
              <a:gd name="adj" fmla="val 5806"/>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pic>
        <p:nvPicPr>
          <p:cNvPr id="35"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359652" y="3922776"/>
            <a:ext cx="310896" cy="310896"/>
          </a:xfrm>
          <a:prstGeom prst="rect">
            <a:avLst/>
          </a:prstGeom>
        </p:spPr>
      </p:pic>
      <p:sp>
        <p:nvSpPr>
          <p:cNvPr id="36" name="Text 26"/>
          <p:cNvSpPr/>
          <p:nvPr/>
        </p:nvSpPr>
        <p:spPr>
          <a:xfrm>
            <a:off x="6761988" y="3886200"/>
            <a:ext cx="1913382" cy="384048"/>
          </a:xfrm>
          <a:prstGeom prst="rect">
            <a:avLst/>
          </a:prstGeom>
          <a:noFill/>
          <a:ln/>
        </p:spPr>
        <p:txBody>
          <a:bodyPr wrap="square" rtlCol="0" anchor="ctr"/>
          <a:lstStyle/>
          <a:p>
            <a:pPr indent="0" marL="0">
              <a:buNone/>
            </a:pPr>
            <a:r>
              <a:rPr lang="en-US" sz="1350" b="1" dirty="0">
                <a:solidFill>
                  <a:srgbClr val="141414"/>
                </a:solidFill>
                <a:latin typeface="Aptos Display" pitchFamily="34" charset="0"/>
                <a:ea typeface="Aptos Display" pitchFamily="34" charset="-122"/>
                <a:cs typeface="Aptos Display" pitchFamily="34" charset="-120"/>
              </a:rPr>
              <a:t>Audience</a:t>
            </a:r>
            <a:endParaRPr lang="en-US" sz="1350" dirty="0"/>
          </a:p>
        </p:txBody>
      </p:sp>
      <p:sp>
        <p:nvSpPr>
          <p:cNvPr id="37" name="Text 27"/>
          <p:cNvSpPr/>
          <p:nvPr/>
        </p:nvSpPr>
        <p:spPr>
          <a:xfrm>
            <a:off x="6359652" y="4315968"/>
            <a:ext cx="2315718" cy="75895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Match content and language to each report's reader.</a:t>
            </a:r>
            <a:endParaRPr lang="en-US" sz="1050" dirty="0"/>
          </a:p>
        </p:txBody>
      </p:sp>
      <p:sp>
        <p:nvSpPr>
          <p:cNvPr id="38" name="Shape 28"/>
          <p:cNvSpPr/>
          <p:nvPr/>
        </p:nvSpPr>
        <p:spPr>
          <a:xfrm>
            <a:off x="9041130" y="3767328"/>
            <a:ext cx="2644902" cy="1417320"/>
          </a:xfrm>
          <a:prstGeom prst="roundRect">
            <a:avLst>
              <a:gd name="adj" fmla="val 5806"/>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pic>
        <p:nvPicPr>
          <p:cNvPr id="39"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205722" y="3922776"/>
            <a:ext cx="310896" cy="310896"/>
          </a:xfrm>
          <a:prstGeom prst="rect">
            <a:avLst/>
          </a:prstGeom>
        </p:spPr>
      </p:pic>
      <p:sp>
        <p:nvSpPr>
          <p:cNvPr id="40" name="Text 29"/>
          <p:cNvSpPr/>
          <p:nvPr/>
        </p:nvSpPr>
        <p:spPr>
          <a:xfrm>
            <a:off x="9608058" y="3886200"/>
            <a:ext cx="1913382" cy="384048"/>
          </a:xfrm>
          <a:prstGeom prst="rect">
            <a:avLst/>
          </a:prstGeom>
          <a:noFill/>
          <a:ln/>
        </p:spPr>
        <p:txBody>
          <a:bodyPr wrap="square" rtlCol="0" anchor="ctr"/>
          <a:lstStyle/>
          <a:p>
            <a:pPr indent="0" marL="0">
              <a:buNone/>
            </a:pPr>
            <a:r>
              <a:rPr lang="en-US" sz="1350" b="1" dirty="0">
                <a:solidFill>
                  <a:srgbClr val="141414"/>
                </a:solidFill>
                <a:latin typeface="Aptos Display" pitchFamily="34" charset="0"/>
                <a:ea typeface="Aptos Display" pitchFamily="34" charset="-122"/>
                <a:cs typeface="Aptos Display" pitchFamily="34" charset="-120"/>
              </a:rPr>
              <a:t>Decisions</a:t>
            </a:r>
            <a:endParaRPr lang="en-US" sz="1350" dirty="0"/>
          </a:p>
        </p:txBody>
      </p:sp>
      <p:sp>
        <p:nvSpPr>
          <p:cNvPr id="41" name="Text 30"/>
          <p:cNvSpPr/>
          <p:nvPr/>
        </p:nvSpPr>
        <p:spPr>
          <a:xfrm>
            <a:off x="9205722" y="4315968"/>
            <a:ext cx="2315718" cy="75895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Produce reports that enable informed business decisions.</a:t>
            </a:r>
            <a:endParaRPr lang="en-US" sz="1050" dirty="0"/>
          </a:p>
        </p:txBody>
      </p:sp>
      <p:sp>
        <p:nvSpPr>
          <p:cNvPr id="42" name="Shape 31"/>
          <p:cNvSpPr/>
          <p:nvPr/>
        </p:nvSpPr>
        <p:spPr>
          <a:xfrm>
            <a:off x="502920" y="5779008"/>
            <a:ext cx="11183112" cy="603504"/>
          </a:xfrm>
          <a:prstGeom prst="roundRect">
            <a:avLst>
              <a:gd name="adj" fmla="val 10606"/>
            </a:avLst>
          </a:prstGeom>
          <a:solidFill>
            <a:srgbClr val="141414"/>
          </a:solidFill>
          <a:ln/>
        </p:spPr>
      </p:sp>
      <p:pic>
        <p:nvPicPr>
          <p:cNvPr id="43"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704088" y="5943600"/>
            <a:ext cx="274320" cy="274320"/>
          </a:xfrm>
          <a:prstGeom prst="rect">
            <a:avLst/>
          </a:prstGeom>
        </p:spPr>
      </p:pic>
      <p:sp>
        <p:nvSpPr>
          <p:cNvPr id="44" name="Text 32"/>
          <p:cNvSpPr/>
          <p:nvPr/>
        </p:nvSpPr>
        <p:spPr>
          <a:xfrm>
            <a:off x="1069848" y="5779008"/>
            <a:ext cx="10378440" cy="603504"/>
          </a:xfrm>
          <a:prstGeom prst="rect">
            <a:avLst/>
          </a:prstGeom>
          <a:noFill/>
          <a:ln/>
        </p:spPr>
        <p:txBody>
          <a:bodyPr wrap="square" rtlCol="0" anchor="ctr"/>
          <a:lstStyle/>
          <a:p>
            <a:pPr indent="0" marL="0">
              <a:buNone/>
            </a:pPr>
            <a:r>
              <a:rPr lang="en-US" sz="1050" b="1" spc="150" kern="0" dirty="0">
                <a:solidFill>
                  <a:srgbClr val="C9C9C9"/>
                </a:solidFill>
                <a:latin typeface="Aptos" pitchFamily="34" charset="0"/>
                <a:ea typeface="Aptos" pitchFamily="34" charset="-122"/>
                <a:cs typeface="Aptos" pitchFamily="34" charset="-120"/>
              </a:rPr>
              <a:t>KNOWLEDGE CHECK   </a:t>
            </a:r>
            <a:pPr indent="0" marL="0">
              <a:buNone/>
            </a:pPr>
            <a:r>
              <a:rPr lang="en-US" sz="1250" dirty="0">
                <a:solidFill>
                  <a:srgbClr val="FFFFFF"/>
                </a:solidFill>
                <a:latin typeface="Aptos" pitchFamily="34" charset="0"/>
                <a:ea typeface="Aptos" pitchFamily="34" charset="-122"/>
                <a:cs typeface="Aptos" pitchFamily="34" charset="-120"/>
              </a:rPr>
              <a:t>Which of these eight skills do you already use in your current support role — and which one needs the most work?</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3</a:t>
            </a:r>
            <a:endParaRPr lang="en-US" sz="900" dirty="0"/>
          </a:p>
        </p:txBody>
      </p:sp>
      <p:sp>
        <p:nvSpPr>
          <p:cNvPr id="4" name="Shape 2"/>
          <p:cNvSpPr/>
          <p:nvPr/>
        </p:nvSpPr>
        <p:spPr>
          <a:xfrm>
            <a:off x="0" y="0"/>
            <a:ext cx="12188952" cy="82296"/>
          </a:xfrm>
          <a:prstGeom prst="rect">
            <a:avLst/>
          </a:prstGeom>
          <a:solidFill>
            <a:srgbClr val="3D3D3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3D3D3D"/>
                </a:solidFill>
                <a:latin typeface="Aptos" pitchFamily="34" charset="0"/>
                <a:ea typeface="Aptos" pitchFamily="34" charset="-122"/>
                <a:cs typeface="Aptos" pitchFamily="34" charset="-120"/>
              </a:rPr>
              <a:t>COURSE INTRODUCTION</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141414"/>
                </a:solidFill>
                <a:latin typeface="Aptos Display" pitchFamily="34" charset="0"/>
                <a:ea typeface="Aptos Display" pitchFamily="34" charset="-122"/>
                <a:cs typeface="Aptos Display" pitchFamily="34" charset="-120"/>
              </a:rPr>
              <a:t>Why report writing matters in IT support</a:t>
            </a:r>
            <a:endParaRPr lang="en-US" sz="2600" dirty="0"/>
          </a:p>
        </p:txBody>
      </p:sp>
      <p:sp>
        <p:nvSpPr>
          <p:cNvPr id="7" name="Shape 5"/>
          <p:cNvSpPr/>
          <p:nvPr/>
        </p:nvSpPr>
        <p:spPr>
          <a:xfrm>
            <a:off x="502920" y="1298448"/>
            <a:ext cx="11183112" cy="566928"/>
          </a:xfrm>
          <a:prstGeom prst="roundRect">
            <a:avLst>
              <a:gd name="adj" fmla="val 11290"/>
            </a:avLst>
          </a:prstGeom>
          <a:solidFill>
            <a:srgbClr val="F2F2F2"/>
          </a:solidFill>
          <a:ln w="9525">
            <a:solidFill>
              <a:srgbClr val="DBDBDB"/>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1444752"/>
            <a:ext cx="274320" cy="274320"/>
          </a:xfrm>
          <a:prstGeom prst="rect">
            <a:avLst/>
          </a:prstGeom>
        </p:spPr>
      </p:pic>
      <p:sp>
        <p:nvSpPr>
          <p:cNvPr id="9" name="Text 6"/>
          <p:cNvSpPr/>
          <p:nvPr/>
        </p:nvSpPr>
        <p:spPr>
          <a:xfrm>
            <a:off x="1069848" y="1298448"/>
            <a:ext cx="10378440" cy="566928"/>
          </a:xfrm>
          <a:prstGeom prst="rect">
            <a:avLst/>
          </a:prstGeom>
          <a:noFill/>
          <a:ln/>
        </p:spPr>
        <p:txBody>
          <a:bodyPr wrap="square" rtlCol="0" anchor="ctr"/>
          <a:lstStyle/>
          <a:p>
            <a:pPr indent="0" marL="0">
              <a:buNone/>
            </a:pPr>
            <a:r>
              <a:rPr lang="en-US" sz="1050" b="1" spc="150" kern="0" dirty="0">
                <a:solidFill>
                  <a:srgbClr val="3D3D3D"/>
                </a:solidFill>
                <a:latin typeface="Aptos" pitchFamily="34" charset="0"/>
                <a:ea typeface="Aptos" pitchFamily="34" charset="-122"/>
                <a:cs typeface="Aptos" pitchFamily="34" charset="-120"/>
              </a:rPr>
              <a:t>LEARNING OBJECTIVE   </a:t>
            </a:r>
            <a:pPr indent="0" marL="0">
              <a:buNone/>
            </a:pPr>
            <a:r>
              <a:rPr lang="en-US" sz="1300" dirty="0">
                <a:solidFill>
                  <a:srgbClr val="141414"/>
                </a:solidFill>
                <a:latin typeface="Aptos" pitchFamily="34" charset="0"/>
                <a:ea typeface="Aptos" pitchFamily="34" charset="-122"/>
                <a:cs typeface="Aptos" pitchFamily="34" charset="-120"/>
              </a:rPr>
              <a:t>Recognise the business value of professional reporting in a corporate banking technology environment.</a:t>
            </a:r>
            <a:endParaRPr lang="en-US" sz="1050" dirty="0"/>
          </a:p>
        </p:txBody>
      </p:sp>
      <p:sp>
        <p:nvSpPr>
          <p:cNvPr id="10" name="Shape 7"/>
          <p:cNvSpPr/>
          <p:nvPr/>
        </p:nvSpPr>
        <p:spPr>
          <a:xfrm>
            <a:off x="502920" y="2148840"/>
            <a:ext cx="3593592" cy="1691640"/>
          </a:xfrm>
          <a:prstGeom prst="roundRect">
            <a:avLst>
              <a:gd name="adj" fmla="val 4865"/>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512" y="2304288"/>
            <a:ext cx="310896" cy="310896"/>
          </a:xfrm>
          <a:prstGeom prst="rect">
            <a:avLst/>
          </a:prstGeom>
        </p:spPr>
      </p:pic>
      <p:sp>
        <p:nvSpPr>
          <p:cNvPr id="12" name="Text 8"/>
          <p:cNvSpPr/>
          <p:nvPr/>
        </p:nvSpPr>
        <p:spPr>
          <a:xfrm>
            <a:off x="1069848" y="2267712"/>
            <a:ext cx="2862072" cy="384048"/>
          </a:xfrm>
          <a:prstGeom prst="rect">
            <a:avLst/>
          </a:prstGeom>
          <a:noFill/>
          <a:ln/>
        </p:spPr>
        <p:txBody>
          <a:bodyPr wrap="square" rtlCol="0" anchor="ctr"/>
          <a:lstStyle/>
          <a:p>
            <a:pPr indent="0" marL="0">
              <a:buNone/>
            </a:pPr>
            <a:r>
              <a:rPr lang="en-US" sz="1350" b="1" dirty="0">
                <a:solidFill>
                  <a:srgbClr val="141414"/>
                </a:solidFill>
                <a:latin typeface="Aptos Display" pitchFamily="34" charset="0"/>
                <a:ea typeface="Aptos Display" pitchFamily="34" charset="-122"/>
                <a:cs typeface="Aptos Display" pitchFamily="34" charset="-120"/>
              </a:rPr>
              <a:t>Decisions</a:t>
            </a:r>
            <a:endParaRPr lang="en-US" sz="1350" dirty="0"/>
          </a:p>
        </p:txBody>
      </p:sp>
      <p:sp>
        <p:nvSpPr>
          <p:cNvPr id="13" name="Text 9"/>
          <p:cNvSpPr/>
          <p:nvPr/>
        </p:nvSpPr>
        <p:spPr>
          <a:xfrm>
            <a:off x="667512" y="2697480"/>
            <a:ext cx="3264408" cy="103327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Managers approve budgets, staffing and fixes based on what your reports tell them.</a:t>
            </a:r>
            <a:endParaRPr lang="en-US" sz="1050" dirty="0"/>
          </a:p>
        </p:txBody>
      </p:sp>
      <p:sp>
        <p:nvSpPr>
          <p:cNvPr id="14" name="Shape 10"/>
          <p:cNvSpPr/>
          <p:nvPr/>
        </p:nvSpPr>
        <p:spPr>
          <a:xfrm>
            <a:off x="4297680" y="2148840"/>
            <a:ext cx="3593592" cy="1691640"/>
          </a:xfrm>
          <a:prstGeom prst="roundRect">
            <a:avLst>
              <a:gd name="adj" fmla="val 4865"/>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62272" y="2304288"/>
            <a:ext cx="310896" cy="310896"/>
          </a:xfrm>
          <a:prstGeom prst="rect">
            <a:avLst/>
          </a:prstGeom>
        </p:spPr>
      </p:pic>
      <p:sp>
        <p:nvSpPr>
          <p:cNvPr id="16" name="Text 11"/>
          <p:cNvSpPr/>
          <p:nvPr/>
        </p:nvSpPr>
        <p:spPr>
          <a:xfrm>
            <a:off x="4864608" y="2267712"/>
            <a:ext cx="2862072" cy="384048"/>
          </a:xfrm>
          <a:prstGeom prst="rect">
            <a:avLst/>
          </a:prstGeom>
          <a:noFill/>
          <a:ln/>
        </p:spPr>
        <p:txBody>
          <a:bodyPr wrap="square" rtlCol="0" anchor="ctr"/>
          <a:lstStyle/>
          <a:p>
            <a:pPr indent="0" marL="0">
              <a:buNone/>
            </a:pPr>
            <a:r>
              <a:rPr lang="en-US" sz="1350" b="1" dirty="0">
                <a:solidFill>
                  <a:srgbClr val="141414"/>
                </a:solidFill>
                <a:latin typeface="Aptos Display" pitchFamily="34" charset="0"/>
                <a:ea typeface="Aptos Display" pitchFamily="34" charset="-122"/>
                <a:cs typeface="Aptos Display" pitchFamily="34" charset="-120"/>
              </a:rPr>
              <a:t>Compliance</a:t>
            </a:r>
            <a:endParaRPr lang="en-US" sz="1350" dirty="0"/>
          </a:p>
        </p:txBody>
      </p:sp>
      <p:sp>
        <p:nvSpPr>
          <p:cNvPr id="17" name="Text 12"/>
          <p:cNvSpPr/>
          <p:nvPr/>
        </p:nvSpPr>
        <p:spPr>
          <a:xfrm>
            <a:off x="4462272" y="2697480"/>
            <a:ext cx="3264408" cy="103327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POPIA and financial-sector regulation demand accurate, controlled records of incidents.</a:t>
            </a:r>
            <a:endParaRPr lang="en-US" sz="1050" dirty="0"/>
          </a:p>
        </p:txBody>
      </p:sp>
      <p:sp>
        <p:nvSpPr>
          <p:cNvPr id="18" name="Shape 13"/>
          <p:cNvSpPr/>
          <p:nvPr/>
        </p:nvSpPr>
        <p:spPr>
          <a:xfrm>
            <a:off x="8092440" y="2148840"/>
            <a:ext cx="3593592" cy="1691640"/>
          </a:xfrm>
          <a:prstGeom prst="roundRect">
            <a:avLst>
              <a:gd name="adj" fmla="val 4865"/>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pic>
        <p:nvPicPr>
          <p:cNvPr id="1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57032" y="2304288"/>
            <a:ext cx="310896" cy="310896"/>
          </a:xfrm>
          <a:prstGeom prst="rect">
            <a:avLst/>
          </a:prstGeom>
        </p:spPr>
      </p:pic>
      <p:sp>
        <p:nvSpPr>
          <p:cNvPr id="20" name="Text 14"/>
          <p:cNvSpPr/>
          <p:nvPr/>
        </p:nvSpPr>
        <p:spPr>
          <a:xfrm>
            <a:off x="8659368" y="2267712"/>
            <a:ext cx="2862072" cy="384048"/>
          </a:xfrm>
          <a:prstGeom prst="rect">
            <a:avLst/>
          </a:prstGeom>
          <a:noFill/>
          <a:ln/>
        </p:spPr>
        <p:txBody>
          <a:bodyPr wrap="square" rtlCol="0" anchor="ctr"/>
          <a:lstStyle/>
          <a:p>
            <a:pPr indent="0" marL="0">
              <a:buNone/>
            </a:pPr>
            <a:r>
              <a:rPr lang="en-US" sz="1350" b="1" dirty="0">
                <a:solidFill>
                  <a:srgbClr val="141414"/>
                </a:solidFill>
                <a:latin typeface="Aptos Display" pitchFamily="34" charset="0"/>
                <a:ea typeface="Aptos Display" pitchFamily="34" charset="-122"/>
                <a:cs typeface="Aptos Display" pitchFamily="34" charset="-120"/>
              </a:rPr>
              <a:t>Reputation</a:t>
            </a:r>
            <a:endParaRPr lang="en-US" sz="1350" dirty="0"/>
          </a:p>
        </p:txBody>
      </p:sp>
      <p:sp>
        <p:nvSpPr>
          <p:cNvPr id="21" name="Text 15"/>
          <p:cNvSpPr/>
          <p:nvPr/>
        </p:nvSpPr>
        <p:spPr>
          <a:xfrm>
            <a:off x="8257032" y="2697480"/>
            <a:ext cx="3264408" cy="103327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A clear, professional report builds trust in you and the whole support team.</a:t>
            </a:r>
            <a:endParaRPr lang="en-US" sz="1050" dirty="0"/>
          </a:p>
        </p:txBody>
      </p:sp>
      <p:sp>
        <p:nvSpPr>
          <p:cNvPr id="22" name="Shape 16"/>
          <p:cNvSpPr/>
          <p:nvPr/>
        </p:nvSpPr>
        <p:spPr>
          <a:xfrm>
            <a:off x="502920" y="4069080"/>
            <a:ext cx="11183112" cy="1417320"/>
          </a:xfrm>
          <a:prstGeom prst="roundRect">
            <a:avLst>
              <a:gd name="adj" fmla="val 5806"/>
            </a:avLst>
          </a:prstGeom>
          <a:solidFill>
            <a:srgbClr val="F2F2F2"/>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23" name="Shape 17"/>
          <p:cNvSpPr/>
          <p:nvPr/>
        </p:nvSpPr>
        <p:spPr>
          <a:xfrm>
            <a:off x="502920" y="4069080"/>
            <a:ext cx="82296" cy="1417320"/>
          </a:xfrm>
          <a:prstGeom prst="rect">
            <a:avLst/>
          </a:prstGeom>
          <a:solidFill>
            <a:srgbClr val="3D3D3D"/>
          </a:solidFill>
          <a:ln/>
        </p:spPr>
      </p:sp>
      <p:pic>
        <p:nvPicPr>
          <p:cNvPr id="24"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082528" y="4251960"/>
            <a:ext cx="347472" cy="347472"/>
          </a:xfrm>
          <a:prstGeom prst="rect">
            <a:avLst/>
          </a:prstGeom>
        </p:spPr>
      </p:pic>
      <p:sp>
        <p:nvSpPr>
          <p:cNvPr id="25" name="Text 18"/>
          <p:cNvSpPr/>
          <p:nvPr/>
        </p:nvSpPr>
        <p:spPr>
          <a:xfrm>
            <a:off x="795528" y="4215384"/>
            <a:ext cx="10177272" cy="1124712"/>
          </a:xfrm>
          <a:prstGeom prst="rect">
            <a:avLst/>
          </a:prstGeom>
          <a:noFill/>
          <a:ln/>
        </p:spPr>
        <p:txBody>
          <a:bodyPr wrap="square" rtlCol="0" anchor="t"/>
          <a:lstStyle/>
          <a:p>
            <a:pPr indent="0" marL="0">
              <a:lnSpc>
                <a:spcPct val="115000"/>
              </a:lnSpc>
              <a:buNone/>
            </a:pPr>
            <a:r>
              <a:rPr lang="en-US" sz="1050" b="1" spc="150" kern="0" dirty="0">
                <a:solidFill>
                  <a:srgbClr val="3D3D3D"/>
                </a:solidFill>
                <a:latin typeface="Aptos" pitchFamily="34" charset="0"/>
                <a:ea typeface="Aptos" pitchFamily="34" charset="-122"/>
                <a:cs typeface="Aptos" pitchFamily="34" charset="-120"/>
              </a:rPr>
              <a:t>WORKPLACE EXAMPLE — INVESTEC
</a:t>
            </a:r>
            <a:pPr indent="0" marL="0">
              <a:lnSpc>
                <a:spcPct val="115000"/>
              </a:lnSpc>
              <a:buNone/>
            </a:pPr>
            <a:r>
              <a:rPr lang="en-US" sz="1500" b="1" dirty="0">
                <a:solidFill>
                  <a:srgbClr val="141414"/>
                </a:solidFill>
                <a:latin typeface="Aptos Display" pitchFamily="34" charset="0"/>
                <a:ea typeface="Aptos Display" pitchFamily="34" charset="-122"/>
                <a:cs typeface="Aptos Display" pitchFamily="34" charset="-120"/>
              </a:rPr>
              <a:t>One outage, three audiences
</a:t>
            </a:r>
            <a:pPr indent="0" marL="0">
              <a:lnSpc>
                <a:spcPct val="115000"/>
              </a:lnSpc>
              <a:buNone/>
            </a:pPr>
            <a:r>
              <a:rPr lang="en-US" sz="1250" dirty="0">
                <a:solidFill>
                  <a:srgbClr val="141414"/>
                </a:solidFill>
                <a:latin typeface="Aptos" pitchFamily="34" charset="0"/>
                <a:ea typeface="Aptos" pitchFamily="34" charset="-122"/>
                <a:cs typeface="Aptos" pitchFamily="34" charset="-120"/>
              </a:rPr>
              <a:t>After a trading-floor network outage, the same facts feed an incident report for the IT Manager, a compliance record for the risk team and an executive summary for business heads. Writing it well once saves the business three times.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4</a:t>
            </a:r>
            <a:endParaRPr lang="en-US" sz="900" dirty="0"/>
          </a:p>
        </p:txBody>
      </p:sp>
      <p:sp>
        <p:nvSpPr>
          <p:cNvPr id="4" name="Shape 2"/>
          <p:cNvSpPr/>
          <p:nvPr/>
        </p:nvSpPr>
        <p:spPr>
          <a:xfrm>
            <a:off x="0" y="0"/>
            <a:ext cx="12188952" cy="82296"/>
          </a:xfrm>
          <a:prstGeom prst="rect">
            <a:avLst/>
          </a:prstGeom>
          <a:solidFill>
            <a:srgbClr val="3D3D3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3D3D3D"/>
                </a:solidFill>
                <a:latin typeface="Aptos" pitchFamily="34" charset="0"/>
                <a:ea typeface="Aptos" pitchFamily="34" charset="-122"/>
                <a:cs typeface="Aptos" pitchFamily="34" charset="-120"/>
              </a:rPr>
              <a:t>COURSE INTRODUCTION</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141414"/>
                </a:solidFill>
                <a:latin typeface="Aptos Display" pitchFamily="34" charset="0"/>
                <a:ea typeface="Aptos Display" pitchFamily="34" charset="-122"/>
                <a:cs typeface="Aptos Display" pitchFamily="34" charset="-120"/>
              </a:rPr>
              <a:t>Course roadmap — 11 assessment criteria</a:t>
            </a:r>
            <a:endParaRPr lang="en-US" sz="2600" dirty="0"/>
          </a:p>
        </p:txBody>
      </p:sp>
      <p:sp>
        <p:nvSpPr>
          <p:cNvPr id="7" name="Text 5"/>
          <p:cNvSpPr/>
          <p:nvPr/>
        </p:nvSpPr>
        <p:spPr>
          <a:xfrm>
            <a:off x="502920" y="1417320"/>
            <a:ext cx="11183112" cy="274320"/>
          </a:xfrm>
          <a:prstGeom prst="rect">
            <a:avLst/>
          </a:prstGeom>
          <a:noFill/>
          <a:ln/>
        </p:spPr>
        <p:txBody>
          <a:bodyPr wrap="square" rtlCol="0" anchor="ctr"/>
          <a:lstStyle/>
          <a:p>
            <a:pPr indent="0" marL="0">
              <a:buNone/>
            </a:pPr>
            <a:r>
              <a:rPr lang="en-US" sz="1100" b="1" spc="150" kern="0" dirty="0">
                <a:solidFill>
                  <a:srgbClr val="3D3D3D"/>
                </a:solidFill>
                <a:latin typeface="Aptos" pitchFamily="34" charset="0"/>
                <a:ea typeface="Aptos" pitchFamily="34" charset="-122"/>
                <a:cs typeface="Aptos" pitchFamily="34" charset="-120"/>
              </a:rPr>
              <a:t>SECTION 1 — EMBEDDED KNOWLEDGE (THEORY)</a:t>
            </a:r>
            <a:endParaRPr lang="en-US" sz="1100" dirty="0"/>
          </a:p>
        </p:txBody>
      </p:sp>
      <p:sp>
        <p:nvSpPr>
          <p:cNvPr id="8" name="Shape 6"/>
          <p:cNvSpPr/>
          <p:nvPr/>
        </p:nvSpPr>
        <p:spPr>
          <a:xfrm>
            <a:off x="502920" y="1783080"/>
            <a:ext cx="3617976" cy="713232"/>
          </a:xfrm>
          <a:prstGeom prst="roundRect">
            <a:avLst>
              <a:gd name="adj" fmla="val 11538"/>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9" name="Shape 7"/>
          <p:cNvSpPr/>
          <p:nvPr/>
        </p:nvSpPr>
        <p:spPr>
          <a:xfrm>
            <a:off x="667512" y="1947672"/>
            <a:ext cx="384048" cy="384048"/>
          </a:xfrm>
          <a:prstGeom prst="ellipse">
            <a:avLst/>
          </a:prstGeom>
          <a:solidFill>
            <a:srgbClr val="3D3D3D"/>
          </a:solidFill>
          <a:ln/>
        </p:spPr>
      </p:sp>
      <p:sp>
        <p:nvSpPr>
          <p:cNvPr id="10" name="Text 8"/>
          <p:cNvSpPr/>
          <p:nvPr/>
        </p:nvSpPr>
        <p:spPr>
          <a:xfrm>
            <a:off x="667512" y="1947672"/>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1</a:t>
            </a:r>
            <a:endParaRPr lang="en-US" sz="1400" dirty="0"/>
          </a:p>
        </p:txBody>
      </p:sp>
      <p:sp>
        <p:nvSpPr>
          <p:cNvPr id="11" name="Text 9"/>
          <p:cNvSpPr/>
          <p:nvPr/>
        </p:nvSpPr>
        <p:spPr>
          <a:xfrm>
            <a:off x="1161288" y="1874520"/>
            <a:ext cx="2795016" cy="530352"/>
          </a:xfrm>
          <a:prstGeom prst="rect">
            <a:avLst/>
          </a:prstGeom>
          <a:noFill/>
          <a:ln/>
        </p:spPr>
        <p:txBody>
          <a:bodyPr wrap="square" rtlCol="0" anchor="ctr"/>
          <a:lstStyle/>
          <a:p>
            <a:pPr indent="0" marL="0">
              <a:buNone/>
            </a:pPr>
            <a:r>
              <a:rPr lang="en-US" sz="1250" b="1" dirty="0">
                <a:solidFill>
                  <a:srgbClr val="141414"/>
                </a:solidFill>
                <a:latin typeface="Aptos Display" pitchFamily="34" charset="0"/>
                <a:ea typeface="Aptos Display" pitchFamily="34" charset="-122"/>
                <a:cs typeface="Aptos Display" pitchFamily="34" charset="-120"/>
              </a:rPr>
              <a:t>Purpose of reports</a:t>
            </a:r>
            <a:endParaRPr lang="en-US" sz="1250" dirty="0"/>
          </a:p>
        </p:txBody>
      </p:sp>
      <p:sp>
        <p:nvSpPr>
          <p:cNvPr id="12" name="Shape 10"/>
          <p:cNvSpPr/>
          <p:nvPr/>
        </p:nvSpPr>
        <p:spPr>
          <a:xfrm>
            <a:off x="4285488" y="1783080"/>
            <a:ext cx="3617976" cy="713232"/>
          </a:xfrm>
          <a:prstGeom prst="roundRect">
            <a:avLst>
              <a:gd name="adj" fmla="val 11538"/>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13" name="Shape 11"/>
          <p:cNvSpPr/>
          <p:nvPr/>
        </p:nvSpPr>
        <p:spPr>
          <a:xfrm>
            <a:off x="4450080" y="1947672"/>
            <a:ext cx="384048" cy="384048"/>
          </a:xfrm>
          <a:prstGeom prst="ellipse">
            <a:avLst/>
          </a:prstGeom>
          <a:solidFill>
            <a:srgbClr val="3D3D3D"/>
          </a:solidFill>
          <a:ln/>
        </p:spPr>
      </p:sp>
      <p:sp>
        <p:nvSpPr>
          <p:cNvPr id="14" name="Text 12"/>
          <p:cNvSpPr/>
          <p:nvPr/>
        </p:nvSpPr>
        <p:spPr>
          <a:xfrm>
            <a:off x="4450080" y="1947672"/>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2</a:t>
            </a:r>
            <a:endParaRPr lang="en-US" sz="1400" dirty="0"/>
          </a:p>
        </p:txBody>
      </p:sp>
      <p:sp>
        <p:nvSpPr>
          <p:cNvPr id="15" name="Text 13"/>
          <p:cNvSpPr/>
          <p:nvPr/>
        </p:nvSpPr>
        <p:spPr>
          <a:xfrm>
            <a:off x="4943856" y="1874520"/>
            <a:ext cx="2795016" cy="530352"/>
          </a:xfrm>
          <a:prstGeom prst="rect">
            <a:avLst/>
          </a:prstGeom>
          <a:noFill/>
          <a:ln/>
        </p:spPr>
        <p:txBody>
          <a:bodyPr wrap="square" rtlCol="0" anchor="ctr"/>
          <a:lstStyle/>
          <a:p>
            <a:pPr indent="0" marL="0">
              <a:buNone/>
            </a:pPr>
            <a:r>
              <a:rPr lang="en-US" sz="1250" b="1" dirty="0">
                <a:solidFill>
                  <a:srgbClr val="141414"/>
                </a:solidFill>
                <a:latin typeface="Aptos Display" pitchFamily="34" charset="0"/>
                <a:ea typeface="Aptos Display" pitchFamily="34" charset="-122"/>
                <a:cs typeface="Aptos Display" pitchFamily="34" charset="-120"/>
              </a:rPr>
              <a:t>Information resources</a:t>
            </a:r>
            <a:endParaRPr lang="en-US" sz="1250" dirty="0"/>
          </a:p>
        </p:txBody>
      </p:sp>
      <p:sp>
        <p:nvSpPr>
          <p:cNvPr id="16" name="Shape 14"/>
          <p:cNvSpPr/>
          <p:nvPr/>
        </p:nvSpPr>
        <p:spPr>
          <a:xfrm>
            <a:off x="8068056" y="1783080"/>
            <a:ext cx="3617976" cy="713232"/>
          </a:xfrm>
          <a:prstGeom prst="roundRect">
            <a:avLst>
              <a:gd name="adj" fmla="val 11538"/>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17" name="Shape 15"/>
          <p:cNvSpPr/>
          <p:nvPr/>
        </p:nvSpPr>
        <p:spPr>
          <a:xfrm>
            <a:off x="8232648" y="1947672"/>
            <a:ext cx="384048" cy="384048"/>
          </a:xfrm>
          <a:prstGeom prst="ellipse">
            <a:avLst/>
          </a:prstGeom>
          <a:solidFill>
            <a:srgbClr val="3D3D3D"/>
          </a:solidFill>
          <a:ln/>
        </p:spPr>
      </p:sp>
      <p:sp>
        <p:nvSpPr>
          <p:cNvPr id="18" name="Text 16"/>
          <p:cNvSpPr/>
          <p:nvPr/>
        </p:nvSpPr>
        <p:spPr>
          <a:xfrm>
            <a:off x="8232648" y="1947672"/>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3</a:t>
            </a:r>
            <a:endParaRPr lang="en-US" sz="1400" dirty="0"/>
          </a:p>
        </p:txBody>
      </p:sp>
      <p:sp>
        <p:nvSpPr>
          <p:cNvPr id="19" name="Text 17"/>
          <p:cNvSpPr/>
          <p:nvPr/>
        </p:nvSpPr>
        <p:spPr>
          <a:xfrm>
            <a:off x="8726424" y="1874520"/>
            <a:ext cx="2795016" cy="530352"/>
          </a:xfrm>
          <a:prstGeom prst="rect">
            <a:avLst/>
          </a:prstGeom>
          <a:noFill/>
          <a:ln/>
        </p:spPr>
        <p:txBody>
          <a:bodyPr wrap="square" rtlCol="0" anchor="ctr"/>
          <a:lstStyle/>
          <a:p>
            <a:pPr indent="0" marL="0">
              <a:buNone/>
            </a:pPr>
            <a:r>
              <a:rPr lang="en-US" sz="1250" b="1" dirty="0">
                <a:solidFill>
                  <a:srgbClr val="141414"/>
                </a:solidFill>
                <a:latin typeface="Aptos Display" pitchFamily="34" charset="0"/>
                <a:ea typeface="Aptos Display" pitchFamily="34" charset="-122"/>
                <a:cs typeface="Aptos Display" pitchFamily="34" charset="-120"/>
              </a:rPr>
              <a:t>Confidential dissemination</a:t>
            </a:r>
            <a:endParaRPr lang="en-US" sz="1250" dirty="0"/>
          </a:p>
        </p:txBody>
      </p:sp>
      <p:sp>
        <p:nvSpPr>
          <p:cNvPr id="20" name="Shape 18"/>
          <p:cNvSpPr/>
          <p:nvPr/>
        </p:nvSpPr>
        <p:spPr>
          <a:xfrm>
            <a:off x="502920" y="2660904"/>
            <a:ext cx="3617976" cy="713232"/>
          </a:xfrm>
          <a:prstGeom prst="roundRect">
            <a:avLst>
              <a:gd name="adj" fmla="val 11538"/>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21" name="Shape 19"/>
          <p:cNvSpPr/>
          <p:nvPr/>
        </p:nvSpPr>
        <p:spPr>
          <a:xfrm>
            <a:off x="667512" y="2825496"/>
            <a:ext cx="384048" cy="384048"/>
          </a:xfrm>
          <a:prstGeom prst="ellipse">
            <a:avLst/>
          </a:prstGeom>
          <a:solidFill>
            <a:srgbClr val="3D3D3D"/>
          </a:solidFill>
          <a:ln/>
        </p:spPr>
      </p:sp>
      <p:sp>
        <p:nvSpPr>
          <p:cNvPr id="22" name="Text 20"/>
          <p:cNvSpPr/>
          <p:nvPr/>
        </p:nvSpPr>
        <p:spPr>
          <a:xfrm>
            <a:off x="667512" y="2825496"/>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4</a:t>
            </a:r>
            <a:endParaRPr lang="en-US" sz="1400" dirty="0"/>
          </a:p>
        </p:txBody>
      </p:sp>
      <p:sp>
        <p:nvSpPr>
          <p:cNvPr id="23" name="Text 21"/>
          <p:cNvSpPr/>
          <p:nvPr/>
        </p:nvSpPr>
        <p:spPr>
          <a:xfrm>
            <a:off x="1161288" y="2752344"/>
            <a:ext cx="2795016" cy="530352"/>
          </a:xfrm>
          <a:prstGeom prst="rect">
            <a:avLst/>
          </a:prstGeom>
          <a:noFill/>
          <a:ln/>
        </p:spPr>
        <p:txBody>
          <a:bodyPr wrap="square" rtlCol="0" anchor="ctr"/>
          <a:lstStyle/>
          <a:p>
            <a:pPr indent="0" marL="0">
              <a:buNone/>
            </a:pPr>
            <a:r>
              <a:rPr lang="en-US" sz="1250" b="1" dirty="0">
                <a:solidFill>
                  <a:srgbClr val="141414"/>
                </a:solidFill>
                <a:latin typeface="Aptos Display" pitchFamily="34" charset="0"/>
                <a:ea typeface="Aptos Display" pitchFamily="34" charset="-122"/>
                <a:cs typeface="Aptos Display" pitchFamily="34" charset="-120"/>
              </a:rPr>
              <a:t>Layout &amp; format standards</a:t>
            </a:r>
            <a:endParaRPr lang="en-US" sz="1250" dirty="0"/>
          </a:p>
        </p:txBody>
      </p:sp>
      <p:sp>
        <p:nvSpPr>
          <p:cNvPr id="24" name="Shape 22"/>
          <p:cNvSpPr/>
          <p:nvPr/>
        </p:nvSpPr>
        <p:spPr>
          <a:xfrm>
            <a:off x="4285488" y="2660904"/>
            <a:ext cx="3617976" cy="713232"/>
          </a:xfrm>
          <a:prstGeom prst="roundRect">
            <a:avLst>
              <a:gd name="adj" fmla="val 11538"/>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25" name="Shape 23"/>
          <p:cNvSpPr/>
          <p:nvPr/>
        </p:nvSpPr>
        <p:spPr>
          <a:xfrm>
            <a:off x="4450080" y="2825496"/>
            <a:ext cx="384048" cy="384048"/>
          </a:xfrm>
          <a:prstGeom prst="ellipse">
            <a:avLst/>
          </a:prstGeom>
          <a:solidFill>
            <a:srgbClr val="3D3D3D"/>
          </a:solidFill>
          <a:ln/>
        </p:spPr>
      </p:sp>
      <p:sp>
        <p:nvSpPr>
          <p:cNvPr id="26" name="Text 24"/>
          <p:cNvSpPr/>
          <p:nvPr/>
        </p:nvSpPr>
        <p:spPr>
          <a:xfrm>
            <a:off x="4450080" y="2825496"/>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5</a:t>
            </a:r>
            <a:endParaRPr lang="en-US" sz="1400" dirty="0"/>
          </a:p>
        </p:txBody>
      </p:sp>
      <p:sp>
        <p:nvSpPr>
          <p:cNvPr id="27" name="Text 25"/>
          <p:cNvSpPr/>
          <p:nvPr/>
        </p:nvSpPr>
        <p:spPr>
          <a:xfrm>
            <a:off x="4943856" y="2752344"/>
            <a:ext cx="2795016" cy="530352"/>
          </a:xfrm>
          <a:prstGeom prst="rect">
            <a:avLst/>
          </a:prstGeom>
          <a:noFill/>
          <a:ln/>
        </p:spPr>
        <p:txBody>
          <a:bodyPr wrap="square" rtlCol="0" anchor="ctr"/>
          <a:lstStyle/>
          <a:p>
            <a:pPr indent="0" marL="0">
              <a:buNone/>
            </a:pPr>
            <a:r>
              <a:rPr lang="en-US" sz="1250" b="1" dirty="0">
                <a:solidFill>
                  <a:srgbClr val="141414"/>
                </a:solidFill>
                <a:latin typeface="Aptos Display" pitchFamily="34" charset="0"/>
                <a:ea typeface="Aptos Display" pitchFamily="34" charset="-122"/>
                <a:cs typeface="Aptos Display" pitchFamily="34" charset="-120"/>
              </a:rPr>
              <a:t>Information needs</a:t>
            </a:r>
            <a:endParaRPr lang="en-US" sz="1250" dirty="0"/>
          </a:p>
        </p:txBody>
      </p:sp>
      <p:sp>
        <p:nvSpPr>
          <p:cNvPr id="28" name="Shape 26"/>
          <p:cNvSpPr/>
          <p:nvPr/>
        </p:nvSpPr>
        <p:spPr>
          <a:xfrm>
            <a:off x="8068056" y="2660904"/>
            <a:ext cx="3617976" cy="713232"/>
          </a:xfrm>
          <a:prstGeom prst="roundRect">
            <a:avLst>
              <a:gd name="adj" fmla="val 11538"/>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29" name="Shape 27"/>
          <p:cNvSpPr/>
          <p:nvPr/>
        </p:nvSpPr>
        <p:spPr>
          <a:xfrm>
            <a:off x="8232648" y="2825496"/>
            <a:ext cx="384048" cy="384048"/>
          </a:xfrm>
          <a:prstGeom prst="ellipse">
            <a:avLst/>
          </a:prstGeom>
          <a:solidFill>
            <a:srgbClr val="3D3D3D"/>
          </a:solidFill>
          <a:ln/>
        </p:spPr>
      </p:sp>
      <p:sp>
        <p:nvSpPr>
          <p:cNvPr id="30" name="Text 28"/>
          <p:cNvSpPr/>
          <p:nvPr/>
        </p:nvSpPr>
        <p:spPr>
          <a:xfrm>
            <a:off x="8232648" y="2825496"/>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6</a:t>
            </a:r>
            <a:endParaRPr lang="en-US" sz="1400" dirty="0"/>
          </a:p>
        </p:txBody>
      </p:sp>
      <p:sp>
        <p:nvSpPr>
          <p:cNvPr id="31" name="Text 29"/>
          <p:cNvSpPr/>
          <p:nvPr/>
        </p:nvSpPr>
        <p:spPr>
          <a:xfrm>
            <a:off x="8726424" y="2752344"/>
            <a:ext cx="2795016" cy="530352"/>
          </a:xfrm>
          <a:prstGeom prst="rect">
            <a:avLst/>
          </a:prstGeom>
          <a:noFill/>
          <a:ln/>
        </p:spPr>
        <p:txBody>
          <a:bodyPr wrap="square" rtlCol="0" anchor="ctr"/>
          <a:lstStyle/>
          <a:p>
            <a:pPr indent="0" marL="0">
              <a:buNone/>
            </a:pPr>
            <a:r>
              <a:rPr lang="en-US" sz="1250" b="1" dirty="0">
                <a:solidFill>
                  <a:srgbClr val="141414"/>
                </a:solidFill>
                <a:latin typeface="Aptos Display" pitchFamily="34" charset="0"/>
                <a:ea typeface="Aptos Display" pitchFamily="34" charset="-122"/>
                <a:cs typeface="Aptos Display" pitchFamily="34" charset="-120"/>
              </a:rPr>
              <a:t>Report types (range)</a:t>
            </a:r>
            <a:endParaRPr lang="en-US" sz="1250" dirty="0"/>
          </a:p>
        </p:txBody>
      </p:sp>
      <p:sp>
        <p:nvSpPr>
          <p:cNvPr id="32" name="Shape 30"/>
          <p:cNvSpPr/>
          <p:nvPr/>
        </p:nvSpPr>
        <p:spPr>
          <a:xfrm>
            <a:off x="502920" y="3538728"/>
            <a:ext cx="3617976" cy="713232"/>
          </a:xfrm>
          <a:prstGeom prst="roundRect">
            <a:avLst>
              <a:gd name="adj" fmla="val 11538"/>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33" name="Shape 31"/>
          <p:cNvSpPr/>
          <p:nvPr/>
        </p:nvSpPr>
        <p:spPr>
          <a:xfrm>
            <a:off x="667512" y="3703320"/>
            <a:ext cx="384048" cy="384048"/>
          </a:xfrm>
          <a:prstGeom prst="ellipse">
            <a:avLst/>
          </a:prstGeom>
          <a:solidFill>
            <a:srgbClr val="3D3D3D"/>
          </a:solidFill>
          <a:ln/>
        </p:spPr>
      </p:sp>
      <p:sp>
        <p:nvSpPr>
          <p:cNvPr id="34" name="Text 32"/>
          <p:cNvSpPr/>
          <p:nvPr/>
        </p:nvSpPr>
        <p:spPr>
          <a:xfrm>
            <a:off x="667512" y="3703320"/>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7</a:t>
            </a:r>
            <a:endParaRPr lang="en-US" sz="1400" dirty="0"/>
          </a:p>
        </p:txBody>
      </p:sp>
      <p:sp>
        <p:nvSpPr>
          <p:cNvPr id="35" name="Text 33"/>
          <p:cNvSpPr/>
          <p:nvPr/>
        </p:nvSpPr>
        <p:spPr>
          <a:xfrm>
            <a:off x="1161288" y="3630168"/>
            <a:ext cx="2795016" cy="530352"/>
          </a:xfrm>
          <a:prstGeom prst="rect">
            <a:avLst/>
          </a:prstGeom>
          <a:noFill/>
          <a:ln/>
        </p:spPr>
        <p:txBody>
          <a:bodyPr wrap="square" rtlCol="0" anchor="ctr"/>
          <a:lstStyle/>
          <a:p>
            <a:pPr indent="0" marL="0">
              <a:buNone/>
            </a:pPr>
            <a:r>
              <a:rPr lang="en-US" sz="1250" b="1" dirty="0">
                <a:solidFill>
                  <a:srgbClr val="141414"/>
                </a:solidFill>
                <a:latin typeface="Aptos Display" pitchFamily="34" charset="0"/>
                <a:ea typeface="Aptos Display" pitchFamily="34" charset="-122"/>
                <a:cs typeface="Aptos Display" pitchFamily="34" charset="-120"/>
              </a:rPr>
              <a:t>Reporting deadlines</a:t>
            </a:r>
            <a:endParaRPr lang="en-US" sz="1250" dirty="0"/>
          </a:p>
        </p:txBody>
      </p:sp>
      <p:sp>
        <p:nvSpPr>
          <p:cNvPr id="36" name="Shape 34"/>
          <p:cNvSpPr/>
          <p:nvPr/>
        </p:nvSpPr>
        <p:spPr>
          <a:xfrm>
            <a:off x="4285488" y="3538728"/>
            <a:ext cx="3617976" cy="713232"/>
          </a:xfrm>
          <a:prstGeom prst="roundRect">
            <a:avLst>
              <a:gd name="adj" fmla="val 11538"/>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37" name="Shape 35"/>
          <p:cNvSpPr/>
          <p:nvPr/>
        </p:nvSpPr>
        <p:spPr>
          <a:xfrm>
            <a:off x="4450080" y="3703320"/>
            <a:ext cx="384048" cy="384048"/>
          </a:xfrm>
          <a:prstGeom prst="ellipse">
            <a:avLst/>
          </a:prstGeom>
          <a:solidFill>
            <a:srgbClr val="3D3D3D"/>
          </a:solidFill>
          <a:ln/>
        </p:spPr>
      </p:sp>
      <p:sp>
        <p:nvSpPr>
          <p:cNvPr id="38" name="Text 36"/>
          <p:cNvSpPr/>
          <p:nvPr/>
        </p:nvSpPr>
        <p:spPr>
          <a:xfrm>
            <a:off x="4450080" y="3703320"/>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8</a:t>
            </a:r>
            <a:endParaRPr lang="en-US" sz="1400" dirty="0"/>
          </a:p>
        </p:txBody>
      </p:sp>
      <p:sp>
        <p:nvSpPr>
          <p:cNvPr id="39" name="Text 37"/>
          <p:cNvSpPr/>
          <p:nvPr/>
        </p:nvSpPr>
        <p:spPr>
          <a:xfrm>
            <a:off x="4943856" y="3630168"/>
            <a:ext cx="2795016" cy="530352"/>
          </a:xfrm>
          <a:prstGeom prst="rect">
            <a:avLst/>
          </a:prstGeom>
          <a:noFill/>
          <a:ln/>
        </p:spPr>
        <p:txBody>
          <a:bodyPr wrap="square" rtlCol="0" anchor="ctr"/>
          <a:lstStyle/>
          <a:p>
            <a:pPr indent="0" marL="0">
              <a:buNone/>
            </a:pPr>
            <a:r>
              <a:rPr lang="en-US" sz="1250" b="1" dirty="0">
                <a:solidFill>
                  <a:srgbClr val="141414"/>
                </a:solidFill>
                <a:latin typeface="Aptos Display" pitchFamily="34" charset="0"/>
                <a:ea typeface="Aptos Display" pitchFamily="34" charset="-122"/>
                <a:cs typeface="Aptos Display" pitchFamily="34" charset="-120"/>
              </a:rPr>
              <a:t>Writing techniques</a:t>
            </a:r>
            <a:endParaRPr lang="en-US" sz="1250" dirty="0"/>
          </a:p>
        </p:txBody>
      </p:sp>
      <p:sp>
        <p:nvSpPr>
          <p:cNvPr id="40" name="Shape 38"/>
          <p:cNvSpPr/>
          <p:nvPr/>
        </p:nvSpPr>
        <p:spPr>
          <a:xfrm>
            <a:off x="8068056" y="3538728"/>
            <a:ext cx="3617976" cy="713232"/>
          </a:xfrm>
          <a:prstGeom prst="roundRect">
            <a:avLst>
              <a:gd name="adj" fmla="val 11538"/>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41" name="Shape 39"/>
          <p:cNvSpPr/>
          <p:nvPr/>
        </p:nvSpPr>
        <p:spPr>
          <a:xfrm>
            <a:off x="8232648" y="3703320"/>
            <a:ext cx="384048" cy="384048"/>
          </a:xfrm>
          <a:prstGeom prst="ellipse">
            <a:avLst/>
          </a:prstGeom>
          <a:solidFill>
            <a:srgbClr val="3D3D3D"/>
          </a:solidFill>
          <a:ln/>
        </p:spPr>
      </p:sp>
      <p:sp>
        <p:nvSpPr>
          <p:cNvPr id="42" name="Text 40"/>
          <p:cNvSpPr/>
          <p:nvPr/>
        </p:nvSpPr>
        <p:spPr>
          <a:xfrm>
            <a:off x="8232648" y="3703320"/>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9</a:t>
            </a:r>
            <a:endParaRPr lang="en-US" sz="1400" dirty="0"/>
          </a:p>
        </p:txBody>
      </p:sp>
      <p:sp>
        <p:nvSpPr>
          <p:cNvPr id="43" name="Text 41"/>
          <p:cNvSpPr/>
          <p:nvPr/>
        </p:nvSpPr>
        <p:spPr>
          <a:xfrm>
            <a:off x="8726424" y="3630168"/>
            <a:ext cx="2795016" cy="530352"/>
          </a:xfrm>
          <a:prstGeom prst="rect">
            <a:avLst/>
          </a:prstGeom>
          <a:noFill/>
          <a:ln/>
        </p:spPr>
        <p:txBody>
          <a:bodyPr wrap="square" rtlCol="0" anchor="ctr"/>
          <a:lstStyle/>
          <a:p>
            <a:pPr indent="0" marL="0">
              <a:buNone/>
            </a:pPr>
            <a:r>
              <a:rPr lang="en-US" sz="1250" b="1" dirty="0">
                <a:solidFill>
                  <a:srgbClr val="141414"/>
                </a:solidFill>
                <a:latin typeface="Aptos Display" pitchFamily="34" charset="0"/>
                <a:ea typeface="Aptos Display" pitchFamily="34" charset="-122"/>
                <a:cs typeface="Aptos Display" pitchFamily="34" charset="-120"/>
              </a:rPr>
              <a:t>Report recipients</a:t>
            </a:r>
            <a:endParaRPr lang="en-US" sz="1250" dirty="0"/>
          </a:p>
        </p:txBody>
      </p:sp>
      <p:sp>
        <p:nvSpPr>
          <p:cNvPr id="44" name="Text 42"/>
          <p:cNvSpPr/>
          <p:nvPr/>
        </p:nvSpPr>
        <p:spPr>
          <a:xfrm>
            <a:off x="502920" y="4617720"/>
            <a:ext cx="11183112" cy="274320"/>
          </a:xfrm>
          <a:prstGeom prst="rect">
            <a:avLst/>
          </a:prstGeom>
          <a:noFill/>
          <a:ln/>
        </p:spPr>
        <p:txBody>
          <a:bodyPr wrap="square" rtlCol="0" anchor="ctr"/>
          <a:lstStyle/>
          <a:p>
            <a:pPr indent="0" marL="0">
              <a:buNone/>
            </a:pPr>
            <a:r>
              <a:rPr lang="en-US" sz="1100" b="1" spc="150" kern="0" dirty="0">
                <a:solidFill>
                  <a:srgbClr val="3D3D3D"/>
                </a:solidFill>
                <a:latin typeface="Aptos" pitchFamily="34" charset="0"/>
                <a:ea typeface="Aptos" pitchFamily="34" charset="-122"/>
                <a:cs typeface="Aptos" pitchFamily="34" charset="-120"/>
              </a:rPr>
              <a:t>SECTION 2 — PRACTICAL ACTIVITIES (APPLICATION)</a:t>
            </a:r>
            <a:endParaRPr lang="en-US" sz="1100" dirty="0"/>
          </a:p>
        </p:txBody>
      </p:sp>
      <p:sp>
        <p:nvSpPr>
          <p:cNvPr id="45" name="Shape 43"/>
          <p:cNvSpPr/>
          <p:nvPr/>
        </p:nvSpPr>
        <p:spPr>
          <a:xfrm>
            <a:off x="502920" y="4983480"/>
            <a:ext cx="5477256" cy="777240"/>
          </a:xfrm>
          <a:prstGeom prst="roundRect">
            <a:avLst>
              <a:gd name="adj" fmla="val 10588"/>
            </a:avLst>
          </a:prstGeom>
          <a:solidFill>
            <a:srgbClr val="F2F2F2"/>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46" name="Shape 44"/>
          <p:cNvSpPr/>
          <p:nvPr/>
        </p:nvSpPr>
        <p:spPr>
          <a:xfrm>
            <a:off x="667512" y="5184648"/>
            <a:ext cx="384048" cy="384048"/>
          </a:xfrm>
          <a:prstGeom prst="ellipse">
            <a:avLst/>
          </a:prstGeom>
          <a:solidFill>
            <a:srgbClr val="141414"/>
          </a:solidFill>
          <a:ln/>
        </p:spPr>
      </p:sp>
      <p:sp>
        <p:nvSpPr>
          <p:cNvPr id="47" name="Text 45"/>
          <p:cNvSpPr/>
          <p:nvPr/>
        </p:nvSpPr>
        <p:spPr>
          <a:xfrm>
            <a:off x="667512" y="5184648"/>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10</a:t>
            </a:r>
            <a:endParaRPr lang="en-US" sz="1400" dirty="0"/>
          </a:p>
        </p:txBody>
      </p:sp>
      <p:sp>
        <p:nvSpPr>
          <p:cNvPr id="48" name="Text 46"/>
          <p:cNvSpPr/>
          <p:nvPr/>
        </p:nvSpPr>
        <p:spPr>
          <a:xfrm>
            <a:off x="1161288" y="4983480"/>
            <a:ext cx="4654296" cy="777240"/>
          </a:xfrm>
          <a:prstGeom prst="rect">
            <a:avLst/>
          </a:prstGeom>
          <a:noFill/>
          <a:ln/>
        </p:spPr>
        <p:txBody>
          <a:bodyPr wrap="square" rtlCol="0" anchor="ctr"/>
          <a:lstStyle/>
          <a:p>
            <a:pPr indent="0" marL="0">
              <a:buNone/>
            </a:pPr>
            <a:r>
              <a:rPr lang="en-US" sz="1300" b="1" dirty="0">
                <a:solidFill>
                  <a:srgbClr val="141414"/>
                </a:solidFill>
                <a:latin typeface="Aptos Display" pitchFamily="34" charset="0"/>
                <a:ea typeface="Aptos Display" pitchFamily="34" charset="-122"/>
                <a:cs typeface="Aptos Display" pitchFamily="34" charset="-120"/>
              </a:rPr>
              <a:t>Obtain &amp; distribute confidential information correctly</a:t>
            </a:r>
            <a:endParaRPr lang="en-US" sz="1300" dirty="0"/>
          </a:p>
        </p:txBody>
      </p:sp>
      <p:sp>
        <p:nvSpPr>
          <p:cNvPr id="49" name="Shape 47"/>
          <p:cNvSpPr/>
          <p:nvPr/>
        </p:nvSpPr>
        <p:spPr>
          <a:xfrm>
            <a:off x="6208776" y="4983480"/>
            <a:ext cx="5477256" cy="777240"/>
          </a:xfrm>
          <a:prstGeom prst="roundRect">
            <a:avLst>
              <a:gd name="adj" fmla="val 10588"/>
            </a:avLst>
          </a:prstGeom>
          <a:solidFill>
            <a:srgbClr val="F2F2F2"/>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50" name="Shape 48"/>
          <p:cNvSpPr/>
          <p:nvPr/>
        </p:nvSpPr>
        <p:spPr>
          <a:xfrm>
            <a:off x="6373368" y="5184648"/>
            <a:ext cx="384048" cy="384048"/>
          </a:xfrm>
          <a:prstGeom prst="ellipse">
            <a:avLst/>
          </a:prstGeom>
          <a:solidFill>
            <a:srgbClr val="141414"/>
          </a:solidFill>
          <a:ln/>
        </p:spPr>
      </p:sp>
      <p:sp>
        <p:nvSpPr>
          <p:cNvPr id="51" name="Text 49"/>
          <p:cNvSpPr/>
          <p:nvPr/>
        </p:nvSpPr>
        <p:spPr>
          <a:xfrm>
            <a:off x="6373368" y="5184648"/>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11</a:t>
            </a:r>
            <a:endParaRPr lang="en-US" sz="1400" dirty="0"/>
          </a:p>
        </p:txBody>
      </p:sp>
      <p:sp>
        <p:nvSpPr>
          <p:cNvPr id="52" name="Text 50"/>
          <p:cNvSpPr/>
          <p:nvPr/>
        </p:nvSpPr>
        <p:spPr>
          <a:xfrm>
            <a:off x="6867144" y="4983480"/>
            <a:ext cx="4654296" cy="777240"/>
          </a:xfrm>
          <a:prstGeom prst="rect">
            <a:avLst/>
          </a:prstGeom>
          <a:noFill/>
          <a:ln/>
        </p:spPr>
        <p:txBody>
          <a:bodyPr wrap="square" rtlCol="0" anchor="ctr"/>
          <a:lstStyle/>
          <a:p>
            <a:pPr indent="0" marL="0">
              <a:buNone/>
            </a:pPr>
            <a:r>
              <a:rPr lang="en-US" sz="1300" b="1" dirty="0">
                <a:solidFill>
                  <a:srgbClr val="141414"/>
                </a:solidFill>
                <a:latin typeface="Aptos Display" pitchFamily="34" charset="0"/>
                <a:ea typeface="Aptos Display" pitchFamily="34" charset="-122"/>
                <a:cs typeface="Aptos Display" pitchFamily="34" charset="-120"/>
              </a:rPr>
              <a:t>Compile complete reports — right content, format and deadline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5</a:t>
            </a:r>
            <a:endParaRPr lang="en-US" sz="900" dirty="0"/>
          </a:p>
        </p:txBody>
      </p:sp>
      <p:sp>
        <p:nvSpPr>
          <p:cNvPr id="4" name="Shape 2"/>
          <p:cNvSpPr/>
          <p:nvPr/>
        </p:nvSpPr>
        <p:spPr>
          <a:xfrm>
            <a:off x="0" y="0"/>
            <a:ext cx="12188952" cy="82296"/>
          </a:xfrm>
          <a:prstGeom prst="rect">
            <a:avLst/>
          </a:prstGeom>
          <a:solidFill>
            <a:srgbClr val="3D3D3D"/>
          </a:solidFill>
          <a:ln/>
        </p:spPr>
      </p:sp>
      <p:sp>
        <p:nvSpPr>
          <p:cNvPr id="5" name="Shape 3"/>
          <p:cNvSpPr/>
          <p:nvPr/>
        </p:nvSpPr>
        <p:spPr>
          <a:xfrm>
            <a:off x="0" y="0"/>
            <a:ext cx="12188952" cy="82296"/>
          </a:xfrm>
          <a:prstGeom prst="rect">
            <a:avLst/>
          </a:prstGeom>
          <a:solidFill>
            <a:srgbClr val="3D3D3D"/>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2920" y="1554480"/>
            <a:ext cx="548640" cy="548640"/>
          </a:xfrm>
          <a:prstGeom prst="rect">
            <a:avLst/>
          </a:prstGeom>
        </p:spPr>
      </p:pic>
      <p:sp>
        <p:nvSpPr>
          <p:cNvPr id="7" name="Text 4"/>
          <p:cNvSpPr/>
          <p:nvPr/>
        </p:nvSpPr>
        <p:spPr>
          <a:xfrm>
            <a:off x="502920" y="2286000"/>
            <a:ext cx="11183112" cy="365760"/>
          </a:xfrm>
          <a:prstGeom prst="rect">
            <a:avLst/>
          </a:prstGeom>
          <a:noFill/>
          <a:ln/>
        </p:spPr>
        <p:txBody>
          <a:bodyPr wrap="square" rtlCol="0" anchor="ctr"/>
          <a:lstStyle/>
          <a:p>
            <a:pPr indent="0" marL="0">
              <a:buNone/>
            </a:pPr>
            <a:r>
              <a:rPr lang="en-US" sz="1400" b="1" spc="300" kern="0" dirty="0">
                <a:solidFill>
                  <a:srgbClr val="3D3D3D"/>
                </a:solidFill>
                <a:latin typeface="Aptos" pitchFamily="34" charset="0"/>
                <a:ea typeface="Aptos" pitchFamily="34" charset="-122"/>
                <a:cs typeface="Aptos" pitchFamily="34" charset="-120"/>
              </a:rPr>
              <a:t>SECTION 1</a:t>
            </a:r>
            <a:endParaRPr lang="en-US" sz="1400" dirty="0"/>
          </a:p>
        </p:txBody>
      </p:sp>
      <p:sp>
        <p:nvSpPr>
          <p:cNvPr id="8" name="Text 5"/>
          <p:cNvSpPr/>
          <p:nvPr/>
        </p:nvSpPr>
        <p:spPr>
          <a:xfrm>
            <a:off x="502920" y="2697480"/>
            <a:ext cx="11183112" cy="914400"/>
          </a:xfrm>
          <a:prstGeom prst="rect">
            <a:avLst/>
          </a:prstGeom>
          <a:noFill/>
          <a:ln/>
        </p:spPr>
        <p:txBody>
          <a:bodyPr wrap="square" rtlCol="0" anchor="ctr"/>
          <a:lstStyle/>
          <a:p>
            <a:pPr indent="0" marL="0">
              <a:buNone/>
            </a:pPr>
            <a:r>
              <a:rPr lang="en-US" sz="4000" b="1" dirty="0">
                <a:solidFill>
                  <a:srgbClr val="141414"/>
                </a:solidFill>
                <a:latin typeface="Aptos Display" pitchFamily="34" charset="0"/>
                <a:ea typeface="Aptos Display" pitchFamily="34" charset="-122"/>
                <a:cs typeface="Aptos Display" pitchFamily="34" charset="-120"/>
              </a:rPr>
              <a:t>Embedded Knowledge Questions</a:t>
            </a:r>
            <a:endParaRPr lang="en-US" sz="4000" dirty="0"/>
          </a:p>
        </p:txBody>
      </p:sp>
      <p:sp>
        <p:nvSpPr>
          <p:cNvPr id="9" name="Text 6"/>
          <p:cNvSpPr/>
          <p:nvPr/>
        </p:nvSpPr>
        <p:spPr>
          <a:xfrm>
            <a:off x="502920" y="3657600"/>
            <a:ext cx="8439912" cy="731520"/>
          </a:xfrm>
          <a:prstGeom prst="rect">
            <a:avLst/>
          </a:prstGeom>
          <a:noFill/>
          <a:ln/>
        </p:spPr>
        <p:txBody>
          <a:bodyPr wrap="square" rtlCol="0" anchor="ctr"/>
          <a:lstStyle/>
          <a:p>
            <a:pPr indent="0" marL="0">
              <a:buNone/>
            </a:pPr>
            <a:r>
              <a:rPr lang="en-US" sz="1500" dirty="0">
                <a:solidFill>
                  <a:srgbClr val="6B7280"/>
                </a:solidFill>
                <a:latin typeface="Aptos" pitchFamily="34" charset="0"/>
                <a:ea typeface="Aptos" pitchFamily="34" charset="-122"/>
                <a:cs typeface="Aptos" pitchFamily="34" charset="-120"/>
              </a:rPr>
              <a:t>Nine criteria that assess whether the learner understands the theory behind professional report writing.</a:t>
            </a:r>
            <a:endParaRPr lang="en-US" sz="1500" dirty="0"/>
          </a:p>
        </p:txBody>
      </p:sp>
      <p:sp>
        <p:nvSpPr>
          <p:cNvPr id="10" name="Shape 7"/>
          <p:cNvSpPr/>
          <p:nvPr/>
        </p:nvSpPr>
        <p:spPr>
          <a:xfrm>
            <a:off x="502920" y="4480560"/>
            <a:ext cx="1280160" cy="109728"/>
          </a:xfrm>
          <a:prstGeom prst="roundRect">
            <a:avLst>
              <a:gd name="adj" fmla="val 50000"/>
            </a:avLst>
          </a:prstGeom>
          <a:solidFill>
            <a:srgbClr val="3D3D3D"/>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6</a:t>
            </a:r>
            <a:endParaRPr lang="en-US" sz="900" dirty="0"/>
          </a:p>
        </p:txBody>
      </p:sp>
      <p:sp>
        <p:nvSpPr>
          <p:cNvPr id="4" name="Shape 2"/>
          <p:cNvSpPr/>
          <p:nvPr/>
        </p:nvSpPr>
        <p:spPr>
          <a:xfrm>
            <a:off x="0" y="0"/>
            <a:ext cx="12188952" cy="82296"/>
          </a:xfrm>
          <a:prstGeom prst="rect">
            <a:avLst/>
          </a:prstGeom>
          <a:solidFill>
            <a:srgbClr val="3D3D3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3D3D3D"/>
                </a:solidFill>
                <a:latin typeface="Aptos" pitchFamily="34" charset="0"/>
                <a:ea typeface="Aptos" pitchFamily="34" charset="-122"/>
                <a:cs typeface="Aptos" pitchFamily="34" charset="-120"/>
              </a:rPr>
              <a:t>EMBEDDED KNOWLEDGE · CRITERION 1</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141414"/>
                </a:solidFill>
                <a:latin typeface="Aptos Display" pitchFamily="34" charset="0"/>
                <a:ea typeface="Aptos Display" pitchFamily="34" charset="-122"/>
                <a:cs typeface="Aptos Display" pitchFamily="34" charset="-120"/>
              </a:rPr>
              <a:t>Purpose and content of reports</a:t>
            </a:r>
            <a:endParaRPr lang="en-US" sz="2600" dirty="0"/>
          </a:p>
        </p:txBody>
      </p:sp>
      <p:sp>
        <p:nvSpPr>
          <p:cNvPr id="7" name="Shape 5"/>
          <p:cNvSpPr/>
          <p:nvPr/>
        </p:nvSpPr>
        <p:spPr>
          <a:xfrm>
            <a:off x="502920" y="1298448"/>
            <a:ext cx="11183112" cy="566928"/>
          </a:xfrm>
          <a:prstGeom prst="roundRect">
            <a:avLst>
              <a:gd name="adj" fmla="val 11290"/>
            </a:avLst>
          </a:prstGeom>
          <a:solidFill>
            <a:srgbClr val="F2F2F2"/>
          </a:solidFill>
          <a:ln w="9525">
            <a:solidFill>
              <a:srgbClr val="DBDBDB"/>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1444752"/>
            <a:ext cx="274320" cy="274320"/>
          </a:xfrm>
          <a:prstGeom prst="rect">
            <a:avLst/>
          </a:prstGeom>
        </p:spPr>
      </p:pic>
      <p:sp>
        <p:nvSpPr>
          <p:cNvPr id="9" name="Text 6"/>
          <p:cNvSpPr/>
          <p:nvPr/>
        </p:nvSpPr>
        <p:spPr>
          <a:xfrm>
            <a:off x="1069848" y="1298448"/>
            <a:ext cx="10378440" cy="566928"/>
          </a:xfrm>
          <a:prstGeom prst="rect">
            <a:avLst/>
          </a:prstGeom>
          <a:noFill/>
          <a:ln/>
        </p:spPr>
        <p:txBody>
          <a:bodyPr wrap="square" rtlCol="0" anchor="ctr"/>
          <a:lstStyle/>
          <a:p>
            <a:pPr indent="0" marL="0">
              <a:buNone/>
            </a:pPr>
            <a:r>
              <a:rPr lang="en-US" sz="1050" b="1" spc="150" kern="0" dirty="0">
                <a:solidFill>
                  <a:srgbClr val="3D3D3D"/>
                </a:solidFill>
                <a:latin typeface="Aptos" pitchFamily="34" charset="0"/>
                <a:ea typeface="Aptos" pitchFamily="34" charset="-122"/>
                <a:cs typeface="Aptos" pitchFamily="34" charset="-120"/>
              </a:rPr>
              <a:t>LEARNING OBJECTIVE   </a:t>
            </a:r>
            <a:pPr indent="0" marL="0">
              <a:buNone/>
            </a:pPr>
            <a:r>
              <a:rPr lang="en-US" sz="1300" dirty="0">
                <a:solidFill>
                  <a:srgbClr val="141414"/>
                </a:solidFill>
                <a:latin typeface="Aptos" pitchFamily="34" charset="0"/>
                <a:ea typeface="Aptos" pitchFamily="34" charset="-122"/>
                <a:cs typeface="Aptos" pitchFamily="34" charset="-120"/>
              </a:rPr>
              <a:t>Relate the purpose and content of a range of reports to the information needs of the business.</a:t>
            </a:r>
            <a:endParaRPr lang="en-US" sz="1050" dirty="0"/>
          </a:p>
        </p:txBody>
      </p:sp>
      <p:sp>
        <p:nvSpPr>
          <p:cNvPr id="10" name="Text 7"/>
          <p:cNvSpPr/>
          <p:nvPr/>
        </p:nvSpPr>
        <p:spPr>
          <a:xfrm>
            <a:off x="502920" y="1993392"/>
            <a:ext cx="11183112" cy="566928"/>
          </a:xfrm>
          <a:prstGeom prst="rect">
            <a:avLst/>
          </a:prstGeom>
          <a:noFill/>
          <a:ln/>
        </p:spPr>
        <p:txBody>
          <a:bodyPr wrap="square" rtlCol="0" anchor="t"/>
          <a:lstStyle/>
          <a:p>
            <a:pPr indent="0" marL="0">
              <a:lnSpc>
                <a:spcPct val="115000"/>
              </a:lnSpc>
              <a:buNone/>
            </a:pPr>
            <a:r>
              <a:rPr lang="en-US" sz="1350" dirty="0">
                <a:solidFill>
                  <a:srgbClr val="6B7280"/>
                </a:solidFill>
                <a:latin typeface="Aptos" pitchFamily="34" charset="0"/>
                <a:ea typeface="Aptos" pitchFamily="34" charset="-122"/>
                <a:cs typeface="Aptos" pitchFamily="34" charset="-120"/>
              </a:rPr>
              <a:t>Every report exists to answer a reader's questions so a decision can be made. Content must match what the reader needs — nothing more, nothing less.</a:t>
            </a:r>
            <a:endParaRPr lang="en-US" sz="1350" dirty="0"/>
          </a:p>
        </p:txBody>
      </p:sp>
      <p:sp>
        <p:nvSpPr>
          <p:cNvPr id="11" name="Shape 8"/>
          <p:cNvSpPr/>
          <p:nvPr/>
        </p:nvSpPr>
        <p:spPr>
          <a:xfrm>
            <a:off x="502920" y="2880360"/>
            <a:ext cx="2987802" cy="1371600"/>
          </a:xfrm>
          <a:prstGeom prst="homePlate">
            <a:avLst/>
          </a:prstGeom>
          <a:solidFill>
            <a:srgbClr val="3D3D3D"/>
          </a:solidFill>
          <a:ln w="19050">
            <a:solidFill>
              <a:srgbClr val="FFFFFF"/>
            </a:solidFill>
            <a:prstDash val="solid"/>
          </a:ln>
        </p:spPr>
      </p:sp>
      <p:sp>
        <p:nvSpPr>
          <p:cNvPr id="12" name="Text 9"/>
          <p:cNvSpPr/>
          <p:nvPr/>
        </p:nvSpPr>
        <p:spPr>
          <a:xfrm>
            <a:off x="612648" y="2880360"/>
            <a:ext cx="2576322" cy="1371600"/>
          </a:xfrm>
          <a:prstGeom prst="rect">
            <a:avLst/>
          </a:prstGeom>
          <a:noFill/>
          <a:ln/>
        </p:spPr>
        <p:txBody>
          <a:bodyPr wrap="square"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Why am I</a:t>
            </a:r>
            <a:endParaRPr lang="en-US" sz="1200" dirty="0"/>
          </a:p>
          <a:p>
            <a:pPr algn="ctr" indent="0" marL="0">
              <a:buNone/>
            </a:pPr>
            <a:r>
              <a:rPr lang="en-US" sz="1200" b="1" dirty="0">
                <a:solidFill>
                  <a:srgbClr val="FFFFFF"/>
                </a:solidFill>
                <a:latin typeface="Aptos" pitchFamily="34" charset="0"/>
                <a:ea typeface="Aptos" pitchFamily="34" charset="-122"/>
                <a:cs typeface="Aptos" pitchFamily="34" charset="-120"/>
              </a:rPr>
              <a:t>writing this?</a:t>
            </a:r>
            <a:endParaRPr lang="en-US" sz="1200" dirty="0"/>
          </a:p>
        </p:txBody>
      </p:sp>
      <p:sp>
        <p:nvSpPr>
          <p:cNvPr id="13" name="Shape 10"/>
          <p:cNvSpPr/>
          <p:nvPr/>
        </p:nvSpPr>
        <p:spPr>
          <a:xfrm>
            <a:off x="3234690" y="2880360"/>
            <a:ext cx="2987802" cy="1371600"/>
          </a:xfrm>
          <a:prstGeom prst="chevron">
            <a:avLst/>
          </a:prstGeom>
          <a:solidFill>
            <a:srgbClr val="141414"/>
          </a:solidFill>
          <a:ln w="19050">
            <a:solidFill>
              <a:srgbClr val="FFFFFF"/>
            </a:solidFill>
            <a:prstDash val="solid"/>
          </a:ln>
        </p:spPr>
      </p:sp>
      <p:sp>
        <p:nvSpPr>
          <p:cNvPr id="14" name="Text 11"/>
          <p:cNvSpPr/>
          <p:nvPr/>
        </p:nvSpPr>
        <p:spPr>
          <a:xfrm>
            <a:off x="3509010" y="2880360"/>
            <a:ext cx="2576322" cy="1371600"/>
          </a:xfrm>
          <a:prstGeom prst="rect">
            <a:avLst/>
          </a:prstGeom>
          <a:noFill/>
          <a:ln/>
        </p:spPr>
        <p:txBody>
          <a:bodyPr wrap="square"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Who will</a:t>
            </a:r>
            <a:endParaRPr lang="en-US" sz="1200" dirty="0"/>
          </a:p>
          <a:p>
            <a:pPr algn="ctr" indent="0" marL="0">
              <a:buNone/>
            </a:pPr>
            <a:r>
              <a:rPr lang="en-US" sz="1200" b="1" dirty="0">
                <a:solidFill>
                  <a:srgbClr val="FFFFFF"/>
                </a:solidFill>
                <a:latin typeface="Aptos" pitchFamily="34" charset="0"/>
                <a:ea typeface="Aptos" pitchFamily="34" charset="-122"/>
                <a:cs typeface="Aptos" pitchFamily="34" charset="-120"/>
              </a:rPr>
              <a:t>read it?</a:t>
            </a:r>
            <a:endParaRPr lang="en-US" sz="1200" dirty="0"/>
          </a:p>
        </p:txBody>
      </p:sp>
      <p:sp>
        <p:nvSpPr>
          <p:cNvPr id="15" name="Shape 12"/>
          <p:cNvSpPr/>
          <p:nvPr/>
        </p:nvSpPr>
        <p:spPr>
          <a:xfrm>
            <a:off x="5966460" y="2880360"/>
            <a:ext cx="2987802" cy="1371600"/>
          </a:xfrm>
          <a:prstGeom prst="chevron">
            <a:avLst/>
          </a:prstGeom>
          <a:solidFill>
            <a:srgbClr val="3D3D3D"/>
          </a:solidFill>
          <a:ln w="19050">
            <a:solidFill>
              <a:srgbClr val="FFFFFF"/>
            </a:solidFill>
            <a:prstDash val="solid"/>
          </a:ln>
        </p:spPr>
      </p:sp>
      <p:sp>
        <p:nvSpPr>
          <p:cNvPr id="16" name="Text 13"/>
          <p:cNvSpPr/>
          <p:nvPr/>
        </p:nvSpPr>
        <p:spPr>
          <a:xfrm>
            <a:off x="6240780" y="2880360"/>
            <a:ext cx="2576322" cy="1371600"/>
          </a:xfrm>
          <a:prstGeom prst="rect">
            <a:avLst/>
          </a:prstGeom>
          <a:noFill/>
          <a:ln/>
        </p:spPr>
        <p:txBody>
          <a:bodyPr wrap="square"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What will</a:t>
            </a:r>
            <a:endParaRPr lang="en-US" sz="1200" dirty="0"/>
          </a:p>
          <a:p>
            <a:pPr algn="ctr" indent="0" marL="0">
              <a:buNone/>
            </a:pPr>
            <a:r>
              <a:rPr lang="en-US" sz="1200" b="1" dirty="0">
                <a:solidFill>
                  <a:srgbClr val="FFFFFF"/>
                </a:solidFill>
                <a:latin typeface="Aptos" pitchFamily="34" charset="0"/>
                <a:ea typeface="Aptos" pitchFamily="34" charset="-122"/>
                <a:cs typeface="Aptos" pitchFamily="34" charset="-120"/>
              </a:rPr>
              <a:t>they decide?</a:t>
            </a:r>
            <a:endParaRPr lang="en-US" sz="1200" dirty="0"/>
          </a:p>
        </p:txBody>
      </p:sp>
      <p:sp>
        <p:nvSpPr>
          <p:cNvPr id="17" name="Shape 14"/>
          <p:cNvSpPr/>
          <p:nvPr/>
        </p:nvSpPr>
        <p:spPr>
          <a:xfrm>
            <a:off x="8698230" y="2880360"/>
            <a:ext cx="2987802" cy="1371600"/>
          </a:xfrm>
          <a:prstGeom prst="chevron">
            <a:avLst/>
          </a:prstGeom>
          <a:solidFill>
            <a:srgbClr val="141414"/>
          </a:solidFill>
          <a:ln w="19050">
            <a:solidFill>
              <a:srgbClr val="FFFFFF"/>
            </a:solidFill>
            <a:prstDash val="solid"/>
          </a:ln>
        </p:spPr>
      </p:sp>
      <p:sp>
        <p:nvSpPr>
          <p:cNvPr id="18" name="Text 15"/>
          <p:cNvSpPr/>
          <p:nvPr/>
        </p:nvSpPr>
        <p:spPr>
          <a:xfrm>
            <a:off x="8972550" y="2880360"/>
            <a:ext cx="2576322" cy="1371600"/>
          </a:xfrm>
          <a:prstGeom prst="rect">
            <a:avLst/>
          </a:prstGeom>
          <a:noFill/>
          <a:ln/>
        </p:spPr>
        <p:txBody>
          <a:bodyPr wrap="square"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Write only what</a:t>
            </a:r>
            <a:endParaRPr lang="en-US" sz="1200" dirty="0"/>
          </a:p>
          <a:p>
            <a:pPr algn="ctr" indent="0" marL="0">
              <a:buNone/>
            </a:pPr>
            <a:r>
              <a:rPr lang="en-US" sz="1200" b="1" dirty="0">
                <a:solidFill>
                  <a:srgbClr val="FFFFFF"/>
                </a:solidFill>
                <a:latin typeface="Aptos" pitchFamily="34" charset="0"/>
                <a:ea typeface="Aptos" pitchFamily="34" charset="-122"/>
                <a:cs typeface="Aptos" pitchFamily="34" charset="-120"/>
              </a:rPr>
              <a:t>answers that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7</a:t>
            </a:r>
            <a:endParaRPr lang="en-US" sz="900" dirty="0"/>
          </a:p>
        </p:txBody>
      </p:sp>
      <p:sp>
        <p:nvSpPr>
          <p:cNvPr id="4" name="Shape 2"/>
          <p:cNvSpPr/>
          <p:nvPr/>
        </p:nvSpPr>
        <p:spPr>
          <a:xfrm>
            <a:off x="0" y="0"/>
            <a:ext cx="12188952" cy="82296"/>
          </a:xfrm>
          <a:prstGeom prst="rect">
            <a:avLst/>
          </a:prstGeom>
          <a:solidFill>
            <a:srgbClr val="3D3D3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3D3D3D"/>
                </a:solidFill>
                <a:latin typeface="Aptos" pitchFamily="34" charset="0"/>
                <a:ea typeface="Aptos" pitchFamily="34" charset="-122"/>
                <a:cs typeface="Aptos" pitchFamily="34" charset="-120"/>
              </a:rPr>
              <a:t>EMBEDDED KNOWLEDGE · CRITERION 1</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141414"/>
                </a:solidFill>
                <a:latin typeface="Aptos Display" pitchFamily="34" charset="0"/>
                <a:ea typeface="Aptos Display" pitchFamily="34" charset="-122"/>
                <a:cs typeface="Aptos Display" pitchFamily="34" charset="-120"/>
              </a:rPr>
              <a:t>Purpose and content of reports — in practice</a:t>
            </a:r>
            <a:endParaRPr lang="en-US" sz="2600" dirty="0"/>
          </a:p>
        </p:txBody>
      </p:sp>
      <p:sp>
        <p:nvSpPr>
          <p:cNvPr id="7" name="Shape 5"/>
          <p:cNvSpPr/>
          <p:nvPr/>
        </p:nvSpPr>
        <p:spPr>
          <a:xfrm>
            <a:off x="502920" y="1371600"/>
            <a:ext cx="11183112" cy="2468880"/>
          </a:xfrm>
          <a:prstGeom prst="roundRect">
            <a:avLst>
              <a:gd name="adj" fmla="val 3333"/>
            </a:avLst>
          </a:prstGeom>
          <a:solidFill>
            <a:srgbClr val="F2F2F2"/>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8" name="Shape 6"/>
          <p:cNvSpPr/>
          <p:nvPr/>
        </p:nvSpPr>
        <p:spPr>
          <a:xfrm>
            <a:off x="502920" y="1371600"/>
            <a:ext cx="82296" cy="2468880"/>
          </a:xfrm>
          <a:prstGeom prst="rect">
            <a:avLst/>
          </a:prstGeom>
          <a:solidFill>
            <a:srgbClr val="3D3D3D"/>
          </a:solidFill>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082528" y="1554480"/>
            <a:ext cx="347472" cy="347472"/>
          </a:xfrm>
          <a:prstGeom prst="rect">
            <a:avLst/>
          </a:prstGeom>
        </p:spPr>
      </p:pic>
      <p:sp>
        <p:nvSpPr>
          <p:cNvPr id="10" name="Text 7"/>
          <p:cNvSpPr/>
          <p:nvPr/>
        </p:nvSpPr>
        <p:spPr>
          <a:xfrm>
            <a:off x="795528" y="1517904"/>
            <a:ext cx="10177272" cy="2176272"/>
          </a:xfrm>
          <a:prstGeom prst="rect">
            <a:avLst/>
          </a:prstGeom>
          <a:noFill/>
          <a:ln/>
        </p:spPr>
        <p:txBody>
          <a:bodyPr wrap="square" rtlCol="0" anchor="t"/>
          <a:lstStyle/>
          <a:p>
            <a:pPr indent="0" marL="0">
              <a:lnSpc>
                <a:spcPct val="115000"/>
              </a:lnSpc>
              <a:buNone/>
            </a:pPr>
            <a:r>
              <a:rPr lang="en-US" sz="1050" b="1" spc="150" kern="0" dirty="0">
                <a:solidFill>
                  <a:srgbClr val="3D3D3D"/>
                </a:solidFill>
                <a:latin typeface="Aptos" pitchFamily="34" charset="0"/>
                <a:ea typeface="Aptos" pitchFamily="34" charset="-122"/>
                <a:cs typeface="Aptos" pitchFamily="34" charset="-120"/>
              </a:rPr>
              <a:t>WORKPLACE EXAMPLE — INVESTEC
</a:t>
            </a:r>
            <a:pPr indent="0" marL="0">
              <a:lnSpc>
                <a:spcPct val="115000"/>
              </a:lnSpc>
              <a:buNone/>
            </a:pPr>
            <a:r>
              <a:rPr lang="en-US" sz="1500" b="1" dirty="0">
                <a:solidFill>
                  <a:srgbClr val="141414"/>
                </a:solidFill>
                <a:latin typeface="Aptos Display" pitchFamily="34" charset="0"/>
                <a:ea typeface="Aptos Display" pitchFamily="34" charset="-122"/>
                <a:cs typeface="Aptos Display" pitchFamily="34" charset="-120"/>
              </a:rPr>
              <a:t>Incident report after a network outage
</a:t>
            </a:r>
            <a:pPr indent="0" marL="0">
              <a:lnSpc>
                <a:spcPct val="115000"/>
              </a:lnSpc>
              <a:buNone/>
            </a:pPr>
            <a:r>
              <a:rPr lang="en-US" sz="1250" dirty="0">
                <a:solidFill>
                  <a:srgbClr val="141414"/>
                </a:solidFill>
                <a:latin typeface="Aptos" pitchFamily="34" charset="0"/>
                <a:ea typeface="Aptos" pitchFamily="34" charset="-122"/>
                <a:cs typeface="Aptos" pitchFamily="34" charset="-120"/>
              </a:rPr>
              <a:t>An Investec IT Support Technician writes an incident report after a network outage. The IT Manager needs five answers: What happened? Why did it happen? Which users were affected? How was it fixed? How will it be prevented? The report answers exactly those questions — with no unnecessary technical detail.</a:t>
            </a:r>
            <a:endParaRPr lang="en-US" sz="1050" dirty="0"/>
          </a:p>
        </p:txBody>
      </p:sp>
      <p:sp>
        <p:nvSpPr>
          <p:cNvPr id="11" name="Shape 8"/>
          <p:cNvSpPr/>
          <p:nvPr/>
        </p:nvSpPr>
        <p:spPr>
          <a:xfrm>
            <a:off x="502920" y="4023360"/>
            <a:ext cx="5362956" cy="1371600"/>
          </a:xfrm>
          <a:prstGeom prst="roundRect">
            <a:avLst>
              <a:gd name="adj" fmla="val 6000"/>
            </a:avLst>
          </a:prstGeom>
          <a:solidFill>
            <a:srgbClr val="F2F2F2"/>
          </a:solidFill>
          <a:ln w="12700">
            <a:solidFill>
              <a:srgbClr val="DBDBDB"/>
            </a:solidFill>
            <a:prstDash val="solid"/>
          </a:ln>
          <a:effectLst>
            <a:outerShdw sx="100000" sy="100000" kx="0" ky="0" algn="bl" rotWithShape="0" blurRad="88900" dist="25400" dir="5400000">
              <a:srgbClr val="BDBDBD">
                <a:alpha val="30000"/>
              </a:srgbClr>
            </a:outerShdw>
          </a:effectLst>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520" y="4169664"/>
            <a:ext cx="274320" cy="274320"/>
          </a:xfrm>
          <a:prstGeom prst="rect">
            <a:avLst/>
          </a:prstGeom>
        </p:spPr>
      </p:pic>
      <p:sp>
        <p:nvSpPr>
          <p:cNvPr id="13" name="Text 9"/>
          <p:cNvSpPr/>
          <p:nvPr/>
        </p:nvSpPr>
        <p:spPr>
          <a:xfrm>
            <a:off x="1088136" y="4151376"/>
            <a:ext cx="4539996" cy="310896"/>
          </a:xfrm>
          <a:prstGeom prst="rect">
            <a:avLst/>
          </a:prstGeom>
          <a:noFill/>
          <a:ln/>
        </p:spPr>
        <p:txBody>
          <a:bodyPr wrap="square" rtlCol="0" anchor="ctr"/>
          <a:lstStyle/>
          <a:p>
            <a:pPr indent="0" marL="0">
              <a:buNone/>
            </a:pPr>
            <a:r>
              <a:rPr lang="en-US" sz="1100" b="1" spc="150" kern="0" dirty="0">
                <a:solidFill>
                  <a:srgbClr val="3D3D3D"/>
                </a:solidFill>
                <a:latin typeface="Aptos" pitchFamily="34" charset="0"/>
                <a:ea typeface="Aptos" pitchFamily="34" charset="-122"/>
                <a:cs typeface="Aptos" pitchFamily="34" charset="-120"/>
              </a:rPr>
              <a:t>BEST PRACTICE</a:t>
            </a:r>
            <a:endParaRPr lang="en-US" sz="1100" dirty="0"/>
          </a:p>
        </p:txBody>
      </p:sp>
      <p:sp>
        <p:nvSpPr>
          <p:cNvPr id="14" name="Text 10"/>
          <p:cNvSpPr/>
          <p:nvPr/>
        </p:nvSpPr>
        <p:spPr>
          <a:xfrm>
            <a:off x="731520" y="4498848"/>
            <a:ext cx="4905756" cy="786384"/>
          </a:xfrm>
          <a:prstGeom prst="rect">
            <a:avLst/>
          </a:prstGeom>
          <a:noFill/>
          <a:ln/>
        </p:spPr>
        <p:txBody>
          <a:bodyPr wrap="square" rtlCol="0" anchor="t"/>
          <a:lstStyle/>
          <a:p>
            <a:pPr indent="0" marL="0">
              <a:buNone/>
            </a:pPr>
            <a:r>
              <a:rPr lang="en-US" sz="1250" dirty="0">
                <a:solidFill>
                  <a:srgbClr val="141414"/>
                </a:solidFill>
                <a:latin typeface="Aptos" pitchFamily="34" charset="0"/>
                <a:ea typeface="Aptos" pitchFamily="34" charset="-122"/>
                <a:cs typeface="Aptos" pitchFamily="34" charset="-120"/>
              </a:rPr>
              <a:t>Confirm the reader's questions before you write a single word.</a:t>
            </a:r>
            <a:endParaRPr lang="en-US" sz="1250" dirty="0"/>
          </a:p>
        </p:txBody>
      </p:sp>
      <p:sp>
        <p:nvSpPr>
          <p:cNvPr id="15" name="Shape 11"/>
          <p:cNvSpPr/>
          <p:nvPr/>
        </p:nvSpPr>
        <p:spPr>
          <a:xfrm>
            <a:off x="6323076" y="4023360"/>
            <a:ext cx="5362956" cy="1371600"/>
          </a:xfrm>
          <a:prstGeom prst="roundRect">
            <a:avLst>
              <a:gd name="adj" fmla="val 6000"/>
            </a:avLst>
          </a:prstGeom>
          <a:solidFill>
            <a:srgbClr val="F4F5F7"/>
          </a:solidFill>
          <a:ln w="12700">
            <a:solidFill>
              <a:srgbClr val="DADDE2"/>
            </a:solidFill>
            <a:prstDash val="solid"/>
          </a:ln>
          <a:effectLst>
            <a:outerShdw sx="100000" sy="100000" kx="0" ky="0" algn="bl" rotWithShape="0" blurRad="88900" dist="25400" dir="5400000">
              <a:srgbClr val="BDBDBD">
                <a:alpha val="30000"/>
              </a:srgbClr>
            </a:outerShdw>
          </a:effectLst>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51676" y="4169664"/>
            <a:ext cx="274320" cy="274320"/>
          </a:xfrm>
          <a:prstGeom prst="rect">
            <a:avLst/>
          </a:prstGeom>
        </p:spPr>
      </p:pic>
      <p:sp>
        <p:nvSpPr>
          <p:cNvPr id="17" name="Text 12"/>
          <p:cNvSpPr/>
          <p:nvPr/>
        </p:nvSpPr>
        <p:spPr>
          <a:xfrm>
            <a:off x="6908292" y="4151376"/>
            <a:ext cx="4539996" cy="310896"/>
          </a:xfrm>
          <a:prstGeom prst="rect">
            <a:avLst/>
          </a:prstGeom>
          <a:noFill/>
          <a:ln/>
        </p:spPr>
        <p:txBody>
          <a:bodyPr wrap="square" rtlCol="0" anchor="ctr"/>
          <a:lstStyle/>
          <a:p>
            <a:pPr indent="0" marL="0">
              <a:buNone/>
            </a:pPr>
            <a:r>
              <a:rPr lang="en-US" sz="1100" b="1" spc="150" kern="0" dirty="0">
                <a:solidFill>
                  <a:srgbClr val="6B7280"/>
                </a:solidFill>
                <a:latin typeface="Aptos" pitchFamily="34" charset="0"/>
                <a:ea typeface="Aptos" pitchFamily="34" charset="-122"/>
                <a:cs typeface="Aptos" pitchFamily="34" charset="-120"/>
              </a:rPr>
              <a:t>COMMON MISTAKE</a:t>
            </a:r>
            <a:endParaRPr lang="en-US" sz="1100" dirty="0"/>
          </a:p>
        </p:txBody>
      </p:sp>
      <p:sp>
        <p:nvSpPr>
          <p:cNvPr id="18" name="Text 13"/>
          <p:cNvSpPr/>
          <p:nvPr/>
        </p:nvSpPr>
        <p:spPr>
          <a:xfrm>
            <a:off x="6551676" y="4498848"/>
            <a:ext cx="4905756" cy="786384"/>
          </a:xfrm>
          <a:prstGeom prst="rect">
            <a:avLst/>
          </a:prstGeom>
          <a:noFill/>
          <a:ln/>
        </p:spPr>
        <p:txBody>
          <a:bodyPr wrap="square" rtlCol="0" anchor="t"/>
          <a:lstStyle/>
          <a:p>
            <a:pPr indent="0" marL="0">
              <a:buNone/>
            </a:pPr>
            <a:r>
              <a:rPr lang="en-US" sz="1250" dirty="0">
                <a:solidFill>
                  <a:srgbClr val="141414"/>
                </a:solidFill>
                <a:latin typeface="Aptos" pitchFamily="34" charset="0"/>
                <a:ea typeface="Aptos" pitchFamily="34" charset="-122"/>
                <a:cs typeface="Aptos" pitchFamily="34" charset="-120"/>
              </a:rPr>
              <a:t>Padding the report with technical detail the reader never asked for.</a:t>
            </a:r>
            <a:endParaRPr lang="en-US" sz="1250" dirty="0"/>
          </a:p>
        </p:txBody>
      </p:sp>
      <p:sp>
        <p:nvSpPr>
          <p:cNvPr id="19" name="Shape 14"/>
          <p:cNvSpPr/>
          <p:nvPr/>
        </p:nvSpPr>
        <p:spPr>
          <a:xfrm>
            <a:off x="502920" y="5779008"/>
            <a:ext cx="11183112" cy="603504"/>
          </a:xfrm>
          <a:prstGeom prst="roundRect">
            <a:avLst>
              <a:gd name="adj" fmla="val 10606"/>
            </a:avLst>
          </a:prstGeom>
          <a:solidFill>
            <a:srgbClr val="141414"/>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4088" y="5943600"/>
            <a:ext cx="274320" cy="274320"/>
          </a:xfrm>
          <a:prstGeom prst="rect">
            <a:avLst/>
          </a:prstGeom>
        </p:spPr>
      </p:pic>
      <p:sp>
        <p:nvSpPr>
          <p:cNvPr id="21" name="Text 15"/>
          <p:cNvSpPr/>
          <p:nvPr/>
        </p:nvSpPr>
        <p:spPr>
          <a:xfrm>
            <a:off x="1069848" y="5779008"/>
            <a:ext cx="10378440" cy="603504"/>
          </a:xfrm>
          <a:prstGeom prst="rect">
            <a:avLst/>
          </a:prstGeom>
          <a:noFill/>
          <a:ln/>
        </p:spPr>
        <p:txBody>
          <a:bodyPr wrap="square" rtlCol="0" anchor="ctr"/>
          <a:lstStyle/>
          <a:p>
            <a:pPr indent="0" marL="0">
              <a:buNone/>
            </a:pPr>
            <a:r>
              <a:rPr lang="en-US" sz="1050" b="1" spc="150" kern="0" dirty="0">
                <a:solidFill>
                  <a:srgbClr val="C9C9C9"/>
                </a:solidFill>
                <a:latin typeface="Aptos" pitchFamily="34" charset="0"/>
                <a:ea typeface="Aptos" pitchFamily="34" charset="-122"/>
                <a:cs typeface="Aptos" pitchFamily="34" charset="-120"/>
              </a:rPr>
              <a:t>KNOWLEDGE CHECK   </a:t>
            </a:r>
            <a:pPr indent="0" marL="0">
              <a:buNone/>
            </a:pPr>
            <a:r>
              <a:rPr lang="en-US" sz="1250" dirty="0">
                <a:solidFill>
                  <a:srgbClr val="FFFFFF"/>
                </a:solidFill>
                <a:latin typeface="Aptos" pitchFamily="34" charset="0"/>
                <a:ea typeface="Aptos" pitchFamily="34" charset="-122"/>
                <a:cs typeface="Aptos" pitchFamily="34" charset="-120"/>
              </a:rPr>
              <a:t>Your IT Manager requests an outage report. Name three questions the report must answer before they will call it complete.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8</a:t>
            </a:r>
            <a:endParaRPr lang="en-US" sz="900" dirty="0"/>
          </a:p>
        </p:txBody>
      </p:sp>
      <p:sp>
        <p:nvSpPr>
          <p:cNvPr id="4" name="Shape 2"/>
          <p:cNvSpPr/>
          <p:nvPr/>
        </p:nvSpPr>
        <p:spPr>
          <a:xfrm>
            <a:off x="0" y="0"/>
            <a:ext cx="12188952" cy="82296"/>
          </a:xfrm>
          <a:prstGeom prst="rect">
            <a:avLst/>
          </a:prstGeom>
          <a:solidFill>
            <a:srgbClr val="3D3D3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3D3D3D"/>
                </a:solidFill>
                <a:latin typeface="Aptos" pitchFamily="34" charset="0"/>
                <a:ea typeface="Aptos" pitchFamily="34" charset="-122"/>
                <a:cs typeface="Aptos" pitchFamily="34" charset="-120"/>
              </a:rPr>
              <a:t>EMBEDDED KNOWLEDGE · CRITERION 2</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141414"/>
                </a:solidFill>
                <a:latin typeface="Aptos Display" pitchFamily="34" charset="0"/>
                <a:ea typeface="Aptos Display" pitchFamily="34" charset="-122"/>
                <a:cs typeface="Aptos Display" pitchFamily="34" charset="-120"/>
              </a:rPr>
              <a:t>Available information resources</a:t>
            </a:r>
            <a:endParaRPr lang="en-US" sz="2600" dirty="0"/>
          </a:p>
        </p:txBody>
      </p:sp>
      <p:sp>
        <p:nvSpPr>
          <p:cNvPr id="7" name="Shape 5"/>
          <p:cNvSpPr/>
          <p:nvPr/>
        </p:nvSpPr>
        <p:spPr>
          <a:xfrm>
            <a:off x="502920" y="1298448"/>
            <a:ext cx="11183112" cy="566928"/>
          </a:xfrm>
          <a:prstGeom prst="roundRect">
            <a:avLst>
              <a:gd name="adj" fmla="val 11290"/>
            </a:avLst>
          </a:prstGeom>
          <a:solidFill>
            <a:srgbClr val="F2F2F2"/>
          </a:solidFill>
          <a:ln w="9525">
            <a:solidFill>
              <a:srgbClr val="DBDBDB"/>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1444752"/>
            <a:ext cx="274320" cy="274320"/>
          </a:xfrm>
          <a:prstGeom prst="rect">
            <a:avLst/>
          </a:prstGeom>
        </p:spPr>
      </p:pic>
      <p:sp>
        <p:nvSpPr>
          <p:cNvPr id="9" name="Text 6"/>
          <p:cNvSpPr/>
          <p:nvPr/>
        </p:nvSpPr>
        <p:spPr>
          <a:xfrm>
            <a:off x="1069848" y="1298448"/>
            <a:ext cx="10378440" cy="566928"/>
          </a:xfrm>
          <a:prstGeom prst="rect">
            <a:avLst/>
          </a:prstGeom>
          <a:noFill/>
          <a:ln/>
        </p:spPr>
        <p:txBody>
          <a:bodyPr wrap="square" rtlCol="0" anchor="ctr"/>
          <a:lstStyle/>
          <a:p>
            <a:pPr indent="0" marL="0">
              <a:buNone/>
            </a:pPr>
            <a:r>
              <a:rPr lang="en-US" sz="1050" b="1" spc="150" kern="0" dirty="0">
                <a:solidFill>
                  <a:srgbClr val="3D3D3D"/>
                </a:solidFill>
                <a:latin typeface="Aptos" pitchFamily="34" charset="0"/>
                <a:ea typeface="Aptos" pitchFamily="34" charset="-122"/>
                <a:cs typeface="Aptos" pitchFamily="34" charset="-120"/>
              </a:rPr>
              <a:t>LEARNING OBJECTIVE   </a:t>
            </a:r>
            <a:pPr indent="0" marL="0">
              <a:buNone/>
            </a:pPr>
            <a:r>
              <a:rPr lang="en-US" sz="1300" dirty="0">
                <a:solidFill>
                  <a:srgbClr val="141414"/>
                </a:solidFill>
                <a:latin typeface="Aptos" pitchFamily="34" charset="0"/>
                <a:ea typeface="Aptos" pitchFamily="34" charset="-122"/>
                <a:cs typeface="Aptos" pitchFamily="34" charset="-120"/>
              </a:rPr>
              <a:t>Identify reliable sources of information for compiling accurate business reports.</a:t>
            </a:r>
            <a:endParaRPr lang="en-US" sz="1050" dirty="0"/>
          </a:p>
        </p:txBody>
      </p:sp>
      <p:sp>
        <p:nvSpPr>
          <p:cNvPr id="10" name="Text 7"/>
          <p:cNvSpPr/>
          <p:nvPr/>
        </p:nvSpPr>
        <p:spPr>
          <a:xfrm>
            <a:off x="502920" y="1993392"/>
            <a:ext cx="11183112" cy="566928"/>
          </a:xfrm>
          <a:prstGeom prst="rect">
            <a:avLst/>
          </a:prstGeom>
          <a:noFill/>
          <a:ln/>
        </p:spPr>
        <p:txBody>
          <a:bodyPr wrap="square" rtlCol="0" anchor="t"/>
          <a:lstStyle/>
          <a:p>
            <a:pPr indent="0" marL="0">
              <a:lnSpc>
                <a:spcPct val="115000"/>
              </a:lnSpc>
              <a:buNone/>
            </a:pPr>
            <a:r>
              <a:rPr lang="en-US" sz="1350" dirty="0">
                <a:solidFill>
                  <a:srgbClr val="6B7280"/>
                </a:solidFill>
                <a:latin typeface="Aptos" pitchFamily="34" charset="0"/>
                <a:ea typeface="Aptos" pitchFamily="34" charset="-122"/>
                <a:cs typeface="Aptos" pitchFamily="34" charset="-120"/>
              </a:rPr>
              <a:t>A report is only as good as its evidence. Draw on official business systems and records — never on memory or assumption.</a:t>
            </a:r>
            <a:endParaRPr lang="en-US" sz="1350" dirty="0"/>
          </a:p>
        </p:txBody>
      </p:sp>
      <p:sp>
        <p:nvSpPr>
          <p:cNvPr id="11" name="Shape 8"/>
          <p:cNvSpPr/>
          <p:nvPr/>
        </p:nvSpPr>
        <p:spPr>
          <a:xfrm>
            <a:off x="502920" y="2743200"/>
            <a:ext cx="2644902" cy="1691640"/>
          </a:xfrm>
          <a:prstGeom prst="roundRect">
            <a:avLst>
              <a:gd name="adj" fmla="val 4865"/>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512" y="2898648"/>
            <a:ext cx="310896" cy="310896"/>
          </a:xfrm>
          <a:prstGeom prst="rect">
            <a:avLst/>
          </a:prstGeom>
        </p:spPr>
      </p:pic>
      <p:sp>
        <p:nvSpPr>
          <p:cNvPr id="13" name="Text 9"/>
          <p:cNvSpPr/>
          <p:nvPr/>
        </p:nvSpPr>
        <p:spPr>
          <a:xfrm>
            <a:off x="1069848" y="2862072"/>
            <a:ext cx="1913382" cy="384048"/>
          </a:xfrm>
          <a:prstGeom prst="rect">
            <a:avLst/>
          </a:prstGeom>
          <a:noFill/>
          <a:ln/>
        </p:spPr>
        <p:txBody>
          <a:bodyPr wrap="square" rtlCol="0" anchor="ctr"/>
          <a:lstStyle/>
          <a:p>
            <a:pPr indent="0" marL="0">
              <a:buNone/>
            </a:pPr>
            <a:r>
              <a:rPr lang="en-US" sz="1350" b="1" dirty="0">
                <a:solidFill>
                  <a:srgbClr val="141414"/>
                </a:solidFill>
                <a:latin typeface="Aptos Display" pitchFamily="34" charset="0"/>
                <a:ea typeface="Aptos Display" pitchFamily="34" charset="-122"/>
                <a:cs typeface="Aptos Display" pitchFamily="34" charset="-120"/>
              </a:rPr>
              <a:t>System logs</a:t>
            </a:r>
            <a:endParaRPr lang="en-US" sz="1350" dirty="0"/>
          </a:p>
        </p:txBody>
      </p:sp>
      <p:sp>
        <p:nvSpPr>
          <p:cNvPr id="14" name="Text 10"/>
          <p:cNvSpPr/>
          <p:nvPr/>
        </p:nvSpPr>
        <p:spPr>
          <a:xfrm>
            <a:off x="667512" y="3291840"/>
            <a:ext cx="2315718" cy="103327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Windows Event Viewer · SQL Server logs · firewall logs</a:t>
            </a:r>
            <a:endParaRPr lang="en-US" sz="1050" dirty="0"/>
          </a:p>
        </p:txBody>
      </p:sp>
      <p:sp>
        <p:nvSpPr>
          <p:cNvPr id="15" name="Shape 11"/>
          <p:cNvSpPr/>
          <p:nvPr/>
        </p:nvSpPr>
        <p:spPr>
          <a:xfrm>
            <a:off x="3348990" y="2743200"/>
            <a:ext cx="2644902" cy="1691640"/>
          </a:xfrm>
          <a:prstGeom prst="roundRect">
            <a:avLst>
              <a:gd name="adj" fmla="val 4865"/>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513582" y="2898648"/>
            <a:ext cx="310896" cy="310896"/>
          </a:xfrm>
          <a:prstGeom prst="rect">
            <a:avLst/>
          </a:prstGeom>
        </p:spPr>
      </p:pic>
      <p:sp>
        <p:nvSpPr>
          <p:cNvPr id="17" name="Text 12"/>
          <p:cNvSpPr/>
          <p:nvPr/>
        </p:nvSpPr>
        <p:spPr>
          <a:xfrm>
            <a:off x="3915918" y="2862072"/>
            <a:ext cx="1913382" cy="384048"/>
          </a:xfrm>
          <a:prstGeom prst="rect">
            <a:avLst/>
          </a:prstGeom>
          <a:noFill/>
          <a:ln/>
        </p:spPr>
        <p:txBody>
          <a:bodyPr wrap="square" rtlCol="0" anchor="ctr"/>
          <a:lstStyle/>
          <a:p>
            <a:pPr indent="0" marL="0">
              <a:buNone/>
            </a:pPr>
            <a:r>
              <a:rPr lang="en-US" sz="1350" b="1" dirty="0">
                <a:solidFill>
                  <a:srgbClr val="141414"/>
                </a:solidFill>
                <a:latin typeface="Aptos Display" pitchFamily="34" charset="0"/>
                <a:ea typeface="Aptos Display" pitchFamily="34" charset="-122"/>
                <a:cs typeface="Aptos Display" pitchFamily="34" charset="-120"/>
              </a:rPr>
              <a:t>Service platforms</a:t>
            </a:r>
            <a:endParaRPr lang="en-US" sz="1350" dirty="0"/>
          </a:p>
        </p:txBody>
      </p:sp>
      <p:sp>
        <p:nvSpPr>
          <p:cNvPr id="18" name="Text 13"/>
          <p:cNvSpPr/>
          <p:nvPr/>
        </p:nvSpPr>
        <p:spPr>
          <a:xfrm>
            <a:off x="3513582" y="3291840"/>
            <a:ext cx="2315718" cy="103327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ServiceNow · helpdesk tickets · Microsoft Intune · Microsoft Entra ID</a:t>
            </a:r>
            <a:endParaRPr lang="en-US" sz="1050" dirty="0"/>
          </a:p>
        </p:txBody>
      </p:sp>
      <p:sp>
        <p:nvSpPr>
          <p:cNvPr id="19" name="Shape 14"/>
          <p:cNvSpPr/>
          <p:nvPr/>
        </p:nvSpPr>
        <p:spPr>
          <a:xfrm>
            <a:off x="6195060" y="2743200"/>
            <a:ext cx="2644902" cy="1691640"/>
          </a:xfrm>
          <a:prstGeom prst="roundRect">
            <a:avLst>
              <a:gd name="adj" fmla="val 4865"/>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59652" y="2898648"/>
            <a:ext cx="310896" cy="310896"/>
          </a:xfrm>
          <a:prstGeom prst="rect">
            <a:avLst/>
          </a:prstGeom>
        </p:spPr>
      </p:pic>
      <p:sp>
        <p:nvSpPr>
          <p:cNvPr id="21" name="Text 15"/>
          <p:cNvSpPr/>
          <p:nvPr/>
        </p:nvSpPr>
        <p:spPr>
          <a:xfrm>
            <a:off x="6761988" y="2862072"/>
            <a:ext cx="1913382" cy="384048"/>
          </a:xfrm>
          <a:prstGeom prst="rect">
            <a:avLst/>
          </a:prstGeom>
          <a:noFill/>
          <a:ln/>
        </p:spPr>
        <p:txBody>
          <a:bodyPr wrap="square" rtlCol="0" anchor="ctr"/>
          <a:lstStyle/>
          <a:p>
            <a:pPr indent="0" marL="0">
              <a:buNone/>
            </a:pPr>
            <a:r>
              <a:rPr lang="en-US" sz="1350" b="1" dirty="0">
                <a:solidFill>
                  <a:srgbClr val="141414"/>
                </a:solidFill>
                <a:latin typeface="Aptos Display" pitchFamily="34" charset="0"/>
                <a:ea typeface="Aptos Display" pitchFamily="34" charset="-122"/>
                <a:cs typeface="Aptos Display" pitchFamily="34" charset="-120"/>
              </a:rPr>
              <a:t>Business records</a:t>
            </a:r>
            <a:endParaRPr lang="en-US" sz="1350" dirty="0"/>
          </a:p>
        </p:txBody>
      </p:sp>
      <p:sp>
        <p:nvSpPr>
          <p:cNvPr id="22" name="Text 16"/>
          <p:cNvSpPr/>
          <p:nvPr/>
        </p:nvSpPr>
        <p:spPr>
          <a:xfrm>
            <a:off x="6359652" y="3291840"/>
            <a:ext cx="2315718" cy="103327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Email records · asset register · company policies · previous reports</a:t>
            </a:r>
            <a:endParaRPr lang="en-US" sz="1050" dirty="0"/>
          </a:p>
        </p:txBody>
      </p:sp>
      <p:sp>
        <p:nvSpPr>
          <p:cNvPr id="23" name="Shape 17"/>
          <p:cNvSpPr/>
          <p:nvPr/>
        </p:nvSpPr>
        <p:spPr>
          <a:xfrm>
            <a:off x="9041130" y="2743200"/>
            <a:ext cx="2644902" cy="1691640"/>
          </a:xfrm>
          <a:prstGeom prst="roundRect">
            <a:avLst>
              <a:gd name="adj" fmla="val 4865"/>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pic>
        <p:nvPicPr>
          <p:cNvPr id="24"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205722" y="2898648"/>
            <a:ext cx="310896" cy="310896"/>
          </a:xfrm>
          <a:prstGeom prst="rect">
            <a:avLst/>
          </a:prstGeom>
        </p:spPr>
      </p:pic>
      <p:sp>
        <p:nvSpPr>
          <p:cNvPr id="25" name="Text 18"/>
          <p:cNvSpPr/>
          <p:nvPr/>
        </p:nvSpPr>
        <p:spPr>
          <a:xfrm>
            <a:off x="9608058" y="2862072"/>
            <a:ext cx="1913382" cy="384048"/>
          </a:xfrm>
          <a:prstGeom prst="rect">
            <a:avLst/>
          </a:prstGeom>
          <a:noFill/>
          <a:ln/>
        </p:spPr>
        <p:txBody>
          <a:bodyPr wrap="square" rtlCol="0" anchor="ctr"/>
          <a:lstStyle/>
          <a:p>
            <a:pPr indent="0" marL="0">
              <a:buNone/>
            </a:pPr>
            <a:r>
              <a:rPr lang="en-US" sz="1350" b="1" dirty="0">
                <a:solidFill>
                  <a:srgbClr val="141414"/>
                </a:solidFill>
                <a:latin typeface="Aptos Display" pitchFamily="34" charset="0"/>
                <a:ea typeface="Aptos Display" pitchFamily="34" charset="-122"/>
                <a:cs typeface="Aptos Display" pitchFamily="34" charset="-120"/>
              </a:rPr>
              <a:t>People</a:t>
            </a:r>
            <a:endParaRPr lang="en-US" sz="1350" dirty="0"/>
          </a:p>
        </p:txBody>
      </p:sp>
      <p:sp>
        <p:nvSpPr>
          <p:cNvPr id="26" name="Text 19"/>
          <p:cNvSpPr/>
          <p:nvPr/>
        </p:nvSpPr>
        <p:spPr>
          <a:xfrm>
            <a:off x="9205722" y="3291840"/>
            <a:ext cx="2315718" cy="103327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User interviews · Microsoft Teams messages · escalation notes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9</a:t>
            </a:r>
            <a:endParaRPr lang="en-US" sz="900" dirty="0"/>
          </a:p>
        </p:txBody>
      </p:sp>
      <p:sp>
        <p:nvSpPr>
          <p:cNvPr id="4" name="Shape 2"/>
          <p:cNvSpPr/>
          <p:nvPr/>
        </p:nvSpPr>
        <p:spPr>
          <a:xfrm>
            <a:off x="0" y="0"/>
            <a:ext cx="12188952" cy="82296"/>
          </a:xfrm>
          <a:prstGeom prst="rect">
            <a:avLst/>
          </a:prstGeom>
          <a:solidFill>
            <a:srgbClr val="3D3D3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3D3D3D"/>
                </a:solidFill>
                <a:latin typeface="Aptos" pitchFamily="34" charset="0"/>
                <a:ea typeface="Aptos" pitchFamily="34" charset="-122"/>
                <a:cs typeface="Aptos" pitchFamily="34" charset="-120"/>
              </a:rPr>
              <a:t>EMBEDDED KNOWLEDGE · CRITERION 2</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141414"/>
                </a:solidFill>
                <a:latin typeface="Aptos Display" pitchFamily="34" charset="0"/>
                <a:ea typeface="Aptos Display" pitchFamily="34" charset="-122"/>
                <a:cs typeface="Aptos Display" pitchFamily="34" charset="-120"/>
              </a:rPr>
              <a:t>Available information resources — in practice</a:t>
            </a:r>
            <a:endParaRPr lang="en-US" sz="2600" dirty="0"/>
          </a:p>
        </p:txBody>
      </p:sp>
      <p:sp>
        <p:nvSpPr>
          <p:cNvPr id="7" name="Shape 5"/>
          <p:cNvSpPr/>
          <p:nvPr/>
        </p:nvSpPr>
        <p:spPr>
          <a:xfrm>
            <a:off x="502920" y="1371600"/>
            <a:ext cx="11183112" cy="2468880"/>
          </a:xfrm>
          <a:prstGeom prst="roundRect">
            <a:avLst>
              <a:gd name="adj" fmla="val 3333"/>
            </a:avLst>
          </a:prstGeom>
          <a:solidFill>
            <a:srgbClr val="F2F2F2"/>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8" name="Shape 6"/>
          <p:cNvSpPr/>
          <p:nvPr/>
        </p:nvSpPr>
        <p:spPr>
          <a:xfrm>
            <a:off x="502920" y="1371600"/>
            <a:ext cx="82296" cy="2468880"/>
          </a:xfrm>
          <a:prstGeom prst="rect">
            <a:avLst/>
          </a:prstGeom>
          <a:solidFill>
            <a:srgbClr val="3D3D3D"/>
          </a:solidFill>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082528" y="1554480"/>
            <a:ext cx="347472" cy="347472"/>
          </a:xfrm>
          <a:prstGeom prst="rect">
            <a:avLst/>
          </a:prstGeom>
        </p:spPr>
      </p:pic>
      <p:sp>
        <p:nvSpPr>
          <p:cNvPr id="10" name="Text 7"/>
          <p:cNvSpPr/>
          <p:nvPr/>
        </p:nvSpPr>
        <p:spPr>
          <a:xfrm>
            <a:off x="795528" y="1517904"/>
            <a:ext cx="10177272" cy="2176272"/>
          </a:xfrm>
          <a:prstGeom prst="rect">
            <a:avLst/>
          </a:prstGeom>
          <a:noFill/>
          <a:ln/>
        </p:spPr>
        <p:txBody>
          <a:bodyPr wrap="square" rtlCol="0" anchor="t"/>
          <a:lstStyle/>
          <a:p>
            <a:pPr indent="0" marL="0">
              <a:lnSpc>
                <a:spcPct val="115000"/>
              </a:lnSpc>
              <a:buNone/>
            </a:pPr>
            <a:r>
              <a:rPr lang="en-US" sz="1050" b="1" spc="150" kern="0" dirty="0">
                <a:solidFill>
                  <a:srgbClr val="3D3D3D"/>
                </a:solidFill>
                <a:latin typeface="Aptos" pitchFamily="34" charset="0"/>
                <a:ea typeface="Aptos" pitchFamily="34" charset="-122"/>
                <a:cs typeface="Aptos" pitchFamily="34" charset="-120"/>
              </a:rPr>
              <a:t>WORKPLACE EXAMPLE — INVESTEC
</a:t>
            </a:r>
            <a:pPr indent="0" marL="0">
              <a:lnSpc>
                <a:spcPct val="115000"/>
              </a:lnSpc>
              <a:buNone/>
            </a:pPr>
            <a:r>
              <a:rPr lang="en-US" sz="1500" b="1" dirty="0">
                <a:solidFill>
                  <a:srgbClr val="141414"/>
                </a:solidFill>
                <a:latin typeface="Aptos Display" pitchFamily="34" charset="0"/>
                <a:ea typeface="Aptos Display" pitchFamily="34" charset="-122"/>
                <a:cs typeface="Aptos Display" pitchFamily="34" charset="-120"/>
              </a:rPr>
              <a:t>Verify before you write
</a:t>
            </a:r>
            <a:pPr indent="0" marL="0">
              <a:lnSpc>
                <a:spcPct val="115000"/>
              </a:lnSpc>
              <a:buNone/>
            </a:pPr>
            <a:r>
              <a:rPr lang="en-US" sz="1250" dirty="0">
                <a:solidFill>
                  <a:srgbClr val="141414"/>
                </a:solidFill>
                <a:latin typeface="Aptos" pitchFamily="34" charset="0"/>
                <a:ea typeface="Aptos" pitchFamily="34" charset="-122"/>
                <a:cs typeface="Aptos" pitchFamily="34" charset="-120"/>
              </a:rPr>
              <a:t>Investigating a login failure spike, a technician exports the sign-in log from Microsoft Entra ID, cross-checks affected users against ServiceNow tickets and confirms the change window in the previous maintenance report — three official sources, zero guesswork.</a:t>
            </a:r>
            <a:endParaRPr lang="en-US" sz="1050" dirty="0"/>
          </a:p>
        </p:txBody>
      </p:sp>
      <p:sp>
        <p:nvSpPr>
          <p:cNvPr id="11" name="Shape 8"/>
          <p:cNvSpPr/>
          <p:nvPr/>
        </p:nvSpPr>
        <p:spPr>
          <a:xfrm>
            <a:off x="502920" y="4023360"/>
            <a:ext cx="5362956" cy="1371600"/>
          </a:xfrm>
          <a:prstGeom prst="roundRect">
            <a:avLst>
              <a:gd name="adj" fmla="val 6000"/>
            </a:avLst>
          </a:prstGeom>
          <a:solidFill>
            <a:srgbClr val="F2F2F2"/>
          </a:solidFill>
          <a:ln w="12700">
            <a:solidFill>
              <a:srgbClr val="DBDBDB"/>
            </a:solidFill>
            <a:prstDash val="solid"/>
          </a:ln>
          <a:effectLst>
            <a:outerShdw sx="100000" sy="100000" kx="0" ky="0" algn="bl" rotWithShape="0" blurRad="88900" dist="25400" dir="5400000">
              <a:srgbClr val="BDBDBD">
                <a:alpha val="30000"/>
              </a:srgbClr>
            </a:outerShdw>
          </a:effectLst>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520" y="4169664"/>
            <a:ext cx="274320" cy="274320"/>
          </a:xfrm>
          <a:prstGeom prst="rect">
            <a:avLst/>
          </a:prstGeom>
        </p:spPr>
      </p:pic>
      <p:sp>
        <p:nvSpPr>
          <p:cNvPr id="13" name="Text 9"/>
          <p:cNvSpPr/>
          <p:nvPr/>
        </p:nvSpPr>
        <p:spPr>
          <a:xfrm>
            <a:off x="1088136" y="4151376"/>
            <a:ext cx="4539996" cy="310896"/>
          </a:xfrm>
          <a:prstGeom prst="rect">
            <a:avLst/>
          </a:prstGeom>
          <a:noFill/>
          <a:ln/>
        </p:spPr>
        <p:txBody>
          <a:bodyPr wrap="square" rtlCol="0" anchor="ctr"/>
          <a:lstStyle/>
          <a:p>
            <a:pPr indent="0" marL="0">
              <a:buNone/>
            </a:pPr>
            <a:r>
              <a:rPr lang="en-US" sz="1100" b="1" spc="150" kern="0" dirty="0">
                <a:solidFill>
                  <a:srgbClr val="3D3D3D"/>
                </a:solidFill>
                <a:latin typeface="Aptos" pitchFamily="34" charset="0"/>
                <a:ea typeface="Aptos" pitchFamily="34" charset="-122"/>
                <a:cs typeface="Aptos" pitchFamily="34" charset="-120"/>
              </a:rPr>
              <a:t>BEST PRACTICE</a:t>
            </a:r>
            <a:endParaRPr lang="en-US" sz="1100" dirty="0"/>
          </a:p>
        </p:txBody>
      </p:sp>
      <p:sp>
        <p:nvSpPr>
          <p:cNvPr id="14" name="Text 10"/>
          <p:cNvSpPr/>
          <p:nvPr/>
        </p:nvSpPr>
        <p:spPr>
          <a:xfrm>
            <a:off x="731520" y="4498848"/>
            <a:ext cx="4905756" cy="786384"/>
          </a:xfrm>
          <a:prstGeom prst="rect">
            <a:avLst/>
          </a:prstGeom>
          <a:noFill/>
          <a:ln/>
        </p:spPr>
        <p:txBody>
          <a:bodyPr wrap="square" rtlCol="0" anchor="t"/>
          <a:lstStyle/>
          <a:p>
            <a:pPr indent="0" marL="0">
              <a:buNone/>
            </a:pPr>
            <a:r>
              <a:rPr lang="en-US" sz="1250" dirty="0">
                <a:solidFill>
                  <a:srgbClr val="141414"/>
                </a:solidFill>
                <a:latin typeface="Aptos" pitchFamily="34" charset="0"/>
                <a:ea typeface="Aptos" pitchFamily="34" charset="-122"/>
                <a:cs typeface="Aptos" pitchFamily="34" charset="-120"/>
              </a:rPr>
              <a:t>Verify every fact against an official business record before it goes in the report.</a:t>
            </a:r>
            <a:endParaRPr lang="en-US" sz="1250" dirty="0"/>
          </a:p>
        </p:txBody>
      </p:sp>
      <p:sp>
        <p:nvSpPr>
          <p:cNvPr id="15" name="Shape 11"/>
          <p:cNvSpPr/>
          <p:nvPr/>
        </p:nvSpPr>
        <p:spPr>
          <a:xfrm>
            <a:off x="6323076" y="4023360"/>
            <a:ext cx="5362956" cy="1371600"/>
          </a:xfrm>
          <a:prstGeom prst="roundRect">
            <a:avLst>
              <a:gd name="adj" fmla="val 6000"/>
            </a:avLst>
          </a:prstGeom>
          <a:solidFill>
            <a:srgbClr val="F4F5F7"/>
          </a:solidFill>
          <a:ln w="12700">
            <a:solidFill>
              <a:srgbClr val="DADDE2"/>
            </a:solidFill>
            <a:prstDash val="solid"/>
          </a:ln>
          <a:effectLst>
            <a:outerShdw sx="100000" sy="100000" kx="0" ky="0" algn="bl" rotWithShape="0" blurRad="88900" dist="25400" dir="5400000">
              <a:srgbClr val="BDBDBD">
                <a:alpha val="30000"/>
              </a:srgbClr>
            </a:outerShdw>
          </a:effectLst>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51676" y="4169664"/>
            <a:ext cx="274320" cy="274320"/>
          </a:xfrm>
          <a:prstGeom prst="rect">
            <a:avLst/>
          </a:prstGeom>
        </p:spPr>
      </p:pic>
      <p:sp>
        <p:nvSpPr>
          <p:cNvPr id="17" name="Text 12"/>
          <p:cNvSpPr/>
          <p:nvPr/>
        </p:nvSpPr>
        <p:spPr>
          <a:xfrm>
            <a:off x="6908292" y="4151376"/>
            <a:ext cx="4539996" cy="310896"/>
          </a:xfrm>
          <a:prstGeom prst="rect">
            <a:avLst/>
          </a:prstGeom>
          <a:noFill/>
          <a:ln/>
        </p:spPr>
        <p:txBody>
          <a:bodyPr wrap="square" rtlCol="0" anchor="ctr"/>
          <a:lstStyle/>
          <a:p>
            <a:pPr indent="0" marL="0">
              <a:buNone/>
            </a:pPr>
            <a:r>
              <a:rPr lang="en-US" sz="1100" b="1" spc="150" kern="0" dirty="0">
                <a:solidFill>
                  <a:srgbClr val="6B7280"/>
                </a:solidFill>
                <a:latin typeface="Aptos" pitchFamily="34" charset="0"/>
                <a:ea typeface="Aptos" pitchFamily="34" charset="-122"/>
                <a:cs typeface="Aptos" pitchFamily="34" charset="-120"/>
              </a:rPr>
              <a:t>COMMON MISTAKE</a:t>
            </a:r>
            <a:endParaRPr lang="en-US" sz="1100" dirty="0"/>
          </a:p>
        </p:txBody>
      </p:sp>
      <p:sp>
        <p:nvSpPr>
          <p:cNvPr id="18" name="Text 13"/>
          <p:cNvSpPr/>
          <p:nvPr/>
        </p:nvSpPr>
        <p:spPr>
          <a:xfrm>
            <a:off x="6551676" y="4498848"/>
            <a:ext cx="4905756" cy="786384"/>
          </a:xfrm>
          <a:prstGeom prst="rect">
            <a:avLst/>
          </a:prstGeom>
          <a:noFill/>
          <a:ln/>
        </p:spPr>
        <p:txBody>
          <a:bodyPr wrap="square" rtlCol="0" anchor="t"/>
          <a:lstStyle/>
          <a:p>
            <a:pPr indent="0" marL="0">
              <a:buNone/>
            </a:pPr>
            <a:r>
              <a:rPr lang="en-US" sz="1250" dirty="0">
                <a:solidFill>
                  <a:srgbClr val="141414"/>
                </a:solidFill>
                <a:latin typeface="Aptos" pitchFamily="34" charset="0"/>
                <a:ea typeface="Aptos" pitchFamily="34" charset="-122"/>
                <a:cs typeface="Aptos" pitchFamily="34" charset="-120"/>
              </a:rPr>
              <a:t>Relying on memory or assumptions instead of system evidence.</a:t>
            </a:r>
            <a:endParaRPr lang="en-US" sz="1250" dirty="0"/>
          </a:p>
        </p:txBody>
      </p:sp>
      <p:sp>
        <p:nvSpPr>
          <p:cNvPr id="19" name="Shape 14"/>
          <p:cNvSpPr/>
          <p:nvPr/>
        </p:nvSpPr>
        <p:spPr>
          <a:xfrm>
            <a:off x="502920" y="5779008"/>
            <a:ext cx="11183112" cy="603504"/>
          </a:xfrm>
          <a:prstGeom prst="roundRect">
            <a:avLst>
              <a:gd name="adj" fmla="val 10606"/>
            </a:avLst>
          </a:prstGeom>
          <a:solidFill>
            <a:srgbClr val="141414"/>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4088" y="5943600"/>
            <a:ext cx="274320" cy="274320"/>
          </a:xfrm>
          <a:prstGeom prst="rect">
            <a:avLst/>
          </a:prstGeom>
        </p:spPr>
      </p:pic>
      <p:sp>
        <p:nvSpPr>
          <p:cNvPr id="21" name="Text 15"/>
          <p:cNvSpPr/>
          <p:nvPr/>
        </p:nvSpPr>
        <p:spPr>
          <a:xfrm>
            <a:off x="1069848" y="5779008"/>
            <a:ext cx="10378440" cy="603504"/>
          </a:xfrm>
          <a:prstGeom prst="rect">
            <a:avLst/>
          </a:prstGeom>
          <a:noFill/>
          <a:ln/>
        </p:spPr>
        <p:txBody>
          <a:bodyPr wrap="square" rtlCol="0" anchor="ctr"/>
          <a:lstStyle/>
          <a:p>
            <a:pPr indent="0" marL="0">
              <a:buNone/>
            </a:pPr>
            <a:r>
              <a:rPr lang="en-US" sz="1050" b="1" spc="150" kern="0" dirty="0">
                <a:solidFill>
                  <a:srgbClr val="C9C9C9"/>
                </a:solidFill>
                <a:latin typeface="Aptos" pitchFamily="34" charset="0"/>
                <a:ea typeface="Aptos" pitchFamily="34" charset="-122"/>
                <a:cs typeface="Aptos" pitchFamily="34" charset="-120"/>
              </a:rPr>
              <a:t>KNOWLEDGE CHECK   </a:t>
            </a:r>
            <a:pPr indent="0" marL="0">
              <a:buNone/>
            </a:pPr>
            <a:r>
              <a:rPr lang="en-US" sz="1250" dirty="0">
                <a:solidFill>
                  <a:srgbClr val="FFFFFF"/>
                </a:solidFill>
                <a:latin typeface="Aptos" pitchFamily="34" charset="0"/>
                <a:ea typeface="Aptos" pitchFamily="34" charset="-122"/>
                <a:cs typeface="Aptos" pitchFamily="34" charset="-120"/>
              </a:rPr>
              <a:t>A user says 'the server was down all morning'. Which two sources would you check to verify that claim?</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10</a:t>
            </a:r>
            <a:endParaRPr lang="en-US" sz="900" dirty="0"/>
          </a:p>
        </p:txBody>
      </p:sp>
      <p:sp>
        <p:nvSpPr>
          <p:cNvPr id="4" name="Shape 2"/>
          <p:cNvSpPr/>
          <p:nvPr/>
        </p:nvSpPr>
        <p:spPr>
          <a:xfrm>
            <a:off x="0" y="0"/>
            <a:ext cx="12188952" cy="82296"/>
          </a:xfrm>
          <a:prstGeom prst="rect">
            <a:avLst/>
          </a:prstGeom>
          <a:solidFill>
            <a:srgbClr val="3D3D3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3D3D3D"/>
                </a:solidFill>
                <a:latin typeface="Aptos" pitchFamily="34" charset="0"/>
                <a:ea typeface="Aptos" pitchFamily="34" charset="-122"/>
                <a:cs typeface="Aptos" pitchFamily="34" charset="-120"/>
              </a:rPr>
              <a:t>EMBEDDED KNOWLEDGE · CRITERION 3</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141414"/>
                </a:solidFill>
                <a:latin typeface="Aptos Display" pitchFamily="34" charset="0"/>
                <a:ea typeface="Aptos Display" pitchFamily="34" charset="-122"/>
                <a:cs typeface="Aptos Display" pitchFamily="34" charset="-120"/>
              </a:rPr>
              <a:t>Disseminating confidential information</a:t>
            </a:r>
            <a:endParaRPr lang="en-US" sz="2600" dirty="0"/>
          </a:p>
        </p:txBody>
      </p:sp>
      <p:sp>
        <p:nvSpPr>
          <p:cNvPr id="7" name="Shape 5"/>
          <p:cNvSpPr/>
          <p:nvPr/>
        </p:nvSpPr>
        <p:spPr>
          <a:xfrm>
            <a:off x="502920" y="1298448"/>
            <a:ext cx="11183112" cy="566928"/>
          </a:xfrm>
          <a:prstGeom prst="roundRect">
            <a:avLst>
              <a:gd name="adj" fmla="val 11290"/>
            </a:avLst>
          </a:prstGeom>
          <a:solidFill>
            <a:srgbClr val="F2F2F2"/>
          </a:solidFill>
          <a:ln w="9525">
            <a:solidFill>
              <a:srgbClr val="DBDBDB"/>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1444752"/>
            <a:ext cx="274320" cy="274320"/>
          </a:xfrm>
          <a:prstGeom prst="rect">
            <a:avLst/>
          </a:prstGeom>
        </p:spPr>
      </p:pic>
      <p:sp>
        <p:nvSpPr>
          <p:cNvPr id="9" name="Text 6"/>
          <p:cNvSpPr/>
          <p:nvPr/>
        </p:nvSpPr>
        <p:spPr>
          <a:xfrm>
            <a:off x="1069848" y="1298448"/>
            <a:ext cx="10378440" cy="566928"/>
          </a:xfrm>
          <a:prstGeom prst="rect">
            <a:avLst/>
          </a:prstGeom>
          <a:noFill/>
          <a:ln/>
        </p:spPr>
        <p:txBody>
          <a:bodyPr wrap="square" rtlCol="0" anchor="ctr"/>
          <a:lstStyle/>
          <a:p>
            <a:pPr indent="0" marL="0">
              <a:buNone/>
            </a:pPr>
            <a:r>
              <a:rPr lang="en-US" sz="1050" b="1" spc="150" kern="0" dirty="0">
                <a:solidFill>
                  <a:srgbClr val="3D3D3D"/>
                </a:solidFill>
                <a:latin typeface="Aptos" pitchFamily="34" charset="0"/>
                <a:ea typeface="Aptos" pitchFamily="34" charset="-122"/>
                <a:cs typeface="Aptos" pitchFamily="34" charset="-120"/>
              </a:rPr>
              <a:t>LEARNING OBJECTIVE   </a:t>
            </a:r>
            <a:pPr indent="0" marL="0">
              <a:buNone/>
            </a:pPr>
            <a:r>
              <a:rPr lang="en-US" sz="1300" dirty="0">
                <a:solidFill>
                  <a:srgbClr val="141414"/>
                </a:solidFill>
                <a:latin typeface="Aptos" pitchFamily="34" charset="0"/>
                <a:ea typeface="Aptos" pitchFamily="34" charset="-122"/>
                <a:cs typeface="Aptos" pitchFamily="34" charset="-120"/>
              </a:rPr>
              <a:t>Follow organisational procedures for who may access, share and store confidential reports.</a:t>
            </a:r>
            <a:endParaRPr lang="en-US" sz="1050" dirty="0"/>
          </a:p>
        </p:txBody>
      </p:sp>
      <p:sp>
        <p:nvSpPr>
          <p:cNvPr id="10" name="Text 7"/>
          <p:cNvSpPr/>
          <p:nvPr/>
        </p:nvSpPr>
        <p:spPr>
          <a:xfrm>
            <a:off x="502920" y="1993392"/>
            <a:ext cx="11183112" cy="566928"/>
          </a:xfrm>
          <a:prstGeom prst="rect">
            <a:avLst/>
          </a:prstGeom>
          <a:noFill/>
          <a:ln/>
        </p:spPr>
        <p:txBody>
          <a:bodyPr wrap="square" rtlCol="0" anchor="t"/>
          <a:lstStyle/>
          <a:p>
            <a:pPr indent="0" marL="0">
              <a:lnSpc>
                <a:spcPct val="115000"/>
              </a:lnSpc>
              <a:buNone/>
            </a:pPr>
            <a:r>
              <a:rPr lang="en-US" sz="1350" dirty="0">
                <a:solidFill>
                  <a:srgbClr val="6B7280"/>
                </a:solidFill>
                <a:latin typeface="Aptos" pitchFamily="34" charset="0"/>
                <a:ea typeface="Aptos" pitchFamily="34" charset="-122"/>
                <a:cs typeface="Aptos" pitchFamily="34" charset="-120"/>
              </a:rPr>
              <a:t>Not everyone may see every report. Policy defines who may access it, how it is shared, where it is stored and how it is protected.</a:t>
            </a:r>
            <a:endParaRPr lang="en-US" sz="1350" dirty="0"/>
          </a:p>
        </p:txBody>
      </p:sp>
      <p:sp>
        <p:nvSpPr>
          <p:cNvPr id="11" name="Shape 8"/>
          <p:cNvSpPr/>
          <p:nvPr/>
        </p:nvSpPr>
        <p:spPr>
          <a:xfrm>
            <a:off x="502920" y="2743200"/>
            <a:ext cx="2987802" cy="1188720"/>
          </a:xfrm>
          <a:prstGeom prst="homePlate">
            <a:avLst/>
          </a:prstGeom>
          <a:solidFill>
            <a:srgbClr val="3D3D3D"/>
          </a:solidFill>
          <a:ln w="19050">
            <a:solidFill>
              <a:srgbClr val="FFFFFF"/>
            </a:solidFill>
            <a:prstDash val="solid"/>
          </a:ln>
        </p:spPr>
      </p:sp>
      <p:sp>
        <p:nvSpPr>
          <p:cNvPr id="12" name="Text 9"/>
          <p:cNvSpPr/>
          <p:nvPr/>
        </p:nvSpPr>
        <p:spPr>
          <a:xfrm>
            <a:off x="612648" y="2743200"/>
            <a:ext cx="2576322" cy="1188720"/>
          </a:xfrm>
          <a:prstGeom prst="rect">
            <a:avLst/>
          </a:prstGeom>
          <a:noFill/>
          <a:ln/>
        </p:spPr>
        <p:txBody>
          <a:bodyPr wrap="square"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Classify the</a:t>
            </a:r>
            <a:endParaRPr lang="en-US" sz="1200" dirty="0"/>
          </a:p>
          <a:p>
            <a:pPr algn="ctr" indent="0" marL="0">
              <a:buNone/>
            </a:pPr>
            <a:r>
              <a:rPr lang="en-US" sz="1200" b="1" dirty="0">
                <a:solidFill>
                  <a:srgbClr val="FFFFFF"/>
                </a:solidFill>
                <a:latin typeface="Aptos" pitchFamily="34" charset="0"/>
                <a:ea typeface="Aptos" pitchFamily="34" charset="-122"/>
                <a:cs typeface="Aptos" pitchFamily="34" charset="-120"/>
              </a:rPr>
              <a:t>report</a:t>
            </a:r>
            <a:endParaRPr lang="en-US" sz="1200" dirty="0"/>
          </a:p>
        </p:txBody>
      </p:sp>
      <p:sp>
        <p:nvSpPr>
          <p:cNvPr id="13" name="Shape 10"/>
          <p:cNvSpPr/>
          <p:nvPr/>
        </p:nvSpPr>
        <p:spPr>
          <a:xfrm>
            <a:off x="3234690" y="2743200"/>
            <a:ext cx="2987802" cy="1188720"/>
          </a:xfrm>
          <a:prstGeom prst="chevron">
            <a:avLst/>
          </a:prstGeom>
          <a:solidFill>
            <a:srgbClr val="141414"/>
          </a:solidFill>
          <a:ln w="19050">
            <a:solidFill>
              <a:srgbClr val="FFFFFF"/>
            </a:solidFill>
            <a:prstDash val="solid"/>
          </a:ln>
        </p:spPr>
      </p:sp>
      <p:sp>
        <p:nvSpPr>
          <p:cNvPr id="14" name="Text 11"/>
          <p:cNvSpPr/>
          <p:nvPr/>
        </p:nvSpPr>
        <p:spPr>
          <a:xfrm>
            <a:off x="3509010" y="2743200"/>
            <a:ext cx="2576322" cy="1188720"/>
          </a:xfrm>
          <a:prstGeom prst="rect">
            <a:avLst/>
          </a:prstGeom>
          <a:noFill/>
          <a:ln/>
        </p:spPr>
        <p:txBody>
          <a:bodyPr wrap="square"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Check the</a:t>
            </a:r>
            <a:endParaRPr lang="en-US" sz="1200" dirty="0"/>
          </a:p>
          <a:p>
            <a:pPr algn="ctr" indent="0" marL="0">
              <a:buNone/>
            </a:pPr>
            <a:r>
              <a:rPr lang="en-US" sz="1200" b="1" dirty="0">
                <a:solidFill>
                  <a:srgbClr val="FFFFFF"/>
                </a:solidFill>
                <a:latin typeface="Aptos" pitchFamily="34" charset="0"/>
                <a:ea typeface="Aptos" pitchFamily="34" charset="-122"/>
                <a:cs typeface="Aptos" pitchFamily="34" charset="-120"/>
              </a:rPr>
              <a:t>access policy</a:t>
            </a:r>
            <a:endParaRPr lang="en-US" sz="1200" dirty="0"/>
          </a:p>
        </p:txBody>
      </p:sp>
      <p:sp>
        <p:nvSpPr>
          <p:cNvPr id="15" name="Shape 12"/>
          <p:cNvSpPr/>
          <p:nvPr/>
        </p:nvSpPr>
        <p:spPr>
          <a:xfrm>
            <a:off x="5966460" y="2743200"/>
            <a:ext cx="2987802" cy="1188720"/>
          </a:xfrm>
          <a:prstGeom prst="chevron">
            <a:avLst/>
          </a:prstGeom>
          <a:solidFill>
            <a:srgbClr val="3D3D3D"/>
          </a:solidFill>
          <a:ln w="19050">
            <a:solidFill>
              <a:srgbClr val="FFFFFF"/>
            </a:solidFill>
            <a:prstDash val="solid"/>
          </a:ln>
        </p:spPr>
      </p:sp>
      <p:sp>
        <p:nvSpPr>
          <p:cNvPr id="16" name="Text 13"/>
          <p:cNvSpPr/>
          <p:nvPr/>
        </p:nvSpPr>
        <p:spPr>
          <a:xfrm>
            <a:off x="6240780" y="2743200"/>
            <a:ext cx="2576322" cy="1188720"/>
          </a:xfrm>
          <a:prstGeom prst="rect">
            <a:avLst/>
          </a:prstGeom>
          <a:noFill/>
          <a:ln/>
        </p:spPr>
        <p:txBody>
          <a:bodyPr wrap="square"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Share via approved</a:t>
            </a:r>
            <a:endParaRPr lang="en-US" sz="1200" dirty="0"/>
          </a:p>
          <a:p>
            <a:pPr algn="ctr" indent="0" marL="0">
              <a:buNone/>
            </a:pPr>
            <a:r>
              <a:rPr lang="en-US" sz="1200" b="1" dirty="0">
                <a:solidFill>
                  <a:srgbClr val="FFFFFF"/>
                </a:solidFill>
                <a:latin typeface="Aptos" pitchFamily="34" charset="0"/>
                <a:ea typeface="Aptos" pitchFamily="34" charset="-122"/>
                <a:cs typeface="Aptos" pitchFamily="34" charset="-120"/>
              </a:rPr>
              <a:t>channel only</a:t>
            </a:r>
            <a:endParaRPr lang="en-US" sz="1200" dirty="0"/>
          </a:p>
        </p:txBody>
      </p:sp>
      <p:sp>
        <p:nvSpPr>
          <p:cNvPr id="17" name="Shape 14"/>
          <p:cNvSpPr/>
          <p:nvPr/>
        </p:nvSpPr>
        <p:spPr>
          <a:xfrm>
            <a:off x="8698230" y="2743200"/>
            <a:ext cx="2987802" cy="1188720"/>
          </a:xfrm>
          <a:prstGeom prst="chevron">
            <a:avLst/>
          </a:prstGeom>
          <a:solidFill>
            <a:srgbClr val="141414"/>
          </a:solidFill>
          <a:ln w="19050">
            <a:solidFill>
              <a:srgbClr val="FFFFFF"/>
            </a:solidFill>
            <a:prstDash val="solid"/>
          </a:ln>
        </p:spPr>
      </p:sp>
      <p:sp>
        <p:nvSpPr>
          <p:cNvPr id="18" name="Text 15"/>
          <p:cNvSpPr/>
          <p:nvPr/>
        </p:nvSpPr>
        <p:spPr>
          <a:xfrm>
            <a:off x="8972550" y="2743200"/>
            <a:ext cx="2576322" cy="1188720"/>
          </a:xfrm>
          <a:prstGeom prst="rect">
            <a:avLst/>
          </a:prstGeom>
          <a:noFill/>
          <a:ln/>
        </p:spPr>
        <p:txBody>
          <a:bodyPr wrap="square"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Store in controlled</a:t>
            </a:r>
            <a:endParaRPr lang="en-US" sz="1200" dirty="0"/>
          </a:p>
          <a:p>
            <a:pPr algn="ctr" indent="0" marL="0">
              <a:buNone/>
            </a:pPr>
            <a:r>
              <a:rPr lang="en-US" sz="1200" b="1" dirty="0">
                <a:solidFill>
                  <a:srgbClr val="FFFFFF"/>
                </a:solidFill>
                <a:latin typeface="Aptos" pitchFamily="34" charset="0"/>
                <a:ea typeface="Aptos" pitchFamily="34" charset="-122"/>
                <a:cs typeface="Aptos" pitchFamily="34" charset="-120"/>
              </a:rPr>
              <a:t>location</a:t>
            </a:r>
            <a:endParaRPr lang="en-US" sz="1200" dirty="0"/>
          </a:p>
        </p:txBody>
      </p:sp>
      <p:sp>
        <p:nvSpPr>
          <p:cNvPr id="19" name="Text 16"/>
          <p:cNvSpPr/>
          <p:nvPr/>
        </p:nvSpPr>
        <p:spPr>
          <a:xfrm>
            <a:off x="502920" y="4206240"/>
            <a:ext cx="11183112" cy="457200"/>
          </a:xfrm>
          <a:prstGeom prst="rect">
            <a:avLst/>
          </a:prstGeom>
          <a:noFill/>
          <a:ln/>
        </p:spPr>
        <p:txBody>
          <a:bodyPr wrap="square" rtlCol="0" anchor="ctr"/>
          <a:lstStyle/>
          <a:p>
            <a:pPr indent="0" marL="0">
              <a:buNone/>
            </a:pPr>
            <a:r>
              <a:rPr lang="en-US" sz="1250" b="1" dirty="0">
                <a:solidFill>
                  <a:srgbClr val="141414"/>
                </a:solidFill>
                <a:latin typeface="Aptos" pitchFamily="34" charset="0"/>
                <a:ea typeface="Aptos" pitchFamily="34" charset="-122"/>
                <a:cs typeface="Aptos" pitchFamily="34" charset="-120"/>
              </a:rPr>
              <a:t>Authorised readers of a cyber-security report:  </a:t>
            </a:r>
            <a:pPr indent="0" marL="0">
              <a:buNone/>
            </a:pPr>
            <a:r>
              <a:rPr lang="en-US" sz="1250" dirty="0">
                <a:solidFill>
                  <a:srgbClr val="6B7280"/>
                </a:solidFill>
                <a:latin typeface="Aptos" pitchFamily="34" charset="0"/>
                <a:ea typeface="Aptos" pitchFamily="34" charset="-122"/>
                <a:cs typeface="Aptos" pitchFamily="34" charset="-120"/>
              </a:rPr>
              <a:t>IT Manager · Information Security Team · Compliance Officer — never the whole company.</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11</a:t>
            </a:r>
            <a:endParaRPr lang="en-US" sz="900" dirty="0"/>
          </a:p>
        </p:txBody>
      </p:sp>
      <p:sp>
        <p:nvSpPr>
          <p:cNvPr id="4" name="Shape 2"/>
          <p:cNvSpPr/>
          <p:nvPr/>
        </p:nvSpPr>
        <p:spPr>
          <a:xfrm>
            <a:off x="0" y="0"/>
            <a:ext cx="12188952" cy="82296"/>
          </a:xfrm>
          <a:prstGeom prst="rect">
            <a:avLst/>
          </a:prstGeom>
          <a:solidFill>
            <a:srgbClr val="3D3D3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3D3D3D"/>
                </a:solidFill>
                <a:latin typeface="Aptos" pitchFamily="34" charset="0"/>
                <a:ea typeface="Aptos" pitchFamily="34" charset="-122"/>
                <a:cs typeface="Aptos" pitchFamily="34" charset="-120"/>
              </a:rPr>
              <a:t>EMBEDDED KNOWLEDGE · CRITERION 3</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141414"/>
                </a:solidFill>
                <a:latin typeface="Aptos Display" pitchFamily="34" charset="0"/>
                <a:ea typeface="Aptos Display" pitchFamily="34" charset="-122"/>
                <a:cs typeface="Aptos Display" pitchFamily="34" charset="-120"/>
              </a:rPr>
              <a:t>Disseminating confidential information — in practice</a:t>
            </a:r>
            <a:endParaRPr lang="en-US" sz="2600" dirty="0"/>
          </a:p>
        </p:txBody>
      </p:sp>
      <p:sp>
        <p:nvSpPr>
          <p:cNvPr id="7" name="Shape 5"/>
          <p:cNvSpPr/>
          <p:nvPr/>
        </p:nvSpPr>
        <p:spPr>
          <a:xfrm>
            <a:off x="502920" y="1371600"/>
            <a:ext cx="11183112" cy="2468880"/>
          </a:xfrm>
          <a:prstGeom prst="roundRect">
            <a:avLst>
              <a:gd name="adj" fmla="val 3333"/>
            </a:avLst>
          </a:prstGeom>
          <a:solidFill>
            <a:srgbClr val="F2F2F2"/>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8" name="Shape 6"/>
          <p:cNvSpPr/>
          <p:nvPr/>
        </p:nvSpPr>
        <p:spPr>
          <a:xfrm>
            <a:off x="502920" y="1371600"/>
            <a:ext cx="82296" cy="2468880"/>
          </a:xfrm>
          <a:prstGeom prst="rect">
            <a:avLst/>
          </a:prstGeom>
          <a:solidFill>
            <a:srgbClr val="3D3D3D"/>
          </a:solidFill>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082528" y="1554480"/>
            <a:ext cx="347472" cy="347472"/>
          </a:xfrm>
          <a:prstGeom prst="rect">
            <a:avLst/>
          </a:prstGeom>
        </p:spPr>
      </p:pic>
      <p:sp>
        <p:nvSpPr>
          <p:cNvPr id="10" name="Text 7"/>
          <p:cNvSpPr/>
          <p:nvPr/>
        </p:nvSpPr>
        <p:spPr>
          <a:xfrm>
            <a:off x="795528" y="1517904"/>
            <a:ext cx="10177272" cy="2176272"/>
          </a:xfrm>
          <a:prstGeom prst="rect">
            <a:avLst/>
          </a:prstGeom>
          <a:noFill/>
          <a:ln/>
        </p:spPr>
        <p:txBody>
          <a:bodyPr wrap="square" rtlCol="0" anchor="t"/>
          <a:lstStyle/>
          <a:p>
            <a:pPr indent="0" marL="0">
              <a:lnSpc>
                <a:spcPct val="115000"/>
              </a:lnSpc>
              <a:buNone/>
            </a:pPr>
            <a:r>
              <a:rPr lang="en-US" sz="1050" b="1" spc="150" kern="0" dirty="0">
                <a:solidFill>
                  <a:srgbClr val="3D3D3D"/>
                </a:solidFill>
                <a:latin typeface="Aptos" pitchFamily="34" charset="0"/>
                <a:ea typeface="Aptos" pitchFamily="34" charset="-122"/>
                <a:cs typeface="Aptos" pitchFamily="34" charset="-120"/>
              </a:rPr>
              <a:t>WORKPLACE EXAMPLE — INVESTEC
</a:t>
            </a:r>
            <a:pPr indent="0" marL="0">
              <a:lnSpc>
                <a:spcPct val="115000"/>
              </a:lnSpc>
              <a:buNone/>
            </a:pPr>
            <a:r>
              <a:rPr lang="en-US" sz="1500" b="1" dirty="0">
                <a:solidFill>
                  <a:srgbClr val="141414"/>
                </a:solidFill>
                <a:latin typeface="Aptos Display" pitchFamily="34" charset="0"/>
                <a:ea typeface="Aptos Display" pitchFamily="34" charset="-122"/>
                <a:cs typeface="Aptos Display" pitchFamily="34" charset="-120"/>
              </a:rPr>
              <a:t>Security report with usernames and IP addresses
</a:t>
            </a:r>
            <a:pPr indent="0" marL="0">
              <a:lnSpc>
                <a:spcPct val="115000"/>
              </a:lnSpc>
              <a:buNone/>
            </a:pPr>
            <a:r>
              <a:rPr lang="en-US" sz="1250" dirty="0">
                <a:solidFill>
                  <a:srgbClr val="141414"/>
                </a:solidFill>
                <a:latin typeface="Aptos" pitchFamily="34" charset="0"/>
                <a:ea typeface="Aptos" pitchFamily="34" charset="-122"/>
                <a:cs typeface="Aptos" pitchFamily="34" charset="-120"/>
              </a:rPr>
              <a:t>A cyber-security report identifies employee usernames and IP addresses involved in a phishing attempt. It is shared only with the IT Manager, the Information Security Team and the Compliance Officer through the approved document management system — it is not emailed to every employee.</a:t>
            </a:r>
            <a:endParaRPr lang="en-US" sz="1050" dirty="0"/>
          </a:p>
        </p:txBody>
      </p:sp>
      <p:sp>
        <p:nvSpPr>
          <p:cNvPr id="11" name="Shape 8"/>
          <p:cNvSpPr/>
          <p:nvPr/>
        </p:nvSpPr>
        <p:spPr>
          <a:xfrm>
            <a:off x="502920" y="4023360"/>
            <a:ext cx="5362956" cy="1371600"/>
          </a:xfrm>
          <a:prstGeom prst="roundRect">
            <a:avLst>
              <a:gd name="adj" fmla="val 6000"/>
            </a:avLst>
          </a:prstGeom>
          <a:solidFill>
            <a:srgbClr val="F2F2F2"/>
          </a:solidFill>
          <a:ln w="12700">
            <a:solidFill>
              <a:srgbClr val="DBDBDB"/>
            </a:solidFill>
            <a:prstDash val="solid"/>
          </a:ln>
          <a:effectLst>
            <a:outerShdw sx="100000" sy="100000" kx="0" ky="0" algn="bl" rotWithShape="0" blurRad="88900" dist="25400" dir="5400000">
              <a:srgbClr val="BDBDBD">
                <a:alpha val="30000"/>
              </a:srgbClr>
            </a:outerShdw>
          </a:effectLst>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520" y="4169664"/>
            <a:ext cx="274320" cy="274320"/>
          </a:xfrm>
          <a:prstGeom prst="rect">
            <a:avLst/>
          </a:prstGeom>
        </p:spPr>
      </p:pic>
      <p:sp>
        <p:nvSpPr>
          <p:cNvPr id="13" name="Text 9"/>
          <p:cNvSpPr/>
          <p:nvPr/>
        </p:nvSpPr>
        <p:spPr>
          <a:xfrm>
            <a:off x="1088136" y="4151376"/>
            <a:ext cx="4539996" cy="310896"/>
          </a:xfrm>
          <a:prstGeom prst="rect">
            <a:avLst/>
          </a:prstGeom>
          <a:noFill/>
          <a:ln/>
        </p:spPr>
        <p:txBody>
          <a:bodyPr wrap="square" rtlCol="0" anchor="ctr"/>
          <a:lstStyle/>
          <a:p>
            <a:pPr indent="0" marL="0">
              <a:buNone/>
            </a:pPr>
            <a:r>
              <a:rPr lang="en-US" sz="1100" b="1" spc="150" kern="0" dirty="0">
                <a:solidFill>
                  <a:srgbClr val="3D3D3D"/>
                </a:solidFill>
                <a:latin typeface="Aptos" pitchFamily="34" charset="0"/>
                <a:ea typeface="Aptos" pitchFamily="34" charset="-122"/>
                <a:cs typeface="Aptos" pitchFamily="34" charset="-120"/>
              </a:rPr>
              <a:t>BEST PRACTICE</a:t>
            </a:r>
            <a:endParaRPr lang="en-US" sz="1100" dirty="0"/>
          </a:p>
        </p:txBody>
      </p:sp>
      <p:sp>
        <p:nvSpPr>
          <p:cNvPr id="14" name="Text 10"/>
          <p:cNvSpPr/>
          <p:nvPr/>
        </p:nvSpPr>
        <p:spPr>
          <a:xfrm>
            <a:off x="731520" y="4498848"/>
            <a:ext cx="4905756" cy="786384"/>
          </a:xfrm>
          <a:prstGeom prst="rect">
            <a:avLst/>
          </a:prstGeom>
          <a:noFill/>
          <a:ln/>
        </p:spPr>
        <p:txBody>
          <a:bodyPr wrap="square" rtlCol="0" anchor="t"/>
          <a:lstStyle/>
          <a:p>
            <a:pPr indent="0" marL="0">
              <a:buNone/>
            </a:pPr>
            <a:r>
              <a:rPr lang="en-US" sz="1250" dirty="0">
                <a:solidFill>
                  <a:srgbClr val="141414"/>
                </a:solidFill>
                <a:latin typeface="Aptos" pitchFamily="34" charset="0"/>
                <a:ea typeface="Aptos" pitchFamily="34" charset="-122"/>
                <a:cs typeface="Aptos" pitchFamily="34" charset="-120"/>
              </a:rPr>
              <a:t>Classify first, then share only with named, authorised roles via approved channels.</a:t>
            </a:r>
            <a:endParaRPr lang="en-US" sz="1250" dirty="0"/>
          </a:p>
        </p:txBody>
      </p:sp>
      <p:sp>
        <p:nvSpPr>
          <p:cNvPr id="15" name="Shape 11"/>
          <p:cNvSpPr/>
          <p:nvPr/>
        </p:nvSpPr>
        <p:spPr>
          <a:xfrm>
            <a:off x="6323076" y="4023360"/>
            <a:ext cx="5362956" cy="1371600"/>
          </a:xfrm>
          <a:prstGeom prst="roundRect">
            <a:avLst>
              <a:gd name="adj" fmla="val 6000"/>
            </a:avLst>
          </a:prstGeom>
          <a:solidFill>
            <a:srgbClr val="F4F5F7"/>
          </a:solidFill>
          <a:ln w="12700">
            <a:solidFill>
              <a:srgbClr val="DADDE2"/>
            </a:solidFill>
            <a:prstDash val="solid"/>
          </a:ln>
          <a:effectLst>
            <a:outerShdw sx="100000" sy="100000" kx="0" ky="0" algn="bl" rotWithShape="0" blurRad="88900" dist="25400" dir="5400000">
              <a:srgbClr val="BDBDBD">
                <a:alpha val="30000"/>
              </a:srgbClr>
            </a:outerShdw>
          </a:effectLst>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51676" y="4169664"/>
            <a:ext cx="274320" cy="274320"/>
          </a:xfrm>
          <a:prstGeom prst="rect">
            <a:avLst/>
          </a:prstGeom>
        </p:spPr>
      </p:pic>
      <p:sp>
        <p:nvSpPr>
          <p:cNvPr id="17" name="Text 12"/>
          <p:cNvSpPr/>
          <p:nvPr/>
        </p:nvSpPr>
        <p:spPr>
          <a:xfrm>
            <a:off x="6908292" y="4151376"/>
            <a:ext cx="4539996" cy="310896"/>
          </a:xfrm>
          <a:prstGeom prst="rect">
            <a:avLst/>
          </a:prstGeom>
          <a:noFill/>
          <a:ln/>
        </p:spPr>
        <p:txBody>
          <a:bodyPr wrap="square" rtlCol="0" anchor="ctr"/>
          <a:lstStyle/>
          <a:p>
            <a:pPr indent="0" marL="0">
              <a:buNone/>
            </a:pPr>
            <a:r>
              <a:rPr lang="en-US" sz="1100" b="1" spc="150" kern="0" dirty="0">
                <a:solidFill>
                  <a:srgbClr val="6B7280"/>
                </a:solidFill>
                <a:latin typeface="Aptos" pitchFamily="34" charset="0"/>
                <a:ea typeface="Aptos" pitchFamily="34" charset="-122"/>
                <a:cs typeface="Aptos" pitchFamily="34" charset="-120"/>
              </a:rPr>
              <a:t>COMMON MISTAKE</a:t>
            </a:r>
            <a:endParaRPr lang="en-US" sz="1100" dirty="0"/>
          </a:p>
        </p:txBody>
      </p:sp>
      <p:sp>
        <p:nvSpPr>
          <p:cNvPr id="18" name="Text 13"/>
          <p:cNvSpPr/>
          <p:nvPr/>
        </p:nvSpPr>
        <p:spPr>
          <a:xfrm>
            <a:off x="6551676" y="4498848"/>
            <a:ext cx="4905756" cy="786384"/>
          </a:xfrm>
          <a:prstGeom prst="rect">
            <a:avLst/>
          </a:prstGeom>
          <a:noFill/>
          <a:ln/>
        </p:spPr>
        <p:txBody>
          <a:bodyPr wrap="square" rtlCol="0" anchor="t"/>
          <a:lstStyle/>
          <a:p>
            <a:pPr indent="0" marL="0">
              <a:buNone/>
            </a:pPr>
            <a:r>
              <a:rPr lang="en-US" sz="1250" dirty="0">
                <a:solidFill>
                  <a:srgbClr val="141414"/>
                </a:solidFill>
                <a:latin typeface="Aptos" pitchFamily="34" charset="0"/>
                <a:ea typeface="Aptos" pitchFamily="34" charset="-122"/>
                <a:cs typeface="Aptos" pitchFamily="34" charset="-120"/>
              </a:rPr>
              <a:t>Emailing a sensitive report to a broad distribution list 'for awareness'.</a:t>
            </a:r>
            <a:endParaRPr lang="en-US" sz="1250" dirty="0"/>
          </a:p>
        </p:txBody>
      </p:sp>
      <p:sp>
        <p:nvSpPr>
          <p:cNvPr id="19" name="Shape 14"/>
          <p:cNvSpPr/>
          <p:nvPr/>
        </p:nvSpPr>
        <p:spPr>
          <a:xfrm>
            <a:off x="502920" y="5779008"/>
            <a:ext cx="11183112" cy="603504"/>
          </a:xfrm>
          <a:prstGeom prst="roundRect">
            <a:avLst>
              <a:gd name="adj" fmla="val 10606"/>
            </a:avLst>
          </a:prstGeom>
          <a:solidFill>
            <a:srgbClr val="141414"/>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4088" y="5943600"/>
            <a:ext cx="274320" cy="274320"/>
          </a:xfrm>
          <a:prstGeom prst="rect">
            <a:avLst/>
          </a:prstGeom>
        </p:spPr>
      </p:pic>
      <p:sp>
        <p:nvSpPr>
          <p:cNvPr id="21" name="Text 15"/>
          <p:cNvSpPr/>
          <p:nvPr/>
        </p:nvSpPr>
        <p:spPr>
          <a:xfrm>
            <a:off x="1069848" y="5779008"/>
            <a:ext cx="10378440" cy="603504"/>
          </a:xfrm>
          <a:prstGeom prst="rect">
            <a:avLst/>
          </a:prstGeom>
          <a:noFill/>
          <a:ln/>
        </p:spPr>
        <p:txBody>
          <a:bodyPr wrap="square" rtlCol="0" anchor="ctr"/>
          <a:lstStyle/>
          <a:p>
            <a:pPr indent="0" marL="0">
              <a:buNone/>
            </a:pPr>
            <a:r>
              <a:rPr lang="en-US" sz="1050" b="1" spc="150" kern="0" dirty="0">
                <a:solidFill>
                  <a:srgbClr val="C9C9C9"/>
                </a:solidFill>
                <a:latin typeface="Aptos" pitchFamily="34" charset="0"/>
                <a:ea typeface="Aptos" pitchFamily="34" charset="-122"/>
                <a:cs typeface="Aptos" pitchFamily="34" charset="-120"/>
              </a:rPr>
              <a:t>KNOWLEDGE CHECK   </a:t>
            </a:r>
            <a:pPr indent="0" marL="0">
              <a:buNone/>
            </a:pPr>
            <a:r>
              <a:rPr lang="en-US" sz="1250" dirty="0">
                <a:solidFill>
                  <a:srgbClr val="FFFFFF"/>
                </a:solidFill>
                <a:latin typeface="Aptos" pitchFamily="34" charset="0"/>
                <a:ea typeface="Aptos" pitchFamily="34" charset="-122"/>
                <a:cs typeface="Aptos" pitchFamily="34" charset="-120"/>
              </a:rPr>
              <a:t>Your security report names three staff members. Who may receive it — and through which channel?</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12</a:t>
            </a:r>
            <a:endParaRPr lang="en-US" sz="900" dirty="0"/>
          </a:p>
        </p:txBody>
      </p:sp>
      <p:sp>
        <p:nvSpPr>
          <p:cNvPr id="4" name="Shape 2"/>
          <p:cNvSpPr/>
          <p:nvPr/>
        </p:nvSpPr>
        <p:spPr>
          <a:xfrm>
            <a:off x="0" y="0"/>
            <a:ext cx="12188952" cy="82296"/>
          </a:xfrm>
          <a:prstGeom prst="rect">
            <a:avLst/>
          </a:prstGeom>
          <a:solidFill>
            <a:srgbClr val="3D3D3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3D3D3D"/>
                </a:solidFill>
                <a:latin typeface="Aptos" pitchFamily="34" charset="0"/>
                <a:ea typeface="Aptos" pitchFamily="34" charset="-122"/>
                <a:cs typeface="Aptos" pitchFamily="34" charset="-120"/>
              </a:rPr>
              <a:t>EMBEDDED KNOWLEDGE · CRITERION 4</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141414"/>
                </a:solidFill>
                <a:latin typeface="Aptos Display" pitchFamily="34" charset="0"/>
                <a:ea typeface="Aptos Display" pitchFamily="34" charset="-122"/>
                <a:cs typeface="Aptos Display" pitchFamily="34" charset="-120"/>
              </a:rPr>
              <a:t>Layout and format standards</a:t>
            </a:r>
            <a:endParaRPr lang="en-US" sz="2600" dirty="0"/>
          </a:p>
        </p:txBody>
      </p:sp>
      <p:sp>
        <p:nvSpPr>
          <p:cNvPr id="7" name="Shape 5"/>
          <p:cNvSpPr/>
          <p:nvPr/>
        </p:nvSpPr>
        <p:spPr>
          <a:xfrm>
            <a:off x="502920" y="1298448"/>
            <a:ext cx="11183112" cy="566928"/>
          </a:xfrm>
          <a:prstGeom prst="roundRect">
            <a:avLst>
              <a:gd name="adj" fmla="val 11290"/>
            </a:avLst>
          </a:prstGeom>
          <a:solidFill>
            <a:srgbClr val="F2F2F2"/>
          </a:solidFill>
          <a:ln w="9525">
            <a:solidFill>
              <a:srgbClr val="DBDBDB"/>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1444752"/>
            <a:ext cx="274320" cy="274320"/>
          </a:xfrm>
          <a:prstGeom prst="rect">
            <a:avLst/>
          </a:prstGeom>
        </p:spPr>
      </p:pic>
      <p:sp>
        <p:nvSpPr>
          <p:cNvPr id="9" name="Text 6"/>
          <p:cNvSpPr/>
          <p:nvPr/>
        </p:nvSpPr>
        <p:spPr>
          <a:xfrm>
            <a:off x="1069848" y="1298448"/>
            <a:ext cx="10378440" cy="566928"/>
          </a:xfrm>
          <a:prstGeom prst="rect">
            <a:avLst/>
          </a:prstGeom>
          <a:noFill/>
          <a:ln/>
        </p:spPr>
        <p:txBody>
          <a:bodyPr wrap="square" rtlCol="0" anchor="ctr"/>
          <a:lstStyle/>
          <a:p>
            <a:pPr indent="0" marL="0">
              <a:buNone/>
            </a:pPr>
            <a:r>
              <a:rPr lang="en-US" sz="1050" b="1" spc="150" kern="0" dirty="0">
                <a:solidFill>
                  <a:srgbClr val="3D3D3D"/>
                </a:solidFill>
                <a:latin typeface="Aptos" pitchFamily="34" charset="0"/>
                <a:ea typeface="Aptos" pitchFamily="34" charset="-122"/>
                <a:cs typeface="Aptos" pitchFamily="34" charset="-120"/>
              </a:rPr>
              <a:t>LEARNING OBJECTIVE   </a:t>
            </a:r>
            <a:pPr indent="0" marL="0">
              <a:buNone/>
            </a:pPr>
            <a:r>
              <a:rPr lang="en-US" sz="1300" dirty="0">
                <a:solidFill>
                  <a:srgbClr val="141414"/>
                </a:solidFill>
                <a:latin typeface="Aptos" pitchFamily="34" charset="0"/>
                <a:ea typeface="Aptos" pitchFamily="34" charset="-122"/>
                <a:cs typeface="Aptos" pitchFamily="34" charset="-120"/>
              </a:rPr>
              <a:t>Apply organisational standards for the layout and format of reports.</a:t>
            </a:r>
            <a:endParaRPr lang="en-US" sz="1050" dirty="0"/>
          </a:p>
        </p:txBody>
      </p:sp>
      <p:sp>
        <p:nvSpPr>
          <p:cNvPr id="10" name="Text 7"/>
          <p:cNvSpPr/>
          <p:nvPr/>
        </p:nvSpPr>
        <p:spPr>
          <a:xfrm>
            <a:off x="502920" y="1993392"/>
            <a:ext cx="11183112" cy="566928"/>
          </a:xfrm>
          <a:prstGeom prst="rect">
            <a:avLst/>
          </a:prstGeom>
          <a:noFill/>
          <a:ln/>
        </p:spPr>
        <p:txBody>
          <a:bodyPr wrap="square" rtlCol="0" anchor="t"/>
          <a:lstStyle/>
          <a:p>
            <a:pPr indent="0" marL="0">
              <a:lnSpc>
                <a:spcPct val="115000"/>
              </a:lnSpc>
              <a:buNone/>
            </a:pPr>
            <a:r>
              <a:rPr lang="en-US" sz="1350" dirty="0">
                <a:solidFill>
                  <a:srgbClr val="6B7280"/>
                </a:solidFill>
                <a:latin typeface="Aptos" pitchFamily="34" charset="0"/>
                <a:ea typeface="Aptos" pitchFamily="34" charset="-122"/>
                <a:cs typeface="Aptos" pitchFamily="34" charset="-120"/>
              </a:rPr>
              <a:t>Consistent formatting makes reports easier to read and reinforces the organisation's professional image.</a:t>
            </a:r>
            <a:endParaRPr lang="en-US" sz="1350" dirty="0"/>
          </a:p>
        </p:txBody>
      </p:sp>
      <p:sp>
        <p:nvSpPr>
          <p:cNvPr id="11" name="Shape 8"/>
          <p:cNvSpPr/>
          <p:nvPr/>
        </p:nvSpPr>
        <p:spPr>
          <a:xfrm>
            <a:off x="502920" y="2743200"/>
            <a:ext cx="2644902" cy="1691640"/>
          </a:xfrm>
          <a:prstGeom prst="roundRect">
            <a:avLst>
              <a:gd name="adj" fmla="val 4865"/>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512" y="2898648"/>
            <a:ext cx="310896" cy="310896"/>
          </a:xfrm>
          <a:prstGeom prst="rect">
            <a:avLst/>
          </a:prstGeom>
        </p:spPr>
      </p:pic>
      <p:sp>
        <p:nvSpPr>
          <p:cNvPr id="13" name="Text 9"/>
          <p:cNvSpPr/>
          <p:nvPr/>
        </p:nvSpPr>
        <p:spPr>
          <a:xfrm>
            <a:off x="1069848" y="2862072"/>
            <a:ext cx="1913382" cy="384048"/>
          </a:xfrm>
          <a:prstGeom prst="rect">
            <a:avLst/>
          </a:prstGeom>
          <a:noFill/>
          <a:ln/>
        </p:spPr>
        <p:txBody>
          <a:bodyPr wrap="square" rtlCol="0" anchor="ctr"/>
          <a:lstStyle/>
          <a:p>
            <a:pPr indent="0" marL="0">
              <a:buNone/>
            </a:pPr>
            <a:r>
              <a:rPr lang="en-US" sz="1350" b="1" dirty="0">
                <a:solidFill>
                  <a:srgbClr val="141414"/>
                </a:solidFill>
                <a:latin typeface="Aptos Display" pitchFamily="34" charset="0"/>
                <a:ea typeface="Aptos Display" pitchFamily="34" charset="-122"/>
                <a:cs typeface="Aptos Display" pitchFamily="34" charset="-120"/>
              </a:rPr>
              <a:t>Identity</a:t>
            </a:r>
            <a:endParaRPr lang="en-US" sz="1350" dirty="0"/>
          </a:p>
        </p:txBody>
      </p:sp>
      <p:sp>
        <p:nvSpPr>
          <p:cNvPr id="14" name="Text 10"/>
          <p:cNvSpPr/>
          <p:nvPr/>
        </p:nvSpPr>
        <p:spPr>
          <a:xfrm>
            <a:off x="667512" y="3291840"/>
            <a:ext cx="2315718" cy="103327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Company logo · title page · confidential classification</a:t>
            </a:r>
            <a:endParaRPr lang="en-US" sz="1050" dirty="0"/>
          </a:p>
        </p:txBody>
      </p:sp>
      <p:sp>
        <p:nvSpPr>
          <p:cNvPr id="15" name="Shape 11"/>
          <p:cNvSpPr/>
          <p:nvPr/>
        </p:nvSpPr>
        <p:spPr>
          <a:xfrm>
            <a:off x="3348990" y="2743200"/>
            <a:ext cx="2644902" cy="1691640"/>
          </a:xfrm>
          <a:prstGeom prst="roundRect">
            <a:avLst>
              <a:gd name="adj" fmla="val 4865"/>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513582" y="2898648"/>
            <a:ext cx="310896" cy="310896"/>
          </a:xfrm>
          <a:prstGeom prst="rect">
            <a:avLst/>
          </a:prstGeom>
        </p:spPr>
      </p:pic>
      <p:sp>
        <p:nvSpPr>
          <p:cNvPr id="17" name="Text 12"/>
          <p:cNvSpPr/>
          <p:nvPr/>
        </p:nvSpPr>
        <p:spPr>
          <a:xfrm>
            <a:off x="3915918" y="2862072"/>
            <a:ext cx="1913382" cy="384048"/>
          </a:xfrm>
          <a:prstGeom prst="rect">
            <a:avLst/>
          </a:prstGeom>
          <a:noFill/>
          <a:ln/>
        </p:spPr>
        <p:txBody>
          <a:bodyPr wrap="square" rtlCol="0" anchor="ctr"/>
          <a:lstStyle/>
          <a:p>
            <a:pPr indent="0" marL="0">
              <a:buNone/>
            </a:pPr>
            <a:r>
              <a:rPr lang="en-US" sz="1350" b="1" dirty="0">
                <a:solidFill>
                  <a:srgbClr val="141414"/>
                </a:solidFill>
                <a:latin typeface="Aptos Display" pitchFamily="34" charset="0"/>
                <a:ea typeface="Aptos Display" pitchFamily="34" charset="-122"/>
                <a:cs typeface="Aptos Display" pitchFamily="34" charset="-120"/>
              </a:rPr>
              <a:t>Structure</a:t>
            </a:r>
            <a:endParaRPr lang="en-US" sz="1350" dirty="0"/>
          </a:p>
        </p:txBody>
      </p:sp>
      <p:sp>
        <p:nvSpPr>
          <p:cNvPr id="18" name="Text 13"/>
          <p:cNvSpPr/>
          <p:nvPr/>
        </p:nvSpPr>
        <p:spPr>
          <a:xfrm>
            <a:off x="3513582" y="3291840"/>
            <a:ext cx="2315718" cy="103327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Heading styles · numbered sections · automatic table of contents</a:t>
            </a:r>
            <a:endParaRPr lang="en-US" sz="1050" dirty="0"/>
          </a:p>
        </p:txBody>
      </p:sp>
      <p:sp>
        <p:nvSpPr>
          <p:cNvPr id="19" name="Shape 14"/>
          <p:cNvSpPr/>
          <p:nvPr/>
        </p:nvSpPr>
        <p:spPr>
          <a:xfrm>
            <a:off x="6195060" y="2743200"/>
            <a:ext cx="2644902" cy="1691640"/>
          </a:xfrm>
          <a:prstGeom prst="roundRect">
            <a:avLst>
              <a:gd name="adj" fmla="val 4865"/>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59652" y="2898648"/>
            <a:ext cx="310896" cy="310896"/>
          </a:xfrm>
          <a:prstGeom prst="rect">
            <a:avLst/>
          </a:prstGeom>
        </p:spPr>
      </p:pic>
      <p:sp>
        <p:nvSpPr>
          <p:cNvPr id="21" name="Text 15"/>
          <p:cNvSpPr/>
          <p:nvPr/>
        </p:nvSpPr>
        <p:spPr>
          <a:xfrm>
            <a:off x="6761988" y="2862072"/>
            <a:ext cx="1913382" cy="384048"/>
          </a:xfrm>
          <a:prstGeom prst="rect">
            <a:avLst/>
          </a:prstGeom>
          <a:noFill/>
          <a:ln/>
        </p:spPr>
        <p:txBody>
          <a:bodyPr wrap="square" rtlCol="0" anchor="ctr"/>
          <a:lstStyle/>
          <a:p>
            <a:pPr indent="0" marL="0">
              <a:buNone/>
            </a:pPr>
            <a:r>
              <a:rPr lang="en-US" sz="1350" b="1" dirty="0">
                <a:solidFill>
                  <a:srgbClr val="141414"/>
                </a:solidFill>
                <a:latin typeface="Aptos Display" pitchFamily="34" charset="0"/>
                <a:ea typeface="Aptos Display" pitchFamily="34" charset="-122"/>
                <a:cs typeface="Aptos Display" pitchFamily="34" charset="-120"/>
              </a:rPr>
              <a:t>Typography</a:t>
            </a:r>
            <a:endParaRPr lang="en-US" sz="1350" dirty="0"/>
          </a:p>
        </p:txBody>
      </p:sp>
      <p:sp>
        <p:nvSpPr>
          <p:cNvPr id="22" name="Text 16"/>
          <p:cNvSpPr/>
          <p:nvPr/>
        </p:nvSpPr>
        <p:spPr>
          <a:xfrm>
            <a:off x="6359652" y="3291840"/>
            <a:ext cx="2315718" cy="103327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Aptos font · blue headings · consistent sizes</a:t>
            </a:r>
            <a:endParaRPr lang="en-US" sz="1050" dirty="0"/>
          </a:p>
        </p:txBody>
      </p:sp>
      <p:sp>
        <p:nvSpPr>
          <p:cNvPr id="23" name="Shape 17"/>
          <p:cNvSpPr/>
          <p:nvPr/>
        </p:nvSpPr>
        <p:spPr>
          <a:xfrm>
            <a:off x="9041130" y="2743200"/>
            <a:ext cx="2644902" cy="1691640"/>
          </a:xfrm>
          <a:prstGeom prst="roundRect">
            <a:avLst>
              <a:gd name="adj" fmla="val 4865"/>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pic>
        <p:nvPicPr>
          <p:cNvPr id="24"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205722" y="2898648"/>
            <a:ext cx="310896" cy="310896"/>
          </a:xfrm>
          <a:prstGeom prst="rect">
            <a:avLst/>
          </a:prstGeom>
        </p:spPr>
      </p:pic>
      <p:sp>
        <p:nvSpPr>
          <p:cNvPr id="25" name="Text 18"/>
          <p:cNvSpPr/>
          <p:nvPr/>
        </p:nvSpPr>
        <p:spPr>
          <a:xfrm>
            <a:off x="9608058" y="2862072"/>
            <a:ext cx="1913382" cy="384048"/>
          </a:xfrm>
          <a:prstGeom prst="rect">
            <a:avLst/>
          </a:prstGeom>
          <a:noFill/>
          <a:ln/>
        </p:spPr>
        <p:txBody>
          <a:bodyPr wrap="square" rtlCol="0" anchor="ctr"/>
          <a:lstStyle/>
          <a:p>
            <a:pPr indent="0" marL="0">
              <a:buNone/>
            </a:pPr>
            <a:r>
              <a:rPr lang="en-US" sz="1350" b="1" dirty="0">
                <a:solidFill>
                  <a:srgbClr val="141414"/>
                </a:solidFill>
                <a:latin typeface="Aptos Display" pitchFamily="34" charset="0"/>
                <a:ea typeface="Aptos Display" pitchFamily="34" charset="-122"/>
                <a:cs typeface="Aptos Display" pitchFamily="34" charset="-120"/>
              </a:rPr>
              <a:t>Navigation</a:t>
            </a:r>
            <a:endParaRPr lang="en-US" sz="1350" dirty="0"/>
          </a:p>
        </p:txBody>
      </p:sp>
      <p:sp>
        <p:nvSpPr>
          <p:cNvPr id="26" name="Text 19"/>
          <p:cNvSpPr/>
          <p:nvPr/>
        </p:nvSpPr>
        <p:spPr>
          <a:xfrm>
            <a:off x="9205722" y="3291840"/>
            <a:ext cx="2315718" cy="103327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Page numbers · tables for data · professional finish</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13</a:t>
            </a:r>
            <a:endParaRPr lang="en-US" sz="900" dirty="0"/>
          </a:p>
        </p:txBody>
      </p:sp>
      <p:sp>
        <p:nvSpPr>
          <p:cNvPr id="4" name="Shape 2"/>
          <p:cNvSpPr/>
          <p:nvPr/>
        </p:nvSpPr>
        <p:spPr>
          <a:xfrm>
            <a:off x="0" y="0"/>
            <a:ext cx="12188952" cy="82296"/>
          </a:xfrm>
          <a:prstGeom prst="rect">
            <a:avLst/>
          </a:prstGeom>
          <a:solidFill>
            <a:srgbClr val="3D3D3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3D3D3D"/>
                </a:solidFill>
                <a:latin typeface="Aptos" pitchFamily="34" charset="0"/>
                <a:ea typeface="Aptos" pitchFamily="34" charset="-122"/>
                <a:cs typeface="Aptos" pitchFamily="34" charset="-120"/>
              </a:rPr>
              <a:t>EMBEDDED KNOWLEDGE · CRITERION 4</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141414"/>
                </a:solidFill>
                <a:latin typeface="Aptos Display" pitchFamily="34" charset="0"/>
                <a:ea typeface="Aptos Display" pitchFamily="34" charset="-122"/>
                <a:cs typeface="Aptos Display" pitchFamily="34" charset="-120"/>
              </a:rPr>
              <a:t>Layout and format standards — in practice</a:t>
            </a:r>
            <a:endParaRPr lang="en-US" sz="2600" dirty="0"/>
          </a:p>
        </p:txBody>
      </p:sp>
      <p:sp>
        <p:nvSpPr>
          <p:cNvPr id="7" name="Shape 5"/>
          <p:cNvSpPr/>
          <p:nvPr/>
        </p:nvSpPr>
        <p:spPr>
          <a:xfrm>
            <a:off x="502920" y="1371600"/>
            <a:ext cx="11183112" cy="2468880"/>
          </a:xfrm>
          <a:prstGeom prst="roundRect">
            <a:avLst>
              <a:gd name="adj" fmla="val 3333"/>
            </a:avLst>
          </a:prstGeom>
          <a:solidFill>
            <a:srgbClr val="F2F2F2"/>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8" name="Shape 6"/>
          <p:cNvSpPr/>
          <p:nvPr/>
        </p:nvSpPr>
        <p:spPr>
          <a:xfrm>
            <a:off x="502920" y="1371600"/>
            <a:ext cx="82296" cy="2468880"/>
          </a:xfrm>
          <a:prstGeom prst="rect">
            <a:avLst/>
          </a:prstGeom>
          <a:solidFill>
            <a:srgbClr val="3D3D3D"/>
          </a:solidFill>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082528" y="1554480"/>
            <a:ext cx="347472" cy="347472"/>
          </a:xfrm>
          <a:prstGeom prst="rect">
            <a:avLst/>
          </a:prstGeom>
        </p:spPr>
      </p:pic>
      <p:sp>
        <p:nvSpPr>
          <p:cNvPr id="10" name="Text 7"/>
          <p:cNvSpPr/>
          <p:nvPr/>
        </p:nvSpPr>
        <p:spPr>
          <a:xfrm>
            <a:off x="795528" y="1517904"/>
            <a:ext cx="10177272" cy="2176272"/>
          </a:xfrm>
          <a:prstGeom prst="rect">
            <a:avLst/>
          </a:prstGeom>
          <a:noFill/>
          <a:ln/>
        </p:spPr>
        <p:txBody>
          <a:bodyPr wrap="square" rtlCol="0" anchor="t"/>
          <a:lstStyle/>
          <a:p>
            <a:pPr indent="0" marL="0">
              <a:lnSpc>
                <a:spcPct val="115000"/>
              </a:lnSpc>
              <a:buNone/>
            </a:pPr>
            <a:r>
              <a:rPr lang="en-US" sz="1050" b="1" spc="150" kern="0" dirty="0">
                <a:solidFill>
                  <a:srgbClr val="3D3D3D"/>
                </a:solidFill>
                <a:latin typeface="Aptos" pitchFamily="34" charset="0"/>
                <a:ea typeface="Aptos" pitchFamily="34" charset="-122"/>
                <a:cs typeface="Aptos" pitchFamily="34" charset="-120"/>
              </a:rPr>
              <a:t>WORKPLACE EXAMPLE — INVESTEC
</a:t>
            </a:r>
            <a:pPr indent="0" marL="0">
              <a:lnSpc>
                <a:spcPct val="115000"/>
              </a:lnSpc>
              <a:buNone/>
            </a:pPr>
            <a:r>
              <a:rPr lang="en-US" sz="1500" b="1" dirty="0">
                <a:solidFill>
                  <a:srgbClr val="141414"/>
                </a:solidFill>
                <a:latin typeface="Aptos Display" pitchFamily="34" charset="0"/>
                <a:ea typeface="Aptos Display" pitchFamily="34" charset="-122"/>
                <a:cs typeface="Aptos Display" pitchFamily="34" charset="-120"/>
              </a:rPr>
              <a:t>The Investec house style
</a:t>
            </a:r>
            <a:pPr indent="0" marL="0">
              <a:lnSpc>
                <a:spcPct val="115000"/>
              </a:lnSpc>
              <a:buNone/>
            </a:pPr>
            <a:r>
              <a:rPr lang="en-US" sz="1250" dirty="0">
                <a:solidFill>
                  <a:srgbClr val="141414"/>
                </a:solidFill>
                <a:latin typeface="Aptos" pitchFamily="34" charset="0"/>
                <a:ea typeface="Aptos" pitchFamily="34" charset="-122"/>
                <a:cs typeface="Aptos" pitchFamily="34" charset="-120"/>
              </a:rPr>
              <a:t>Investec reports use the Aptos font, defined heading styles with blue headings, page numbering, a confidential classification on the cover and an automatic table of contents. A report in house style is recognised — and trusted — instantly.</a:t>
            </a:r>
            <a:endParaRPr lang="en-US" sz="1050" dirty="0"/>
          </a:p>
        </p:txBody>
      </p:sp>
      <p:sp>
        <p:nvSpPr>
          <p:cNvPr id="11" name="Shape 8"/>
          <p:cNvSpPr/>
          <p:nvPr/>
        </p:nvSpPr>
        <p:spPr>
          <a:xfrm>
            <a:off x="502920" y="4023360"/>
            <a:ext cx="5362956" cy="1371600"/>
          </a:xfrm>
          <a:prstGeom prst="roundRect">
            <a:avLst>
              <a:gd name="adj" fmla="val 6000"/>
            </a:avLst>
          </a:prstGeom>
          <a:solidFill>
            <a:srgbClr val="F2F2F2"/>
          </a:solidFill>
          <a:ln w="12700">
            <a:solidFill>
              <a:srgbClr val="DBDBDB"/>
            </a:solidFill>
            <a:prstDash val="solid"/>
          </a:ln>
          <a:effectLst>
            <a:outerShdw sx="100000" sy="100000" kx="0" ky="0" algn="bl" rotWithShape="0" blurRad="88900" dist="25400" dir="5400000">
              <a:srgbClr val="BDBDBD">
                <a:alpha val="30000"/>
              </a:srgbClr>
            </a:outerShdw>
          </a:effectLst>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520" y="4169664"/>
            <a:ext cx="274320" cy="274320"/>
          </a:xfrm>
          <a:prstGeom prst="rect">
            <a:avLst/>
          </a:prstGeom>
        </p:spPr>
      </p:pic>
      <p:sp>
        <p:nvSpPr>
          <p:cNvPr id="13" name="Text 9"/>
          <p:cNvSpPr/>
          <p:nvPr/>
        </p:nvSpPr>
        <p:spPr>
          <a:xfrm>
            <a:off x="1088136" y="4151376"/>
            <a:ext cx="4539996" cy="310896"/>
          </a:xfrm>
          <a:prstGeom prst="rect">
            <a:avLst/>
          </a:prstGeom>
          <a:noFill/>
          <a:ln/>
        </p:spPr>
        <p:txBody>
          <a:bodyPr wrap="square" rtlCol="0" anchor="ctr"/>
          <a:lstStyle/>
          <a:p>
            <a:pPr indent="0" marL="0">
              <a:buNone/>
            </a:pPr>
            <a:r>
              <a:rPr lang="en-US" sz="1100" b="1" spc="150" kern="0" dirty="0">
                <a:solidFill>
                  <a:srgbClr val="3D3D3D"/>
                </a:solidFill>
                <a:latin typeface="Aptos" pitchFamily="34" charset="0"/>
                <a:ea typeface="Aptos" pitchFamily="34" charset="-122"/>
                <a:cs typeface="Aptos" pitchFamily="34" charset="-120"/>
              </a:rPr>
              <a:t>BEST PRACTICE</a:t>
            </a:r>
            <a:endParaRPr lang="en-US" sz="1100" dirty="0"/>
          </a:p>
        </p:txBody>
      </p:sp>
      <p:sp>
        <p:nvSpPr>
          <p:cNvPr id="14" name="Text 10"/>
          <p:cNvSpPr/>
          <p:nvPr/>
        </p:nvSpPr>
        <p:spPr>
          <a:xfrm>
            <a:off x="731520" y="4498848"/>
            <a:ext cx="4905756" cy="786384"/>
          </a:xfrm>
          <a:prstGeom prst="rect">
            <a:avLst/>
          </a:prstGeom>
          <a:noFill/>
          <a:ln/>
        </p:spPr>
        <p:txBody>
          <a:bodyPr wrap="square" rtlCol="0" anchor="t"/>
          <a:lstStyle/>
          <a:p>
            <a:pPr indent="0" marL="0">
              <a:buNone/>
            </a:pPr>
            <a:r>
              <a:rPr lang="en-US" sz="1250" dirty="0">
                <a:solidFill>
                  <a:srgbClr val="141414"/>
                </a:solidFill>
                <a:latin typeface="Aptos" pitchFamily="34" charset="0"/>
                <a:ea typeface="Aptos" pitchFamily="34" charset="-122"/>
                <a:cs typeface="Aptos" pitchFamily="34" charset="-120"/>
              </a:rPr>
              <a:t>Start from the approved company template so every standard is applied automatically.</a:t>
            </a:r>
            <a:endParaRPr lang="en-US" sz="1250" dirty="0"/>
          </a:p>
        </p:txBody>
      </p:sp>
      <p:sp>
        <p:nvSpPr>
          <p:cNvPr id="15" name="Shape 11"/>
          <p:cNvSpPr/>
          <p:nvPr/>
        </p:nvSpPr>
        <p:spPr>
          <a:xfrm>
            <a:off x="6323076" y="4023360"/>
            <a:ext cx="5362956" cy="1371600"/>
          </a:xfrm>
          <a:prstGeom prst="roundRect">
            <a:avLst>
              <a:gd name="adj" fmla="val 6000"/>
            </a:avLst>
          </a:prstGeom>
          <a:solidFill>
            <a:srgbClr val="F4F5F7"/>
          </a:solidFill>
          <a:ln w="12700">
            <a:solidFill>
              <a:srgbClr val="DADDE2"/>
            </a:solidFill>
            <a:prstDash val="solid"/>
          </a:ln>
          <a:effectLst>
            <a:outerShdw sx="100000" sy="100000" kx="0" ky="0" algn="bl" rotWithShape="0" blurRad="88900" dist="25400" dir="5400000">
              <a:srgbClr val="BDBDBD">
                <a:alpha val="30000"/>
              </a:srgbClr>
            </a:outerShdw>
          </a:effectLst>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51676" y="4169664"/>
            <a:ext cx="274320" cy="274320"/>
          </a:xfrm>
          <a:prstGeom prst="rect">
            <a:avLst/>
          </a:prstGeom>
        </p:spPr>
      </p:pic>
      <p:sp>
        <p:nvSpPr>
          <p:cNvPr id="17" name="Text 12"/>
          <p:cNvSpPr/>
          <p:nvPr/>
        </p:nvSpPr>
        <p:spPr>
          <a:xfrm>
            <a:off x="6908292" y="4151376"/>
            <a:ext cx="4539996" cy="310896"/>
          </a:xfrm>
          <a:prstGeom prst="rect">
            <a:avLst/>
          </a:prstGeom>
          <a:noFill/>
          <a:ln/>
        </p:spPr>
        <p:txBody>
          <a:bodyPr wrap="square" rtlCol="0" anchor="ctr"/>
          <a:lstStyle/>
          <a:p>
            <a:pPr indent="0" marL="0">
              <a:buNone/>
            </a:pPr>
            <a:r>
              <a:rPr lang="en-US" sz="1100" b="1" spc="150" kern="0" dirty="0">
                <a:solidFill>
                  <a:srgbClr val="6B7280"/>
                </a:solidFill>
                <a:latin typeface="Aptos" pitchFamily="34" charset="0"/>
                <a:ea typeface="Aptos" pitchFamily="34" charset="-122"/>
                <a:cs typeface="Aptos" pitchFamily="34" charset="-120"/>
              </a:rPr>
              <a:t>COMMON MISTAKE</a:t>
            </a:r>
            <a:endParaRPr lang="en-US" sz="1100" dirty="0"/>
          </a:p>
        </p:txBody>
      </p:sp>
      <p:sp>
        <p:nvSpPr>
          <p:cNvPr id="18" name="Text 13"/>
          <p:cNvSpPr/>
          <p:nvPr/>
        </p:nvSpPr>
        <p:spPr>
          <a:xfrm>
            <a:off x="6551676" y="4498848"/>
            <a:ext cx="4905756" cy="786384"/>
          </a:xfrm>
          <a:prstGeom prst="rect">
            <a:avLst/>
          </a:prstGeom>
          <a:noFill/>
          <a:ln/>
        </p:spPr>
        <p:txBody>
          <a:bodyPr wrap="square" rtlCol="0" anchor="t"/>
          <a:lstStyle/>
          <a:p>
            <a:pPr indent="0" marL="0">
              <a:buNone/>
            </a:pPr>
            <a:r>
              <a:rPr lang="en-US" sz="1250" dirty="0">
                <a:solidFill>
                  <a:srgbClr val="141414"/>
                </a:solidFill>
                <a:latin typeface="Aptos" pitchFamily="34" charset="0"/>
                <a:ea typeface="Aptos" pitchFamily="34" charset="-122"/>
                <a:cs typeface="Aptos" pitchFamily="34" charset="-120"/>
              </a:rPr>
              <a:t>Building each report from a blank page with improvised fonts and headings.</a:t>
            </a:r>
            <a:endParaRPr lang="en-US" sz="1250" dirty="0"/>
          </a:p>
        </p:txBody>
      </p:sp>
      <p:sp>
        <p:nvSpPr>
          <p:cNvPr id="19" name="Shape 14"/>
          <p:cNvSpPr/>
          <p:nvPr/>
        </p:nvSpPr>
        <p:spPr>
          <a:xfrm>
            <a:off x="502920" y="5779008"/>
            <a:ext cx="11183112" cy="603504"/>
          </a:xfrm>
          <a:prstGeom prst="roundRect">
            <a:avLst>
              <a:gd name="adj" fmla="val 10606"/>
            </a:avLst>
          </a:prstGeom>
          <a:solidFill>
            <a:srgbClr val="141414"/>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4088" y="5943600"/>
            <a:ext cx="274320" cy="274320"/>
          </a:xfrm>
          <a:prstGeom prst="rect">
            <a:avLst/>
          </a:prstGeom>
        </p:spPr>
      </p:pic>
      <p:sp>
        <p:nvSpPr>
          <p:cNvPr id="21" name="Text 15"/>
          <p:cNvSpPr/>
          <p:nvPr/>
        </p:nvSpPr>
        <p:spPr>
          <a:xfrm>
            <a:off x="1069848" y="5779008"/>
            <a:ext cx="10378440" cy="603504"/>
          </a:xfrm>
          <a:prstGeom prst="rect">
            <a:avLst/>
          </a:prstGeom>
          <a:noFill/>
          <a:ln/>
        </p:spPr>
        <p:txBody>
          <a:bodyPr wrap="square" rtlCol="0" anchor="ctr"/>
          <a:lstStyle/>
          <a:p>
            <a:pPr indent="0" marL="0">
              <a:buNone/>
            </a:pPr>
            <a:r>
              <a:rPr lang="en-US" sz="1050" b="1" spc="150" kern="0" dirty="0">
                <a:solidFill>
                  <a:srgbClr val="C9C9C9"/>
                </a:solidFill>
                <a:latin typeface="Aptos" pitchFamily="34" charset="0"/>
                <a:ea typeface="Aptos" pitchFamily="34" charset="-122"/>
                <a:cs typeface="Aptos" pitchFamily="34" charset="-120"/>
              </a:rPr>
              <a:t>KNOWLEDGE CHECK   </a:t>
            </a:r>
            <a:pPr indent="0" marL="0">
              <a:buNone/>
            </a:pPr>
            <a:r>
              <a:rPr lang="en-US" sz="1250" dirty="0">
                <a:solidFill>
                  <a:srgbClr val="FFFFFF"/>
                </a:solidFill>
                <a:latin typeface="Aptos" pitchFamily="34" charset="0"/>
                <a:ea typeface="Aptos" pitchFamily="34" charset="-122"/>
                <a:cs typeface="Aptos" pitchFamily="34" charset="-120"/>
              </a:rPr>
              <a:t>Name four formatting elements every company report must carry before it can be submitted.</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14</a:t>
            </a:r>
            <a:endParaRPr lang="en-US" sz="900" dirty="0"/>
          </a:p>
        </p:txBody>
      </p:sp>
      <p:sp>
        <p:nvSpPr>
          <p:cNvPr id="4" name="Shape 2"/>
          <p:cNvSpPr/>
          <p:nvPr/>
        </p:nvSpPr>
        <p:spPr>
          <a:xfrm>
            <a:off x="0" y="0"/>
            <a:ext cx="12188952" cy="82296"/>
          </a:xfrm>
          <a:prstGeom prst="rect">
            <a:avLst/>
          </a:prstGeom>
          <a:solidFill>
            <a:srgbClr val="3D3D3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3D3D3D"/>
                </a:solidFill>
                <a:latin typeface="Aptos" pitchFamily="34" charset="0"/>
                <a:ea typeface="Aptos" pitchFamily="34" charset="-122"/>
                <a:cs typeface="Aptos" pitchFamily="34" charset="-120"/>
              </a:rPr>
              <a:t>EMBEDDED KNOWLEDGE · CRITERION 5</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141414"/>
                </a:solidFill>
                <a:latin typeface="Aptos Display" pitchFamily="34" charset="0"/>
                <a:ea typeface="Aptos Display" pitchFamily="34" charset="-122"/>
                <a:cs typeface="Aptos Display" pitchFamily="34" charset="-120"/>
              </a:rPr>
              <a:t>Information needs of the organisation</a:t>
            </a:r>
            <a:endParaRPr lang="en-US" sz="2600" dirty="0"/>
          </a:p>
        </p:txBody>
      </p:sp>
      <p:sp>
        <p:nvSpPr>
          <p:cNvPr id="7" name="Shape 5"/>
          <p:cNvSpPr/>
          <p:nvPr/>
        </p:nvSpPr>
        <p:spPr>
          <a:xfrm>
            <a:off x="502920" y="1298448"/>
            <a:ext cx="11183112" cy="566928"/>
          </a:xfrm>
          <a:prstGeom prst="roundRect">
            <a:avLst>
              <a:gd name="adj" fmla="val 11290"/>
            </a:avLst>
          </a:prstGeom>
          <a:solidFill>
            <a:srgbClr val="F2F2F2"/>
          </a:solidFill>
          <a:ln w="9525">
            <a:solidFill>
              <a:srgbClr val="DBDBDB"/>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1444752"/>
            <a:ext cx="274320" cy="274320"/>
          </a:xfrm>
          <a:prstGeom prst="rect">
            <a:avLst/>
          </a:prstGeom>
        </p:spPr>
      </p:pic>
      <p:sp>
        <p:nvSpPr>
          <p:cNvPr id="9" name="Text 6"/>
          <p:cNvSpPr/>
          <p:nvPr/>
        </p:nvSpPr>
        <p:spPr>
          <a:xfrm>
            <a:off x="1069848" y="1298448"/>
            <a:ext cx="10378440" cy="566928"/>
          </a:xfrm>
          <a:prstGeom prst="rect">
            <a:avLst/>
          </a:prstGeom>
          <a:noFill/>
          <a:ln/>
        </p:spPr>
        <p:txBody>
          <a:bodyPr wrap="square" rtlCol="0" anchor="ctr"/>
          <a:lstStyle/>
          <a:p>
            <a:pPr indent="0" marL="0">
              <a:buNone/>
            </a:pPr>
            <a:r>
              <a:rPr lang="en-US" sz="1050" b="1" spc="150" kern="0" dirty="0">
                <a:solidFill>
                  <a:srgbClr val="3D3D3D"/>
                </a:solidFill>
                <a:latin typeface="Aptos" pitchFamily="34" charset="0"/>
                <a:ea typeface="Aptos" pitchFamily="34" charset="-122"/>
                <a:cs typeface="Aptos" pitchFamily="34" charset="-120"/>
              </a:rPr>
              <a:t>LEARNING OBJECTIVE   </a:t>
            </a:r>
            <a:pPr indent="0" marL="0">
              <a:buNone/>
            </a:pPr>
            <a:r>
              <a:rPr lang="en-US" sz="1300" dirty="0">
                <a:solidFill>
                  <a:srgbClr val="141414"/>
                </a:solidFill>
                <a:latin typeface="Aptos" pitchFamily="34" charset="0"/>
                <a:ea typeface="Aptos" pitchFamily="34" charset="-122"/>
                <a:cs typeface="Aptos" pitchFamily="34" charset="-120"/>
              </a:rPr>
              <a:t>Provide the quantified information management needs to make informed business decisions.</a:t>
            </a:r>
            <a:endParaRPr lang="en-US" sz="1050" dirty="0"/>
          </a:p>
        </p:txBody>
      </p:sp>
      <p:sp>
        <p:nvSpPr>
          <p:cNvPr id="10" name="Text 7"/>
          <p:cNvSpPr/>
          <p:nvPr/>
        </p:nvSpPr>
        <p:spPr>
          <a:xfrm>
            <a:off x="502920" y="1993392"/>
            <a:ext cx="11183112" cy="566928"/>
          </a:xfrm>
          <a:prstGeom prst="rect">
            <a:avLst/>
          </a:prstGeom>
          <a:noFill/>
          <a:ln/>
        </p:spPr>
        <p:txBody>
          <a:bodyPr wrap="square" rtlCol="0" anchor="t"/>
          <a:lstStyle/>
          <a:p>
            <a:pPr indent="0" marL="0">
              <a:lnSpc>
                <a:spcPct val="115000"/>
              </a:lnSpc>
              <a:buNone/>
            </a:pPr>
            <a:r>
              <a:rPr lang="en-US" sz="1350" dirty="0">
                <a:solidFill>
                  <a:srgbClr val="6B7280"/>
                </a:solidFill>
                <a:latin typeface="Aptos" pitchFamily="34" charset="0"/>
                <a:ea typeface="Aptos" pitchFamily="34" charset="-122"/>
                <a:cs typeface="Aptos" pitchFamily="34" charset="-120"/>
              </a:rPr>
              <a:t>Management thinks in cost, impact, cause and next steps. Quantify everything — vague statements cannot support decisions.</a:t>
            </a:r>
            <a:endParaRPr lang="en-US" sz="1350" dirty="0"/>
          </a:p>
        </p:txBody>
      </p:sp>
      <p:sp>
        <p:nvSpPr>
          <p:cNvPr id="11" name="Shape 8"/>
          <p:cNvSpPr/>
          <p:nvPr/>
        </p:nvSpPr>
        <p:spPr>
          <a:xfrm>
            <a:off x="502920" y="2697480"/>
            <a:ext cx="5362956" cy="2194560"/>
          </a:xfrm>
          <a:prstGeom prst="roundRect">
            <a:avLst>
              <a:gd name="adj" fmla="val 3750"/>
            </a:avLst>
          </a:prstGeom>
          <a:solidFill>
            <a:srgbClr val="F4F5F7"/>
          </a:solidFill>
          <a:ln w="12700">
            <a:solidFill>
              <a:srgbClr val="DADDE2"/>
            </a:solidFill>
            <a:prstDash val="solid"/>
          </a:ln>
          <a:effectLst>
            <a:outerShdw sx="100000" sy="100000" kx="0" ky="0" algn="bl" rotWithShape="0" blurRad="88900" dist="25400" dir="5400000">
              <a:srgbClr val="BDBDBD">
                <a:alpha val="30000"/>
              </a:srgbClr>
            </a:outerShdw>
          </a:effectLst>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520" y="2862072"/>
            <a:ext cx="256032" cy="256032"/>
          </a:xfrm>
          <a:prstGeom prst="rect">
            <a:avLst/>
          </a:prstGeom>
        </p:spPr>
      </p:pic>
      <p:sp>
        <p:nvSpPr>
          <p:cNvPr id="13" name="Text 9"/>
          <p:cNvSpPr/>
          <p:nvPr/>
        </p:nvSpPr>
        <p:spPr>
          <a:xfrm>
            <a:off x="1069848" y="2834640"/>
            <a:ext cx="4585716" cy="320040"/>
          </a:xfrm>
          <a:prstGeom prst="rect">
            <a:avLst/>
          </a:prstGeom>
          <a:noFill/>
          <a:ln/>
        </p:spPr>
        <p:txBody>
          <a:bodyPr wrap="square" rtlCol="0" anchor="ctr"/>
          <a:lstStyle/>
          <a:p>
            <a:pPr indent="0" marL="0">
              <a:buNone/>
            </a:pPr>
            <a:r>
              <a:rPr lang="en-US" sz="1200" b="1" spc="150" kern="0" dirty="0">
                <a:solidFill>
                  <a:srgbClr val="6B7280"/>
                </a:solidFill>
                <a:latin typeface="Aptos" pitchFamily="34" charset="0"/>
                <a:ea typeface="Aptos" pitchFamily="34" charset="-122"/>
                <a:cs typeface="Aptos" pitchFamily="34" charset="-120"/>
              </a:rPr>
              <a:t>WEAK</a:t>
            </a:r>
            <a:endParaRPr lang="en-US" sz="1200" dirty="0"/>
          </a:p>
        </p:txBody>
      </p:sp>
      <p:sp>
        <p:nvSpPr>
          <p:cNvPr id="14" name="Text 10"/>
          <p:cNvSpPr/>
          <p:nvPr/>
        </p:nvSpPr>
        <p:spPr>
          <a:xfrm>
            <a:off x="731520" y="3246120"/>
            <a:ext cx="4905756" cy="1417320"/>
          </a:xfrm>
          <a:prstGeom prst="rect">
            <a:avLst/>
          </a:prstGeom>
          <a:noFill/>
          <a:ln/>
        </p:spPr>
        <p:txBody>
          <a:bodyPr wrap="square" rtlCol="0" anchor="t"/>
          <a:lstStyle/>
          <a:p>
            <a:pPr indent="0" marL="0">
              <a:buNone/>
            </a:pPr>
            <a:r>
              <a:rPr lang="en-US" sz="1600" i="1" dirty="0">
                <a:solidFill>
                  <a:srgbClr val="6B7280"/>
                </a:solidFill>
                <a:latin typeface="Aptos" pitchFamily="34" charset="0"/>
                <a:ea typeface="Aptos" pitchFamily="34" charset="-122"/>
                <a:cs typeface="Aptos" pitchFamily="34" charset="-120"/>
              </a:rPr>
              <a:t>“The server crashed.”</a:t>
            </a:r>
            <a:endParaRPr lang="en-US" sz="1600" dirty="0"/>
          </a:p>
        </p:txBody>
      </p:sp>
      <p:sp>
        <p:nvSpPr>
          <p:cNvPr id="15" name="Shape 11"/>
          <p:cNvSpPr/>
          <p:nvPr/>
        </p:nvSpPr>
        <p:spPr>
          <a:xfrm>
            <a:off x="6323076" y="2697480"/>
            <a:ext cx="5362956" cy="2194560"/>
          </a:xfrm>
          <a:prstGeom prst="roundRect">
            <a:avLst>
              <a:gd name="adj" fmla="val 3750"/>
            </a:avLst>
          </a:prstGeom>
          <a:solidFill>
            <a:srgbClr val="F2F2F2"/>
          </a:solidFill>
          <a:ln w="12700">
            <a:solidFill>
              <a:srgbClr val="DBDBDB"/>
            </a:solidFill>
            <a:prstDash val="solid"/>
          </a:ln>
          <a:effectLst>
            <a:outerShdw sx="100000" sy="100000" kx="0" ky="0" algn="bl" rotWithShape="0" blurRad="88900" dist="25400" dir="5400000">
              <a:srgbClr val="BDBDBD">
                <a:alpha val="30000"/>
              </a:srgbClr>
            </a:outerShdw>
          </a:effectLst>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51676" y="2862072"/>
            <a:ext cx="256032" cy="256032"/>
          </a:xfrm>
          <a:prstGeom prst="rect">
            <a:avLst/>
          </a:prstGeom>
        </p:spPr>
      </p:pic>
      <p:sp>
        <p:nvSpPr>
          <p:cNvPr id="17" name="Text 12"/>
          <p:cNvSpPr/>
          <p:nvPr/>
        </p:nvSpPr>
        <p:spPr>
          <a:xfrm>
            <a:off x="6890004" y="2834640"/>
            <a:ext cx="4585716" cy="320040"/>
          </a:xfrm>
          <a:prstGeom prst="rect">
            <a:avLst/>
          </a:prstGeom>
          <a:noFill/>
          <a:ln/>
        </p:spPr>
        <p:txBody>
          <a:bodyPr wrap="square" rtlCol="0" anchor="ctr"/>
          <a:lstStyle/>
          <a:p>
            <a:pPr indent="0" marL="0">
              <a:buNone/>
            </a:pPr>
            <a:r>
              <a:rPr lang="en-US" sz="1200" b="1" spc="150" kern="0" dirty="0">
                <a:solidFill>
                  <a:srgbClr val="3D3D3D"/>
                </a:solidFill>
                <a:latin typeface="Aptos" pitchFamily="34" charset="0"/>
                <a:ea typeface="Aptos" pitchFamily="34" charset="-122"/>
                <a:cs typeface="Aptos" pitchFamily="34" charset="-120"/>
              </a:rPr>
              <a:t>STRONG</a:t>
            </a:r>
            <a:endParaRPr lang="en-US" sz="1200" dirty="0"/>
          </a:p>
        </p:txBody>
      </p:sp>
      <p:sp>
        <p:nvSpPr>
          <p:cNvPr id="18" name="Text 13"/>
          <p:cNvSpPr/>
          <p:nvPr/>
        </p:nvSpPr>
        <p:spPr>
          <a:xfrm>
            <a:off x="6551676" y="3246120"/>
            <a:ext cx="4905756" cy="1417320"/>
          </a:xfrm>
          <a:prstGeom prst="rect">
            <a:avLst/>
          </a:prstGeom>
          <a:noFill/>
          <a:ln/>
        </p:spPr>
        <p:txBody>
          <a:bodyPr wrap="square" rtlCol="0" anchor="t"/>
          <a:lstStyle/>
          <a:p>
            <a:pPr indent="0" marL="0">
              <a:buNone/>
            </a:pPr>
            <a:r>
              <a:rPr lang="en-US" sz="1500" dirty="0">
                <a:solidFill>
                  <a:srgbClr val="141414"/>
                </a:solidFill>
                <a:latin typeface="Aptos" pitchFamily="34" charset="0"/>
                <a:ea typeface="Aptos" pitchFamily="34" charset="-122"/>
                <a:cs typeface="Aptos" pitchFamily="34" charset="-120"/>
              </a:rPr>
              <a:t>“The server outage affected 43 users, interrupted online banking for 18 minutes, delayed two client transactions, and generated 26 helpdesk tickets.”</a:t>
            </a:r>
            <a:endParaRPr lang="en-US" sz="1500" dirty="0"/>
          </a:p>
        </p:txBody>
      </p:sp>
      <p:sp>
        <p:nvSpPr>
          <p:cNvPr id="19" name="Shape 14"/>
          <p:cNvSpPr/>
          <p:nvPr/>
        </p:nvSpPr>
        <p:spPr>
          <a:xfrm>
            <a:off x="5939028" y="3639312"/>
            <a:ext cx="329184" cy="310896"/>
          </a:xfrm>
          <a:prstGeom prst="rightArrow">
            <a:avLst/>
          </a:prstGeom>
          <a:solidFill>
            <a:srgbClr val="3D3D3D"/>
          </a:soli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15</a:t>
            </a:r>
            <a:endParaRPr lang="en-US" sz="900" dirty="0"/>
          </a:p>
        </p:txBody>
      </p:sp>
      <p:sp>
        <p:nvSpPr>
          <p:cNvPr id="4" name="Shape 2"/>
          <p:cNvSpPr/>
          <p:nvPr/>
        </p:nvSpPr>
        <p:spPr>
          <a:xfrm>
            <a:off x="0" y="0"/>
            <a:ext cx="12188952" cy="82296"/>
          </a:xfrm>
          <a:prstGeom prst="rect">
            <a:avLst/>
          </a:prstGeom>
          <a:solidFill>
            <a:srgbClr val="3D3D3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3D3D3D"/>
                </a:solidFill>
                <a:latin typeface="Aptos" pitchFamily="34" charset="0"/>
                <a:ea typeface="Aptos" pitchFamily="34" charset="-122"/>
                <a:cs typeface="Aptos" pitchFamily="34" charset="-120"/>
              </a:rPr>
              <a:t>EMBEDDED KNOWLEDGE · CRITERION 5</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141414"/>
                </a:solidFill>
                <a:latin typeface="Aptos Display" pitchFamily="34" charset="0"/>
                <a:ea typeface="Aptos Display" pitchFamily="34" charset="-122"/>
                <a:cs typeface="Aptos Display" pitchFamily="34" charset="-120"/>
              </a:rPr>
              <a:t>Information needs of the organisation — in practice</a:t>
            </a:r>
            <a:endParaRPr lang="en-US" sz="2600" dirty="0"/>
          </a:p>
        </p:txBody>
      </p:sp>
      <p:sp>
        <p:nvSpPr>
          <p:cNvPr id="7" name="Shape 5"/>
          <p:cNvSpPr/>
          <p:nvPr/>
        </p:nvSpPr>
        <p:spPr>
          <a:xfrm>
            <a:off x="502920" y="1371600"/>
            <a:ext cx="11183112" cy="2468880"/>
          </a:xfrm>
          <a:prstGeom prst="roundRect">
            <a:avLst>
              <a:gd name="adj" fmla="val 3333"/>
            </a:avLst>
          </a:prstGeom>
          <a:solidFill>
            <a:srgbClr val="F2F2F2"/>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8" name="Shape 6"/>
          <p:cNvSpPr/>
          <p:nvPr/>
        </p:nvSpPr>
        <p:spPr>
          <a:xfrm>
            <a:off x="502920" y="1371600"/>
            <a:ext cx="82296" cy="2468880"/>
          </a:xfrm>
          <a:prstGeom prst="rect">
            <a:avLst/>
          </a:prstGeom>
          <a:solidFill>
            <a:srgbClr val="3D3D3D"/>
          </a:solidFill>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082528" y="1554480"/>
            <a:ext cx="347472" cy="347472"/>
          </a:xfrm>
          <a:prstGeom prst="rect">
            <a:avLst/>
          </a:prstGeom>
        </p:spPr>
      </p:pic>
      <p:sp>
        <p:nvSpPr>
          <p:cNvPr id="10" name="Text 7"/>
          <p:cNvSpPr/>
          <p:nvPr/>
        </p:nvSpPr>
        <p:spPr>
          <a:xfrm>
            <a:off x="795528" y="1517904"/>
            <a:ext cx="10177272" cy="2176272"/>
          </a:xfrm>
          <a:prstGeom prst="rect">
            <a:avLst/>
          </a:prstGeom>
          <a:noFill/>
          <a:ln/>
        </p:spPr>
        <p:txBody>
          <a:bodyPr wrap="square" rtlCol="0" anchor="t"/>
          <a:lstStyle/>
          <a:p>
            <a:pPr indent="0" marL="0">
              <a:lnSpc>
                <a:spcPct val="115000"/>
              </a:lnSpc>
              <a:buNone/>
            </a:pPr>
            <a:r>
              <a:rPr lang="en-US" sz="1050" b="1" spc="150" kern="0" dirty="0">
                <a:solidFill>
                  <a:srgbClr val="3D3D3D"/>
                </a:solidFill>
                <a:latin typeface="Aptos" pitchFamily="34" charset="0"/>
                <a:ea typeface="Aptos" pitchFamily="34" charset="-122"/>
                <a:cs typeface="Aptos" pitchFamily="34" charset="-120"/>
              </a:rPr>
              <a:t>WORKPLACE EXAMPLE — INVESTEC
</a:t>
            </a:r>
            <a:pPr indent="0" marL="0">
              <a:lnSpc>
                <a:spcPct val="115000"/>
              </a:lnSpc>
              <a:buNone/>
            </a:pPr>
            <a:r>
              <a:rPr lang="en-US" sz="1500" b="1" dirty="0">
                <a:solidFill>
                  <a:srgbClr val="141414"/>
                </a:solidFill>
                <a:latin typeface="Aptos Display" pitchFamily="34" charset="0"/>
                <a:ea typeface="Aptos Display" pitchFamily="34" charset="-122"/>
                <a:cs typeface="Aptos Display" pitchFamily="34" charset="-120"/>
              </a:rPr>
              <a:t>Answer management's five questions
</a:t>
            </a:r>
            <a:pPr indent="0" marL="0">
              <a:lnSpc>
                <a:spcPct val="115000"/>
              </a:lnSpc>
              <a:buNone/>
            </a:pPr>
            <a:r>
              <a:rPr lang="en-US" sz="1250" dirty="0">
                <a:solidFill>
                  <a:srgbClr val="141414"/>
                </a:solidFill>
                <a:latin typeface="Aptos" pitchFamily="34" charset="0"/>
                <a:ea typeface="Aptos" pitchFamily="34" charset="-122"/>
                <a:cs typeface="Aptos" pitchFamily="34" charset="-120"/>
              </a:rPr>
              <a:t>How much did it cost? Which departments were affected? What caused the issue? What is the business impact? What should we do next? A report that answers all five lets an Investec department head act the same day, without a follow-up meeting.</a:t>
            </a:r>
            <a:endParaRPr lang="en-US" sz="1050" dirty="0"/>
          </a:p>
        </p:txBody>
      </p:sp>
      <p:sp>
        <p:nvSpPr>
          <p:cNvPr id="11" name="Shape 8"/>
          <p:cNvSpPr/>
          <p:nvPr/>
        </p:nvSpPr>
        <p:spPr>
          <a:xfrm>
            <a:off x="502920" y="4023360"/>
            <a:ext cx="5362956" cy="1371600"/>
          </a:xfrm>
          <a:prstGeom prst="roundRect">
            <a:avLst>
              <a:gd name="adj" fmla="val 6000"/>
            </a:avLst>
          </a:prstGeom>
          <a:solidFill>
            <a:srgbClr val="F2F2F2"/>
          </a:solidFill>
          <a:ln w="12700">
            <a:solidFill>
              <a:srgbClr val="DBDBDB"/>
            </a:solidFill>
            <a:prstDash val="solid"/>
          </a:ln>
          <a:effectLst>
            <a:outerShdw sx="100000" sy="100000" kx="0" ky="0" algn="bl" rotWithShape="0" blurRad="88900" dist="25400" dir="5400000">
              <a:srgbClr val="BDBDBD">
                <a:alpha val="30000"/>
              </a:srgbClr>
            </a:outerShdw>
          </a:effectLst>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520" y="4169664"/>
            <a:ext cx="274320" cy="274320"/>
          </a:xfrm>
          <a:prstGeom prst="rect">
            <a:avLst/>
          </a:prstGeom>
        </p:spPr>
      </p:pic>
      <p:sp>
        <p:nvSpPr>
          <p:cNvPr id="13" name="Text 9"/>
          <p:cNvSpPr/>
          <p:nvPr/>
        </p:nvSpPr>
        <p:spPr>
          <a:xfrm>
            <a:off x="1088136" y="4151376"/>
            <a:ext cx="4539996" cy="310896"/>
          </a:xfrm>
          <a:prstGeom prst="rect">
            <a:avLst/>
          </a:prstGeom>
          <a:noFill/>
          <a:ln/>
        </p:spPr>
        <p:txBody>
          <a:bodyPr wrap="square" rtlCol="0" anchor="ctr"/>
          <a:lstStyle/>
          <a:p>
            <a:pPr indent="0" marL="0">
              <a:buNone/>
            </a:pPr>
            <a:r>
              <a:rPr lang="en-US" sz="1100" b="1" spc="150" kern="0" dirty="0">
                <a:solidFill>
                  <a:srgbClr val="3D3D3D"/>
                </a:solidFill>
                <a:latin typeface="Aptos" pitchFamily="34" charset="0"/>
                <a:ea typeface="Aptos" pitchFamily="34" charset="-122"/>
                <a:cs typeface="Aptos" pitchFamily="34" charset="-120"/>
              </a:rPr>
              <a:t>BEST PRACTICE</a:t>
            </a:r>
            <a:endParaRPr lang="en-US" sz="1100" dirty="0"/>
          </a:p>
        </p:txBody>
      </p:sp>
      <p:sp>
        <p:nvSpPr>
          <p:cNvPr id="14" name="Text 10"/>
          <p:cNvSpPr/>
          <p:nvPr/>
        </p:nvSpPr>
        <p:spPr>
          <a:xfrm>
            <a:off x="731520" y="4498848"/>
            <a:ext cx="4905756" cy="786384"/>
          </a:xfrm>
          <a:prstGeom prst="rect">
            <a:avLst/>
          </a:prstGeom>
          <a:noFill/>
          <a:ln/>
        </p:spPr>
        <p:txBody>
          <a:bodyPr wrap="square" rtlCol="0" anchor="t"/>
          <a:lstStyle/>
          <a:p>
            <a:pPr indent="0" marL="0">
              <a:buNone/>
            </a:pPr>
            <a:r>
              <a:rPr lang="en-US" sz="1250" dirty="0">
                <a:solidFill>
                  <a:srgbClr val="141414"/>
                </a:solidFill>
                <a:latin typeface="Aptos" pitchFamily="34" charset="0"/>
                <a:ea typeface="Aptos" pitchFamily="34" charset="-122"/>
                <a:cs typeface="Aptos" pitchFamily="34" charset="-120"/>
              </a:rPr>
              <a:t>Quantify impact: users, minutes, tickets, transactions, rands.</a:t>
            </a:r>
            <a:endParaRPr lang="en-US" sz="1250" dirty="0"/>
          </a:p>
        </p:txBody>
      </p:sp>
      <p:sp>
        <p:nvSpPr>
          <p:cNvPr id="15" name="Shape 11"/>
          <p:cNvSpPr/>
          <p:nvPr/>
        </p:nvSpPr>
        <p:spPr>
          <a:xfrm>
            <a:off x="6323076" y="4023360"/>
            <a:ext cx="5362956" cy="1371600"/>
          </a:xfrm>
          <a:prstGeom prst="roundRect">
            <a:avLst>
              <a:gd name="adj" fmla="val 6000"/>
            </a:avLst>
          </a:prstGeom>
          <a:solidFill>
            <a:srgbClr val="F4F5F7"/>
          </a:solidFill>
          <a:ln w="12700">
            <a:solidFill>
              <a:srgbClr val="DADDE2"/>
            </a:solidFill>
            <a:prstDash val="solid"/>
          </a:ln>
          <a:effectLst>
            <a:outerShdw sx="100000" sy="100000" kx="0" ky="0" algn="bl" rotWithShape="0" blurRad="88900" dist="25400" dir="5400000">
              <a:srgbClr val="BDBDBD">
                <a:alpha val="30000"/>
              </a:srgbClr>
            </a:outerShdw>
          </a:effectLst>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51676" y="4169664"/>
            <a:ext cx="274320" cy="274320"/>
          </a:xfrm>
          <a:prstGeom prst="rect">
            <a:avLst/>
          </a:prstGeom>
        </p:spPr>
      </p:pic>
      <p:sp>
        <p:nvSpPr>
          <p:cNvPr id="17" name="Text 12"/>
          <p:cNvSpPr/>
          <p:nvPr/>
        </p:nvSpPr>
        <p:spPr>
          <a:xfrm>
            <a:off x="6908292" y="4151376"/>
            <a:ext cx="4539996" cy="310896"/>
          </a:xfrm>
          <a:prstGeom prst="rect">
            <a:avLst/>
          </a:prstGeom>
          <a:noFill/>
          <a:ln/>
        </p:spPr>
        <p:txBody>
          <a:bodyPr wrap="square" rtlCol="0" anchor="ctr"/>
          <a:lstStyle/>
          <a:p>
            <a:pPr indent="0" marL="0">
              <a:buNone/>
            </a:pPr>
            <a:r>
              <a:rPr lang="en-US" sz="1100" b="1" spc="150" kern="0" dirty="0">
                <a:solidFill>
                  <a:srgbClr val="6B7280"/>
                </a:solidFill>
                <a:latin typeface="Aptos" pitchFamily="34" charset="0"/>
                <a:ea typeface="Aptos" pitchFamily="34" charset="-122"/>
                <a:cs typeface="Aptos" pitchFamily="34" charset="-120"/>
              </a:rPr>
              <a:t>COMMON MISTAKE</a:t>
            </a:r>
            <a:endParaRPr lang="en-US" sz="1100" dirty="0"/>
          </a:p>
        </p:txBody>
      </p:sp>
      <p:sp>
        <p:nvSpPr>
          <p:cNvPr id="18" name="Text 13"/>
          <p:cNvSpPr/>
          <p:nvPr/>
        </p:nvSpPr>
        <p:spPr>
          <a:xfrm>
            <a:off x="6551676" y="4498848"/>
            <a:ext cx="4905756" cy="786384"/>
          </a:xfrm>
          <a:prstGeom prst="rect">
            <a:avLst/>
          </a:prstGeom>
          <a:noFill/>
          <a:ln/>
        </p:spPr>
        <p:txBody>
          <a:bodyPr wrap="square" rtlCol="0" anchor="t"/>
          <a:lstStyle/>
          <a:p>
            <a:pPr indent="0" marL="0">
              <a:buNone/>
            </a:pPr>
            <a:r>
              <a:rPr lang="en-US" sz="1250" dirty="0">
                <a:solidFill>
                  <a:srgbClr val="141414"/>
                </a:solidFill>
                <a:latin typeface="Aptos" pitchFamily="34" charset="0"/>
                <a:ea typeface="Aptos" pitchFamily="34" charset="-122"/>
                <a:cs typeface="Aptos" pitchFamily="34" charset="-120"/>
              </a:rPr>
              <a:t>Vague statements — 'the system was slow' — that no one can act on.</a:t>
            </a:r>
            <a:endParaRPr lang="en-US" sz="1250" dirty="0"/>
          </a:p>
        </p:txBody>
      </p:sp>
      <p:sp>
        <p:nvSpPr>
          <p:cNvPr id="19" name="Shape 14"/>
          <p:cNvSpPr/>
          <p:nvPr/>
        </p:nvSpPr>
        <p:spPr>
          <a:xfrm>
            <a:off x="502920" y="5779008"/>
            <a:ext cx="11183112" cy="603504"/>
          </a:xfrm>
          <a:prstGeom prst="roundRect">
            <a:avLst>
              <a:gd name="adj" fmla="val 10606"/>
            </a:avLst>
          </a:prstGeom>
          <a:solidFill>
            <a:srgbClr val="141414"/>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4088" y="5943600"/>
            <a:ext cx="274320" cy="274320"/>
          </a:xfrm>
          <a:prstGeom prst="rect">
            <a:avLst/>
          </a:prstGeom>
        </p:spPr>
      </p:pic>
      <p:sp>
        <p:nvSpPr>
          <p:cNvPr id="21" name="Text 15"/>
          <p:cNvSpPr/>
          <p:nvPr/>
        </p:nvSpPr>
        <p:spPr>
          <a:xfrm>
            <a:off x="1069848" y="5779008"/>
            <a:ext cx="10378440" cy="603504"/>
          </a:xfrm>
          <a:prstGeom prst="rect">
            <a:avLst/>
          </a:prstGeom>
          <a:noFill/>
          <a:ln/>
        </p:spPr>
        <p:txBody>
          <a:bodyPr wrap="square" rtlCol="0" anchor="ctr"/>
          <a:lstStyle/>
          <a:p>
            <a:pPr indent="0" marL="0">
              <a:buNone/>
            </a:pPr>
            <a:r>
              <a:rPr lang="en-US" sz="1050" b="1" spc="150" kern="0" dirty="0">
                <a:solidFill>
                  <a:srgbClr val="C9C9C9"/>
                </a:solidFill>
                <a:latin typeface="Aptos" pitchFamily="34" charset="0"/>
                <a:ea typeface="Aptos" pitchFamily="34" charset="-122"/>
                <a:cs typeface="Aptos" pitchFamily="34" charset="-120"/>
              </a:rPr>
              <a:t>KNOWLEDGE CHECK   </a:t>
            </a:r>
            <a:pPr indent="0" marL="0">
              <a:buNone/>
            </a:pPr>
            <a:r>
              <a:rPr lang="en-US" sz="1250" dirty="0">
                <a:solidFill>
                  <a:srgbClr val="FFFFFF"/>
                </a:solidFill>
                <a:latin typeface="Aptos" pitchFamily="34" charset="0"/>
                <a:ea typeface="Aptos" pitchFamily="34" charset="-122"/>
                <a:cs typeface="Aptos" pitchFamily="34" charset="-120"/>
              </a:rPr>
              <a:t>Rewrite 'Email was down for a while this morning' so that it answers management's impact questions.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16</a:t>
            </a:r>
            <a:endParaRPr lang="en-US" sz="900" dirty="0"/>
          </a:p>
        </p:txBody>
      </p:sp>
      <p:sp>
        <p:nvSpPr>
          <p:cNvPr id="4" name="Shape 2"/>
          <p:cNvSpPr/>
          <p:nvPr/>
        </p:nvSpPr>
        <p:spPr>
          <a:xfrm>
            <a:off x="0" y="0"/>
            <a:ext cx="12188952" cy="82296"/>
          </a:xfrm>
          <a:prstGeom prst="rect">
            <a:avLst/>
          </a:prstGeom>
          <a:solidFill>
            <a:srgbClr val="3D3D3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3D3D3D"/>
                </a:solidFill>
                <a:latin typeface="Aptos" pitchFamily="34" charset="0"/>
                <a:ea typeface="Aptos" pitchFamily="34" charset="-122"/>
                <a:cs typeface="Aptos" pitchFamily="34" charset="-120"/>
              </a:rPr>
              <a:t>EMBEDDED KNOWLEDGE · CRITERION 6</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141414"/>
                </a:solidFill>
                <a:latin typeface="Aptos Display" pitchFamily="34" charset="0"/>
                <a:ea typeface="Aptos Display" pitchFamily="34" charset="-122"/>
                <a:cs typeface="Aptos Display" pitchFamily="34" charset="-120"/>
              </a:rPr>
              <a:t>Purpose and content of a range of reports</a:t>
            </a:r>
            <a:endParaRPr lang="en-US" sz="2600" dirty="0"/>
          </a:p>
        </p:txBody>
      </p:sp>
      <p:sp>
        <p:nvSpPr>
          <p:cNvPr id="7" name="Shape 5"/>
          <p:cNvSpPr/>
          <p:nvPr/>
        </p:nvSpPr>
        <p:spPr>
          <a:xfrm>
            <a:off x="502920" y="1298448"/>
            <a:ext cx="11183112" cy="566928"/>
          </a:xfrm>
          <a:prstGeom prst="roundRect">
            <a:avLst>
              <a:gd name="adj" fmla="val 11290"/>
            </a:avLst>
          </a:prstGeom>
          <a:solidFill>
            <a:srgbClr val="F2F2F2"/>
          </a:solidFill>
          <a:ln w="9525">
            <a:solidFill>
              <a:srgbClr val="DBDBDB"/>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1444752"/>
            <a:ext cx="274320" cy="274320"/>
          </a:xfrm>
          <a:prstGeom prst="rect">
            <a:avLst/>
          </a:prstGeom>
        </p:spPr>
      </p:pic>
      <p:sp>
        <p:nvSpPr>
          <p:cNvPr id="9" name="Text 6"/>
          <p:cNvSpPr/>
          <p:nvPr/>
        </p:nvSpPr>
        <p:spPr>
          <a:xfrm>
            <a:off x="1069848" y="1298448"/>
            <a:ext cx="10378440" cy="566928"/>
          </a:xfrm>
          <a:prstGeom prst="rect">
            <a:avLst/>
          </a:prstGeom>
          <a:noFill/>
          <a:ln/>
        </p:spPr>
        <p:txBody>
          <a:bodyPr wrap="square" rtlCol="0" anchor="ctr"/>
          <a:lstStyle/>
          <a:p>
            <a:pPr indent="0" marL="0">
              <a:buNone/>
            </a:pPr>
            <a:r>
              <a:rPr lang="en-US" sz="1050" b="1" spc="150" kern="0" dirty="0">
                <a:solidFill>
                  <a:srgbClr val="3D3D3D"/>
                </a:solidFill>
                <a:latin typeface="Aptos" pitchFamily="34" charset="0"/>
                <a:ea typeface="Aptos" pitchFamily="34" charset="-122"/>
                <a:cs typeface="Aptos" pitchFamily="34" charset="-120"/>
              </a:rPr>
              <a:t>LEARNING OBJECTIVE   </a:t>
            </a:r>
            <a:pPr indent="0" marL="0">
              <a:buNone/>
            </a:pPr>
            <a:r>
              <a:rPr lang="en-US" sz="1300" dirty="0">
                <a:solidFill>
                  <a:srgbClr val="141414"/>
                </a:solidFill>
                <a:latin typeface="Aptos" pitchFamily="34" charset="0"/>
                <a:ea typeface="Aptos" pitchFamily="34" charset="-122"/>
                <a:cs typeface="Aptos" pitchFamily="34" charset="-120"/>
              </a:rPr>
              <a:t>Distinguish the purpose of the report types used in business practice.</a:t>
            </a:r>
            <a:endParaRPr lang="en-US" sz="1050" dirty="0"/>
          </a:p>
        </p:txBody>
      </p:sp>
      <p:sp>
        <p:nvSpPr>
          <p:cNvPr id="10" name="Text 7"/>
          <p:cNvSpPr/>
          <p:nvPr/>
        </p:nvSpPr>
        <p:spPr>
          <a:xfrm>
            <a:off x="502920" y="1993392"/>
            <a:ext cx="11183112" cy="566928"/>
          </a:xfrm>
          <a:prstGeom prst="rect">
            <a:avLst/>
          </a:prstGeom>
          <a:noFill/>
          <a:ln/>
        </p:spPr>
        <p:txBody>
          <a:bodyPr wrap="square" rtlCol="0" anchor="t"/>
          <a:lstStyle/>
          <a:p>
            <a:pPr indent="0" marL="0">
              <a:lnSpc>
                <a:spcPct val="115000"/>
              </a:lnSpc>
              <a:buNone/>
            </a:pPr>
            <a:r>
              <a:rPr lang="en-US" sz="1350" dirty="0">
                <a:solidFill>
                  <a:srgbClr val="6B7280"/>
                </a:solidFill>
                <a:latin typeface="Aptos" pitchFamily="34" charset="0"/>
                <a:ea typeface="Aptos" pitchFamily="34" charset="-122"/>
                <a:cs typeface="Aptos" pitchFamily="34" charset="-120"/>
              </a:rPr>
              <a:t>The principles come from Retail/Wholesale practice but apply to every industry, including IT: each report type answers a different question.</a:t>
            </a:r>
            <a:endParaRPr lang="en-US" sz="13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2697480"/>
          <a:ext cx="11183112" cy="914400"/>
        </p:xfrm>
        <a:graphic>
          <a:graphicData uri="http://schemas.openxmlformats.org/drawingml/2006/table">
            <a:tbl>
              <a:tblPr/>
              <a:tblGrid>
                <a:gridCol w="2795778"/>
                <a:gridCol w="2795778"/>
                <a:gridCol w="2795778"/>
                <a:gridCol w="2795778"/>
              </a:tblGrid>
              <a:tr h="384048">
                <a:tc>
                  <a:txBody>
                    <a:bodyPr/>
                    <a:lstStyle/>
                    <a:p>
                      <a:pPr indent="0" marL="0">
                        <a:buNone/>
                      </a:pPr>
                      <a:r>
                        <a:rPr lang="en-US" sz="1200" b="1" dirty="0">
                          <a:solidFill>
                            <a:srgbClr val="FFFFFF"/>
                          </a:solidFill>
                          <a:latin typeface="Aptos Display" pitchFamily="34" charset="0"/>
                          <a:ea typeface="Aptos Display" pitchFamily="34" charset="-122"/>
                          <a:cs typeface="Aptos Display" pitchFamily="34" charset="-120"/>
                        </a:rPr>
                        <a:t>Report type</a:t>
                      </a:r>
                      <a:endParaRPr lang="en-US" sz="1200" dirty="0">
                        <a:latin typeface="Aptos Display" charset="0"/>
                        <a:ea typeface="Aptos Display" charset="0"/>
                        <a:cs typeface="Aptos Display"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3D3D3D"/>
                    </a:solidFill>
                  </a:tcPr>
                </a:tc>
                <a:tc>
                  <a:txBody>
                    <a:bodyPr/>
                    <a:lstStyle/>
                    <a:p>
                      <a:pPr indent="0" marL="0">
                        <a:buNone/>
                      </a:pPr>
                      <a:r>
                        <a:rPr lang="en-US" sz="1200" b="1" dirty="0">
                          <a:solidFill>
                            <a:srgbClr val="FFFFFF"/>
                          </a:solidFill>
                          <a:latin typeface="Aptos Display" pitchFamily="34" charset="0"/>
                          <a:ea typeface="Aptos Display" pitchFamily="34" charset="-122"/>
                          <a:cs typeface="Aptos Display" pitchFamily="34" charset="-120"/>
                        </a:rPr>
                        <a:t>It answers…</a:t>
                      </a:r>
                      <a:endParaRPr lang="en-US" sz="1200" dirty="0">
                        <a:latin typeface="Aptos Display" charset="0"/>
                        <a:ea typeface="Aptos Display" charset="0"/>
                        <a:cs typeface="Aptos Display"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3D3D3D"/>
                    </a:solidFill>
                  </a:tcPr>
                </a:tc>
                <a:tc>
                  <a:txBody>
                    <a:bodyPr/>
                    <a:lstStyle/>
                    <a:p>
                      <a:pPr indent="0" marL="0">
                        <a:buNone/>
                      </a:pPr>
                      <a:r>
                        <a:rPr lang="en-US" sz="1200" b="1" dirty="0">
                          <a:solidFill>
                            <a:srgbClr val="FFFFFF"/>
                          </a:solidFill>
                          <a:latin typeface="Aptos Display" pitchFamily="34" charset="0"/>
                          <a:ea typeface="Aptos Display" pitchFamily="34" charset="-122"/>
                          <a:cs typeface="Aptos Display" pitchFamily="34" charset="-120"/>
                        </a:rPr>
                        <a:t>Report type</a:t>
                      </a:r>
                      <a:endParaRPr lang="en-US" sz="1200" dirty="0">
                        <a:latin typeface="Aptos Display" charset="0"/>
                        <a:ea typeface="Aptos Display" charset="0"/>
                        <a:cs typeface="Aptos Display"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3D3D3D"/>
                    </a:solidFill>
                  </a:tcPr>
                </a:tc>
                <a:tc>
                  <a:txBody>
                    <a:bodyPr/>
                    <a:lstStyle/>
                    <a:p>
                      <a:pPr indent="0" marL="0">
                        <a:buNone/>
                      </a:pPr>
                      <a:r>
                        <a:rPr lang="en-US" sz="1200" b="1" dirty="0">
                          <a:solidFill>
                            <a:srgbClr val="FFFFFF"/>
                          </a:solidFill>
                          <a:latin typeface="Aptos Display" pitchFamily="34" charset="0"/>
                          <a:ea typeface="Aptos Display" pitchFamily="34" charset="-122"/>
                          <a:cs typeface="Aptos Display" pitchFamily="34" charset="-120"/>
                        </a:rPr>
                        <a:t>It answers…</a:t>
                      </a:r>
                      <a:endParaRPr lang="en-US" sz="1200" dirty="0">
                        <a:latin typeface="Aptos Display" charset="0"/>
                        <a:ea typeface="Aptos Display" charset="0"/>
                        <a:cs typeface="Aptos Display"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3D3D3D"/>
                    </a:solidFill>
                  </a:tcPr>
                </a:tc>
              </a:tr>
              <a:tr h="384048">
                <a:tc>
                  <a:txBody>
                    <a:bodyPr/>
                    <a:lstStyle/>
                    <a:p>
                      <a:pPr indent="0" marL="0">
                        <a:buNone/>
                      </a:pPr>
                      <a:r>
                        <a:rPr lang="en-US" sz="1200" dirty="0">
                          <a:solidFill>
                            <a:srgbClr val="141414"/>
                          </a:solidFill>
                          <a:latin typeface="Aptos" pitchFamily="34" charset="0"/>
                          <a:ea typeface="Aptos" pitchFamily="34" charset="-122"/>
                          <a:cs typeface="Aptos" pitchFamily="34" charset="-120"/>
                        </a:rPr>
                        <a:t>Incident report</a:t>
                      </a:r>
                      <a:endParaRPr lang="en-US" sz="12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FFFFF"/>
                    </a:solidFill>
                  </a:tcPr>
                </a:tc>
                <a:tc>
                  <a:txBody>
                    <a:bodyPr/>
                    <a:lstStyle/>
                    <a:p>
                      <a:pPr indent="0" marL="0">
                        <a:buNone/>
                      </a:pPr>
                      <a:r>
                        <a:rPr lang="en-US" sz="1200" dirty="0">
                          <a:solidFill>
                            <a:srgbClr val="141414"/>
                          </a:solidFill>
                          <a:latin typeface="Aptos" pitchFamily="34" charset="0"/>
                          <a:ea typeface="Aptos" pitchFamily="34" charset="-122"/>
                          <a:cs typeface="Aptos" pitchFamily="34" charset="-120"/>
                        </a:rPr>
                        <a:t>What happened?</a:t>
                      </a:r>
                      <a:endParaRPr lang="en-US" sz="12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FFFFF"/>
                    </a:solidFill>
                  </a:tcPr>
                </a:tc>
                <a:tc>
                  <a:txBody>
                    <a:bodyPr/>
                    <a:lstStyle/>
                    <a:p>
                      <a:pPr indent="0" marL="0">
                        <a:buNone/>
                      </a:pPr>
                      <a:r>
                        <a:rPr lang="en-US" sz="1200" dirty="0">
                          <a:solidFill>
                            <a:srgbClr val="141414"/>
                          </a:solidFill>
                          <a:latin typeface="Aptos" pitchFamily="34" charset="0"/>
                          <a:ea typeface="Aptos" pitchFamily="34" charset="-122"/>
                          <a:cs typeface="Aptos" pitchFamily="34" charset="-120"/>
                        </a:rPr>
                        <a:t>Risk report</a:t>
                      </a:r>
                      <a:endParaRPr lang="en-US" sz="12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FFFFF"/>
                    </a:solidFill>
                  </a:tcPr>
                </a:tc>
                <a:tc>
                  <a:txBody>
                    <a:bodyPr/>
                    <a:lstStyle/>
                    <a:p>
                      <a:pPr indent="0" marL="0">
                        <a:buNone/>
                      </a:pPr>
                      <a:r>
                        <a:rPr lang="en-US" sz="1200" dirty="0">
                          <a:solidFill>
                            <a:srgbClr val="141414"/>
                          </a:solidFill>
                          <a:latin typeface="Aptos" pitchFamily="34" charset="0"/>
                          <a:ea typeface="Aptos" pitchFamily="34" charset="-122"/>
                          <a:cs typeface="Aptos" pitchFamily="34" charset="-120"/>
                        </a:rPr>
                        <a:t>What could go wrong?</a:t>
                      </a:r>
                      <a:endParaRPr lang="en-US" sz="12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41414"/>
                          </a:solidFill>
                          <a:latin typeface="Aptos" pitchFamily="34" charset="0"/>
                          <a:ea typeface="Aptos" pitchFamily="34" charset="-122"/>
                          <a:cs typeface="Aptos" pitchFamily="34" charset="-120"/>
                        </a:rPr>
                        <a:t>Service report</a:t>
                      </a:r>
                      <a:endParaRPr lang="en-US" sz="12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2F2F2"/>
                    </a:solidFill>
                  </a:tcPr>
                </a:tc>
                <a:tc>
                  <a:txBody>
                    <a:bodyPr/>
                    <a:lstStyle/>
                    <a:p>
                      <a:pPr indent="0" marL="0">
                        <a:buNone/>
                      </a:pPr>
                      <a:r>
                        <a:rPr lang="en-US" sz="1200" dirty="0">
                          <a:solidFill>
                            <a:srgbClr val="141414"/>
                          </a:solidFill>
                          <a:latin typeface="Aptos" pitchFamily="34" charset="0"/>
                          <a:ea typeface="Aptos" pitchFamily="34" charset="-122"/>
                          <a:cs typeface="Aptos" pitchFamily="34" charset="-120"/>
                        </a:rPr>
                        <a:t>How did the service perform?</a:t>
                      </a:r>
                      <a:endParaRPr lang="en-US" sz="12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2F2F2"/>
                    </a:solidFill>
                  </a:tcPr>
                </a:tc>
                <a:tc>
                  <a:txBody>
                    <a:bodyPr/>
                    <a:lstStyle/>
                    <a:p>
                      <a:pPr indent="0" marL="0">
                        <a:buNone/>
                      </a:pPr>
                      <a:r>
                        <a:rPr lang="en-US" sz="1200" dirty="0">
                          <a:solidFill>
                            <a:srgbClr val="141414"/>
                          </a:solidFill>
                          <a:latin typeface="Aptos" pitchFamily="34" charset="0"/>
                          <a:ea typeface="Aptos" pitchFamily="34" charset="-122"/>
                          <a:cs typeface="Aptos" pitchFamily="34" charset="-120"/>
                        </a:rPr>
                        <a:t>Audit report</a:t>
                      </a:r>
                      <a:endParaRPr lang="en-US" sz="12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2F2F2"/>
                    </a:solidFill>
                  </a:tcPr>
                </a:tc>
                <a:tc>
                  <a:txBody>
                    <a:bodyPr/>
                    <a:lstStyle/>
                    <a:p>
                      <a:pPr indent="0" marL="0">
                        <a:buNone/>
                      </a:pPr>
                      <a:r>
                        <a:rPr lang="en-US" sz="1200" dirty="0">
                          <a:solidFill>
                            <a:srgbClr val="141414"/>
                          </a:solidFill>
                          <a:latin typeface="Aptos" pitchFamily="34" charset="0"/>
                          <a:ea typeface="Aptos" pitchFamily="34" charset="-122"/>
                          <a:cs typeface="Aptos" pitchFamily="34" charset="-120"/>
                        </a:rPr>
                        <a:t>Do we comply?</a:t>
                      </a:r>
                      <a:endParaRPr lang="en-US" sz="12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2F2F2"/>
                    </a:solidFill>
                  </a:tcPr>
                </a:tc>
              </a:tr>
              <a:tr h="384048">
                <a:tc>
                  <a:txBody>
                    <a:bodyPr/>
                    <a:lstStyle/>
                    <a:p>
                      <a:pPr indent="0" marL="0">
                        <a:buNone/>
                      </a:pPr>
                      <a:r>
                        <a:rPr lang="en-US" sz="1200" dirty="0">
                          <a:solidFill>
                            <a:srgbClr val="141414"/>
                          </a:solidFill>
                          <a:latin typeface="Aptos" pitchFamily="34" charset="0"/>
                          <a:ea typeface="Aptos" pitchFamily="34" charset="-122"/>
                          <a:cs typeface="Aptos" pitchFamily="34" charset="-120"/>
                        </a:rPr>
                        <a:t>Fault report</a:t>
                      </a:r>
                      <a:endParaRPr lang="en-US" sz="12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FFFFF"/>
                    </a:solidFill>
                  </a:tcPr>
                </a:tc>
                <a:tc>
                  <a:txBody>
                    <a:bodyPr/>
                    <a:lstStyle/>
                    <a:p>
                      <a:pPr indent="0" marL="0">
                        <a:buNone/>
                      </a:pPr>
                      <a:r>
                        <a:rPr lang="en-US" sz="1200" dirty="0">
                          <a:solidFill>
                            <a:srgbClr val="141414"/>
                          </a:solidFill>
                          <a:latin typeface="Aptos" pitchFamily="34" charset="0"/>
                          <a:ea typeface="Aptos" pitchFamily="34" charset="-122"/>
                          <a:cs typeface="Aptos" pitchFamily="34" charset="-120"/>
                        </a:rPr>
                        <a:t>What is broken?</a:t>
                      </a:r>
                      <a:endParaRPr lang="en-US" sz="12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FFFFF"/>
                    </a:solidFill>
                  </a:tcPr>
                </a:tc>
                <a:tc>
                  <a:txBody>
                    <a:bodyPr/>
                    <a:lstStyle/>
                    <a:p>
                      <a:pPr indent="0" marL="0">
                        <a:buNone/>
                      </a:pPr>
                      <a:r>
                        <a:rPr lang="en-US" sz="1200" dirty="0">
                          <a:solidFill>
                            <a:srgbClr val="141414"/>
                          </a:solidFill>
                          <a:latin typeface="Aptos" pitchFamily="34" charset="0"/>
                          <a:ea typeface="Aptos" pitchFamily="34" charset="-122"/>
                          <a:cs typeface="Aptos" pitchFamily="34" charset="-120"/>
                        </a:rPr>
                        <a:t>Security report</a:t>
                      </a:r>
                      <a:endParaRPr lang="en-US" sz="12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FFFFF"/>
                    </a:solidFill>
                  </a:tcPr>
                </a:tc>
                <a:tc>
                  <a:txBody>
                    <a:bodyPr/>
                    <a:lstStyle/>
                    <a:p>
                      <a:pPr indent="0" marL="0">
                        <a:buNone/>
                      </a:pPr>
                      <a:r>
                        <a:rPr lang="en-US" sz="1200" dirty="0">
                          <a:solidFill>
                            <a:srgbClr val="141414"/>
                          </a:solidFill>
                          <a:latin typeface="Aptos" pitchFamily="34" charset="0"/>
                          <a:ea typeface="Aptos" pitchFamily="34" charset="-122"/>
                          <a:cs typeface="Aptos" pitchFamily="34" charset="-120"/>
                        </a:rPr>
                        <a:t>Are we protected?</a:t>
                      </a:r>
                      <a:endParaRPr lang="en-US" sz="12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41414"/>
                          </a:solidFill>
                          <a:latin typeface="Aptos" pitchFamily="34" charset="0"/>
                          <a:ea typeface="Aptos" pitchFamily="34" charset="-122"/>
                          <a:cs typeface="Aptos" pitchFamily="34" charset="-120"/>
                        </a:rPr>
                        <a:t>Maintenance report</a:t>
                      </a:r>
                      <a:endParaRPr lang="en-US" sz="12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2F2F2"/>
                    </a:solidFill>
                  </a:tcPr>
                </a:tc>
                <a:tc>
                  <a:txBody>
                    <a:bodyPr/>
                    <a:lstStyle/>
                    <a:p>
                      <a:pPr indent="0" marL="0">
                        <a:buNone/>
                      </a:pPr>
                      <a:r>
                        <a:rPr lang="en-US" sz="1200" dirty="0">
                          <a:solidFill>
                            <a:srgbClr val="141414"/>
                          </a:solidFill>
                          <a:latin typeface="Aptos" pitchFamily="34" charset="0"/>
                          <a:ea typeface="Aptos" pitchFamily="34" charset="-122"/>
                          <a:cs typeface="Aptos" pitchFamily="34" charset="-120"/>
                        </a:rPr>
                        <a:t>What work was completed?</a:t>
                      </a:r>
                      <a:endParaRPr lang="en-US" sz="12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2F2F2"/>
                    </a:solidFill>
                  </a:tcPr>
                </a:tc>
                <a:tc>
                  <a:txBody>
                    <a:bodyPr/>
                    <a:lstStyle/>
                    <a:p>
                      <a:pPr indent="0" marL="0">
                        <a:buNone/>
                      </a:pPr>
                      <a:r>
                        <a:rPr lang="en-US" sz="1200" dirty="0">
                          <a:solidFill>
                            <a:srgbClr val="141414"/>
                          </a:solidFill>
                          <a:latin typeface="Aptos" pitchFamily="34" charset="0"/>
                          <a:ea typeface="Aptos" pitchFamily="34" charset="-122"/>
                          <a:cs typeface="Aptos" pitchFamily="34" charset="-120"/>
                        </a:rPr>
                        <a:t>Performance report</a:t>
                      </a:r>
                      <a:endParaRPr lang="en-US" sz="12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2F2F2"/>
                    </a:solidFill>
                  </a:tcPr>
                </a:tc>
                <a:tc>
                  <a:txBody>
                    <a:bodyPr/>
                    <a:lstStyle/>
                    <a:p>
                      <a:pPr indent="0" marL="0">
                        <a:buNone/>
                      </a:pPr>
                      <a:r>
                        <a:rPr lang="en-US" sz="1200" dirty="0">
                          <a:solidFill>
                            <a:srgbClr val="141414"/>
                          </a:solidFill>
                          <a:latin typeface="Aptos" pitchFamily="34" charset="0"/>
                          <a:ea typeface="Aptos" pitchFamily="34" charset="-122"/>
                          <a:cs typeface="Aptos" pitchFamily="34" charset="-120"/>
                        </a:rPr>
                        <a:t>How well are we doing?</a:t>
                      </a:r>
                      <a:endParaRPr lang="en-US" sz="12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2F2F2"/>
                    </a:solidFill>
                  </a:tcPr>
                </a:tc>
              </a:tr>
              <a:tr h="384048">
                <a:tc>
                  <a:txBody>
                    <a:bodyPr/>
                    <a:lstStyle/>
                    <a:p>
                      <a:pPr indent="0" marL="0">
                        <a:buNone/>
                      </a:pPr>
                      <a:r>
                        <a:rPr lang="en-US" sz="1200" dirty="0">
                          <a:solidFill>
                            <a:srgbClr val="141414"/>
                          </a:solidFill>
                          <a:latin typeface="Aptos" pitchFamily="34" charset="0"/>
                          <a:ea typeface="Aptos" pitchFamily="34" charset="-122"/>
                          <a:cs typeface="Aptos" pitchFamily="34" charset="-120"/>
                        </a:rPr>
                        <a:t>Progress / project report</a:t>
                      </a:r>
                      <a:endParaRPr lang="en-US" sz="12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FFFFF"/>
                    </a:solidFill>
                  </a:tcPr>
                </a:tc>
                <a:tc>
                  <a:txBody>
                    <a:bodyPr/>
                    <a:lstStyle/>
                    <a:p>
                      <a:pPr indent="0" marL="0">
                        <a:buNone/>
                      </a:pPr>
                      <a:r>
                        <a:rPr lang="en-US" sz="1200" dirty="0">
                          <a:solidFill>
                            <a:srgbClr val="141414"/>
                          </a:solidFill>
                          <a:latin typeface="Aptos" pitchFamily="34" charset="0"/>
                          <a:ea typeface="Aptos" pitchFamily="34" charset="-122"/>
                          <a:cs typeface="Aptos" pitchFamily="34" charset="-120"/>
                        </a:rPr>
                        <a:t>How far are we?</a:t>
                      </a:r>
                      <a:endParaRPr lang="en-US" sz="12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FFFFF"/>
                    </a:solidFill>
                  </a:tcPr>
                </a:tc>
                <a:tc>
                  <a:txBody>
                    <a:bodyPr/>
                    <a:lstStyle/>
                    <a:p>
                      <a:pPr indent="0" marL="0">
                        <a:buNone/>
                      </a:pPr>
                      <a:r>
                        <a:rPr lang="en-US" sz="1200" dirty="0">
                          <a:solidFill>
                            <a:srgbClr val="141414"/>
                          </a:solidFill>
                          <a:latin typeface="Aptos" pitchFamily="34" charset="0"/>
                          <a:ea typeface="Aptos" pitchFamily="34" charset="-122"/>
                          <a:cs typeface="Aptos" pitchFamily="34" charset="-120"/>
                        </a:rPr>
                        <a:t>Inventory report</a:t>
                      </a:r>
                      <a:endParaRPr lang="en-US" sz="12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FFFFF"/>
                    </a:solidFill>
                  </a:tcPr>
                </a:tc>
                <a:tc>
                  <a:txBody>
                    <a:bodyPr/>
                    <a:lstStyle/>
                    <a:p>
                      <a:pPr indent="0" marL="0">
                        <a:buNone/>
                      </a:pPr>
                      <a:r>
                        <a:rPr lang="en-US" sz="1200" dirty="0">
                          <a:solidFill>
                            <a:srgbClr val="141414"/>
                          </a:solidFill>
                          <a:latin typeface="Aptos" pitchFamily="34" charset="0"/>
                          <a:ea typeface="Aptos" pitchFamily="34" charset="-122"/>
                          <a:cs typeface="Aptos" pitchFamily="34" charset="-120"/>
                        </a:rPr>
                        <a:t>What do we have?</a:t>
                      </a:r>
                      <a:endParaRPr lang="en-US" sz="12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17</a:t>
            </a:r>
            <a:endParaRPr lang="en-US" sz="900" dirty="0"/>
          </a:p>
        </p:txBody>
      </p:sp>
      <p:sp>
        <p:nvSpPr>
          <p:cNvPr id="4" name="Shape 2"/>
          <p:cNvSpPr/>
          <p:nvPr/>
        </p:nvSpPr>
        <p:spPr>
          <a:xfrm>
            <a:off x="0" y="0"/>
            <a:ext cx="12188952" cy="82296"/>
          </a:xfrm>
          <a:prstGeom prst="rect">
            <a:avLst/>
          </a:prstGeom>
          <a:solidFill>
            <a:srgbClr val="3D3D3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3D3D3D"/>
                </a:solidFill>
                <a:latin typeface="Aptos" pitchFamily="34" charset="0"/>
                <a:ea typeface="Aptos" pitchFamily="34" charset="-122"/>
                <a:cs typeface="Aptos" pitchFamily="34" charset="-120"/>
              </a:rPr>
              <a:t>EMBEDDED KNOWLEDGE · CRITERION 6</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141414"/>
                </a:solidFill>
                <a:latin typeface="Aptos Display" pitchFamily="34" charset="0"/>
                <a:ea typeface="Aptos Display" pitchFamily="34" charset="-122"/>
                <a:cs typeface="Aptos Display" pitchFamily="34" charset="-120"/>
              </a:rPr>
              <a:t>Purpose and content of a range of reports — in practice</a:t>
            </a:r>
            <a:endParaRPr lang="en-US" sz="2600" dirty="0"/>
          </a:p>
        </p:txBody>
      </p:sp>
      <p:sp>
        <p:nvSpPr>
          <p:cNvPr id="7" name="Shape 5"/>
          <p:cNvSpPr/>
          <p:nvPr/>
        </p:nvSpPr>
        <p:spPr>
          <a:xfrm>
            <a:off x="502920" y="1371600"/>
            <a:ext cx="11183112" cy="2468880"/>
          </a:xfrm>
          <a:prstGeom prst="roundRect">
            <a:avLst>
              <a:gd name="adj" fmla="val 3333"/>
            </a:avLst>
          </a:prstGeom>
          <a:solidFill>
            <a:srgbClr val="F2F2F2"/>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8" name="Shape 6"/>
          <p:cNvSpPr/>
          <p:nvPr/>
        </p:nvSpPr>
        <p:spPr>
          <a:xfrm>
            <a:off x="502920" y="1371600"/>
            <a:ext cx="82296" cy="2468880"/>
          </a:xfrm>
          <a:prstGeom prst="rect">
            <a:avLst/>
          </a:prstGeom>
          <a:solidFill>
            <a:srgbClr val="3D3D3D"/>
          </a:solidFill>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082528" y="1554480"/>
            <a:ext cx="347472" cy="347472"/>
          </a:xfrm>
          <a:prstGeom prst="rect">
            <a:avLst/>
          </a:prstGeom>
        </p:spPr>
      </p:pic>
      <p:sp>
        <p:nvSpPr>
          <p:cNvPr id="10" name="Text 7"/>
          <p:cNvSpPr/>
          <p:nvPr/>
        </p:nvSpPr>
        <p:spPr>
          <a:xfrm>
            <a:off x="795528" y="1517904"/>
            <a:ext cx="10177272" cy="2176272"/>
          </a:xfrm>
          <a:prstGeom prst="rect">
            <a:avLst/>
          </a:prstGeom>
          <a:noFill/>
          <a:ln/>
        </p:spPr>
        <p:txBody>
          <a:bodyPr wrap="square" rtlCol="0" anchor="t"/>
          <a:lstStyle/>
          <a:p>
            <a:pPr indent="0" marL="0">
              <a:lnSpc>
                <a:spcPct val="115000"/>
              </a:lnSpc>
              <a:buNone/>
            </a:pPr>
            <a:r>
              <a:rPr lang="en-US" sz="1050" b="1" spc="150" kern="0" dirty="0">
                <a:solidFill>
                  <a:srgbClr val="3D3D3D"/>
                </a:solidFill>
                <a:latin typeface="Aptos" pitchFamily="34" charset="0"/>
                <a:ea typeface="Aptos" pitchFamily="34" charset="-122"/>
                <a:cs typeface="Aptos" pitchFamily="34" charset="-120"/>
              </a:rPr>
              <a:t>WORKPLACE EXAMPLE — INVESTEC
</a:t>
            </a:r>
            <a:pPr indent="0" marL="0">
              <a:lnSpc>
                <a:spcPct val="115000"/>
              </a:lnSpc>
              <a:buNone/>
            </a:pPr>
            <a:r>
              <a:rPr lang="en-US" sz="1500" b="1" dirty="0">
                <a:solidFill>
                  <a:srgbClr val="141414"/>
                </a:solidFill>
                <a:latin typeface="Aptos Display" pitchFamily="34" charset="0"/>
                <a:ea typeface="Aptos Display" pitchFamily="34" charset="-122"/>
                <a:cs typeface="Aptos Display" pitchFamily="34" charset="-120"/>
              </a:rPr>
              <a:t>Same outage, different reports
</a:t>
            </a:r>
            <a:pPr indent="0" marL="0">
              <a:lnSpc>
                <a:spcPct val="115000"/>
              </a:lnSpc>
              <a:buNone/>
            </a:pPr>
            <a:r>
              <a:rPr lang="en-US" sz="1250" dirty="0">
                <a:solidFill>
                  <a:srgbClr val="141414"/>
                </a:solidFill>
                <a:latin typeface="Aptos" pitchFamily="34" charset="0"/>
                <a:ea typeface="Aptos" pitchFamily="34" charset="-122"/>
                <a:cs typeface="Aptos" pitchFamily="34" charset="-120"/>
              </a:rPr>
              <a:t>One SAN failure at Investec produces an incident report (what happened), a maintenance report (the disk replacement completed), and feeds the monthly service report (availability against SLA). Three documents, three purposes — never mixed into one.</a:t>
            </a:r>
            <a:endParaRPr lang="en-US" sz="1050" dirty="0"/>
          </a:p>
        </p:txBody>
      </p:sp>
      <p:sp>
        <p:nvSpPr>
          <p:cNvPr id="11" name="Shape 8"/>
          <p:cNvSpPr/>
          <p:nvPr/>
        </p:nvSpPr>
        <p:spPr>
          <a:xfrm>
            <a:off x="502920" y="4023360"/>
            <a:ext cx="5362956" cy="1371600"/>
          </a:xfrm>
          <a:prstGeom prst="roundRect">
            <a:avLst>
              <a:gd name="adj" fmla="val 6000"/>
            </a:avLst>
          </a:prstGeom>
          <a:solidFill>
            <a:srgbClr val="F2F2F2"/>
          </a:solidFill>
          <a:ln w="12700">
            <a:solidFill>
              <a:srgbClr val="DBDBDB"/>
            </a:solidFill>
            <a:prstDash val="solid"/>
          </a:ln>
          <a:effectLst>
            <a:outerShdw sx="100000" sy="100000" kx="0" ky="0" algn="bl" rotWithShape="0" blurRad="88900" dist="25400" dir="5400000">
              <a:srgbClr val="BDBDBD">
                <a:alpha val="30000"/>
              </a:srgbClr>
            </a:outerShdw>
          </a:effectLst>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520" y="4169664"/>
            <a:ext cx="274320" cy="274320"/>
          </a:xfrm>
          <a:prstGeom prst="rect">
            <a:avLst/>
          </a:prstGeom>
        </p:spPr>
      </p:pic>
      <p:sp>
        <p:nvSpPr>
          <p:cNvPr id="13" name="Text 9"/>
          <p:cNvSpPr/>
          <p:nvPr/>
        </p:nvSpPr>
        <p:spPr>
          <a:xfrm>
            <a:off x="1088136" y="4151376"/>
            <a:ext cx="4539996" cy="310896"/>
          </a:xfrm>
          <a:prstGeom prst="rect">
            <a:avLst/>
          </a:prstGeom>
          <a:noFill/>
          <a:ln/>
        </p:spPr>
        <p:txBody>
          <a:bodyPr wrap="square" rtlCol="0" anchor="ctr"/>
          <a:lstStyle/>
          <a:p>
            <a:pPr indent="0" marL="0">
              <a:buNone/>
            </a:pPr>
            <a:r>
              <a:rPr lang="en-US" sz="1100" b="1" spc="150" kern="0" dirty="0">
                <a:solidFill>
                  <a:srgbClr val="3D3D3D"/>
                </a:solidFill>
                <a:latin typeface="Aptos" pitchFamily="34" charset="0"/>
                <a:ea typeface="Aptos" pitchFamily="34" charset="-122"/>
                <a:cs typeface="Aptos" pitchFamily="34" charset="-120"/>
              </a:rPr>
              <a:t>BEST PRACTICE</a:t>
            </a:r>
            <a:endParaRPr lang="en-US" sz="1100" dirty="0"/>
          </a:p>
        </p:txBody>
      </p:sp>
      <p:sp>
        <p:nvSpPr>
          <p:cNvPr id="14" name="Text 10"/>
          <p:cNvSpPr/>
          <p:nvPr/>
        </p:nvSpPr>
        <p:spPr>
          <a:xfrm>
            <a:off x="731520" y="4498848"/>
            <a:ext cx="4905756" cy="786384"/>
          </a:xfrm>
          <a:prstGeom prst="rect">
            <a:avLst/>
          </a:prstGeom>
          <a:noFill/>
          <a:ln/>
        </p:spPr>
        <p:txBody>
          <a:bodyPr wrap="square" rtlCol="0" anchor="t"/>
          <a:lstStyle/>
          <a:p>
            <a:pPr indent="0" marL="0">
              <a:buNone/>
            </a:pPr>
            <a:r>
              <a:rPr lang="en-US" sz="1250" dirty="0">
                <a:solidFill>
                  <a:srgbClr val="141414"/>
                </a:solidFill>
                <a:latin typeface="Aptos" pitchFamily="34" charset="0"/>
                <a:ea typeface="Aptos" pitchFamily="34" charset="-122"/>
                <a:cs typeface="Aptos" pitchFamily="34" charset="-120"/>
              </a:rPr>
              <a:t>Name the report type before you start writing — it fixes the purpose and the content.</a:t>
            </a:r>
            <a:endParaRPr lang="en-US" sz="1250" dirty="0"/>
          </a:p>
        </p:txBody>
      </p:sp>
      <p:sp>
        <p:nvSpPr>
          <p:cNvPr id="15" name="Shape 11"/>
          <p:cNvSpPr/>
          <p:nvPr/>
        </p:nvSpPr>
        <p:spPr>
          <a:xfrm>
            <a:off x="6323076" y="4023360"/>
            <a:ext cx="5362956" cy="1371600"/>
          </a:xfrm>
          <a:prstGeom prst="roundRect">
            <a:avLst>
              <a:gd name="adj" fmla="val 6000"/>
            </a:avLst>
          </a:prstGeom>
          <a:solidFill>
            <a:srgbClr val="F4F5F7"/>
          </a:solidFill>
          <a:ln w="12700">
            <a:solidFill>
              <a:srgbClr val="DADDE2"/>
            </a:solidFill>
            <a:prstDash val="solid"/>
          </a:ln>
          <a:effectLst>
            <a:outerShdw sx="100000" sy="100000" kx="0" ky="0" algn="bl" rotWithShape="0" blurRad="88900" dist="25400" dir="5400000">
              <a:srgbClr val="BDBDBD">
                <a:alpha val="30000"/>
              </a:srgbClr>
            </a:outerShdw>
          </a:effectLst>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51676" y="4169664"/>
            <a:ext cx="274320" cy="274320"/>
          </a:xfrm>
          <a:prstGeom prst="rect">
            <a:avLst/>
          </a:prstGeom>
        </p:spPr>
      </p:pic>
      <p:sp>
        <p:nvSpPr>
          <p:cNvPr id="17" name="Text 12"/>
          <p:cNvSpPr/>
          <p:nvPr/>
        </p:nvSpPr>
        <p:spPr>
          <a:xfrm>
            <a:off x="6908292" y="4151376"/>
            <a:ext cx="4539996" cy="310896"/>
          </a:xfrm>
          <a:prstGeom prst="rect">
            <a:avLst/>
          </a:prstGeom>
          <a:noFill/>
          <a:ln/>
        </p:spPr>
        <p:txBody>
          <a:bodyPr wrap="square" rtlCol="0" anchor="ctr"/>
          <a:lstStyle/>
          <a:p>
            <a:pPr indent="0" marL="0">
              <a:buNone/>
            </a:pPr>
            <a:r>
              <a:rPr lang="en-US" sz="1100" b="1" spc="150" kern="0" dirty="0">
                <a:solidFill>
                  <a:srgbClr val="6B7280"/>
                </a:solidFill>
                <a:latin typeface="Aptos" pitchFamily="34" charset="0"/>
                <a:ea typeface="Aptos" pitchFamily="34" charset="-122"/>
                <a:cs typeface="Aptos" pitchFamily="34" charset="-120"/>
              </a:rPr>
              <a:t>COMMON MISTAKE</a:t>
            </a:r>
            <a:endParaRPr lang="en-US" sz="1100" dirty="0"/>
          </a:p>
        </p:txBody>
      </p:sp>
      <p:sp>
        <p:nvSpPr>
          <p:cNvPr id="18" name="Text 13"/>
          <p:cNvSpPr/>
          <p:nvPr/>
        </p:nvSpPr>
        <p:spPr>
          <a:xfrm>
            <a:off x="6551676" y="4498848"/>
            <a:ext cx="4905756" cy="786384"/>
          </a:xfrm>
          <a:prstGeom prst="rect">
            <a:avLst/>
          </a:prstGeom>
          <a:noFill/>
          <a:ln/>
        </p:spPr>
        <p:txBody>
          <a:bodyPr wrap="square" rtlCol="0" anchor="t"/>
          <a:lstStyle/>
          <a:p>
            <a:pPr indent="0" marL="0">
              <a:buNone/>
            </a:pPr>
            <a:r>
              <a:rPr lang="en-US" sz="1250" dirty="0">
                <a:solidFill>
                  <a:srgbClr val="141414"/>
                </a:solidFill>
                <a:latin typeface="Aptos" pitchFamily="34" charset="0"/>
                <a:ea typeface="Aptos" pitchFamily="34" charset="-122"/>
                <a:cs typeface="Aptos" pitchFamily="34" charset="-120"/>
              </a:rPr>
              <a:t>Mixing incident detail, maintenance logs and performance stats into one unfocused document.</a:t>
            </a:r>
            <a:endParaRPr lang="en-US" sz="1250" dirty="0"/>
          </a:p>
        </p:txBody>
      </p:sp>
      <p:sp>
        <p:nvSpPr>
          <p:cNvPr id="19" name="Shape 14"/>
          <p:cNvSpPr/>
          <p:nvPr/>
        </p:nvSpPr>
        <p:spPr>
          <a:xfrm>
            <a:off x="502920" y="5779008"/>
            <a:ext cx="11183112" cy="603504"/>
          </a:xfrm>
          <a:prstGeom prst="roundRect">
            <a:avLst>
              <a:gd name="adj" fmla="val 10606"/>
            </a:avLst>
          </a:prstGeom>
          <a:solidFill>
            <a:srgbClr val="141414"/>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4088" y="5943600"/>
            <a:ext cx="274320" cy="274320"/>
          </a:xfrm>
          <a:prstGeom prst="rect">
            <a:avLst/>
          </a:prstGeom>
        </p:spPr>
      </p:pic>
      <p:sp>
        <p:nvSpPr>
          <p:cNvPr id="21" name="Text 15"/>
          <p:cNvSpPr/>
          <p:nvPr/>
        </p:nvSpPr>
        <p:spPr>
          <a:xfrm>
            <a:off x="1069848" y="5779008"/>
            <a:ext cx="10378440" cy="603504"/>
          </a:xfrm>
          <a:prstGeom prst="rect">
            <a:avLst/>
          </a:prstGeom>
          <a:noFill/>
          <a:ln/>
        </p:spPr>
        <p:txBody>
          <a:bodyPr wrap="square" rtlCol="0" anchor="ctr"/>
          <a:lstStyle/>
          <a:p>
            <a:pPr indent="0" marL="0">
              <a:buNone/>
            </a:pPr>
            <a:r>
              <a:rPr lang="en-US" sz="1050" b="1" spc="150" kern="0" dirty="0">
                <a:solidFill>
                  <a:srgbClr val="C9C9C9"/>
                </a:solidFill>
                <a:latin typeface="Aptos" pitchFamily="34" charset="0"/>
                <a:ea typeface="Aptos" pitchFamily="34" charset="-122"/>
                <a:cs typeface="Aptos" pitchFamily="34" charset="-120"/>
              </a:rPr>
              <a:t>KNOWLEDGE CHECK   </a:t>
            </a:r>
            <a:pPr indent="0" marL="0">
              <a:buNone/>
            </a:pPr>
            <a:r>
              <a:rPr lang="en-US" sz="1250" dirty="0">
                <a:solidFill>
                  <a:srgbClr val="FFFFFF"/>
                </a:solidFill>
                <a:latin typeface="Aptos" pitchFamily="34" charset="0"/>
                <a:ea typeface="Aptos" pitchFamily="34" charset="-122"/>
                <a:cs typeface="Aptos" pitchFamily="34" charset="-120"/>
              </a:rPr>
              <a:t>A director asks 'what work was completed on the SAN last night?' — which report type answers that?</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18</a:t>
            </a:r>
            <a:endParaRPr lang="en-US" sz="900" dirty="0"/>
          </a:p>
        </p:txBody>
      </p:sp>
      <p:sp>
        <p:nvSpPr>
          <p:cNvPr id="4" name="Shape 2"/>
          <p:cNvSpPr/>
          <p:nvPr/>
        </p:nvSpPr>
        <p:spPr>
          <a:xfrm>
            <a:off x="0" y="0"/>
            <a:ext cx="12188952" cy="82296"/>
          </a:xfrm>
          <a:prstGeom prst="rect">
            <a:avLst/>
          </a:prstGeom>
          <a:solidFill>
            <a:srgbClr val="3D3D3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3D3D3D"/>
                </a:solidFill>
                <a:latin typeface="Aptos" pitchFamily="34" charset="0"/>
                <a:ea typeface="Aptos" pitchFamily="34" charset="-122"/>
                <a:cs typeface="Aptos" pitchFamily="34" charset="-120"/>
              </a:rPr>
              <a:t>EMBEDDED KNOWLEDGE · CRITERION 7</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141414"/>
                </a:solidFill>
                <a:latin typeface="Aptos Display" pitchFamily="34" charset="0"/>
                <a:ea typeface="Aptos Display" pitchFamily="34" charset="-122"/>
                <a:cs typeface="Aptos Display" pitchFamily="34" charset="-120"/>
              </a:rPr>
              <a:t>Organisational reporting deadlines</a:t>
            </a:r>
            <a:endParaRPr lang="en-US" sz="2600" dirty="0"/>
          </a:p>
        </p:txBody>
      </p:sp>
      <p:sp>
        <p:nvSpPr>
          <p:cNvPr id="7" name="Shape 5"/>
          <p:cNvSpPr/>
          <p:nvPr/>
        </p:nvSpPr>
        <p:spPr>
          <a:xfrm>
            <a:off x="502920" y="1298448"/>
            <a:ext cx="11183112" cy="566928"/>
          </a:xfrm>
          <a:prstGeom prst="roundRect">
            <a:avLst>
              <a:gd name="adj" fmla="val 11290"/>
            </a:avLst>
          </a:prstGeom>
          <a:solidFill>
            <a:srgbClr val="F2F2F2"/>
          </a:solidFill>
          <a:ln w="9525">
            <a:solidFill>
              <a:srgbClr val="DBDBDB"/>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1444752"/>
            <a:ext cx="274320" cy="274320"/>
          </a:xfrm>
          <a:prstGeom prst="rect">
            <a:avLst/>
          </a:prstGeom>
        </p:spPr>
      </p:pic>
      <p:sp>
        <p:nvSpPr>
          <p:cNvPr id="9" name="Text 6"/>
          <p:cNvSpPr/>
          <p:nvPr/>
        </p:nvSpPr>
        <p:spPr>
          <a:xfrm>
            <a:off x="1069848" y="1298448"/>
            <a:ext cx="10378440" cy="566928"/>
          </a:xfrm>
          <a:prstGeom prst="rect">
            <a:avLst/>
          </a:prstGeom>
          <a:noFill/>
          <a:ln/>
        </p:spPr>
        <p:txBody>
          <a:bodyPr wrap="square" rtlCol="0" anchor="ctr"/>
          <a:lstStyle/>
          <a:p>
            <a:pPr indent="0" marL="0">
              <a:buNone/>
            </a:pPr>
            <a:r>
              <a:rPr lang="en-US" sz="1050" b="1" spc="150" kern="0" dirty="0">
                <a:solidFill>
                  <a:srgbClr val="3D3D3D"/>
                </a:solidFill>
                <a:latin typeface="Aptos" pitchFamily="34" charset="0"/>
                <a:ea typeface="Aptos" pitchFamily="34" charset="-122"/>
                <a:cs typeface="Aptos" pitchFamily="34" charset="-120"/>
              </a:rPr>
              <a:t>LEARNING OBJECTIVE   </a:t>
            </a:r>
            <a:pPr indent="0" marL="0">
              <a:buNone/>
            </a:pPr>
            <a:r>
              <a:rPr lang="en-US" sz="1300" dirty="0">
                <a:solidFill>
                  <a:srgbClr val="141414"/>
                </a:solidFill>
                <a:latin typeface="Aptos" pitchFamily="34" charset="0"/>
                <a:ea typeface="Aptos" pitchFamily="34" charset="-122"/>
                <a:cs typeface="Aptos" pitchFamily="34" charset="-120"/>
              </a:rPr>
              <a:t>Meet the reporting deadlines the organisation sets for each report type.</a:t>
            </a:r>
            <a:endParaRPr lang="en-US" sz="1050" dirty="0"/>
          </a:p>
        </p:txBody>
      </p:sp>
      <p:sp>
        <p:nvSpPr>
          <p:cNvPr id="10" name="Text 7"/>
          <p:cNvSpPr/>
          <p:nvPr/>
        </p:nvSpPr>
        <p:spPr>
          <a:xfrm>
            <a:off x="502920" y="1993392"/>
            <a:ext cx="11183112" cy="566928"/>
          </a:xfrm>
          <a:prstGeom prst="rect">
            <a:avLst/>
          </a:prstGeom>
          <a:noFill/>
          <a:ln/>
        </p:spPr>
        <p:txBody>
          <a:bodyPr wrap="square" rtlCol="0" anchor="t"/>
          <a:lstStyle/>
          <a:p>
            <a:pPr indent="0" marL="0">
              <a:lnSpc>
                <a:spcPct val="115000"/>
              </a:lnSpc>
              <a:buNone/>
            </a:pPr>
            <a:r>
              <a:rPr lang="en-US" sz="1350" dirty="0">
                <a:solidFill>
                  <a:srgbClr val="6B7280"/>
                </a:solidFill>
                <a:latin typeface="Aptos" pitchFamily="34" charset="0"/>
                <a:ea typeface="Aptos" pitchFamily="34" charset="-122"/>
                <a:cs typeface="Aptos" pitchFamily="34" charset="-120"/>
              </a:rPr>
              <a:t>A late report loses its value — timeliness is a key measure of professionalism.</a:t>
            </a:r>
            <a:endParaRPr lang="en-US" sz="13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2651760"/>
          <a:ext cx="11183112" cy="914400"/>
        </p:xfrm>
        <a:graphic>
          <a:graphicData uri="http://schemas.openxmlformats.org/drawingml/2006/table">
            <a:tbl>
              <a:tblPr/>
              <a:tblGrid>
                <a:gridCol w="5943600"/>
                <a:gridCol w="5239512"/>
              </a:tblGrid>
              <a:tr h="384048">
                <a:tc>
                  <a:txBody>
                    <a:bodyPr/>
                    <a:lstStyle/>
                    <a:p>
                      <a:pPr indent="0" marL="0">
                        <a:buNone/>
                      </a:pPr>
                      <a:r>
                        <a:rPr lang="en-US" sz="1300" b="1" dirty="0">
                          <a:solidFill>
                            <a:srgbClr val="FFFFFF"/>
                          </a:solidFill>
                          <a:latin typeface="Aptos Display" pitchFamily="34" charset="0"/>
                          <a:ea typeface="Aptos Display" pitchFamily="34" charset="-122"/>
                          <a:cs typeface="Aptos Display" pitchFamily="34" charset="-120"/>
                        </a:rPr>
                        <a:t>Report</a:t>
                      </a:r>
                      <a:endParaRPr lang="en-US" sz="1300" dirty="0">
                        <a:latin typeface="Aptos Display" charset="0"/>
                        <a:ea typeface="Aptos Display" charset="0"/>
                        <a:cs typeface="Aptos Display"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3D3D3D"/>
                    </a:solidFill>
                  </a:tcPr>
                </a:tc>
                <a:tc>
                  <a:txBody>
                    <a:bodyPr/>
                    <a:lstStyle/>
                    <a:p>
                      <a:pPr indent="0" marL="0">
                        <a:buNone/>
                      </a:pPr>
                      <a:r>
                        <a:rPr lang="en-US" sz="1300" b="1" dirty="0">
                          <a:solidFill>
                            <a:srgbClr val="FFFFFF"/>
                          </a:solidFill>
                          <a:latin typeface="Aptos Display" pitchFamily="34" charset="0"/>
                          <a:ea typeface="Aptos Display" pitchFamily="34" charset="-122"/>
                          <a:cs typeface="Aptos Display" pitchFamily="34" charset="-120"/>
                        </a:rPr>
                        <a:t>Deadline</a:t>
                      </a:r>
                      <a:endParaRPr lang="en-US" sz="1300" dirty="0">
                        <a:latin typeface="Aptos Display" charset="0"/>
                        <a:ea typeface="Aptos Display" charset="0"/>
                        <a:cs typeface="Aptos Display"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3D3D3D"/>
                    </a:solidFill>
                  </a:tcPr>
                </a:tc>
              </a:tr>
              <a:tr h="384048">
                <a:tc>
                  <a:txBody>
                    <a:bodyPr/>
                    <a:lstStyle/>
                    <a:p>
                      <a:pPr indent="0" marL="0">
                        <a:buNone/>
                      </a:pPr>
                      <a:r>
                        <a:rPr lang="en-US" sz="1300" dirty="0">
                          <a:solidFill>
                            <a:srgbClr val="141414"/>
                          </a:solidFill>
                          <a:latin typeface="Aptos" pitchFamily="34" charset="0"/>
                          <a:ea typeface="Aptos" pitchFamily="34" charset="-122"/>
                          <a:cs typeface="Aptos" pitchFamily="34" charset="-120"/>
                        </a:rPr>
                        <a:t>Security incident</a:t>
                      </a:r>
                      <a:endParaRPr lang="en-US" sz="13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FFFFF"/>
                    </a:solidFill>
                  </a:tcPr>
                </a:tc>
                <a:tc>
                  <a:txBody>
                    <a:bodyPr/>
                    <a:lstStyle/>
                    <a:p>
                      <a:pPr indent="0" marL="0">
                        <a:buNone/>
                      </a:pPr>
                      <a:r>
                        <a:rPr lang="en-US" sz="1300" dirty="0">
                          <a:solidFill>
                            <a:srgbClr val="141414"/>
                          </a:solidFill>
                          <a:latin typeface="Aptos" pitchFamily="34" charset="0"/>
                          <a:ea typeface="Aptos" pitchFamily="34" charset="-122"/>
                          <a:cs typeface="Aptos" pitchFamily="34" charset="-120"/>
                        </a:rPr>
                        <a:t>Within 1 hour</a:t>
                      </a:r>
                      <a:endParaRPr lang="en-US" sz="13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41414"/>
                          </a:solidFill>
                          <a:latin typeface="Aptos" pitchFamily="34" charset="0"/>
                          <a:ea typeface="Aptos" pitchFamily="34" charset="-122"/>
                          <a:cs typeface="Aptos" pitchFamily="34" charset="-120"/>
                        </a:rPr>
                        <a:t>Major outage report</a:t>
                      </a:r>
                      <a:endParaRPr lang="en-US" sz="13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2F2F2"/>
                    </a:solidFill>
                  </a:tcPr>
                </a:tc>
                <a:tc>
                  <a:txBody>
                    <a:bodyPr/>
                    <a:lstStyle/>
                    <a:p>
                      <a:pPr indent="0" marL="0">
                        <a:buNone/>
                      </a:pPr>
                      <a:r>
                        <a:rPr lang="en-US" sz="1300" dirty="0">
                          <a:solidFill>
                            <a:srgbClr val="141414"/>
                          </a:solidFill>
                          <a:latin typeface="Aptos" pitchFamily="34" charset="0"/>
                          <a:ea typeface="Aptos" pitchFamily="34" charset="-122"/>
                          <a:cs typeface="Aptos" pitchFamily="34" charset="-120"/>
                        </a:rPr>
                        <a:t>Within 24 hours</a:t>
                      </a:r>
                      <a:endParaRPr lang="en-US" sz="13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2F2F2"/>
                    </a:solidFill>
                  </a:tcPr>
                </a:tc>
              </a:tr>
              <a:tr h="384048">
                <a:tc>
                  <a:txBody>
                    <a:bodyPr/>
                    <a:lstStyle/>
                    <a:p>
                      <a:pPr indent="0" marL="0">
                        <a:buNone/>
                      </a:pPr>
                      <a:r>
                        <a:rPr lang="en-US" sz="1300" dirty="0">
                          <a:solidFill>
                            <a:srgbClr val="141414"/>
                          </a:solidFill>
                          <a:latin typeface="Aptos" pitchFamily="34" charset="0"/>
                          <a:ea typeface="Aptos" pitchFamily="34" charset="-122"/>
                          <a:cs typeface="Aptos" pitchFamily="34" charset="-120"/>
                        </a:rPr>
                        <a:t>Weekly IT report</a:t>
                      </a:r>
                      <a:endParaRPr lang="en-US" sz="13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FFFFF"/>
                    </a:solidFill>
                  </a:tcPr>
                </a:tc>
                <a:tc>
                  <a:txBody>
                    <a:bodyPr/>
                    <a:lstStyle/>
                    <a:p>
                      <a:pPr indent="0" marL="0">
                        <a:buNone/>
                      </a:pPr>
                      <a:r>
                        <a:rPr lang="en-US" sz="1300" dirty="0">
                          <a:solidFill>
                            <a:srgbClr val="141414"/>
                          </a:solidFill>
                          <a:latin typeface="Aptos" pitchFamily="34" charset="0"/>
                          <a:ea typeface="Aptos" pitchFamily="34" charset="-122"/>
                          <a:cs typeface="Aptos" pitchFamily="34" charset="-120"/>
                        </a:rPr>
                        <a:t>Every Friday</a:t>
                      </a:r>
                      <a:endParaRPr lang="en-US" sz="13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41414"/>
                          </a:solidFill>
                          <a:latin typeface="Aptos" pitchFamily="34" charset="0"/>
                          <a:ea typeface="Aptos" pitchFamily="34" charset="-122"/>
                          <a:cs typeface="Aptos" pitchFamily="34" charset="-120"/>
                        </a:rPr>
                        <a:t>Monthly performance report</a:t>
                      </a:r>
                      <a:endParaRPr lang="en-US" sz="13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2F2F2"/>
                    </a:solidFill>
                  </a:tcPr>
                </a:tc>
                <a:tc>
                  <a:txBody>
                    <a:bodyPr/>
                    <a:lstStyle/>
                    <a:p>
                      <a:pPr indent="0" marL="0">
                        <a:buNone/>
                      </a:pPr>
                      <a:r>
                        <a:rPr lang="en-US" sz="1300" dirty="0">
                          <a:solidFill>
                            <a:srgbClr val="141414"/>
                          </a:solidFill>
                          <a:latin typeface="Aptos" pitchFamily="34" charset="0"/>
                          <a:ea typeface="Aptos" pitchFamily="34" charset="-122"/>
                          <a:cs typeface="Aptos" pitchFamily="34" charset="-120"/>
                        </a:rPr>
                        <a:t>Last working day of the month</a:t>
                      </a:r>
                      <a:endParaRPr lang="en-US" sz="13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2F2F2"/>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19</a:t>
            </a:r>
            <a:endParaRPr lang="en-US" sz="900" dirty="0"/>
          </a:p>
        </p:txBody>
      </p:sp>
      <p:sp>
        <p:nvSpPr>
          <p:cNvPr id="4" name="Shape 2"/>
          <p:cNvSpPr/>
          <p:nvPr/>
        </p:nvSpPr>
        <p:spPr>
          <a:xfrm>
            <a:off x="0" y="0"/>
            <a:ext cx="12188952" cy="82296"/>
          </a:xfrm>
          <a:prstGeom prst="rect">
            <a:avLst/>
          </a:prstGeom>
          <a:solidFill>
            <a:srgbClr val="3D3D3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3D3D3D"/>
                </a:solidFill>
                <a:latin typeface="Aptos" pitchFamily="34" charset="0"/>
                <a:ea typeface="Aptos" pitchFamily="34" charset="-122"/>
                <a:cs typeface="Aptos" pitchFamily="34" charset="-120"/>
              </a:rPr>
              <a:t>EMBEDDED KNOWLEDGE · CRITERION 7</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141414"/>
                </a:solidFill>
                <a:latin typeface="Aptos Display" pitchFamily="34" charset="0"/>
                <a:ea typeface="Aptos Display" pitchFamily="34" charset="-122"/>
                <a:cs typeface="Aptos Display" pitchFamily="34" charset="-120"/>
              </a:rPr>
              <a:t>Organisational reporting deadlines — in practice</a:t>
            </a:r>
            <a:endParaRPr lang="en-US" sz="2600" dirty="0"/>
          </a:p>
        </p:txBody>
      </p:sp>
      <p:sp>
        <p:nvSpPr>
          <p:cNvPr id="7" name="Shape 5"/>
          <p:cNvSpPr/>
          <p:nvPr/>
        </p:nvSpPr>
        <p:spPr>
          <a:xfrm>
            <a:off x="502920" y="1371600"/>
            <a:ext cx="11183112" cy="2468880"/>
          </a:xfrm>
          <a:prstGeom prst="roundRect">
            <a:avLst>
              <a:gd name="adj" fmla="val 3333"/>
            </a:avLst>
          </a:prstGeom>
          <a:solidFill>
            <a:srgbClr val="F2F2F2"/>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8" name="Shape 6"/>
          <p:cNvSpPr/>
          <p:nvPr/>
        </p:nvSpPr>
        <p:spPr>
          <a:xfrm>
            <a:off x="502920" y="1371600"/>
            <a:ext cx="82296" cy="2468880"/>
          </a:xfrm>
          <a:prstGeom prst="rect">
            <a:avLst/>
          </a:prstGeom>
          <a:solidFill>
            <a:srgbClr val="3D3D3D"/>
          </a:solidFill>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082528" y="1554480"/>
            <a:ext cx="347472" cy="347472"/>
          </a:xfrm>
          <a:prstGeom prst="rect">
            <a:avLst/>
          </a:prstGeom>
        </p:spPr>
      </p:pic>
      <p:sp>
        <p:nvSpPr>
          <p:cNvPr id="10" name="Text 7"/>
          <p:cNvSpPr/>
          <p:nvPr/>
        </p:nvSpPr>
        <p:spPr>
          <a:xfrm>
            <a:off x="795528" y="1517904"/>
            <a:ext cx="10177272" cy="2176272"/>
          </a:xfrm>
          <a:prstGeom prst="rect">
            <a:avLst/>
          </a:prstGeom>
          <a:noFill/>
          <a:ln/>
        </p:spPr>
        <p:txBody>
          <a:bodyPr wrap="square" rtlCol="0" anchor="t"/>
          <a:lstStyle/>
          <a:p>
            <a:pPr indent="0" marL="0">
              <a:lnSpc>
                <a:spcPct val="115000"/>
              </a:lnSpc>
              <a:buNone/>
            </a:pPr>
            <a:r>
              <a:rPr lang="en-US" sz="1050" b="1" spc="150" kern="0" dirty="0">
                <a:solidFill>
                  <a:srgbClr val="3D3D3D"/>
                </a:solidFill>
                <a:latin typeface="Aptos" pitchFamily="34" charset="0"/>
                <a:ea typeface="Aptos" pitchFamily="34" charset="-122"/>
                <a:cs typeface="Aptos" pitchFamily="34" charset="-120"/>
              </a:rPr>
              <a:t>WORKPLACE EXAMPLE — INVESTEC
</a:t>
            </a:r>
            <a:pPr indent="0" marL="0">
              <a:lnSpc>
                <a:spcPct val="115000"/>
              </a:lnSpc>
              <a:buNone/>
            </a:pPr>
            <a:r>
              <a:rPr lang="en-US" sz="1500" b="1" dirty="0">
                <a:solidFill>
                  <a:srgbClr val="141414"/>
                </a:solidFill>
                <a:latin typeface="Aptos Display" pitchFamily="34" charset="0"/>
                <a:ea typeface="Aptos Display" pitchFamily="34" charset="-122"/>
                <a:cs typeface="Aptos Display" pitchFamily="34" charset="-120"/>
              </a:rPr>
              <a:t>The 24-hour outage clock
</a:t>
            </a:r>
            <a:pPr indent="0" marL="0">
              <a:lnSpc>
                <a:spcPct val="115000"/>
              </a:lnSpc>
              <a:buNone/>
            </a:pPr>
            <a:r>
              <a:rPr lang="en-US" sz="1250" dirty="0">
                <a:solidFill>
                  <a:srgbClr val="141414"/>
                </a:solidFill>
                <a:latin typeface="Aptos" pitchFamily="34" charset="0"/>
                <a:ea typeface="Aptos" pitchFamily="34" charset="-122"/>
                <a:cs typeface="Aptos" pitchFamily="34" charset="-120"/>
              </a:rPr>
              <a:t>A core switch fails at 14:00 on Tuesday. The major-outage report is due by 14:00 Wednesday. The technician books thirty minutes the same afternoon to capture evidence while it is fresh — the report is submitted with three hours to spare.</a:t>
            </a:r>
            <a:endParaRPr lang="en-US" sz="1050" dirty="0"/>
          </a:p>
        </p:txBody>
      </p:sp>
      <p:sp>
        <p:nvSpPr>
          <p:cNvPr id="11" name="Shape 8"/>
          <p:cNvSpPr/>
          <p:nvPr/>
        </p:nvSpPr>
        <p:spPr>
          <a:xfrm>
            <a:off x="502920" y="4023360"/>
            <a:ext cx="5362956" cy="1371600"/>
          </a:xfrm>
          <a:prstGeom prst="roundRect">
            <a:avLst>
              <a:gd name="adj" fmla="val 6000"/>
            </a:avLst>
          </a:prstGeom>
          <a:solidFill>
            <a:srgbClr val="F2F2F2"/>
          </a:solidFill>
          <a:ln w="12700">
            <a:solidFill>
              <a:srgbClr val="DBDBDB"/>
            </a:solidFill>
            <a:prstDash val="solid"/>
          </a:ln>
          <a:effectLst>
            <a:outerShdw sx="100000" sy="100000" kx="0" ky="0" algn="bl" rotWithShape="0" blurRad="88900" dist="25400" dir="5400000">
              <a:srgbClr val="BDBDBD">
                <a:alpha val="30000"/>
              </a:srgbClr>
            </a:outerShdw>
          </a:effectLst>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520" y="4169664"/>
            <a:ext cx="274320" cy="274320"/>
          </a:xfrm>
          <a:prstGeom prst="rect">
            <a:avLst/>
          </a:prstGeom>
        </p:spPr>
      </p:pic>
      <p:sp>
        <p:nvSpPr>
          <p:cNvPr id="13" name="Text 9"/>
          <p:cNvSpPr/>
          <p:nvPr/>
        </p:nvSpPr>
        <p:spPr>
          <a:xfrm>
            <a:off x="1088136" y="4151376"/>
            <a:ext cx="4539996" cy="310896"/>
          </a:xfrm>
          <a:prstGeom prst="rect">
            <a:avLst/>
          </a:prstGeom>
          <a:noFill/>
          <a:ln/>
        </p:spPr>
        <p:txBody>
          <a:bodyPr wrap="square" rtlCol="0" anchor="ctr"/>
          <a:lstStyle/>
          <a:p>
            <a:pPr indent="0" marL="0">
              <a:buNone/>
            </a:pPr>
            <a:r>
              <a:rPr lang="en-US" sz="1100" b="1" spc="150" kern="0" dirty="0">
                <a:solidFill>
                  <a:srgbClr val="3D3D3D"/>
                </a:solidFill>
                <a:latin typeface="Aptos" pitchFamily="34" charset="0"/>
                <a:ea typeface="Aptos" pitchFamily="34" charset="-122"/>
                <a:cs typeface="Aptos" pitchFamily="34" charset="-120"/>
              </a:rPr>
              <a:t>BEST PRACTICE</a:t>
            </a:r>
            <a:endParaRPr lang="en-US" sz="1100" dirty="0"/>
          </a:p>
        </p:txBody>
      </p:sp>
      <p:sp>
        <p:nvSpPr>
          <p:cNvPr id="14" name="Text 10"/>
          <p:cNvSpPr/>
          <p:nvPr/>
        </p:nvSpPr>
        <p:spPr>
          <a:xfrm>
            <a:off x="731520" y="4498848"/>
            <a:ext cx="4905756" cy="786384"/>
          </a:xfrm>
          <a:prstGeom prst="rect">
            <a:avLst/>
          </a:prstGeom>
          <a:noFill/>
          <a:ln/>
        </p:spPr>
        <p:txBody>
          <a:bodyPr wrap="square" rtlCol="0" anchor="t"/>
          <a:lstStyle/>
          <a:p>
            <a:pPr indent="0" marL="0">
              <a:buNone/>
            </a:pPr>
            <a:r>
              <a:rPr lang="en-US" sz="1250" dirty="0">
                <a:solidFill>
                  <a:srgbClr val="141414"/>
                </a:solidFill>
                <a:latin typeface="Aptos" pitchFamily="34" charset="0"/>
                <a:ea typeface="Aptos" pitchFamily="34" charset="-122"/>
                <a:cs typeface="Aptos" pitchFamily="34" charset="-120"/>
              </a:rPr>
              <a:t>Start capturing evidence immediately — the deadline clock starts when the incident does.</a:t>
            </a:r>
            <a:endParaRPr lang="en-US" sz="1250" dirty="0"/>
          </a:p>
        </p:txBody>
      </p:sp>
      <p:sp>
        <p:nvSpPr>
          <p:cNvPr id="15" name="Shape 11"/>
          <p:cNvSpPr/>
          <p:nvPr/>
        </p:nvSpPr>
        <p:spPr>
          <a:xfrm>
            <a:off x="6323076" y="4023360"/>
            <a:ext cx="5362956" cy="1371600"/>
          </a:xfrm>
          <a:prstGeom prst="roundRect">
            <a:avLst>
              <a:gd name="adj" fmla="val 6000"/>
            </a:avLst>
          </a:prstGeom>
          <a:solidFill>
            <a:srgbClr val="F4F5F7"/>
          </a:solidFill>
          <a:ln w="12700">
            <a:solidFill>
              <a:srgbClr val="DADDE2"/>
            </a:solidFill>
            <a:prstDash val="solid"/>
          </a:ln>
          <a:effectLst>
            <a:outerShdw sx="100000" sy="100000" kx="0" ky="0" algn="bl" rotWithShape="0" blurRad="88900" dist="25400" dir="5400000">
              <a:srgbClr val="BDBDBD">
                <a:alpha val="30000"/>
              </a:srgbClr>
            </a:outerShdw>
          </a:effectLst>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51676" y="4169664"/>
            <a:ext cx="274320" cy="274320"/>
          </a:xfrm>
          <a:prstGeom prst="rect">
            <a:avLst/>
          </a:prstGeom>
        </p:spPr>
      </p:pic>
      <p:sp>
        <p:nvSpPr>
          <p:cNvPr id="17" name="Text 12"/>
          <p:cNvSpPr/>
          <p:nvPr/>
        </p:nvSpPr>
        <p:spPr>
          <a:xfrm>
            <a:off x="6908292" y="4151376"/>
            <a:ext cx="4539996" cy="310896"/>
          </a:xfrm>
          <a:prstGeom prst="rect">
            <a:avLst/>
          </a:prstGeom>
          <a:noFill/>
          <a:ln/>
        </p:spPr>
        <p:txBody>
          <a:bodyPr wrap="square" rtlCol="0" anchor="ctr"/>
          <a:lstStyle/>
          <a:p>
            <a:pPr indent="0" marL="0">
              <a:buNone/>
            </a:pPr>
            <a:r>
              <a:rPr lang="en-US" sz="1100" b="1" spc="150" kern="0" dirty="0">
                <a:solidFill>
                  <a:srgbClr val="6B7280"/>
                </a:solidFill>
                <a:latin typeface="Aptos" pitchFamily="34" charset="0"/>
                <a:ea typeface="Aptos" pitchFamily="34" charset="-122"/>
                <a:cs typeface="Aptos" pitchFamily="34" charset="-120"/>
              </a:rPr>
              <a:t>COMMON MISTAKE</a:t>
            </a:r>
            <a:endParaRPr lang="en-US" sz="1100" dirty="0"/>
          </a:p>
        </p:txBody>
      </p:sp>
      <p:sp>
        <p:nvSpPr>
          <p:cNvPr id="18" name="Text 13"/>
          <p:cNvSpPr/>
          <p:nvPr/>
        </p:nvSpPr>
        <p:spPr>
          <a:xfrm>
            <a:off x="6551676" y="4498848"/>
            <a:ext cx="4905756" cy="786384"/>
          </a:xfrm>
          <a:prstGeom prst="rect">
            <a:avLst/>
          </a:prstGeom>
          <a:noFill/>
          <a:ln/>
        </p:spPr>
        <p:txBody>
          <a:bodyPr wrap="square" rtlCol="0" anchor="t"/>
          <a:lstStyle/>
          <a:p>
            <a:pPr indent="0" marL="0">
              <a:buNone/>
            </a:pPr>
            <a:r>
              <a:rPr lang="en-US" sz="1250" dirty="0">
                <a:solidFill>
                  <a:srgbClr val="141414"/>
                </a:solidFill>
                <a:latin typeface="Aptos" pitchFamily="34" charset="0"/>
                <a:ea typeface="Aptos" pitchFamily="34" charset="-122"/>
                <a:cs typeface="Aptos" pitchFamily="34" charset="-120"/>
              </a:rPr>
              <a:t>Leaving the report until 'things calm down' and missing the submission window.</a:t>
            </a:r>
            <a:endParaRPr lang="en-US" sz="1250" dirty="0"/>
          </a:p>
        </p:txBody>
      </p:sp>
      <p:sp>
        <p:nvSpPr>
          <p:cNvPr id="19" name="Shape 14"/>
          <p:cNvSpPr/>
          <p:nvPr/>
        </p:nvSpPr>
        <p:spPr>
          <a:xfrm>
            <a:off x="502920" y="5779008"/>
            <a:ext cx="11183112" cy="603504"/>
          </a:xfrm>
          <a:prstGeom prst="roundRect">
            <a:avLst>
              <a:gd name="adj" fmla="val 10606"/>
            </a:avLst>
          </a:prstGeom>
          <a:solidFill>
            <a:srgbClr val="141414"/>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4088" y="5943600"/>
            <a:ext cx="274320" cy="274320"/>
          </a:xfrm>
          <a:prstGeom prst="rect">
            <a:avLst/>
          </a:prstGeom>
        </p:spPr>
      </p:pic>
      <p:sp>
        <p:nvSpPr>
          <p:cNvPr id="21" name="Text 15"/>
          <p:cNvSpPr/>
          <p:nvPr/>
        </p:nvSpPr>
        <p:spPr>
          <a:xfrm>
            <a:off x="1069848" y="5779008"/>
            <a:ext cx="10378440" cy="603504"/>
          </a:xfrm>
          <a:prstGeom prst="rect">
            <a:avLst/>
          </a:prstGeom>
          <a:noFill/>
          <a:ln/>
        </p:spPr>
        <p:txBody>
          <a:bodyPr wrap="square" rtlCol="0" anchor="ctr"/>
          <a:lstStyle/>
          <a:p>
            <a:pPr indent="0" marL="0">
              <a:buNone/>
            </a:pPr>
            <a:r>
              <a:rPr lang="en-US" sz="1050" b="1" spc="150" kern="0" dirty="0">
                <a:solidFill>
                  <a:srgbClr val="C9C9C9"/>
                </a:solidFill>
                <a:latin typeface="Aptos" pitchFamily="34" charset="0"/>
                <a:ea typeface="Aptos" pitchFamily="34" charset="-122"/>
                <a:cs typeface="Aptos" pitchFamily="34" charset="-120"/>
              </a:rPr>
              <a:t>KNOWLEDGE CHECK   </a:t>
            </a:r>
            <a:pPr indent="0" marL="0">
              <a:buNone/>
            </a:pPr>
            <a:r>
              <a:rPr lang="en-US" sz="1250" dirty="0">
                <a:solidFill>
                  <a:srgbClr val="FFFFFF"/>
                </a:solidFill>
                <a:latin typeface="Aptos" pitchFamily="34" charset="0"/>
                <a:ea typeface="Aptos" pitchFamily="34" charset="-122"/>
                <a:cs typeface="Aptos" pitchFamily="34" charset="-120"/>
              </a:rPr>
              <a:t>A security incident is confirmed at 10:15. By what time must the first report be submitted?</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20</a:t>
            </a:r>
            <a:endParaRPr lang="en-US" sz="900" dirty="0"/>
          </a:p>
        </p:txBody>
      </p:sp>
      <p:sp>
        <p:nvSpPr>
          <p:cNvPr id="4" name="Shape 2"/>
          <p:cNvSpPr/>
          <p:nvPr/>
        </p:nvSpPr>
        <p:spPr>
          <a:xfrm>
            <a:off x="0" y="0"/>
            <a:ext cx="12188952" cy="82296"/>
          </a:xfrm>
          <a:prstGeom prst="rect">
            <a:avLst/>
          </a:prstGeom>
          <a:solidFill>
            <a:srgbClr val="3D3D3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3D3D3D"/>
                </a:solidFill>
                <a:latin typeface="Aptos" pitchFamily="34" charset="0"/>
                <a:ea typeface="Aptos" pitchFamily="34" charset="-122"/>
                <a:cs typeface="Aptos" pitchFamily="34" charset="-120"/>
              </a:rPr>
              <a:t>EMBEDDED KNOWLEDGE · CRITERION 8</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141414"/>
                </a:solidFill>
                <a:latin typeface="Aptos Display" pitchFamily="34" charset="0"/>
                <a:ea typeface="Aptos Display" pitchFamily="34" charset="-122"/>
                <a:cs typeface="Aptos Display" pitchFamily="34" charset="-120"/>
              </a:rPr>
              <a:t>Business report writing techniques</a:t>
            </a:r>
            <a:endParaRPr lang="en-US" sz="2600" dirty="0"/>
          </a:p>
        </p:txBody>
      </p:sp>
      <p:sp>
        <p:nvSpPr>
          <p:cNvPr id="7" name="Shape 5"/>
          <p:cNvSpPr/>
          <p:nvPr/>
        </p:nvSpPr>
        <p:spPr>
          <a:xfrm>
            <a:off x="502920" y="1298448"/>
            <a:ext cx="11183112" cy="566928"/>
          </a:xfrm>
          <a:prstGeom prst="roundRect">
            <a:avLst>
              <a:gd name="adj" fmla="val 11290"/>
            </a:avLst>
          </a:prstGeom>
          <a:solidFill>
            <a:srgbClr val="F2F2F2"/>
          </a:solidFill>
          <a:ln w="9525">
            <a:solidFill>
              <a:srgbClr val="DBDBDB"/>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1444752"/>
            <a:ext cx="274320" cy="274320"/>
          </a:xfrm>
          <a:prstGeom prst="rect">
            <a:avLst/>
          </a:prstGeom>
        </p:spPr>
      </p:pic>
      <p:sp>
        <p:nvSpPr>
          <p:cNvPr id="9" name="Text 6"/>
          <p:cNvSpPr/>
          <p:nvPr/>
        </p:nvSpPr>
        <p:spPr>
          <a:xfrm>
            <a:off x="1069848" y="1298448"/>
            <a:ext cx="10378440" cy="566928"/>
          </a:xfrm>
          <a:prstGeom prst="rect">
            <a:avLst/>
          </a:prstGeom>
          <a:noFill/>
          <a:ln/>
        </p:spPr>
        <p:txBody>
          <a:bodyPr wrap="square" rtlCol="0" anchor="ctr"/>
          <a:lstStyle/>
          <a:p>
            <a:pPr indent="0" marL="0">
              <a:buNone/>
            </a:pPr>
            <a:r>
              <a:rPr lang="en-US" sz="1050" b="1" spc="150" kern="0" dirty="0">
                <a:solidFill>
                  <a:srgbClr val="3D3D3D"/>
                </a:solidFill>
                <a:latin typeface="Aptos" pitchFamily="34" charset="0"/>
                <a:ea typeface="Aptos" pitchFamily="34" charset="-122"/>
                <a:cs typeface="Aptos" pitchFamily="34" charset="-120"/>
              </a:rPr>
              <a:t>LEARNING OBJECTIVE   </a:t>
            </a:r>
            <a:pPr indent="0" marL="0">
              <a:buNone/>
            </a:pPr>
            <a:r>
              <a:rPr lang="en-US" sz="1300" dirty="0">
                <a:solidFill>
                  <a:srgbClr val="141414"/>
                </a:solidFill>
                <a:latin typeface="Aptos" pitchFamily="34" charset="0"/>
                <a:ea typeface="Aptos" pitchFamily="34" charset="-122"/>
                <a:cs typeface="Aptos" pitchFamily="34" charset="-120"/>
              </a:rPr>
              <a:t>Apply techniques that make reports clear, concise, objective and professional.</a:t>
            </a:r>
            <a:endParaRPr lang="en-US" sz="1050" dirty="0"/>
          </a:p>
        </p:txBody>
      </p:sp>
      <p:sp>
        <p:nvSpPr>
          <p:cNvPr id="10" name="Text 7"/>
          <p:cNvSpPr/>
          <p:nvPr/>
        </p:nvSpPr>
        <p:spPr>
          <a:xfrm>
            <a:off x="502920" y="1993392"/>
            <a:ext cx="11183112" cy="566928"/>
          </a:xfrm>
          <a:prstGeom prst="rect">
            <a:avLst/>
          </a:prstGeom>
          <a:noFill/>
          <a:ln/>
        </p:spPr>
        <p:txBody>
          <a:bodyPr wrap="square" rtlCol="0" anchor="t"/>
          <a:lstStyle/>
          <a:p>
            <a:pPr indent="0" marL="0">
              <a:lnSpc>
                <a:spcPct val="115000"/>
              </a:lnSpc>
              <a:buNone/>
            </a:pPr>
            <a:r>
              <a:rPr lang="en-US" sz="1350" dirty="0">
                <a:solidFill>
                  <a:srgbClr val="6B7280"/>
                </a:solidFill>
                <a:latin typeface="Aptos" pitchFamily="34" charset="0"/>
                <a:ea typeface="Aptos" pitchFamily="34" charset="-122"/>
                <a:cs typeface="Aptos" pitchFamily="34" charset="-120"/>
              </a:rPr>
              <a:t>Good technique turns raw facts into a document a busy manager can absorb in minutes.</a:t>
            </a:r>
            <a:endParaRPr lang="en-US" sz="1350" dirty="0"/>
          </a:p>
        </p:txBody>
      </p:sp>
      <p:sp>
        <p:nvSpPr>
          <p:cNvPr id="11" name="Shape 8"/>
          <p:cNvSpPr/>
          <p:nvPr/>
        </p:nvSpPr>
        <p:spPr>
          <a:xfrm>
            <a:off x="502920" y="2697480"/>
            <a:ext cx="3593592" cy="1024128"/>
          </a:xfrm>
          <a:prstGeom prst="roundRect">
            <a:avLst>
              <a:gd name="adj" fmla="val 8036"/>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12" name="Shape 9"/>
          <p:cNvSpPr/>
          <p:nvPr/>
        </p:nvSpPr>
        <p:spPr>
          <a:xfrm>
            <a:off x="667512" y="3017520"/>
            <a:ext cx="384048" cy="384048"/>
          </a:xfrm>
          <a:prstGeom prst="ellipse">
            <a:avLst/>
          </a:prstGeom>
          <a:solidFill>
            <a:srgbClr val="3D3D3D"/>
          </a:solidFill>
          <a:ln/>
        </p:spPr>
      </p:sp>
      <p:sp>
        <p:nvSpPr>
          <p:cNvPr id="13" name="Text 10"/>
          <p:cNvSpPr/>
          <p:nvPr/>
        </p:nvSpPr>
        <p:spPr>
          <a:xfrm>
            <a:off x="667512" y="3017520"/>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1</a:t>
            </a:r>
            <a:endParaRPr lang="en-US" sz="1400" dirty="0"/>
          </a:p>
        </p:txBody>
      </p:sp>
      <p:sp>
        <p:nvSpPr>
          <p:cNvPr id="14" name="Text 11"/>
          <p:cNvSpPr/>
          <p:nvPr/>
        </p:nvSpPr>
        <p:spPr>
          <a:xfrm>
            <a:off x="1161288" y="2788920"/>
            <a:ext cx="2770632" cy="841248"/>
          </a:xfrm>
          <a:prstGeom prst="rect">
            <a:avLst/>
          </a:prstGeom>
          <a:noFill/>
          <a:ln/>
        </p:spPr>
        <p:txBody>
          <a:bodyPr wrap="square" rtlCol="0" anchor="ctr"/>
          <a:lstStyle/>
          <a:p>
            <a:pPr indent="0" marL="0">
              <a:buNone/>
            </a:pPr>
            <a:r>
              <a:rPr lang="en-US" sz="1250" b="1" dirty="0">
                <a:solidFill>
                  <a:srgbClr val="141414"/>
                </a:solidFill>
                <a:latin typeface="Aptos Display" pitchFamily="34" charset="0"/>
                <a:ea typeface="Aptos Display" pitchFamily="34" charset="-122"/>
                <a:cs typeface="Aptos Display" pitchFamily="34" charset="-120"/>
              </a:rPr>
              <a:t>Structure it
</a:t>
            </a:r>
            <a:pPr indent="0" marL="0">
              <a:buNone/>
            </a:pPr>
            <a:r>
              <a:rPr lang="en-US" sz="1050" dirty="0">
                <a:solidFill>
                  <a:srgbClr val="6B7280"/>
                </a:solidFill>
                <a:latin typeface="Aptos" pitchFamily="34" charset="0"/>
                <a:ea typeface="Aptos" pitchFamily="34" charset="-122"/>
                <a:cs typeface="Aptos" pitchFamily="34" charset="-120"/>
              </a:rPr>
              <a:t>Headings, subheadings, correct numbering</a:t>
            </a:r>
            <a:endParaRPr lang="en-US" sz="1250" dirty="0"/>
          </a:p>
        </p:txBody>
      </p:sp>
      <p:sp>
        <p:nvSpPr>
          <p:cNvPr id="15" name="Shape 12"/>
          <p:cNvSpPr/>
          <p:nvPr/>
        </p:nvSpPr>
        <p:spPr>
          <a:xfrm>
            <a:off x="4297680" y="2697480"/>
            <a:ext cx="3593592" cy="1024128"/>
          </a:xfrm>
          <a:prstGeom prst="roundRect">
            <a:avLst>
              <a:gd name="adj" fmla="val 8036"/>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16" name="Shape 13"/>
          <p:cNvSpPr/>
          <p:nvPr/>
        </p:nvSpPr>
        <p:spPr>
          <a:xfrm>
            <a:off x="4462272" y="3017520"/>
            <a:ext cx="384048" cy="384048"/>
          </a:xfrm>
          <a:prstGeom prst="ellipse">
            <a:avLst/>
          </a:prstGeom>
          <a:solidFill>
            <a:srgbClr val="3D3D3D"/>
          </a:solidFill>
          <a:ln/>
        </p:spPr>
      </p:sp>
      <p:sp>
        <p:nvSpPr>
          <p:cNvPr id="17" name="Text 14"/>
          <p:cNvSpPr/>
          <p:nvPr/>
        </p:nvSpPr>
        <p:spPr>
          <a:xfrm>
            <a:off x="4462272" y="3017520"/>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2</a:t>
            </a:r>
            <a:endParaRPr lang="en-US" sz="1400" dirty="0"/>
          </a:p>
        </p:txBody>
      </p:sp>
      <p:sp>
        <p:nvSpPr>
          <p:cNvPr id="18" name="Text 15"/>
          <p:cNvSpPr/>
          <p:nvPr/>
        </p:nvSpPr>
        <p:spPr>
          <a:xfrm>
            <a:off x="4956048" y="2788920"/>
            <a:ext cx="2770632" cy="841248"/>
          </a:xfrm>
          <a:prstGeom prst="rect">
            <a:avLst/>
          </a:prstGeom>
          <a:noFill/>
          <a:ln/>
        </p:spPr>
        <p:txBody>
          <a:bodyPr wrap="square" rtlCol="0" anchor="ctr"/>
          <a:lstStyle/>
          <a:p>
            <a:pPr indent="0" marL="0">
              <a:buNone/>
            </a:pPr>
            <a:r>
              <a:rPr lang="en-US" sz="1250" b="1" dirty="0">
                <a:solidFill>
                  <a:srgbClr val="141414"/>
                </a:solidFill>
                <a:latin typeface="Aptos Display" pitchFamily="34" charset="0"/>
                <a:ea typeface="Aptos Display" pitchFamily="34" charset="-122"/>
                <a:cs typeface="Aptos Display" pitchFamily="34" charset="-120"/>
              </a:rPr>
              <a:t>Keep it plain
</a:t>
            </a:r>
            <a:pPr indent="0" marL="0">
              <a:buNone/>
            </a:pPr>
            <a:r>
              <a:rPr lang="en-US" sz="1050" dirty="0">
                <a:solidFill>
                  <a:srgbClr val="6B7280"/>
                </a:solidFill>
                <a:latin typeface="Aptos" pitchFamily="34" charset="0"/>
                <a:ea typeface="Aptos" pitchFamily="34" charset="-122"/>
                <a:cs typeface="Aptos" pitchFamily="34" charset="-120"/>
              </a:rPr>
              <a:t>Plain English, short sentences, bullets</a:t>
            </a:r>
            <a:endParaRPr lang="en-US" sz="1250" dirty="0"/>
          </a:p>
        </p:txBody>
      </p:sp>
      <p:sp>
        <p:nvSpPr>
          <p:cNvPr id="19" name="Shape 16"/>
          <p:cNvSpPr/>
          <p:nvPr/>
        </p:nvSpPr>
        <p:spPr>
          <a:xfrm>
            <a:off x="8092440" y="2697480"/>
            <a:ext cx="3593592" cy="1024128"/>
          </a:xfrm>
          <a:prstGeom prst="roundRect">
            <a:avLst>
              <a:gd name="adj" fmla="val 8036"/>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20" name="Shape 17"/>
          <p:cNvSpPr/>
          <p:nvPr/>
        </p:nvSpPr>
        <p:spPr>
          <a:xfrm>
            <a:off x="8257032" y="3017520"/>
            <a:ext cx="384048" cy="384048"/>
          </a:xfrm>
          <a:prstGeom prst="ellipse">
            <a:avLst/>
          </a:prstGeom>
          <a:solidFill>
            <a:srgbClr val="3D3D3D"/>
          </a:solidFill>
          <a:ln/>
        </p:spPr>
      </p:sp>
      <p:sp>
        <p:nvSpPr>
          <p:cNvPr id="21" name="Text 18"/>
          <p:cNvSpPr/>
          <p:nvPr/>
        </p:nvSpPr>
        <p:spPr>
          <a:xfrm>
            <a:off x="8257032" y="3017520"/>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3</a:t>
            </a:r>
            <a:endParaRPr lang="en-US" sz="1400" dirty="0"/>
          </a:p>
        </p:txBody>
      </p:sp>
      <p:sp>
        <p:nvSpPr>
          <p:cNvPr id="22" name="Text 19"/>
          <p:cNvSpPr/>
          <p:nvPr/>
        </p:nvSpPr>
        <p:spPr>
          <a:xfrm>
            <a:off x="8750808" y="2788920"/>
            <a:ext cx="2770632" cy="841248"/>
          </a:xfrm>
          <a:prstGeom prst="rect">
            <a:avLst/>
          </a:prstGeom>
          <a:noFill/>
          <a:ln/>
        </p:spPr>
        <p:txBody>
          <a:bodyPr wrap="square" rtlCol="0" anchor="ctr"/>
          <a:lstStyle/>
          <a:p>
            <a:pPr indent="0" marL="0">
              <a:buNone/>
            </a:pPr>
            <a:r>
              <a:rPr lang="en-US" sz="1250" b="1" dirty="0">
                <a:solidFill>
                  <a:srgbClr val="141414"/>
                </a:solidFill>
                <a:latin typeface="Aptos Display" pitchFamily="34" charset="0"/>
                <a:ea typeface="Aptos Display" pitchFamily="34" charset="-122"/>
                <a:cs typeface="Aptos Display" pitchFamily="34" charset="-120"/>
              </a:rPr>
              <a:t>Stay objective
</a:t>
            </a:r>
            <a:pPr indent="0" marL="0">
              <a:buNone/>
            </a:pPr>
            <a:r>
              <a:rPr lang="en-US" sz="1050" dirty="0">
                <a:solidFill>
                  <a:srgbClr val="6B7280"/>
                </a:solidFill>
                <a:latin typeface="Aptos" pitchFamily="34" charset="0"/>
                <a:ea typeface="Aptos" pitchFamily="34" charset="-122"/>
                <a:cs typeface="Aptos" pitchFamily="34" charset="-120"/>
              </a:rPr>
              <a:t>Facts and evidence — never opinions</a:t>
            </a:r>
            <a:endParaRPr lang="en-US" sz="1250" dirty="0"/>
          </a:p>
        </p:txBody>
      </p:sp>
      <p:sp>
        <p:nvSpPr>
          <p:cNvPr id="23" name="Shape 20"/>
          <p:cNvSpPr/>
          <p:nvPr/>
        </p:nvSpPr>
        <p:spPr>
          <a:xfrm>
            <a:off x="502920" y="3922776"/>
            <a:ext cx="3593592" cy="1024128"/>
          </a:xfrm>
          <a:prstGeom prst="roundRect">
            <a:avLst>
              <a:gd name="adj" fmla="val 8036"/>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24" name="Shape 21"/>
          <p:cNvSpPr/>
          <p:nvPr/>
        </p:nvSpPr>
        <p:spPr>
          <a:xfrm>
            <a:off x="667512" y="4242816"/>
            <a:ext cx="384048" cy="384048"/>
          </a:xfrm>
          <a:prstGeom prst="ellipse">
            <a:avLst/>
          </a:prstGeom>
          <a:solidFill>
            <a:srgbClr val="3D3D3D"/>
          </a:solidFill>
          <a:ln/>
        </p:spPr>
      </p:sp>
      <p:sp>
        <p:nvSpPr>
          <p:cNvPr id="25" name="Text 22"/>
          <p:cNvSpPr/>
          <p:nvPr/>
        </p:nvSpPr>
        <p:spPr>
          <a:xfrm>
            <a:off x="667512" y="4242816"/>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4</a:t>
            </a:r>
            <a:endParaRPr lang="en-US" sz="1400" dirty="0"/>
          </a:p>
        </p:txBody>
      </p:sp>
      <p:sp>
        <p:nvSpPr>
          <p:cNvPr id="26" name="Text 23"/>
          <p:cNvSpPr/>
          <p:nvPr/>
        </p:nvSpPr>
        <p:spPr>
          <a:xfrm>
            <a:off x="1161288" y="4014216"/>
            <a:ext cx="2770632" cy="841248"/>
          </a:xfrm>
          <a:prstGeom prst="rect">
            <a:avLst/>
          </a:prstGeom>
          <a:noFill/>
          <a:ln/>
        </p:spPr>
        <p:txBody>
          <a:bodyPr wrap="square" rtlCol="0" anchor="ctr"/>
          <a:lstStyle/>
          <a:p>
            <a:pPr indent="0" marL="0">
              <a:buNone/>
            </a:pPr>
            <a:r>
              <a:rPr lang="en-US" sz="1250" b="1" dirty="0">
                <a:solidFill>
                  <a:srgbClr val="141414"/>
                </a:solidFill>
                <a:latin typeface="Aptos Display" pitchFamily="34" charset="0"/>
                <a:ea typeface="Aptos Display" pitchFamily="34" charset="-122"/>
                <a:cs typeface="Aptos Display" pitchFamily="34" charset="-120"/>
              </a:rPr>
              <a:t>Show the data
</a:t>
            </a:r>
            <a:pPr indent="0" marL="0">
              <a:buNone/>
            </a:pPr>
            <a:r>
              <a:rPr lang="en-US" sz="1050" dirty="0">
                <a:solidFill>
                  <a:srgbClr val="6B7280"/>
                </a:solidFill>
                <a:latin typeface="Aptos" pitchFamily="34" charset="0"/>
                <a:ea typeface="Aptos" pitchFamily="34" charset="-122"/>
                <a:cs typeface="Aptos" pitchFamily="34" charset="-120"/>
              </a:rPr>
              <a:t>Tables for figures, realistic recommendations</a:t>
            </a:r>
            <a:endParaRPr lang="en-US" sz="1250" dirty="0"/>
          </a:p>
        </p:txBody>
      </p:sp>
      <p:sp>
        <p:nvSpPr>
          <p:cNvPr id="27" name="Shape 24"/>
          <p:cNvSpPr/>
          <p:nvPr/>
        </p:nvSpPr>
        <p:spPr>
          <a:xfrm>
            <a:off x="4297680" y="3922776"/>
            <a:ext cx="3593592" cy="1024128"/>
          </a:xfrm>
          <a:prstGeom prst="roundRect">
            <a:avLst>
              <a:gd name="adj" fmla="val 8036"/>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28" name="Shape 25"/>
          <p:cNvSpPr/>
          <p:nvPr/>
        </p:nvSpPr>
        <p:spPr>
          <a:xfrm>
            <a:off x="4462272" y="4242816"/>
            <a:ext cx="384048" cy="384048"/>
          </a:xfrm>
          <a:prstGeom prst="ellipse">
            <a:avLst/>
          </a:prstGeom>
          <a:solidFill>
            <a:srgbClr val="3D3D3D"/>
          </a:solidFill>
          <a:ln/>
        </p:spPr>
      </p:sp>
      <p:sp>
        <p:nvSpPr>
          <p:cNvPr id="29" name="Text 26"/>
          <p:cNvSpPr/>
          <p:nvPr/>
        </p:nvSpPr>
        <p:spPr>
          <a:xfrm>
            <a:off x="4462272" y="4242816"/>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5</a:t>
            </a:r>
            <a:endParaRPr lang="en-US" sz="1400" dirty="0"/>
          </a:p>
        </p:txBody>
      </p:sp>
      <p:sp>
        <p:nvSpPr>
          <p:cNvPr id="30" name="Text 27"/>
          <p:cNvSpPr/>
          <p:nvPr/>
        </p:nvSpPr>
        <p:spPr>
          <a:xfrm>
            <a:off x="4956048" y="4014216"/>
            <a:ext cx="2770632" cy="841248"/>
          </a:xfrm>
          <a:prstGeom prst="rect">
            <a:avLst/>
          </a:prstGeom>
          <a:noFill/>
          <a:ln/>
        </p:spPr>
        <p:txBody>
          <a:bodyPr wrap="square" rtlCol="0" anchor="ctr"/>
          <a:lstStyle/>
          <a:p>
            <a:pPr indent="0" marL="0">
              <a:buNone/>
            </a:pPr>
            <a:r>
              <a:rPr lang="en-US" sz="1250" b="1" dirty="0">
                <a:solidFill>
                  <a:srgbClr val="141414"/>
                </a:solidFill>
                <a:latin typeface="Aptos Display" pitchFamily="34" charset="0"/>
                <a:ea typeface="Aptos Display" pitchFamily="34" charset="-122"/>
                <a:cs typeface="Aptos Display" pitchFamily="34" charset="-120"/>
              </a:rPr>
              <a:t>Prove it
</a:t>
            </a:r>
            <a:pPr indent="0" marL="0">
              <a:buNone/>
            </a:pPr>
            <a:r>
              <a:rPr lang="en-US" sz="1050" dirty="0">
                <a:solidFill>
                  <a:srgbClr val="6B7280"/>
                </a:solidFill>
                <a:latin typeface="Aptos" pitchFamily="34" charset="0"/>
                <a:ea typeface="Aptos" pitchFamily="34" charset="-122"/>
                <a:cs typeface="Aptos" pitchFamily="34" charset="-120"/>
              </a:rPr>
              <a:t>Support every finding with evidence</a:t>
            </a:r>
            <a:endParaRPr lang="en-US" sz="1250" dirty="0"/>
          </a:p>
        </p:txBody>
      </p:sp>
      <p:sp>
        <p:nvSpPr>
          <p:cNvPr id="31" name="Shape 28"/>
          <p:cNvSpPr/>
          <p:nvPr/>
        </p:nvSpPr>
        <p:spPr>
          <a:xfrm>
            <a:off x="8092440" y="3922776"/>
            <a:ext cx="3593592" cy="1024128"/>
          </a:xfrm>
          <a:prstGeom prst="roundRect">
            <a:avLst>
              <a:gd name="adj" fmla="val 8036"/>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32" name="Shape 29"/>
          <p:cNvSpPr/>
          <p:nvPr/>
        </p:nvSpPr>
        <p:spPr>
          <a:xfrm>
            <a:off x="8257032" y="4242816"/>
            <a:ext cx="384048" cy="384048"/>
          </a:xfrm>
          <a:prstGeom prst="ellipse">
            <a:avLst/>
          </a:prstGeom>
          <a:solidFill>
            <a:srgbClr val="3D3D3D"/>
          </a:solidFill>
          <a:ln/>
        </p:spPr>
      </p:sp>
      <p:sp>
        <p:nvSpPr>
          <p:cNvPr id="33" name="Text 30"/>
          <p:cNvSpPr/>
          <p:nvPr/>
        </p:nvSpPr>
        <p:spPr>
          <a:xfrm>
            <a:off x="8257032" y="4242816"/>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6</a:t>
            </a:r>
            <a:endParaRPr lang="en-US" sz="1400" dirty="0"/>
          </a:p>
        </p:txBody>
      </p:sp>
      <p:sp>
        <p:nvSpPr>
          <p:cNvPr id="34" name="Text 31"/>
          <p:cNvSpPr/>
          <p:nvPr/>
        </p:nvSpPr>
        <p:spPr>
          <a:xfrm>
            <a:off x="8750808" y="4014216"/>
            <a:ext cx="2770632" cy="841248"/>
          </a:xfrm>
          <a:prstGeom prst="rect">
            <a:avLst/>
          </a:prstGeom>
          <a:noFill/>
          <a:ln/>
        </p:spPr>
        <p:txBody>
          <a:bodyPr wrap="square" rtlCol="0" anchor="ctr"/>
          <a:lstStyle/>
          <a:p>
            <a:pPr indent="0" marL="0">
              <a:buNone/>
            </a:pPr>
            <a:r>
              <a:rPr lang="en-US" sz="1250" b="1" dirty="0">
                <a:solidFill>
                  <a:srgbClr val="141414"/>
                </a:solidFill>
                <a:latin typeface="Aptos Display" pitchFamily="34" charset="0"/>
                <a:ea typeface="Aptos Display" pitchFamily="34" charset="-122"/>
                <a:cs typeface="Aptos Display" pitchFamily="34" charset="-120"/>
              </a:rPr>
              <a:t>Polish it
</a:t>
            </a:r>
            <a:pPr indent="0" marL="0">
              <a:buNone/>
            </a:pPr>
            <a:r>
              <a:rPr lang="en-US" sz="1050" dirty="0">
                <a:solidFill>
                  <a:srgbClr val="6B7280"/>
                </a:solidFill>
                <a:latin typeface="Aptos" pitchFamily="34" charset="0"/>
                <a:ea typeface="Aptos" pitchFamily="34" charset="-122"/>
                <a:cs typeface="Aptos" pitchFamily="34" charset="-120"/>
              </a:rPr>
              <a:t>Check spelling, grammar and numbering</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21</a:t>
            </a:r>
            <a:endParaRPr lang="en-US" sz="900" dirty="0"/>
          </a:p>
        </p:txBody>
      </p:sp>
      <p:sp>
        <p:nvSpPr>
          <p:cNvPr id="4" name="Shape 2"/>
          <p:cNvSpPr/>
          <p:nvPr/>
        </p:nvSpPr>
        <p:spPr>
          <a:xfrm>
            <a:off x="0" y="0"/>
            <a:ext cx="12188952" cy="82296"/>
          </a:xfrm>
          <a:prstGeom prst="rect">
            <a:avLst/>
          </a:prstGeom>
          <a:solidFill>
            <a:srgbClr val="3D3D3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3D3D3D"/>
                </a:solidFill>
                <a:latin typeface="Aptos" pitchFamily="34" charset="0"/>
                <a:ea typeface="Aptos" pitchFamily="34" charset="-122"/>
                <a:cs typeface="Aptos" pitchFamily="34" charset="-120"/>
              </a:rPr>
              <a:t>EMBEDDED KNOWLEDGE · CRITERION 8</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141414"/>
                </a:solidFill>
                <a:latin typeface="Aptos Display" pitchFamily="34" charset="0"/>
                <a:ea typeface="Aptos Display" pitchFamily="34" charset="-122"/>
                <a:cs typeface="Aptos Display" pitchFamily="34" charset="-120"/>
              </a:rPr>
              <a:t>Business report writing techniques — in practice</a:t>
            </a:r>
            <a:endParaRPr lang="en-US" sz="2600" dirty="0"/>
          </a:p>
        </p:txBody>
      </p:sp>
      <p:sp>
        <p:nvSpPr>
          <p:cNvPr id="7" name="Shape 5"/>
          <p:cNvSpPr/>
          <p:nvPr/>
        </p:nvSpPr>
        <p:spPr>
          <a:xfrm>
            <a:off x="502920" y="1371600"/>
            <a:ext cx="11183112" cy="2468880"/>
          </a:xfrm>
          <a:prstGeom prst="roundRect">
            <a:avLst>
              <a:gd name="adj" fmla="val 3333"/>
            </a:avLst>
          </a:prstGeom>
          <a:solidFill>
            <a:srgbClr val="F2F2F2"/>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8" name="Shape 6"/>
          <p:cNvSpPr/>
          <p:nvPr/>
        </p:nvSpPr>
        <p:spPr>
          <a:xfrm>
            <a:off x="502920" y="1371600"/>
            <a:ext cx="82296" cy="2468880"/>
          </a:xfrm>
          <a:prstGeom prst="rect">
            <a:avLst/>
          </a:prstGeom>
          <a:solidFill>
            <a:srgbClr val="3D3D3D"/>
          </a:solidFill>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082528" y="1554480"/>
            <a:ext cx="347472" cy="347472"/>
          </a:xfrm>
          <a:prstGeom prst="rect">
            <a:avLst/>
          </a:prstGeom>
        </p:spPr>
      </p:pic>
      <p:sp>
        <p:nvSpPr>
          <p:cNvPr id="10" name="Text 7"/>
          <p:cNvSpPr/>
          <p:nvPr/>
        </p:nvSpPr>
        <p:spPr>
          <a:xfrm>
            <a:off x="795528" y="1517904"/>
            <a:ext cx="10177272" cy="2176272"/>
          </a:xfrm>
          <a:prstGeom prst="rect">
            <a:avLst/>
          </a:prstGeom>
          <a:noFill/>
          <a:ln/>
        </p:spPr>
        <p:txBody>
          <a:bodyPr wrap="square" rtlCol="0" anchor="t"/>
          <a:lstStyle/>
          <a:p>
            <a:pPr indent="0" marL="0">
              <a:lnSpc>
                <a:spcPct val="115000"/>
              </a:lnSpc>
              <a:buNone/>
            </a:pPr>
            <a:r>
              <a:rPr lang="en-US" sz="1050" b="1" spc="150" kern="0" dirty="0">
                <a:solidFill>
                  <a:srgbClr val="3D3D3D"/>
                </a:solidFill>
                <a:latin typeface="Aptos" pitchFamily="34" charset="0"/>
                <a:ea typeface="Aptos" pitchFamily="34" charset="-122"/>
                <a:cs typeface="Aptos" pitchFamily="34" charset="-120"/>
              </a:rPr>
              <a:t>WORKPLACE EXAMPLE — INVESTEC
</a:t>
            </a:r>
            <a:pPr indent="0" marL="0">
              <a:lnSpc>
                <a:spcPct val="115000"/>
              </a:lnSpc>
              <a:buNone/>
            </a:pPr>
            <a:r>
              <a:rPr lang="en-US" sz="1500" b="1" dirty="0">
                <a:solidFill>
                  <a:srgbClr val="141414"/>
                </a:solidFill>
                <a:latin typeface="Aptos Display" pitchFamily="34" charset="0"/>
                <a:ea typeface="Aptos Display" pitchFamily="34" charset="-122"/>
                <a:cs typeface="Aptos Display" pitchFamily="34" charset="-120"/>
              </a:rPr>
              <a:t>Objective beats dramatic
</a:t>
            </a:r>
            <a:pPr indent="0" marL="0">
              <a:lnSpc>
                <a:spcPct val="115000"/>
              </a:lnSpc>
              <a:buNone/>
            </a:pPr>
            <a:r>
              <a:rPr lang="en-US" sz="1250" dirty="0">
                <a:solidFill>
                  <a:srgbClr val="141414"/>
                </a:solidFill>
                <a:latin typeface="Aptos" pitchFamily="34" charset="0"/>
                <a:ea typeface="Aptos" pitchFamily="34" charset="-122"/>
                <a:cs typeface="Aptos" pitchFamily="34" charset="-120"/>
              </a:rPr>
              <a:t>Weak: 'The network was really bad.'  Strong: 'Network latency increased to 780 ms between 09:12 and 09:48, preventing users from accessing shared resources.' The second version is evidence a manager can act on — and an auditor can verify.</a:t>
            </a:r>
            <a:endParaRPr lang="en-US" sz="1050" dirty="0"/>
          </a:p>
        </p:txBody>
      </p:sp>
      <p:sp>
        <p:nvSpPr>
          <p:cNvPr id="11" name="Shape 8"/>
          <p:cNvSpPr/>
          <p:nvPr/>
        </p:nvSpPr>
        <p:spPr>
          <a:xfrm>
            <a:off x="502920" y="4023360"/>
            <a:ext cx="5362956" cy="1371600"/>
          </a:xfrm>
          <a:prstGeom prst="roundRect">
            <a:avLst>
              <a:gd name="adj" fmla="val 6000"/>
            </a:avLst>
          </a:prstGeom>
          <a:solidFill>
            <a:srgbClr val="F2F2F2"/>
          </a:solidFill>
          <a:ln w="12700">
            <a:solidFill>
              <a:srgbClr val="DBDBDB"/>
            </a:solidFill>
            <a:prstDash val="solid"/>
          </a:ln>
          <a:effectLst>
            <a:outerShdw sx="100000" sy="100000" kx="0" ky="0" algn="bl" rotWithShape="0" blurRad="88900" dist="25400" dir="5400000">
              <a:srgbClr val="BDBDBD">
                <a:alpha val="30000"/>
              </a:srgbClr>
            </a:outerShdw>
          </a:effectLst>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520" y="4169664"/>
            <a:ext cx="274320" cy="274320"/>
          </a:xfrm>
          <a:prstGeom prst="rect">
            <a:avLst/>
          </a:prstGeom>
        </p:spPr>
      </p:pic>
      <p:sp>
        <p:nvSpPr>
          <p:cNvPr id="13" name="Text 9"/>
          <p:cNvSpPr/>
          <p:nvPr/>
        </p:nvSpPr>
        <p:spPr>
          <a:xfrm>
            <a:off x="1088136" y="4151376"/>
            <a:ext cx="4539996" cy="310896"/>
          </a:xfrm>
          <a:prstGeom prst="rect">
            <a:avLst/>
          </a:prstGeom>
          <a:noFill/>
          <a:ln/>
        </p:spPr>
        <p:txBody>
          <a:bodyPr wrap="square" rtlCol="0" anchor="ctr"/>
          <a:lstStyle/>
          <a:p>
            <a:pPr indent="0" marL="0">
              <a:buNone/>
            </a:pPr>
            <a:r>
              <a:rPr lang="en-US" sz="1100" b="1" spc="150" kern="0" dirty="0">
                <a:solidFill>
                  <a:srgbClr val="3D3D3D"/>
                </a:solidFill>
                <a:latin typeface="Aptos" pitchFamily="34" charset="0"/>
                <a:ea typeface="Aptos" pitchFamily="34" charset="-122"/>
                <a:cs typeface="Aptos" pitchFamily="34" charset="-120"/>
              </a:rPr>
              <a:t>BEST PRACTICE</a:t>
            </a:r>
            <a:endParaRPr lang="en-US" sz="1100" dirty="0"/>
          </a:p>
        </p:txBody>
      </p:sp>
      <p:sp>
        <p:nvSpPr>
          <p:cNvPr id="14" name="Text 10"/>
          <p:cNvSpPr/>
          <p:nvPr/>
        </p:nvSpPr>
        <p:spPr>
          <a:xfrm>
            <a:off x="731520" y="4498848"/>
            <a:ext cx="4905756" cy="786384"/>
          </a:xfrm>
          <a:prstGeom prst="rect">
            <a:avLst/>
          </a:prstGeom>
          <a:noFill/>
          <a:ln/>
        </p:spPr>
        <p:txBody>
          <a:bodyPr wrap="square" rtlCol="0" anchor="t"/>
          <a:lstStyle/>
          <a:p>
            <a:pPr indent="0" marL="0">
              <a:buNone/>
            </a:pPr>
            <a:r>
              <a:rPr lang="en-US" sz="1250" dirty="0">
                <a:solidFill>
                  <a:srgbClr val="141414"/>
                </a:solidFill>
                <a:latin typeface="Aptos" pitchFamily="34" charset="0"/>
                <a:ea typeface="Aptos" pitchFamily="34" charset="-122"/>
                <a:cs typeface="Aptos" pitchFamily="34" charset="-120"/>
              </a:rPr>
              <a:t>Write facts with numbers, times and sources; let the evidence carry the argument.</a:t>
            </a:r>
            <a:endParaRPr lang="en-US" sz="1250" dirty="0"/>
          </a:p>
        </p:txBody>
      </p:sp>
      <p:sp>
        <p:nvSpPr>
          <p:cNvPr id="15" name="Shape 11"/>
          <p:cNvSpPr/>
          <p:nvPr/>
        </p:nvSpPr>
        <p:spPr>
          <a:xfrm>
            <a:off x="6323076" y="4023360"/>
            <a:ext cx="5362956" cy="1371600"/>
          </a:xfrm>
          <a:prstGeom prst="roundRect">
            <a:avLst>
              <a:gd name="adj" fmla="val 6000"/>
            </a:avLst>
          </a:prstGeom>
          <a:solidFill>
            <a:srgbClr val="F4F5F7"/>
          </a:solidFill>
          <a:ln w="12700">
            <a:solidFill>
              <a:srgbClr val="DADDE2"/>
            </a:solidFill>
            <a:prstDash val="solid"/>
          </a:ln>
          <a:effectLst>
            <a:outerShdw sx="100000" sy="100000" kx="0" ky="0" algn="bl" rotWithShape="0" blurRad="88900" dist="25400" dir="5400000">
              <a:srgbClr val="BDBDBD">
                <a:alpha val="30000"/>
              </a:srgbClr>
            </a:outerShdw>
          </a:effectLst>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51676" y="4169664"/>
            <a:ext cx="274320" cy="274320"/>
          </a:xfrm>
          <a:prstGeom prst="rect">
            <a:avLst/>
          </a:prstGeom>
        </p:spPr>
      </p:pic>
      <p:sp>
        <p:nvSpPr>
          <p:cNvPr id="17" name="Text 12"/>
          <p:cNvSpPr/>
          <p:nvPr/>
        </p:nvSpPr>
        <p:spPr>
          <a:xfrm>
            <a:off x="6908292" y="4151376"/>
            <a:ext cx="4539996" cy="310896"/>
          </a:xfrm>
          <a:prstGeom prst="rect">
            <a:avLst/>
          </a:prstGeom>
          <a:noFill/>
          <a:ln/>
        </p:spPr>
        <p:txBody>
          <a:bodyPr wrap="square" rtlCol="0" anchor="ctr"/>
          <a:lstStyle/>
          <a:p>
            <a:pPr indent="0" marL="0">
              <a:buNone/>
            </a:pPr>
            <a:r>
              <a:rPr lang="en-US" sz="1100" b="1" spc="150" kern="0" dirty="0">
                <a:solidFill>
                  <a:srgbClr val="6B7280"/>
                </a:solidFill>
                <a:latin typeface="Aptos" pitchFamily="34" charset="0"/>
                <a:ea typeface="Aptos" pitchFamily="34" charset="-122"/>
                <a:cs typeface="Aptos" pitchFamily="34" charset="-120"/>
              </a:rPr>
              <a:t>COMMON MISTAKE</a:t>
            </a:r>
            <a:endParaRPr lang="en-US" sz="1100" dirty="0"/>
          </a:p>
        </p:txBody>
      </p:sp>
      <p:sp>
        <p:nvSpPr>
          <p:cNvPr id="18" name="Text 13"/>
          <p:cNvSpPr/>
          <p:nvPr/>
        </p:nvSpPr>
        <p:spPr>
          <a:xfrm>
            <a:off x="6551676" y="4498848"/>
            <a:ext cx="4905756" cy="786384"/>
          </a:xfrm>
          <a:prstGeom prst="rect">
            <a:avLst/>
          </a:prstGeom>
          <a:noFill/>
          <a:ln/>
        </p:spPr>
        <p:txBody>
          <a:bodyPr wrap="square" rtlCol="0" anchor="t"/>
          <a:lstStyle/>
          <a:p>
            <a:pPr indent="0" marL="0">
              <a:buNone/>
            </a:pPr>
            <a:r>
              <a:rPr lang="en-US" sz="1250" dirty="0">
                <a:solidFill>
                  <a:srgbClr val="141414"/>
                </a:solidFill>
                <a:latin typeface="Aptos" pitchFamily="34" charset="0"/>
                <a:ea typeface="Aptos" pitchFamily="34" charset="-122"/>
                <a:cs typeface="Aptos" pitchFamily="34" charset="-120"/>
              </a:rPr>
              <a:t>Opinion words — 'terrible', 'really bad', 'fine' — that cannot be verified.</a:t>
            </a:r>
            <a:endParaRPr lang="en-US" sz="1250" dirty="0"/>
          </a:p>
        </p:txBody>
      </p:sp>
      <p:sp>
        <p:nvSpPr>
          <p:cNvPr id="19" name="Shape 14"/>
          <p:cNvSpPr/>
          <p:nvPr/>
        </p:nvSpPr>
        <p:spPr>
          <a:xfrm>
            <a:off x="502920" y="5779008"/>
            <a:ext cx="11183112" cy="603504"/>
          </a:xfrm>
          <a:prstGeom prst="roundRect">
            <a:avLst>
              <a:gd name="adj" fmla="val 10606"/>
            </a:avLst>
          </a:prstGeom>
          <a:solidFill>
            <a:srgbClr val="141414"/>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4088" y="5943600"/>
            <a:ext cx="274320" cy="274320"/>
          </a:xfrm>
          <a:prstGeom prst="rect">
            <a:avLst/>
          </a:prstGeom>
        </p:spPr>
      </p:pic>
      <p:sp>
        <p:nvSpPr>
          <p:cNvPr id="21" name="Text 15"/>
          <p:cNvSpPr/>
          <p:nvPr/>
        </p:nvSpPr>
        <p:spPr>
          <a:xfrm>
            <a:off x="1069848" y="5779008"/>
            <a:ext cx="10378440" cy="603504"/>
          </a:xfrm>
          <a:prstGeom prst="rect">
            <a:avLst/>
          </a:prstGeom>
          <a:noFill/>
          <a:ln/>
        </p:spPr>
        <p:txBody>
          <a:bodyPr wrap="square" rtlCol="0" anchor="ctr"/>
          <a:lstStyle/>
          <a:p>
            <a:pPr indent="0" marL="0">
              <a:buNone/>
            </a:pPr>
            <a:r>
              <a:rPr lang="en-US" sz="1050" b="1" spc="150" kern="0" dirty="0">
                <a:solidFill>
                  <a:srgbClr val="C9C9C9"/>
                </a:solidFill>
                <a:latin typeface="Aptos" pitchFamily="34" charset="0"/>
                <a:ea typeface="Aptos" pitchFamily="34" charset="-122"/>
                <a:cs typeface="Aptos" pitchFamily="34" charset="-120"/>
              </a:rPr>
              <a:t>KNOWLEDGE CHECK   </a:t>
            </a:r>
            <a:pPr indent="0" marL="0">
              <a:buNone/>
            </a:pPr>
            <a:r>
              <a:rPr lang="en-US" sz="1250" dirty="0">
                <a:solidFill>
                  <a:srgbClr val="FFFFFF"/>
                </a:solidFill>
                <a:latin typeface="Aptos" pitchFamily="34" charset="0"/>
                <a:ea typeface="Aptos" pitchFamily="34" charset="-122"/>
                <a:cs typeface="Aptos" pitchFamily="34" charset="-120"/>
              </a:rPr>
              <a:t>Turn 'the Wi-Fi was awful in the boardroom' into one objective, evidence-based sentence.</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22</a:t>
            </a:r>
            <a:endParaRPr lang="en-US" sz="900" dirty="0"/>
          </a:p>
        </p:txBody>
      </p:sp>
      <p:sp>
        <p:nvSpPr>
          <p:cNvPr id="4" name="Shape 2"/>
          <p:cNvSpPr/>
          <p:nvPr/>
        </p:nvSpPr>
        <p:spPr>
          <a:xfrm>
            <a:off x="0" y="0"/>
            <a:ext cx="12188952" cy="82296"/>
          </a:xfrm>
          <a:prstGeom prst="rect">
            <a:avLst/>
          </a:prstGeom>
          <a:solidFill>
            <a:srgbClr val="3D3D3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3D3D3D"/>
                </a:solidFill>
                <a:latin typeface="Aptos" pitchFamily="34" charset="0"/>
                <a:ea typeface="Aptos" pitchFamily="34" charset="-122"/>
                <a:cs typeface="Aptos" pitchFamily="34" charset="-120"/>
              </a:rPr>
              <a:t>EMBEDDED KNOWLEDGE · CRITERION 9</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141414"/>
                </a:solidFill>
                <a:latin typeface="Aptos Display" pitchFamily="34" charset="0"/>
                <a:ea typeface="Aptos Display" pitchFamily="34" charset="-122"/>
                <a:cs typeface="Aptos Display" pitchFamily="34" charset="-120"/>
              </a:rPr>
              <a:t>Recipients of various reports</a:t>
            </a:r>
            <a:endParaRPr lang="en-US" sz="2600" dirty="0"/>
          </a:p>
        </p:txBody>
      </p:sp>
      <p:sp>
        <p:nvSpPr>
          <p:cNvPr id="7" name="Shape 5"/>
          <p:cNvSpPr/>
          <p:nvPr/>
        </p:nvSpPr>
        <p:spPr>
          <a:xfrm>
            <a:off x="502920" y="1298448"/>
            <a:ext cx="11183112" cy="566928"/>
          </a:xfrm>
          <a:prstGeom prst="roundRect">
            <a:avLst>
              <a:gd name="adj" fmla="val 11290"/>
            </a:avLst>
          </a:prstGeom>
          <a:solidFill>
            <a:srgbClr val="F2F2F2"/>
          </a:solidFill>
          <a:ln w="9525">
            <a:solidFill>
              <a:srgbClr val="DBDBDB"/>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1444752"/>
            <a:ext cx="274320" cy="274320"/>
          </a:xfrm>
          <a:prstGeom prst="rect">
            <a:avLst/>
          </a:prstGeom>
        </p:spPr>
      </p:pic>
      <p:sp>
        <p:nvSpPr>
          <p:cNvPr id="9" name="Text 6"/>
          <p:cNvSpPr/>
          <p:nvPr/>
        </p:nvSpPr>
        <p:spPr>
          <a:xfrm>
            <a:off x="1069848" y="1298448"/>
            <a:ext cx="10378440" cy="566928"/>
          </a:xfrm>
          <a:prstGeom prst="rect">
            <a:avLst/>
          </a:prstGeom>
          <a:noFill/>
          <a:ln/>
        </p:spPr>
        <p:txBody>
          <a:bodyPr wrap="square" rtlCol="0" anchor="ctr"/>
          <a:lstStyle/>
          <a:p>
            <a:pPr indent="0" marL="0">
              <a:buNone/>
            </a:pPr>
            <a:r>
              <a:rPr lang="en-US" sz="1050" b="1" spc="150" kern="0" dirty="0">
                <a:solidFill>
                  <a:srgbClr val="3D3D3D"/>
                </a:solidFill>
                <a:latin typeface="Aptos" pitchFamily="34" charset="0"/>
                <a:ea typeface="Aptos" pitchFamily="34" charset="-122"/>
                <a:cs typeface="Aptos" pitchFamily="34" charset="-120"/>
              </a:rPr>
              <a:t>LEARNING OBJECTIVE   </a:t>
            </a:r>
            <a:pPr indent="0" marL="0">
              <a:buNone/>
            </a:pPr>
            <a:r>
              <a:rPr lang="en-US" sz="1300" dirty="0">
                <a:solidFill>
                  <a:srgbClr val="141414"/>
                </a:solidFill>
                <a:latin typeface="Aptos" pitchFamily="34" charset="0"/>
                <a:ea typeface="Aptos" pitchFamily="34" charset="-122"/>
                <a:cs typeface="Aptos" pitchFamily="34" charset="-120"/>
              </a:rPr>
              <a:t>Match each report to its correct audience and write with that reader in mind.</a:t>
            </a:r>
            <a:endParaRPr lang="en-US" sz="1050" dirty="0"/>
          </a:p>
        </p:txBody>
      </p:sp>
      <p:sp>
        <p:nvSpPr>
          <p:cNvPr id="10" name="Text 7"/>
          <p:cNvSpPr/>
          <p:nvPr/>
        </p:nvSpPr>
        <p:spPr>
          <a:xfrm>
            <a:off x="502920" y="1993392"/>
            <a:ext cx="11183112" cy="566928"/>
          </a:xfrm>
          <a:prstGeom prst="rect">
            <a:avLst/>
          </a:prstGeom>
          <a:noFill/>
          <a:ln/>
        </p:spPr>
        <p:txBody>
          <a:bodyPr wrap="square" rtlCol="0" anchor="t"/>
          <a:lstStyle/>
          <a:p>
            <a:pPr indent="0" marL="0">
              <a:lnSpc>
                <a:spcPct val="115000"/>
              </a:lnSpc>
              <a:buNone/>
            </a:pPr>
            <a:r>
              <a:rPr lang="en-US" sz="1350" dirty="0">
                <a:solidFill>
                  <a:srgbClr val="6B7280"/>
                </a:solidFill>
                <a:latin typeface="Aptos" pitchFamily="34" charset="0"/>
                <a:ea typeface="Aptos" pitchFamily="34" charset="-122"/>
                <a:cs typeface="Aptos" pitchFamily="34" charset="-120"/>
              </a:rPr>
              <a:t>Technical language that suits an IT engineer may be wrong for a senior executive. Audience decides tone, depth and detail.</a:t>
            </a:r>
            <a:endParaRPr lang="en-US" sz="13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2697480"/>
          <a:ext cx="11183112" cy="914400"/>
        </p:xfrm>
        <a:graphic>
          <a:graphicData uri="http://schemas.openxmlformats.org/drawingml/2006/table">
            <a:tbl>
              <a:tblPr/>
              <a:tblGrid>
                <a:gridCol w="2795778"/>
                <a:gridCol w="2795778"/>
                <a:gridCol w="2795778"/>
                <a:gridCol w="2795778"/>
              </a:tblGrid>
              <a:tr h="384048">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Report</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3D3D3D"/>
                    </a:solidFill>
                  </a:tcPr>
                </a:tc>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Reader</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3D3D3D"/>
                    </a:solidFill>
                  </a:tcPr>
                </a:tc>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Report</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3D3D3D"/>
                    </a:solidFill>
                  </a:tcPr>
                </a:tc>
                <a:tc>
                  <a:txBody>
                    <a:bodyPr/>
                    <a:lstStyle/>
                    <a:p>
                      <a:pPr indent="0" marL="0">
                        <a:buNone/>
                      </a:pPr>
                      <a:r>
                        <a:rPr lang="en-US" sz="1250" b="1" dirty="0">
                          <a:solidFill>
                            <a:srgbClr val="FFFFFF"/>
                          </a:solidFill>
                          <a:latin typeface="Aptos Display" pitchFamily="34" charset="0"/>
                          <a:ea typeface="Aptos Display" pitchFamily="34" charset="-122"/>
                          <a:cs typeface="Aptos Display" pitchFamily="34" charset="-120"/>
                        </a:rPr>
                        <a:t>Reader</a:t>
                      </a:r>
                      <a:endParaRPr lang="en-US" sz="1250" dirty="0">
                        <a:latin typeface="Aptos Display" charset="0"/>
                        <a:ea typeface="Aptos Display" charset="0"/>
                        <a:cs typeface="Aptos Display"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3D3D3D"/>
                    </a:solidFill>
                  </a:tcPr>
                </a:tc>
              </a:tr>
              <a:tr h="384048">
                <a:tc>
                  <a:txBody>
                    <a:bodyPr/>
                    <a:lstStyle/>
                    <a:p>
                      <a:pPr indent="0" marL="0">
                        <a:buNone/>
                      </a:pPr>
                      <a:r>
                        <a:rPr lang="en-US" sz="1250" dirty="0">
                          <a:solidFill>
                            <a:srgbClr val="141414"/>
                          </a:solidFill>
                          <a:latin typeface="Aptos" pitchFamily="34" charset="0"/>
                          <a:ea typeface="Aptos" pitchFamily="34" charset="-122"/>
                          <a:cs typeface="Aptos" pitchFamily="34" charset="-120"/>
                        </a:rPr>
                        <a:t>Incident report</a:t>
                      </a:r>
                      <a:endParaRPr lang="en-US" sz="125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Aptos" pitchFamily="34" charset="0"/>
                          <a:ea typeface="Aptos" pitchFamily="34" charset="-122"/>
                          <a:cs typeface="Aptos" pitchFamily="34" charset="-120"/>
                        </a:rPr>
                        <a:t>IT Manager</a:t>
                      </a:r>
                      <a:endParaRPr lang="en-US" sz="125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Aptos" pitchFamily="34" charset="0"/>
                          <a:ea typeface="Aptos" pitchFamily="34" charset="-122"/>
                          <a:cs typeface="Aptos" pitchFamily="34" charset="-120"/>
                        </a:rPr>
                        <a:t>Project report</a:t>
                      </a:r>
                      <a:endParaRPr lang="en-US" sz="125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Aptos" pitchFamily="34" charset="0"/>
                          <a:ea typeface="Aptos" pitchFamily="34" charset="-122"/>
                          <a:cs typeface="Aptos" pitchFamily="34" charset="-120"/>
                        </a:rPr>
                        <a:t>Project sponsor</a:t>
                      </a:r>
                      <a:endParaRPr lang="en-US" sz="125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41414"/>
                          </a:solidFill>
                          <a:latin typeface="Aptos" pitchFamily="34" charset="0"/>
                          <a:ea typeface="Aptos" pitchFamily="34" charset="-122"/>
                          <a:cs typeface="Aptos" pitchFamily="34" charset="-120"/>
                        </a:rPr>
                        <a:t>Financial report</a:t>
                      </a:r>
                      <a:endParaRPr lang="en-US" sz="125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2F2F2"/>
                    </a:solidFill>
                  </a:tcPr>
                </a:tc>
                <a:tc>
                  <a:txBody>
                    <a:bodyPr/>
                    <a:lstStyle/>
                    <a:p>
                      <a:pPr indent="0" marL="0">
                        <a:buNone/>
                      </a:pPr>
                      <a:r>
                        <a:rPr lang="en-US" sz="1250" dirty="0">
                          <a:solidFill>
                            <a:srgbClr val="141414"/>
                          </a:solidFill>
                          <a:latin typeface="Aptos" pitchFamily="34" charset="0"/>
                          <a:ea typeface="Aptos" pitchFamily="34" charset="-122"/>
                          <a:cs typeface="Aptos" pitchFamily="34" charset="-120"/>
                        </a:rPr>
                        <a:t>Finance Manager</a:t>
                      </a:r>
                      <a:endParaRPr lang="en-US" sz="125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2F2F2"/>
                    </a:solidFill>
                  </a:tcPr>
                </a:tc>
                <a:tc>
                  <a:txBody>
                    <a:bodyPr/>
                    <a:lstStyle/>
                    <a:p>
                      <a:pPr indent="0" marL="0">
                        <a:buNone/>
                      </a:pPr>
                      <a:r>
                        <a:rPr lang="en-US" sz="1250" dirty="0">
                          <a:solidFill>
                            <a:srgbClr val="141414"/>
                          </a:solidFill>
                          <a:latin typeface="Aptos" pitchFamily="34" charset="0"/>
                          <a:ea typeface="Aptos" pitchFamily="34" charset="-122"/>
                          <a:cs typeface="Aptos" pitchFamily="34" charset="-120"/>
                        </a:rPr>
                        <a:t>Executive summary</a:t>
                      </a:r>
                      <a:endParaRPr lang="en-US" sz="125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2F2F2"/>
                    </a:solidFill>
                  </a:tcPr>
                </a:tc>
                <a:tc>
                  <a:txBody>
                    <a:bodyPr/>
                    <a:lstStyle/>
                    <a:p>
                      <a:pPr indent="0" marL="0">
                        <a:buNone/>
                      </a:pPr>
                      <a:r>
                        <a:rPr lang="en-US" sz="1250" dirty="0">
                          <a:solidFill>
                            <a:srgbClr val="141414"/>
                          </a:solidFill>
                          <a:latin typeface="Aptos" pitchFamily="34" charset="0"/>
                          <a:ea typeface="Aptos" pitchFamily="34" charset="-122"/>
                          <a:cs typeface="Aptos" pitchFamily="34" charset="-120"/>
                        </a:rPr>
                        <a:t>CEO</a:t>
                      </a:r>
                      <a:endParaRPr lang="en-US" sz="125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2F2F2"/>
                    </a:solidFill>
                  </a:tcPr>
                </a:tc>
              </a:tr>
              <a:tr h="384048">
                <a:tc>
                  <a:txBody>
                    <a:bodyPr/>
                    <a:lstStyle/>
                    <a:p>
                      <a:pPr indent="0" marL="0">
                        <a:buNone/>
                      </a:pPr>
                      <a:r>
                        <a:rPr lang="en-US" sz="1250" dirty="0">
                          <a:solidFill>
                            <a:srgbClr val="141414"/>
                          </a:solidFill>
                          <a:latin typeface="Aptos" pitchFamily="34" charset="0"/>
                          <a:ea typeface="Aptos" pitchFamily="34" charset="-122"/>
                          <a:cs typeface="Aptos" pitchFamily="34" charset="-120"/>
                        </a:rPr>
                        <a:t>Security report</a:t>
                      </a:r>
                      <a:endParaRPr lang="en-US" sz="125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Aptos" pitchFamily="34" charset="0"/>
                          <a:ea typeface="Aptos" pitchFamily="34" charset="-122"/>
                          <a:cs typeface="Aptos" pitchFamily="34" charset="-120"/>
                        </a:rPr>
                        <a:t>Security team</a:t>
                      </a:r>
                      <a:endParaRPr lang="en-US" sz="125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Aptos" pitchFamily="34" charset="0"/>
                          <a:ea typeface="Aptos" pitchFamily="34" charset="-122"/>
                          <a:cs typeface="Aptos" pitchFamily="34" charset="-120"/>
                        </a:rPr>
                        <a:t>Audit report</a:t>
                      </a:r>
                      <a:endParaRPr lang="en-US" sz="125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FFFFF"/>
                    </a:solidFill>
                  </a:tcPr>
                </a:tc>
                <a:tc>
                  <a:txBody>
                    <a:bodyPr/>
                    <a:lstStyle/>
                    <a:p>
                      <a:pPr indent="0" marL="0">
                        <a:buNone/>
                      </a:pPr>
                      <a:r>
                        <a:rPr lang="en-US" sz="1250" dirty="0">
                          <a:solidFill>
                            <a:srgbClr val="141414"/>
                          </a:solidFill>
                          <a:latin typeface="Aptos" pitchFamily="34" charset="0"/>
                          <a:ea typeface="Aptos" pitchFamily="34" charset="-122"/>
                          <a:cs typeface="Aptos" pitchFamily="34" charset="-120"/>
                        </a:rPr>
                        <a:t>Internal auditors</a:t>
                      </a:r>
                      <a:endParaRPr lang="en-US" sz="125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23</a:t>
            </a:r>
            <a:endParaRPr lang="en-US" sz="900" dirty="0"/>
          </a:p>
        </p:txBody>
      </p:sp>
      <p:sp>
        <p:nvSpPr>
          <p:cNvPr id="4" name="Shape 2"/>
          <p:cNvSpPr/>
          <p:nvPr/>
        </p:nvSpPr>
        <p:spPr>
          <a:xfrm>
            <a:off x="0" y="0"/>
            <a:ext cx="12188952" cy="82296"/>
          </a:xfrm>
          <a:prstGeom prst="rect">
            <a:avLst/>
          </a:prstGeom>
          <a:solidFill>
            <a:srgbClr val="3D3D3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3D3D3D"/>
                </a:solidFill>
                <a:latin typeface="Aptos" pitchFamily="34" charset="0"/>
                <a:ea typeface="Aptos" pitchFamily="34" charset="-122"/>
                <a:cs typeface="Aptos" pitchFamily="34" charset="-120"/>
              </a:rPr>
              <a:t>EMBEDDED KNOWLEDGE · CRITERION 9</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141414"/>
                </a:solidFill>
                <a:latin typeface="Aptos Display" pitchFamily="34" charset="0"/>
                <a:ea typeface="Aptos Display" pitchFamily="34" charset="-122"/>
                <a:cs typeface="Aptos Display" pitchFamily="34" charset="-120"/>
              </a:rPr>
              <a:t>Recipients of various reports — in practice</a:t>
            </a:r>
            <a:endParaRPr lang="en-US" sz="2600" dirty="0"/>
          </a:p>
        </p:txBody>
      </p:sp>
      <p:sp>
        <p:nvSpPr>
          <p:cNvPr id="7" name="Shape 5"/>
          <p:cNvSpPr/>
          <p:nvPr/>
        </p:nvSpPr>
        <p:spPr>
          <a:xfrm>
            <a:off x="502920" y="1371600"/>
            <a:ext cx="11183112" cy="2468880"/>
          </a:xfrm>
          <a:prstGeom prst="roundRect">
            <a:avLst>
              <a:gd name="adj" fmla="val 3333"/>
            </a:avLst>
          </a:prstGeom>
          <a:solidFill>
            <a:srgbClr val="F2F2F2"/>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8" name="Shape 6"/>
          <p:cNvSpPr/>
          <p:nvPr/>
        </p:nvSpPr>
        <p:spPr>
          <a:xfrm>
            <a:off x="502920" y="1371600"/>
            <a:ext cx="82296" cy="2468880"/>
          </a:xfrm>
          <a:prstGeom prst="rect">
            <a:avLst/>
          </a:prstGeom>
          <a:solidFill>
            <a:srgbClr val="3D3D3D"/>
          </a:solidFill>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082528" y="1554480"/>
            <a:ext cx="347472" cy="347472"/>
          </a:xfrm>
          <a:prstGeom prst="rect">
            <a:avLst/>
          </a:prstGeom>
        </p:spPr>
      </p:pic>
      <p:sp>
        <p:nvSpPr>
          <p:cNvPr id="10" name="Text 7"/>
          <p:cNvSpPr/>
          <p:nvPr/>
        </p:nvSpPr>
        <p:spPr>
          <a:xfrm>
            <a:off x="795528" y="1517904"/>
            <a:ext cx="10177272" cy="2176272"/>
          </a:xfrm>
          <a:prstGeom prst="rect">
            <a:avLst/>
          </a:prstGeom>
          <a:noFill/>
          <a:ln/>
        </p:spPr>
        <p:txBody>
          <a:bodyPr wrap="square" rtlCol="0" anchor="t"/>
          <a:lstStyle/>
          <a:p>
            <a:pPr indent="0" marL="0">
              <a:lnSpc>
                <a:spcPct val="115000"/>
              </a:lnSpc>
              <a:buNone/>
            </a:pPr>
            <a:r>
              <a:rPr lang="en-US" sz="1050" b="1" spc="150" kern="0" dirty="0">
                <a:solidFill>
                  <a:srgbClr val="3D3D3D"/>
                </a:solidFill>
                <a:latin typeface="Aptos" pitchFamily="34" charset="0"/>
                <a:ea typeface="Aptos" pitchFamily="34" charset="-122"/>
                <a:cs typeface="Aptos" pitchFamily="34" charset="-120"/>
              </a:rPr>
              <a:t>WORKPLACE EXAMPLE — INVESTEC
</a:t>
            </a:r>
            <a:pPr indent="0" marL="0">
              <a:lnSpc>
                <a:spcPct val="115000"/>
              </a:lnSpc>
              <a:buNone/>
            </a:pPr>
            <a:r>
              <a:rPr lang="en-US" sz="1500" b="1" dirty="0">
                <a:solidFill>
                  <a:srgbClr val="141414"/>
                </a:solidFill>
                <a:latin typeface="Aptos Display" pitchFamily="34" charset="0"/>
                <a:ea typeface="Aptos Display" pitchFamily="34" charset="-122"/>
                <a:cs typeface="Aptos Display" pitchFamily="34" charset="-120"/>
              </a:rPr>
              <a:t>One incident, two versions
</a:t>
            </a:r>
            <a:pPr indent="0" marL="0">
              <a:lnSpc>
                <a:spcPct val="115000"/>
              </a:lnSpc>
              <a:buNone/>
            </a:pPr>
            <a:r>
              <a:rPr lang="en-US" sz="1250" dirty="0">
                <a:solidFill>
                  <a:srgbClr val="141414"/>
                </a:solidFill>
                <a:latin typeface="Aptos" pitchFamily="34" charset="0"/>
                <a:ea typeface="Aptos" pitchFamily="34" charset="-122"/>
                <a:cs typeface="Aptos" pitchFamily="34" charset="-120"/>
              </a:rPr>
              <a:t>For the Corporate Banking Technology manager the report details certificate chains and Entra ID sign-in logs. The executive summary for business heads says: 'Email authentication failed for 90 minutes; client impact contained; fix and prevention in place.' Same facts, right depth for each reader.</a:t>
            </a:r>
            <a:endParaRPr lang="en-US" sz="1050" dirty="0"/>
          </a:p>
        </p:txBody>
      </p:sp>
      <p:sp>
        <p:nvSpPr>
          <p:cNvPr id="11" name="Shape 8"/>
          <p:cNvSpPr/>
          <p:nvPr/>
        </p:nvSpPr>
        <p:spPr>
          <a:xfrm>
            <a:off x="502920" y="4023360"/>
            <a:ext cx="5362956" cy="1371600"/>
          </a:xfrm>
          <a:prstGeom prst="roundRect">
            <a:avLst>
              <a:gd name="adj" fmla="val 6000"/>
            </a:avLst>
          </a:prstGeom>
          <a:solidFill>
            <a:srgbClr val="F2F2F2"/>
          </a:solidFill>
          <a:ln w="12700">
            <a:solidFill>
              <a:srgbClr val="DBDBDB"/>
            </a:solidFill>
            <a:prstDash val="solid"/>
          </a:ln>
          <a:effectLst>
            <a:outerShdw sx="100000" sy="100000" kx="0" ky="0" algn="bl" rotWithShape="0" blurRad="88900" dist="25400" dir="5400000">
              <a:srgbClr val="BDBDBD">
                <a:alpha val="30000"/>
              </a:srgbClr>
            </a:outerShdw>
          </a:effectLst>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520" y="4169664"/>
            <a:ext cx="274320" cy="274320"/>
          </a:xfrm>
          <a:prstGeom prst="rect">
            <a:avLst/>
          </a:prstGeom>
        </p:spPr>
      </p:pic>
      <p:sp>
        <p:nvSpPr>
          <p:cNvPr id="13" name="Text 9"/>
          <p:cNvSpPr/>
          <p:nvPr/>
        </p:nvSpPr>
        <p:spPr>
          <a:xfrm>
            <a:off x="1088136" y="4151376"/>
            <a:ext cx="4539996" cy="310896"/>
          </a:xfrm>
          <a:prstGeom prst="rect">
            <a:avLst/>
          </a:prstGeom>
          <a:noFill/>
          <a:ln/>
        </p:spPr>
        <p:txBody>
          <a:bodyPr wrap="square" rtlCol="0" anchor="ctr"/>
          <a:lstStyle/>
          <a:p>
            <a:pPr indent="0" marL="0">
              <a:buNone/>
            </a:pPr>
            <a:r>
              <a:rPr lang="en-US" sz="1100" b="1" spc="150" kern="0" dirty="0">
                <a:solidFill>
                  <a:srgbClr val="3D3D3D"/>
                </a:solidFill>
                <a:latin typeface="Aptos" pitchFamily="34" charset="0"/>
                <a:ea typeface="Aptos" pitchFamily="34" charset="-122"/>
                <a:cs typeface="Aptos" pitchFamily="34" charset="-120"/>
              </a:rPr>
              <a:t>BEST PRACTICE</a:t>
            </a:r>
            <a:endParaRPr lang="en-US" sz="1100" dirty="0"/>
          </a:p>
        </p:txBody>
      </p:sp>
      <p:sp>
        <p:nvSpPr>
          <p:cNvPr id="14" name="Text 10"/>
          <p:cNvSpPr/>
          <p:nvPr/>
        </p:nvSpPr>
        <p:spPr>
          <a:xfrm>
            <a:off x="731520" y="4498848"/>
            <a:ext cx="4905756" cy="786384"/>
          </a:xfrm>
          <a:prstGeom prst="rect">
            <a:avLst/>
          </a:prstGeom>
          <a:noFill/>
          <a:ln/>
        </p:spPr>
        <p:txBody>
          <a:bodyPr wrap="square" rtlCol="0" anchor="t"/>
          <a:lstStyle/>
          <a:p>
            <a:pPr indent="0" marL="0">
              <a:buNone/>
            </a:pPr>
            <a:r>
              <a:rPr lang="en-US" sz="1250" dirty="0">
                <a:solidFill>
                  <a:srgbClr val="141414"/>
                </a:solidFill>
                <a:latin typeface="Aptos" pitchFamily="34" charset="0"/>
                <a:ea typeface="Aptos" pitchFamily="34" charset="-122"/>
                <a:cs typeface="Aptos" pitchFamily="34" charset="-120"/>
              </a:rPr>
              <a:t>Ask 'what does this reader already know, and what do they need to decide?'</a:t>
            </a:r>
            <a:endParaRPr lang="en-US" sz="1250" dirty="0"/>
          </a:p>
        </p:txBody>
      </p:sp>
      <p:sp>
        <p:nvSpPr>
          <p:cNvPr id="15" name="Shape 11"/>
          <p:cNvSpPr/>
          <p:nvPr/>
        </p:nvSpPr>
        <p:spPr>
          <a:xfrm>
            <a:off x="6323076" y="4023360"/>
            <a:ext cx="5362956" cy="1371600"/>
          </a:xfrm>
          <a:prstGeom prst="roundRect">
            <a:avLst>
              <a:gd name="adj" fmla="val 6000"/>
            </a:avLst>
          </a:prstGeom>
          <a:solidFill>
            <a:srgbClr val="F4F5F7"/>
          </a:solidFill>
          <a:ln w="12700">
            <a:solidFill>
              <a:srgbClr val="DADDE2"/>
            </a:solidFill>
            <a:prstDash val="solid"/>
          </a:ln>
          <a:effectLst>
            <a:outerShdw sx="100000" sy="100000" kx="0" ky="0" algn="bl" rotWithShape="0" blurRad="88900" dist="25400" dir="5400000">
              <a:srgbClr val="BDBDBD">
                <a:alpha val="30000"/>
              </a:srgbClr>
            </a:outerShdw>
          </a:effectLst>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51676" y="4169664"/>
            <a:ext cx="274320" cy="274320"/>
          </a:xfrm>
          <a:prstGeom prst="rect">
            <a:avLst/>
          </a:prstGeom>
        </p:spPr>
      </p:pic>
      <p:sp>
        <p:nvSpPr>
          <p:cNvPr id="17" name="Text 12"/>
          <p:cNvSpPr/>
          <p:nvPr/>
        </p:nvSpPr>
        <p:spPr>
          <a:xfrm>
            <a:off x="6908292" y="4151376"/>
            <a:ext cx="4539996" cy="310896"/>
          </a:xfrm>
          <a:prstGeom prst="rect">
            <a:avLst/>
          </a:prstGeom>
          <a:noFill/>
          <a:ln/>
        </p:spPr>
        <p:txBody>
          <a:bodyPr wrap="square" rtlCol="0" anchor="ctr"/>
          <a:lstStyle/>
          <a:p>
            <a:pPr indent="0" marL="0">
              <a:buNone/>
            </a:pPr>
            <a:r>
              <a:rPr lang="en-US" sz="1100" b="1" spc="150" kern="0" dirty="0">
                <a:solidFill>
                  <a:srgbClr val="6B7280"/>
                </a:solidFill>
                <a:latin typeface="Aptos" pitchFamily="34" charset="0"/>
                <a:ea typeface="Aptos" pitchFamily="34" charset="-122"/>
                <a:cs typeface="Aptos" pitchFamily="34" charset="-120"/>
              </a:rPr>
              <a:t>COMMON MISTAKE</a:t>
            </a:r>
            <a:endParaRPr lang="en-US" sz="1100" dirty="0"/>
          </a:p>
        </p:txBody>
      </p:sp>
      <p:sp>
        <p:nvSpPr>
          <p:cNvPr id="18" name="Text 13"/>
          <p:cNvSpPr/>
          <p:nvPr/>
        </p:nvSpPr>
        <p:spPr>
          <a:xfrm>
            <a:off x="6551676" y="4498848"/>
            <a:ext cx="4905756" cy="786384"/>
          </a:xfrm>
          <a:prstGeom prst="rect">
            <a:avLst/>
          </a:prstGeom>
          <a:noFill/>
          <a:ln/>
        </p:spPr>
        <p:txBody>
          <a:bodyPr wrap="square" rtlCol="0" anchor="t"/>
          <a:lstStyle/>
          <a:p>
            <a:pPr indent="0" marL="0">
              <a:buNone/>
            </a:pPr>
            <a:r>
              <a:rPr lang="en-US" sz="1250" dirty="0">
                <a:solidFill>
                  <a:srgbClr val="141414"/>
                </a:solidFill>
                <a:latin typeface="Aptos" pitchFamily="34" charset="0"/>
                <a:ea typeface="Aptos" pitchFamily="34" charset="-122"/>
                <a:cs typeface="Aptos" pitchFamily="34" charset="-120"/>
              </a:rPr>
              <a:t>Sending an engineer-level technical report to a non-technical executive unchanged.</a:t>
            </a:r>
            <a:endParaRPr lang="en-US" sz="1250" dirty="0"/>
          </a:p>
        </p:txBody>
      </p:sp>
      <p:sp>
        <p:nvSpPr>
          <p:cNvPr id="19" name="Shape 14"/>
          <p:cNvSpPr/>
          <p:nvPr/>
        </p:nvSpPr>
        <p:spPr>
          <a:xfrm>
            <a:off x="502920" y="5779008"/>
            <a:ext cx="11183112" cy="603504"/>
          </a:xfrm>
          <a:prstGeom prst="roundRect">
            <a:avLst>
              <a:gd name="adj" fmla="val 10606"/>
            </a:avLst>
          </a:prstGeom>
          <a:solidFill>
            <a:srgbClr val="141414"/>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4088" y="5943600"/>
            <a:ext cx="274320" cy="274320"/>
          </a:xfrm>
          <a:prstGeom prst="rect">
            <a:avLst/>
          </a:prstGeom>
        </p:spPr>
      </p:pic>
      <p:sp>
        <p:nvSpPr>
          <p:cNvPr id="21" name="Text 15"/>
          <p:cNvSpPr/>
          <p:nvPr/>
        </p:nvSpPr>
        <p:spPr>
          <a:xfrm>
            <a:off x="1069848" y="5779008"/>
            <a:ext cx="10378440" cy="603504"/>
          </a:xfrm>
          <a:prstGeom prst="rect">
            <a:avLst/>
          </a:prstGeom>
          <a:noFill/>
          <a:ln/>
        </p:spPr>
        <p:txBody>
          <a:bodyPr wrap="square" rtlCol="0" anchor="ctr"/>
          <a:lstStyle/>
          <a:p>
            <a:pPr indent="0" marL="0">
              <a:buNone/>
            </a:pPr>
            <a:r>
              <a:rPr lang="en-US" sz="1050" b="1" spc="150" kern="0" dirty="0">
                <a:solidFill>
                  <a:srgbClr val="C9C9C9"/>
                </a:solidFill>
                <a:latin typeface="Aptos" pitchFamily="34" charset="0"/>
                <a:ea typeface="Aptos" pitchFamily="34" charset="-122"/>
                <a:cs typeface="Aptos" pitchFamily="34" charset="-120"/>
              </a:rPr>
              <a:t>KNOWLEDGE CHECK   </a:t>
            </a:r>
            <a:pPr indent="0" marL="0">
              <a:buNone/>
            </a:pPr>
            <a:r>
              <a:rPr lang="en-US" sz="1250" dirty="0">
                <a:solidFill>
                  <a:srgbClr val="FFFFFF"/>
                </a:solidFill>
                <a:latin typeface="Aptos" pitchFamily="34" charset="0"/>
                <a:ea typeface="Aptos" pitchFamily="34" charset="-122"/>
                <a:cs typeface="Aptos" pitchFamily="34" charset="-120"/>
              </a:rPr>
              <a:t>The CEO wants an update on last week's outage. Which document do you send — and what stays out of it?</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24</a:t>
            </a:r>
            <a:endParaRPr lang="en-US" sz="900" dirty="0"/>
          </a:p>
        </p:txBody>
      </p:sp>
      <p:sp>
        <p:nvSpPr>
          <p:cNvPr id="4" name="Shape 2"/>
          <p:cNvSpPr/>
          <p:nvPr/>
        </p:nvSpPr>
        <p:spPr>
          <a:xfrm>
            <a:off x="0" y="0"/>
            <a:ext cx="12188952" cy="82296"/>
          </a:xfrm>
          <a:prstGeom prst="rect">
            <a:avLst/>
          </a:prstGeom>
          <a:solidFill>
            <a:srgbClr val="3D3D3D"/>
          </a:solidFill>
          <a:ln/>
        </p:spPr>
      </p:sp>
      <p:sp>
        <p:nvSpPr>
          <p:cNvPr id="5" name="Shape 3"/>
          <p:cNvSpPr/>
          <p:nvPr/>
        </p:nvSpPr>
        <p:spPr>
          <a:xfrm>
            <a:off x="0" y="0"/>
            <a:ext cx="12188952" cy="82296"/>
          </a:xfrm>
          <a:prstGeom prst="rect">
            <a:avLst/>
          </a:prstGeom>
          <a:solidFill>
            <a:srgbClr val="3D3D3D"/>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2920" y="1554480"/>
            <a:ext cx="548640" cy="548640"/>
          </a:xfrm>
          <a:prstGeom prst="rect">
            <a:avLst/>
          </a:prstGeom>
        </p:spPr>
      </p:pic>
      <p:sp>
        <p:nvSpPr>
          <p:cNvPr id="7" name="Text 4"/>
          <p:cNvSpPr/>
          <p:nvPr/>
        </p:nvSpPr>
        <p:spPr>
          <a:xfrm>
            <a:off x="502920" y="2286000"/>
            <a:ext cx="11183112" cy="365760"/>
          </a:xfrm>
          <a:prstGeom prst="rect">
            <a:avLst/>
          </a:prstGeom>
          <a:noFill/>
          <a:ln/>
        </p:spPr>
        <p:txBody>
          <a:bodyPr wrap="square" rtlCol="0" anchor="ctr"/>
          <a:lstStyle/>
          <a:p>
            <a:pPr indent="0" marL="0">
              <a:buNone/>
            </a:pPr>
            <a:r>
              <a:rPr lang="en-US" sz="1400" b="1" spc="300" kern="0" dirty="0">
                <a:solidFill>
                  <a:srgbClr val="3D3D3D"/>
                </a:solidFill>
                <a:latin typeface="Aptos" pitchFamily="34" charset="0"/>
                <a:ea typeface="Aptos" pitchFamily="34" charset="-122"/>
                <a:cs typeface="Aptos" pitchFamily="34" charset="-120"/>
              </a:rPr>
              <a:t>SECTION 2</a:t>
            </a:r>
            <a:endParaRPr lang="en-US" sz="1400" dirty="0"/>
          </a:p>
        </p:txBody>
      </p:sp>
      <p:sp>
        <p:nvSpPr>
          <p:cNvPr id="8" name="Text 5"/>
          <p:cNvSpPr/>
          <p:nvPr/>
        </p:nvSpPr>
        <p:spPr>
          <a:xfrm>
            <a:off x="502920" y="2697480"/>
            <a:ext cx="11183112" cy="914400"/>
          </a:xfrm>
          <a:prstGeom prst="rect">
            <a:avLst/>
          </a:prstGeom>
          <a:noFill/>
          <a:ln/>
        </p:spPr>
        <p:txBody>
          <a:bodyPr wrap="square" rtlCol="0" anchor="ctr"/>
          <a:lstStyle/>
          <a:p>
            <a:pPr indent="0" marL="0">
              <a:buNone/>
            </a:pPr>
            <a:r>
              <a:rPr lang="en-US" sz="4000" b="1" dirty="0">
                <a:solidFill>
                  <a:srgbClr val="141414"/>
                </a:solidFill>
                <a:latin typeface="Aptos Display" pitchFamily="34" charset="0"/>
                <a:ea typeface="Aptos Display" pitchFamily="34" charset="-122"/>
                <a:cs typeface="Aptos Display" pitchFamily="34" charset="-120"/>
              </a:rPr>
              <a:t>Practical Activities</a:t>
            </a:r>
            <a:endParaRPr lang="en-US" sz="4000" dirty="0"/>
          </a:p>
        </p:txBody>
      </p:sp>
      <p:sp>
        <p:nvSpPr>
          <p:cNvPr id="9" name="Text 6"/>
          <p:cNvSpPr/>
          <p:nvPr/>
        </p:nvSpPr>
        <p:spPr>
          <a:xfrm>
            <a:off x="502920" y="3657600"/>
            <a:ext cx="8439912" cy="731520"/>
          </a:xfrm>
          <a:prstGeom prst="rect">
            <a:avLst/>
          </a:prstGeom>
          <a:noFill/>
          <a:ln/>
        </p:spPr>
        <p:txBody>
          <a:bodyPr wrap="square" rtlCol="0" anchor="ctr"/>
          <a:lstStyle/>
          <a:p>
            <a:pPr indent="0" marL="0">
              <a:buNone/>
            </a:pPr>
            <a:r>
              <a:rPr lang="en-US" sz="1500" dirty="0">
                <a:solidFill>
                  <a:srgbClr val="6B7280"/>
                </a:solidFill>
                <a:latin typeface="Aptos" pitchFamily="34" charset="0"/>
                <a:ea typeface="Aptos" pitchFamily="34" charset="-122"/>
                <a:cs typeface="Aptos" pitchFamily="34" charset="-120"/>
              </a:rPr>
              <a:t>Two criteria that assess whether the learner can apply the knowledge in realistic workplace situations.</a:t>
            </a:r>
            <a:endParaRPr lang="en-US" sz="1500" dirty="0"/>
          </a:p>
        </p:txBody>
      </p:sp>
      <p:sp>
        <p:nvSpPr>
          <p:cNvPr id="10" name="Shape 7"/>
          <p:cNvSpPr/>
          <p:nvPr/>
        </p:nvSpPr>
        <p:spPr>
          <a:xfrm>
            <a:off x="502920" y="4480560"/>
            <a:ext cx="1280160" cy="109728"/>
          </a:xfrm>
          <a:prstGeom prst="roundRect">
            <a:avLst>
              <a:gd name="adj" fmla="val 50000"/>
            </a:avLst>
          </a:prstGeom>
          <a:solidFill>
            <a:srgbClr val="3D3D3D"/>
          </a:solidFill>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25</a:t>
            </a:r>
            <a:endParaRPr lang="en-US" sz="900" dirty="0"/>
          </a:p>
        </p:txBody>
      </p:sp>
      <p:sp>
        <p:nvSpPr>
          <p:cNvPr id="4" name="Shape 2"/>
          <p:cNvSpPr/>
          <p:nvPr/>
        </p:nvSpPr>
        <p:spPr>
          <a:xfrm>
            <a:off x="0" y="0"/>
            <a:ext cx="12188952" cy="82296"/>
          </a:xfrm>
          <a:prstGeom prst="rect">
            <a:avLst/>
          </a:prstGeom>
          <a:solidFill>
            <a:srgbClr val="3D3D3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3D3D3D"/>
                </a:solidFill>
                <a:latin typeface="Aptos" pitchFamily="34" charset="0"/>
                <a:ea typeface="Aptos" pitchFamily="34" charset="-122"/>
                <a:cs typeface="Aptos" pitchFamily="34" charset="-120"/>
              </a:rPr>
              <a:t>PRACTICAL ACTIVITY · CRITERION 10</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141414"/>
                </a:solidFill>
                <a:latin typeface="Aptos Display" pitchFamily="34" charset="0"/>
                <a:ea typeface="Aptos Display" pitchFamily="34" charset="-122"/>
                <a:cs typeface="Aptos Display" pitchFamily="34" charset="-120"/>
              </a:rPr>
              <a:t>Obtaining and distributing confidential information</a:t>
            </a:r>
            <a:endParaRPr lang="en-US" sz="2600" dirty="0"/>
          </a:p>
        </p:txBody>
      </p:sp>
      <p:sp>
        <p:nvSpPr>
          <p:cNvPr id="7" name="Shape 5"/>
          <p:cNvSpPr/>
          <p:nvPr/>
        </p:nvSpPr>
        <p:spPr>
          <a:xfrm>
            <a:off x="502920" y="1298448"/>
            <a:ext cx="11183112" cy="566928"/>
          </a:xfrm>
          <a:prstGeom prst="roundRect">
            <a:avLst>
              <a:gd name="adj" fmla="val 11290"/>
            </a:avLst>
          </a:prstGeom>
          <a:solidFill>
            <a:srgbClr val="F2F2F2"/>
          </a:solidFill>
          <a:ln w="9525">
            <a:solidFill>
              <a:srgbClr val="DBDBDB"/>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1444752"/>
            <a:ext cx="274320" cy="274320"/>
          </a:xfrm>
          <a:prstGeom prst="rect">
            <a:avLst/>
          </a:prstGeom>
        </p:spPr>
      </p:pic>
      <p:sp>
        <p:nvSpPr>
          <p:cNvPr id="9" name="Text 6"/>
          <p:cNvSpPr/>
          <p:nvPr/>
        </p:nvSpPr>
        <p:spPr>
          <a:xfrm>
            <a:off x="1069848" y="1298448"/>
            <a:ext cx="10378440" cy="566928"/>
          </a:xfrm>
          <a:prstGeom prst="rect">
            <a:avLst/>
          </a:prstGeom>
          <a:noFill/>
          <a:ln/>
        </p:spPr>
        <p:txBody>
          <a:bodyPr wrap="square" rtlCol="0" anchor="ctr"/>
          <a:lstStyle/>
          <a:p>
            <a:pPr indent="0" marL="0">
              <a:buNone/>
            </a:pPr>
            <a:r>
              <a:rPr lang="en-US" sz="1050" b="1" spc="150" kern="0" dirty="0">
                <a:solidFill>
                  <a:srgbClr val="3D3D3D"/>
                </a:solidFill>
                <a:latin typeface="Aptos" pitchFamily="34" charset="0"/>
                <a:ea typeface="Aptos" pitchFamily="34" charset="-122"/>
                <a:cs typeface="Aptos" pitchFamily="34" charset="-120"/>
              </a:rPr>
              <a:t>LEARNING OBJECTIVE   </a:t>
            </a:r>
            <a:pPr indent="0" marL="0">
              <a:buNone/>
            </a:pPr>
            <a:r>
              <a:rPr lang="en-US" sz="1300" dirty="0">
                <a:solidFill>
                  <a:srgbClr val="141414"/>
                </a:solidFill>
                <a:latin typeface="Aptos" pitchFamily="34" charset="0"/>
                <a:ea typeface="Aptos" pitchFamily="34" charset="-122"/>
                <a:cs typeface="Aptos" pitchFamily="34" charset="-120"/>
              </a:rPr>
              <a:t>Demonstrate the correct sources, procedures and protections when handling confidential report information.</a:t>
            </a:r>
            <a:endParaRPr lang="en-US" sz="1050" dirty="0"/>
          </a:p>
        </p:txBody>
      </p:sp>
      <p:sp>
        <p:nvSpPr>
          <p:cNvPr id="10" name="Text 7"/>
          <p:cNvSpPr/>
          <p:nvPr/>
        </p:nvSpPr>
        <p:spPr>
          <a:xfrm>
            <a:off x="502920" y="1993392"/>
            <a:ext cx="11183112" cy="566928"/>
          </a:xfrm>
          <a:prstGeom prst="rect">
            <a:avLst/>
          </a:prstGeom>
          <a:noFill/>
          <a:ln/>
        </p:spPr>
        <p:txBody>
          <a:bodyPr wrap="square" rtlCol="0" anchor="t"/>
          <a:lstStyle/>
          <a:p>
            <a:pPr indent="0" marL="0">
              <a:lnSpc>
                <a:spcPct val="115000"/>
              </a:lnSpc>
              <a:buNone/>
            </a:pPr>
            <a:r>
              <a:rPr lang="en-US" sz="1350" dirty="0">
                <a:solidFill>
                  <a:srgbClr val="6B7280"/>
                </a:solidFill>
                <a:latin typeface="Aptos" pitchFamily="34" charset="0"/>
                <a:ea typeface="Aptos" pitchFamily="34" charset="-122"/>
                <a:cs typeface="Aptos" pitchFamily="34" charset="-120"/>
              </a:rPr>
              <a:t>The assessor watches the whole chain: the right sources, accurate collection, company procedure, protection, and authorised distribution only.</a:t>
            </a:r>
            <a:endParaRPr lang="en-US" sz="1350" dirty="0"/>
          </a:p>
        </p:txBody>
      </p:sp>
      <p:sp>
        <p:nvSpPr>
          <p:cNvPr id="11" name="Shape 8"/>
          <p:cNvSpPr/>
          <p:nvPr/>
        </p:nvSpPr>
        <p:spPr>
          <a:xfrm>
            <a:off x="502920" y="2788920"/>
            <a:ext cx="2441448" cy="1280160"/>
          </a:xfrm>
          <a:prstGeom prst="homePlate">
            <a:avLst/>
          </a:prstGeom>
          <a:solidFill>
            <a:srgbClr val="3D3D3D"/>
          </a:solidFill>
          <a:ln w="19050">
            <a:solidFill>
              <a:srgbClr val="FFFFFF"/>
            </a:solidFill>
            <a:prstDash val="solid"/>
          </a:ln>
        </p:spPr>
      </p:sp>
      <p:sp>
        <p:nvSpPr>
          <p:cNvPr id="12" name="Text 9"/>
          <p:cNvSpPr/>
          <p:nvPr/>
        </p:nvSpPr>
        <p:spPr>
          <a:xfrm>
            <a:off x="612648" y="2788920"/>
            <a:ext cx="2029968" cy="1280160"/>
          </a:xfrm>
          <a:prstGeom prst="rect">
            <a:avLst/>
          </a:prstGeom>
          <a:noFill/>
          <a:ln/>
        </p:spPr>
        <p:txBody>
          <a:bodyPr wrap="square"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Identify correct</a:t>
            </a:r>
            <a:endParaRPr lang="en-US" sz="1200" dirty="0"/>
          </a:p>
          <a:p>
            <a:pPr algn="ctr" indent="0" marL="0">
              <a:buNone/>
            </a:pPr>
            <a:r>
              <a:rPr lang="en-US" sz="1200" b="1" dirty="0">
                <a:solidFill>
                  <a:srgbClr val="FFFFFF"/>
                </a:solidFill>
                <a:latin typeface="Aptos" pitchFamily="34" charset="0"/>
                <a:ea typeface="Aptos" pitchFamily="34" charset="-122"/>
                <a:cs typeface="Aptos" pitchFamily="34" charset="-120"/>
              </a:rPr>
              <a:t>sources</a:t>
            </a:r>
            <a:endParaRPr lang="en-US" sz="1200" dirty="0"/>
          </a:p>
        </p:txBody>
      </p:sp>
      <p:sp>
        <p:nvSpPr>
          <p:cNvPr id="13" name="Shape 10"/>
          <p:cNvSpPr/>
          <p:nvPr/>
        </p:nvSpPr>
        <p:spPr>
          <a:xfrm>
            <a:off x="2688336" y="2788920"/>
            <a:ext cx="2441448" cy="1280160"/>
          </a:xfrm>
          <a:prstGeom prst="chevron">
            <a:avLst/>
          </a:prstGeom>
          <a:solidFill>
            <a:srgbClr val="141414"/>
          </a:solidFill>
          <a:ln w="19050">
            <a:solidFill>
              <a:srgbClr val="FFFFFF"/>
            </a:solidFill>
            <a:prstDash val="solid"/>
          </a:ln>
        </p:spPr>
      </p:sp>
      <p:sp>
        <p:nvSpPr>
          <p:cNvPr id="14" name="Text 11"/>
          <p:cNvSpPr/>
          <p:nvPr/>
        </p:nvSpPr>
        <p:spPr>
          <a:xfrm>
            <a:off x="2962656" y="2788920"/>
            <a:ext cx="2029968" cy="1280160"/>
          </a:xfrm>
          <a:prstGeom prst="rect">
            <a:avLst/>
          </a:prstGeom>
          <a:noFill/>
          <a:ln/>
        </p:spPr>
        <p:txBody>
          <a:bodyPr wrap="square"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Collect accurate</a:t>
            </a:r>
            <a:endParaRPr lang="en-US" sz="1200" dirty="0"/>
          </a:p>
          <a:p>
            <a:pPr algn="ctr" indent="0" marL="0">
              <a:buNone/>
            </a:pPr>
            <a:r>
              <a:rPr lang="en-US" sz="1200" b="1" dirty="0">
                <a:solidFill>
                  <a:srgbClr val="FFFFFF"/>
                </a:solidFill>
                <a:latin typeface="Aptos" pitchFamily="34" charset="0"/>
                <a:ea typeface="Aptos" pitchFamily="34" charset="-122"/>
                <a:cs typeface="Aptos" pitchFamily="34" charset="-120"/>
              </a:rPr>
              <a:t>information</a:t>
            </a:r>
            <a:endParaRPr lang="en-US" sz="1200" dirty="0"/>
          </a:p>
        </p:txBody>
      </p:sp>
      <p:sp>
        <p:nvSpPr>
          <p:cNvPr id="15" name="Shape 12"/>
          <p:cNvSpPr/>
          <p:nvPr/>
        </p:nvSpPr>
        <p:spPr>
          <a:xfrm>
            <a:off x="4873752" y="2788920"/>
            <a:ext cx="2441448" cy="1280160"/>
          </a:xfrm>
          <a:prstGeom prst="chevron">
            <a:avLst/>
          </a:prstGeom>
          <a:solidFill>
            <a:srgbClr val="3D3D3D"/>
          </a:solidFill>
          <a:ln w="19050">
            <a:solidFill>
              <a:srgbClr val="FFFFFF"/>
            </a:solidFill>
            <a:prstDash val="solid"/>
          </a:ln>
        </p:spPr>
      </p:sp>
      <p:sp>
        <p:nvSpPr>
          <p:cNvPr id="16" name="Text 13"/>
          <p:cNvSpPr/>
          <p:nvPr/>
        </p:nvSpPr>
        <p:spPr>
          <a:xfrm>
            <a:off x="5148072" y="2788920"/>
            <a:ext cx="2029968" cy="1280160"/>
          </a:xfrm>
          <a:prstGeom prst="rect">
            <a:avLst/>
          </a:prstGeom>
          <a:noFill/>
          <a:ln/>
        </p:spPr>
        <p:txBody>
          <a:bodyPr wrap="square"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Follow company</a:t>
            </a:r>
            <a:endParaRPr lang="en-US" sz="1200" dirty="0"/>
          </a:p>
          <a:p>
            <a:pPr algn="ctr" indent="0" marL="0">
              <a:buNone/>
            </a:pPr>
            <a:r>
              <a:rPr lang="en-US" sz="1200" b="1" dirty="0">
                <a:solidFill>
                  <a:srgbClr val="FFFFFF"/>
                </a:solidFill>
                <a:latin typeface="Aptos" pitchFamily="34" charset="0"/>
                <a:ea typeface="Aptos" pitchFamily="34" charset="-122"/>
                <a:cs typeface="Aptos" pitchFamily="34" charset="-120"/>
              </a:rPr>
              <a:t>procedure</a:t>
            </a:r>
            <a:endParaRPr lang="en-US" sz="1200" dirty="0"/>
          </a:p>
        </p:txBody>
      </p:sp>
      <p:sp>
        <p:nvSpPr>
          <p:cNvPr id="17" name="Shape 14"/>
          <p:cNvSpPr/>
          <p:nvPr/>
        </p:nvSpPr>
        <p:spPr>
          <a:xfrm>
            <a:off x="7059168" y="2788920"/>
            <a:ext cx="2441448" cy="1280160"/>
          </a:xfrm>
          <a:prstGeom prst="chevron">
            <a:avLst/>
          </a:prstGeom>
          <a:solidFill>
            <a:srgbClr val="141414"/>
          </a:solidFill>
          <a:ln w="19050">
            <a:solidFill>
              <a:srgbClr val="FFFFFF"/>
            </a:solidFill>
            <a:prstDash val="solid"/>
          </a:ln>
        </p:spPr>
      </p:sp>
      <p:sp>
        <p:nvSpPr>
          <p:cNvPr id="18" name="Text 15"/>
          <p:cNvSpPr/>
          <p:nvPr/>
        </p:nvSpPr>
        <p:spPr>
          <a:xfrm>
            <a:off x="7333488" y="2788920"/>
            <a:ext cx="2029968" cy="1280160"/>
          </a:xfrm>
          <a:prstGeom prst="rect">
            <a:avLst/>
          </a:prstGeom>
          <a:noFill/>
          <a:ln/>
        </p:spPr>
        <p:txBody>
          <a:bodyPr wrap="square"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Protect confidential</a:t>
            </a:r>
            <a:endParaRPr lang="en-US" sz="1200" dirty="0"/>
          </a:p>
          <a:p>
            <a:pPr algn="ctr" indent="0" marL="0">
              <a:buNone/>
            </a:pPr>
            <a:r>
              <a:rPr lang="en-US" sz="1200" b="1" dirty="0">
                <a:solidFill>
                  <a:srgbClr val="FFFFFF"/>
                </a:solidFill>
                <a:latin typeface="Aptos" pitchFamily="34" charset="0"/>
                <a:ea typeface="Aptos" pitchFamily="34" charset="-122"/>
                <a:cs typeface="Aptos" pitchFamily="34" charset="-120"/>
              </a:rPr>
              <a:t>data</a:t>
            </a:r>
            <a:endParaRPr lang="en-US" sz="1200" dirty="0"/>
          </a:p>
        </p:txBody>
      </p:sp>
      <p:sp>
        <p:nvSpPr>
          <p:cNvPr id="19" name="Shape 16"/>
          <p:cNvSpPr/>
          <p:nvPr/>
        </p:nvSpPr>
        <p:spPr>
          <a:xfrm>
            <a:off x="9244584" y="2788920"/>
            <a:ext cx="2441448" cy="1280160"/>
          </a:xfrm>
          <a:prstGeom prst="chevron">
            <a:avLst/>
          </a:prstGeom>
          <a:solidFill>
            <a:srgbClr val="3D3D3D"/>
          </a:solidFill>
          <a:ln w="19050">
            <a:solidFill>
              <a:srgbClr val="FFFFFF"/>
            </a:solidFill>
            <a:prstDash val="solid"/>
          </a:ln>
        </p:spPr>
      </p:sp>
      <p:sp>
        <p:nvSpPr>
          <p:cNvPr id="20" name="Text 17"/>
          <p:cNvSpPr/>
          <p:nvPr/>
        </p:nvSpPr>
        <p:spPr>
          <a:xfrm>
            <a:off x="9518904" y="2788920"/>
            <a:ext cx="2029968" cy="1280160"/>
          </a:xfrm>
          <a:prstGeom prst="rect">
            <a:avLst/>
          </a:prstGeom>
          <a:noFill/>
          <a:ln/>
        </p:spPr>
        <p:txBody>
          <a:bodyPr wrap="square"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Share with authorised</a:t>
            </a:r>
            <a:endParaRPr lang="en-US" sz="1200" dirty="0"/>
          </a:p>
          <a:p>
            <a:pPr algn="ctr" indent="0" marL="0">
              <a:buNone/>
            </a:pPr>
            <a:r>
              <a:rPr lang="en-US" sz="1200" b="1" dirty="0">
                <a:solidFill>
                  <a:srgbClr val="FFFFFF"/>
                </a:solidFill>
                <a:latin typeface="Aptos" pitchFamily="34" charset="0"/>
                <a:ea typeface="Aptos" pitchFamily="34" charset="-122"/>
                <a:cs typeface="Aptos" pitchFamily="34" charset="-120"/>
              </a:rPr>
              <a:t>people only</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26</a:t>
            </a:r>
            <a:endParaRPr lang="en-US" sz="900" dirty="0"/>
          </a:p>
        </p:txBody>
      </p:sp>
      <p:sp>
        <p:nvSpPr>
          <p:cNvPr id="4" name="Shape 2"/>
          <p:cNvSpPr/>
          <p:nvPr/>
        </p:nvSpPr>
        <p:spPr>
          <a:xfrm>
            <a:off x="0" y="0"/>
            <a:ext cx="12188952" cy="82296"/>
          </a:xfrm>
          <a:prstGeom prst="rect">
            <a:avLst/>
          </a:prstGeom>
          <a:solidFill>
            <a:srgbClr val="3D3D3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3D3D3D"/>
                </a:solidFill>
                <a:latin typeface="Aptos" pitchFamily="34" charset="0"/>
                <a:ea typeface="Aptos" pitchFamily="34" charset="-122"/>
                <a:cs typeface="Aptos" pitchFamily="34" charset="-120"/>
              </a:rPr>
              <a:t>PRACTICAL ACTIVITY · CRITERION 10</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141414"/>
                </a:solidFill>
                <a:latin typeface="Aptos Display" pitchFamily="34" charset="0"/>
                <a:ea typeface="Aptos Display" pitchFamily="34" charset="-122"/>
                <a:cs typeface="Aptos Display" pitchFamily="34" charset="-120"/>
              </a:rPr>
              <a:t>Obtaining and distributing confidential information — in practice</a:t>
            </a:r>
            <a:endParaRPr lang="en-US" sz="2600" dirty="0"/>
          </a:p>
        </p:txBody>
      </p:sp>
      <p:sp>
        <p:nvSpPr>
          <p:cNvPr id="7" name="Shape 5"/>
          <p:cNvSpPr/>
          <p:nvPr/>
        </p:nvSpPr>
        <p:spPr>
          <a:xfrm>
            <a:off x="502920" y="1371600"/>
            <a:ext cx="11183112" cy="2468880"/>
          </a:xfrm>
          <a:prstGeom prst="roundRect">
            <a:avLst>
              <a:gd name="adj" fmla="val 3333"/>
            </a:avLst>
          </a:prstGeom>
          <a:solidFill>
            <a:srgbClr val="F2F2F2"/>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8" name="Shape 6"/>
          <p:cNvSpPr/>
          <p:nvPr/>
        </p:nvSpPr>
        <p:spPr>
          <a:xfrm>
            <a:off x="502920" y="1371600"/>
            <a:ext cx="82296" cy="2468880"/>
          </a:xfrm>
          <a:prstGeom prst="rect">
            <a:avLst/>
          </a:prstGeom>
          <a:solidFill>
            <a:srgbClr val="3D3D3D"/>
          </a:solidFill>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082528" y="1554480"/>
            <a:ext cx="347472" cy="347472"/>
          </a:xfrm>
          <a:prstGeom prst="rect">
            <a:avLst/>
          </a:prstGeom>
        </p:spPr>
      </p:pic>
      <p:sp>
        <p:nvSpPr>
          <p:cNvPr id="10" name="Text 7"/>
          <p:cNvSpPr/>
          <p:nvPr/>
        </p:nvSpPr>
        <p:spPr>
          <a:xfrm>
            <a:off x="795528" y="1517904"/>
            <a:ext cx="10177272" cy="2176272"/>
          </a:xfrm>
          <a:prstGeom prst="rect">
            <a:avLst/>
          </a:prstGeom>
          <a:noFill/>
          <a:ln/>
        </p:spPr>
        <p:txBody>
          <a:bodyPr wrap="square" rtlCol="0" anchor="t"/>
          <a:lstStyle/>
          <a:p>
            <a:pPr indent="0" marL="0">
              <a:lnSpc>
                <a:spcPct val="115000"/>
              </a:lnSpc>
              <a:buNone/>
            </a:pPr>
            <a:r>
              <a:rPr lang="en-US" sz="1050" b="1" spc="150" kern="0" dirty="0">
                <a:solidFill>
                  <a:srgbClr val="3D3D3D"/>
                </a:solidFill>
                <a:latin typeface="Aptos" pitchFamily="34" charset="0"/>
                <a:ea typeface="Aptos" pitchFamily="34" charset="-122"/>
                <a:cs typeface="Aptos" pitchFamily="34" charset="-120"/>
              </a:rPr>
              <a:t>WORKPLACE EXAMPLE — INVESTEC
</a:t>
            </a:r>
            <a:pPr indent="0" marL="0">
              <a:lnSpc>
                <a:spcPct val="115000"/>
              </a:lnSpc>
              <a:buNone/>
            </a:pPr>
            <a:r>
              <a:rPr lang="en-US" sz="1500" b="1" dirty="0">
                <a:solidFill>
                  <a:srgbClr val="141414"/>
                </a:solidFill>
                <a:latin typeface="Aptos Display" pitchFamily="34" charset="0"/>
                <a:ea typeface="Aptos Display" pitchFamily="34" charset="-122"/>
                <a:cs typeface="Aptos Display" pitchFamily="34" charset="-120"/>
              </a:rPr>
              <a:t>Printer failure investigation
</a:t>
            </a:r>
            <a:pPr indent="0" marL="0">
              <a:lnSpc>
                <a:spcPct val="115000"/>
              </a:lnSpc>
              <a:buNone/>
            </a:pPr>
            <a:r>
              <a:rPr lang="en-US" sz="1250" dirty="0">
                <a:solidFill>
                  <a:srgbClr val="141414"/>
                </a:solidFill>
                <a:latin typeface="Aptos" pitchFamily="34" charset="0"/>
                <a:ea typeface="Aptos" pitchFamily="34" charset="-122"/>
                <a:cs typeface="Aptos" pitchFamily="34" charset="-120"/>
              </a:rPr>
              <a:t>The learner investigates a printer failure by reviewing helpdesk tickets, interviewing the user, checking printer logs and consulting the asset register. The completed report goes to the IT Manager through the approved document management system — confidential information never reaches unauthorised staff.</a:t>
            </a:r>
            <a:endParaRPr lang="en-US" sz="1050" dirty="0"/>
          </a:p>
        </p:txBody>
      </p:sp>
      <p:sp>
        <p:nvSpPr>
          <p:cNvPr id="11" name="Shape 8"/>
          <p:cNvSpPr/>
          <p:nvPr/>
        </p:nvSpPr>
        <p:spPr>
          <a:xfrm>
            <a:off x="502920" y="4023360"/>
            <a:ext cx="5362956" cy="1371600"/>
          </a:xfrm>
          <a:prstGeom prst="roundRect">
            <a:avLst>
              <a:gd name="adj" fmla="val 6000"/>
            </a:avLst>
          </a:prstGeom>
          <a:solidFill>
            <a:srgbClr val="F2F2F2"/>
          </a:solidFill>
          <a:ln w="12700">
            <a:solidFill>
              <a:srgbClr val="DBDBDB"/>
            </a:solidFill>
            <a:prstDash val="solid"/>
          </a:ln>
          <a:effectLst>
            <a:outerShdw sx="100000" sy="100000" kx="0" ky="0" algn="bl" rotWithShape="0" blurRad="88900" dist="25400" dir="5400000">
              <a:srgbClr val="BDBDBD">
                <a:alpha val="30000"/>
              </a:srgbClr>
            </a:outerShdw>
          </a:effectLst>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520" y="4169664"/>
            <a:ext cx="274320" cy="274320"/>
          </a:xfrm>
          <a:prstGeom prst="rect">
            <a:avLst/>
          </a:prstGeom>
        </p:spPr>
      </p:pic>
      <p:sp>
        <p:nvSpPr>
          <p:cNvPr id="13" name="Text 9"/>
          <p:cNvSpPr/>
          <p:nvPr/>
        </p:nvSpPr>
        <p:spPr>
          <a:xfrm>
            <a:off x="1088136" y="4151376"/>
            <a:ext cx="4539996" cy="310896"/>
          </a:xfrm>
          <a:prstGeom prst="rect">
            <a:avLst/>
          </a:prstGeom>
          <a:noFill/>
          <a:ln/>
        </p:spPr>
        <p:txBody>
          <a:bodyPr wrap="square" rtlCol="0" anchor="ctr"/>
          <a:lstStyle/>
          <a:p>
            <a:pPr indent="0" marL="0">
              <a:buNone/>
            </a:pPr>
            <a:r>
              <a:rPr lang="en-US" sz="1100" b="1" spc="150" kern="0" dirty="0">
                <a:solidFill>
                  <a:srgbClr val="3D3D3D"/>
                </a:solidFill>
                <a:latin typeface="Aptos" pitchFamily="34" charset="0"/>
                <a:ea typeface="Aptos" pitchFamily="34" charset="-122"/>
                <a:cs typeface="Aptos" pitchFamily="34" charset="-120"/>
              </a:rPr>
              <a:t>BEST PRACTICE</a:t>
            </a:r>
            <a:endParaRPr lang="en-US" sz="1100" dirty="0"/>
          </a:p>
        </p:txBody>
      </p:sp>
      <p:sp>
        <p:nvSpPr>
          <p:cNvPr id="14" name="Text 10"/>
          <p:cNvSpPr/>
          <p:nvPr/>
        </p:nvSpPr>
        <p:spPr>
          <a:xfrm>
            <a:off x="731520" y="4498848"/>
            <a:ext cx="4905756" cy="786384"/>
          </a:xfrm>
          <a:prstGeom prst="rect">
            <a:avLst/>
          </a:prstGeom>
          <a:noFill/>
          <a:ln/>
        </p:spPr>
        <p:txBody>
          <a:bodyPr wrap="square" rtlCol="0" anchor="t"/>
          <a:lstStyle/>
          <a:p>
            <a:pPr indent="0" marL="0">
              <a:buNone/>
            </a:pPr>
            <a:r>
              <a:rPr lang="en-US" sz="1250" dirty="0">
                <a:solidFill>
                  <a:srgbClr val="141414"/>
                </a:solidFill>
                <a:latin typeface="Aptos" pitchFamily="34" charset="0"/>
                <a:ea typeface="Aptos" pitchFamily="34" charset="-122"/>
                <a:cs typeface="Aptos" pitchFamily="34" charset="-120"/>
              </a:rPr>
              <a:t>Run the full chain every time: source → collect → procedure → protect → authorised share.</a:t>
            </a:r>
            <a:endParaRPr lang="en-US" sz="1250" dirty="0"/>
          </a:p>
        </p:txBody>
      </p:sp>
      <p:sp>
        <p:nvSpPr>
          <p:cNvPr id="15" name="Shape 11"/>
          <p:cNvSpPr/>
          <p:nvPr/>
        </p:nvSpPr>
        <p:spPr>
          <a:xfrm>
            <a:off x="6323076" y="4023360"/>
            <a:ext cx="5362956" cy="1371600"/>
          </a:xfrm>
          <a:prstGeom prst="roundRect">
            <a:avLst>
              <a:gd name="adj" fmla="val 6000"/>
            </a:avLst>
          </a:prstGeom>
          <a:solidFill>
            <a:srgbClr val="F4F5F7"/>
          </a:solidFill>
          <a:ln w="12700">
            <a:solidFill>
              <a:srgbClr val="DADDE2"/>
            </a:solidFill>
            <a:prstDash val="solid"/>
          </a:ln>
          <a:effectLst>
            <a:outerShdw sx="100000" sy="100000" kx="0" ky="0" algn="bl" rotWithShape="0" blurRad="88900" dist="25400" dir="5400000">
              <a:srgbClr val="BDBDBD">
                <a:alpha val="30000"/>
              </a:srgbClr>
            </a:outerShdw>
          </a:effectLst>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51676" y="4169664"/>
            <a:ext cx="274320" cy="274320"/>
          </a:xfrm>
          <a:prstGeom prst="rect">
            <a:avLst/>
          </a:prstGeom>
        </p:spPr>
      </p:pic>
      <p:sp>
        <p:nvSpPr>
          <p:cNvPr id="17" name="Text 12"/>
          <p:cNvSpPr/>
          <p:nvPr/>
        </p:nvSpPr>
        <p:spPr>
          <a:xfrm>
            <a:off x="6908292" y="4151376"/>
            <a:ext cx="4539996" cy="310896"/>
          </a:xfrm>
          <a:prstGeom prst="rect">
            <a:avLst/>
          </a:prstGeom>
          <a:noFill/>
          <a:ln/>
        </p:spPr>
        <p:txBody>
          <a:bodyPr wrap="square" rtlCol="0" anchor="ctr"/>
          <a:lstStyle/>
          <a:p>
            <a:pPr indent="0" marL="0">
              <a:buNone/>
            </a:pPr>
            <a:r>
              <a:rPr lang="en-US" sz="1100" b="1" spc="150" kern="0" dirty="0">
                <a:solidFill>
                  <a:srgbClr val="6B7280"/>
                </a:solidFill>
                <a:latin typeface="Aptos" pitchFamily="34" charset="0"/>
                <a:ea typeface="Aptos" pitchFamily="34" charset="-122"/>
                <a:cs typeface="Aptos" pitchFamily="34" charset="-120"/>
              </a:rPr>
              <a:t>COMMON MISTAKE</a:t>
            </a:r>
            <a:endParaRPr lang="en-US" sz="1100" dirty="0"/>
          </a:p>
        </p:txBody>
      </p:sp>
      <p:sp>
        <p:nvSpPr>
          <p:cNvPr id="18" name="Text 13"/>
          <p:cNvSpPr/>
          <p:nvPr/>
        </p:nvSpPr>
        <p:spPr>
          <a:xfrm>
            <a:off x="6551676" y="4498848"/>
            <a:ext cx="4905756" cy="786384"/>
          </a:xfrm>
          <a:prstGeom prst="rect">
            <a:avLst/>
          </a:prstGeom>
          <a:noFill/>
          <a:ln/>
        </p:spPr>
        <p:txBody>
          <a:bodyPr wrap="square" rtlCol="0" anchor="t"/>
          <a:lstStyle/>
          <a:p>
            <a:pPr indent="0" marL="0">
              <a:buNone/>
            </a:pPr>
            <a:r>
              <a:rPr lang="en-US" sz="1250" dirty="0">
                <a:solidFill>
                  <a:srgbClr val="141414"/>
                </a:solidFill>
                <a:latin typeface="Aptos" pitchFamily="34" charset="0"/>
                <a:ea typeface="Aptos" pitchFamily="34" charset="-122"/>
                <a:cs typeface="Aptos" pitchFamily="34" charset="-120"/>
              </a:rPr>
              <a:t>Getting the investigation right, then leaking the result by sharing it outside approved channels.</a:t>
            </a:r>
            <a:endParaRPr lang="en-US" sz="1250" dirty="0"/>
          </a:p>
        </p:txBody>
      </p:sp>
      <p:sp>
        <p:nvSpPr>
          <p:cNvPr id="19" name="Shape 14"/>
          <p:cNvSpPr/>
          <p:nvPr/>
        </p:nvSpPr>
        <p:spPr>
          <a:xfrm>
            <a:off x="502920" y="5779008"/>
            <a:ext cx="11183112" cy="603504"/>
          </a:xfrm>
          <a:prstGeom prst="roundRect">
            <a:avLst>
              <a:gd name="adj" fmla="val 10606"/>
            </a:avLst>
          </a:prstGeom>
          <a:solidFill>
            <a:srgbClr val="141414"/>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4088" y="5943600"/>
            <a:ext cx="274320" cy="274320"/>
          </a:xfrm>
          <a:prstGeom prst="rect">
            <a:avLst/>
          </a:prstGeom>
        </p:spPr>
      </p:pic>
      <p:sp>
        <p:nvSpPr>
          <p:cNvPr id="21" name="Text 15"/>
          <p:cNvSpPr/>
          <p:nvPr/>
        </p:nvSpPr>
        <p:spPr>
          <a:xfrm>
            <a:off x="1069848" y="5779008"/>
            <a:ext cx="10378440" cy="603504"/>
          </a:xfrm>
          <a:prstGeom prst="rect">
            <a:avLst/>
          </a:prstGeom>
          <a:noFill/>
          <a:ln/>
        </p:spPr>
        <p:txBody>
          <a:bodyPr wrap="square" rtlCol="0" anchor="ctr"/>
          <a:lstStyle/>
          <a:p>
            <a:pPr indent="0" marL="0">
              <a:buNone/>
            </a:pPr>
            <a:r>
              <a:rPr lang="en-US" sz="1050" b="1" spc="150" kern="0" dirty="0">
                <a:solidFill>
                  <a:srgbClr val="C9C9C9"/>
                </a:solidFill>
                <a:latin typeface="Aptos" pitchFamily="34" charset="0"/>
                <a:ea typeface="Aptos" pitchFamily="34" charset="-122"/>
                <a:cs typeface="Aptos" pitchFamily="34" charset="-120"/>
              </a:rPr>
              <a:t>KNOWLEDGE CHECK   </a:t>
            </a:r>
            <a:pPr indent="0" marL="0">
              <a:buNone/>
            </a:pPr>
            <a:r>
              <a:rPr lang="en-US" sz="1250" dirty="0">
                <a:solidFill>
                  <a:srgbClr val="FFFFFF"/>
                </a:solidFill>
                <a:latin typeface="Aptos" pitchFamily="34" charset="0"/>
                <a:ea typeface="Aptos" pitchFamily="34" charset="-122"/>
                <a:cs typeface="Aptos" pitchFamily="34" charset="-120"/>
              </a:rPr>
              <a:t>List the four sources the learner used in the printer investigation — and the one approved way the report was distributed.</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27</a:t>
            </a:r>
            <a:endParaRPr lang="en-US" sz="900" dirty="0"/>
          </a:p>
        </p:txBody>
      </p:sp>
      <p:sp>
        <p:nvSpPr>
          <p:cNvPr id="4" name="Shape 2"/>
          <p:cNvSpPr/>
          <p:nvPr/>
        </p:nvSpPr>
        <p:spPr>
          <a:xfrm>
            <a:off x="0" y="0"/>
            <a:ext cx="12188952" cy="82296"/>
          </a:xfrm>
          <a:prstGeom prst="rect">
            <a:avLst/>
          </a:prstGeom>
          <a:solidFill>
            <a:srgbClr val="3D3D3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3D3D3D"/>
                </a:solidFill>
                <a:latin typeface="Aptos" pitchFamily="34" charset="0"/>
                <a:ea typeface="Aptos" pitchFamily="34" charset="-122"/>
                <a:cs typeface="Aptos" pitchFamily="34" charset="-120"/>
              </a:rPr>
              <a:t>PRACTICAL ACTIVITY · CRITERION 11</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141414"/>
                </a:solidFill>
                <a:latin typeface="Aptos Display" pitchFamily="34" charset="0"/>
                <a:ea typeface="Aptos Display" pitchFamily="34" charset="-122"/>
                <a:cs typeface="Aptos Display" pitchFamily="34" charset="-120"/>
              </a:rPr>
              <a:t>Compiling complete reports on deadline</a:t>
            </a:r>
            <a:endParaRPr lang="en-US" sz="2600" dirty="0"/>
          </a:p>
        </p:txBody>
      </p:sp>
      <p:sp>
        <p:nvSpPr>
          <p:cNvPr id="7" name="Shape 5"/>
          <p:cNvSpPr/>
          <p:nvPr/>
        </p:nvSpPr>
        <p:spPr>
          <a:xfrm>
            <a:off x="502920" y="1298448"/>
            <a:ext cx="11183112" cy="566928"/>
          </a:xfrm>
          <a:prstGeom prst="roundRect">
            <a:avLst>
              <a:gd name="adj" fmla="val 11290"/>
            </a:avLst>
          </a:prstGeom>
          <a:solidFill>
            <a:srgbClr val="F2F2F2"/>
          </a:solidFill>
          <a:ln w="9525">
            <a:solidFill>
              <a:srgbClr val="DBDBDB"/>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1444752"/>
            <a:ext cx="274320" cy="274320"/>
          </a:xfrm>
          <a:prstGeom prst="rect">
            <a:avLst/>
          </a:prstGeom>
        </p:spPr>
      </p:pic>
      <p:sp>
        <p:nvSpPr>
          <p:cNvPr id="9" name="Text 6"/>
          <p:cNvSpPr/>
          <p:nvPr/>
        </p:nvSpPr>
        <p:spPr>
          <a:xfrm>
            <a:off x="1069848" y="1298448"/>
            <a:ext cx="10378440" cy="566928"/>
          </a:xfrm>
          <a:prstGeom prst="rect">
            <a:avLst/>
          </a:prstGeom>
          <a:noFill/>
          <a:ln/>
        </p:spPr>
        <p:txBody>
          <a:bodyPr wrap="square" rtlCol="0" anchor="ctr"/>
          <a:lstStyle/>
          <a:p>
            <a:pPr indent="0" marL="0">
              <a:buNone/>
            </a:pPr>
            <a:r>
              <a:rPr lang="en-US" sz="1050" b="1" spc="150" kern="0" dirty="0">
                <a:solidFill>
                  <a:srgbClr val="3D3D3D"/>
                </a:solidFill>
                <a:latin typeface="Aptos" pitchFamily="34" charset="0"/>
                <a:ea typeface="Aptos" pitchFamily="34" charset="-122"/>
                <a:cs typeface="Aptos" pitchFamily="34" charset="-120"/>
              </a:rPr>
              <a:t>LEARNING OBJECTIVE   </a:t>
            </a:r>
            <a:pPr indent="0" marL="0">
              <a:buNone/>
            </a:pPr>
            <a:r>
              <a:rPr lang="en-US" sz="1300" dirty="0">
                <a:solidFill>
                  <a:srgbClr val="141414"/>
                </a:solidFill>
                <a:latin typeface="Aptos" pitchFamily="34" charset="0"/>
                <a:ea typeface="Aptos" pitchFamily="34" charset="-122"/>
                <a:cs typeface="Aptos" pitchFamily="34" charset="-120"/>
              </a:rPr>
              <a:t>Compile a report with content and format appropriate to the information requirements — and meet the reporting deadline.</a:t>
            </a:r>
            <a:endParaRPr lang="en-US" sz="1050" dirty="0"/>
          </a:p>
        </p:txBody>
      </p:sp>
      <p:sp>
        <p:nvSpPr>
          <p:cNvPr id="10" name="Text 7"/>
          <p:cNvSpPr/>
          <p:nvPr/>
        </p:nvSpPr>
        <p:spPr>
          <a:xfrm>
            <a:off x="502920" y="1993392"/>
            <a:ext cx="11183112" cy="566928"/>
          </a:xfrm>
          <a:prstGeom prst="rect">
            <a:avLst/>
          </a:prstGeom>
          <a:noFill/>
          <a:ln/>
        </p:spPr>
        <p:txBody>
          <a:bodyPr wrap="square" rtlCol="0" anchor="t"/>
          <a:lstStyle/>
          <a:p>
            <a:pPr indent="0" marL="0">
              <a:lnSpc>
                <a:spcPct val="115000"/>
              </a:lnSpc>
              <a:buNone/>
            </a:pPr>
            <a:r>
              <a:rPr lang="en-US" sz="1350" dirty="0">
                <a:solidFill>
                  <a:srgbClr val="6B7280"/>
                </a:solidFill>
                <a:latin typeface="Aptos" pitchFamily="34" charset="0"/>
                <a:ea typeface="Aptos" pitchFamily="34" charset="-122"/>
                <a:cs typeface="Aptos" pitchFamily="34" charset="-120"/>
              </a:rPr>
              <a:t>This is the practical demonstration of the entire unit standard: nine steps from planning to on-time submission.</a:t>
            </a:r>
            <a:endParaRPr lang="en-US" sz="1350" dirty="0"/>
          </a:p>
        </p:txBody>
      </p:sp>
      <p:sp>
        <p:nvSpPr>
          <p:cNvPr id="11" name="Shape 8"/>
          <p:cNvSpPr/>
          <p:nvPr/>
        </p:nvSpPr>
        <p:spPr>
          <a:xfrm>
            <a:off x="502920" y="2697480"/>
            <a:ext cx="3617976" cy="777240"/>
          </a:xfrm>
          <a:prstGeom prst="roundRect">
            <a:avLst>
              <a:gd name="adj" fmla="val 10588"/>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12" name="Shape 9"/>
          <p:cNvSpPr/>
          <p:nvPr/>
        </p:nvSpPr>
        <p:spPr>
          <a:xfrm>
            <a:off x="667512" y="2894076"/>
            <a:ext cx="384048" cy="384048"/>
          </a:xfrm>
          <a:prstGeom prst="ellipse">
            <a:avLst/>
          </a:prstGeom>
          <a:solidFill>
            <a:srgbClr val="3D3D3D"/>
          </a:solidFill>
          <a:ln/>
        </p:spPr>
      </p:sp>
      <p:sp>
        <p:nvSpPr>
          <p:cNvPr id="13" name="Text 10"/>
          <p:cNvSpPr/>
          <p:nvPr/>
        </p:nvSpPr>
        <p:spPr>
          <a:xfrm>
            <a:off x="667512" y="2894076"/>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1</a:t>
            </a:r>
            <a:endParaRPr lang="en-US" sz="1400" dirty="0"/>
          </a:p>
        </p:txBody>
      </p:sp>
      <p:sp>
        <p:nvSpPr>
          <p:cNvPr id="14" name="Text 11"/>
          <p:cNvSpPr/>
          <p:nvPr/>
        </p:nvSpPr>
        <p:spPr>
          <a:xfrm>
            <a:off x="1161288" y="2788920"/>
            <a:ext cx="2795016" cy="594360"/>
          </a:xfrm>
          <a:prstGeom prst="rect">
            <a:avLst/>
          </a:prstGeom>
          <a:noFill/>
          <a:ln/>
        </p:spPr>
        <p:txBody>
          <a:bodyPr wrap="square" rtlCol="0" anchor="ctr"/>
          <a:lstStyle/>
          <a:p>
            <a:pPr indent="0" marL="0">
              <a:buNone/>
            </a:pPr>
            <a:r>
              <a:rPr lang="en-US" sz="1250" b="1" dirty="0">
                <a:solidFill>
                  <a:srgbClr val="141414"/>
                </a:solidFill>
                <a:latin typeface="Aptos Display" pitchFamily="34" charset="0"/>
                <a:ea typeface="Aptos Display" pitchFamily="34" charset="-122"/>
                <a:cs typeface="Aptos Display" pitchFamily="34" charset="-120"/>
              </a:rPr>
              <a:t>Plan the report</a:t>
            </a:r>
            <a:endParaRPr lang="en-US" sz="1250" dirty="0"/>
          </a:p>
        </p:txBody>
      </p:sp>
      <p:sp>
        <p:nvSpPr>
          <p:cNvPr id="15" name="Shape 12"/>
          <p:cNvSpPr/>
          <p:nvPr/>
        </p:nvSpPr>
        <p:spPr>
          <a:xfrm>
            <a:off x="4285488" y="2697480"/>
            <a:ext cx="3617976" cy="777240"/>
          </a:xfrm>
          <a:prstGeom prst="roundRect">
            <a:avLst>
              <a:gd name="adj" fmla="val 10588"/>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16" name="Shape 13"/>
          <p:cNvSpPr/>
          <p:nvPr/>
        </p:nvSpPr>
        <p:spPr>
          <a:xfrm>
            <a:off x="4450080" y="2894076"/>
            <a:ext cx="384048" cy="384048"/>
          </a:xfrm>
          <a:prstGeom prst="ellipse">
            <a:avLst/>
          </a:prstGeom>
          <a:solidFill>
            <a:srgbClr val="3D3D3D"/>
          </a:solidFill>
          <a:ln/>
        </p:spPr>
      </p:sp>
      <p:sp>
        <p:nvSpPr>
          <p:cNvPr id="17" name="Text 14"/>
          <p:cNvSpPr/>
          <p:nvPr/>
        </p:nvSpPr>
        <p:spPr>
          <a:xfrm>
            <a:off x="4450080" y="2894076"/>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2</a:t>
            </a:r>
            <a:endParaRPr lang="en-US" sz="1400" dirty="0"/>
          </a:p>
        </p:txBody>
      </p:sp>
      <p:sp>
        <p:nvSpPr>
          <p:cNvPr id="18" name="Text 15"/>
          <p:cNvSpPr/>
          <p:nvPr/>
        </p:nvSpPr>
        <p:spPr>
          <a:xfrm>
            <a:off x="4943856" y="2788920"/>
            <a:ext cx="2795016" cy="594360"/>
          </a:xfrm>
          <a:prstGeom prst="rect">
            <a:avLst/>
          </a:prstGeom>
          <a:noFill/>
          <a:ln/>
        </p:spPr>
        <p:txBody>
          <a:bodyPr wrap="square" rtlCol="0" anchor="ctr"/>
          <a:lstStyle/>
          <a:p>
            <a:pPr indent="0" marL="0">
              <a:buNone/>
            </a:pPr>
            <a:r>
              <a:rPr lang="en-US" sz="1250" b="1" dirty="0">
                <a:solidFill>
                  <a:srgbClr val="141414"/>
                </a:solidFill>
                <a:latin typeface="Aptos Display" pitchFamily="34" charset="0"/>
                <a:ea typeface="Aptos Display" pitchFamily="34" charset="-122"/>
                <a:cs typeface="Aptos Display" pitchFamily="34" charset="-120"/>
              </a:rPr>
              <a:t>Gather evidence</a:t>
            </a:r>
            <a:endParaRPr lang="en-US" sz="1250" dirty="0"/>
          </a:p>
        </p:txBody>
      </p:sp>
      <p:sp>
        <p:nvSpPr>
          <p:cNvPr id="19" name="Shape 16"/>
          <p:cNvSpPr/>
          <p:nvPr/>
        </p:nvSpPr>
        <p:spPr>
          <a:xfrm>
            <a:off x="8068056" y="2697480"/>
            <a:ext cx="3617976" cy="777240"/>
          </a:xfrm>
          <a:prstGeom prst="roundRect">
            <a:avLst>
              <a:gd name="adj" fmla="val 10588"/>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20" name="Shape 17"/>
          <p:cNvSpPr/>
          <p:nvPr/>
        </p:nvSpPr>
        <p:spPr>
          <a:xfrm>
            <a:off x="8232648" y="2894076"/>
            <a:ext cx="384048" cy="384048"/>
          </a:xfrm>
          <a:prstGeom prst="ellipse">
            <a:avLst/>
          </a:prstGeom>
          <a:solidFill>
            <a:srgbClr val="3D3D3D"/>
          </a:solidFill>
          <a:ln/>
        </p:spPr>
      </p:sp>
      <p:sp>
        <p:nvSpPr>
          <p:cNvPr id="21" name="Text 18"/>
          <p:cNvSpPr/>
          <p:nvPr/>
        </p:nvSpPr>
        <p:spPr>
          <a:xfrm>
            <a:off x="8232648" y="2894076"/>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3</a:t>
            </a:r>
            <a:endParaRPr lang="en-US" sz="1400" dirty="0"/>
          </a:p>
        </p:txBody>
      </p:sp>
      <p:sp>
        <p:nvSpPr>
          <p:cNvPr id="22" name="Text 19"/>
          <p:cNvSpPr/>
          <p:nvPr/>
        </p:nvSpPr>
        <p:spPr>
          <a:xfrm>
            <a:off x="8726424" y="2788920"/>
            <a:ext cx="2795016" cy="594360"/>
          </a:xfrm>
          <a:prstGeom prst="rect">
            <a:avLst/>
          </a:prstGeom>
          <a:noFill/>
          <a:ln/>
        </p:spPr>
        <p:txBody>
          <a:bodyPr wrap="square" rtlCol="0" anchor="ctr"/>
          <a:lstStyle/>
          <a:p>
            <a:pPr indent="0" marL="0">
              <a:buNone/>
            </a:pPr>
            <a:r>
              <a:rPr lang="en-US" sz="1250" b="1" dirty="0">
                <a:solidFill>
                  <a:srgbClr val="141414"/>
                </a:solidFill>
                <a:latin typeface="Aptos Display" pitchFamily="34" charset="0"/>
                <a:ea typeface="Aptos Display" pitchFamily="34" charset="-122"/>
                <a:cs typeface="Aptos Display" pitchFamily="34" charset="-120"/>
              </a:rPr>
              <a:t>Verify facts</a:t>
            </a:r>
            <a:endParaRPr lang="en-US" sz="1250" dirty="0"/>
          </a:p>
        </p:txBody>
      </p:sp>
      <p:sp>
        <p:nvSpPr>
          <p:cNvPr id="23" name="Shape 20"/>
          <p:cNvSpPr/>
          <p:nvPr/>
        </p:nvSpPr>
        <p:spPr>
          <a:xfrm>
            <a:off x="502920" y="3639312"/>
            <a:ext cx="3617976" cy="777240"/>
          </a:xfrm>
          <a:prstGeom prst="roundRect">
            <a:avLst>
              <a:gd name="adj" fmla="val 10588"/>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24" name="Shape 21"/>
          <p:cNvSpPr/>
          <p:nvPr/>
        </p:nvSpPr>
        <p:spPr>
          <a:xfrm>
            <a:off x="667512" y="3835908"/>
            <a:ext cx="384048" cy="384048"/>
          </a:xfrm>
          <a:prstGeom prst="ellipse">
            <a:avLst/>
          </a:prstGeom>
          <a:solidFill>
            <a:srgbClr val="3D3D3D"/>
          </a:solidFill>
          <a:ln/>
        </p:spPr>
      </p:sp>
      <p:sp>
        <p:nvSpPr>
          <p:cNvPr id="25" name="Text 22"/>
          <p:cNvSpPr/>
          <p:nvPr/>
        </p:nvSpPr>
        <p:spPr>
          <a:xfrm>
            <a:off x="667512" y="3835908"/>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4</a:t>
            </a:r>
            <a:endParaRPr lang="en-US" sz="1400" dirty="0"/>
          </a:p>
        </p:txBody>
      </p:sp>
      <p:sp>
        <p:nvSpPr>
          <p:cNvPr id="26" name="Text 23"/>
          <p:cNvSpPr/>
          <p:nvPr/>
        </p:nvSpPr>
        <p:spPr>
          <a:xfrm>
            <a:off x="1161288" y="3730752"/>
            <a:ext cx="2795016" cy="594360"/>
          </a:xfrm>
          <a:prstGeom prst="rect">
            <a:avLst/>
          </a:prstGeom>
          <a:noFill/>
          <a:ln/>
        </p:spPr>
        <p:txBody>
          <a:bodyPr wrap="square" rtlCol="0" anchor="ctr"/>
          <a:lstStyle/>
          <a:p>
            <a:pPr indent="0" marL="0">
              <a:buNone/>
            </a:pPr>
            <a:r>
              <a:rPr lang="en-US" sz="1250" b="1" dirty="0">
                <a:solidFill>
                  <a:srgbClr val="141414"/>
                </a:solidFill>
                <a:latin typeface="Aptos Display" pitchFamily="34" charset="0"/>
                <a:ea typeface="Aptos Display" pitchFamily="34" charset="-122"/>
                <a:cs typeface="Aptos Display" pitchFamily="34" charset="-120"/>
              </a:rPr>
              <a:t>Organise logically</a:t>
            </a:r>
            <a:endParaRPr lang="en-US" sz="1250" dirty="0"/>
          </a:p>
        </p:txBody>
      </p:sp>
      <p:sp>
        <p:nvSpPr>
          <p:cNvPr id="27" name="Shape 24"/>
          <p:cNvSpPr/>
          <p:nvPr/>
        </p:nvSpPr>
        <p:spPr>
          <a:xfrm>
            <a:off x="4285488" y="3639312"/>
            <a:ext cx="3617976" cy="777240"/>
          </a:xfrm>
          <a:prstGeom prst="roundRect">
            <a:avLst>
              <a:gd name="adj" fmla="val 10588"/>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28" name="Shape 25"/>
          <p:cNvSpPr/>
          <p:nvPr/>
        </p:nvSpPr>
        <p:spPr>
          <a:xfrm>
            <a:off x="4450080" y="3835908"/>
            <a:ext cx="384048" cy="384048"/>
          </a:xfrm>
          <a:prstGeom prst="ellipse">
            <a:avLst/>
          </a:prstGeom>
          <a:solidFill>
            <a:srgbClr val="3D3D3D"/>
          </a:solidFill>
          <a:ln/>
        </p:spPr>
      </p:sp>
      <p:sp>
        <p:nvSpPr>
          <p:cNvPr id="29" name="Text 26"/>
          <p:cNvSpPr/>
          <p:nvPr/>
        </p:nvSpPr>
        <p:spPr>
          <a:xfrm>
            <a:off x="4450080" y="3835908"/>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5</a:t>
            </a:r>
            <a:endParaRPr lang="en-US" sz="1400" dirty="0"/>
          </a:p>
        </p:txBody>
      </p:sp>
      <p:sp>
        <p:nvSpPr>
          <p:cNvPr id="30" name="Text 27"/>
          <p:cNvSpPr/>
          <p:nvPr/>
        </p:nvSpPr>
        <p:spPr>
          <a:xfrm>
            <a:off x="4943856" y="3730752"/>
            <a:ext cx="2795016" cy="594360"/>
          </a:xfrm>
          <a:prstGeom prst="rect">
            <a:avLst/>
          </a:prstGeom>
          <a:noFill/>
          <a:ln/>
        </p:spPr>
        <p:txBody>
          <a:bodyPr wrap="square" rtlCol="0" anchor="ctr"/>
          <a:lstStyle/>
          <a:p>
            <a:pPr indent="0" marL="0">
              <a:buNone/>
            </a:pPr>
            <a:r>
              <a:rPr lang="en-US" sz="1250" b="1" dirty="0">
                <a:solidFill>
                  <a:srgbClr val="141414"/>
                </a:solidFill>
                <a:latin typeface="Aptos Display" pitchFamily="34" charset="0"/>
                <a:ea typeface="Aptos Display" pitchFamily="34" charset="-122"/>
                <a:cs typeface="Aptos Display" pitchFamily="34" charset="-120"/>
              </a:rPr>
              <a:t>Use correct format</a:t>
            </a:r>
            <a:endParaRPr lang="en-US" sz="1250" dirty="0"/>
          </a:p>
        </p:txBody>
      </p:sp>
      <p:sp>
        <p:nvSpPr>
          <p:cNvPr id="31" name="Shape 28"/>
          <p:cNvSpPr/>
          <p:nvPr/>
        </p:nvSpPr>
        <p:spPr>
          <a:xfrm>
            <a:off x="8068056" y="3639312"/>
            <a:ext cx="3617976" cy="777240"/>
          </a:xfrm>
          <a:prstGeom prst="roundRect">
            <a:avLst>
              <a:gd name="adj" fmla="val 10588"/>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32" name="Shape 29"/>
          <p:cNvSpPr/>
          <p:nvPr/>
        </p:nvSpPr>
        <p:spPr>
          <a:xfrm>
            <a:off x="8232648" y="3835908"/>
            <a:ext cx="384048" cy="384048"/>
          </a:xfrm>
          <a:prstGeom prst="ellipse">
            <a:avLst/>
          </a:prstGeom>
          <a:solidFill>
            <a:srgbClr val="3D3D3D"/>
          </a:solidFill>
          <a:ln/>
        </p:spPr>
      </p:sp>
      <p:sp>
        <p:nvSpPr>
          <p:cNvPr id="33" name="Text 30"/>
          <p:cNvSpPr/>
          <p:nvPr/>
        </p:nvSpPr>
        <p:spPr>
          <a:xfrm>
            <a:off x="8232648" y="3835908"/>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6</a:t>
            </a:r>
            <a:endParaRPr lang="en-US" sz="1400" dirty="0"/>
          </a:p>
        </p:txBody>
      </p:sp>
      <p:sp>
        <p:nvSpPr>
          <p:cNvPr id="34" name="Text 31"/>
          <p:cNvSpPr/>
          <p:nvPr/>
        </p:nvSpPr>
        <p:spPr>
          <a:xfrm>
            <a:off x="8726424" y="3730752"/>
            <a:ext cx="2795016" cy="594360"/>
          </a:xfrm>
          <a:prstGeom prst="rect">
            <a:avLst/>
          </a:prstGeom>
          <a:noFill/>
          <a:ln/>
        </p:spPr>
        <p:txBody>
          <a:bodyPr wrap="square" rtlCol="0" anchor="ctr"/>
          <a:lstStyle/>
          <a:p>
            <a:pPr indent="0" marL="0">
              <a:buNone/>
            </a:pPr>
            <a:r>
              <a:rPr lang="en-US" sz="1250" b="1" dirty="0">
                <a:solidFill>
                  <a:srgbClr val="141414"/>
                </a:solidFill>
                <a:latin typeface="Aptos Display" pitchFamily="34" charset="0"/>
                <a:ea typeface="Aptos Display" pitchFamily="34" charset="-122"/>
                <a:cs typeface="Aptos Display" pitchFamily="34" charset="-120"/>
              </a:rPr>
              <a:t>Apply company standards</a:t>
            </a:r>
            <a:endParaRPr lang="en-US" sz="1250" dirty="0"/>
          </a:p>
        </p:txBody>
      </p:sp>
      <p:sp>
        <p:nvSpPr>
          <p:cNvPr id="35" name="Shape 32"/>
          <p:cNvSpPr/>
          <p:nvPr/>
        </p:nvSpPr>
        <p:spPr>
          <a:xfrm>
            <a:off x="502920" y="4581144"/>
            <a:ext cx="3617976" cy="777240"/>
          </a:xfrm>
          <a:prstGeom prst="roundRect">
            <a:avLst>
              <a:gd name="adj" fmla="val 10588"/>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36" name="Shape 33"/>
          <p:cNvSpPr/>
          <p:nvPr/>
        </p:nvSpPr>
        <p:spPr>
          <a:xfrm>
            <a:off x="667512" y="4777740"/>
            <a:ext cx="384048" cy="384048"/>
          </a:xfrm>
          <a:prstGeom prst="ellipse">
            <a:avLst/>
          </a:prstGeom>
          <a:solidFill>
            <a:srgbClr val="3D3D3D"/>
          </a:solidFill>
          <a:ln/>
        </p:spPr>
      </p:sp>
      <p:sp>
        <p:nvSpPr>
          <p:cNvPr id="37" name="Text 34"/>
          <p:cNvSpPr/>
          <p:nvPr/>
        </p:nvSpPr>
        <p:spPr>
          <a:xfrm>
            <a:off x="667512" y="4777740"/>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7</a:t>
            </a:r>
            <a:endParaRPr lang="en-US" sz="1400" dirty="0"/>
          </a:p>
        </p:txBody>
      </p:sp>
      <p:sp>
        <p:nvSpPr>
          <p:cNvPr id="38" name="Text 35"/>
          <p:cNvSpPr/>
          <p:nvPr/>
        </p:nvSpPr>
        <p:spPr>
          <a:xfrm>
            <a:off x="1161288" y="4672584"/>
            <a:ext cx="2795016" cy="594360"/>
          </a:xfrm>
          <a:prstGeom prst="rect">
            <a:avLst/>
          </a:prstGeom>
          <a:noFill/>
          <a:ln/>
        </p:spPr>
        <p:txBody>
          <a:bodyPr wrap="square" rtlCol="0" anchor="ctr"/>
          <a:lstStyle/>
          <a:p>
            <a:pPr indent="0" marL="0">
              <a:buNone/>
            </a:pPr>
            <a:r>
              <a:rPr lang="en-US" sz="1250" b="1" dirty="0">
                <a:solidFill>
                  <a:srgbClr val="141414"/>
                </a:solidFill>
                <a:latin typeface="Aptos Display" pitchFamily="34" charset="0"/>
                <a:ea typeface="Aptos Display" pitchFamily="34" charset="-122"/>
                <a:cs typeface="Aptos Display" pitchFamily="34" charset="-120"/>
              </a:rPr>
              <a:t>Write professionally</a:t>
            </a:r>
            <a:endParaRPr lang="en-US" sz="1250" dirty="0"/>
          </a:p>
        </p:txBody>
      </p:sp>
      <p:sp>
        <p:nvSpPr>
          <p:cNvPr id="39" name="Shape 36"/>
          <p:cNvSpPr/>
          <p:nvPr/>
        </p:nvSpPr>
        <p:spPr>
          <a:xfrm>
            <a:off x="4285488" y="4581144"/>
            <a:ext cx="3617976" cy="777240"/>
          </a:xfrm>
          <a:prstGeom prst="roundRect">
            <a:avLst>
              <a:gd name="adj" fmla="val 10588"/>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40" name="Shape 37"/>
          <p:cNvSpPr/>
          <p:nvPr/>
        </p:nvSpPr>
        <p:spPr>
          <a:xfrm>
            <a:off x="4450080" y="4777740"/>
            <a:ext cx="384048" cy="384048"/>
          </a:xfrm>
          <a:prstGeom prst="ellipse">
            <a:avLst/>
          </a:prstGeom>
          <a:solidFill>
            <a:srgbClr val="3D3D3D"/>
          </a:solidFill>
          <a:ln/>
        </p:spPr>
      </p:sp>
      <p:sp>
        <p:nvSpPr>
          <p:cNvPr id="41" name="Text 38"/>
          <p:cNvSpPr/>
          <p:nvPr/>
        </p:nvSpPr>
        <p:spPr>
          <a:xfrm>
            <a:off x="4450080" y="4777740"/>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8</a:t>
            </a:r>
            <a:endParaRPr lang="en-US" sz="1400" dirty="0"/>
          </a:p>
        </p:txBody>
      </p:sp>
      <p:sp>
        <p:nvSpPr>
          <p:cNvPr id="42" name="Text 39"/>
          <p:cNvSpPr/>
          <p:nvPr/>
        </p:nvSpPr>
        <p:spPr>
          <a:xfrm>
            <a:off x="4943856" y="4672584"/>
            <a:ext cx="2795016" cy="594360"/>
          </a:xfrm>
          <a:prstGeom prst="rect">
            <a:avLst/>
          </a:prstGeom>
          <a:noFill/>
          <a:ln/>
        </p:spPr>
        <p:txBody>
          <a:bodyPr wrap="square" rtlCol="0" anchor="ctr"/>
          <a:lstStyle/>
          <a:p>
            <a:pPr indent="0" marL="0">
              <a:buNone/>
            </a:pPr>
            <a:r>
              <a:rPr lang="en-US" sz="1250" b="1" dirty="0">
                <a:solidFill>
                  <a:srgbClr val="141414"/>
                </a:solidFill>
                <a:latin typeface="Aptos Display" pitchFamily="34" charset="0"/>
                <a:ea typeface="Aptos Display" pitchFamily="34" charset="-122"/>
                <a:cs typeface="Aptos Display" pitchFamily="34" charset="-120"/>
              </a:rPr>
              <a:t>Proofread</a:t>
            </a:r>
            <a:endParaRPr lang="en-US" sz="1250" dirty="0"/>
          </a:p>
        </p:txBody>
      </p:sp>
      <p:sp>
        <p:nvSpPr>
          <p:cNvPr id="43" name="Shape 40"/>
          <p:cNvSpPr/>
          <p:nvPr/>
        </p:nvSpPr>
        <p:spPr>
          <a:xfrm>
            <a:off x="8068056" y="4581144"/>
            <a:ext cx="3617976" cy="777240"/>
          </a:xfrm>
          <a:prstGeom prst="roundRect">
            <a:avLst>
              <a:gd name="adj" fmla="val 10588"/>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44" name="Shape 41"/>
          <p:cNvSpPr/>
          <p:nvPr/>
        </p:nvSpPr>
        <p:spPr>
          <a:xfrm>
            <a:off x="8232648" y="4777740"/>
            <a:ext cx="384048" cy="384048"/>
          </a:xfrm>
          <a:prstGeom prst="ellipse">
            <a:avLst/>
          </a:prstGeom>
          <a:solidFill>
            <a:srgbClr val="3D3D3D"/>
          </a:solidFill>
          <a:ln/>
        </p:spPr>
      </p:sp>
      <p:sp>
        <p:nvSpPr>
          <p:cNvPr id="45" name="Text 42"/>
          <p:cNvSpPr/>
          <p:nvPr/>
        </p:nvSpPr>
        <p:spPr>
          <a:xfrm>
            <a:off x="8232648" y="4777740"/>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9</a:t>
            </a:r>
            <a:endParaRPr lang="en-US" sz="1400" dirty="0"/>
          </a:p>
        </p:txBody>
      </p:sp>
      <p:sp>
        <p:nvSpPr>
          <p:cNvPr id="46" name="Text 43"/>
          <p:cNvSpPr/>
          <p:nvPr/>
        </p:nvSpPr>
        <p:spPr>
          <a:xfrm>
            <a:off x="8726424" y="4672584"/>
            <a:ext cx="2795016" cy="594360"/>
          </a:xfrm>
          <a:prstGeom prst="rect">
            <a:avLst/>
          </a:prstGeom>
          <a:noFill/>
          <a:ln/>
        </p:spPr>
        <p:txBody>
          <a:bodyPr wrap="square" rtlCol="0" anchor="ctr"/>
          <a:lstStyle/>
          <a:p>
            <a:pPr indent="0" marL="0">
              <a:buNone/>
            </a:pPr>
            <a:r>
              <a:rPr lang="en-US" sz="1250" b="1" dirty="0">
                <a:solidFill>
                  <a:srgbClr val="141414"/>
                </a:solidFill>
                <a:latin typeface="Aptos Display" pitchFamily="34" charset="0"/>
                <a:ea typeface="Aptos Display" pitchFamily="34" charset="-122"/>
                <a:cs typeface="Aptos Display" pitchFamily="34" charset="-120"/>
              </a:rPr>
              <a:t>Submit on time</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28</a:t>
            </a:r>
            <a:endParaRPr lang="en-US" sz="900" dirty="0"/>
          </a:p>
        </p:txBody>
      </p:sp>
      <p:sp>
        <p:nvSpPr>
          <p:cNvPr id="4" name="Shape 2"/>
          <p:cNvSpPr/>
          <p:nvPr/>
        </p:nvSpPr>
        <p:spPr>
          <a:xfrm>
            <a:off x="0" y="0"/>
            <a:ext cx="12188952" cy="82296"/>
          </a:xfrm>
          <a:prstGeom prst="rect">
            <a:avLst/>
          </a:prstGeom>
          <a:solidFill>
            <a:srgbClr val="3D3D3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3D3D3D"/>
                </a:solidFill>
                <a:latin typeface="Aptos" pitchFamily="34" charset="0"/>
                <a:ea typeface="Aptos" pitchFamily="34" charset="-122"/>
                <a:cs typeface="Aptos" pitchFamily="34" charset="-120"/>
              </a:rPr>
              <a:t>PRACTICAL ACTIVITY · CRITERION 11</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141414"/>
                </a:solidFill>
                <a:latin typeface="Aptos Display" pitchFamily="34" charset="0"/>
                <a:ea typeface="Aptos Display" pitchFamily="34" charset="-122"/>
                <a:cs typeface="Aptos Display" pitchFamily="34" charset="-120"/>
              </a:rPr>
              <a:t>Compiling complete reports on deadline — in practice</a:t>
            </a:r>
            <a:endParaRPr lang="en-US" sz="2600" dirty="0"/>
          </a:p>
        </p:txBody>
      </p:sp>
      <p:sp>
        <p:nvSpPr>
          <p:cNvPr id="7" name="Shape 5"/>
          <p:cNvSpPr/>
          <p:nvPr/>
        </p:nvSpPr>
        <p:spPr>
          <a:xfrm>
            <a:off x="502920" y="1371600"/>
            <a:ext cx="11183112" cy="2468880"/>
          </a:xfrm>
          <a:prstGeom prst="roundRect">
            <a:avLst>
              <a:gd name="adj" fmla="val 3333"/>
            </a:avLst>
          </a:prstGeom>
          <a:solidFill>
            <a:srgbClr val="F2F2F2"/>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8" name="Shape 6"/>
          <p:cNvSpPr/>
          <p:nvPr/>
        </p:nvSpPr>
        <p:spPr>
          <a:xfrm>
            <a:off x="502920" y="1371600"/>
            <a:ext cx="82296" cy="2468880"/>
          </a:xfrm>
          <a:prstGeom prst="rect">
            <a:avLst/>
          </a:prstGeom>
          <a:solidFill>
            <a:srgbClr val="3D3D3D"/>
          </a:solidFill>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082528" y="1554480"/>
            <a:ext cx="347472" cy="347472"/>
          </a:xfrm>
          <a:prstGeom prst="rect">
            <a:avLst/>
          </a:prstGeom>
        </p:spPr>
      </p:pic>
      <p:sp>
        <p:nvSpPr>
          <p:cNvPr id="10" name="Text 7"/>
          <p:cNvSpPr/>
          <p:nvPr/>
        </p:nvSpPr>
        <p:spPr>
          <a:xfrm>
            <a:off x="795528" y="1517904"/>
            <a:ext cx="10177272" cy="2176272"/>
          </a:xfrm>
          <a:prstGeom prst="rect">
            <a:avLst/>
          </a:prstGeom>
          <a:noFill/>
          <a:ln/>
        </p:spPr>
        <p:txBody>
          <a:bodyPr wrap="square" rtlCol="0" anchor="t"/>
          <a:lstStyle/>
          <a:p>
            <a:pPr indent="0" marL="0">
              <a:lnSpc>
                <a:spcPct val="115000"/>
              </a:lnSpc>
              <a:buNone/>
            </a:pPr>
            <a:r>
              <a:rPr lang="en-US" sz="1050" b="1" spc="150" kern="0" dirty="0">
                <a:solidFill>
                  <a:srgbClr val="3D3D3D"/>
                </a:solidFill>
                <a:latin typeface="Aptos" pitchFamily="34" charset="0"/>
                <a:ea typeface="Aptos" pitchFamily="34" charset="-122"/>
                <a:cs typeface="Aptos" pitchFamily="34" charset="-120"/>
              </a:rPr>
              <a:t>WORKPLACE EXAMPLE — INVESTEC
</a:t>
            </a:r>
            <a:pPr indent="0" marL="0">
              <a:lnSpc>
                <a:spcPct val="115000"/>
              </a:lnSpc>
              <a:buNone/>
            </a:pPr>
            <a:r>
              <a:rPr lang="en-US" sz="1500" b="1" dirty="0">
                <a:solidFill>
                  <a:srgbClr val="141414"/>
                </a:solidFill>
                <a:latin typeface="Aptos Display" pitchFamily="34" charset="0"/>
                <a:ea typeface="Aptos Display" pitchFamily="34" charset="-122"/>
                <a:cs typeface="Aptos Display" pitchFamily="34" charset="-120"/>
              </a:rPr>
              <a:t>Outlook outage — Corporate Banking Technology
</a:t>
            </a:r>
            <a:pPr indent="0" marL="0">
              <a:lnSpc>
                <a:spcPct val="115000"/>
              </a:lnSpc>
              <a:buNone/>
            </a:pPr>
            <a:r>
              <a:rPr lang="en-US" sz="1250" dirty="0">
                <a:solidFill>
                  <a:srgbClr val="141414"/>
                </a:solidFill>
                <a:latin typeface="Aptos" pitchFamily="34" charset="0"/>
                <a:ea typeface="Aptos" pitchFamily="34" charset="-122"/>
                <a:cs typeface="Aptos" pitchFamily="34" charset="-120"/>
              </a:rPr>
              <a:t>An Investec IT Support Technician investigates a Microsoft Outlook outage. Evidence comes from ServiceNow tickets, Microsoft Entra ID logs and user interviews; the cause is a failed authentication certificate. The incident report is prepared on the approved template with clear headings, findings, conclusions and recommendations, proofread, and submitted to the IT Support Manager inside the 24-hour deadline.</a:t>
            </a:r>
            <a:endParaRPr lang="en-US" sz="1050" dirty="0"/>
          </a:p>
        </p:txBody>
      </p:sp>
      <p:sp>
        <p:nvSpPr>
          <p:cNvPr id="11" name="Shape 8"/>
          <p:cNvSpPr/>
          <p:nvPr/>
        </p:nvSpPr>
        <p:spPr>
          <a:xfrm>
            <a:off x="502920" y="4023360"/>
            <a:ext cx="5362956" cy="1371600"/>
          </a:xfrm>
          <a:prstGeom prst="roundRect">
            <a:avLst>
              <a:gd name="adj" fmla="val 6000"/>
            </a:avLst>
          </a:prstGeom>
          <a:solidFill>
            <a:srgbClr val="F2F2F2"/>
          </a:solidFill>
          <a:ln w="12700">
            <a:solidFill>
              <a:srgbClr val="DBDBDB"/>
            </a:solidFill>
            <a:prstDash val="solid"/>
          </a:ln>
          <a:effectLst>
            <a:outerShdw sx="100000" sy="100000" kx="0" ky="0" algn="bl" rotWithShape="0" blurRad="88900" dist="25400" dir="5400000">
              <a:srgbClr val="BDBDBD">
                <a:alpha val="30000"/>
              </a:srgbClr>
            </a:outerShdw>
          </a:effectLst>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520" y="4169664"/>
            <a:ext cx="274320" cy="274320"/>
          </a:xfrm>
          <a:prstGeom prst="rect">
            <a:avLst/>
          </a:prstGeom>
        </p:spPr>
      </p:pic>
      <p:sp>
        <p:nvSpPr>
          <p:cNvPr id="13" name="Text 9"/>
          <p:cNvSpPr/>
          <p:nvPr/>
        </p:nvSpPr>
        <p:spPr>
          <a:xfrm>
            <a:off x="1088136" y="4151376"/>
            <a:ext cx="4539996" cy="310896"/>
          </a:xfrm>
          <a:prstGeom prst="rect">
            <a:avLst/>
          </a:prstGeom>
          <a:noFill/>
          <a:ln/>
        </p:spPr>
        <p:txBody>
          <a:bodyPr wrap="square" rtlCol="0" anchor="ctr"/>
          <a:lstStyle/>
          <a:p>
            <a:pPr indent="0" marL="0">
              <a:buNone/>
            </a:pPr>
            <a:r>
              <a:rPr lang="en-US" sz="1100" b="1" spc="150" kern="0" dirty="0">
                <a:solidFill>
                  <a:srgbClr val="3D3D3D"/>
                </a:solidFill>
                <a:latin typeface="Aptos" pitchFamily="34" charset="0"/>
                <a:ea typeface="Aptos" pitchFamily="34" charset="-122"/>
                <a:cs typeface="Aptos" pitchFamily="34" charset="-120"/>
              </a:rPr>
              <a:t>BEST PRACTICE</a:t>
            </a:r>
            <a:endParaRPr lang="en-US" sz="1100" dirty="0"/>
          </a:p>
        </p:txBody>
      </p:sp>
      <p:sp>
        <p:nvSpPr>
          <p:cNvPr id="14" name="Text 10"/>
          <p:cNvSpPr/>
          <p:nvPr/>
        </p:nvSpPr>
        <p:spPr>
          <a:xfrm>
            <a:off x="731520" y="4498848"/>
            <a:ext cx="4905756" cy="786384"/>
          </a:xfrm>
          <a:prstGeom prst="rect">
            <a:avLst/>
          </a:prstGeom>
          <a:noFill/>
          <a:ln/>
        </p:spPr>
        <p:txBody>
          <a:bodyPr wrap="square" rtlCol="0" anchor="t"/>
          <a:lstStyle/>
          <a:p>
            <a:pPr indent="0" marL="0">
              <a:buNone/>
            </a:pPr>
            <a:r>
              <a:rPr lang="en-US" sz="1250" dirty="0">
                <a:solidFill>
                  <a:srgbClr val="141414"/>
                </a:solidFill>
                <a:latin typeface="Aptos" pitchFamily="34" charset="0"/>
                <a:ea typeface="Aptos" pitchFamily="34" charset="-122"/>
                <a:cs typeface="Aptos" pitchFamily="34" charset="-120"/>
              </a:rPr>
              <a:t>Work the nine steps in order — planning and verification prevent rewrites later.</a:t>
            </a:r>
            <a:endParaRPr lang="en-US" sz="1250" dirty="0"/>
          </a:p>
        </p:txBody>
      </p:sp>
      <p:sp>
        <p:nvSpPr>
          <p:cNvPr id="15" name="Shape 11"/>
          <p:cNvSpPr/>
          <p:nvPr/>
        </p:nvSpPr>
        <p:spPr>
          <a:xfrm>
            <a:off x="6323076" y="4023360"/>
            <a:ext cx="5362956" cy="1371600"/>
          </a:xfrm>
          <a:prstGeom prst="roundRect">
            <a:avLst>
              <a:gd name="adj" fmla="val 6000"/>
            </a:avLst>
          </a:prstGeom>
          <a:solidFill>
            <a:srgbClr val="F4F5F7"/>
          </a:solidFill>
          <a:ln w="12700">
            <a:solidFill>
              <a:srgbClr val="DADDE2"/>
            </a:solidFill>
            <a:prstDash val="solid"/>
          </a:ln>
          <a:effectLst>
            <a:outerShdw sx="100000" sy="100000" kx="0" ky="0" algn="bl" rotWithShape="0" blurRad="88900" dist="25400" dir="5400000">
              <a:srgbClr val="BDBDBD">
                <a:alpha val="30000"/>
              </a:srgbClr>
            </a:outerShdw>
          </a:effectLst>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51676" y="4169664"/>
            <a:ext cx="274320" cy="274320"/>
          </a:xfrm>
          <a:prstGeom prst="rect">
            <a:avLst/>
          </a:prstGeom>
        </p:spPr>
      </p:pic>
      <p:sp>
        <p:nvSpPr>
          <p:cNvPr id="17" name="Text 12"/>
          <p:cNvSpPr/>
          <p:nvPr/>
        </p:nvSpPr>
        <p:spPr>
          <a:xfrm>
            <a:off x="6908292" y="4151376"/>
            <a:ext cx="4539996" cy="310896"/>
          </a:xfrm>
          <a:prstGeom prst="rect">
            <a:avLst/>
          </a:prstGeom>
          <a:noFill/>
          <a:ln/>
        </p:spPr>
        <p:txBody>
          <a:bodyPr wrap="square" rtlCol="0" anchor="ctr"/>
          <a:lstStyle/>
          <a:p>
            <a:pPr indent="0" marL="0">
              <a:buNone/>
            </a:pPr>
            <a:r>
              <a:rPr lang="en-US" sz="1100" b="1" spc="150" kern="0" dirty="0">
                <a:solidFill>
                  <a:srgbClr val="6B7280"/>
                </a:solidFill>
                <a:latin typeface="Aptos" pitchFamily="34" charset="0"/>
                <a:ea typeface="Aptos" pitchFamily="34" charset="-122"/>
                <a:cs typeface="Aptos" pitchFamily="34" charset="-120"/>
              </a:rPr>
              <a:t>COMMON MISTAKE</a:t>
            </a:r>
            <a:endParaRPr lang="en-US" sz="1100" dirty="0"/>
          </a:p>
        </p:txBody>
      </p:sp>
      <p:sp>
        <p:nvSpPr>
          <p:cNvPr id="18" name="Text 13"/>
          <p:cNvSpPr/>
          <p:nvPr/>
        </p:nvSpPr>
        <p:spPr>
          <a:xfrm>
            <a:off x="6551676" y="4498848"/>
            <a:ext cx="4905756" cy="786384"/>
          </a:xfrm>
          <a:prstGeom prst="rect">
            <a:avLst/>
          </a:prstGeom>
          <a:noFill/>
          <a:ln/>
        </p:spPr>
        <p:txBody>
          <a:bodyPr wrap="square" rtlCol="0" anchor="t"/>
          <a:lstStyle/>
          <a:p>
            <a:pPr indent="0" marL="0">
              <a:buNone/>
            </a:pPr>
            <a:r>
              <a:rPr lang="en-US" sz="1250" dirty="0">
                <a:solidFill>
                  <a:srgbClr val="141414"/>
                </a:solidFill>
                <a:latin typeface="Aptos" pitchFamily="34" charset="0"/>
                <a:ea typeface="Aptos" pitchFamily="34" charset="-122"/>
                <a:cs typeface="Aptos" pitchFamily="34" charset="-120"/>
              </a:rPr>
              <a:t>Jumping straight to writing before evidence is gathered and verified.</a:t>
            </a:r>
            <a:endParaRPr lang="en-US" sz="1250" dirty="0"/>
          </a:p>
        </p:txBody>
      </p:sp>
      <p:sp>
        <p:nvSpPr>
          <p:cNvPr id="19" name="Shape 14"/>
          <p:cNvSpPr/>
          <p:nvPr/>
        </p:nvSpPr>
        <p:spPr>
          <a:xfrm>
            <a:off x="502920" y="5779008"/>
            <a:ext cx="11183112" cy="603504"/>
          </a:xfrm>
          <a:prstGeom prst="roundRect">
            <a:avLst>
              <a:gd name="adj" fmla="val 10606"/>
            </a:avLst>
          </a:prstGeom>
          <a:solidFill>
            <a:srgbClr val="141414"/>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4088" y="5943600"/>
            <a:ext cx="274320" cy="274320"/>
          </a:xfrm>
          <a:prstGeom prst="rect">
            <a:avLst/>
          </a:prstGeom>
        </p:spPr>
      </p:pic>
      <p:sp>
        <p:nvSpPr>
          <p:cNvPr id="21" name="Text 15"/>
          <p:cNvSpPr/>
          <p:nvPr/>
        </p:nvSpPr>
        <p:spPr>
          <a:xfrm>
            <a:off x="1069848" y="5779008"/>
            <a:ext cx="10378440" cy="603504"/>
          </a:xfrm>
          <a:prstGeom prst="rect">
            <a:avLst/>
          </a:prstGeom>
          <a:noFill/>
          <a:ln/>
        </p:spPr>
        <p:txBody>
          <a:bodyPr wrap="square" rtlCol="0" anchor="ctr"/>
          <a:lstStyle/>
          <a:p>
            <a:pPr indent="0" marL="0">
              <a:buNone/>
            </a:pPr>
            <a:r>
              <a:rPr lang="en-US" sz="1050" b="1" spc="150" kern="0" dirty="0">
                <a:solidFill>
                  <a:srgbClr val="C9C9C9"/>
                </a:solidFill>
                <a:latin typeface="Aptos" pitchFamily="34" charset="0"/>
                <a:ea typeface="Aptos" pitchFamily="34" charset="-122"/>
                <a:cs typeface="Aptos" pitchFamily="34" charset="-120"/>
              </a:rPr>
              <a:t>KNOWLEDGE CHECK   </a:t>
            </a:r>
            <a:pPr indent="0" marL="0">
              <a:buNone/>
            </a:pPr>
            <a:r>
              <a:rPr lang="en-US" sz="1250" dirty="0">
                <a:solidFill>
                  <a:srgbClr val="FFFFFF"/>
                </a:solidFill>
                <a:latin typeface="Aptos" pitchFamily="34" charset="0"/>
                <a:ea typeface="Aptos" pitchFamily="34" charset="-122"/>
                <a:cs typeface="Aptos" pitchFamily="34" charset="-120"/>
              </a:rPr>
              <a:t>Which three evidence sources did the technician combine in the Outlook outage investigation?</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29</a:t>
            </a:r>
            <a:endParaRPr lang="en-US" sz="900" dirty="0"/>
          </a:p>
        </p:txBody>
      </p:sp>
      <p:sp>
        <p:nvSpPr>
          <p:cNvPr id="4" name="Shape 2"/>
          <p:cNvSpPr/>
          <p:nvPr/>
        </p:nvSpPr>
        <p:spPr>
          <a:xfrm>
            <a:off x="0" y="0"/>
            <a:ext cx="12188952" cy="82296"/>
          </a:xfrm>
          <a:prstGeom prst="rect">
            <a:avLst/>
          </a:prstGeom>
          <a:solidFill>
            <a:srgbClr val="3D3D3D"/>
          </a:solidFill>
          <a:ln/>
        </p:spPr>
      </p:sp>
      <p:sp>
        <p:nvSpPr>
          <p:cNvPr id="5" name="Shape 3"/>
          <p:cNvSpPr/>
          <p:nvPr/>
        </p:nvSpPr>
        <p:spPr>
          <a:xfrm>
            <a:off x="0" y="0"/>
            <a:ext cx="12188952" cy="82296"/>
          </a:xfrm>
          <a:prstGeom prst="rect">
            <a:avLst/>
          </a:prstGeom>
          <a:solidFill>
            <a:srgbClr val="3D3D3D"/>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2920" y="1554480"/>
            <a:ext cx="548640" cy="548640"/>
          </a:xfrm>
          <a:prstGeom prst="rect">
            <a:avLst/>
          </a:prstGeom>
        </p:spPr>
      </p:pic>
      <p:sp>
        <p:nvSpPr>
          <p:cNvPr id="7" name="Text 4"/>
          <p:cNvSpPr/>
          <p:nvPr/>
        </p:nvSpPr>
        <p:spPr>
          <a:xfrm>
            <a:off x="502920" y="2286000"/>
            <a:ext cx="11183112" cy="365760"/>
          </a:xfrm>
          <a:prstGeom prst="rect">
            <a:avLst/>
          </a:prstGeom>
          <a:noFill/>
          <a:ln/>
        </p:spPr>
        <p:txBody>
          <a:bodyPr wrap="square" rtlCol="0" anchor="ctr"/>
          <a:lstStyle/>
          <a:p>
            <a:pPr indent="0" marL="0">
              <a:buNone/>
            </a:pPr>
            <a:r>
              <a:rPr lang="en-US" sz="1400" b="1" spc="300" kern="0" dirty="0">
                <a:solidFill>
                  <a:srgbClr val="3D3D3D"/>
                </a:solidFill>
                <a:latin typeface="Aptos" pitchFamily="34" charset="0"/>
                <a:ea typeface="Aptos" pitchFamily="34" charset="-122"/>
                <a:cs typeface="Aptos" pitchFamily="34" charset="-120"/>
              </a:rPr>
              <a:t>SECTION 3</a:t>
            </a:r>
            <a:endParaRPr lang="en-US" sz="1400" dirty="0"/>
          </a:p>
        </p:txBody>
      </p:sp>
      <p:sp>
        <p:nvSpPr>
          <p:cNvPr id="8" name="Text 5"/>
          <p:cNvSpPr/>
          <p:nvPr/>
        </p:nvSpPr>
        <p:spPr>
          <a:xfrm>
            <a:off x="502920" y="2697480"/>
            <a:ext cx="11183112" cy="914400"/>
          </a:xfrm>
          <a:prstGeom prst="rect">
            <a:avLst/>
          </a:prstGeom>
          <a:noFill/>
          <a:ln/>
        </p:spPr>
        <p:txBody>
          <a:bodyPr wrap="square" rtlCol="0" anchor="ctr"/>
          <a:lstStyle/>
          <a:p>
            <a:pPr indent="0" marL="0">
              <a:buNone/>
            </a:pPr>
            <a:r>
              <a:rPr lang="en-US" sz="4000" b="1" dirty="0">
                <a:solidFill>
                  <a:srgbClr val="141414"/>
                </a:solidFill>
                <a:latin typeface="Aptos Display" pitchFamily="34" charset="0"/>
                <a:ea typeface="Aptos Display" pitchFamily="34" charset="-122"/>
                <a:cs typeface="Aptos Display" pitchFamily="34" charset="-120"/>
              </a:rPr>
              <a:t>Wrap-up and Assessment</a:t>
            </a:r>
            <a:endParaRPr lang="en-US" sz="4000" dirty="0"/>
          </a:p>
        </p:txBody>
      </p:sp>
      <p:sp>
        <p:nvSpPr>
          <p:cNvPr id="9" name="Text 6"/>
          <p:cNvSpPr/>
          <p:nvPr/>
        </p:nvSpPr>
        <p:spPr>
          <a:xfrm>
            <a:off x="502920" y="3657600"/>
            <a:ext cx="8439912" cy="731520"/>
          </a:xfrm>
          <a:prstGeom prst="rect">
            <a:avLst/>
          </a:prstGeom>
          <a:noFill/>
          <a:ln/>
        </p:spPr>
        <p:txBody>
          <a:bodyPr wrap="square" rtlCol="0" anchor="ctr"/>
          <a:lstStyle/>
          <a:p>
            <a:pPr indent="0" marL="0">
              <a:buNone/>
            </a:pPr>
            <a:r>
              <a:rPr lang="en-US" sz="1500" dirty="0">
                <a:solidFill>
                  <a:srgbClr val="6B7280"/>
                </a:solidFill>
                <a:latin typeface="Aptos" pitchFamily="34" charset="0"/>
                <a:ea typeface="Aptos" pitchFamily="34" charset="-122"/>
                <a:cs typeface="Aptos" pitchFamily="34" charset="-120"/>
              </a:rPr>
              <a:t>Summary, assessment preparation, practical activity and final knowledge check.</a:t>
            </a:r>
            <a:endParaRPr lang="en-US" sz="1500" dirty="0"/>
          </a:p>
        </p:txBody>
      </p:sp>
      <p:sp>
        <p:nvSpPr>
          <p:cNvPr id="10" name="Shape 7"/>
          <p:cNvSpPr/>
          <p:nvPr/>
        </p:nvSpPr>
        <p:spPr>
          <a:xfrm>
            <a:off x="502920" y="4480560"/>
            <a:ext cx="1280160" cy="109728"/>
          </a:xfrm>
          <a:prstGeom prst="roundRect">
            <a:avLst>
              <a:gd name="adj" fmla="val 50000"/>
            </a:avLst>
          </a:prstGeom>
          <a:solidFill>
            <a:srgbClr val="3D3D3D"/>
          </a:solidFill>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30</a:t>
            </a:r>
            <a:endParaRPr lang="en-US" sz="900" dirty="0"/>
          </a:p>
        </p:txBody>
      </p:sp>
      <p:sp>
        <p:nvSpPr>
          <p:cNvPr id="4" name="Shape 2"/>
          <p:cNvSpPr/>
          <p:nvPr/>
        </p:nvSpPr>
        <p:spPr>
          <a:xfrm>
            <a:off x="0" y="0"/>
            <a:ext cx="12188952" cy="82296"/>
          </a:xfrm>
          <a:prstGeom prst="rect">
            <a:avLst/>
          </a:prstGeom>
          <a:solidFill>
            <a:srgbClr val="3D3D3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3D3D3D"/>
                </a:solidFill>
                <a:latin typeface="Aptos" pitchFamily="34" charset="0"/>
                <a:ea typeface="Aptos" pitchFamily="34" charset="-122"/>
                <a:cs typeface="Aptos" pitchFamily="34" charset="-120"/>
              </a:rPr>
              <a:t>WRAP-UP</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141414"/>
                </a:solidFill>
                <a:latin typeface="Aptos Display" pitchFamily="34" charset="0"/>
                <a:ea typeface="Aptos Display" pitchFamily="34" charset="-122"/>
                <a:cs typeface="Aptos Display" pitchFamily="34" charset="-120"/>
              </a:rPr>
              <a:t>Summary — what competent looks like</a:t>
            </a:r>
            <a:endParaRPr lang="en-US" sz="2600" dirty="0"/>
          </a:p>
        </p:txBody>
      </p:sp>
      <p:sp>
        <p:nvSpPr>
          <p:cNvPr id="7" name="Shape 5"/>
          <p:cNvSpPr/>
          <p:nvPr/>
        </p:nvSpPr>
        <p:spPr>
          <a:xfrm>
            <a:off x="502920" y="1298448"/>
            <a:ext cx="11183112" cy="566928"/>
          </a:xfrm>
          <a:prstGeom prst="roundRect">
            <a:avLst>
              <a:gd name="adj" fmla="val 11290"/>
            </a:avLst>
          </a:prstGeom>
          <a:solidFill>
            <a:srgbClr val="F2F2F2"/>
          </a:solidFill>
          <a:ln w="9525">
            <a:solidFill>
              <a:srgbClr val="DBDBDB"/>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1444752"/>
            <a:ext cx="274320" cy="274320"/>
          </a:xfrm>
          <a:prstGeom prst="rect">
            <a:avLst/>
          </a:prstGeom>
        </p:spPr>
      </p:pic>
      <p:sp>
        <p:nvSpPr>
          <p:cNvPr id="9" name="Text 6"/>
          <p:cNvSpPr/>
          <p:nvPr/>
        </p:nvSpPr>
        <p:spPr>
          <a:xfrm>
            <a:off x="1069848" y="1298448"/>
            <a:ext cx="10378440" cy="566928"/>
          </a:xfrm>
          <a:prstGeom prst="rect">
            <a:avLst/>
          </a:prstGeom>
          <a:noFill/>
          <a:ln/>
        </p:spPr>
        <p:txBody>
          <a:bodyPr wrap="square" rtlCol="0" anchor="ctr"/>
          <a:lstStyle/>
          <a:p>
            <a:pPr indent="0" marL="0">
              <a:buNone/>
            </a:pPr>
            <a:r>
              <a:rPr lang="en-US" sz="1050" b="1" spc="150" kern="0" dirty="0">
                <a:solidFill>
                  <a:srgbClr val="3D3D3D"/>
                </a:solidFill>
                <a:latin typeface="Aptos" pitchFamily="34" charset="0"/>
                <a:ea typeface="Aptos" pitchFamily="34" charset="-122"/>
                <a:cs typeface="Aptos" pitchFamily="34" charset="-120"/>
              </a:rPr>
              <a:t>LEARNING OBJECTIVE   </a:t>
            </a:r>
            <a:pPr indent="0" marL="0">
              <a:buNone/>
            </a:pPr>
            <a:r>
              <a:rPr lang="en-US" sz="1300" dirty="0">
                <a:solidFill>
                  <a:srgbClr val="141414"/>
                </a:solidFill>
                <a:latin typeface="Aptos" pitchFamily="34" charset="0"/>
                <a:ea typeface="Aptos" pitchFamily="34" charset="-122"/>
                <a:cs typeface="Aptos" pitchFamily="34" charset="-120"/>
              </a:rPr>
              <a:t>Consolidate the nine knowledge criteria and two practical activities of US 8252.</a:t>
            </a:r>
            <a:endParaRPr lang="en-US" sz="1050" dirty="0"/>
          </a:p>
        </p:txBody>
      </p:sp>
      <p:sp>
        <p:nvSpPr>
          <p:cNvPr id="10" name="Shape 7"/>
          <p:cNvSpPr/>
          <p:nvPr/>
        </p:nvSpPr>
        <p:spPr>
          <a:xfrm>
            <a:off x="502920" y="2148840"/>
            <a:ext cx="3593592" cy="1188720"/>
          </a:xfrm>
          <a:prstGeom prst="roundRect">
            <a:avLst>
              <a:gd name="adj" fmla="val 6923"/>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512" y="2304288"/>
            <a:ext cx="310896" cy="310896"/>
          </a:xfrm>
          <a:prstGeom prst="rect">
            <a:avLst/>
          </a:prstGeom>
        </p:spPr>
      </p:pic>
      <p:sp>
        <p:nvSpPr>
          <p:cNvPr id="12" name="Text 8"/>
          <p:cNvSpPr/>
          <p:nvPr/>
        </p:nvSpPr>
        <p:spPr>
          <a:xfrm>
            <a:off x="1069848" y="2267712"/>
            <a:ext cx="2862072" cy="384048"/>
          </a:xfrm>
          <a:prstGeom prst="rect">
            <a:avLst/>
          </a:prstGeom>
          <a:noFill/>
          <a:ln/>
        </p:spPr>
        <p:txBody>
          <a:bodyPr wrap="square" rtlCol="0" anchor="ctr"/>
          <a:lstStyle/>
          <a:p>
            <a:pPr indent="0" marL="0">
              <a:buNone/>
            </a:pPr>
            <a:r>
              <a:rPr lang="en-US" sz="1350" b="1" dirty="0">
                <a:solidFill>
                  <a:srgbClr val="141414"/>
                </a:solidFill>
                <a:latin typeface="Aptos Display" pitchFamily="34" charset="0"/>
                <a:ea typeface="Aptos Display" pitchFamily="34" charset="-122"/>
                <a:cs typeface="Aptos Display" pitchFamily="34" charset="-120"/>
              </a:rPr>
              <a:t>Purpose first</a:t>
            </a:r>
            <a:endParaRPr lang="en-US" sz="1350" dirty="0"/>
          </a:p>
        </p:txBody>
      </p:sp>
      <p:sp>
        <p:nvSpPr>
          <p:cNvPr id="13" name="Text 9"/>
          <p:cNvSpPr/>
          <p:nvPr/>
        </p:nvSpPr>
        <p:spPr>
          <a:xfrm>
            <a:off x="667512" y="2697480"/>
            <a:ext cx="3264408" cy="53035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Know why the report is written and who reads it.</a:t>
            </a:r>
            <a:endParaRPr lang="en-US" sz="1050" dirty="0"/>
          </a:p>
        </p:txBody>
      </p:sp>
      <p:sp>
        <p:nvSpPr>
          <p:cNvPr id="14" name="Shape 10"/>
          <p:cNvSpPr/>
          <p:nvPr/>
        </p:nvSpPr>
        <p:spPr>
          <a:xfrm>
            <a:off x="4297680" y="2148840"/>
            <a:ext cx="3593592" cy="1188720"/>
          </a:xfrm>
          <a:prstGeom prst="roundRect">
            <a:avLst>
              <a:gd name="adj" fmla="val 6923"/>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62272" y="2304288"/>
            <a:ext cx="310896" cy="310896"/>
          </a:xfrm>
          <a:prstGeom prst="rect">
            <a:avLst/>
          </a:prstGeom>
        </p:spPr>
      </p:pic>
      <p:sp>
        <p:nvSpPr>
          <p:cNvPr id="16" name="Text 11"/>
          <p:cNvSpPr/>
          <p:nvPr/>
        </p:nvSpPr>
        <p:spPr>
          <a:xfrm>
            <a:off x="4864608" y="2267712"/>
            <a:ext cx="2862072" cy="384048"/>
          </a:xfrm>
          <a:prstGeom prst="rect">
            <a:avLst/>
          </a:prstGeom>
          <a:noFill/>
          <a:ln/>
        </p:spPr>
        <p:txBody>
          <a:bodyPr wrap="square" rtlCol="0" anchor="ctr"/>
          <a:lstStyle/>
          <a:p>
            <a:pPr indent="0" marL="0">
              <a:buNone/>
            </a:pPr>
            <a:r>
              <a:rPr lang="en-US" sz="1350" b="1" dirty="0">
                <a:solidFill>
                  <a:srgbClr val="141414"/>
                </a:solidFill>
                <a:latin typeface="Aptos Display" pitchFamily="34" charset="0"/>
                <a:ea typeface="Aptos Display" pitchFamily="34" charset="-122"/>
                <a:cs typeface="Aptos Display" pitchFamily="34" charset="-120"/>
              </a:rPr>
              <a:t>Real evidence</a:t>
            </a:r>
            <a:endParaRPr lang="en-US" sz="1350" dirty="0"/>
          </a:p>
        </p:txBody>
      </p:sp>
      <p:sp>
        <p:nvSpPr>
          <p:cNvPr id="17" name="Text 12"/>
          <p:cNvSpPr/>
          <p:nvPr/>
        </p:nvSpPr>
        <p:spPr>
          <a:xfrm>
            <a:off x="4462272" y="2697480"/>
            <a:ext cx="3264408" cy="53035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Reliable business sources, verified facts.</a:t>
            </a:r>
            <a:endParaRPr lang="en-US" sz="1050" dirty="0"/>
          </a:p>
        </p:txBody>
      </p:sp>
      <p:sp>
        <p:nvSpPr>
          <p:cNvPr id="18" name="Shape 13"/>
          <p:cNvSpPr/>
          <p:nvPr/>
        </p:nvSpPr>
        <p:spPr>
          <a:xfrm>
            <a:off x="8092440" y="2148840"/>
            <a:ext cx="3593592" cy="1188720"/>
          </a:xfrm>
          <a:prstGeom prst="roundRect">
            <a:avLst>
              <a:gd name="adj" fmla="val 6923"/>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pic>
        <p:nvPicPr>
          <p:cNvPr id="1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57032" y="2304288"/>
            <a:ext cx="310896" cy="310896"/>
          </a:xfrm>
          <a:prstGeom prst="rect">
            <a:avLst/>
          </a:prstGeom>
        </p:spPr>
      </p:pic>
      <p:sp>
        <p:nvSpPr>
          <p:cNvPr id="20" name="Text 14"/>
          <p:cNvSpPr/>
          <p:nvPr/>
        </p:nvSpPr>
        <p:spPr>
          <a:xfrm>
            <a:off x="8659368" y="2267712"/>
            <a:ext cx="2862072" cy="384048"/>
          </a:xfrm>
          <a:prstGeom prst="rect">
            <a:avLst/>
          </a:prstGeom>
          <a:noFill/>
          <a:ln/>
        </p:spPr>
        <p:txBody>
          <a:bodyPr wrap="square" rtlCol="0" anchor="ctr"/>
          <a:lstStyle/>
          <a:p>
            <a:pPr indent="0" marL="0">
              <a:buNone/>
            </a:pPr>
            <a:r>
              <a:rPr lang="en-US" sz="1350" b="1" dirty="0">
                <a:solidFill>
                  <a:srgbClr val="141414"/>
                </a:solidFill>
                <a:latin typeface="Aptos Display" pitchFamily="34" charset="0"/>
                <a:ea typeface="Aptos Display" pitchFamily="34" charset="-122"/>
                <a:cs typeface="Aptos Display" pitchFamily="34" charset="-120"/>
              </a:rPr>
              <a:t>Confidential control</a:t>
            </a:r>
            <a:endParaRPr lang="en-US" sz="1350" dirty="0"/>
          </a:p>
        </p:txBody>
      </p:sp>
      <p:sp>
        <p:nvSpPr>
          <p:cNvPr id="21" name="Text 15"/>
          <p:cNvSpPr/>
          <p:nvPr/>
        </p:nvSpPr>
        <p:spPr>
          <a:xfrm>
            <a:off x="8257032" y="2697480"/>
            <a:ext cx="3264408" cy="53035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Authorised readers, approved channels, safe storage.</a:t>
            </a:r>
            <a:endParaRPr lang="en-US" sz="1050" dirty="0"/>
          </a:p>
        </p:txBody>
      </p:sp>
      <p:sp>
        <p:nvSpPr>
          <p:cNvPr id="22" name="Shape 16"/>
          <p:cNvSpPr/>
          <p:nvPr/>
        </p:nvSpPr>
        <p:spPr>
          <a:xfrm>
            <a:off x="502920" y="3538728"/>
            <a:ext cx="3593592" cy="1188720"/>
          </a:xfrm>
          <a:prstGeom prst="roundRect">
            <a:avLst>
              <a:gd name="adj" fmla="val 6923"/>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pic>
        <p:nvPicPr>
          <p:cNvPr id="23"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7512" y="3694176"/>
            <a:ext cx="310896" cy="310896"/>
          </a:xfrm>
          <a:prstGeom prst="rect">
            <a:avLst/>
          </a:prstGeom>
        </p:spPr>
      </p:pic>
      <p:sp>
        <p:nvSpPr>
          <p:cNvPr id="24" name="Text 17"/>
          <p:cNvSpPr/>
          <p:nvPr/>
        </p:nvSpPr>
        <p:spPr>
          <a:xfrm>
            <a:off x="1069848" y="3657600"/>
            <a:ext cx="2862072" cy="384048"/>
          </a:xfrm>
          <a:prstGeom prst="rect">
            <a:avLst/>
          </a:prstGeom>
          <a:noFill/>
          <a:ln/>
        </p:spPr>
        <p:txBody>
          <a:bodyPr wrap="square" rtlCol="0" anchor="ctr"/>
          <a:lstStyle/>
          <a:p>
            <a:pPr indent="0" marL="0">
              <a:buNone/>
            </a:pPr>
            <a:r>
              <a:rPr lang="en-US" sz="1350" b="1" dirty="0">
                <a:solidFill>
                  <a:srgbClr val="141414"/>
                </a:solidFill>
                <a:latin typeface="Aptos Display" pitchFamily="34" charset="0"/>
                <a:ea typeface="Aptos Display" pitchFamily="34" charset="-122"/>
                <a:cs typeface="Aptos Display" pitchFamily="34" charset="-120"/>
              </a:rPr>
              <a:t>House standards</a:t>
            </a:r>
            <a:endParaRPr lang="en-US" sz="1350" dirty="0"/>
          </a:p>
        </p:txBody>
      </p:sp>
      <p:sp>
        <p:nvSpPr>
          <p:cNvPr id="25" name="Text 18"/>
          <p:cNvSpPr/>
          <p:nvPr/>
        </p:nvSpPr>
        <p:spPr>
          <a:xfrm>
            <a:off x="667512" y="4087368"/>
            <a:ext cx="3264408" cy="53035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Template, headings, numbering, classification.</a:t>
            </a:r>
            <a:endParaRPr lang="en-US" sz="1050" dirty="0"/>
          </a:p>
        </p:txBody>
      </p:sp>
      <p:sp>
        <p:nvSpPr>
          <p:cNvPr id="26" name="Shape 19"/>
          <p:cNvSpPr/>
          <p:nvPr/>
        </p:nvSpPr>
        <p:spPr>
          <a:xfrm>
            <a:off x="4297680" y="3538728"/>
            <a:ext cx="3593592" cy="1188720"/>
          </a:xfrm>
          <a:prstGeom prst="roundRect">
            <a:avLst>
              <a:gd name="adj" fmla="val 6923"/>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pic>
        <p:nvPicPr>
          <p:cNvPr id="27"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62272" y="3694176"/>
            <a:ext cx="310896" cy="310896"/>
          </a:xfrm>
          <a:prstGeom prst="rect">
            <a:avLst/>
          </a:prstGeom>
        </p:spPr>
      </p:pic>
      <p:sp>
        <p:nvSpPr>
          <p:cNvPr id="28" name="Text 20"/>
          <p:cNvSpPr/>
          <p:nvPr/>
        </p:nvSpPr>
        <p:spPr>
          <a:xfrm>
            <a:off x="4864608" y="3657600"/>
            <a:ext cx="2862072" cy="384048"/>
          </a:xfrm>
          <a:prstGeom prst="rect">
            <a:avLst/>
          </a:prstGeom>
          <a:noFill/>
          <a:ln/>
        </p:spPr>
        <p:txBody>
          <a:bodyPr wrap="square" rtlCol="0" anchor="ctr"/>
          <a:lstStyle/>
          <a:p>
            <a:pPr indent="0" marL="0">
              <a:buNone/>
            </a:pPr>
            <a:r>
              <a:rPr lang="en-US" sz="1350" b="1" dirty="0">
                <a:solidFill>
                  <a:srgbClr val="141414"/>
                </a:solidFill>
                <a:latin typeface="Aptos Display" pitchFamily="34" charset="0"/>
                <a:ea typeface="Aptos Display" pitchFamily="34" charset="-122"/>
                <a:cs typeface="Aptos Display" pitchFamily="34" charset="-120"/>
              </a:rPr>
              <a:t>Professional writing</a:t>
            </a:r>
            <a:endParaRPr lang="en-US" sz="1350" dirty="0"/>
          </a:p>
        </p:txBody>
      </p:sp>
      <p:sp>
        <p:nvSpPr>
          <p:cNvPr id="29" name="Text 21"/>
          <p:cNvSpPr/>
          <p:nvPr/>
        </p:nvSpPr>
        <p:spPr>
          <a:xfrm>
            <a:off x="4462272" y="4087368"/>
            <a:ext cx="3264408" cy="53035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Objective, quantified, plain-English content.</a:t>
            </a:r>
            <a:endParaRPr lang="en-US" sz="1050" dirty="0"/>
          </a:p>
        </p:txBody>
      </p:sp>
      <p:sp>
        <p:nvSpPr>
          <p:cNvPr id="30" name="Shape 22"/>
          <p:cNvSpPr/>
          <p:nvPr/>
        </p:nvSpPr>
        <p:spPr>
          <a:xfrm>
            <a:off x="8092440" y="3538728"/>
            <a:ext cx="3593592" cy="1188720"/>
          </a:xfrm>
          <a:prstGeom prst="roundRect">
            <a:avLst>
              <a:gd name="adj" fmla="val 6923"/>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pic>
        <p:nvPicPr>
          <p:cNvPr id="31"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257032" y="3694176"/>
            <a:ext cx="310896" cy="310896"/>
          </a:xfrm>
          <a:prstGeom prst="rect">
            <a:avLst/>
          </a:prstGeom>
        </p:spPr>
      </p:pic>
      <p:sp>
        <p:nvSpPr>
          <p:cNvPr id="32" name="Text 23"/>
          <p:cNvSpPr/>
          <p:nvPr/>
        </p:nvSpPr>
        <p:spPr>
          <a:xfrm>
            <a:off x="8659368" y="3657600"/>
            <a:ext cx="2862072" cy="384048"/>
          </a:xfrm>
          <a:prstGeom prst="rect">
            <a:avLst/>
          </a:prstGeom>
          <a:noFill/>
          <a:ln/>
        </p:spPr>
        <p:txBody>
          <a:bodyPr wrap="square" rtlCol="0" anchor="ctr"/>
          <a:lstStyle/>
          <a:p>
            <a:pPr indent="0" marL="0">
              <a:buNone/>
            </a:pPr>
            <a:r>
              <a:rPr lang="en-US" sz="1350" b="1" dirty="0">
                <a:solidFill>
                  <a:srgbClr val="141414"/>
                </a:solidFill>
                <a:latin typeface="Aptos Display" pitchFamily="34" charset="0"/>
                <a:ea typeface="Aptos Display" pitchFamily="34" charset="-122"/>
                <a:cs typeface="Aptos Display" pitchFamily="34" charset="-120"/>
              </a:rPr>
              <a:t>On time, every time</a:t>
            </a:r>
            <a:endParaRPr lang="en-US" sz="1350" dirty="0"/>
          </a:p>
        </p:txBody>
      </p:sp>
      <p:sp>
        <p:nvSpPr>
          <p:cNvPr id="33" name="Text 24"/>
          <p:cNvSpPr/>
          <p:nvPr/>
        </p:nvSpPr>
        <p:spPr>
          <a:xfrm>
            <a:off x="8257032" y="4087368"/>
            <a:ext cx="3264408" cy="530352"/>
          </a:xfrm>
          <a:prstGeom prst="rect">
            <a:avLst/>
          </a:prstGeom>
          <a:noFill/>
          <a:ln/>
        </p:spPr>
        <p:txBody>
          <a:bodyPr wrap="square" rtlCol="0" anchor="t"/>
          <a:lstStyle/>
          <a:p>
            <a:pPr indent="0" marL="0">
              <a:buNone/>
            </a:pPr>
            <a:r>
              <a:rPr lang="en-US" sz="1050" dirty="0">
                <a:solidFill>
                  <a:srgbClr val="6B7280"/>
                </a:solidFill>
                <a:latin typeface="Aptos" pitchFamily="34" charset="0"/>
                <a:ea typeface="Aptos" pitchFamily="34" charset="-122"/>
                <a:cs typeface="Aptos" pitchFamily="34" charset="-120"/>
              </a:rPr>
              <a:t>Deadlines met; decisions enabled.</a:t>
            </a:r>
            <a:endParaRPr lang="en-US" sz="1050" dirty="0"/>
          </a:p>
        </p:txBody>
      </p:sp>
      <p:sp>
        <p:nvSpPr>
          <p:cNvPr id="34" name="Shape 25"/>
          <p:cNvSpPr/>
          <p:nvPr/>
        </p:nvSpPr>
        <p:spPr>
          <a:xfrm>
            <a:off x="502920" y="5779008"/>
            <a:ext cx="11183112" cy="603504"/>
          </a:xfrm>
          <a:prstGeom prst="roundRect">
            <a:avLst>
              <a:gd name="adj" fmla="val 10606"/>
            </a:avLst>
          </a:prstGeom>
          <a:solidFill>
            <a:srgbClr val="141414"/>
          </a:solidFill>
          <a:ln/>
        </p:spPr>
      </p:sp>
      <p:pic>
        <p:nvPicPr>
          <p:cNvPr id="35"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04088" y="5943600"/>
            <a:ext cx="274320" cy="274320"/>
          </a:xfrm>
          <a:prstGeom prst="rect">
            <a:avLst/>
          </a:prstGeom>
        </p:spPr>
      </p:pic>
      <p:sp>
        <p:nvSpPr>
          <p:cNvPr id="36" name="Text 26"/>
          <p:cNvSpPr/>
          <p:nvPr/>
        </p:nvSpPr>
        <p:spPr>
          <a:xfrm>
            <a:off x="1069848" y="5779008"/>
            <a:ext cx="10378440" cy="603504"/>
          </a:xfrm>
          <a:prstGeom prst="rect">
            <a:avLst/>
          </a:prstGeom>
          <a:noFill/>
          <a:ln/>
        </p:spPr>
        <p:txBody>
          <a:bodyPr wrap="square" rtlCol="0" anchor="ctr"/>
          <a:lstStyle/>
          <a:p>
            <a:pPr indent="0" marL="0">
              <a:buNone/>
            </a:pPr>
            <a:r>
              <a:rPr lang="en-US" sz="1050" b="1" spc="150" kern="0" dirty="0">
                <a:solidFill>
                  <a:srgbClr val="C9C9C9"/>
                </a:solidFill>
                <a:latin typeface="Aptos" pitchFamily="34" charset="0"/>
                <a:ea typeface="Aptos" pitchFamily="34" charset="-122"/>
                <a:cs typeface="Aptos" pitchFamily="34" charset="-120"/>
              </a:rPr>
              <a:t>KNOWLEDGE CHECK   </a:t>
            </a:r>
            <a:pPr indent="0" marL="0">
              <a:buNone/>
            </a:pPr>
            <a:r>
              <a:rPr lang="en-US" sz="1250" dirty="0">
                <a:solidFill>
                  <a:srgbClr val="FFFFFF"/>
                </a:solidFill>
                <a:latin typeface="Aptos" pitchFamily="34" charset="0"/>
                <a:ea typeface="Aptos" pitchFamily="34" charset="-122"/>
                <a:cs typeface="Aptos" pitchFamily="34" charset="-120"/>
              </a:rPr>
              <a:t>Which single criterion would an assessor say is your strongest today — and which needs deliberate practice this week?</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31</a:t>
            </a:r>
            <a:endParaRPr lang="en-US" sz="900" dirty="0"/>
          </a:p>
        </p:txBody>
      </p:sp>
      <p:sp>
        <p:nvSpPr>
          <p:cNvPr id="4" name="Shape 2"/>
          <p:cNvSpPr/>
          <p:nvPr/>
        </p:nvSpPr>
        <p:spPr>
          <a:xfrm>
            <a:off x="0" y="0"/>
            <a:ext cx="12188952" cy="82296"/>
          </a:xfrm>
          <a:prstGeom prst="rect">
            <a:avLst/>
          </a:prstGeom>
          <a:solidFill>
            <a:srgbClr val="3D3D3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3D3D3D"/>
                </a:solidFill>
                <a:latin typeface="Aptos" pitchFamily="34" charset="0"/>
                <a:ea typeface="Aptos" pitchFamily="34" charset="-122"/>
                <a:cs typeface="Aptos" pitchFamily="34" charset="-120"/>
              </a:rPr>
              <a:t>WRAP-UP</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141414"/>
                </a:solidFill>
                <a:latin typeface="Aptos Display" pitchFamily="34" charset="0"/>
                <a:ea typeface="Aptos Display" pitchFamily="34" charset="-122"/>
                <a:cs typeface="Aptos Display" pitchFamily="34" charset="-120"/>
              </a:rPr>
              <a:t>Assessment preparation</a:t>
            </a:r>
            <a:endParaRPr lang="en-US" sz="2600" dirty="0"/>
          </a:p>
        </p:txBody>
      </p:sp>
      <p:sp>
        <p:nvSpPr>
          <p:cNvPr id="7" name="Shape 5"/>
          <p:cNvSpPr/>
          <p:nvPr/>
        </p:nvSpPr>
        <p:spPr>
          <a:xfrm>
            <a:off x="502920" y="1298448"/>
            <a:ext cx="11183112" cy="566928"/>
          </a:xfrm>
          <a:prstGeom prst="roundRect">
            <a:avLst>
              <a:gd name="adj" fmla="val 11290"/>
            </a:avLst>
          </a:prstGeom>
          <a:solidFill>
            <a:srgbClr val="F2F2F2"/>
          </a:solidFill>
          <a:ln w="9525">
            <a:solidFill>
              <a:srgbClr val="DBDBDB"/>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1444752"/>
            <a:ext cx="274320" cy="274320"/>
          </a:xfrm>
          <a:prstGeom prst="rect">
            <a:avLst/>
          </a:prstGeom>
        </p:spPr>
      </p:pic>
      <p:sp>
        <p:nvSpPr>
          <p:cNvPr id="9" name="Text 6"/>
          <p:cNvSpPr/>
          <p:nvPr/>
        </p:nvSpPr>
        <p:spPr>
          <a:xfrm>
            <a:off x="1069848" y="1298448"/>
            <a:ext cx="10378440" cy="566928"/>
          </a:xfrm>
          <a:prstGeom prst="rect">
            <a:avLst/>
          </a:prstGeom>
          <a:noFill/>
          <a:ln/>
        </p:spPr>
        <p:txBody>
          <a:bodyPr wrap="square" rtlCol="0" anchor="ctr"/>
          <a:lstStyle/>
          <a:p>
            <a:pPr indent="0" marL="0">
              <a:buNone/>
            </a:pPr>
            <a:r>
              <a:rPr lang="en-US" sz="1050" b="1" spc="150" kern="0" dirty="0">
                <a:solidFill>
                  <a:srgbClr val="3D3D3D"/>
                </a:solidFill>
                <a:latin typeface="Aptos" pitchFamily="34" charset="0"/>
                <a:ea typeface="Aptos" pitchFamily="34" charset="-122"/>
                <a:cs typeface="Aptos" pitchFamily="34" charset="-120"/>
              </a:rPr>
              <a:t>LEARNING OBJECTIVE   </a:t>
            </a:r>
            <a:pPr indent="0" marL="0">
              <a:buNone/>
            </a:pPr>
            <a:r>
              <a:rPr lang="en-US" sz="1300" dirty="0">
                <a:solidFill>
                  <a:srgbClr val="141414"/>
                </a:solidFill>
                <a:latin typeface="Aptos" pitchFamily="34" charset="0"/>
                <a:ea typeface="Aptos" pitchFamily="34" charset="-122"/>
                <a:cs typeface="Aptos" pitchFamily="34" charset="-120"/>
              </a:rPr>
              <a:t>Know exactly what the assessor checks before you submit your evidence.</a:t>
            </a:r>
            <a:endParaRPr lang="en-US" sz="10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02920" y="2148840"/>
          <a:ext cx="11183112" cy="914400"/>
        </p:xfrm>
        <a:graphic>
          <a:graphicData uri="http://schemas.openxmlformats.org/drawingml/2006/table">
            <a:tbl>
              <a:tblPr/>
              <a:tblGrid>
                <a:gridCol w="5577840"/>
                <a:gridCol w="5605272"/>
              </a:tblGrid>
              <a:tr h="384048">
                <a:tc>
                  <a:txBody>
                    <a:bodyPr/>
                    <a:lstStyle/>
                    <a:p>
                      <a:pPr indent="0" marL="0">
                        <a:buNone/>
                      </a:pPr>
                      <a:r>
                        <a:rPr lang="en-US" sz="1200" b="1" dirty="0">
                          <a:solidFill>
                            <a:srgbClr val="FFFFFF"/>
                          </a:solidFill>
                          <a:latin typeface="Aptos Display" pitchFamily="34" charset="0"/>
                          <a:ea typeface="Aptos Display" pitchFamily="34" charset="-122"/>
                          <a:cs typeface="Aptos Display" pitchFamily="34" charset="-120"/>
                        </a:rPr>
                        <a:t>Assessor checks…</a:t>
                      </a:r>
                      <a:endParaRPr lang="en-US" sz="1200" dirty="0">
                        <a:latin typeface="Aptos Display" charset="0"/>
                        <a:ea typeface="Aptos Display" charset="0"/>
                        <a:cs typeface="Aptos Display"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3D3D3D"/>
                    </a:solidFill>
                  </a:tcPr>
                </a:tc>
                <a:tc>
                  <a:txBody>
                    <a:bodyPr/>
                    <a:lstStyle/>
                    <a:p>
                      <a:pPr indent="0" marL="0">
                        <a:buNone/>
                      </a:pPr>
                      <a:r>
                        <a:rPr lang="en-US" sz="1200" b="1" dirty="0">
                          <a:solidFill>
                            <a:srgbClr val="FFFFFF"/>
                          </a:solidFill>
                          <a:latin typeface="Aptos Display" pitchFamily="34" charset="0"/>
                          <a:ea typeface="Aptos Display" pitchFamily="34" charset="-122"/>
                          <a:cs typeface="Aptos Display" pitchFamily="34" charset="-120"/>
                        </a:rPr>
                        <a:t>Your evidence</a:t>
                      </a:r>
                      <a:endParaRPr lang="en-US" sz="1200" dirty="0">
                        <a:latin typeface="Aptos Display" charset="0"/>
                        <a:ea typeface="Aptos Display" charset="0"/>
                        <a:cs typeface="Aptos Display"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3D3D3D"/>
                    </a:solidFill>
                  </a:tcPr>
                </a:tc>
              </a:tr>
              <a:tr h="384048">
                <a:tc>
                  <a:txBody>
                    <a:bodyPr/>
                    <a:lstStyle/>
                    <a:p>
                      <a:pPr indent="0" marL="0">
                        <a:buNone/>
                      </a:pPr>
                      <a:r>
                        <a:rPr lang="en-US" sz="1200" dirty="0">
                          <a:solidFill>
                            <a:srgbClr val="141414"/>
                          </a:solidFill>
                          <a:latin typeface="Aptos" pitchFamily="34" charset="0"/>
                          <a:ea typeface="Aptos" pitchFamily="34" charset="-122"/>
                          <a:cs typeface="Aptos" pitchFamily="34" charset="-120"/>
                        </a:rPr>
                        <a:t>Knowledge questions answered in own words</a:t>
                      </a:r>
                      <a:endParaRPr lang="en-US" sz="12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FFFFF"/>
                    </a:solidFill>
                  </a:tcPr>
                </a:tc>
                <a:tc>
                  <a:txBody>
                    <a:bodyPr/>
                    <a:lstStyle/>
                    <a:p>
                      <a:pPr indent="0" marL="0">
                        <a:buNone/>
                      </a:pPr>
                      <a:r>
                        <a:rPr lang="en-US" sz="1200" dirty="0">
                          <a:solidFill>
                            <a:srgbClr val="141414"/>
                          </a:solidFill>
                          <a:latin typeface="Aptos" pitchFamily="34" charset="0"/>
                          <a:ea typeface="Aptos" pitchFamily="34" charset="-122"/>
                          <a:cs typeface="Aptos" pitchFamily="34" charset="-120"/>
                        </a:rPr>
                        <a:t>Questionnaire 1 (LM p10–11) complete and signed</a:t>
                      </a:r>
                      <a:endParaRPr lang="en-US" sz="12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41414"/>
                          </a:solidFill>
                          <a:latin typeface="Aptos" pitchFamily="34" charset="0"/>
                          <a:ea typeface="Aptos" pitchFamily="34" charset="-122"/>
                          <a:cs typeface="Aptos" pitchFamily="34" charset="-120"/>
                        </a:rPr>
                        <a:t>Correct sources identified and used</a:t>
                      </a:r>
                      <a:endParaRPr lang="en-US" sz="12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2F2F2"/>
                    </a:solidFill>
                  </a:tcPr>
                </a:tc>
                <a:tc>
                  <a:txBody>
                    <a:bodyPr/>
                    <a:lstStyle/>
                    <a:p>
                      <a:pPr indent="0" marL="0">
                        <a:buNone/>
                      </a:pPr>
                      <a:r>
                        <a:rPr lang="en-US" sz="1200" dirty="0">
                          <a:solidFill>
                            <a:srgbClr val="141414"/>
                          </a:solidFill>
                          <a:latin typeface="Aptos" pitchFamily="34" charset="0"/>
                          <a:ea typeface="Aptos" pitchFamily="34" charset="-122"/>
                          <a:cs typeface="Aptos" pitchFamily="34" charset="-120"/>
                        </a:rPr>
                        <a:t>Report references tickets, logs and records</a:t>
                      </a:r>
                      <a:endParaRPr lang="en-US" sz="12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2F2F2"/>
                    </a:solidFill>
                  </a:tcPr>
                </a:tc>
              </a:tr>
              <a:tr h="384048">
                <a:tc>
                  <a:txBody>
                    <a:bodyPr/>
                    <a:lstStyle/>
                    <a:p>
                      <a:pPr indent="0" marL="0">
                        <a:buNone/>
                      </a:pPr>
                      <a:r>
                        <a:rPr lang="en-US" sz="1200" dirty="0">
                          <a:solidFill>
                            <a:srgbClr val="141414"/>
                          </a:solidFill>
                          <a:latin typeface="Aptos" pitchFamily="34" charset="0"/>
                          <a:ea typeface="Aptos" pitchFamily="34" charset="-122"/>
                          <a:cs typeface="Aptos" pitchFamily="34" charset="-120"/>
                        </a:rPr>
                        <a:t>Confidentiality procedure followed</a:t>
                      </a:r>
                      <a:endParaRPr lang="en-US" sz="12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FFFFF"/>
                    </a:solidFill>
                  </a:tcPr>
                </a:tc>
                <a:tc>
                  <a:txBody>
                    <a:bodyPr/>
                    <a:lstStyle/>
                    <a:p>
                      <a:pPr indent="0" marL="0">
                        <a:buNone/>
                      </a:pPr>
                      <a:r>
                        <a:rPr lang="en-US" sz="1200" dirty="0">
                          <a:solidFill>
                            <a:srgbClr val="141414"/>
                          </a:solidFill>
                          <a:latin typeface="Aptos" pitchFamily="34" charset="0"/>
                          <a:ea typeface="Aptos" pitchFamily="34" charset="-122"/>
                          <a:cs typeface="Aptos" pitchFamily="34" charset="-120"/>
                        </a:rPr>
                        <a:t>Distribution list and channel recorded</a:t>
                      </a:r>
                      <a:endParaRPr lang="en-US" sz="12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41414"/>
                          </a:solidFill>
                          <a:latin typeface="Aptos" pitchFamily="34" charset="0"/>
                          <a:ea typeface="Aptos" pitchFamily="34" charset="-122"/>
                          <a:cs typeface="Aptos" pitchFamily="34" charset="-120"/>
                        </a:rPr>
                        <a:t>Company format standards applied</a:t>
                      </a:r>
                      <a:endParaRPr lang="en-US" sz="12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2F2F2"/>
                    </a:solidFill>
                  </a:tcPr>
                </a:tc>
                <a:tc>
                  <a:txBody>
                    <a:bodyPr/>
                    <a:lstStyle/>
                    <a:p>
                      <a:pPr indent="0" marL="0">
                        <a:buNone/>
                      </a:pPr>
                      <a:r>
                        <a:rPr lang="en-US" sz="1200" dirty="0">
                          <a:solidFill>
                            <a:srgbClr val="141414"/>
                          </a:solidFill>
                          <a:latin typeface="Aptos" pitchFamily="34" charset="0"/>
                          <a:ea typeface="Aptos" pitchFamily="34" charset="-122"/>
                          <a:cs typeface="Aptos" pitchFamily="34" charset="-120"/>
                        </a:rPr>
                        <a:t>Template, headings, numbering, classification</a:t>
                      </a:r>
                      <a:endParaRPr lang="en-US" sz="12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2F2F2"/>
                    </a:solidFill>
                  </a:tcPr>
                </a:tc>
              </a:tr>
              <a:tr h="384048">
                <a:tc>
                  <a:txBody>
                    <a:bodyPr/>
                    <a:lstStyle/>
                    <a:p>
                      <a:pPr indent="0" marL="0">
                        <a:buNone/>
                      </a:pPr>
                      <a:r>
                        <a:rPr lang="en-US" sz="1200" dirty="0">
                          <a:solidFill>
                            <a:srgbClr val="141414"/>
                          </a:solidFill>
                          <a:latin typeface="Aptos" pitchFamily="34" charset="0"/>
                          <a:ea typeface="Aptos" pitchFamily="34" charset="-122"/>
                          <a:cs typeface="Aptos" pitchFamily="34" charset="-120"/>
                        </a:rPr>
                        <a:t>Report submitted on deadline</a:t>
                      </a:r>
                      <a:endParaRPr lang="en-US" sz="12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FFFFF"/>
                    </a:solidFill>
                  </a:tcPr>
                </a:tc>
                <a:tc>
                  <a:txBody>
                    <a:bodyPr/>
                    <a:lstStyle/>
                    <a:p>
                      <a:pPr indent="0" marL="0">
                        <a:buNone/>
                      </a:pPr>
                      <a:r>
                        <a:rPr lang="en-US" sz="1200" dirty="0">
                          <a:solidFill>
                            <a:srgbClr val="141414"/>
                          </a:solidFill>
                          <a:latin typeface="Aptos" pitchFamily="34" charset="0"/>
                          <a:ea typeface="Aptos" pitchFamily="34" charset="-122"/>
                          <a:cs typeface="Aptos" pitchFamily="34" charset="-120"/>
                        </a:rPr>
                        <a:t>Submission timestamp inside the window</a:t>
                      </a:r>
                      <a:endParaRPr lang="en-US" sz="12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41414"/>
                          </a:solidFill>
                          <a:latin typeface="Aptos" pitchFamily="34" charset="0"/>
                          <a:ea typeface="Aptos" pitchFamily="34" charset="-122"/>
                          <a:cs typeface="Aptos" pitchFamily="34" charset="-120"/>
                        </a:rPr>
                        <a:t>Logbook and self-assessment complete</a:t>
                      </a:r>
                      <a:endParaRPr lang="en-US" sz="12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2F2F2"/>
                    </a:solidFill>
                  </a:tcPr>
                </a:tc>
                <a:tc>
                  <a:txBody>
                    <a:bodyPr/>
                    <a:lstStyle/>
                    <a:p>
                      <a:pPr indent="0" marL="0">
                        <a:buNone/>
                      </a:pPr>
                      <a:r>
                        <a:rPr lang="en-US" sz="1200" dirty="0">
                          <a:solidFill>
                            <a:srgbClr val="141414"/>
                          </a:solidFill>
                          <a:latin typeface="Aptos" pitchFamily="34" charset="0"/>
                          <a:ea typeface="Aptos" pitchFamily="34" charset="-122"/>
                          <a:cs typeface="Aptos" pitchFamily="34" charset="-120"/>
                        </a:rPr>
                        <a:t>Signed logbook entries filed in the POE</a:t>
                      </a:r>
                      <a:endParaRPr lang="en-US" sz="1200" dirty="0">
                        <a:latin typeface="Aptos" charset="0"/>
                        <a:ea typeface="Aptos" charset="0"/>
                        <a:cs typeface="Aptos" charset="0"/>
                      </a:endParaRPr>
                    </a:p>
                  </a:txBody>
                  <a:tcPr marL="82296" marR="82296" marT="82296" marB="82296" anchor="ctr">
                    <a:lnL w="9525" cap="flat" cmpd="sng" algn="ctr">
                      <a:solidFill>
                        <a:srgbClr val="DBDBDB"/>
                      </a:solidFill>
                      <a:prstDash val="solid"/>
                      <a:round/>
                      <a:headEnd type="none" w="med" len="med"/>
                      <a:tailEnd type="none" w="med" len="med"/>
                    </a:lnL>
                    <a:lnR w="9525" cap="flat" cmpd="sng" algn="ctr">
                      <a:solidFill>
                        <a:srgbClr val="DBDBDB"/>
                      </a:solidFill>
                      <a:prstDash val="solid"/>
                      <a:round/>
                      <a:headEnd type="none" w="med" len="med"/>
                      <a:tailEnd type="none" w="med" len="med"/>
                    </a:lnR>
                    <a:lnT w="9525" cap="flat" cmpd="sng" algn="ctr">
                      <a:solidFill>
                        <a:srgbClr val="DBDBDB"/>
                      </a:solidFill>
                      <a:prstDash val="solid"/>
                      <a:round/>
                      <a:headEnd type="none" w="med" len="med"/>
                      <a:tailEnd type="none" w="med" len="med"/>
                    </a:lnT>
                    <a:lnB w="9525" cap="flat" cmpd="sng" algn="ctr">
                      <a:solidFill>
                        <a:srgbClr val="DBDBDB"/>
                      </a:solidFill>
                      <a:prstDash val="solid"/>
                      <a:round/>
                      <a:headEnd type="none" w="med" len="med"/>
                      <a:tailEnd type="none" w="med" len="med"/>
                    </a:lnB>
                    <a:solidFill>
                      <a:srgbClr val="F2F2F2"/>
                    </a:solidFill>
                  </a:tcPr>
                </a:tc>
              </a:tr>
            </a:tbl>
          </a:graphicData>
        </a:graphic>
      </p:graphicFrame>
      <p:sp>
        <p:nvSpPr>
          <p:cNvPr id="11" name="Shape 7"/>
          <p:cNvSpPr/>
          <p:nvPr/>
        </p:nvSpPr>
        <p:spPr>
          <a:xfrm>
            <a:off x="502920" y="5779008"/>
            <a:ext cx="11183112" cy="603504"/>
          </a:xfrm>
          <a:prstGeom prst="roundRect">
            <a:avLst>
              <a:gd name="adj" fmla="val 10606"/>
            </a:avLst>
          </a:prstGeom>
          <a:solidFill>
            <a:srgbClr val="141414"/>
          </a:solidFill>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4088" y="5943600"/>
            <a:ext cx="274320" cy="274320"/>
          </a:xfrm>
          <a:prstGeom prst="rect">
            <a:avLst/>
          </a:prstGeom>
        </p:spPr>
      </p:pic>
      <p:sp>
        <p:nvSpPr>
          <p:cNvPr id="13" name="Text 8"/>
          <p:cNvSpPr/>
          <p:nvPr/>
        </p:nvSpPr>
        <p:spPr>
          <a:xfrm>
            <a:off x="1069848" y="5779008"/>
            <a:ext cx="10378440" cy="603504"/>
          </a:xfrm>
          <a:prstGeom prst="rect">
            <a:avLst/>
          </a:prstGeom>
          <a:noFill/>
          <a:ln/>
        </p:spPr>
        <p:txBody>
          <a:bodyPr wrap="square" rtlCol="0" anchor="ctr"/>
          <a:lstStyle/>
          <a:p>
            <a:pPr indent="0" marL="0">
              <a:buNone/>
            </a:pPr>
            <a:r>
              <a:rPr lang="en-US" sz="1050" b="1" spc="150" kern="0" dirty="0">
                <a:solidFill>
                  <a:srgbClr val="C9C9C9"/>
                </a:solidFill>
                <a:latin typeface="Aptos" pitchFamily="34" charset="0"/>
                <a:ea typeface="Aptos" pitchFamily="34" charset="-122"/>
                <a:cs typeface="Aptos" pitchFamily="34" charset="-120"/>
              </a:rPr>
              <a:t>KNOWLEDGE CHECK   </a:t>
            </a:r>
            <a:pPr indent="0" marL="0">
              <a:buNone/>
            </a:pPr>
            <a:r>
              <a:rPr lang="en-US" sz="1250" dirty="0">
                <a:solidFill>
                  <a:srgbClr val="FFFFFF"/>
                </a:solidFill>
                <a:latin typeface="Aptos" pitchFamily="34" charset="0"/>
                <a:ea typeface="Aptos" pitchFamily="34" charset="-122"/>
                <a:cs typeface="Aptos" pitchFamily="34" charset="-120"/>
              </a:rPr>
              <a:t>Open your logbook now: which evidence row above is still missing for you?</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32</a:t>
            </a:r>
            <a:endParaRPr lang="en-US" sz="900" dirty="0"/>
          </a:p>
        </p:txBody>
      </p:sp>
      <p:sp>
        <p:nvSpPr>
          <p:cNvPr id="4" name="Shape 2"/>
          <p:cNvSpPr/>
          <p:nvPr/>
        </p:nvSpPr>
        <p:spPr>
          <a:xfrm>
            <a:off x="0" y="0"/>
            <a:ext cx="12188952" cy="82296"/>
          </a:xfrm>
          <a:prstGeom prst="rect">
            <a:avLst/>
          </a:prstGeom>
          <a:solidFill>
            <a:srgbClr val="3D3D3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3D3D3D"/>
                </a:solidFill>
                <a:latin typeface="Aptos" pitchFamily="34" charset="0"/>
                <a:ea typeface="Aptos" pitchFamily="34" charset="-122"/>
                <a:cs typeface="Aptos" pitchFamily="34" charset="-120"/>
              </a:rPr>
              <a:t>WRAP-UP</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141414"/>
                </a:solidFill>
                <a:latin typeface="Aptos Display" pitchFamily="34" charset="0"/>
                <a:ea typeface="Aptos Display" pitchFamily="34" charset="-122"/>
                <a:cs typeface="Aptos Display" pitchFamily="34" charset="-120"/>
              </a:rPr>
              <a:t>Practical activity — your turn</a:t>
            </a:r>
            <a:endParaRPr lang="en-US" sz="2600" dirty="0"/>
          </a:p>
        </p:txBody>
      </p:sp>
      <p:sp>
        <p:nvSpPr>
          <p:cNvPr id="7" name="Shape 5"/>
          <p:cNvSpPr/>
          <p:nvPr/>
        </p:nvSpPr>
        <p:spPr>
          <a:xfrm>
            <a:off x="502920" y="1298448"/>
            <a:ext cx="11183112" cy="566928"/>
          </a:xfrm>
          <a:prstGeom prst="roundRect">
            <a:avLst>
              <a:gd name="adj" fmla="val 11290"/>
            </a:avLst>
          </a:prstGeom>
          <a:solidFill>
            <a:srgbClr val="F2F2F2"/>
          </a:solidFill>
          <a:ln w="9525">
            <a:solidFill>
              <a:srgbClr val="DBDBDB"/>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1444752"/>
            <a:ext cx="274320" cy="274320"/>
          </a:xfrm>
          <a:prstGeom prst="rect">
            <a:avLst/>
          </a:prstGeom>
        </p:spPr>
      </p:pic>
      <p:sp>
        <p:nvSpPr>
          <p:cNvPr id="9" name="Text 6"/>
          <p:cNvSpPr/>
          <p:nvPr/>
        </p:nvSpPr>
        <p:spPr>
          <a:xfrm>
            <a:off x="1069848" y="1298448"/>
            <a:ext cx="10378440" cy="566928"/>
          </a:xfrm>
          <a:prstGeom prst="rect">
            <a:avLst/>
          </a:prstGeom>
          <a:noFill/>
          <a:ln/>
        </p:spPr>
        <p:txBody>
          <a:bodyPr wrap="square" rtlCol="0" anchor="ctr"/>
          <a:lstStyle/>
          <a:p>
            <a:pPr indent="0" marL="0">
              <a:buNone/>
            </a:pPr>
            <a:r>
              <a:rPr lang="en-US" sz="1050" b="1" spc="150" kern="0" dirty="0">
                <a:solidFill>
                  <a:srgbClr val="3D3D3D"/>
                </a:solidFill>
                <a:latin typeface="Aptos" pitchFamily="34" charset="0"/>
                <a:ea typeface="Aptos" pitchFamily="34" charset="-122"/>
                <a:cs typeface="Aptos" pitchFamily="34" charset="-120"/>
              </a:rPr>
              <a:t>LEARNING OBJECTIVE   </a:t>
            </a:r>
            <a:pPr indent="0" marL="0">
              <a:buNone/>
            </a:pPr>
            <a:r>
              <a:rPr lang="en-US" sz="1300" dirty="0">
                <a:solidFill>
                  <a:srgbClr val="141414"/>
                </a:solidFill>
                <a:latin typeface="Aptos" pitchFamily="34" charset="0"/>
                <a:ea typeface="Aptos" pitchFamily="34" charset="-122"/>
                <a:cs typeface="Aptos" pitchFamily="34" charset="-120"/>
              </a:rPr>
              <a:t>Apply all eleven criteria to a realistic Investec support scenario.</a:t>
            </a:r>
            <a:endParaRPr lang="en-US" sz="1050" dirty="0"/>
          </a:p>
        </p:txBody>
      </p:sp>
      <p:sp>
        <p:nvSpPr>
          <p:cNvPr id="10" name="Shape 7"/>
          <p:cNvSpPr/>
          <p:nvPr/>
        </p:nvSpPr>
        <p:spPr>
          <a:xfrm>
            <a:off x="502920" y="2103120"/>
            <a:ext cx="11183112" cy="2103120"/>
          </a:xfrm>
          <a:prstGeom prst="roundRect">
            <a:avLst>
              <a:gd name="adj" fmla="val 3913"/>
            </a:avLst>
          </a:prstGeom>
          <a:solidFill>
            <a:srgbClr val="F2F2F2"/>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11" name="Shape 8"/>
          <p:cNvSpPr/>
          <p:nvPr/>
        </p:nvSpPr>
        <p:spPr>
          <a:xfrm>
            <a:off x="502920" y="2103120"/>
            <a:ext cx="82296" cy="2103120"/>
          </a:xfrm>
          <a:prstGeom prst="rect">
            <a:avLst/>
          </a:prstGeom>
          <a:solidFill>
            <a:srgbClr val="3D3D3D"/>
          </a:solidFill>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82528" y="2286000"/>
            <a:ext cx="347472" cy="347472"/>
          </a:xfrm>
          <a:prstGeom prst="rect">
            <a:avLst/>
          </a:prstGeom>
        </p:spPr>
      </p:pic>
      <p:sp>
        <p:nvSpPr>
          <p:cNvPr id="13" name="Text 9"/>
          <p:cNvSpPr/>
          <p:nvPr/>
        </p:nvSpPr>
        <p:spPr>
          <a:xfrm>
            <a:off x="795528" y="2249424"/>
            <a:ext cx="10177272" cy="1810512"/>
          </a:xfrm>
          <a:prstGeom prst="rect">
            <a:avLst/>
          </a:prstGeom>
          <a:noFill/>
          <a:ln/>
        </p:spPr>
        <p:txBody>
          <a:bodyPr wrap="square" rtlCol="0" anchor="t"/>
          <a:lstStyle/>
          <a:p>
            <a:pPr indent="0" marL="0">
              <a:lnSpc>
                <a:spcPct val="115000"/>
              </a:lnSpc>
              <a:buNone/>
            </a:pPr>
            <a:r>
              <a:rPr lang="en-US" sz="1050" b="1" spc="150" kern="0" dirty="0">
                <a:solidFill>
                  <a:srgbClr val="3D3D3D"/>
                </a:solidFill>
                <a:latin typeface="Aptos" pitchFamily="34" charset="0"/>
                <a:ea typeface="Aptos" pitchFamily="34" charset="-122"/>
                <a:cs typeface="Aptos" pitchFamily="34" charset="-120"/>
              </a:rPr>
              <a:t>WORKPLACE EXAMPLE — INVESTEC
</a:t>
            </a:r>
            <a:pPr indent="0" marL="0">
              <a:lnSpc>
                <a:spcPct val="115000"/>
              </a:lnSpc>
              <a:buNone/>
            </a:pPr>
            <a:r>
              <a:rPr lang="en-US" sz="1500" b="1" dirty="0">
                <a:solidFill>
                  <a:srgbClr val="141414"/>
                </a:solidFill>
                <a:latin typeface="Aptos Display" pitchFamily="34" charset="0"/>
                <a:ea typeface="Aptos Display" pitchFamily="34" charset="-122"/>
                <a:cs typeface="Aptos Display" pitchFamily="34" charset="-120"/>
              </a:rPr>
              <a:t>Scenario — Teams outage on the trading floor
</a:t>
            </a:r>
            <a:pPr indent="0" marL="0">
              <a:lnSpc>
                <a:spcPct val="115000"/>
              </a:lnSpc>
              <a:buNone/>
            </a:pPr>
            <a:r>
              <a:rPr lang="en-US" sz="1250" dirty="0">
                <a:solidFill>
                  <a:srgbClr val="141414"/>
                </a:solidFill>
                <a:latin typeface="Aptos" pitchFamily="34" charset="0"/>
                <a:ea typeface="Aptos" pitchFamily="34" charset="-122"/>
                <a:cs typeface="Aptos" pitchFamily="34" charset="-120"/>
              </a:rPr>
              <a:t>At 08:40, Microsoft Teams stops connecting for 30 users in Corporate Banking Technology. By 09:25 the cause is traced to an expired proxy certificate and service is restored. Your task: compile the incident report. Gather evidence from ServiceNow, Entra ID sign-in logs and two user interviews; quantify the impact; apply the company template; and submit to the IT Support Manager within 24 hours.</a:t>
            </a:r>
            <a:endParaRPr lang="en-US" sz="1050" dirty="0"/>
          </a:p>
        </p:txBody>
      </p:sp>
      <p:sp>
        <p:nvSpPr>
          <p:cNvPr id="14" name="Shape 10"/>
          <p:cNvSpPr/>
          <p:nvPr/>
        </p:nvSpPr>
        <p:spPr>
          <a:xfrm>
            <a:off x="502920" y="4434840"/>
            <a:ext cx="3593592" cy="914400"/>
          </a:xfrm>
          <a:prstGeom prst="roundRect">
            <a:avLst>
              <a:gd name="adj" fmla="val 9000"/>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15" name="Shape 11"/>
          <p:cNvSpPr/>
          <p:nvPr/>
        </p:nvSpPr>
        <p:spPr>
          <a:xfrm>
            <a:off x="667512" y="4700016"/>
            <a:ext cx="384048" cy="384048"/>
          </a:xfrm>
          <a:prstGeom prst="ellipse">
            <a:avLst/>
          </a:prstGeom>
          <a:solidFill>
            <a:srgbClr val="3D3D3D"/>
          </a:solidFill>
          <a:ln/>
        </p:spPr>
      </p:sp>
      <p:sp>
        <p:nvSpPr>
          <p:cNvPr id="16" name="Text 12"/>
          <p:cNvSpPr/>
          <p:nvPr/>
        </p:nvSpPr>
        <p:spPr>
          <a:xfrm>
            <a:off x="667512" y="4700016"/>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1</a:t>
            </a:r>
            <a:endParaRPr lang="en-US" sz="1400" dirty="0"/>
          </a:p>
        </p:txBody>
      </p:sp>
      <p:sp>
        <p:nvSpPr>
          <p:cNvPr id="17" name="Text 13"/>
          <p:cNvSpPr/>
          <p:nvPr/>
        </p:nvSpPr>
        <p:spPr>
          <a:xfrm>
            <a:off x="1161288" y="4526280"/>
            <a:ext cx="2770632" cy="731520"/>
          </a:xfrm>
          <a:prstGeom prst="rect">
            <a:avLst/>
          </a:prstGeom>
          <a:noFill/>
          <a:ln/>
        </p:spPr>
        <p:txBody>
          <a:bodyPr wrap="square" rtlCol="0" anchor="ctr"/>
          <a:lstStyle/>
          <a:p>
            <a:pPr indent="0" marL="0">
              <a:buNone/>
            </a:pPr>
            <a:r>
              <a:rPr lang="en-US" sz="1250" b="1" dirty="0">
                <a:solidFill>
                  <a:srgbClr val="141414"/>
                </a:solidFill>
                <a:latin typeface="Aptos Display" pitchFamily="34" charset="0"/>
                <a:ea typeface="Aptos Display" pitchFamily="34" charset="-122"/>
                <a:cs typeface="Aptos Display" pitchFamily="34" charset="-120"/>
              </a:rPr>
              <a:t>Plan &amp; gather
</a:t>
            </a:r>
            <a:pPr indent="0" marL="0">
              <a:buNone/>
            </a:pPr>
            <a:r>
              <a:rPr lang="en-US" sz="1050" dirty="0">
                <a:solidFill>
                  <a:srgbClr val="6B7280"/>
                </a:solidFill>
                <a:latin typeface="Aptos" pitchFamily="34" charset="0"/>
                <a:ea typeface="Aptos" pitchFamily="34" charset="-122"/>
                <a:cs typeface="Aptos" pitchFamily="34" charset="-120"/>
              </a:rPr>
              <a:t>20 min — sources and impact figures</a:t>
            </a:r>
            <a:endParaRPr lang="en-US" sz="1250" dirty="0"/>
          </a:p>
        </p:txBody>
      </p:sp>
      <p:sp>
        <p:nvSpPr>
          <p:cNvPr id="18" name="Shape 14"/>
          <p:cNvSpPr/>
          <p:nvPr/>
        </p:nvSpPr>
        <p:spPr>
          <a:xfrm>
            <a:off x="4297680" y="4434840"/>
            <a:ext cx="3593592" cy="914400"/>
          </a:xfrm>
          <a:prstGeom prst="roundRect">
            <a:avLst>
              <a:gd name="adj" fmla="val 9000"/>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19" name="Shape 15"/>
          <p:cNvSpPr/>
          <p:nvPr/>
        </p:nvSpPr>
        <p:spPr>
          <a:xfrm>
            <a:off x="4462272" y="4700016"/>
            <a:ext cx="384048" cy="384048"/>
          </a:xfrm>
          <a:prstGeom prst="ellipse">
            <a:avLst/>
          </a:prstGeom>
          <a:solidFill>
            <a:srgbClr val="3D3D3D"/>
          </a:solidFill>
          <a:ln/>
        </p:spPr>
      </p:sp>
      <p:sp>
        <p:nvSpPr>
          <p:cNvPr id="20" name="Text 16"/>
          <p:cNvSpPr/>
          <p:nvPr/>
        </p:nvSpPr>
        <p:spPr>
          <a:xfrm>
            <a:off x="4462272" y="4700016"/>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2</a:t>
            </a:r>
            <a:endParaRPr lang="en-US" sz="1400" dirty="0"/>
          </a:p>
        </p:txBody>
      </p:sp>
      <p:sp>
        <p:nvSpPr>
          <p:cNvPr id="21" name="Text 17"/>
          <p:cNvSpPr/>
          <p:nvPr/>
        </p:nvSpPr>
        <p:spPr>
          <a:xfrm>
            <a:off x="4956048" y="4526280"/>
            <a:ext cx="2770632" cy="731520"/>
          </a:xfrm>
          <a:prstGeom prst="rect">
            <a:avLst/>
          </a:prstGeom>
          <a:noFill/>
          <a:ln/>
        </p:spPr>
        <p:txBody>
          <a:bodyPr wrap="square" rtlCol="0" anchor="ctr"/>
          <a:lstStyle/>
          <a:p>
            <a:pPr indent="0" marL="0">
              <a:buNone/>
            </a:pPr>
            <a:r>
              <a:rPr lang="en-US" sz="1250" b="1" dirty="0">
                <a:solidFill>
                  <a:srgbClr val="141414"/>
                </a:solidFill>
                <a:latin typeface="Aptos Display" pitchFamily="34" charset="0"/>
                <a:ea typeface="Aptos Display" pitchFamily="34" charset="-122"/>
                <a:cs typeface="Aptos Display" pitchFamily="34" charset="-120"/>
              </a:rPr>
              <a:t>Draft
</a:t>
            </a:r>
            <a:pPr indent="0" marL="0">
              <a:buNone/>
            </a:pPr>
            <a:r>
              <a:rPr lang="en-US" sz="1050" dirty="0">
                <a:solidFill>
                  <a:srgbClr val="6B7280"/>
                </a:solidFill>
                <a:latin typeface="Aptos" pitchFamily="34" charset="0"/>
                <a:ea typeface="Aptos" pitchFamily="34" charset="-122"/>
                <a:cs typeface="Aptos" pitchFamily="34" charset="-120"/>
              </a:rPr>
              <a:t>40 min — template, headings, findings</a:t>
            </a:r>
            <a:endParaRPr lang="en-US" sz="1250" dirty="0"/>
          </a:p>
        </p:txBody>
      </p:sp>
      <p:sp>
        <p:nvSpPr>
          <p:cNvPr id="22" name="Shape 18"/>
          <p:cNvSpPr/>
          <p:nvPr/>
        </p:nvSpPr>
        <p:spPr>
          <a:xfrm>
            <a:off x="8092440" y="4434840"/>
            <a:ext cx="3593592" cy="914400"/>
          </a:xfrm>
          <a:prstGeom prst="roundRect">
            <a:avLst>
              <a:gd name="adj" fmla="val 9000"/>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23" name="Shape 19"/>
          <p:cNvSpPr/>
          <p:nvPr/>
        </p:nvSpPr>
        <p:spPr>
          <a:xfrm>
            <a:off x="8257032" y="4700016"/>
            <a:ext cx="384048" cy="384048"/>
          </a:xfrm>
          <a:prstGeom prst="ellipse">
            <a:avLst/>
          </a:prstGeom>
          <a:solidFill>
            <a:srgbClr val="3D3D3D"/>
          </a:solidFill>
          <a:ln/>
        </p:spPr>
      </p:sp>
      <p:sp>
        <p:nvSpPr>
          <p:cNvPr id="24" name="Text 20"/>
          <p:cNvSpPr/>
          <p:nvPr/>
        </p:nvSpPr>
        <p:spPr>
          <a:xfrm>
            <a:off x="8257032" y="4700016"/>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3</a:t>
            </a:r>
            <a:endParaRPr lang="en-US" sz="1400" dirty="0"/>
          </a:p>
        </p:txBody>
      </p:sp>
      <p:sp>
        <p:nvSpPr>
          <p:cNvPr id="25" name="Text 21"/>
          <p:cNvSpPr/>
          <p:nvPr/>
        </p:nvSpPr>
        <p:spPr>
          <a:xfrm>
            <a:off x="8750808" y="4526280"/>
            <a:ext cx="2770632" cy="731520"/>
          </a:xfrm>
          <a:prstGeom prst="rect">
            <a:avLst/>
          </a:prstGeom>
          <a:noFill/>
          <a:ln/>
        </p:spPr>
        <p:txBody>
          <a:bodyPr wrap="square" rtlCol="0" anchor="ctr"/>
          <a:lstStyle/>
          <a:p>
            <a:pPr indent="0" marL="0">
              <a:buNone/>
            </a:pPr>
            <a:r>
              <a:rPr lang="en-US" sz="1250" b="1" dirty="0">
                <a:solidFill>
                  <a:srgbClr val="141414"/>
                </a:solidFill>
                <a:latin typeface="Aptos Display" pitchFamily="34" charset="0"/>
                <a:ea typeface="Aptos Display" pitchFamily="34" charset="-122"/>
                <a:cs typeface="Aptos Display" pitchFamily="34" charset="-120"/>
              </a:rPr>
              <a:t>Verify &amp; submit
</a:t>
            </a:r>
            <a:pPr indent="0" marL="0">
              <a:buNone/>
            </a:pPr>
            <a:r>
              <a:rPr lang="en-US" sz="1050" dirty="0">
                <a:solidFill>
                  <a:srgbClr val="6B7280"/>
                </a:solidFill>
                <a:latin typeface="Aptos" pitchFamily="34" charset="0"/>
                <a:ea typeface="Aptos" pitchFamily="34" charset="-122"/>
                <a:cs typeface="Aptos" pitchFamily="34" charset="-120"/>
              </a:rPr>
              <a:t>15 min — proofread, authorised channel</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33</a:t>
            </a:r>
            <a:endParaRPr lang="en-US" sz="900" dirty="0"/>
          </a:p>
        </p:txBody>
      </p:sp>
      <p:sp>
        <p:nvSpPr>
          <p:cNvPr id="4" name="Shape 2"/>
          <p:cNvSpPr/>
          <p:nvPr/>
        </p:nvSpPr>
        <p:spPr>
          <a:xfrm>
            <a:off x="0" y="0"/>
            <a:ext cx="12188952" cy="82296"/>
          </a:xfrm>
          <a:prstGeom prst="rect">
            <a:avLst/>
          </a:prstGeom>
          <a:solidFill>
            <a:srgbClr val="3D3D3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3D3D3D"/>
                </a:solidFill>
                <a:latin typeface="Aptos" pitchFamily="34" charset="0"/>
                <a:ea typeface="Aptos" pitchFamily="34" charset="-122"/>
                <a:cs typeface="Aptos" pitchFamily="34" charset="-120"/>
              </a:rPr>
              <a:t>WRAP-UP</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141414"/>
                </a:solidFill>
                <a:latin typeface="Aptos Display" pitchFamily="34" charset="0"/>
                <a:ea typeface="Aptos Display" pitchFamily="34" charset="-122"/>
                <a:cs typeface="Aptos Display" pitchFamily="34" charset="-120"/>
              </a:rPr>
              <a:t>Key takeaways</a:t>
            </a:r>
            <a:endParaRPr lang="en-US" sz="2600" dirty="0"/>
          </a:p>
        </p:txBody>
      </p:sp>
      <p:sp>
        <p:nvSpPr>
          <p:cNvPr id="7" name="Shape 5"/>
          <p:cNvSpPr/>
          <p:nvPr/>
        </p:nvSpPr>
        <p:spPr>
          <a:xfrm>
            <a:off x="502920" y="1554480"/>
            <a:ext cx="11183112" cy="731520"/>
          </a:xfrm>
          <a:prstGeom prst="roundRect">
            <a:avLst>
              <a:gd name="adj" fmla="val 11250"/>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8" name="Shape 6"/>
          <p:cNvSpPr/>
          <p:nvPr/>
        </p:nvSpPr>
        <p:spPr>
          <a:xfrm>
            <a:off x="685800" y="1728216"/>
            <a:ext cx="384048" cy="384048"/>
          </a:xfrm>
          <a:prstGeom prst="ellipse">
            <a:avLst/>
          </a:prstGeom>
          <a:solidFill>
            <a:srgbClr val="141414"/>
          </a:solidFill>
          <a:ln/>
        </p:spPr>
      </p:sp>
      <p:sp>
        <p:nvSpPr>
          <p:cNvPr id="9" name="Text 7"/>
          <p:cNvSpPr/>
          <p:nvPr/>
        </p:nvSpPr>
        <p:spPr>
          <a:xfrm>
            <a:off x="685800" y="1728216"/>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1</a:t>
            </a:r>
            <a:endParaRPr lang="en-US" sz="1400" dirty="0"/>
          </a:p>
        </p:txBody>
      </p:sp>
      <p:sp>
        <p:nvSpPr>
          <p:cNvPr id="10" name="Text 8"/>
          <p:cNvSpPr/>
          <p:nvPr/>
        </p:nvSpPr>
        <p:spPr>
          <a:xfrm>
            <a:off x="1234440" y="1554480"/>
            <a:ext cx="10268712" cy="731520"/>
          </a:xfrm>
          <a:prstGeom prst="rect">
            <a:avLst/>
          </a:prstGeom>
          <a:noFill/>
          <a:ln/>
        </p:spPr>
        <p:txBody>
          <a:bodyPr wrap="square" rtlCol="0" anchor="ctr"/>
          <a:lstStyle/>
          <a:p>
            <a:pPr indent="0" marL="0">
              <a:buNone/>
            </a:pPr>
            <a:r>
              <a:rPr lang="en-US" sz="1450" dirty="0">
                <a:solidFill>
                  <a:srgbClr val="141414"/>
                </a:solidFill>
                <a:latin typeface="Aptos" pitchFamily="34" charset="0"/>
                <a:ea typeface="Aptos" pitchFamily="34" charset="-122"/>
                <a:cs typeface="Aptos" pitchFamily="34" charset="-120"/>
              </a:rPr>
              <a:t>A report answers its reader's questions so a decision can be made.</a:t>
            </a:r>
            <a:endParaRPr lang="en-US" sz="1450" dirty="0"/>
          </a:p>
        </p:txBody>
      </p:sp>
      <p:sp>
        <p:nvSpPr>
          <p:cNvPr id="11" name="Shape 9"/>
          <p:cNvSpPr/>
          <p:nvPr/>
        </p:nvSpPr>
        <p:spPr>
          <a:xfrm>
            <a:off x="502920" y="2450592"/>
            <a:ext cx="11183112" cy="731520"/>
          </a:xfrm>
          <a:prstGeom prst="roundRect">
            <a:avLst>
              <a:gd name="adj" fmla="val 11250"/>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12" name="Shape 10"/>
          <p:cNvSpPr/>
          <p:nvPr/>
        </p:nvSpPr>
        <p:spPr>
          <a:xfrm>
            <a:off x="685800" y="2624328"/>
            <a:ext cx="384048" cy="384048"/>
          </a:xfrm>
          <a:prstGeom prst="ellipse">
            <a:avLst/>
          </a:prstGeom>
          <a:solidFill>
            <a:srgbClr val="141414"/>
          </a:solidFill>
          <a:ln/>
        </p:spPr>
      </p:sp>
      <p:sp>
        <p:nvSpPr>
          <p:cNvPr id="13" name="Text 11"/>
          <p:cNvSpPr/>
          <p:nvPr/>
        </p:nvSpPr>
        <p:spPr>
          <a:xfrm>
            <a:off x="685800" y="2624328"/>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2</a:t>
            </a:r>
            <a:endParaRPr lang="en-US" sz="1400" dirty="0"/>
          </a:p>
        </p:txBody>
      </p:sp>
      <p:sp>
        <p:nvSpPr>
          <p:cNvPr id="14" name="Text 12"/>
          <p:cNvSpPr/>
          <p:nvPr/>
        </p:nvSpPr>
        <p:spPr>
          <a:xfrm>
            <a:off x="1234440" y="2450592"/>
            <a:ext cx="10268712" cy="731520"/>
          </a:xfrm>
          <a:prstGeom prst="rect">
            <a:avLst/>
          </a:prstGeom>
          <a:noFill/>
          <a:ln/>
        </p:spPr>
        <p:txBody>
          <a:bodyPr wrap="square" rtlCol="0" anchor="ctr"/>
          <a:lstStyle/>
          <a:p>
            <a:pPr indent="0" marL="0">
              <a:buNone/>
            </a:pPr>
            <a:r>
              <a:rPr lang="en-US" sz="1450" dirty="0">
                <a:solidFill>
                  <a:srgbClr val="141414"/>
                </a:solidFill>
                <a:latin typeface="Aptos" pitchFamily="34" charset="0"/>
                <a:ea typeface="Aptos" pitchFamily="34" charset="-122"/>
                <a:cs typeface="Aptos" pitchFamily="34" charset="-120"/>
              </a:rPr>
              <a:t>Evidence comes from official systems — never memory or assumption.</a:t>
            </a:r>
            <a:endParaRPr lang="en-US" sz="1450" dirty="0"/>
          </a:p>
        </p:txBody>
      </p:sp>
      <p:sp>
        <p:nvSpPr>
          <p:cNvPr id="15" name="Shape 13"/>
          <p:cNvSpPr/>
          <p:nvPr/>
        </p:nvSpPr>
        <p:spPr>
          <a:xfrm>
            <a:off x="502920" y="3346704"/>
            <a:ext cx="11183112" cy="731520"/>
          </a:xfrm>
          <a:prstGeom prst="roundRect">
            <a:avLst>
              <a:gd name="adj" fmla="val 11250"/>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16" name="Shape 14"/>
          <p:cNvSpPr/>
          <p:nvPr/>
        </p:nvSpPr>
        <p:spPr>
          <a:xfrm>
            <a:off x="685800" y="3520440"/>
            <a:ext cx="384048" cy="384048"/>
          </a:xfrm>
          <a:prstGeom prst="ellipse">
            <a:avLst/>
          </a:prstGeom>
          <a:solidFill>
            <a:srgbClr val="141414"/>
          </a:solidFill>
          <a:ln/>
        </p:spPr>
      </p:sp>
      <p:sp>
        <p:nvSpPr>
          <p:cNvPr id="17" name="Text 15"/>
          <p:cNvSpPr/>
          <p:nvPr/>
        </p:nvSpPr>
        <p:spPr>
          <a:xfrm>
            <a:off x="685800" y="3520440"/>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3</a:t>
            </a:r>
            <a:endParaRPr lang="en-US" sz="1400" dirty="0"/>
          </a:p>
        </p:txBody>
      </p:sp>
      <p:sp>
        <p:nvSpPr>
          <p:cNvPr id="18" name="Text 16"/>
          <p:cNvSpPr/>
          <p:nvPr/>
        </p:nvSpPr>
        <p:spPr>
          <a:xfrm>
            <a:off x="1234440" y="3346704"/>
            <a:ext cx="10268712" cy="731520"/>
          </a:xfrm>
          <a:prstGeom prst="rect">
            <a:avLst/>
          </a:prstGeom>
          <a:noFill/>
          <a:ln/>
        </p:spPr>
        <p:txBody>
          <a:bodyPr wrap="square" rtlCol="0" anchor="ctr"/>
          <a:lstStyle/>
          <a:p>
            <a:pPr indent="0" marL="0">
              <a:buNone/>
            </a:pPr>
            <a:r>
              <a:rPr lang="en-US" sz="1450" dirty="0">
                <a:solidFill>
                  <a:srgbClr val="141414"/>
                </a:solidFill>
                <a:latin typeface="Aptos" pitchFamily="34" charset="0"/>
                <a:ea typeface="Aptos" pitchFamily="34" charset="-122"/>
                <a:cs typeface="Aptos" pitchFamily="34" charset="-120"/>
              </a:rPr>
              <a:t>Confidential information moves only through approved channels to authorised people.</a:t>
            </a:r>
            <a:endParaRPr lang="en-US" sz="1450" dirty="0"/>
          </a:p>
        </p:txBody>
      </p:sp>
      <p:sp>
        <p:nvSpPr>
          <p:cNvPr id="19" name="Shape 17"/>
          <p:cNvSpPr/>
          <p:nvPr/>
        </p:nvSpPr>
        <p:spPr>
          <a:xfrm>
            <a:off x="502920" y="4242816"/>
            <a:ext cx="11183112" cy="731520"/>
          </a:xfrm>
          <a:prstGeom prst="roundRect">
            <a:avLst>
              <a:gd name="adj" fmla="val 11250"/>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20" name="Shape 18"/>
          <p:cNvSpPr/>
          <p:nvPr/>
        </p:nvSpPr>
        <p:spPr>
          <a:xfrm>
            <a:off x="685800" y="4416552"/>
            <a:ext cx="384048" cy="384048"/>
          </a:xfrm>
          <a:prstGeom prst="ellipse">
            <a:avLst/>
          </a:prstGeom>
          <a:solidFill>
            <a:srgbClr val="141414"/>
          </a:solidFill>
          <a:ln/>
        </p:spPr>
      </p:sp>
      <p:sp>
        <p:nvSpPr>
          <p:cNvPr id="21" name="Text 19"/>
          <p:cNvSpPr/>
          <p:nvPr/>
        </p:nvSpPr>
        <p:spPr>
          <a:xfrm>
            <a:off x="685800" y="4416552"/>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4</a:t>
            </a:r>
            <a:endParaRPr lang="en-US" sz="1400" dirty="0"/>
          </a:p>
        </p:txBody>
      </p:sp>
      <p:sp>
        <p:nvSpPr>
          <p:cNvPr id="22" name="Text 20"/>
          <p:cNvSpPr/>
          <p:nvPr/>
        </p:nvSpPr>
        <p:spPr>
          <a:xfrm>
            <a:off x="1234440" y="4242816"/>
            <a:ext cx="10268712" cy="731520"/>
          </a:xfrm>
          <a:prstGeom prst="rect">
            <a:avLst/>
          </a:prstGeom>
          <a:noFill/>
          <a:ln/>
        </p:spPr>
        <p:txBody>
          <a:bodyPr wrap="square" rtlCol="0" anchor="ctr"/>
          <a:lstStyle/>
          <a:p>
            <a:pPr indent="0" marL="0">
              <a:buNone/>
            </a:pPr>
            <a:r>
              <a:rPr lang="en-US" sz="1450" dirty="0">
                <a:solidFill>
                  <a:srgbClr val="141414"/>
                </a:solidFill>
                <a:latin typeface="Aptos" pitchFamily="34" charset="0"/>
                <a:ea typeface="Aptos" pitchFamily="34" charset="-122"/>
                <a:cs typeface="Aptos" pitchFamily="34" charset="-120"/>
              </a:rPr>
              <a:t>House standards and objective, quantified writing make reports trusted.</a:t>
            </a:r>
            <a:endParaRPr lang="en-US" sz="1450" dirty="0"/>
          </a:p>
        </p:txBody>
      </p:sp>
      <p:sp>
        <p:nvSpPr>
          <p:cNvPr id="23" name="Shape 21"/>
          <p:cNvSpPr/>
          <p:nvPr/>
        </p:nvSpPr>
        <p:spPr>
          <a:xfrm>
            <a:off x="502920" y="5138928"/>
            <a:ext cx="11183112" cy="731520"/>
          </a:xfrm>
          <a:prstGeom prst="roundRect">
            <a:avLst>
              <a:gd name="adj" fmla="val 11250"/>
            </a:avLst>
          </a:prstGeom>
          <a:solidFill>
            <a:srgbClr val="F2F2F2"/>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24" name="Shape 22"/>
          <p:cNvSpPr/>
          <p:nvPr/>
        </p:nvSpPr>
        <p:spPr>
          <a:xfrm>
            <a:off x="685800" y="5312664"/>
            <a:ext cx="384048" cy="384048"/>
          </a:xfrm>
          <a:prstGeom prst="ellipse">
            <a:avLst/>
          </a:prstGeom>
          <a:solidFill>
            <a:srgbClr val="141414"/>
          </a:solidFill>
          <a:ln/>
        </p:spPr>
      </p:sp>
      <p:sp>
        <p:nvSpPr>
          <p:cNvPr id="25" name="Text 23"/>
          <p:cNvSpPr/>
          <p:nvPr/>
        </p:nvSpPr>
        <p:spPr>
          <a:xfrm>
            <a:off x="685800" y="5312664"/>
            <a:ext cx="384048" cy="384048"/>
          </a:xfrm>
          <a:prstGeom prst="rect">
            <a:avLst/>
          </a:prstGeom>
          <a:noFill/>
          <a:ln/>
        </p:spPr>
        <p:txBody>
          <a:bodyPr wrap="square" rtlCol="0" anchor="ctr"/>
          <a:lstStyle/>
          <a:p>
            <a:pPr algn="ctr" indent="0" marL="0">
              <a:buNone/>
            </a:pPr>
            <a:r>
              <a:rPr lang="en-US" sz="1400" b="1" dirty="0">
                <a:solidFill>
                  <a:srgbClr val="FFFFFF"/>
                </a:solidFill>
                <a:latin typeface="Aptos Display" pitchFamily="34" charset="0"/>
                <a:ea typeface="Aptos Display" pitchFamily="34" charset="-122"/>
                <a:cs typeface="Aptos Display" pitchFamily="34" charset="-120"/>
              </a:rPr>
              <a:t>5</a:t>
            </a:r>
            <a:endParaRPr lang="en-US" sz="1400" dirty="0"/>
          </a:p>
        </p:txBody>
      </p:sp>
      <p:sp>
        <p:nvSpPr>
          <p:cNvPr id="26" name="Text 24"/>
          <p:cNvSpPr/>
          <p:nvPr/>
        </p:nvSpPr>
        <p:spPr>
          <a:xfrm>
            <a:off x="1234440" y="5138928"/>
            <a:ext cx="10268712" cy="731520"/>
          </a:xfrm>
          <a:prstGeom prst="rect">
            <a:avLst/>
          </a:prstGeom>
          <a:noFill/>
          <a:ln/>
        </p:spPr>
        <p:txBody>
          <a:bodyPr wrap="square" rtlCol="0" anchor="ctr"/>
          <a:lstStyle/>
          <a:p>
            <a:pPr indent="0" marL="0">
              <a:buNone/>
            </a:pPr>
            <a:r>
              <a:rPr lang="en-US" sz="1450" dirty="0">
                <a:solidFill>
                  <a:srgbClr val="141414"/>
                </a:solidFill>
                <a:latin typeface="Aptos" pitchFamily="34" charset="0"/>
                <a:ea typeface="Aptos" pitchFamily="34" charset="-122"/>
                <a:cs typeface="Aptos" pitchFamily="34" charset="-120"/>
              </a:rPr>
              <a:t>A late report is a failed report — the deadline is part of the job.</a:t>
            </a:r>
            <a:endParaRPr lang="en-US" sz="14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34</a:t>
            </a:r>
            <a:endParaRPr lang="en-US" sz="900" dirty="0"/>
          </a:p>
        </p:txBody>
      </p:sp>
      <p:sp>
        <p:nvSpPr>
          <p:cNvPr id="4" name="Shape 2"/>
          <p:cNvSpPr/>
          <p:nvPr/>
        </p:nvSpPr>
        <p:spPr>
          <a:xfrm>
            <a:off x="0" y="0"/>
            <a:ext cx="12188952" cy="82296"/>
          </a:xfrm>
          <a:prstGeom prst="rect">
            <a:avLst/>
          </a:prstGeom>
          <a:solidFill>
            <a:srgbClr val="3D3D3D"/>
          </a:solidFill>
          <a:ln/>
        </p:spPr>
      </p:sp>
      <p:sp>
        <p:nvSpPr>
          <p:cNvPr id="5" name="Text 3"/>
          <p:cNvSpPr/>
          <p:nvPr/>
        </p:nvSpPr>
        <p:spPr>
          <a:xfrm>
            <a:off x="502920" y="292608"/>
            <a:ext cx="11183112" cy="292608"/>
          </a:xfrm>
          <a:prstGeom prst="rect">
            <a:avLst/>
          </a:prstGeom>
          <a:noFill/>
          <a:ln/>
        </p:spPr>
        <p:txBody>
          <a:bodyPr wrap="square" rtlCol="0" anchor="ctr"/>
          <a:lstStyle/>
          <a:p>
            <a:pPr indent="0" marL="0">
              <a:buNone/>
            </a:pPr>
            <a:r>
              <a:rPr lang="en-US" sz="1100" b="1" spc="200" kern="0" dirty="0">
                <a:solidFill>
                  <a:srgbClr val="3D3D3D"/>
                </a:solidFill>
                <a:latin typeface="Aptos" pitchFamily="34" charset="0"/>
                <a:ea typeface="Aptos" pitchFamily="34" charset="-122"/>
                <a:cs typeface="Aptos" pitchFamily="34" charset="-120"/>
              </a:rPr>
              <a:t>WRAP-UP</a:t>
            </a:r>
            <a:endParaRPr lang="en-US" sz="1100" dirty="0"/>
          </a:p>
        </p:txBody>
      </p:sp>
      <p:sp>
        <p:nvSpPr>
          <p:cNvPr id="6" name="Text 4"/>
          <p:cNvSpPr/>
          <p:nvPr/>
        </p:nvSpPr>
        <p:spPr>
          <a:xfrm>
            <a:off x="502920" y="566928"/>
            <a:ext cx="11183112" cy="658368"/>
          </a:xfrm>
          <a:prstGeom prst="rect">
            <a:avLst/>
          </a:prstGeom>
          <a:noFill/>
          <a:ln/>
        </p:spPr>
        <p:txBody>
          <a:bodyPr wrap="square" rtlCol="0" anchor="ctr"/>
          <a:lstStyle/>
          <a:p>
            <a:pPr indent="0" marL="0">
              <a:buNone/>
            </a:pPr>
            <a:r>
              <a:rPr lang="en-US" sz="2600" b="1" dirty="0">
                <a:solidFill>
                  <a:srgbClr val="141414"/>
                </a:solidFill>
                <a:latin typeface="Aptos Display" pitchFamily="34" charset="0"/>
                <a:ea typeface="Aptos Display" pitchFamily="34" charset="-122"/>
                <a:cs typeface="Aptos Display" pitchFamily="34" charset="-120"/>
              </a:rPr>
              <a:t>Final quiz — 5 questions</a:t>
            </a:r>
            <a:endParaRPr lang="en-US" sz="2600" dirty="0"/>
          </a:p>
        </p:txBody>
      </p:sp>
      <p:sp>
        <p:nvSpPr>
          <p:cNvPr id="7" name="Shape 5"/>
          <p:cNvSpPr/>
          <p:nvPr/>
        </p:nvSpPr>
        <p:spPr>
          <a:xfrm>
            <a:off x="502920" y="1298448"/>
            <a:ext cx="11183112" cy="566928"/>
          </a:xfrm>
          <a:prstGeom prst="roundRect">
            <a:avLst>
              <a:gd name="adj" fmla="val 11290"/>
            </a:avLst>
          </a:prstGeom>
          <a:solidFill>
            <a:srgbClr val="F2F2F2"/>
          </a:solidFill>
          <a:ln w="9525">
            <a:solidFill>
              <a:srgbClr val="DBDBDB"/>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088" y="1444752"/>
            <a:ext cx="274320" cy="274320"/>
          </a:xfrm>
          <a:prstGeom prst="rect">
            <a:avLst/>
          </a:prstGeom>
        </p:spPr>
      </p:pic>
      <p:sp>
        <p:nvSpPr>
          <p:cNvPr id="9" name="Text 6"/>
          <p:cNvSpPr/>
          <p:nvPr/>
        </p:nvSpPr>
        <p:spPr>
          <a:xfrm>
            <a:off x="1069848" y="1298448"/>
            <a:ext cx="10378440" cy="566928"/>
          </a:xfrm>
          <a:prstGeom prst="rect">
            <a:avLst/>
          </a:prstGeom>
          <a:noFill/>
          <a:ln/>
        </p:spPr>
        <p:txBody>
          <a:bodyPr wrap="square" rtlCol="0" anchor="ctr"/>
          <a:lstStyle/>
          <a:p>
            <a:pPr indent="0" marL="0">
              <a:buNone/>
            </a:pPr>
            <a:r>
              <a:rPr lang="en-US" sz="1050" b="1" spc="150" kern="0" dirty="0">
                <a:solidFill>
                  <a:srgbClr val="3D3D3D"/>
                </a:solidFill>
                <a:latin typeface="Aptos" pitchFamily="34" charset="0"/>
                <a:ea typeface="Aptos" pitchFamily="34" charset="-122"/>
                <a:cs typeface="Aptos" pitchFamily="34" charset="-120"/>
              </a:rPr>
              <a:t>LEARNING OBJECTIVE   </a:t>
            </a:r>
            <a:pPr indent="0" marL="0">
              <a:buNone/>
            </a:pPr>
            <a:r>
              <a:rPr lang="en-US" sz="1300" dirty="0">
                <a:solidFill>
                  <a:srgbClr val="141414"/>
                </a:solidFill>
                <a:latin typeface="Aptos" pitchFamily="34" charset="0"/>
                <a:ea typeface="Aptos" pitchFamily="34" charset="-122"/>
                <a:cs typeface="Aptos" pitchFamily="34" charset="-120"/>
              </a:rPr>
              <a:t>Answer individually, then discuss as a class. 80%+ is considered competent.</a:t>
            </a:r>
            <a:endParaRPr lang="en-US" sz="1050" dirty="0"/>
          </a:p>
        </p:txBody>
      </p:sp>
      <p:sp>
        <p:nvSpPr>
          <p:cNvPr id="10" name="Shape 7"/>
          <p:cNvSpPr/>
          <p:nvPr/>
        </p:nvSpPr>
        <p:spPr>
          <a:xfrm>
            <a:off x="502920" y="2103120"/>
            <a:ext cx="11183112" cy="640080"/>
          </a:xfrm>
          <a:prstGeom prst="roundRect">
            <a:avLst>
              <a:gd name="adj" fmla="val 12857"/>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11" name="Text 8"/>
          <p:cNvSpPr/>
          <p:nvPr/>
        </p:nvSpPr>
        <p:spPr>
          <a:xfrm>
            <a:off x="704088" y="2103120"/>
            <a:ext cx="10780776" cy="640080"/>
          </a:xfrm>
          <a:prstGeom prst="rect">
            <a:avLst/>
          </a:prstGeom>
          <a:noFill/>
          <a:ln/>
        </p:spPr>
        <p:txBody>
          <a:bodyPr wrap="square" rtlCol="0" anchor="ctr"/>
          <a:lstStyle/>
          <a:p>
            <a:pPr indent="0" marL="0">
              <a:buNone/>
            </a:pPr>
            <a:r>
              <a:rPr lang="en-US" sz="1300" b="1" dirty="0">
                <a:solidFill>
                  <a:srgbClr val="3D3D3D"/>
                </a:solidFill>
                <a:latin typeface="Aptos Display" pitchFamily="34" charset="0"/>
                <a:ea typeface="Aptos Display" pitchFamily="34" charset="-122"/>
                <a:cs typeface="Aptos Display" pitchFamily="34" charset="-120"/>
              </a:rPr>
              <a:t>Q1   </a:t>
            </a:r>
            <a:pPr indent="0" marL="0">
              <a:buNone/>
            </a:pPr>
            <a:r>
              <a:rPr lang="en-US" sz="1250" dirty="0">
                <a:solidFill>
                  <a:srgbClr val="141414"/>
                </a:solidFill>
                <a:latin typeface="Aptos" pitchFamily="34" charset="0"/>
                <a:ea typeface="Aptos" pitchFamily="34" charset="-122"/>
                <a:cs typeface="Aptos" pitchFamily="34" charset="-120"/>
              </a:rPr>
              <a:t>Name the five questions an incident report must answer for the IT Manager.</a:t>
            </a:r>
            <a:endParaRPr lang="en-US" sz="1300" dirty="0"/>
          </a:p>
        </p:txBody>
      </p:sp>
      <p:sp>
        <p:nvSpPr>
          <p:cNvPr id="12" name="Shape 9"/>
          <p:cNvSpPr/>
          <p:nvPr/>
        </p:nvSpPr>
        <p:spPr>
          <a:xfrm>
            <a:off x="502920" y="2880360"/>
            <a:ext cx="11183112" cy="640080"/>
          </a:xfrm>
          <a:prstGeom prst="roundRect">
            <a:avLst>
              <a:gd name="adj" fmla="val 12857"/>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13" name="Text 10"/>
          <p:cNvSpPr/>
          <p:nvPr/>
        </p:nvSpPr>
        <p:spPr>
          <a:xfrm>
            <a:off x="704088" y="2880360"/>
            <a:ext cx="10780776" cy="640080"/>
          </a:xfrm>
          <a:prstGeom prst="rect">
            <a:avLst/>
          </a:prstGeom>
          <a:noFill/>
          <a:ln/>
        </p:spPr>
        <p:txBody>
          <a:bodyPr wrap="square" rtlCol="0" anchor="ctr"/>
          <a:lstStyle/>
          <a:p>
            <a:pPr indent="0" marL="0">
              <a:buNone/>
            </a:pPr>
            <a:r>
              <a:rPr lang="en-US" sz="1300" b="1" dirty="0">
                <a:solidFill>
                  <a:srgbClr val="3D3D3D"/>
                </a:solidFill>
                <a:latin typeface="Aptos Display" pitchFamily="34" charset="0"/>
                <a:ea typeface="Aptos Display" pitchFamily="34" charset="-122"/>
                <a:cs typeface="Aptos Display" pitchFamily="34" charset="-120"/>
              </a:rPr>
              <a:t>Q2   </a:t>
            </a:r>
            <a:pPr indent="0" marL="0">
              <a:buNone/>
            </a:pPr>
            <a:r>
              <a:rPr lang="en-US" sz="1250" dirty="0">
                <a:solidFill>
                  <a:srgbClr val="141414"/>
                </a:solidFill>
                <a:latin typeface="Aptos" pitchFamily="34" charset="0"/>
                <a:ea typeface="Aptos" pitchFamily="34" charset="-122"/>
                <a:cs typeface="Aptos" pitchFamily="34" charset="-120"/>
              </a:rPr>
              <a:t>Give four reliable information sources for an IT report — and one source you must never rely on.</a:t>
            </a:r>
            <a:endParaRPr lang="en-US" sz="1300" dirty="0"/>
          </a:p>
        </p:txBody>
      </p:sp>
      <p:sp>
        <p:nvSpPr>
          <p:cNvPr id="14" name="Shape 11"/>
          <p:cNvSpPr/>
          <p:nvPr/>
        </p:nvSpPr>
        <p:spPr>
          <a:xfrm>
            <a:off x="502920" y="3657600"/>
            <a:ext cx="11183112" cy="640080"/>
          </a:xfrm>
          <a:prstGeom prst="roundRect">
            <a:avLst>
              <a:gd name="adj" fmla="val 12857"/>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15" name="Text 12"/>
          <p:cNvSpPr/>
          <p:nvPr/>
        </p:nvSpPr>
        <p:spPr>
          <a:xfrm>
            <a:off x="704088" y="3657600"/>
            <a:ext cx="10780776" cy="640080"/>
          </a:xfrm>
          <a:prstGeom prst="rect">
            <a:avLst/>
          </a:prstGeom>
          <a:noFill/>
          <a:ln/>
        </p:spPr>
        <p:txBody>
          <a:bodyPr wrap="square" rtlCol="0" anchor="ctr"/>
          <a:lstStyle/>
          <a:p>
            <a:pPr indent="0" marL="0">
              <a:buNone/>
            </a:pPr>
            <a:r>
              <a:rPr lang="en-US" sz="1300" b="1" dirty="0">
                <a:solidFill>
                  <a:srgbClr val="3D3D3D"/>
                </a:solidFill>
                <a:latin typeface="Aptos Display" pitchFamily="34" charset="0"/>
                <a:ea typeface="Aptos Display" pitchFamily="34" charset="-122"/>
                <a:cs typeface="Aptos Display" pitchFamily="34" charset="-120"/>
              </a:rPr>
              <a:t>Q3   </a:t>
            </a:r>
            <a:pPr indent="0" marL="0">
              <a:buNone/>
            </a:pPr>
            <a:r>
              <a:rPr lang="en-US" sz="1250" dirty="0">
                <a:solidFill>
                  <a:srgbClr val="141414"/>
                </a:solidFill>
                <a:latin typeface="Aptos" pitchFamily="34" charset="0"/>
                <a:ea typeface="Aptos" pitchFamily="34" charset="-122"/>
                <a:cs typeface="Aptos" pitchFamily="34" charset="-120"/>
              </a:rPr>
              <a:t>Who may receive a cyber-security report naming staff members, and through which channel?</a:t>
            </a:r>
            <a:endParaRPr lang="en-US" sz="1300" dirty="0"/>
          </a:p>
        </p:txBody>
      </p:sp>
      <p:sp>
        <p:nvSpPr>
          <p:cNvPr id="16" name="Shape 13"/>
          <p:cNvSpPr/>
          <p:nvPr/>
        </p:nvSpPr>
        <p:spPr>
          <a:xfrm>
            <a:off x="502920" y="4434840"/>
            <a:ext cx="11183112" cy="640080"/>
          </a:xfrm>
          <a:prstGeom prst="roundRect">
            <a:avLst>
              <a:gd name="adj" fmla="val 12857"/>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17" name="Text 14"/>
          <p:cNvSpPr/>
          <p:nvPr/>
        </p:nvSpPr>
        <p:spPr>
          <a:xfrm>
            <a:off x="704088" y="4434840"/>
            <a:ext cx="10780776" cy="640080"/>
          </a:xfrm>
          <a:prstGeom prst="rect">
            <a:avLst/>
          </a:prstGeom>
          <a:noFill/>
          <a:ln/>
        </p:spPr>
        <p:txBody>
          <a:bodyPr wrap="square" rtlCol="0" anchor="ctr"/>
          <a:lstStyle/>
          <a:p>
            <a:pPr indent="0" marL="0">
              <a:buNone/>
            </a:pPr>
            <a:r>
              <a:rPr lang="en-US" sz="1300" b="1" dirty="0">
                <a:solidFill>
                  <a:srgbClr val="3D3D3D"/>
                </a:solidFill>
                <a:latin typeface="Aptos Display" pitchFamily="34" charset="0"/>
                <a:ea typeface="Aptos Display" pitchFamily="34" charset="-122"/>
                <a:cs typeface="Aptos Display" pitchFamily="34" charset="-120"/>
              </a:rPr>
              <a:t>Q4   </a:t>
            </a:r>
            <a:pPr indent="0" marL="0">
              <a:buNone/>
            </a:pPr>
            <a:r>
              <a:rPr lang="en-US" sz="1250" dirty="0">
                <a:solidFill>
                  <a:srgbClr val="141414"/>
                </a:solidFill>
                <a:latin typeface="Aptos" pitchFamily="34" charset="0"/>
                <a:ea typeface="Aptos" pitchFamily="34" charset="-122"/>
                <a:cs typeface="Aptos" pitchFamily="34" charset="-120"/>
              </a:rPr>
              <a:t>Rewrite 'the server crashed' as a quantified, decision-ready sentence.</a:t>
            </a:r>
            <a:endParaRPr lang="en-US" sz="1300" dirty="0"/>
          </a:p>
        </p:txBody>
      </p:sp>
      <p:sp>
        <p:nvSpPr>
          <p:cNvPr id="18" name="Shape 15"/>
          <p:cNvSpPr/>
          <p:nvPr/>
        </p:nvSpPr>
        <p:spPr>
          <a:xfrm>
            <a:off x="502920" y="5212080"/>
            <a:ext cx="11183112" cy="640080"/>
          </a:xfrm>
          <a:prstGeom prst="roundRect">
            <a:avLst>
              <a:gd name="adj" fmla="val 12857"/>
            </a:avLst>
          </a:prstGeom>
          <a:solidFill>
            <a:srgbClr val="FFFFFF"/>
          </a:solidFill>
          <a:ln w="12700">
            <a:solidFill>
              <a:srgbClr val="DBDBDB"/>
            </a:solidFill>
            <a:prstDash val="solid"/>
          </a:ln>
          <a:effectLst>
            <a:outerShdw sx="100000" sy="100000" kx="0" ky="0" algn="bl" rotWithShape="0" blurRad="88900" dist="25400" dir="5400000">
              <a:srgbClr val="BDBDBD">
                <a:alpha val="30000"/>
              </a:srgbClr>
            </a:outerShdw>
          </a:effectLst>
        </p:spPr>
      </p:sp>
      <p:sp>
        <p:nvSpPr>
          <p:cNvPr id="19" name="Text 16"/>
          <p:cNvSpPr/>
          <p:nvPr/>
        </p:nvSpPr>
        <p:spPr>
          <a:xfrm>
            <a:off x="704088" y="5212080"/>
            <a:ext cx="10780776" cy="640080"/>
          </a:xfrm>
          <a:prstGeom prst="rect">
            <a:avLst/>
          </a:prstGeom>
          <a:noFill/>
          <a:ln/>
        </p:spPr>
        <p:txBody>
          <a:bodyPr wrap="square" rtlCol="0" anchor="ctr"/>
          <a:lstStyle/>
          <a:p>
            <a:pPr indent="0" marL="0">
              <a:buNone/>
            </a:pPr>
            <a:r>
              <a:rPr lang="en-US" sz="1300" b="1" dirty="0">
                <a:solidFill>
                  <a:srgbClr val="3D3D3D"/>
                </a:solidFill>
                <a:latin typeface="Aptos Display" pitchFamily="34" charset="0"/>
                <a:ea typeface="Aptos Display" pitchFamily="34" charset="-122"/>
                <a:cs typeface="Aptos Display" pitchFamily="34" charset="-120"/>
              </a:rPr>
              <a:t>Q5   </a:t>
            </a:r>
            <a:pPr indent="0" marL="0">
              <a:buNone/>
            </a:pPr>
            <a:r>
              <a:rPr lang="en-US" sz="1250" dirty="0">
                <a:solidFill>
                  <a:srgbClr val="141414"/>
                </a:solidFill>
                <a:latin typeface="Aptos" pitchFamily="34" charset="0"/>
                <a:ea typeface="Aptos" pitchFamily="34" charset="-122"/>
                <a:cs typeface="Aptos" pitchFamily="34" charset="-120"/>
              </a:rPr>
              <a:t>A major outage starts at 14:00 Tuesday — when is the report due, and what do you do first?</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algn="l" indent="0" marL="0">
              <a:buNone/>
            </a:pPr>
            <a:r>
              <a:rPr lang="en-US" sz="900" dirty="0">
                <a:solidFill>
                  <a:srgbClr val="6B7280"/>
                </a:solidFill>
                <a:latin typeface="Aptos" pitchFamily="34" charset="0"/>
                <a:ea typeface="Aptos" pitchFamily="34" charset="-122"/>
                <a:cs typeface="Aptos" pitchFamily="34" charset="-120"/>
              </a:rPr>
              <a:t>Unit Standard 8252 — Compile and Produce Reports   ·   Investec IT Systems Support NQF 5</a:t>
            </a:r>
            <a:endParaRPr lang="en-US" sz="9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900" dirty="0">
                <a:solidFill>
                  <a:srgbClr val="6B7280"/>
                </a:solidFill>
                <a:latin typeface="Aptos" pitchFamily="34" charset="0"/>
                <a:ea typeface="Aptos" pitchFamily="34" charset="-122"/>
                <a:cs typeface="Aptos" pitchFamily="34" charset="-120"/>
              </a:rPr>
              <a:t>35</a:t>
            </a:r>
            <a:endParaRPr lang="en-US" sz="900" dirty="0"/>
          </a:p>
        </p:txBody>
      </p:sp>
      <p:sp>
        <p:nvSpPr>
          <p:cNvPr id="4" name="Shape 2"/>
          <p:cNvSpPr/>
          <p:nvPr/>
        </p:nvSpPr>
        <p:spPr>
          <a:xfrm>
            <a:off x="0" y="0"/>
            <a:ext cx="12188952" cy="82296"/>
          </a:xfrm>
          <a:prstGeom prst="rect">
            <a:avLst/>
          </a:prstGeom>
          <a:solidFill>
            <a:srgbClr val="3D3D3D"/>
          </a:solidFill>
          <a:ln/>
        </p:spPr>
      </p:sp>
      <p:sp>
        <p:nvSpPr>
          <p:cNvPr id="5" name="Shape 3"/>
          <p:cNvSpPr/>
          <p:nvPr/>
        </p:nvSpPr>
        <p:spPr>
          <a:xfrm>
            <a:off x="0" y="0"/>
            <a:ext cx="12188952" cy="109728"/>
          </a:xfrm>
          <a:prstGeom prst="rect">
            <a:avLst/>
          </a:prstGeom>
          <a:solidFill>
            <a:srgbClr val="3D3D3D"/>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2920" y="1645920"/>
            <a:ext cx="548640" cy="548640"/>
          </a:xfrm>
          <a:prstGeom prst="rect">
            <a:avLst/>
          </a:prstGeom>
        </p:spPr>
      </p:pic>
      <p:sp>
        <p:nvSpPr>
          <p:cNvPr id="7" name="Text 4"/>
          <p:cNvSpPr/>
          <p:nvPr/>
        </p:nvSpPr>
        <p:spPr>
          <a:xfrm>
            <a:off x="502920" y="2377440"/>
            <a:ext cx="11183112" cy="1280160"/>
          </a:xfrm>
          <a:prstGeom prst="rect">
            <a:avLst/>
          </a:prstGeom>
          <a:noFill/>
          <a:ln/>
        </p:spPr>
        <p:txBody>
          <a:bodyPr wrap="square" rtlCol="0" anchor="ctr"/>
          <a:lstStyle/>
          <a:p>
            <a:pPr indent="0" marL="0">
              <a:buNone/>
            </a:pPr>
            <a:r>
              <a:rPr lang="en-US" sz="3400" b="1" dirty="0">
                <a:solidFill>
                  <a:srgbClr val="FFFFFF"/>
                </a:solidFill>
                <a:latin typeface="Aptos Display" pitchFamily="34" charset="0"/>
                <a:ea typeface="Aptos Display" pitchFamily="34" charset="-122"/>
                <a:cs typeface="Aptos Display" pitchFamily="34" charset="-120"/>
              </a:rPr>
              <a:t>You can now compile and produce professional reports.</a:t>
            </a:r>
            <a:endParaRPr lang="en-US" sz="3400" dirty="0"/>
          </a:p>
        </p:txBody>
      </p:sp>
      <p:sp>
        <p:nvSpPr>
          <p:cNvPr id="8" name="Text 5"/>
          <p:cNvSpPr/>
          <p:nvPr/>
        </p:nvSpPr>
        <p:spPr>
          <a:xfrm>
            <a:off x="502920" y="3703320"/>
            <a:ext cx="9144000" cy="914400"/>
          </a:xfrm>
          <a:prstGeom prst="rect">
            <a:avLst/>
          </a:prstGeom>
          <a:noFill/>
          <a:ln/>
        </p:spPr>
        <p:txBody>
          <a:bodyPr wrap="square" rtlCol="0" anchor="ctr"/>
          <a:lstStyle/>
          <a:p>
            <a:pPr indent="0" marL="0">
              <a:lnSpc>
                <a:spcPct val="125000"/>
              </a:lnSpc>
              <a:buNone/>
            </a:pPr>
            <a:r>
              <a:rPr lang="en-US" sz="1500" dirty="0">
                <a:solidFill>
                  <a:srgbClr val="CFCFCF"/>
                </a:solidFill>
                <a:latin typeface="Aptos" pitchFamily="34" charset="0"/>
                <a:ea typeface="Aptos" pitchFamily="34" charset="-122"/>
                <a:cs typeface="Aptos" pitchFamily="34" charset="-120"/>
              </a:rPr>
              <a:t>File your questionnaire, self-assessment and logbook evidence in your Portfolio of Evidence.</a:t>
            </a:r>
            <a:endParaRPr lang="en-US" sz="1500" dirty="0"/>
          </a:p>
          <a:p>
            <a:pPr indent="0" marL="0">
              <a:lnSpc>
                <a:spcPct val="125000"/>
              </a:lnSpc>
              <a:buNone/>
            </a:pPr>
            <a:r>
              <a:rPr lang="en-US" sz="1500" dirty="0">
                <a:solidFill>
                  <a:srgbClr val="CFCFCF"/>
                </a:solidFill>
                <a:latin typeface="Aptos" pitchFamily="34" charset="0"/>
                <a:ea typeface="Aptos" pitchFamily="34" charset="-122"/>
                <a:cs typeface="Aptos" pitchFamily="34" charset="-120"/>
              </a:rPr>
              <a:t>Next session date to be agreed at close — thank you for your participation.</a:t>
            </a:r>
            <a:endParaRPr lang="en-US" sz="1500" dirty="0"/>
          </a:p>
        </p:txBody>
      </p:sp>
      <p:sp>
        <p:nvSpPr>
          <p:cNvPr id="9" name="Text 6"/>
          <p:cNvSpPr/>
          <p:nvPr/>
        </p:nvSpPr>
        <p:spPr>
          <a:xfrm>
            <a:off x="502920" y="6309360"/>
            <a:ext cx="11183112" cy="320040"/>
          </a:xfrm>
          <a:prstGeom prst="rect">
            <a:avLst/>
          </a:prstGeom>
          <a:noFill/>
          <a:ln/>
        </p:spPr>
        <p:txBody>
          <a:bodyPr wrap="square" rtlCol="0" anchor="ctr"/>
          <a:lstStyle/>
          <a:p>
            <a:pPr indent="0" marL="0">
              <a:buNone/>
            </a:pPr>
            <a:r>
              <a:rPr lang="en-US" sz="1050" dirty="0">
                <a:solidFill>
                  <a:srgbClr val="8F8F8F"/>
                </a:solidFill>
                <a:latin typeface="Aptos" pitchFamily="34" charset="0"/>
                <a:ea typeface="Aptos" pitchFamily="34" charset="-122"/>
                <a:cs typeface="Aptos" pitchFamily="34" charset="-120"/>
              </a:rPr>
              <a:t>Unit Standard 8252 · Andre Snell · Investec, Sandton, Johannesburg</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Investec — Corporate Banking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 8252 — Compile and Produce Reports</dc:title>
  <dc:subject>PptxGenJS Presentation</dc:subject>
  <dc:creator>Andre Snell</dc:creator>
  <cp:lastModifiedBy>Andre Snell</cp:lastModifiedBy>
  <cp:revision>1</cp:revision>
  <dcterms:created xsi:type="dcterms:W3CDTF">2026-08-23T00:11:14Z</dcterms:created>
  <dcterms:modified xsi:type="dcterms:W3CDTF">2026-08-23T00:11:14Z</dcterms:modified>
</cp:coreProperties>
</file>