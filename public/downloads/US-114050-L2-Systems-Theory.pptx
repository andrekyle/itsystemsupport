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image" Target="../media/image-3-3.png"/><Relationship Id="rId4" Type="http://schemas.openxmlformats.org/officeDocument/2006/relationships/image" Target="../media/image-3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image" Target="../media/image-4-9.png"/><Relationship Id="rId10" Type="http://schemas.openxmlformats.org/officeDocument/2006/relationships/image" Target="../media/image-4-10.sv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3.png"/><Relationship Id="rId4" Type="http://schemas.openxmlformats.org/officeDocument/2006/relationships/image" Target="../media/image-6-4.svg"/><Relationship Id="rId5" Type="http://schemas.openxmlformats.org/officeDocument/2006/relationships/image" Target="../media/image-6-5.png"/><Relationship Id="rId6" Type="http://schemas.openxmlformats.org/officeDocument/2006/relationships/image" Target="../media/image-6-6.svg"/><Relationship Id="rId7" Type="http://schemas.openxmlformats.org/officeDocument/2006/relationships/image" Target="../media/image-6-7.png"/><Relationship Id="rId8" Type="http://schemas.openxmlformats.org/officeDocument/2006/relationships/image" Target="../media/image-6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image" Target="../media/image-9-3.png"/><Relationship Id="rId4" Type="http://schemas.openxmlformats.org/officeDocument/2006/relationships/image" Target="../media/image-9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3" Type="http://schemas.openxmlformats.org/officeDocument/2006/relationships/image" Target="../media/image-11-3.png"/><Relationship Id="rId4" Type="http://schemas.openxmlformats.org/officeDocument/2006/relationships/image" Target="../media/image-11-4.svg"/><Relationship Id="rId5" Type="http://schemas.openxmlformats.org/officeDocument/2006/relationships/image" Target="../media/image-11-5.png"/><Relationship Id="rId6" Type="http://schemas.openxmlformats.org/officeDocument/2006/relationships/image" Target="../media/image-11-6.svg"/><Relationship Id="rId7" Type="http://schemas.openxmlformats.org/officeDocument/2006/relationships/image" Target="../media/image-11-7.png"/><Relationship Id="rId8" Type="http://schemas.openxmlformats.org/officeDocument/2006/relationships/image" Target="../media/image-11-8.svg"/><Relationship Id="rId9" Type="http://schemas.openxmlformats.org/officeDocument/2006/relationships/image" Target="../media/image-11-9.png"/><Relationship Id="rId10" Type="http://schemas.openxmlformats.org/officeDocument/2006/relationships/image" Target="../media/image-11-10.sv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3" Type="http://schemas.openxmlformats.org/officeDocument/2006/relationships/image" Target="../media/image-15-3.png"/><Relationship Id="rId4" Type="http://schemas.openxmlformats.org/officeDocument/2006/relationships/image" Target="../media/image-15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image" Target="../media/image-16-3.png"/><Relationship Id="rId4" Type="http://schemas.openxmlformats.org/officeDocument/2006/relationships/image" Target="../media/image-16-4.svg"/><Relationship Id="rId5" Type="http://schemas.openxmlformats.org/officeDocument/2006/relationships/image" Target="../media/image-16-5.png"/><Relationship Id="rId6" Type="http://schemas.openxmlformats.org/officeDocument/2006/relationships/image" Target="../media/image-16-6.svg"/><Relationship Id="rId7" Type="http://schemas.openxmlformats.org/officeDocument/2006/relationships/image" Target="../media/image-16-7.png"/><Relationship Id="rId8" Type="http://schemas.openxmlformats.org/officeDocument/2006/relationships/image" Target="../media/image-16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1005840"/>
            <a:ext cx="5394960" cy="566928"/>
          </a:xfrm>
          <a:prstGeom prst="roundRect">
            <a:avLst>
              <a:gd name="adj" fmla="val 50000"/>
            </a:avLst>
          </a:prstGeom>
          <a:solidFill>
            <a:srgbClr val="0F6CBD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005840"/>
            <a:ext cx="5394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spc="10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2 · NQF LEVEL 5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02920" y="1737360"/>
            <a:ext cx="987552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Describe Systems Theory with respect to Information Systems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502920" y="3474720"/>
            <a:ext cx="8869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business environment, the management system, and the information systems that serve every level of the organisation</a:t>
            </a:r>
            <a:endParaRPr lang="en-US" sz="1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058400" y="1280160"/>
            <a:ext cx="1645920" cy="16459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02920" y="4224528"/>
            <a:ext cx="11183112" cy="0"/>
          </a:xfrm>
          <a:prstGeom prst="line">
            <a:avLst/>
          </a:prstGeom>
          <a:noFill/>
          <a:ln w="12700">
            <a:solidFill>
              <a:srgbClr val="D5E3F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02920" y="4407408"/>
            <a:ext cx="261289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502920" y="4754880"/>
            <a:ext cx="261289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90 minutes · Self &amp; Group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3298698" y="4407408"/>
            <a:ext cx="261289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SESSION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3298698" y="4754880"/>
            <a:ext cx="261289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Friday, 21 Aug 2026 · 09h00 – 14h00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6094476" y="4407408"/>
            <a:ext cx="261289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MODULE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6094476" y="4754880"/>
            <a:ext cx="261289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Module 1 · Professional Team Development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8890254" y="4407408"/>
            <a:ext cx="261289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QUALITY ASSURANCE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8890254" y="4754880"/>
            <a:ext cx="261289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QCTO / MICT SETA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502920" y="6291072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ITSS Learn · Investec · Corporate Banking Technology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2 — Systems theory &amp; information systems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BUSINESS ENVIRONMENT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manager and the management system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554480"/>
            <a:ext cx="11183112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manager is someone skilled in knowing how to analyse and improve the ability of an organisation to survive and grow in a complex and changing world.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Managers have a set of tools that enable them to grasp the complexity of the organisation's environment.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management system describes the organisation and the set of significant interacting institutions and forces in its complex, rapidly changing environment that affect its ability to serve its customers.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firm must continuously monitor and adapt to the environment if it is to survive and prosper.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Disturbances in the environment may spell profound threats or new opportunities — the successful firm identifies, appraises and responds to both.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2 — Systems theory &amp; information systems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LEVELS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Internal and external environment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600200"/>
            <a:ext cx="5500116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178308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6424" y="17099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Internal environment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67512" y="2532888"/>
            <a:ext cx="5170932" cy="1591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organisation is a resource conversion machine: it takes inputs (labour, money, materials, equipment) from the outside world and converts them into useful products, goods and services — its outputs to customers.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185916" y="1600200"/>
            <a:ext cx="5500116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1129030000" dist="322580000" dir="324000000000">
              <a:srgbClr val="9AB4CC">
                <a:alpha val="3000000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50508" y="178308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789420" y="17099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External environment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6350508" y="2532888"/>
            <a:ext cx="5170932" cy="1591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 outside institutions and forces with an actual or potential interest or impact on the organisation's objectives: competitive, economic, technological, political, legal, demographic, cultural and ecosystem.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502920" y="4572000"/>
            <a:ext cx="11183112" cy="1234440"/>
          </a:xfrm>
          <a:prstGeom prst="roundRect">
            <a:avLst>
              <a:gd name="adj" fmla="val 6667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14338681000000" dist="4096766000000" dir="19440000000000000">
              <a:srgbClr val="9AB4CC">
                <a:alpha val="300000000000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731520" y="4736592"/>
            <a:ext cx="107259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GLOBALISATION — AN OPPORTUNITY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731520" y="5084064"/>
            <a:ext cx="107259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Improving transport and communications let companies expand into worldwide markets — managers must handle multiple cultures and political systems.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2 — Systems theory &amp; information systems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TYPES OF INFORMATION SYSTEMS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Technology serving every level of the pyramid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280160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description distinguishes these types of information systems (any three):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02920" y="1828800"/>
            <a:ext cx="3605784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182101248700000000" dist="52028928200000000" dir="1.1664e+21">
              <a:srgbClr val="9AB4CC">
                <a:alpha val="30000000000000000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2011680"/>
            <a:ext cx="347472" cy="34747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106424" y="19385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TPS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667512" y="2761488"/>
            <a:ext cx="3276600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Collects, stores, modifies and retrieves the organisation's transactions.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291584" y="1828800"/>
            <a:ext cx="3605784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2.31268585849e+21" dist="660767388140000000000" dir="6.9984e+25">
              <a:srgbClr val="9AB4CC">
                <a:alpha val="3e+24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56176" y="2011680"/>
            <a:ext cx="347472" cy="34747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895088" y="19385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KWS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4456176" y="2761488"/>
            <a:ext cx="3276600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Supports technical expertise — word processing, CAD, expert systems.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8080248" y="1828800"/>
            <a:ext cx="3605784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2.9371110402823e+25" dist="8.391745829378e+24" dir="4.19904e+30">
              <a:srgbClr val="9AB4CC">
                <a:alpha val="3e+29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44840" y="2011680"/>
            <a:ext cx="347472" cy="34747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83752" y="19385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MIS</a:t>
            </a:r>
            <a:endParaRPr lang="en-US" sz="2000" dirty="0"/>
          </a:p>
        </p:txBody>
      </p:sp>
      <p:sp>
        <p:nvSpPr>
          <p:cNvPr id="19" name="Text 14"/>
          <p:cNvSpPr/>
          <p:nvPr/>
        </p:nvSpPr>
        <p:spPr>
          <a:xfrm>
            <a:off x="8244840" y="2761488"/>
            <a:ext cx="3276600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Turns internal and external data into decision-making information.</a:t>
            </a:r>
            <a:endParaRPr lang="en-US" sz="1800" dirty="0"/>
          </a:p>
        </p:txBody>
      </p:sp>
      <p:sp>
        <p:nvSpPr>
          <p:cNvPr id="20" name="Shape 15"/>
          <p:cNvSpPr/>
          <p:nvPr/>
        </p:nvSpPr>
        <p:spPr>
          <a:xfrm>
            <a:off x="502920" y="3977640"/>
            <a:ext cx="3605784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3.730131021158521e+29" dist="1.0657517203310059e+29" dir="2.519424e+35">
              <a:srgbClr val="9AB4CC">
                <a:alpha val="2.9999999999999997e+34"/>
              </a:srgbClr>
            </a:outerShdw>
          </a:effectLst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67512" y="4160520"/>
            <a:ext cx="347472" cy="34747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106424" y="408736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DSS</a:t>
            </a:r>
            <a:endParaRPr lang="en-US" sz="2000" dirty="0"/>
          </a:p>
        </p:txBody>
      </p:sp>
      <p:sp>
        <p:nvSpPr>
          <p:cNvPr id="23" name="Text 17"/>
          <p:cNvSpPr/>
          <p:nvPr/>
        </p:nvSpPr>
        <p:spPr>
          <a:xfrm>
            <a:off x="667512" y="4910328"/>
            <a:ext cx="3276600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Supports “what if” analysis and unstructured decisions.</a:t>
            </a:r>
            <a:endParaRPr lang="en-US" sz="1800" dirty="0"/>
          </a:p>
        </p:txBody>
      </p:sp>
      <p:sp>
        <p:nvSpPr>
          <p:cNvPr id="24" name="Shape 18"/>
          <p:cNvSpPr/>
          <p:nvPr/>
        </p:nvSpPr>
        <p:spPr>
          <a:xfrm>
            <a:off x="4291584" y="3977640"/>
            <a:ext cx="3605784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4.737266396871321e+33" dist="1.3535046848203775e+33" dir="1.5116544e+40">
              <a:srgbClr val="9AB4CC">
                <a:alpha val="3e+39"/>
              </a:srgbClr>
            </a:outerShdw>
          </a:effectLst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456176" y="4160520"/>
            <a:ext cx="347472" cy="347472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4895088" y="408736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ESS</a:t>
            </a:r>
            <a:endParaRPr lang="en-US" sz="2000" dirty="0"/>
          </a:p>
        </p:txBody>
      </p:sp>
      <p:sp>
        <p:nvSpPr>
          <p:cNvPr id="27" name="Text 20"/>
          <p:cNvSpPr/>
          <p:nvPr/>
        </p:nvSpPr>
        <p:spPr>
          <a:xfrm>
            <a:off x="4456176" y="4910328"/>
            <a:ext cx="3276600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long-term, strategic view for senior management.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2 — Systems theory &amp; information systems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TRANSACTION PROCESSING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Transaction Processing Systems (TPS)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554480"/>
            <a:ext cx="11183112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TPS collects, stores, modifies and retrieves the transactions of an organisation.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transaction is an event that generates or modifies data that is eventually stored in an information system.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 be considered a transaction processing system, the computer must pass the ACID test.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Batch processing is NOT transaction processing — several transactions are processed together and results are not immediately available while a transaction is entered.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2 — Systems theory &amp; information systems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TRANSACTION PROCESSING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Features of a TPS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60020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6.016328324026578e+37" dist="1.7189509497218795e+37" dir="9.069926400000001e+44">
              <a:srgbClr val="9AB4CC">
                <a:alpha val="3e+44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178308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6424" y="17099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Rapid response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67512" y="253288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Customers cannot be kept waiting — input to output in a few seconds or less.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185916" y="160020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7.640736971513755e+41" dist="2.183067706146787e+41" dir="5.44195584e+49">
              <a:srgbClr val="9AB4CC">
                <a:alpha val="2.9999999999999997e+49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50508" y="178308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789420" y="17099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Reliability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6350508" y="253288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breakdown can stop the business — very low failure rate, quick recovery, solid backups.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502920" y="393192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9.703735953822469e+45" dist="2.7724959868064195e+45" dir="3.2651735040000005e+54">
              <a:srgbClr val="9AB4CC">
                <a:alpha val="2.9999999999999996e+54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7512" y="4114800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106424" y="404164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Inflexibility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667512" y="486460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transaction is processed the same way — no non-standard operations per user or agent.</a:t>
            </a:r>
            <a:endParaRPr lang="en-US" sz="1800" dirty="0"/>
          </a:p>
        </p:txBody>
      </p:sp>
      <p:sp>
        <p:nvSpPr>
          <p:cNvPr id="19" name="Shape 14"/>
          <p:cNvSpPr/>
          <p:nvPr/>
        </p:nvSpPr>
        <p:spPr>
          <a:xfrm>
            <a:off x="6185916" y="393192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1.2323744661354536e+50" dist="3.5210699032441527e+49" dir="1.9591041024000004e+59">
              <a:srgbClr val="9AB4CC">
                <a:alpha val="2.9999999999999996e+59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50508" y="4114800"/>
            <a:ext cx="347472" cy="34747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6789420" y="404164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Controlled processing</a:t>
            </a:r>
            <a:endParaRPr lang="en-US" sz="2000" dirty="0"/>
          </a:p>
        </p:txBody>
      </p:sp>
      <p:sp>
        <p:nvSpPr>
          <p:cNvPr id="22" name="Text 16"/>
          <p:cNvSpPr/>
          <p:nvPr/>
        </p:nvSpPr>
        <p:spPr>
          <a:xfrm>
            <a:off x="6350508" y="486460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Enforces the organisation's allocated roles and responsibilities.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2 — Systems theory &amp; information systems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ACID TEST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Four properties every transaction must have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60020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1.5651155719920262e+54" dist="4.471758777120074e+53" dir="1.1754624614400003e+64">
              <a:srgbClr val="9AB4CC">
                <a:alpha val="2.9999999999999996e+64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178308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6424" y="17099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Atomicity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67512" y="253288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Changes to the state are atomic: either all happen or none happen — database changes, messages and actions on transducers.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185916" y="160020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1.9876967764298733e+58" dist="5.679133646942494e+57" dir="7.052774768640002e+68">
              <a:srgbClr val="9AB4CC">
                <a:alpha val="2.9999999999999995e+69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50508" y="178308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789420" y="17099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Consistency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6350508" y="253288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correct transformation of the state — the actions as a group do not violate any integrity constraints.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502920" y="393192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2.524374906065939e+62" dist="7.212499731616968e+61" dir="4.2316648611840007e+73">
              <a:srgbClr val="9AB4CC">
                <a:alpha val="2.9999999999999995e+74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7512" y="4114800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106424" y="404164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Isolation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667512" y="486460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Concurrent transactions appear to each transaction T to have executed before T or after T — but not both.</a:t>
            </a:r>
            <a:endParaRPr lang="en-US" sz="1800" dirty="0"/>
          </a:p>
        </p:txBody>
      </p:sp>
      <p:sp>
        <p:nvSpPr>
          <p:cNvPr id="19" name="Shape 14"/>
          <p:cNvSpPr/>
          <p:nvPr/>
        </p:nvSpPr>
        <p:spPr>
          <a:xfrm>
            <a:off x="6185916" y="393192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3.2059561307037426e+66" dist="9.15987465915355e+65" dir="2.5389989167104004e+78">
              <a:srgbClr val="9AB4CC">
                <a:alpha val="3e+79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50508" y="4114800"/>
            <a:ext cx="347472" cy="34747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6789420" y="404164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Durability</a:t>
            </a:r>
            <a:endParaRPr lang="en-US" sz="2000" dirty="0"/>
          </a:p>
        </p:txBody>
      </p:sp>
      <p:sp>
        <p:nvSpPr>
          <p:cNvPr id="22" name="Text 16"/>
          <p:cNvSpPr/>
          <p:nvPr/>
        </p:nvSpPr>
        <p:spPr>
          <a:xfrm>
            <a:off x="6350508" y="486460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Once a transaction commits, its changes to the state survive failures.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2 — Systems theory &amp; information systems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STORING AND RETRIEVING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Databases and files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280160"/>
            <a:ext cx="1118311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database is a collection of data neatly organised, storing the accounting and operational records — accurate, protected, and used many times a day.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02920" y="2148840"/>
            <a:ext cx="3605784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4.071564285993753e+70" dist="1.1633040817125008e+70" dir="1.5233993500262402e+83">
              <a:srgbClr val="9AB4CC">
                <a:alpha val="2.9999999999999995e+84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2331720"/>
            <a:ext cx="347472" cy="34747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106424" y="225856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Hierarchical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667512" y="3081528"/>
            <a:ext cx="3276600" cy="12252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in a series of levels — top-to-bottom nodes and branches; each child links to only ONE parent node.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291584" y="2148840"/>
            <a:ext cx="3605784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5.170886643212067e+74" dist="1.477396183774876e+74" dir="9.14039610015744e+87">
              <a:srgbClr val="9AB4CC">
                <a:alpha val="2.9999999999999996e+89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56176" y="2331720"/>
            <a:ext cx="347472" cy="34747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895088" y="225856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Network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4456176" y="3081528"/>
            <a:ext cx="3276600" cy="12252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Nodes and branches like hierarchical — but each child can link to MULTIPLE higher parent nodes.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8080248" y="2148840"/>
            <a:ext cx="3605784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6.567026036879325e+78" dist="1.8762931533940924e+78" dir="5.484237660094465e+92">
              <a:srgbClr val="9AB4CC">
                <a:alpha val="2.9999999999999997e+94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44840" y="2331720"/>
            <a:ext cx="347472" cy="34747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83752" y="225856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Relational</a:t>
            </a:r>
            <a:endParaRPr lang="en-US" sz="2000" dirty="0"/>
          </a:p>
        </p:txBody>
      </p:sp>
      <p:sp>
        <p:nvSpPr>
          <p:cNvPr id="19" name="Text 14"/>
          <p:cNvSpPr/>
          <p:nvPr/>
        </p:nvSpPr>
        <p:spPr>
          <a:xfrm>
            <a:off x="8244840" y="3081528"/>
            <a:ext cx="3276600" cy="12252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in a series of related tables — flexibility comes from the relationships built between tables.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2 — Systems theory &amp; information systems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PROCESSING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Batch and on-line systems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600200"/>
            <a:ext cx="5500116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.340123066836742e+82" dist="2.3828923048104974e+82" dir="3.2905425960566786e+97">
              <a:srgbClr val="9AB4CC">
                <a:alpha val="2.9999999999999997e+99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178308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6424" y="17099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Batch systems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67512" y="2532888"/>
            <a:ext cx="5170932" cy="1591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Transactions are collected over a period and dealt with in one go — mail-order tickets batched in 50s, keyed in, then the stock-control program runs. Hours may pass, but a 4–5 day delivery makes that acceptable.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185916" y="1600200"/>
            <a:ext cx="5500116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1.0591956294882662e+87" dist="3.0262732271093317e+86" dir="1.9743255576340073e+102">
              <a:srgbClr val="9AB4CC">
                <a:alpha val="3e+104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50508" y="178308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789420" y="17099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On-line systems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6350508" y="2532888"/>
            <a:ext cx="5170932" cy="1591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Updates happen immediately — critical for production-line sensors checking imbalances. A travel-agent ticket updates the airline's computer within seconds: pseudo-on-line processing.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2 — Systems theory &amp; information systems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KNOWLEDGE WORK SYSTEMS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Software for technical expertise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554480"/>
            <a:ext cx="11183112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Word-processing for clerical staff · spreadsheets for accounts and sales · database management systems for records.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CAD for designers · project management systems · expert systems for specialist staff.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Expert system example: an engineer types in the parameters for a bearing and the system suggests several alloys — the engineer's knowledge and experience make the final choice.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Computers are networked; large organisations link several LANs so staff communicate by e-mail, document scanning, web-cams and video conferencing.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2 — Systems theory &amp; information systems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MANAGEMENT INFORMATION SYSTEMS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MIS and the manager's five functions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554480"/>
            <a:ext cx="11183112" cy="1051560"/>
          </a:xfrm>
          <a:prstGeom prst="roundRect">
            <a:avLst>
              <a:gd name="adj" fmla="val 7826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1.3451784494500981e+91" dist="3.8433669984288512e+90" dir="1.1845953345804043e+107">
              <a:srgbClr val="9AB4CC">
                <a:alpha val="2.9999999999999997e+109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691640"/>
            <a:ext cx="107259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role of an MIS is to convert data from internal and external sources into information used to make effective decisions for planning, directing and controlling.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02920" y="2834640"/>
            <a:ext cx="550926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1.7083766308016246e+95" dist="4.8810760880046414e+94" dir="7.107572007482426e+111">
              <a:srgbClr val="9AB4CC">
                <a:alpha val="2.9999999999999995e+114"/>
              </a:srgbClr>
            </a:outerShdw>
          </a:effectLst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3095244"/>
            <a:ext cx="347472" cy="347472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124712" y="2907792"/>
            <a:ext cx="4722876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Planning — the direction a company takes, e.g. diversifying, where to operate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6176772" y="2834640"/>
            <a:ext cx="550926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2.1696383211180632e+99" dist="6.198966631765894e+98" dir="4.2645432044894554e+116">
              <a:srgbClr val="9AB4CC">
                <a:alpha val="2.9999999999999997e+119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41364" y="3095244"/>
            <a:ext cx="347472" cy="34747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798564" y="2907792"/>
            <a:ext cx="4722876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Organising — resources such as people, space, equipment and services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502920" y="3867912"/>
            <a:ext cx="550926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2.7554406678199403e+103" dist="7.872687622342685e+102" dir="2.5587259226936733e+121">
              <a:srgbClr val="9AB4CC">
                <a:alpha val="2.9999999999999995e+124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7512" y="4128516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124712" y="3941064"/>
            <a:ext cx="4722876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Coordinating — the activities of various departments</a:t>
            </a:r>
            <a:endParaRPr lang="en-US" sz="1800" dirty="0"/>
          </a:p>
        </p:txBody>
      </p:sp>
      <p:sp>
        <p:nvSpPr>
          <p:cNvPr id="18" name="Shape 13"/>
          <p:cNvSpPr/>
          <p:nvPr/>
        </p:nvSpPr>
        <p:spPr>
          <a:xfrm>
            <a:off x="6176772" y="3867912"/>
            <a:ext cx="550926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3.499409648131324e+107" dist="9.998313280375211e+106" dir="1.535235553616204e+126">
              <a:srgbClr val="9AB4CC">
                <a:alpha val="2.9999999999999997e+129"/>
              </a:srgbClr>
            </a:outerShdw>
          </a:effectLst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41364" y="4128516"/>
            <a:ext cx="347472" cy="347472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6798564" y="3941064"/>
            <a:ext cx="4722876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Decision-making — the organisation, products, employees, use of IT</a:t>
            </a:r>
            <a:endParaRPr lang="en-US" sz="1800" dirty="0"/>
          </a:p>
        </p:txBody>
      </p:sp>
      <p:sp>
        <p:nvSpPr>
          <p:cNvPr id="21" name="Shape 15"/>
          <p:cNvSpPr/>
          <p:nvPr/>
        </p:nvSpPr>
        <p:spPr>
          <a:xfrm>
            <a:off x="502920" y="4901184"/>
            <a:ext cx="550926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4.4442502531267815e+111" dist="1.2697857866076517e+111" dir="9.211413321697224e+130">
              <a:srgbClr val="9AB4CC">
                <a:alpha val="2.9999999999999996e+134"/>
              </a:srgbClr>
            </a:outerShdw>
          </a:effectLst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67512" y="5161788"/>
            <a:ext cx="347472" cy="347472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124712" y="4974336"/>
            <a:ext cx="4722876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Controlling — monitoring and supervising the activities of others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2 — Systems theory &amp; information systems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MANAGEMENT INFORMATION SYSTEMS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From data processing to management information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600200"/>
            <a:ext cx="3605784" cy="24688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5.644197821471012e+115" dist="1.6126279489917177e+115" dir="5.526847993018334e+135">
              <a:srgbClr val="9AB4CC">
                <a:alpha val="2.9999999999999994e+139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178308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6424" y="17099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 processing systems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67512" y="2532888"/>
            <a:ext cx="3276600" cy="1408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Record day-to-day transactions — e.g. the sale of a CD to a customer.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4291584" y="1600200"/>
            <a:ext cx="3605784" cy="24688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7.168131233268186e+119" dist="2.0480374952194813e+119" dir="3.3161087958110005e+140">
              <a:srgbClr val="9AB4CC">
                <a:alpha val="2.9999999999999996e+144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56176" y="178308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895088" y="17099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Operational information systems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4456176" y="2532888"/>
            <a:ext cx="3276600" cy="1408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 the collected data and produce lists — e.g. items that need to be re-ordered.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8080248" y="1600200"/>
            <a:ext cx="3605784" cy="24688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9.103526666250596e+123" dist="2.6010076189287412e+123" dir="1.9896652774866004e+145">
              <a:srgbClr val="9AB4CC">
                <a:alpha val="2.9999999999999996e+149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44840" y="1783080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83752" y="17099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MIS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8244840" y="2532888"/>
            <a:ext cx="3276600" cy="1408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Analyses sales data to highlight trends per product line — special promotion, or discontinue?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2 — Systems theory &amp; information systems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MANAGEMENT INFORMATION SYSTEMS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Information sources and flows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554480"/>
            <a:ext cx="11183112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Internal information comes easily from systems on the company network, e.g. sales figures per product line.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External information: intelligence about competitors (press, leaks, even industrial espionage) · population shifts · economic and social factors · government legislation.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Formal flows follow a procedure — Monday-morning branch downloads, agencies like Dun and Bradstreet, shared documents, e-mail, company intranets.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Informal flows come from chance meetings, magazines, newspapers, or the news on TV.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2 — Systems theory &amp; information systems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MANAGEMENT INFORMATION SYSTEMS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Three levels of information for managers</a:t>
            </a:r>
            <a:endParaRPr lang="en-US" sz="3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828800"/>
          <a:ext cx="1118311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389120"/>
                <a:gridCol w="4416552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ptos Display" pitchFamily="34" charset="0"/>
                          <a:ea typeface="Aptos Display" pitchFamily="34" charset="-122"/>
                          <a:cs typeface="Aptos Display" pitchFamily="34" charset="-120"/>
                        </a:rPr>
                        <a:t>Level</a:t>
                      </a:r>
                      <a:endParaRPr lang="en-US" sz="1800" dirty="0">
                        <a:latin typeface="Aptos Display" charset="0"/>
                        <a:ea typeface="Aptos Display" charset="0"/>
                        <a:cs typeface="Aptos Display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CB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ptos Display" pitchFamily="34" charset="0"/>
                          <a:ea typeface="Aptos Display" pitchFamily="34" charset="-122"/>
                          <a:cs typeface="Aptos Display" pitchFamily="34" charset="-120"/>
                        </a:rPr>
                        <a:t>Decisions it serves</a:t>
                      </a:r>
                      <a:endParaRPr lang="en-US" sz="1800" dirty="0">
                        <a:latin typeface="Aptos Display" charset="0"/>
                        <a:ea typeface="Aptos Display" charset="0"/>
                        <a:cs typeface="Aptos Display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CB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ptos Display" pitchFamily="34" charset="0"/>
                          <a:ea typeface="Aptos Display" pitchFamily="34" charset="-122"/>
                          <a:cs typeface="Aptos Display" pitchFamily="34" charset="-120"/>
                        </a:rPr>
                        <a:t>Example</a:t>
                      </a:r>
                      <a:endParaRPr lang="en-US" sz="1800" dirty="0">
                        <a:latin typeface="Aptos Display" charset="0"/>
                        <a:ea typeface="Aptos Display" charset="0"/>
                        <a:cs typeface="Aptos Display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CBD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Operational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Day-to-day decisions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Ordering in more stock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Tactical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Short to medium term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Introducing a new product to a retail outlet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Strategic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Long term — the organisation's future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Opening a new store, or taking over a rival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2 — Systems theory &amp; information systems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TYPES OF DECISION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Structured, unstructured — and the four stages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600200"/>
            <a:ext cx="5500116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1.1561478866138256e+128" dist="3.303279676039501e+127" dir="1.1937991664919603e+150">
              <a:srgbClr val="9AB4CC">
                <a:alpha val="2.9999999999999997e+154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178308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6424" y="17099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Structured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67512" y="2532888"/>
            <a:ext cx="5170932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Repetitive, with a definite routine — stock below 15% triggers an order.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185916" y="1600200"/>
            <a:ext cx="5500116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1.4683078159995586e+132" dist="4.195165188570166e+131" dir="7.162794998951762e+154">
              <a:srgbClr val="9AB4CC">
                <a:alpha val="2.9999999999999998e+159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50508" y="178308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789420" y="17099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Unstructured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6350508" y="2532888"/>
            <a:ext cx="5170932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Needs knowledge, insight and evaluation — may crop up without warning.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502920" y="3611880"/>
            <a:ext cx="11183112" cy="2377440"/>
          </a:xfrm>
          <a:prstGeom prst="roundRect">
            <a:avLst>
              <a:gd name="adj" fmla="val 3462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1.8647509263194394e+136" dist="5.327859789484111e+135" dir="4.297676999371057e+159">
              <a:srgbClr val="9AB4CC">
                <a:alpha val="3e+164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731520" y="3767328"/>
            <a:ext cx="107259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DECISION STAGES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731520" y="4133088"/>
            <a:ext cx="10725912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spcAft>
                <a:spcPts val="600"/>
              </a:spcAft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Recognise the problem — the MIS shows where performance is off.</a:t>
            </a:r>
            <a:endParaRPr lang="en-US" sz="1800" dirty="0"/>
          </a:p>
          <a:p>
            <a:pPr indent="0" marL="0">
              <a:lnSpc>
                <a:spcPct val="120000"/>
              </a:lnSpc>
              <a:spcAft>
                <a:spcPts val="600"/>
              </a:spcAft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Consider the solution — “what if” scenarios in a spreadsheet.</a:t>
            </a:r>
            <a:endParaRPr lang="en-US" sz="1800" dirty="0"/>
          </a:p>
          <a:p>
            <a:pPr indent="0" marL="0">
              <a:lnSpc>
                <a:spcPct val="120000"/>
              </a:lnSpc>
              <a:spcAft>
                <a:spcPts val="600"/>
              </a:spcAft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Choose — the manager's experience plus the MIS's information.</a:t>
            </a:r>
            <a:endParaRPr lang="en-US" sz="1800" dirty="0"/>
          </a:p>
          <a:p>
            <a:pPr indent="0" marL="0">
              <a:lnSpc>
                <a:spcPct val="120000"/>
              </a:lnSpc>
              <a:spcAft>
                <a:spcPts val="600"/>
              </a:spcAft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 Implement and review — the MIS supplies the evaluation data.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2 — Systems theory &amp; information systems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NOW PROVE IT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Your work for Lesson 2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60020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2.368233676425688e+140" dist="6.766381932644821e+139" dir="2.5786061996226343e+164">
              <a:srgbClr val="9AB4CC">
                <a:alpha val="3e+169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178308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6424" y="17099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Questioning session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67512" y="253288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System concept, Input–Process–Output, three types of IS — AI-marked.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185916" y="160020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3.0076567690606238e+144" dist="8.593305054458923e+143" dir="1.5471637197735807e+169">
              <a:srgbClr val="9AB4CC">
                <a:alpha val="3e+174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50508" y="178308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789420" y="17099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Knowledge check quiz 2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6350508" y="253288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 questions on systems theory and information systems. 80%+ is competent.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502920" y="393192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3.819724096706992e+148" dist="1.0913497419162833e+148" dir="9.282982318641485e+173">
              <a:srgbClr val="9AB4CC">
                <a:alpha val="3e+179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7512" y="4114800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106424" y="404164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Self assessment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667512" y="486460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Tick the systems-theory statement honestly — or write it down as a goal.</a:t>
            </a:r>
            <a:endParaRPr lang="en-US" sz="1800" dirty="0"/>
          </a:p>
        </p:txBody>
      </p:sp>
      <p:sp>
        <p:nvSpPr>
          <p:cNvPr id="19" name="Shape 14"/>
          <p:cNvSpPr/>
          <p:nvPr/>
        </p:nvSpPr>
        <p:spPr>
          <a:xfrm>
            <a:off x="6185916" y="393192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4.85104960281788e+152" dist="1.38601417223368e+152" dir="5.569789391184891e+178">
              <a:srgbClr val="9AB4CC">
                <a:alpha val="3e+184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50508" y="4114800"/>
            <a:ext cx="347472" cy="34747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6789420" y="404164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Logbook project — Research</a:t>
            </a:r>
            <a:endParaRPr lang="en-US" sz="2000" dirty="0"/>
          </a:p>
        </p:txBody>
      </p:sp>
      <p:sp>
        <p:nvSpPr>
          <p:cNvPr id="22" name="Text 16"/>
          <p:cNvSpPr/>
          <p:nvPr/>
        </p:nvSpPr>
        <p:spPr>
          <a:xfrm>
            <a:off x="6350508" y="486460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Your IT-in-business research project also evidences this outcome. Mark it 114050.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020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2 — Systems theory &amp; information systems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F6CB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2920" y="1463040"/>
            <a:ext cx="640080" cy="6400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240280"/>
            <a:ext cx="1118311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Every business is a system — IT keeps it running.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502920" y="3611880"/>
            <a:ext cx="1005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B9D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Inputs → process → outputs · TPS, KWS and MIS · ACID-safe transactions · databases · batch and on-line processing · information for operational, tactical and strategic decisions.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502920" y="6291072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E93B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National Certificate: IT — System Support · SAQA ID 48573 · ITSS Learn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Investec — Corporate Banking Technology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 114050 Lesson 2 — Systems Theory with respect to Information Systems</dc:title>
  <dc:subject>PptxGenJS Presentation</dc:subject>
  <dc:creator>Andre Snell</dc:creator>
  <cp:lastModifiedBy>Andre Snell</cp:lastModifiedBy>
  <cp:revision>1</cp:revision>
  <dcterms:created xsi:type="dcterms:W3CDTF">2026-08-19T14:26:35Z</dcterms:created>
  <dcterms:modified xsi:type="dcterms:W3CDTF">2026-08-19T14:26:35Z</dcterms:modified>
</cp:coreProperties>
</file>