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· NQF LEVEL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Describe Systems Theory with respect to Information Systems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business environment, the management system, and the information systems that serve every level of the organisation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21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BUSINESS ENVIRONMENT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manager and the management system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manager is someone skilled in knowing how to analyse and improve the ability of an organisation to survive and grow in a complex and changing world.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Managers have a set of tools that enable them to grasp the complexity of the organisation's environment.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management system describes the organisation and the set of significant interacting institutions and forces in its complex, rapidly changing environment that affect its ability to serve its customers.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firm must continuously monitor and adapt to the environment if it is to survive and prosper.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Disturbances in the environment may spell profound threats or new opportunities — the successful firm identifies, appraises and responds to both.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and external environment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environment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organisation is a resource conversion machine: it takes inputs (labour, money, materials, equipment) from the outside world and converts them into useful products, goods and services — its outputs to customers.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129030000" dist="322580000" dir="324000000000">
              <a:srgbClr val="9AB4CC">
                <a:alpha val="30000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External environment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outside institutions and forces with an actual or potential interest or impact on the organisation's objectives: competitive, economic, technological, political, legal, demographic, cultural and ecosystem.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5720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4338681000000" dist="4096766000000" dir="19440000000000000">
              <a:srgbClr val="9AB4CC">
                <a:alpha val="30000000000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736592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GLOBALISATION — AN OPPORTUNITY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5084064"/>
            <a:ext cx="107259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Improving transport and communications let companies expand into worldwide markets — managers must handle multiple cultures and political systems.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Technology serving every level of the pyramid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description distinguishes these types of information systems (any three):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82101248700000000" dist="52028928200000000" dir="1.1664e+21">
              <a:srgbClr val="9AB4CC">
                <a:alpha val="3000000000000000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TPS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Collects, stores, modifies and retrieves the organisation's transactions.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1268585849e+21" dist="660767388140000000000" dir="6.9984e+25">
              <a:srgbClr val="9AB4CC">
                <a:alpha val="3e+24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KWS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technical expertise — word processing, CAD, expert systems.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9371110402823e+25" dist="8.391745829378e+24" dir="4.19904e+30">
              <a:srgbClr val="9AB4CC">
                <a:alpha val="3e+29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Turns internal and external data into decision-making information.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39776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730131021158521e+29" dist="1.0657517203310059e+29" dir="2.519424e+35">
              <a:srgbClr val="9AB4CC">
                <a:alpha val="2.9999999999999997e+34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1605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0873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DSS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9103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“what if” analysis and unstructured decisions.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39776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737266396871321e+33" dist="1.3535046848203775e+33" dir="1.5116544e+40">
              <a:srgbClr val="9AB4CC">
                <a:alpha val="3e+39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1605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0873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ESS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9103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long-term, strategic view for senior management.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Transaction Processing Systems (TPS)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TPS collects, stores, modifies and retrieves the transactions of an organisation.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transaction is an event that generates or modifies data that is eventually stored in an information system.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be considered a transaction processing system, the computer must pass the ACID test.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 processing is NOT transaction processing — several transactions are processed together and results are not immediately available while a transaction is entered.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Features of a TPS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016328324026578e+37" dist="1.7189509497218795e+37" dir="9.069926400000001e+44">
              <a:srgbClr val="9AB4CC">
                <a:alpha val="3e+4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Rapid response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cannot be kept waiting — input to output in a few seconds or less.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640736971513755e+41" dist="2.183067706146787e+41" dir="5.44195584e+49">
              <a:srgbClr val="9AB4CC">
                <a:alpha val="2.9999999999999997e+4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breakdown can stop the business — very low failure rate, quick recovery, solid backups.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703735953822469e+45" dist="2.7724959868064195e+45" dir="3.2651735040000005e+54">
              <a:srgbClr val="9AB4CC">
                <a:alpha val="2.9999999999999996e+5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Inflexibility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transaction is processed the same way — no non-standard operations per user or agent.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2323744661354536e+50" dist="3.5210699032441527e+49" dir="1.9591041024000004e+59">
              <a:srgbClr val="9AB4CC">
                <a:alpha val="2.9999999999999996e+5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Controlled processing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Enforces the organisation's allocated roles and responsibilities.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ACID TEST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properties every transaction must have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5651155719920262e+54" dist="4.471758777120074e+53" dir="1.1754624614400003e+64">
              <a:srgbClr val="9AB4CC">
                <a:alpha val="2.9999999999999996e+6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Atomicity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or nothing: an R5,000 transfer must debit the sender AND credit the receiver — or be cancelled entirely.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9876967764298733e+58" dist="5.679133646942494e+57" dir="7.052774768640002e+68">
              <a:srgbClr val="9AB4CC">
                <a:alpha val="2.9999999999999995e+6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Consistency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Follows the rules and keeps the data correct: sender R20,000 → R15,000, receiver R10,000 → R15,000.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524374906065939e+62" dist="7.212499731616968e+61" dir="4.2316648611840007e+73">
              <a:srgbClr val="9AB4CC">
                <a:alpha val="2.9999999999999995e+7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Isolation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Simultaneous transactions do not interfere: Client A's R5,000 and Client B's R2,000 each run as if on their own.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2059561307037426e+66" dist="9.15987465915355e+65" dir="2.5389989167104004e+78">
              <a:srgbClr val="9AB4CC">
                <a:alpha val="3e+7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Durability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a transaction commits, its changes to the state survive failures.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STORING AND RETRIEVING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Databases and files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database is a collection of data neatly organised, storing the accounting and operational records — accurate, protected, and used many times a day.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071564285993753e+70" dist="1.1633040817125008e+70" dir="1.5233993500262402e+83">
              <a:srgbClr val="9AB4CC">
                <a:alpha val="2.9999999999999995e+84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3317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Hierarchical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in a series of levels — top-to-bottom nodes and branches; each child links to only ONE parent node.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170886643212067e+74" dist="1.477396183774876e+74" dir="9.14039610015744e+87">
              <a:srgbClr val="9AB4CC">
                <a:alpha val="2.9999999999999996e+89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3317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 and branches like hierarchical — but each child can link to MULTIPLE higher parent nodes.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567026036879325e+78" dist="1.8762931533940924e+78" dir="5.484237660094465e+92">
              <a:srgbClr val="9AB4CC">
                <a:alpha val="2.9999999999999997e+94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3317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Relational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in a series of related tables — flexibility comes from the relationships built between tables.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and on-line systems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.340123066836742e+82" dist="2.3828923048104974e+82" dir="3.2905425960566786e+97">
              <a:srgbClr val="9AB4CC">
                <a:alpha val="2.9999999999999997e+9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systems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Transactions are collected over a period and dealt with in one go — mail-order tickets batched in 50s, keyed in, then the stock-control program runs. Hours may pass, but a 4–5 day delivery makes that acceptable.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0591956294882662e+87" dist="3.0262732271093317e+86" dir="1.9743255576340073e+102">
              <a:srgbClr val="9AB4CC">
                <a:alpha val="3e+10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On-line systems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Updates happen immediately — critical for production-line sensors checking imbalances. A travel-agent ticket updates the airline's computer within seconds: pseudo-on-line processing.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WORK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 for technical expertise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Word-processing for clerical staff · spreadsheets for accounts and sales · database management systems for records.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 for designers · project management systems · expert systems for specialist staff.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Expert system example: an engineer types in the parameters for a bearing and the system suggests several alloys — the engineer's knowledge and experience make the final choice.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Computers are networked; large organisations link several LANs so staff communicate by e-mail, document scanning, web-cams and video conferencing.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 and the manager's five functions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3451784494500981e+91" dist="3.8433669984288512e+90" dir="1.1845953345804043e+107">
              <a:srgbClr val="9AB4CC">
                <a:alpha val="2.9999999999999997e+10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69164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role of an MIS is to convert data from internal and external sources into information used to make effective decisions for planning, directing and controlling.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02920" y="2834640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7083766308016246e+95" dist="4.8810760880046414e+94" dir="7.107572007482426e+111">
              <a:srgbClr val="9AB4CC">
                <a:alpha val="2.9999999999999995e+114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309524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24712" y="2907792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— the direction a company takes, e.g. diversifying, where to operate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76772" y="2834640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1696383211180632e+99" dist="6.198966631765894e+98" dir="4.2645432044894554e+116">
              <a:srgbClr val="9AB4CC">
                <a:alpha val="2.9999999999999997e+119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1364" y="3095244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8564" y="2907792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Organising — resources such as people, space, equipment and services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867912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7554406678199403e+103" dist="7.872687622342685e+102" dir="2.5587259226936733e+121">
              <a:srgbClr val="9AB4CC">
                <a:alpha val="2.9999999999999995e+12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28516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24712" y="3941064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Coordinating — the activities of various departments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6176772" y="3867912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499409648131324e+107" dist="9.998313280375211e+106" dir="1.535235553616204e+126">
              <a:srgbClr val="9AB4CC">
                <a:alpha val="2.9999999999999997e+129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41364" y="4128516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798564" y="3941064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Decision-making — the organisation, products, employees, use of IT</a:t>
            </a:r>
            <a:endParaRPr lang="en-US" sz="1800" dirty="0"/>
          </a:p>
        </p:txBody>
      </p:sp>
      <p:sp>
        <p:nvSpPr>
          <p:cNvPr id="21" name="Shape 15"/>
          <p:cNvSpPr/>
          <p:nvPr/>
        </p:nvSpPr>
        <p:spPr>
          <a:xfrm>
            <a:off x="502920" y="4901184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4442502531267815e+111" dist="1.2697857866076517e+111" dir="9.211413321697224e+130">
              <a:srgbClr val="9AB4CC">
                <a:alpha val="2.9999999999999996e+134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7512" y="5161788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24712" y="4974336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Controlling — monitoring and supervising the activities of others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data processing to management information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644197821471012e+115" dist="1.6126279489917177e+115" dir="5.526847993018334e+135">
              <a:srgbClr val="9AB4CC">
                <a:alpha val="2.9999999999999994e+13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processing systems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day-to-day transactions — e.g. the sale of a CD to a customer.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168131233268186e+119" dist="2.0480374952194813e+119" dir="3.3161087958110005e+140">
              <a:srgbClr val="9AB4CC">
                <a:alpha val="2.9999999999999996e+14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Operational information systems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the collected data and produce lists — e.g. items that need to be re-ordered.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103526666250596e+123" dist="2.6010076189287412e+123" dir="1.9896652774866004e+145">
              <a:srgbClr val="9AB4CC">
                <a:alpha val="2.9999999999999996e+14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Analyses sales data to highlight trends per product line — special promotion, or discontinue?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 sources and flows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information comes easily from systems on the company network, e.g. sales figures per product line.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information: intelligence about competitors (press, leaks, even industrial espionage) · population shifts · economic and social factors · government legislation.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Formal flows follow a procedure — Monday-morning branch downloads, agencies like Dun and Bradstreet, shared documents, e-mail, company intranets.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Informal flows come from chance meetings, magazines, newspapers, or the news on TV.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levels of information for managers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41655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Level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Decisions it serves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Example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Operational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Day-to-day decisions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Ordering in more stock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Tactical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Short to medium term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Introducing a new product to a retail outlet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Strategic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Long term — the organisation's future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Opening a new store, or taking over a rival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Structured, unstructured — and the four stages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1561478866138256e+128" dist="3.303279676039501e+127" dir="1.1937991664919603e+150">
              <a:srgbClr val="9AB4CC">
                <a:alpha val="2.9999999999999997e+15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Repetitive, with a definite routine — stock below 15% triggers an order.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4683078159995586e+132" dist="4.195165188570166e+131" dir="7.162794998951762e+154">
              <a:srgbClr val="9AB4CC">
                <a:alpha val="2.9999999999999998e+15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Unstructured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Needs knowledge, insight and evaluation — may crop up without warning.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611880"/>
            <a:ext cx="11183112" cy="2377440"/>
          </a:xfrm>
          <a:prstGeom prst="roundRect">
            <a:avLst>
              <a:gd name="adj" fmla="val 3462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8647509263194394e+136" dist="5.327859789484111e+135" dir="4.297676999371057e+159">
              <a:srgbClr val="9AB4CC">
                <a:alpha val="3e+164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3767328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DECISION STAGES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133088"/>
            <a:ext cx="1072591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Recognise the problem — the MIS shows where performance is off.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Consider the solution — “what if” scenarios in a spreadsheet.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Choose — the manager's experience plus the MIS's information.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Implement and review — the MIS supplies the evaluation data.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Lesson 2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68233676425688e+140" dist="6.766381932644821e+139" dir="2.5786061996226343e+164">
              <a:srgbClr val="9AB4CC">
                <a:alpha val="3e+16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concept, Input–Process–Output, three types of IS —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0076567690606238e+144" dist="8.593305054458923e+143" dir="1.5471637197735807e+169">
              <a:srgbClr val="9AB4CC">
                <a:alpha val="3e+17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 check quiz 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questions on systems theory and information systems.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819724096706992e+148" dist="1.0913497419162833e+148" dir="9.282982318641485e+173">
              <a:srgbClr val="9AB4CC">
                <a:alpha val="3e+17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 the systems-theory statement honestly — or write it down as a goal.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85104960281788e+152" dist="1.38601417223368e+152" dir="5.569789391184891e+178">
              <a:srgbClr val="9AB4CC">
                <a:alpha val="3e+184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IT-in-business research project also evidences this outcome.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business is a system — IT keeps it running.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 → process → outputs · TPS, KWS and MIS · ACID-safe transactions · databases · batch and on-line processing · information for operational, tactical and strategic decisions.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Lesson 2 — Systems Theory with respect to Information Systems</dc:title>
  <dc:subject>PptxGenJS Presentation</dc:subject>
  <dc:creator>Andre Snell</dc:creator>
  <cp:lastModifiedBy>Andre Snell</cp:lastModifiedBy>
  <cp:revision>1</cp:revision>
  <dcterms:created xsi:type="dcterms:W3CDTF">2026-08-19T19:42:26Z</dcterms:created>
  <dcterms:modified xsi:type="dcterms:W3CDTF">2026-08-19T19:42:26Z</dcterms:modified>
</cp:coreProperties>
</file>