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1005840"/>
            <a:ext cx="6035040" cy="566928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05840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SO 1 · NQF LEVEL 5 · 4 CREDITS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9875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of Technical Practitioners Meetings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3474720"/>
            <a:ext cx="8869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meetings are for, the types companies hold, leadership styles, decision-making processes, resolutions and the conventions that keep meetings fair</a:t>
            </a:r>
            <a:endParaRPr lang="en-US" sz="1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8400" y="1280160"/>
            <a:ext cx="1645920" cy="1645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224528"/>
            <a:ext cx="11183112" cy="0"/>
          </a:xfrm>
          <a:prstGeom prst="line">
            <a:avLst/>
          </a:prstGeom>
          <a:noFill/>
          <a:ln w="12700">
            <a:solidFill>
              <a:srgbClr val="D5E3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407408"/>
            <a:ext cx="2612898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800" b="1" spc="5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02920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90-minute lessons · Self &amp; Group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298698" y="4407408"/>
            <a:ext cx="2612898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800" b="1" spc="5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298698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Thursday, 3 Sep 2026 · 09h00 – 14h00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094476" y="4407408"/>
            <a:ext cx="2612898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800" b="1" spc="5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094476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1 · Personal Development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890254" y="4407408"/>
            <a:ext cx="2612898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800" b="1" spc="5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ASSURANCE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890254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QCTO / MICT SETA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02920" y="6291072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ITSS Learn · Investec · Corporate Banking Technology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OUTCOME 1 &amp; ASSESSMENT CRITERIA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you must be able to demonstrate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83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 knowledge of different types of technical practitioners meetings. You will be assessed against these criteria: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36057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210312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6424" y="202996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Meeting types &amp; uses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67512" y="2852928"/>
            <a:ext cx="327660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meetings, technical review meetings and project review meetings.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291584" y="1920240"/>
            <a:ext cx="36057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210312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95088" y="202996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Leadership styles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456176" y="2852928"/>
            <a:ext cx="327660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Democratic, autocratic and facilitative meeting procedures.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8080248" y="1920240"/>
            <a:ext cx="36057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210312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3752" y="202996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Decision-making processes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244840" y="2852928"/>
            <a:ext cx="327660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Voting, consensus, criteria-based rating, ranking, paired comparisons.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502920" y="4069080"/>
            <a:ext cx="36057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7512" y="425196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06424" y="417880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Meeting conventions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667512" y="5001768"/>
            <a:ext cx="327660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Moving, seconding, amending and voting procedures.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4291584" y="4069080"/>
            <a:ext cx="36057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56176" y="4251960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895088" y="417880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note taker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4456176" y="5001768"/>
            <a:ext cx="327660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note taker requires a technical background.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8080248" y="4069080"/>
            <a:ext cx="36057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44840" y="4251960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683752" y="417880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2000" dirty="0"/>
          </a:p>
        </p:txBody>
      </p:sp>
      <p:sp>
        <p:nvSpPr>
          <p:cNvPr id="31" name="Text 23"/>
          <p:cNvSpPr/>
          <p:nvPr/>
        </p:nvSpPr>
        <p:spPr>
          <a:xfrm>
            <a:off x="8244840" y="5001768"/>
            <a:ext cx="327660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Meetings are where technical teams decide, plan and stay accountable.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do we use meetings for?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831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Meetings are very important for the work of any company — good meetings support collective decision-making, planning and follow-up, accountability and democracy.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correctly, meetings help a company to be efficient. Used badly, they stop serving their purpose: too many long meetings that discuss the same thing over and over without moving forward.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Meetings can become places where conflict is played out — and some people see attending meetings as working for the company, instead of a tool for getting work done.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 for democratic, constructive participation and involvement from every member.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principal activities of a technical committee are the development and maintenance of its standards, technical reports and data files, in accordance with the purpose of the company.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purpose of a meeting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831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people do not like attending meetings — especially when they are not sure what the purpose is, or when the meeting goes on too long and achieves too little.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Meetings must not be too frequent or held just for the sake of it — there must be a need for a meeting.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on the different types of meetings needed: some meetings discuss policy, others discuss practical work.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Wherever possible, members must know what type of meeting they are going to and what it is for — the PURPOSE of the meeting.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Sometimes a company calls a special or extraordinary meeting — planning should take account of the meeting type.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OF MEETINGS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meetings most companies hold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5500116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7373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66420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General members meeting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487168"/>
            <a:ext cx="517093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most common — monthly or every two weeks. Members are informed of developments, involved in decisions, and the executive reports on work done. This is where decisions are made.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85916" y="1554480"/>
            <a:ext cx="5500116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508" y="17373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89420" y="166420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Special meetings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350508" y="2487168"/>
            <a:ext cx="517093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Called to discuss specific issues — e.g. preparing for a conference or planning the year. Not run like general meetings: they focus only on the issue they were called for.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02920" y="3703320"/>
            <a:ext cx="5500116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" y="388620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06424" y="381304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meetings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67512" y="4636008"/>
            <a:ext cx="517093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 more regularly, with a business-like focus: plan implementation, monitor work, deal with problems, watch income and expenditure, and plan the next general meeting.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6185916" y="3703320"/>
            <a:ext cx="5500116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508" y="388620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89420" y="381304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Annual General Meeting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350508" y="4636008"/>
            <a:ext cx="517093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Laid down in the constitution. The executive accounts for the year's activities and finances, and new leaders are elected with a mandate for the next year.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OF MEETINGS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AGM needs two detailed reports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5454396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737360"/>
            <a:ext cx="49971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SECRETARY'S REPORT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4997196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plans of the company for the year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actual activities that took place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achievements of the year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problems experienced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31636" y="1554480"/>
            <a:ext cx="5454396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60236" y="1737360"/>
            <a:ext cx="49971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TREASURER'S REPORT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60236" y="2103120"/>
            <a:ext cx="4997196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income — subscriptions, grants, donations, fundraising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expenditure for the year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balance, and where that balance is held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 the main headings on news-prints and explain it in less financial language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OF TECHNICAL PRACTITIONERS MEETINGS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technical meetings you must know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83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technical practitioners, three key meeting types are most relevant: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360578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219456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6424" y="212140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Contract meetings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67512" y="2944368"/>
            <a:ext cx="32766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Discuss, review and manage contractual obligations and deliverables related to technical projects or services.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291584" y="2011680"/>
            <a:ext cx="360578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219456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95088" y="212140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review meetings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456176" y="2944368"/>
            <a:ext cx="32766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technical solutions, designs and implementations, and resolve technical issues and problems.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8080248" y="2011680"/>
            <a:ext cx="360578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219456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3752" y="212140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review meetings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244840" y="2944368"/>
            <a:ext cx="32766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project progress, timelines, resource allocation and project deliverables.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OF TECHNICAL PRACTITIONERS MEETINGS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meeting, when?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8311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38679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Meeting</a:t>
                      </a:r>
                      <a:endParaRPr lang="en-US" sz="18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Typical use</a:t>
                      </a:r>
                      <a:endParaRPr lang="en-US" sz="18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Example</a:t>
                      </a:r>
                      <a:endParaRPr lang="en-US" sz="18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Contract meeting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Negotiate or review a contract, SLA or deliverable with a client or supplier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Quarterly SLA review with the support vendor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Technical review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Evaluate a design, system or implementation against requirements and standards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Design review before a network upgrade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Project review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Track progress, risks, resources and milestones on a running project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Month-end review of the LAN rollout project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STYLES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decides — the chair, the group, or both?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83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Various styles are used to ensure the outcome of the meeting is achieved — different outcomes require different commitment and involvement from participants: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3605784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214884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6424" y="207568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Democratic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67512" y="2898648"/>
            <a:ext cx="32766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 with appointed or nominated delegates from departments, companies or areas. Delegates are given the information and all members have a voice in decision-making.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291584" y="1965960"/>
            <a:ext cx="3605784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214884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95088" y="207568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Autocratic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456176" y="2898648"/>
            <a:ext cx="32766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and led by a chairperson who runs the entire meeting and gives most of the input. Attendees give input only when instructed.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8080248" y="1965960"/>
            <a:ext cx="3605784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214884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3752" y="207568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Facilitative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244840" y="2898648"/>
            <a:ext cx="32766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group effort — the leader sets a trend of ensuring all members actively participate in the meeting to achieve the outcome or goal.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STYLES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Matching the style to the meeting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8311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47823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Style</a:t>
                      </a:r>
                      <a:endParaRPr lang="en-US" sz="18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Who decides</a:t>
                      </a:r>
                      <a:endParaRPr lang="en-US" sz="18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Best when</a:t>
                      </a:r>
                      <a:endParaRPr lang="en-US" sz="18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Democratic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members, by discussion and vote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Decisions need buy-in from every department or area represented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Autocratic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chairperson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 is critical, or one accountable owner must direct the outcome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Facilitative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group, guided by a neutral facilitator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Ideas and problem-solving matter more than a formal ruling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DECISION-MAKING PROCESSES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 ways meetings reach a decision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3605784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78308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7099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Voting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532888"/>
            <a:ext cx="3276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participant votes; the option with the most votes wins — simple majority (50% + 1) or supermajority (two-thirds or 75%).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291584" y="1600200"/>
            <a:ext cx="3605784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17830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5088" y="17099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Consensus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456176" y="2532888"/>
            <a:ext cx="3276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 and compromise until all participants agree or can at least accept the decision.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080248" y="1600200"/>
            <a:ext cx="3605784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178308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3752" y="17099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Criteria-based rating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244840" y="2532888"/>
            <a:ext cx="3276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 each option against predetermined criteria; scores identify the best option.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502920" y="3886200"/>
            <a:ext cx="3605784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7512" y="406908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06424" y="39959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Ranking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67512" y="4818888"/>
            <a:ext cx="3276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options best to worst; scores per position are totalled across participants.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4291584" y="3886200"/>
            <a:ext cx="3605784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56176" y="4069080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895088" y="39959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Paired comparisons</a:t>
            </a:r>
            <a:endParaRPr lang="en-US" sz="2000" dirty="0"/>
          </a:p>
        </p:txBody>
      </p:sp>
      <p:sp>
        <p:nvSpPr>
          <p:cNvPr id="26" name="Text 19"/>
          <p:cNvSpPr/>
          <p:nvPr/>
        </p:nvSpPr>
        <p:spPr>
          <a:xfrm>
            <a:off x="4456176" y="4818888"/>
            <a:ext cx="3276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options two at a time; the option preferred most often is selected.</a:t>
            </a:r>
            <a:endParaRPr lang="en-US" sz="1800" dirty="0"/>
          </a:p>
        </p:txBody>
      </p:sp>
      <p:sp>
        <p:nvSpPr>
          <p:cNvPr id="27" name="Shape 20"/>
          <p:cNvSpPr/>
          <p:nvPr/>
        </p:nvSpPr>
        <p:spPr>
          <a:xfrm>
            <a:off x="8080248" y="3886200"/>
            <a:ext cx="3605784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44840" y="4069080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683752" y="39959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Match the process</a:t>
            </a:r>
            <a:endParaRPr lang="en-US" sz="2000" dirty="0"/>
          </a:p>
        </p:txBody>
      </p:sp>
      <p:sp>
        <p:nvSpPr>
          <p:cNvPr id="30" name="Text 22"/>
          <p:cNvSpPr/>
          <p:nvPr/>
        </p:nvSpPr>
        <p:spPr>
          <a:xfrm>
            <a:off x="8244840" y="4818888"/>
            <a:ext cx="3276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the process that fits the decision's importance, urgency and need for buy-in.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DECISION-MAKING PROCESSES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Voting in practice — and why consensus first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831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of hands: the chairperson calls for hands when opinions differ; votes are counted and the majority decides whether the proposal stands or falls away.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 ballot: each person writes their support or objection on paper; votes are counted and the majority decides.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proposal is usually put forward by one person, seconded by another, and then voted on — if the majority accept it, it becomes binding on the company.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usually better to reach consensus than to vote: consensus means compromises from everyone, but most people feel part of the decision.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Sometimes a vote is necessary — for example in elections, or when the meeting cannot reach a decision through consensus.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DECISION-MAKING PROCESSES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Resolutions — formal decisions with three parts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17904"/>
            <a:ext cx="111831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Resolutions are formal proposals put to the meeting to agree or disagree with; if passed they become policy of the company. Each needs a proposer and a seconder.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NOTING — list the main issues of concern: “The AGM, meeting on (date), notes the rapid increase in crime in this area and its devastating effects…”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BELIEVING — list the points that show your understanding of the issue and its causes.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 RESOLVES — list exactly what the company has decided to do or what its policy is on the issue.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Amendments must be accepted by everyone present; if not, a vote is held and the chairperson records those for, against and abstaining. If the majority support the amendment, the original section falls away.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chairperson and members must study the constitution so they know and understand all these procedures.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MEETING CONVENTIONS &amp; PROCEDURES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Order, fairness and effective decisions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550011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7373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66420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Moving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487168"/>
            <a:ext cx="5170932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Formally propose a motion for the meeting to consider.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85916" y="1554480"/>
            <a:ext cx="550011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508" y="17373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89420" y="166420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Seconding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350508" y="2487168"/>
            <a:ext cx="5170932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second member supports the motion — unseconded motions fall away.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02920" y="3520440"/>
            <a:ext cx="550011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" y="370332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06424" y="363016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Amending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67512" y="4453128"/>
            <a:ext cx="5170932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Modify the motion before the vote; amendments are voted on first.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6185916" y="3520440"/>
            <a:ext cx="550011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508" y="370332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89420" y="363016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Voting procedures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350508" y="4453128"/>
            <a:ext cx="5170932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of hands, ballot or poll — counted and recorded by the chair.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502920" y="5257800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4088" y="5518404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61288" y="5257800"/>
            <a:ext cx="10287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note taker needs a technical background — minutes must capture the terminology, decisions and reasons accurately.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MEETING CONVENTIONS &amp; PROCEDURES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Procedural points every member should know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83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 use these points to help the chairperson keep the meeting efficient — they should not be over-used just for the sake of it: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360578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210312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6424" y="202996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of Order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67512" y="2852928"/>
            <a:ext cx="3276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Raised when meeting procedure is not being stuck to — e.g. a speaker is totally off the point — to return the meeting to correct order.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291584" y="1920240"/>
            <a:ext cx="360578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210312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95088" y="202996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of Information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456176" y="2852928"/>
            <a:ext cx="3276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member asks to speak out of turn, to request or give more information on the matter being discussed.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8080248" y="1920240"/>
            <a:ext cx="360578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210312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3752" y="202996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 of Order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244840" y="2852928"/>
            <a:ext cx="3276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chairperson rules a member out of order for not sticking to procedure, being rude, interjecting or misbehaving.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502920" y="4114800"/>
            <a:ext cx="360578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7512" y="429768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06424" y="42245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Protection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667512" y="5047488"/>
            <a:ext cx="3276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speaker who is being harassed while speaking can ask for the protection of the chairperson.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4291584" y="4114800"/>
            <a:ext cx="360578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56176" y="4297680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895088" y="42245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Quorum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4456176" y="5047488"/>
            <a:ext cx="3276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minimum number of members (set in the constitution) who must be present before the meeting can take decisions — without it, decisions can be forced to be re-discussed.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8080248" y="4114800"/>
            <a:ext cx="360578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44840" y="4297680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683752" y="42245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them well</a:t>
            </a:r>
            <a:endParaRPr lang="en-US" sz="2000" dirty="0"/>
          </a:p>
        </p:txBody>
      </p:sp>
      <p:sp>
        <p:nvSpPr>
          <p:cNvPr id="31" name="Text 23"/>
          <p:cNvSpPr/>
          <p:nvPr/>
        </p:nvSpPr>
        <p:spPr>
          <a:xfrm>
            <a:off x="8244840" y="5047488"/>
            <a:ext cx="3276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rules exist to make meetings more efficient and effective — not as weapons.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PROVE 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work for Specific Outcome 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60578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201168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9385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Questioning session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761488"/>
            <a:ext cx="32766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“Types of meetings, leadership styles and decision processes” — typed answers, AI-marked.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291584" y="1828800"/>
            <a:ext cx="360578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20116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5088" y="19385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Quizzes 1 &amp; 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456176" y="2761488"/>
            <a:ext cx="32766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Meeting types &amp; leadership styles · decision-making &amp; conventions. 80%+ is competent.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080248" y="1828800"/>
            <a:ext cx="360578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201168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3752" y="19385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Gate quizzes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244840" y="2761488"/>
            <a:ext cx="32766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each lesson's gate quiz as you work through lessons 1–5 on the Lesson tab.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2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CB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4630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240280"/>
            <a:ext cx="111831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 the meeting before you run the meeting.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02920" y="36118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B9D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General, special, executive and annual general meetings » contract, technical review and project review meetings » democratic, autocratic and facilitative styles » five decision processes » resolutions, conventions and procedural points — the knowledge every chairperson stands on.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6291072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E93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National Certificate: IT — System Support · SAQA ID 48573 · ITSS Learn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Investec — Corporate Banking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114051 — Knowledge of Technical Practitioners Meetings</dc:title>
  <dc:subject>PptxGenJS Presentation</dc:subject>
  <dc:creator>Andre Snell</dc:creator>
  <cp:lastModifiedBy>Andre Snell</cp:lastModifiedBy>
  <cp:revision>1</cp:revision>
  <dcterms:created xsi:type="dcterms:W3CDTF">2026-09-15T15:38:22Z</dcterms:created>
  <dcterms:modified xsi:type="dcterms:W3CDTF">2026-09-15T15:38:22Z</dcterms:modified>
</cp:coreProperties>
</file>