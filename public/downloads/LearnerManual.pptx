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Lst>
  <p:notesMasterIdLst>
    <p:notesMasterId r:id="rId39"/>
  </p:notesMasterIdLst>
  <p:sldSz cx="12188952" cy="6858000"/>
  <p:notesSz cx="6858000" cy="12188952"/>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notesMaster" Target="notesMasters/notesMaster1.xml"/><Relationship Id="rId40" Type="http://schemas.openxmlformats.org/officeDocument/2006/relationships/presProps" Target="presProps.xml"/><Relationship Id="rId41" Type="http://schemas.openxmlformats.org/officeDocument/2006/relationships/viewProps" Target="viewProps.xml"/><Relationship Id="rId42" Type="http://schemas.openxmlformats.org/officeDocument/2006/relationships/theme" Target="theme/theme1.xml"/><Relationship Id="rId4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sv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svg"/><Relationship Id="rId3" Type="http://schemas.openxmlformats.org/officeDocument/2006/relationships/image" Target="../media/image-3-3.png"/><Relationship Id="rId4" Type="http://schemas.openxmlformats.org/officeDocument/2006/relationships/image" Target="../media/image-3-4.svg"/><Relationship Id="rId5" Type="http://schemas.openxmlformats.org/officeDocument/2006/relationships/image" Target="../media/image-3-5.png"/><Relationship Id="rId6" Type="http://schemas.openxmlformats.org/officeDocument/2006/relationships/image" Target="../media/image-3-6.svg"/><Relationship Id="rId7" Type="http://schemas.openxmlformats.org/officeDocument/2006/relationships/image" Target="../media/image-3-7.png"/><Relationship Id="rId8" Type="http://schemas.openxmlformats.org/officeDocument/2006/relationships/image" Target="../media/image-3-8.svg"/><Relationship Id="rId9" Type="http://schemas.openxmlformats.org/officeDocument/2006/relationships/slideLayout" Target="../slideLayouts/slideLayout1.xml"/><Relationship Id="rId10"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svg"/><Relationship Id="rId3" Type="http://schemas.openxmlformats.org/officeDocument/2006/relationships/image" Target="../media/image-5-3.png"/><Relationship Id="rId4" Type="http://schemas.openxmlformats.org/officeDocument/2006/relationships/image" Target="../media/image-5-4.svg"/><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svg"/><Relationship Id="rId3" Type="http://schemas.openxmlformats.org/officeDocument/2006/relationships/image" Target="../media/image-6-3.png"/><Relationship Id="rId4" Type="http://schemas.openxmlformats.org/officeDocument/2006/relationships/image" Target="../media/image-6-4.svg"/><Relationship Id="rId5" Type="http://schemas.openxmlformats.org/officeDocument/2006/relationships/image" Target="../media/image-6-5.png"/><Relationship Id="rId6" Type="http://schemas.openxmlformats.org/officeDocument/2006/relationships/image" Target="../media/image-6-6.svg"/><Relationship Id="rId7" Type="http://schemas.openxmlformats.org/officeDocument/2006/relationships/slideLayout" Target="../slideLayouts/slideLayout1.xml"/><Relationship Id="rId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svg"/><Relationship Id="rId3" Type="http://schemas.openxmlformats.org/officeDocument/2006/relationships/image" Target="../media/image-8-3.png"/><Relationship Id="rId4" Type="http://schemas.openxmlformats.org/officeDocument/2006/relationships/image" Target="../media/image-8-4.svg"/><Relationship Id="rId5" Type="http://schemas.openxmlformats.org/officeDocument/2006/relationships/image" Target="../media/image-8-5.png"/><Relationship Id="rId6" Type="http://schemas.openxmlformats.org/officeDocument/2006/relationships/image" Target="../media/image-8-6.svg"/><Relationship Id="rId7" Type="http://schemas.openxmlformats.org/officeDocument/2006/relationships/slideLayout" Target="../slideLayouts/slideLayout1.xml"/><Relationship Id="rId8"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sv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svg"/><Relationship Id="rId3" Type="http://schemas.openxmlformats.org/officeDocument/2006/relationships/image" Target="../media/image-10-3.png"/><Relationship Id="rId4" Type="http://schemas.openxmlformats.org/officeDocument/2006/relationships/image" Target="../media/image-10-4.svg"/><Relationship Id="rId5" Type="http://schemas.openxmlformats.org/officeDocument/2006/relationships/image" Target="../media/image-10-5.png"/><Relationship Id="rId6" Type="http://schemas.openxmlformats.org/officeDocument/2006/relationships/image" Target="../media/image-10-6.svg"/><Relationship Id="rId7" Type="http://schemas.openxmlformats.org/officeDocument/2006/relationships/image" Target="../media/image-10-7.png"/><Relationship Id="rId8" Type="http://schemas.openxmlformats.org/officeDocument/2006/relationships/image" Target="../media/image-10-8.svg"/><Relationship Id="rId9" Type="http://schemas.openxmlformats.org/officeDocument/2006/relationships/image" Target="../media/image-10-9.png"/><Relationship Id="rId10" Type="http://schemas.openxmlformats.org/officeDocument/2006/relationships/image" Target="../media/image-10-10.svg"/><Relationship Id="rId11" Type="http://schemas.openxmlformats.org/officeDocument/2006/relationships/slideLayout" Target="../slideLayouts/slideLayout1.xml"/><Relationship Id="rId1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svg"/><Relationship Id="rId3" Type="http://schemas.openxmlformats.org/officeDocument/2006/relationships/image" Target="../media/image-12-3.png"/><Relationship Id="rId4" Type="http://schemas.openxmlformats.org/officeDocument/2006/relationships/image" Target="../media/image-12-4.svg"/><Relationship Id="rId5" Type="http://schemas.openxmlformats.org/officeDocument/2006/relationships/image" Target="../media/image-12-5.png"/><Relationship Id="rId6" Type="http://schemas.openxmlformats.org/officeDocument/2006/relationships/image" Target="../media/image-12-6.svg"/><Relationship Id="rId7" Type="http://schemas.openxmlformats.org/officeDocument/2006/relationships/image" Target="../media/image-12-7.png"/><Relationship Id="rId8" Type="http://schemas.openxmlformats.org/officeDocument/2006/relationships/image" Target="../media/image-12-8.svg"/><Relationship Id="rId9" Type="http://schemas.openxmlformats.org/officeDocument/2006/relationships/image" Target="../media/image-12-9.png"/><Relationship Id="rId10" Type="http://schemas.openxmlformats.org/officeDocument/2006/relationships/image" Target="../media/image-12-10.svg"/><Relationship Id="rId11" Type="http://schemas.openxmlformats.org/officeDocument/2006/relationships/slideLayout" Target="../slideLayouts/slideLayout1.xml"/><Relationship Id="rId1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svg"/><Relationship Id="rId3" Type="http://schemas.openxmlformats.org/officeDocument/2006/relationships/image" Target="../media/image-13-3.png"/><Relationship Id="rId4" Type="http://schemas.openxmlformats.org/officeDocument/2006/relationships/image" Target="../media/image-13-4.svg"/><Relationship Id="rId5" Type="http://schemas.openxmlformats.org/officeDocument/2006/relationships/image" Target="../media/image-13-5.png"/><Relationship Id="rId6" Type="http://schemas.openxmlformats.org/officeDocument/2006/relationships/image" Target="../media/image-13-6.svg"/><Relationship Id="rId7" Type="http://schemas.openxmlformats.org/officeDocument/2006/relationships/slideLayout" Target="../slideLayouts/slideLayout1.xml"/><Relationship Id="rId8"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svg"/><Relationship Id="rId3" Type="http://schemas.openxmlformats.org/officeDocument/2006/relationships/image" Target="../media/image-14-3.png"/><Relationship Id="rId4" Type="http://schemas.openxmlformats.org/officeDocument/2006/relationships/image" Target="../media/image-14-4.svg"/><Relationship Id="rId5" Type="http://schemas.openxmlformats.org/officeDocument/2006/relationships/image" Target="../media/image-14-5.png"/><Relationship Id="rId6" Type="http://schemas.openxmlformats.org/officeDocument/2006/relationships/image" Target="../media/image-14-6.svg"/><Relationship Id="rId7" Type="http://schemas.openxmlformats.org/officeDocument/2006/relationships/slideLayout" Target="../slideLayouts/slideLayout1.xml"/><Relationship Id="rId8"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svg"/><Relationship Id="rId3" Type="http://schemas.openxmlformats.org/officeDocument/2006/relationships/image" Target="../media/image-15-3.png"/><Relationship Id="rId4" Type="http://schemas.openxmlformats.org/officeDocument/2006/relationships/image" Target="../media/image-15-4.svg"/><Relationship Id="rId5" Type="http://schemas.openxmlformats.org/officeDocument/2006/relationships/image" Target="../media/image-15-5.png"/><Relationship Id="rId6" Type="http://schemas.openxmlformats.org/officeDocument/2006/relationships/image" Target="../media/image-15-6.svg"/><Relationship Id="rId7" Type="http://schemas.openxmlformats.org/officeDocument/2006/relationships/slideLayout" Target="../slideLayouts/slideLayout1.xml"/><Relationship Id="rId8"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svg"/><Relationship Id="rId3" Type="http://schemas.openxmlformats.org/officeDocument/2006/relationships/image" Target="../media/image-16-3.png"/><Relationship Id="rId4" Type="http://schemas.openxmlformats.org/officeDocument/2006/relationships/image" Target="../media/image-16-4.svg"/><Relationship Id="rId5" Type="http://schemas.openxmlformats.org/officeDocument/2006/relationships/image" Target="../media/image-16-5.png"/><Relationship Id="rId6" Type="http://schemas.openxmlformats.org/officeDocument/2006/relationships/image" Target="../media/image-16-6.svg"/><Relationship Id="rId7" Type="http://schemas.openxmlformats.org/officeDocument/2006/relationships/image" Target="../media/image-16-7.png"/><Relationship Id="rId8" Type="http://schemas.openxmlformats.org/officeDocument/2006/relationships/image" Target="../media/image-16-8.svg"/><Relationship Id="rId9" Type="http://schemas.openxmlformats.org/officeDocument/2006/relationships/image" Target="../media/image-16-9.png"/><Relationship Id="rId10" Type="http://schemas.openxmlformats.org/officeDocument/2006/relationships/image" Target="../media/image-16-10.svg"/><Relationship Id="rId11" Type="http://schemas.openxmlformats.org/officeDocument/2006/relationships/slideLayout" Target="../slideLayouts/slideLayout1.xml"/><Relationship Id="rId1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svg"/><Relationship Id="rId3" Type="http://schemas.openxmlformats.org/officeDocument/2006/relationships/image" Target="../media/image-17-3.png"/><Relationship Id="rId4" Type="http://schemas.openxmlformats.org/officeDocument/2006/relationships/image" Target="../media/image-17-4.svg"/><Relationship Id="rId5" Type="http://schemas.openxmlformats.org/officeDocument/2006/relationships/slideLayout" Target="../slideLayouts/slideLayout1.xml"/><Relationship Id="rId6"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svg"/><Relationship Id="rId3" Type="http://schemas.openxmlformats.org/officeDocument/2006/relationships/image" Target="../media/image-18-3.png"/><Relationship Id="rId4" Type="http://schemas.openxmlformats.org/officeDocument/2006/relationships/image" Target="../media/image-18-4.svg"/><Relationship Id="rId5" Type="http://schemas.openxmlformats.org/officeDocument/2006/relationships/image" Target="../media/image-18-5.png"/><Relationship Id="rId6" Type="http://schemas.openxmlformats.org/officeDocument/2006/relationships/image" Target="../media/image-18-6.svg"/><Relationship Id="rId7" Type="http://schemas.openxmlformats.org/officeDocument/2006/relationships/slideLayout" Target="../slideLayouts/slideLayout1.xml"/><Relationship Id="rId8"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svg"/><Relationship Id="rId3" Type="http://schemas.openxmlformats.org/officeDocument/2006/relationships/slideLayout" Target="../slideLayouts/slideLayout1.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svg"/><Relationship Id="rId3" Type="http://schemas.openxmlformats.org/officeDocument/2006/relationships/slideLayout" Target="../slideLayouts/slideLayout1.xml"/><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svg"/><Relationship Id="rId3" Type="http://schemas.openxmlformats.org/officeDocument/2006/relationships/image" Target="../media/image-22-3.png"/><Relationship Id="rId4" Type="http://schemas.openxmlformats.org/officeDocument/2006/relationships/image" Target="../media/image-22-4.svg"/><Relationship Id="rId5" Type="http://schemas.openxmlformats.org/officeDocument/2006/relationships/image" Target="../media/image-22-5.png"/><Relationship Id="rId6" Type="http://schemas.openxmlformats.org/officeDocument/2006/relationships/image" Target="../media/image-22-6.svg"/><Relationship Id="rId7" Type="http://schemas.openxmlformats.org/officeDocument/2006/relationships/image" Target="../media/image-22-7.png"/><Relationship Id="rId8" Type="http://schemas.openxmlformats.org/officeDocument/2006/relationships/image" Target="../media/image-22-8.svg"/><Relationship Id="rId9" Type="http://schemas.openxmlformats.org/officeDocument/2006/relationships/image" Target="../media/image-22-9.png"/><Relationship Id="rId10" Type="http://schemas.openxmlformats.org/officeDocument/2006/relationships/image" Target="../media/image-22-10.svg"/><Relationship Id="rId11" Type="http://schemas.openxmlformats.org/officeDocument/2006/relationships/image" Target="../media/image-22-11.png"/><Relationship Id="rId12" Type="http://schemas.openxmlformats.org/officeDocument/2006/relationships/image" Target="../media/image-22-12.svg"/><Relationship Id="rId13" Type="http://schemas.openxmlformats.org/officeDocument/2006/relationships/image" Target="../media/image-22-13.png"/><Relationship Id="rId14" Type="http://schemas.openxmlformats.org/officeDocument/2006/relationships/image" Target="../media/image-22-14.svg"/><Relationship Id="rId15" Type="http://schemas.openxmlformats.org/officeDocument/2006/relationships/image" Target="../media/image-22-15.png"/><Relationship Id="rId16" Type="http://schemas.openxmlformats.org/officeDocument/2006/relationships/image" Target="../media/image-22-16.svg"/><Relationship Id="rId17" Type="http://schemas.openxmlformats.org/officeDocument/2006/relationships/image" Target="../media/image-22-17.png"/><Relationship Id="rId18" Type="http://schemas.openxmlformats.org/officeDocument/2006/relationships/image" Target="../media/image-22-18.svg"/><Relationship Id="rId19" Type="http://schemas.openxmlformats.org/officeDocument/2006/relationships/slideLayout" Target="../slideLayouts/slideLayout1.xml"/><Relationship Id="rId20"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svg"/><Relationship Id="rId3" Type="http://schemas.openxmlformats.org/officeDocument/2006/relationships/image" Target="../media/image-24-3.png"/><Relationship Id="rId4" Type="http://schemas.openxmlformats.org/officeDocument/2006/relationships/image" Target="../media/image-24-4.svg"/><Relationship Id="rId5" Type="http://schemas.openxmlformats.org/officeDocument/2006/relationships/slideLayout" Target="../slideLayouts/slideLayout1.xml"/><Relationship Id="rId6"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svg"/><Relationship Id="rId3" Type="http://schemas.openxmlformats.org/officeDocument/2006/relationships/image" Target="../media/image-25-3.png"/><Relationship Id="rId4" Type="http://schemas.openxmlformats.org/officeDocument/2006/relationships/image" Target="../media/image-25-4.svg"/><Relationship Id="rId5" Type="http://schemas.openxmlformats.org/officeDocument/2006/relationships/slideLayout" Target="../slideLayouts/slideLayout1.xml"/><Relationship Id="rId6"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svg"/><Relationship Id="rId3" Type="http://schemas.openxmlformats.org/officeDocument/2006/relationships/image" Target="../media/image-26-3.png"/><Relationship Id="rId4" Type="http://schemas.openxmlformats.org/officeDocument/2006/relationships/image" Target="../media/image-26-4.svg"/><Relationship Id="rId5" Type="http://schemas.openxmlformats.org/officeDocument/2006/relationships/slideLayout" Target="../slideLayouts/slideLayout1.xml"/><Relationship Id="rId6"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svg"/><Relationship Id="rId3" Type="http://schemas.openxmlformats.org/officeDocument/2006/relationships/image" Target="../media/image-27-3.png"/><Relationship Id="rId4" Type="http://schemas.openxmlformats.org/officeDocument/2006/relationships/image" Target="../media/image-27-4.svg"/><Relationship Id="rId5" Type="http://schemas.openxmlformats.org/officeDocument/2006/relationships/image" Target="../media/image-27-5.png"/><Relationship Id="rId6" Type="http://schemas.openxmlformats.org/officeDocument/2006/relationships/image" Target="../media/image-27-6.svg"/><Relationship Id="rId7" Type="http://schemas.openxmlformats.org/officeDocument/2006/relationships/slideLayout" Target="../slideLayouts/slideLayout1.xml"/><Relationship Id="rId8"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svg"/><Relationship Id="rId3" Type="http://schemas.openxmlformats.org/officeDocument/2006/relationships/slideLayout" Target="../slideLayouts/slideLayout1.xml"/><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image" Target="../media/image-29-2.svg"/><Relationship Id="rId3" Type="http://schemas.openxmlformats.org/officeDocument/2006/relationships/image" Target="../media/image-29-3.png"/><Relationship Id="rId4" Type="http://schemas.openxmlformats.org/officeDocument/2006/relationships/image" Target="../media/image-29-4.svg"/><Relationship Id="rId5" Type="http://schemas.openxmlformats.org/officeDocument/2006/relationships/image" Target="../media/image-29-5.png"/><Relationship Id="rId6" Type="http://schemas.openxmlformats.org/officeDocument/2006/relationships/image" Target="../media/image-29-6.svg"/><Relationship Id="rId7" Type="http://schemas.openxmlformats.org/officeDocument/2006/relationships/image" Target="../media/image-29-7.png"/><Relationship Id="rId8" Type="http://schemas.openxmlformats.org/officeDocument/2006/relationships/image" Target="../media/image-29-8.svg"/><Relationship Id="rId9" Type="http://schemas.openxmlformats.org/officeDocument/2006/relationships/image" Target="../media/image-29-9.png"/><Relationship Id="rId10" Type="http://schemas.openxmlformats.org/officeDocument/2006/relationships/image" Target="../media/image-29-10.svg"/><Relationship Id="rId11" Type="http://schemas.openxmlformats.org/officeDocument/2006/relationships/image" Target="../media/image-29-11.png"/><Relationship Id="rId12" Type="http://schemas.openxmlformats.org/officeDocument/2006/relationships/image" Target="../media/image-29-12.svg"/><Relationship Id="rId13" Type="http://schemas.openxmlformats.org/officeDocument/2006/relationships/slideLayout" Target="../slideLayouts/slideLayout1.xml"/><Relationship Id="rId1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image" Target="../media/image-30-2.svg"/><Relationship Id="rId3" Type="http://schemas.openxmlformats.org/officeDocument/2006/relationships/image" Target="../media/image-30-3.png"/><Relationship Id="rId4" Type="http://schemas.openxmlformats.org/officeDocument/2006/relationships/image" Target="../media/image-30-4.svg"/><Relationship Id="rId5" Type="http://schemas.openxmlformats.org/officeDocument/2006/relationships/image" Target="../media/image-30-5.png"/><Relationship Id="rId6" Type="http://schemas.openxmlformats.org/officeDocument/2006/relationships/image" Target="../media/image-30-6.svg"/><Relationship Id="rId7" Type="http://schemas.openxmlformats.org/officeDocument/2006/relationships/slideLayout" Target="../slideLayouts/slideLayout1.xml"/><Relationship Id="rId8"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image" Target="../media/image-31-2.svg"/><Relationship Id="rId3" Type="http://schemas.openxmlformats.org/officeDocument/2006/relationships/image" Target="../media/image-31-3.png"/><Relationship Id="rId4" Type="http://schemas.openxmlformats.org/officeDocument/2006/relationships/image" Target="../media/image-31-4.svg"/><Relationship Id="rId5" Type="http://schemas.openxmlformats.org/officeDocument/2006/relationships/image" Target="../media/image-31-5.png"/><Relationship Id="rId6" Type="http://schemas.openxmlformats.org/officeDocument/2006/relationships/image" Target="../media/image-31-6.svg"/><Relationship Id="rId7" Type="http://schemas.openxmlformats.org/officeDocument/2006/relationships/slideLayout" Target="../slideLayouts/slideLayout1.xml"/><Relationship Id="rId8"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image" Target="../media/image-33-2.svg"/><Relationship Id="rId3" Type="http://schemas.openxmlformats.org/officeDocument/2006/relationships/image" Target="../media/image-33-3.png"/><Relationship Id="rId4" Type="http://schemas.openxmlformats.org/officeDocument/2006/relationships/image" Target="../media/image-33-4.svg"/><Relationship Id="rId5" Type="http://schemas.openxmlformats.org/officeDocument/2006/relationships/image" Target="../media/image-33-5.png"/><Relationship Id="rId6" Type="http://schemas.openxmlformats.org/officeDocument/2006/relationships/image" Target="../media/image-33-6.svg"/><Relationship Id="rId7" Type="http://schemas.openxmlformats.org/officeDocument/2006/relationships/image" Target="../media/image-33-7.png"/><Relationship Id="rId8" Type="http://schemas.openxmlformats.org/officeDocument/2006/relationships/image" Target="../media/image-33-8.svg"/><Relationship Id="rId9" Type="http://schemas.openxmlformats.org/officeDocument/2006/relationships/slideLayout" Target="../slideLayouts/slideLayout1.xml"/><Relationship Id="rId10"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image" Target="../media/image-34-2.svg"/><Relationship Id="rId3" Type="http://schemas.openxmlformats.org/officeDocument/2006/relationships/image" Target="../media/image-34-3.png"/><Relationship Id="rId4" Type="http://schemas.openxmlformats.org/officeDocument/2006/relationships/image" Target="../media/image-34-4.svg"/><Relationship Id="rId5" Type="http://schemas.openxmlformats.org/officeDocument/2006/relationships/image" Target="../media/image-34-5.png"/><Relationship Id="rId6" Type="http://schemas.openxmlformats.org/officeDocument/2006/relationships/image" Target="../media/image-34-6.svg"/><Relationship Id="rId7" Type="http://schemas.openxmlformats.org/officeDocument/2006/relationships/image" Target="../media/image-34-7.png"/><Relationship Id="rId8" Type="http://schemas.openxmlformats.org/officeDocument/2006/relationships/image" Target="../media/image-34-8.svg"/><Relationship Id="rId9" Type="http://schemas.openxmlformats.org/officeDocument/2006/relationships/slideLayout" Target="../slideLayouts/slideLayout1.xml"/><Relationship Id="rId10"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image" Target="../media/image-37-2.svg"/><Relationship Id="rId3" Type="http://schemas.openxmlformats.org/officeDocument/2006/relationships/slideLayout" Target="../slideLayouts/slideLayout1.xml"/><Relationship Id="rId4" Type="http://schemas.openxmlformats.org/officeDocument/2006/relationships/notesSlide" Target="../notesSlides/notesSlide3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2050"/>
        </a:solidFill>
      </p:bgPr>
    </p:bg>
    <p:spTree>
      <p:nvGrpSpPr>
        <p:cNvPr id="1" name=""/>
        <p:cNvGrpSpPr/>
        <p:nvPr/>
      </p:nvGrpSpPr>
      <p:grpSpPr>
        <a:xfrm>
          <a:off x="0" y="0"/>
          <a:ext cx="0" cy="0"/>
          <a:chOff x="0" y="0"/>
          <a:chExt cx="0" cy="0"/>
        </a:xfrm>
      </p:grpSpPr>
      <p:sp>
        <p:nvSpPr>
          <p:cNvPr id="2" name="Shape 0"/>
          <p:cNvSpPr/>
          <p:nvPr/>
        </p:nvSpPr>
        <p:spPr>
          <a:xfrm>
            <a:off x="0" y="0"/>
            <a:ext cx="12188952" cy="109728"/>
          </a:xfrm>
          <a:prstGeom prst="rect">
            <a:avLst/>
          </a:prstGeom>
          <a:solidFill>
            <a:srgbClr val="0F6CBD"/>
          </a:solidFill>
          <a:ln/>
        </p:spPr>
      </p:sp>
      <p:sp>
        <p:nvSpPr>
          <p:cNvPr id="3" name="Shape 1"/>
          <p:cNvSpPr/>
          <p:nvPr/>
        </p:nvSpPr>
        <p:spPr>
          <a:xfrm>
            <a:off x="502920" y="1188720"/>
            <a:ext cx="3291840" cy="512064"/>
          </a:xfrm>
          <a:prstGeom prst="roundRect">
            <a:avLst>
              <a:gd name="adj" fmla="val 50000"/>
            </a:avLst>
          </a:prstGeom>
          <a:solidFill>
            <a:srgbClr val="0F6CBD"/>
          </a:solidFill>
          <a:ln/>
        </p:spPr>
      </p:sp>
      <p:sp>
        <p:nvSpPr>
          <p:cNvPr id="4" name="Text 2"/>
          <p:cNvSpPr/>
          <p:nvPr/>
        </p:nvSpPr>
        <p:spPr>
          <a:xfrm>
            <a:off x="502920" y="1188720"/>
            <a:ext cx="3291840" cy="512064"/>
          </a:xfrm>
          <a:prstGeom prst="rect">
            <a:avLst/>
          </a:prstGeom>
          <a:noFill/>
          <a:ln/>
        </p:spPr>
        <p:txBody>
          <a:bodyPr wrap="square" rtlCol="0" anchor="ctr"/>
          <a:lstStyle/>
          <a:p>
            <a:pPr algn="ctr" indent="0" marL="0">
              <a:buNone/>
            </a:pPr>
            <a:r>
              <a:rPr lang="en-US" sz="1250" b="1" spc="100" kern="0" dirty="0">
                <a:solidFill>
                  <a:srgbClr val="FFFFFF"/>
                </a:solidFill>
                <a:latin typeface="Aptos" pitchFamily="34" charset="0"/>
                <a:ea typeface="Aptos" pitchFamily="34" charset="-122"/>
                <a:cs typeface="Aptos" pitchFamily="34" charset="-120"/>
              </a:rPr>
              <a:t>UNIT STANDARD 8252 · NQF 5 · 6 CREDITS</a:t>
            </a:r>
            <a:endParaRPr lang="en-US" sz="1250" dirty="0"/>
          </a:p>
        </p:txBody>
      </p:sp>
      <p:sp>
        <p:nvSpPr>
          <p:cNvPr id="5" name="Text 3"/>
          <p:cNvSpPr/>
          <p:nvPr/>
        </p:nvSpPr>
        <p:spPr>
          <a:xfrm>
            <a:off x="502920" y="1920240"/>
            <a:ext cx="11183112" cy="1371600"/>
          </a:xfrm>
          <a:prstGeom prst="rect">
            <a:avLst/>
          </a:prstGeom>
          <a:noFill/>
          <a:ln/>
        </p:spPr>
        <p:txBody>
          <a:bodyPr wrap="square" rtlCol="0" anchor="ctr"/>
          <a:lstStyle/>
          <a:p>
            <a:pPr indent="0" marL="0">
              <a:buNone/>
            </a:pPr>
            <a:r>
              <a:rPr lang="en-US" sz="5200" b="1" dirty="0">
                <a:solidFill>
                  <a:srgbClr val="FFFFFF"/>
                </a:solidFill>
                <a:latin typeface="Aptos Display" pitchFamily="34" charset="0"/>
                <a:ea typeface="Aptos Display" pitchFamily="34" charset="-122"/>
                <a:cs typeface="Aptos Display" pitchFamily="34" charset="-120"/>
              </a:rPr>
              <a:t>Writing Business Reports</a:t>
            </a:r>
            <a:endParaRPr lang="en-US" sz="5200" dirty="0"/>
          </a:p>
        </p:txBody>
      </p:sp>
      <p:sp>
        <p:nvSpPr>
          <p:cNvPr id="6" name="Text 4"/>
          <p:cNvSpPr/>
          <p:nvPr/>
        </p:nvSpPr>
        <p:spPr>
          <a:xfrm>
            <a:off x="502920" y="3246120"/>
            <a:ext cx="9601200" cy="502920"/>
          </a:xfrm>
          <a:prstGeom prst="rect">
            <a:avLst/>
          </a:prstGeom>
          <a:noFill/>
          <a:ln/>
        </p:spPr>
        <p:txBody>
          <a:bodyPr wrap="square" rtlCol="0" anchor="ctr"/>
          <a:lstStyle/>
          <a:p>
            <a:pPr indent="0" marL="0">
              <a:buNone/>
            </a:pPr>
            <a:r>
              <a:rPr lang="en-US" sz="2100" dirty="0">
                <a:solidFill>
                  <a:srgbClr val="B9D6F2"/>
                </a:solidFill>
                <a:latin typeface="Aptos" pitchFamily="34" charset="0"/>
                <a:ea typeface="Aptos" pitchFamily="34" charset="-122"/>
                <a:cs typeface="Aptos" pitchFamily="34" charset="-120"/>
              </a:rPr>
              <a:t>Writing business reports in Retail/Wholesale practices</a:t>
            </a:r>
            <a:endParaRPr lang="en-US" sz="2100" dirty="0"/>
          </a:p>
        </p:txBody>
      </p:sp>
      <p:sp>
        <p:nvSpPr>
          <p:cNvPr id="7" name="Text 5"/>
          <p:cNvSpPr/>
          <p:nvPr/>
        </p:nvSpPr>
        <p:spPr>
          <a:xfrm>
            <a:off x="502920" y="3794760"/>
            <a:ext cx="9601200" cy="457200"/>
          </a:xfrm>
          <a:prstGeom prst="rect">
            <a:avLst/>
          </a:prstGeom>
          <a:noFill/>
          <a:ln/>
        </p:spPr>
        <p:txBody>
          <a:bodyPr wrap="square" rtlCol="0" anchor="ctr"/>
          <a:lstStyle/>
          <a:p>
            <a:pPr indent="0" marL="0">
              <a:buNone/>
            </a:pPr>
            <a:r>
              <a:rPr lang="en-US" sz="1600" dirty="0">
                <a:solidFill>
                  <a:srgbClr val="8CC2F0"/>
                </a:solidFill>
                <a:latin typeface="Aptos" pitchFamily="34" charset="0"/>
                <a:ea typeface="Aptos" pitchFamily="34" charset="-122"/>
                <a:cs typeface="Aptos" pitchFamily="34" charset="-120"/>
              </a:rPr>
              <a:t>Official learner guide — Investec Systems Support (NQF Level 5) Learnership</a:t>
            </a:r>
            <a:endParaRPr lang="en-US" sz="1600" dirty="0"/>
          </a:p>
        </p:txBody>
      </p:sp>
      <p:pic>
        <p:nvPicPr>
          <p:cNvPr id="8"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9829800" y="1325880"/>
            <a:ext cx="1737360" cy="1737360"/>
          </a:xfrm>
          <a:prstGeom prst="rect">
            <a:avLst/>
          </a:prstGeom>
        </p:spPr>
      </p:pic>
      <p:sp>
        <p:nvSpPr>
          <p:cNvPr id="9" name="Shape 6"/>
          <p:cNvSpPr/>
          <p:nvPr/>
        </p:nvSpPr>
        <p:spPr>
          <a:xfrm>
            <a:off x="502920" y="4709160"/>
            <a:ext cx="11183112" cy="0"/>
          </a:xfrm>
          <a:prstGeom prst="line">
            <a:avLst/>
          </a:prstGeom>
          <a:noFill/>
          <a:ln w="12700">
            <a:solidFill>
              <a:srgbClr val="1B4272"/>
            </a:solidFill>
            <a:prstDash val="solid"/>
          </a:ln>
        </p:spPr>
      </p:sp>
      <p:sp>
        <p:nvSpPr>
          <p:cNvPr id="10" name="Text 7"/>
          <p:cNvSpPr/>
          <p:nvPr/>
        </p:nvSpPr>
        <p:spPr>
          <a:xfrm>
            <a:off x="502920" y="6309360"/>
            <a:ext cx="11183112" cy="320040"/>
          </a:xfrm>
          <a:prstGeom prst="rect">
            <a:avLst/>
          </a:prstGeom>
          <a:noFill/>
          <a:ln/>
        </p:spPr>
        <p:txBody>
          <a:bodyPr wrap="square" rtlCol="0" anchor="ctr"/>
          <a:lstStyle/>
          <a:p>
            <a:pPr indent="0" marL="0">
              <a:buNone/>
            </a:pPr>
            <a:r>
              <a:rPr lang="en-US" sz="1150" dirty="0">
                <a:solidFill>
                  <a:srgbClr val="6E93BC"/>
                </a:solidFill>
                <a:latin typeface="Aptos" pitchFamily="34" charset="0"/>
                <a:ea typeface="Aptos" pitchFamily="34" charset="-122"/>
                <a:cs typeface="Aptos" pitchFamily="34" charset="-120"/>
              </a:rPr>
              <a:t>Investec · Corporate Banking Technology · IT Systems Support NQF Level 5 (SAQA ID 48573)</a:t>
            </a:r>
            <a:endParaRPr lang="en-US" sz="11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6473952"/>
            <a:ext cx="10268712" cy="274320"/>
          </a:xfrm>
          <a:prstGeom prst="rect">
            <a:avLst/>
          </a:prstGeom>
          <a:noFill/>
          <a:ln/>
        </p:spPr>
        <p:txBody>
          <a:bodyPr wrap="square" rtlCol="0" anchor="ctr"/>
          <a:lstStyle/>
          <a:p>
            <a:pPr indent="0" marL="0">
              <a:buNone/>
            </a:pPr>
            <a:r>
              <a:rPr lang="en-US" sz="1000" dirty="0">
                <a:solidFill>
                  <a:srgbClr val="6B7280"/>
                </a:solidFill>
                <a:latin typeface="Aptos" pitchFamily="34" charset="0"/>
                <a:ea typeface="Aptos" pitchFamily="34" charset="-122"/>
                <a:cs typeface="Aptos" pitchFamily="34" charset="-120"/>
              </a:rPr>
              <a:t>Unit Standard 8252 — Writing Business Reports   ·   Investec IT Systems Support NQF 5</a:t>
            </a:r>
            <a:endParaRPr lang="en-US" sz="1000" dirty="0"/>
          </a:p>
        </p:txBody>
      </p:sp>
      <p:sp>
        <p:nvSpPr>
          <p:cNvPr id="3" name="Text 1"/>
          <p:cNvSpPr/>
          <p:nvPr/>
        </p:nvSpPr>
        <p:spPr>
          <a:xfrm>
            <a:off x="11137392" y="6473952"/>
            <a:ext cx="548640" cy="274320"/>
          </a:xfrm>
          <a:prstGeom prst="rect">
            <a:avLst/>
          </a:prstGeom>
          <a:noFill/>
          <a:ln/>
        </p:spPr>
        <p:txBody>
          <a:bodyPr wrap="square" rtlCol="0" anchor="ctr"/>
          <a:lstStyle/>
          <a:p>
            <a:pPr algn="r" indent="0" marL="0">
              <a:buNone/>
            </a:pPr>
            <a:r>
              <a:rPr lang="en-US" sz="1000" dirty="0">
                <a:solidFill>
                  <a:srgbClr val="6B7280"/>
                </a:solidFill>
                <a:latin typeface="Aptos" pitchFamily="34" charset="0"/>
                <a:ea typeface="Aptos" pitchFamily="34" charset="-122"/>
                <a:cs typeface="Aptos" pitchFamily="34" charset="-120"/>
              </a:rPr>
              <a:t>2</a:t>
            </a:r>
            <a:endParaRPr lang="en-US" sz="1000" dirty="0"/>
          </a:p>
        </p:txBody>
      </p:sp>
      <p:sp>
        <p:nvSpPr>
          <p:cNvPr id="4" name="Shape 2"/>
          <p:cNvSpPr/>
          <p:nvPr/>
        </p:nvSpPr>
        <p:spPr>
          <a:xfrm>
            <a:off x="0" y="0"/>
            <a:ext cx="12188952" cy="82296"/>
          </a:xfrm>
          <a:prstGeom prst="rect">
            <a:avLst/>
          </a:prstGeom>
          <a:solidFill>
            <a:srgbClr val="0F6CBD"/>
          </a:solidFill>
          <a:ln/>
        </p:spPr>
      </p:sp>
      <p:sp>
        <p:nvSpPr>
          <p:cNvPr id="5" name="Text 3"/>
          <p:cNvSpPr/>
          <p:nvPr/>
        </p:nvSpPr>
        <p:spPr>
          <a:xfrm>
            <a:off x="502920" y="256032"/>
            <a:ext cx="11183112" cy="347472"/>
          </a:xfrm>
          <a:prstGeom prst="rect">
            <a:avLst/>
          </a:prstGeom>
          <a:noFill/>
          <a:ln/>
        </p:spPr>
        <p:txBody>
          <a:bodyPr wrap="square" rtlCol="0" anchor="ctr"/>
          <a:lstStyle/>
          <a:p>
            <a:pPr indent="0" marL="0">
              <a:buNone/>
            </a:pPr>
            <a:r>
              <a:rPr lang="en-US" sz="1400" b="1" spc="200" kern="0" dirty="0">
                <a:solidFill>
                  <a:srgbClr val="0F6CBD"/>
                </a:solidFill>
                <a:latin typeface="Aptos" pitchFamily="34" charset="0"/>
                <a:ea typeface="Aptos" pitchFamily="34" charset="-122"/>
                <a:cs typeface="Aptos" pitchFamily="34" charset="-120"/>
              </a:rPr>
              <a:t>LEARNER GUIDE CONTENTS</a:t>
            </a:r>
            <a:endParaRPr lang="en-US" sz="1400" dirty="0"/>
          </a:p>
        </p:txBody>
      </p:sp>
      <p:sp>
        <p:nvSpPr>
          <p:cNvPr id="6" name="Text 4"/>
          <p:cNvSpPr/>
          <p:nvPr/>
        </p:nvSpPr>
        <p:spPr>
          <a:xfrm>
            <a:off x="502920" y="585216"/>
            <a:ext cx="11183112" cy="786384"/>
          </a:xfrm>
          <a:prstGeom prst="rect">
            <a:avLst/>
          </a:prstGeom>
          <a:noFill/>
          <a:ln/>
        </p:spPr>
        <p:txBody>
          <a:bodyPr wrap="square" rtlCol="0" anchor="ctr"/>
          <a:lstStyle/>
          <a:p>
            <a:pPr indent="0" marL="0">
              <a:buNone/>
            </a:pPr>
            <a:r>
              <a:rPr lang="en-US" sz="3400" b="1" dirty="0">
                <a:solidFill>
                  <a:srgbClr val="002050"/>
                </a:solidFill>
                <a:latin typeface="Aptos Display" pitchFamily="34" charset="0"/>
                <a:ea typeface="Aptos Display" pitchFamily="34" charset="-122"/>
                <a:cs typeface="Aptos Display" pitchFamily="34" charset="-120"/>
              </a:rPr>
              <a:t>Competence Requirements</a:t>
            </a:r>
            <a:endParaRPr lang="en-US" sz="34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502920" y="1691640"/>
          <a:ext cx="11183112" cy="914400"/>
        </p:xfrm>
        <a:graphic>
          <a:graphicData uri="http://schemas.openxmlformats.org/drawingml/2006/table">
            <a:tbl>
              <a:tblPr/>
              <a:tblGrid>
                <a:gridCol w="3291840"/>
                <a:gridCol w="6949440"/>
                <a:gridCol w="941832"/>
              </a:tblGrid>
              <a:tr h="713232">
                <a:tc>
                  <a:txBody>
                    <a:bodyPr/>
                    <a:lstStyle/>
                    <a:p>
                      <a:pPr indent="0" marL="0">
                        <a:buNone/>
                      </a:pPr>
                      <a:r>
                        <a:rPr lang="en-US" sz="1650" b="1" dirty="0">
                          <a:solidFill>
                            <a:srgbClr val="FFFFFF"/>
                          </a:solidFill>
                          <a:latin typeface="Aptos Display" pitchFamily="34" charset="0"/>
                          <a:ea typeface="Aptos Display" pitchFamily="34" charset="-122"/>
                          <a:cs typeface="Aptos Display" pitchFamily="34" charset="-120"/>
                        </a:rPr>
                        <a:t>Section</a:t>
                      </a:r>
                      <a:endParaRPr lang="en-US" sz="1650" dirty="0">
                        <a:latin typeface="Aptos Display" charset="0"/>
                        <a:ea typeface="Aptos Display" charset="0"/>
                        <a:cs typeface="Aptos Display" charset="0"/>
                      </a:endParaRPr>
                    </a:p>
                  </a:txBody>
                  <a:tcPr marL="91440" marR="91440" marT="91440" marB="91440"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0F6CBD"/>
                    </a:solidFill>
                  </a:tcPr>
                </a:tc>
                <a:tc>
                  <a:txBody>
                    <a:bodyPr/>
                    <a:lstStyle/>
                    <a:p>
                      <a:pPr indent="0" marL="0">
                        <a:buNone/>
                      </a:pPr>
                      <a:r>
                        <a:rPr lang="en-US" sz="1650" b="1" dirty="0">
                          <a:solidFill>
                            <a:srgbClr val="FFFFFF"/>
                          </a:solidFill>
                          <a:latin typeface="Aptos Display" pitchFamily="34" charset="0"/>
                          <a:ea typeface="Aptos Display" pitchFamily="34" charset="-122"/>
                          <a:cs typeface="Aptos Display" pitchFamily="34" charset="-120"/>
                        </a:rPr>
                        <a:t>What it covers</a:t>
                      </a:r>
                      <a:endParaRPr lang="en-US" sz="1650" dirty="0">
                        <a:latin typeface="Aptos Display" charset="0"/>
                        <a:ea typeface="Aptos Display" charset="0"/>
                        <a:cs typeface="Aptos Display" charset="0"/>
                      </a:endParaRPr>
                    </a:p>
                  </a:txBody>
                  <a:tcPr marL="91440" marR="91440" marT="91440" marB="91440"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0F6CBD"/>
                    </a:solidFill>
                  </a:tcPr>
                </a:tc>
                <a:tc>
                  <a:txBody>
                    <a:bodyPr/>
                    <a:lstStyle/>
                    <a:p>
                      <a:pPr indent="0" marL="0">
                        <a:buNone/>
                      </a:pPr>
                      <a:r>
                        <a:rPr lang="en-US" sz="1650" b="1" dirty="0">
                          <a:solidFill>
                            <a:srgbClr val="FFFFFF"/>
                          </a:solidFill>
                          <a:latin typeface="Aptos Display" pitchFamily="34" charset="0"/>
                          <a:ea typeface="Aptos Display" pitchFamily="34" charset="-122"/>
                          <a:cs typeface="Aptos Display" pitchFamily="34" charset="-120"/>
                        </a:rPr>
                        <a:t>Page</a:t>
                      </a:r>
                      <a:endParaRPr lang="en-US" sz="1650" dirty="0">
                        <a:latin typeface="Aptos Display" charset="0"/>
                        <a:ea typeface="Aptos Display" charset="0"/>
                        <a:cs typeface="Aptos Display" charset="0"/>
                      </a:endParaRPr>
                    </a:p>
                  </a:txBody>
                  <a:tcPr marL="91440" marR="91440" marT="91440" marB="91440"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0F6CBD"/>
                    </a:solidFill>
                  </a:tcPr>
                </a:tc>
              </a:tr>
              <a:tr h="713232">
                <a:tc>
                  <a:txBody>
                    <a:bodyPr/>
                    <a:lstStyle/>
                    <a:p>
                      <a:pPr indent="0" marL="0">
                        <a:buNone/>
                      </a:pPr>
                      <a:r>
                        <a:rPr lang="en-US" sz="1650" dirty="0">
                          <a:solidFill>
                            <a:srgbClr val="002050"/>
                          </a:solidFill>
                          <a:latin typeface="Aptos" pitchFamily="34" charset="0"/>
                          <a:ea typeface="Aptos" pitchFamily="34" charset="-122"/>
                          <a:cs typeface="Aptos" pitchFamily="34" charset="-120"/>
                        </a:rPr>
                        <a:t>Alignment index</a:t>
                      </a:r>
                      <a:endParaRPr lang="en-US" sz="1650" dirty="0">
                        <a:latin typeface="Aptos" charset="0"/>
                        <a:ea typeface="Aptos" charset="0"/>
                        <a:cs typeface="Aptos" charset="0"/>
                      </a:endParaRPr>
                    </a:p>
                  </a:txBody>
                  <a:tcPr marL="91440" marR="91440" marT="91440" marB="91440"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FFFFFF"/>
                    </a:solidFill>
                  </a:tcPr>
                </a:tc>
                <a:tc>
                  <a:txBody>
                    <a:bodyPr/>
                    <a:lstStyle/>
                    <a:p>
                      <a:pPr indent="0" marL="0">
                        <a:buNone/>
                      </a:pPr>
                      <a:r>
                        <a:rPr lang="en-US" sz="1650" dirty="0">
                          <a:solidFill>
                            <a:srgbClr val="002050"/>
                          </a:solidFill>
                          <a:latin typeface="Aptos" pitchFamily="34" charset="0"/>
                          <a:ea typeface="Aptos" pitchFamily="34" charset="-122"/>
                          <a:cs typeface="Aptos" pitchFamily="34" charset="-120"/>
                        </a:rPr>
                        <a:t>The different outcomes you must prove competent in to complete US 8252</a:t>
                      </a:r>
                      <a:endParaRPr lang="en-US" sz="1650" dirty="0">
                        <a:latin typeface="Aptos" charset="0"/>
                        <a:ea typeface="Aptos" charset="0"/>
                        <a:cs typeface="Aptos" charset="0"/>
                      </a:endParaRPr>
                    </a:p>
                  </a:txBody>
                  <a:tcPr marL="91440" marR="91440" marT="91440" marB="91440"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FFFFFF"/>
                    </a:solidFill>
                  </a:tcPr>
                </a:tc>
                <a:tc>
                  <a:txBody>
                    <a:bodyPr/>
                    <a:lstStyle/>
                    <a:p>
                      <a:pPr indent="0" marL="0">
                        <a:buNone/>
                      </a:pPr>
                      <a:r>
                        <a:rPr lang="en-US" sz="1650" dirty="0">
                          <a:solidFill>
                            <a:srgbClr val="002050"/>
                          </a:solidFill>
                          <a:latin typeface="Aptos" pitchFamily="34" charset="0"/>
                          <a:ea typeface="Aptos" pitchFamily="34" charset="-122"/>
                          <a:cs typeface="Aptos" pitchFamily="34" charset="-120"/>
                        </a:rPr>
                        <a:t>3</a:t>
                      </a:r>
                      <a:endParaRPr lang="en-US" sz="1650" dirty="0">
                        <a:latin typeface="Aptos" charset="0"/>
                        <a:ea typeface="Aptos" charset="0"/>
                        <a:cs typeface="Aptos" charset="0"/>
                      </a:endParaRPr>
                    </a:p>
                  </a:txBody>
                  <a:tcPr marL="91440" marR="91440" marT="91440" marB="91440"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FFFFFF"/>
                    </a:solidFill>
                  </a:tcPr>
                </a:tc>
              </a:tr>
              <a:tr h="713232">
                <a:tc>
                  <a:txBody>
                    <a:bodyPr/>
                    <a:lstStyle/>
                    <a:p>
                      <a:pPr indent="0" marL="0">
                        <a:buNone/>
                      </a:pPr>
                      <a:r>
                        <a:rPr lang="en-US" sz="1650" dirty="0">
                          <a:solidFill>
                            <a:srgbClr val="002050"/>
                          </a:solidFill>
                          <a:latin typeface="Aptos" pitchFamily="34" charset="0"/>
                          <a:ea typeface="Aptos" pitchFamily="34" charset="-122"/>
                          <a:cs typeface="Aptos" pitchFamily="34" charset="-120"/>
                        </a:rPr>
                        <a:t>Purpose &amp; content of reports</a:t>
                      </a:r>
                      <a:endParaRPr lang="en-US" sz="1650" dirty="0">
                        <a:latin typeface="Aptos" charset="0"/>
                        <a:ea typeface="Aptos" charset="0"/>
                        <a:cs typeface="Aptos" charset="0"/>
                      </a:endParaRPr>
                    </a:p>
                  </a:txBody>
                  <a:tcPr marL="91440" marR="91440" marT="91440" marB="91440"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EAF4FF"/>
                    </a:solidFill>
                  </a:tcPr>
                </a:tc>
                <a:tc>
                  <a:txBody>
                    <a:bodyPr/>
                    <a:lstStyle/>
                    <a:p>
                      <a:pPr indent="0" marL="0">
                        <a:buNone/>
                      </a:pPr>
                      <a:r>
                        <a:rPr lang="en-US" sz="1650" dirty="0">
                          <a:solidFill>
                            <a:srgbClr val="002050"/>
                          </a:solidFill>
                          <a:latin typeface="Aptos" pitchFamily="34" charset="0"/>
                          <a:ea typeface="Aptos" pitchFamily="34" charset="-122"/>
                          <a:cs typeface="Aptos" pitchFamily="34" charset="-120"/>
                        </a:rPr>
                        <a:t>The various types of reports, their purposes and the range of information in them</a:t>
                      </a:r>
                      <a:endParaRPr lang="en-US" sz="1650" dirty="0">
                        <a:latin typeface="Aptos" charset="0"/>
                        <a:ea typeface="Aptos" charset="0"/>
                        <a:cs typeface="Aptos" charset="0"/>
                      </a:endParaRPr>
                    </a:p>
                  </a:txBody>
                  <a:tcPr marL="91440" marR="91440" marT="91440" marB="91440"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EAF4FF"/>
                    </a:solidFill>
                  </a:tcPr>
                </a:tc>
                <a:tc>
                  <a:txBody>
                    <a:bodyPr/>
                    <a:lstStyle/>
                    <a:p>
                      <a:pPr indent="0" marL="0">
                        <a:buNone/>
                      </a:pPr>
                      <a:r>
                        <a:rPr lang="en-US" sz="1650" dirty="0">
                          <a:solidFill>
                            <a:srgbClr val="002050"/>
                          </a:solidFill>
                          <a:latin typeface="Aptos" pitchFamily="34" charset="0"/>
                          <a:ea typeface="Aptos" pitchFamily="34" charset="-122"/>
                          <a:cs typeface="Aptos" pitchFamily="34" charset="-120"/>
                        </a:rPr>
                        <a:t>4</a:t>
                      </a:r>
                      <a:endParaRPr lang="en-US" sz="1650" dirty="0">
                        <a:latin typeface="Aptos" charset="0"/>
                        <a:ea typeface="Aptos" charset="0"/>
                        <a:cs typeface="Aptos" charset="0"/>
                      </a:endParaRPr>
                    </a:p>
                  </a:txBody>
                  <a:tcPr marL="91440" marR="91440" marT="91440" marB="91440"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EAF4FF"/>
                    </a:solidFill>
                  </a:tcPr>
                </a:tc>
              </a:tr>
              <a:tr h="713232">
                <a:tc>
                  <a:txBody>
                    <a:bodyPr/>
                    <a:lstStyle/>
                    <a:p>
                      <a:pPr indent="0" marL="0">
                        <a:buNone/>
                      </a:pPr>
                      <a:r>
                        <a:rPr lang="en-US" sz="1650" dirty="0">
                          <a:solidFill>
                            <a:srgbClr val="002050"/>
                          </a:solidFill>
                          <a:latin typeface="Aptos" pitchFamily="34" charset="0"/>
                          <a:ea typeface="Aptos" pitchFamily="34" charset="-122"/>
                          <a:cs typeface="Aptos" pitchFamily="34" charset="-120"/>
                        </a:rPr>
                        <a:t>Obtaining &amp; distributing information</a:t>
                      </a:r>
                      <a:endParaRPr lang="en-US" sz="1650" dirty="0">
                        <a:latin typeface="Aptos" charset="0"/>
                        <a:ea typeface="Aptos" charset="0"/>
                        <a:cs typeface="Aptos" charset="0"/>
                      </a:endParaRPr>
                    </a:p>
                  </a:txBody>
                  <a:tcPr marL="91440" marR="91440" marT="91440" marB="91440"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FFFFFF"/>
                    </a:solidFill>
                  </a:tcPr>
                </a:tc>
                <a:tc>
                  <a:txBody>
                    <a:bodyPr/>
                    <a:lstStyle/>
                    <a:p>
                      <a:pPr indent="0" marL="0">
                        <a:buNone/>
                      </a:pPr>
                      <a:r>
                        <a:rPr lang="en-US" sz="1650" dirty="0">
                          <a:solidFill>
                            <a:srgbClr val="002050"/>
                          </a:solidFill>
                          <a:latin typeface="Aptos" pitchFamily="34" charset="0"/>
                          <a:ea typeface="Aptos" pitchFamily="34" charset="-122"/>
                          <a:cs typeface="Aptos" pitchFamily="34" charset="-120"/>
                        </a:rPr>
                        <a:t>The resources used to obtain information and the methods for distributing reports</a:t>
                      </a:r>
                      <a:endParaRPr lang="en-US" sz="1650" dirty="0">
                        <a:latin typeface="Aptos" charset="0"/>
                        <a:ea typeface="Aptos" charset="0"/>
                        <a:cs typeface="Aptos" charset="0"/>
                      </a:endParaRPr>
                    </a:p>
                  </a:txBody>
                  <a:tcPr marL="91440" marR="91440" marT="91440" marB="91440"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FFFFFF"/>
                    </a:solidFill>
                  </a:tcPr>
                </a:tc>
                <a:tc>
                  <a:txBody>
                    <a:bodyPr/>
                    <a:lstStyle/>
                    <a:p>
                      <a:pPr indent="0" marL="0">
                        <a:buNone/>
                      </a:pPr>
                      <a:r>
                        <a:rPr lang="en-US" sz="1650" dirty="0">
                          <a:solidFill>
                            <a:srgbClr val="002050"/>
                          </a:solidFill>
                          <a:latin typeface="Aptos" pitchFamily="34" charset="0"/>
                          <a:ea typeface="Aptos" pitchFamily="34" charset="-122"/>
                          <a:cs typeface="Aptos" pitchFamily="34" charset="-120"/>
                        </a:rPr>
                        <a:t>8</a:t>
                      </a:r>
                      <a:endParaRPr lang="en-US" sz="1650" dirty="0">
                        <a:latin typeface="Aptos" charset="0"/>
                        <a:ea typeface="Aptos" charset="0"/>
                        <a:cs typeface="Aptos" charset="0"/>
                      </a:endParaRPr>
                    </a:p>
                  </a:txBody>
                  <a:tcPr marL="91440" marR="91440" marT="91440" marB="91440"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FFFFFF"/>
                    </a:solidFill>
                  </a:tcPr>
                </a:tc>
              </a:tr>
              <a:tr h="713232">
                <a:tc>
                  <a:txBody>
                    <a:bodyPr/>
                    <a:lstStyle/>
                    <a:p>
                      <a:pPr indent="0" marL="0">
                        <a:buNone/>
                      </a:pPr>
                      <a:r>
                        <a:rPr lang="en-US" sz="1650" dirty="0">
                          <a:solidFill>
                            <a:srgbClr val="002050"/>
                          </a:solidFill>
                          <a:latin typeface="Aptos" pitchFamily="34" charset="0"/>
                          <a:ea typeface="Aptos" pitchFamily="34" charset="-122"/>
                          <a:cs typeface="Aptos" pitchFamily="34" charset="-120"/>
                        </a:rPr>
                        <a:t>Verifying reported information</a:t>
                      </a:r>
                      <a:endParaRPr lang="en-US" sz="1650" dirty="0">
                        <a:latin typeface="Aptos" charset="0"/>
                        <a:ea typeface="Aptos" charset="0"/>
                        <a:cs typeface="Aptos" charset="0"/>
                      </a:endParaRPr>
                    </a:p>
                  </a:txBody>
                  <a:tcPr marL="91440" marR="91440" marT="91440" marB="91440"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EAF4FF"/>
                    </a:solidFill>
                  </a:tcPr>
                </a:tc>
                <a:tc>
                  <a:txBody>
                    <a:bodyPr/>
                    <a:lstStyle/>
                    <a:p>
                      <a:pPr indent="0" marL="0">
                        <a:buNone/>
                      </a:pPr>
                      <a:r>
                        <a:rPr lang="en-US" sz="1650" dirty="0">
                          <a:solidFill>
                            <a:srgbClr val="002050"/>
                          </a:solidFill>
                          <a:latin typeface="Aptos" pitchFamily="34" charset="0"/>
                          <a:ea typeface="Aptos" pitchFamily="34" charset="-122"/>
                          <a:cs typeface="Aptos" pitchFamily="34" charset="-120"/>
                        </a:rPr>
                        <a:t>How report information is checked against requirements and approved for distribution</a:t>
                      </a:r>
                      <a:endParaRPr lang="en-US" sz="1650" dirty="0">
                        <a:latin typeface="Aptos" charset="0"/>
                        <a:ea typeface="Aptos" charset="0"/>
                        <a:cs typeface="Aptos" charset="0"/>
                      </a:endParaRPr>
                    </a:p>
                  </a:txBody>
                  <a:tcPr marL="91440" marR="91440" marT="91440" marB="91440"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EAF4FF"/>
                    </a:solidFill>
                  </a:tcPr>
                </a:tc>
                <a:tc>
                  <a:txBody>
                    <a:bodyPr/>
                    <a:lstStyle/>
                    <a:p>
                      <a:pPr indent="0" marL="0">
                        <a:buNone/>
                      </a:pPr>
                      <a:r>
                        <a:rPr lang="en-US" sz="1650" dirty="0">
                          <a:solidFill>
                            <a:srgbClr val="002050"/>
                          </a:solidFill>
                          <a:latin typeface="Aptos" pitchFamily="34" charset="0"/>
                          <a:ea typeface="Aptos" pitchFamily="34" charset="-122"/>
                          <a:cs typeface="Aptos" pitchFamily="34" charset="-120"/>
                        </a:rPr>
                        <a:t>9</a:t>
                      </a:r>
                      <a:endParaRPr lang="en-US" sz="1650" dirty="0">
                        <a:latin typeface="Aptos" charset="0"/>
                        <a:ea typeface="Aptos" charset="0"/>
                        <a:cs typeface="Aptos" charset="0"/>
                      </a:endParaRPr>
                    </a:p>
                  </a:txBody>
                  <a:tcPr marL="91440" marR="91440" marT="91440" marB="91440"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EAF4FF"/>
                    </a:solidFill>
                  </a:tcPr>
                </a:tc>
              </a:tr>
              <a:tr h="713232">
                <a:tc>
                  <a:txBody>
                    <a:bodyPr/>
                    <a:lstStyle/>
                    <a:p>
                      <a:pPr indent="0" marL="0">
                        <a:buNone/>
                      </a:pPr>
                      <a:r>
                        <a:rPr lang="en-US" sz="1650" dirty="0">
                          <a:solidFill>
                            <a:srgbClr val="002050"/>
                          </a:solidFill>
                          <a:latin typeface="Aptos" pitchFamily="34" charset="0"/>
                          <a:ea typeface="Aptos" pitchFamily="34" charset="-122"/>
                          <a:cs typeface="Aptos" pitchFamily="34" charset="-120"/>
                        </a:rPr>
                        <a:t>Question Session 1</a:t>
                      </a:r>
                      <a:endParaRPr lang="en-US" sz="1650" dirty="0">
                        <a:latin typeface="Aptos" charset="0"/>
                        <a:ea typeface="Aptos" charset="0"/>
                        <a:cs typeface="Aptos" charset="0"/>
                      </a:endParaRPr>
                    </a:p>
                  </a:txBody>
                  <a:tcPr marL="91440" marR="91440" marT="91440" marB="91440"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FFFFFF"/>
                    </a:solidFill>
                  </a:tcPr>
                </a:tc>
                <a:tc>
                  <a:txBody>
                    <a:bodyPr/>
                    <a:lstStyle/>
                    <a:p>
                      <a:pPr indent="0" marL="0">
                        <a:buNone/>
                      </a:pPr>
                      <a:r>
                        <a:rPr lang="en-US" sz="1650" dirty="0">
                          <a:solidFill>
                            <a:srgbClr val="002050"/>
                          </a:solidFill>
                          <a:latin typeface="Aptos" pitchFamily="34" charset="0"/>
                          <a:ea typeface="Aptos" pitchFamily="34" charset="-122"/>
                          <a:cs typeface="Aptos" pitchFamily="34" charset="-120"/>
                        </a:rPr>
                        <a:t>Your knowledge of this section is assessed with the questions</a:t>
                      </a:r>
                      <a:endParaRPr lang="en-US" sz="1650" dirty="0">
                        <a:latin typeface="Aptos" charset="0"/>
                        <a:ea typeface="Aptos" charset="0"/>
                        <a:cs typeface="Aptos" charset="0"/>
                      </a:endParaRPr>
                    </a:p>
                  </a:txBody>
                  <a:tcPr marL="91440" marR="91440" marT="91440" marB="91440"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FFFFFF"/>
                    </a:solidFill>
                  </a:tcPr>
                </a:tc>
                <a:tc>
                  <a:txBody>
                    <a:bodyPr/>
                    <a:lstStyle/>
                    <a:p>
                      <a:pPr indent="0" marL="0">
                        <a:buNone/>
                      </a:pPr>
                      <a:r>
                        <a:rPr lang="en-US" sz="1650" dirty="0">
                          <a:solidFill>
                            <a:srgbClr val="002050"/>
                          </a:solidFill>
                          <a:latin typeface="Aptos" pitchFamily="34" charset="0"/>
                          <a:ea typeface="Aptos" pitchFamily="34" charset="-122"/>
                          <a:cs typeface="Aptos" pitchFamily="34" charset="-120"/>
                        </a:rPr>
                        <a:t>10</a:t>
                      </a:r>
                      <a:endParaRPr lang="en-US" sz="1650" dirty="0">
                        <a:latin typeface="Aptos" charset="0"/>
                        <a:ea typeface="Aptos" charset="0"/>
                        <a:cs typeface="Aptos" charset="0"/>
                      </a:endParaRPr>
                    </a:p>
                  </a:txBody>
                  <a:tcPr marL="91440" marR="91440" marT="91440" marB="91440"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FFFFFF"/>
                    </a:solidFill>
                  </a:tcPr>
                </a:tc>
              </a:tr>
              <a:tr h="713232">
                <a:tc>
                  <a:txBody>
                    <a:bodyPr/>
                    <a:lstStyle/>
                    <a:p>
                      <a:pPr indent="0" marL="0">
                        <a:buNone/>
                      </a:pPr>
                      <a:r>
                        <a:rPr lang="en-US" sz="1650" dirty="0">
                          <a:solidFill>
                            <a:srgbClr val="002050"/>
                          </a:solidFill>
                          <a:latin typeface="Aptos" pitchFamily="34" charset="0"/>
                          <a:ea typeface="Aptos" pitchFamily="34" charset="-122"/>
                          <a:cs typeface="Aptos" pitchFamily="34" charset="-120"/>
                        </a:rPr>
                        <a:t>Self-assessment</a:t>
                      </a:r>
                      <a:endParaRPr lang="en-US" sz="1650" dirty="0">
                        <a:latin typeface="Aptos" charset="0"/>
                        <a:ea typeface="Aptos" charset="0"/>
                        <a:cs typeface="Aptos" charset="0"/>
                      </a:endParaRPr>
                    </a:p>
                  </a:txBody>
                  <a:tcPr marL="91440" marR="91440" marT="91440" marB="91440"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EAF4FF"/>
                    </a:solidFill>
                  </a:tcPr>
                </a:tc>
                <a:tc>
                  <a:txBody>
                    <a:bodyPr/>
                    <a:lstStyle/>
                    <a:p>
                      <a:pPr indent="0" marL="0">
                        <a:buNone/>
                      </a:pPr>
                      <a:r>
                        <a:rPr lang="en-US" sz="1650" dirty="0">
                          <a:solidFill>
                            <a:srgbClr val="002050"/>
                          </a:solidFill>
                          <a:latin typeface="Aptos" pitchFamily="34" charset="0"/>
                          <a:ea typeface="Aptos" pitchFamily="34" charset="-122"/>
                          <a:cs typeface="Aptos" pitchFamily="34" charset="-120"/>
                        </a:rPr>
                        <a:t>Check the progress you have made and arrange support to become competent</a:t>
                      </a:r>
                      <a:endParaRPr lang="en-US" sz="1650" dirty="0">
                        <a:latin typeface="Aptos" charset="0"/>
                        <a:ea typeface="Aptos" charset="0"/>
                        <a:cs typeface="Aptos" charset="0"/>
                      </a:endParaRPr>
                    </a:p>
                  </a:txBody>
                  <a:tcPr marL="91440" marR="91440" marT="91440" marB="91440"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EAF4FF"/>
                    </a:solidFill>
                  </a:tcPr>
                </a:tc>
                <a:tc>
                  <a:txBody>
                    <a:bodyPr/>
                    <a:lstStyle/>
                    <a:p>
                      <a:pPr indent="0" marL="0">
                        <a:buNone/>
                      </a:pPr>
                      <a:r>
                        <a:rPr lang="en-US" sz="1650" dirty="0">
                          <a:solidFill>
                            <a:srgbClr val="002050"/>
                          </a:solidFill>
                          <a:latin typeface="Aptos" pitchFamily="34" charset="0"/>
                          <a:ea typeface="Aptos" pitchFamily="34" charset="-122"/>
                          <a:cs typeface="Aptos" pitchFamily="34" charset="-120"/>
                        </a:rPr>
                        <a:t>12</a:t>
                      </a:r>
                      <a:endParaRPr lang="en-US" sz="1650" dirty="0">
                        <a:latin typeface="Aptos" charset="0"/>
                        <a:ea typeface="Aptos" charset="0"/>
                        <a:cs typeface="Aptos" charset="0"/>
                      </a:endParaRPr>
                    </a:p>
                  </a:txBody>
                  <a:tcPr marL="91440" marR="91440" marT="91440" marB="91440"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EAF4FF"/>
                    </a:solidFill>
                  </a:tcPr>
                </a:tc>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6473952"/>
            <a:ext cx="10268712" cy="274320"/>
          </a:xfrm>
          <a:prstGeom prst="rect">
            <a:avLst/>
          </a:prstGeom>
          <a:noFill/>
          <a:ln/>
        </p:spPr>
        <p:txBody>
          <a:bodyPr wrap="square" rtlCol="0" anchor="ctr"/>
          <a:lstStyle/>
          <a:p>
            <a:pPr indent="0" marL="0">
              <a:buNone/>
            </a:pPr>
            <a:r>
              <a:rPr lang="en-US" sz="1000" dirty="0">
                <a:solidFill>
                  <a:srgbClr val="6B7280"/>
                </a:solidFill>
                <a:latin typeface="Aptos" pitchFamily="34" charset="0"/>
                <a:ea typeface="Aptos" pitchFamily="34" charset="-122"/>
                <a:cs typeface="Aptos" pitchFamily="34" charset="-120"/>
              </a:rPr>
              <a:t>Unit Standard 8252 — Writing Business Reports   ·   Investec IT Systems Support NQF 5</a:t>
            </a:r>
            <a:endParaRPr lang="en-US" sz="1000" dirty="0"/>
          </a:p>
        </p:txBody>
      </p:sp>
      <p:sp>
        <p:nvSpPr>
          <p:cNvPr id="3" name="Text 1"/>
          <p:cNvSpPr/>
          <p:nvPr/>
        </p:nvSpPr>
        <p:spPr>
          <a:xfrm>
            <a:off x="11137392" y="6473952"/>
            <a:ext cx="548640" cy="274320"/>
          </a:xfrm>
          <a:prstGeom prst="rect">
            <a:avLst/>
          </a:prstGeom>
          <a:noFill/>
          <a:ln/>
        </p:spPr>
        <p:txBody>
          <a:bodyPr wrap="square" rtlCol="0" anchor="ctr"/>
          <a:lstStyle/>
          <a:p>
            <a:pPr algn="r" indent="0" marL="0">
              <a:buNone/>
            </a:pPr>
            <a:r>
              <a:rPr lang="en-US" sz="1000" dirty="0">
                <a:solidFill>
                  <a:srgbClr val="6B7280"/>
                </a:solidFill>
                <a:latin typeface="Aptos" pitchFamily="34" charset="0"/>
                <a:ea typeface="Aptos" pitchFamily="34" charset="-122"/>
                <a:cs typeface="Aptos" pitchFamily="34" charset="-120"/>
              </a:rPr>
              <a:t>3</a:t>
            </a:r>
            <a:endParaRPr lang="en-US" sz="1000" dirty="0"/>
          </a:p>
        </p:txBody>
      </p:sp>
      <p:sp>
        <p:nvSpPr>
          <p:cNvPr id="4" name="Shape 2"/>
          <p:cNvSpPr/>
          <p:nvPr/>
        </p:nvSpPr>
        <p:spPr>
          <a:xfrm>
            <a:off x="0" y="0"/>
            <a:ext cx="12188952" cy="82296"/>
          </a:xfrm>
          <a:prstGeom prst="rect">
            <a:avLst/>
          </a:prstGeom>
          <a:solidFill>
            <a:srgbClr val="0F6CBD"/>
          </a:solidFill>
          <a:ln/>
        </p:spPr>
      </p:sp>
      <p:sp>
        <p:nvSpPr>
          <p:cNvPr id="5" name="Text 3"/>
          <p:cNvSpPr/>
          <p:nvPr/>
        </p:nvSpPr>
        <p:spPr>
          <a:xfrm>
            <a:off x="502920" y="256032"/>
            <a:ext cx="11183112" cy="347472"/>
          </a:xfrm>
          <a:prstGeom prst="rect">
            <a:avLst/>
          </a:prstGeom>
          <a:noFill/>
          <a:ln/>
        </p:spPr>
        <p:txBody>
          <a:bodyPr wrap="square" rtlCol="0" anchor="ctr"/>
          <a:lstStyle/>
          <a:p>
            <a:pPr indent="0" marL="0">
              <a:buNone/>
            </a:pPr>
            <a:r>
              <a:rPr lang="en-US" sz="1400" b="1" spc="200" kern="0" dirty="0">
                <a:solidFill>
                  <a:srgbClr val="0F6CBD"/>
                </a:solidFill>
                <a:latin typeface="Aptos" pitchFamily="34" charset="0"/>
                <a:ea typeface="Aptos" pitchFamily="34" charset="-122"/>
                <a:cs typeface="Aptos" pitchFamily="34" charset="-120"/>
              </a:rPr>
              <a:t>SPECIFIC OUTCOMES AND RELATED ASSESSMENT CRITERIA</a:t>
            </a:r>
            <a:endParaRPr lang="en-US" sz="1400" dirty="0"/>
          </a:p>
        </p:txBody>
      </p:sp>
      <p:sp>
        <p:nvSpPr>
          <p:cNvPr id="6" name="Text 4"/>
          <p:cNvSpPr/>
          <p:nvPr/>
        </p:nvSpPr>
        <p:spPr>
          <a:xfrm>
            <a:off x="502920" y="585216"/>
            <a:ext cx="11183112" cy="786384"/>
          </a:xfrm>
          <a:prstGeom prst="rect">
            <a:avLst/>
          </a:prstGeom>
          <a:noFill/>
          <a:ln/>
        </p:spPr>
        <p:txBody>
          <a:bodyPr wrap="square" rtlCol="0" anchor="ctr"/>
          <a:lstStyle/>
          <a:p>
            <a:pPr indent="0" marL="0">
              <a:buNone/>
            </a:pPr>
            <a:r>
              <a:rPr lang="en-US" sz="3400" b="1" dirty="0">
                <a:solidFill>
                  <a:srgbClr val="002050"/>
                </a:solidFill>
                <a:latin typeface="Aptos Display" pitchFamily="34" charset="0"/>
                <a:ea typeface="Aptos Display" pitchFamily="34" charset="-122"/>
                <a:cs typeface="Aptos Display" pitchFamily="34" charset="-120"/>
              </a:rPr>
              <a:t>Alignment Index — Specific Outcomes</a:t>
            </a:r>
            <a:endParaRPr lang="en-US" sz="3400" dirty="0"/>
          </a:p>
        </p:txBody>
      </p:sp>
      <p:sp>
        <p:nvSpPr>
          <p:cNvPr id="7" name="Shape 5"/>
          <p:cNvSpPr/>
          <p:nvPr/>
        </p:nvSpPr>
        <p:spPr>
          <a:xfrm>
            <a:off x="502920" y="1572768"/>
            <a:ext cx="11183112" cy="603504"/>
          </a:xfrm>
          <a:prstGeom prst="roundRect">
            <a:avLst>
              <a:gd name="adj" fmla="val 13636"/>
            </a:avLst>
          </a:prstGeom>
          <a:solidFill>
            <a:srgbClr val="EAF4FF"/>
          </a:solidFill>
          <a:ln w="12700">
            <a:solidFill>
              <a:srgbClr val="D5E3F2"/>
            </a:solidFill>
            <a:prstDash val="solid"/>
          </a:ln>
          <a:effectLst>
            <a:outerShdw sx="100000" sy="100000" kx="0" ky="0" algn="bl" rotWithShape="0" blurRad="88900" dist="25400" dir="5400000">
              <a:srgbClr val="9AB4CC">
                <a:alpha val="30000"/>
              </a:srgbClr>
            </a:outerShdw>
          </a:effectLst>
        </p:spPr>
      </p:sp>
      <p:sp>
        <p:nvSpPr>
          <p:cNvPr id="8" name="Text 6"/>
          <p:cNvSpPr/>
          <p:nvPr/>
        </p:nvSpPr>
        <p:spPr>
          <a:xfrm>
            <a:off x="731520" y="1572768"/>
            <a:ext cx="10725912" cy="603504"/>
          </a:xfrm>
          <a:prstGeom prst="rect">
            <a:avLst/>
          </a:prstGeom>
          <a:noFill/>
          <a:ln/>
        </p:spPr>
        <p:txBody>
          <a:bodyPr wrap="square" rtlCol="0" anchor="ctr"/>
          <a:lstStyle/>
          <a:p>
            <a:pPr indent="0" marL="0">
              <a:buNone/>
            </a:pPr>
            <a:r>
              <a:rPr lang="en-US" sz="1700" b="1" dirty="0">
                <a:solidFill>
                  <a:srgbClr val="0F6CBD"/>
                </a:solidFill>
                <a:latin typeface="Aptos Display" pitchFamily="34" charset="0"/>
                <a:ea typeface="Aptos Display" pitchFamily="34" charset="-122"/>
                <a:cs typeface="Aptos Display" pitchFamily="34" charset="-120"/>
              </a:rPr>
              <a:t>SO 1   </a:t>
            </a:r>
            <a:pPr indent="0" marL="0">
              <a:buNone/>
            </a:pPr>
            <a:r>
              <a:rPr lang="en-US" sz="1650" dirty="0">
                <a:solidFill>
                  <a:srgbClr val="002050"/>
                </a:solidFill>
                <a:latin typeface="Aptos" pitchFamily="34" charset="0"/>
                <a:ea typeface="Aptos" pitchFamily="34" charset="-122"/>
                <a:cs typeface="Aptos" pitchFamily="34" charset="-120"/>
              </a:rPr>
              <a:t>The demonstrated ability to make decisions and consider options when:   </a:t>
            </a:r>
            <a:pPr indent="0" marL="0">
              <a:buNone/>
            </a:pPr>
            <a:r>
              <a:rPr lang="en-US" sz="1400" b="1" dirty="0">
                <a:solidFill>
                  <a:srgbClr val="0F6CBD"/>
                </a:solidFill>
                <a:latin typeface="Aptos" pitchFamily="34" charset="0"/>
                <a:ea typeface="Aptos" pitchFamily="34" charset="-122"/>
                <a:cs typeface="Aptos" pitchFamily="34" charset="-120"/>
              </a:rPr>
              <a:t>AC 1 — as for SO 1</a:t>
            </a:r>
            <a:endParaRPr lang="en-US" sz="1700" dirty="0"/>
          </a:p>
        </p:txBody>
      </p:sp>
      <p:sp>
        <p:nvSpPr>
          <p:cNvPr id="9" name="Text 7"/>
          <p:cNvSpPr/>
          <p:nvPr/>
        </p:nvSpPr>
        <p:spPr>
          <a:xfrm>
            <a:off x="502920" y="2331720"/>
            <a:ext cx="11183112" cy="411480"/>
          </a:xfrm>
          <a:prstGeom prst="rect">
            <a:avLst/>
          </a:prstGeom>
          <a:noFill/>
          <a:ln/>
        </p:spPr>
        <p:txBody>
          <a:bodyPr wrap="square" rtlCol="0" anchor="ctr"/>
          <a:lstStyle/>
          <a:p>
            <a:pPr indent="0" marL="0">
              <a:buNone/>
            </a:pPr>
            <a:r>
              <a:rPr lang="en-US" sz="1600" dirty="0">
                <a:solidFill>
                  <a:srgbClr val="6B7280"/>
                </a:solidFill>
                <a:latin typeface="Aptos" pitchFamily="34" charset="0"/>
                <a:ea typeface="Aptos" pitchFamily="34" charset="-122"/>
                <a:cs typeface="Aptos" pitchFamily="34" charset="-120"/>
              </a:rPr>
              <a:t>The criterion tests your ability to create, share, and verify workplace reports. It is broken down into four main tasks:</a:t>
            </a:r>
            <a:endParaRPr lang="en-US" sz="1600" dirty="0"/>
          </a:p>
        </p:txBody>
      </p:sp>
      <p:sp>
        <p:nvSpPr>
          <p:cNvPr id="10" name="Shape 8"/>
          <p:cNvSpPr/>
          <p:nvPr/>
        </p:nvSpPr>
        <p:spPr>
          <a:xfrm>
            <a:off x="502920" y="2834640"/>
            <a:ext cx="11183112" cy="694944"/>
          </a:xfrm>
          <a:prstGeom prst="roundRect">
            <a:avLst>
              <a:gd name="adj" fmla="val 11842"/>
            </a:avLst>
          </a:prstGeom>
          <a:solidFill>
            <a:srgbClr val="FFFFFF"/>
          </a:solidFill>
          <a:ln w="12700">
            <a:solidFill>
              <a:srgbClr val="D5E3F2"/>
            </a:solidFill>
            <a:prstDash val="solid"/>
          </a:ln>
          <a:effectLst>
            <a:outerShdw sx="100000" sy="100000" kx="0" ky="0" algn="bl" rotWithShape="0" blurRad="88900" dist="25400" dir="5400000">
              <a:srgbClr val="9AB4CC">
                <a:alpha val="30000"/>
              </a:srgbClr>
            </a:outerShdw>
          </a:effectLst>
        </p:spPr>
      </p:sp>
      <p:sp>
        <p:nvSpPr>
          <p:cNvPr id="11" name="Shape 9"/>
          <p:cNvSpPr/>
          <p:nvPr/>
        </p:nvSpPr>
        <p:spPr>
          <a:xfrm>
            <a:off x="502920" y="2834640"/>
            <a:ext cx="82296" cy="694944"/>
          </a:xfrm>
          <a:prstGeom prst="rect">
            <a:avLst/>
          </a:prstGeom>
          <a:solidFill>
            <a:srgbClr val="0F6CBD"/>
          </a:solidFill>
          <a:ln/>
        </p:spPr>
      </p:sp>
      <p:pic>
        <p:nvPicPr>
          <p:cNvPr id="12"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58952" y="2999232"/>
            <a:ext cx="365760" cy="365760"/>
          </a:xfrm>
          <a:prstGeom prst="rect">
            <a:avLst/>
          </a:prstGeom>
        </p:spPr>
      </p:pic>
      <p:sp>
        <p:nvSpPr>
          <p:cNvPr id="13" name="Text 10"/>
          <p:cNvSpPr/>
          <p:nvPr/>
        </p:nvSpPr>
        <p:spPr>
          <a:xfrm>
            <a:off x="1280160" y="2944368"/>
            <a:ext cx="10131552" cy="475488"/>
          </a:xfrm>
          <a:prstGeom prst="rect">
            <a:avLst/>
          </a:prstGeom>
          <a:noFill/>
          <a:ln/>
        </p:spPr>
        <p:txBody>
          <a:bodyPr wrap="square" rtlCol="0" anchor="ctr"/>
          <a:lstStyle/>
          <a:p>
            <a:pPr indent="0" marL="0">
              <a:lnSpc>
                <a:spcPct val="108000"/>
              </a:lnSpc>
              <a:buNone/>
            </a:pPr>
            <a:r>
              <a:rPr lang="en-US" sz="1800" b="1" dirty="0">
                <a:solidFill>
                  <a:srgbClr val="002050"/>
                </a:solidFill>
                <a:latin typeface="Aptos Display" pitchFamily="34" charset="0"/>
                <a:ea typeface="Aptos Display" pitchFamily="34" charset="-122"/>
                <a:cs typeface="Aptos Display" pitchFamily="34" charset="-120"/>
              </a:rPr>
              <a:t>Matching reports to business needs
</a:t>
            </a:r>
            <a:pPr indent="0" marL="0">
              <a:lnSpc>
                <a:spcPct val="108000"/>
              </a:lnSpc>
              <a:buNone/>
            </a:pPr>
            <a:r>
              <a:rPr lang="en-US" sz="1450" dirty="0">
                <a:solidFill>
                  <a:srgbClr val="002050"/>
                </a:solidFill>
                <a:latin typeface="Aptos" pitchFamily="34" charset="0"/>
                <a:ea typeface="Aptos" pitchFamily="34" charset="-122"/>
                <a:cs typeface="Aptos" pitchFamily="34" charset="-120"/>
              </a:rPr>
              <a:t>Ensuring the type and contents of the report match what management or stakeholders actually need to see.</a:t>
            </a:r>
            <a:endParaRPr lang="en-US" sz="1800" dirty="0"/>
          </a:p>
        </p:txBody>
      </p:sp>
      <p:sp>
        <p:nvSpPr>
          <p:cNvPr id="14" name="Shape 11"/>
          <p:cNvSpPr/>
          <p:nvPr/>
        </p:nvSpPr>
        <p:spPr>
          <a:xfrm>
            <a:off x="502920" y="3730752"/>
            <a:ext cx="11183112" cy="694944"/>
          </a:xfrm>
          <a:prstGeom prst="roundRect">
            <a:avLst>
              <a:gd name="adj" fmla="val 11842"/>
            </a:avLst>
          </a:prstGeom>
          <a:solidFill>
            <a:srgbClr val="EAF4FF"/>
          </a:solidFill>
          <a:ln w="12700">
            <a:solidFill>
              <a:srgbClr val="D5E3F2"/>
            </a:solidFill>
            <a:prstDash val="solid"/>
          </a:ln>
          <a:effectLst>
            <a:outerShdw sx="100000" sy="100000" kx="0" ky="0" algn="bl" rotWithShape="0" blurRad="88900" dist="25400" dir="5400000">
              <a:srgbClr val="9AB4CC">
                <a:alpha val="30000"/>
              </a:srgbClr>
            </a:outerShdw>
          </a:effectLst>
        </p:spPr>
      </p:sp>
      <p:sp>
        <p:nvSpPr>
          <p:cNvPr id="15" name="Shape 12"/>
          <p:cNvSpPr/>
          <p:nvPr/>
        </p:nvSpPr>
        <p:spPr>
          <a:xfrm>
            <a:off x="502920" y="3730752"/>
            <a:ext cx="82296" cy="694944"/>
          </a:xfrm>
          <a:prstGeom prst="rect">
            <a:avLst/>
          </a:prstGeom>
          <a:solidFill>
            <a:srgbClr val="0F6CBD"/>
          </a:solidFill>
          <a:ln/>
        </p:spPr>
      </p:sp>
      <p:pic>
        <p:nvPicPr>
          <p:cNvPr id="16"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58952" y="3895344"/>
            <a:ext cx="365760" cy="365760"/>
          </a:xfrm>
          <a:prstGeom prst="rect">
            <a:avLst/>
          </a:prstGeom>
        </p:spPr>
      </p:pic>
      <p:sp>
        <p:nvSpPr>
          <p:cNvPr id="17" name="Text 13"/>
          <p:cNvSpPr/>
          <p:nvPr/>
        </p:nvSpPr>
        <p:spPr>
          <a:xfrm>
            <a:off x="1280160" y="3840480"/>
            <a:ext cx="10131552" cy="475488"/>
          </a:xfrm>
          <a:prstGeom prst="rect">
            <a:avLst/>
          </a:prstGeom>
          <a:noFill/>
          <a:ln/>
        </p:spPr>
        <p:txBody>
          <a:bodyPr wrap="square" rtlCol="0" anchor="ctr"/>
          <a:lstStyle/>
          <a:p>
            <a:pPr indent="0" marL="0">
              <a:lnSpc>
                <a:spcPct val="108000"/>
              </a:lnSpc>
              <a:buNone/>
            </a:pPr>
            <a:r>
              <a:rPr lang="en-US" sz="1800" b="1" dirty="0">
                <a:solidFill>
                  <a:srgbClr val="002050"/>
                </a:solidFill>
                <a:latin typeface="Aptos Display" pitchFamily="34" charset="0"/>
                <a:ea typeface="Aptos Display" pitchFamily="34" charset="-122"/>
                <a:cs typeface="Aptos Display" pitchFamily="34" charset="-120"/>
              </a:rPr>
              <a:t>Handling private information
</a:t>
            </a:r>
            <a:pPr indent="0" marL="0">
              <a:lnSpc>
                <a:spcPct val="108000"/>
              </a:lnSpc>
              <a:buNone/>
            </a:pPr>
            <a:r>
              <a:rPr lang="en-US" sz="1450" dirty="0">
                <a:solidFill>
                  <a:srgbClr val="002050"/>
                </a:solidFill>
                <a:latin typeface="Aptos" pitchFamily="34" charset="0"/>
                <a:ea typeface="Aptos" pitchFamily="34" charset="-122"/>
                <a:cs typeface="Aptos" pitchFamily="34" charset="-120"/>
              </a:rPr>
              <a:t>Knowing where to find company data and following the correct rules for sharing sensitive or confidential details.</a:t>
            </a:r>
            <a:endParaRPr lang="en-US" sz="1800" dirty="0"/>
          </a:p>
        </p:txBody>
      </p:sp>
      <p:sp>
        <p:nvSpPr>
          <p:cNvPr id="18" name="Shape 14"/>
          <p:cNvSpPr/>
          <p:nvPr/>
        </p:nvSpPr>
        <p:spPr>
          <a:xfrm>
            <a:off x="502920" y="4626864"/>
            <a:ext cx="11183112" cy="694944"/>
          </a:xfrm>
          <a:prstGeom prst="roundRect">
            <a:avLst>
              <a:gd name="adj" fmla="val 11842"/>
            </a:avLst>
          </a:prstGeom>
          <a:solidFill>
            <a:srgbClr val="FFFFFF"/>
          </a:solidFill>
          <a:ln w="12700">
            <a:solidFill>
              <a:srgbClr val="D5E3F2"/>
            </a:solidFill>
            <a:prstDash val="solid"/>
          </a:ln>
          <a:effectLst>
            <a:outerShdw sx="100000" sy="100000" kx="0" ky="0" algn="bl" rotWithShape="0" blurRad="88900" dist="25400" dir="5400000">
              <a:srgbClr val="9AB4CC">
                <a:alpha val="30000"/>
              </a:srgbClr>
            </a:outerShdw>
          </a:effectLst>
        </p:spPr>
      </p:sp>
      <p:sp>
        <p:nvSpPr>
          <p:cNvPr id="19" name="Shape 15"/>
          <p:cNvSpPr/>
          <p:nvPr/>
        </p:nvSpPr>
        <p:spPr>
          <a:xfrm>
            <a:off x="502920" y="4626864"/>
            <a:ext cx="82296" cy="694944"/>
          </a:xfrm>
          <a:prstGeom prst="rect">
            <a:avLst/>
          </a:prstGeom>
          <a:solidFill>
            <a:srgbClr val="0F6CBD"/>
          </a:solidFill>
          <a:ln/>
        </p:spPr>
      </p:sp>
      <p:pic>
        <p:nvPicPr>
          <p:cNvPr id="20"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58952" y="4791456"/>
            <a:ext cx="365760" cy="365760"/>
          </a:xfrm>
          <a:prstGeom prst="rect">
            <a:avLst/>
          </a:prstGeom>
        </p:spPr>
      </p:pic>
      <p:sp>
        <p:nvSpPr>
          <p:cNvPr id="21" name="Text 16"/>
          <p:cNvSpPr/>
          <p:nvPr/>
        </p:nvSpPr>
        <p:spPr>
          <a:xfrm>
            <a:off x="1280160" y="4736592"/>
            <a:ext cx="10131552" cy="475488"/>
          </a:xfrm>
          <a:prstGeom prst="rect">
            <a:avLst/>
          </a:prstGeom>
          <a:noFill/>
          <a:ln/>
        </p:spPr>
        <p:txBody>
          <a:bodyPr wrap="square" rtlCol="0" anchor="ctr"/>
          <a:lstStyle/>
          <a:p>
            <a:pPr indent="0" marL="0">
              <a:lnSpc>
                <a:spcPct val="108000"/>
              </a:lnSpc>
              <a:buNone/>
            </a:pPr>
            <a:r>
              <a:rPr lang="en-US" sz="1800" b="1" dirty="0">
                <a:solidFill>
                  <a:srgbClr val="002050"/>
                </a:solidFill>
                <a:latin typeface="Aptos Display" pitchFamily="34" charset="0"/>
                <a:ea typeface="Aptos Display" pitchFamily="34" charset="-122"/>
                <a:cs typeface="Aptos Display" pitchFamily="34" charset="-120"/>
              </a:rPr>
              <a:t>Writing and meeting deadlines
</a:t>
            </a:r>
            <a:pPr indent="0" marL="0">
              <a:lnSpc>
                <a:spcPct val="108000"/>
              </a:lnSpc>
              <a:buNone/>
            </a:pPr>
            <a:r>
              <a:rPr lang="en-US" sz="1450" dirty="0">
                <a:solidFill>
                  <a:srgbClr val="002050"/>
                </a:solidFill>
                <a:latin typeface="Aptos" pitchFamily="34" charset="0"/>
                <a:ea typeface="Aptos" pitchFamily="34" charset="-122"/>
                <a:cs typeface="Aptos" pitchFamily="34" charset="-120"/>
              </a:rPr>
              <a:t>Using proper techniques to write reports so they look professional, contain the right information, and are submitted on time.</a:t>
            </a:r>
            <a:endParaRPr lang="en-US" sz="1800" dirty="0"/>
          </a:p>
        </p:txBody>
      </p:sp>
      <p:sp>
        <p:nvSpPr>
          <p:cNvPr id="22" name="Shape 17"/>
          <p:cNvSpPr/>
          <p:nvPr/>
        </p:nvSpPr>
        <p:spPr>
          <a:xfrm>
            <a:off x="502920" y="5522976"/>
            <a:ext cx="11183112" cy="694944"/>
          </a:xfrm>
          <a:prstGeom prst="roundRect">
            <a:avLst>
              <a:gd name="adj" fmla="val 11842"/>
            </a:avLst>
          </a:prstGeom>
          <a:solidFill>
            <a:srgbClr val="EAF4FF"/>
          </a:solidFill>
          <a:ln w="12700">
            <a:solidFill>
              <a:srgbClr val="D5E3F2"/>
            </a:solidFill>
            <a:prstDash val="solid"/>
          </a:ln>
          <a:effectLst>
            <a:outerShdw sx="100000" sy="100000" kx="0" ky="0" algn="bl" rotWithShape="0" blurRad="88900" dist="25400" dir="5400000">
              <a:srgbClr val="9AB4CC">
                <a:alpha val="30000"/>
              </a:srgbClr>
            </a:outerShdw>
          </a:effectLst>
        </p:spPr>
      </p:sp>
      <p:sp>
        <p:nvSpPr>
          <p:cNvPr id="23" name="Shape 18"/>
          <p:cNvSpPr/>
          <p:nvPr/>
        </p:nvSpPr>
        <p:spPr>
          <a:xfrm>
            <a:off x="502920" y="5522976"/>
            <a:ext cx="82296" cy="694944"/>
          </a:xfrm>
          <a:prstGeom prst="rect">
            <a:avLst/>
          </a:prstGeom>
          <a:solidFill>
            <a:srgbClr val="0F6CBD"/>
          </a:solidFill>
          <a:ln/>
        </p:spPr>
      </p:sp>
      <p:pic>
        <p:nvPicPr>
          <p:cNvPr id="24"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758952" y="5687568"/>
            <a:ext cx="365760" cy="365760"/>
          </a:xfrm>
          <a:prstGeom prst="rect">
            <a:avLst/>
          </a:prstGeom>
        </p:spPr>
      </p:pic>
      <p:sp>
        <p:nvSpPr>
          <p:cNvPr id="25" name="Text 19"/>
          <p:cNvSpPr/>
          <p:nvPr/>
        </p:nvSpPr>
        <p:spPr>
          <a:xfrm>
            <a:off x="1280160" y="5632704"/>
            <a:ext cx="10131552" cy="475488"/>
          </a:xfrm>
          <a:prstGeom prst="rect">
            <a:avLst/>
          </a:prstGeom>
          <a:noFill/>
          <a:ln/>
        </p:spPr>
        <p:txBody>
          <a:bodyPr wrap="square" rtlCol="0" anchor="ctr"/>
          <a:lstStyle/>
          <a:p>
            <a:pPr indent="0" marL="0">
              <a:lnSpc>
                <a:spcPct val="108000"/>
              </a:lnSpc>
              <a:buNone/>
            </a:pPr>
            <a:r>
              <a:rPr lang="en-US" sz="1800" b="1" dirty="0">
                <a:solidFill>
                  <a:srgbClr val="002050"/>
                </a:solidFill>
                <a:latin typeface="Aptos Display" pitchFamily="34" charset="0"/>
                <a:ea typeface="Aptos Display" pitchFamily="34" charset="-122"/>
                <a:cs typeface="Aptos Display" pitchFamily="34" charset="-120"/>
              </a:rPr>
              <a:t>Teamwork and fact-checking
</a:t>
            </a:r>
            <a:pPr indent="0" marL="0">
              <a:lnSpc>
                <a:spcPct val="108000"/>
              </a:lnSpc>
              <a:buNone/>
            </a:pPr>
            <a:r>
              <a:rPr lang="en-US" sz="1450" dirty="0">
                <a:solidFill>
                  <a:srgbClr val="002050"/>
                </a:solidFill>
                <a:latin typeface="Aptos" pitchFamily="34" charset="0"/>
                <a:ea typeface="Aptos" pitchFamily="34" charset="-122"/>
                <a:cs typeface="Aptos" pitchFamily="34" charset="-120"/>
              </a:rPr>
              <a:t>Checking with your colleagues to make sure your data is correct, and adding any extra notes or explanations if they are needed.</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6473952"/>
            <a:ext cx="10268712" cy="274320"/>
          </a:xfrm>
          <a:prstGeom prst="rect">
            <a:avLst/>
          </a:prstGeom>
          <a:noFill/>
          <a:ln/>
        </p:spPr>
        <p:txBody>
          <a:bodyPr wrap="square" rtlCol="0" anchor="ctr"/>
          <a:lstStyle/>
          <a:p>
            <a:pPr indent="0" marL="0">
              <a:buNone/>
            </a:pPr>
            <a:r>
              <a:rPr lang="en-US" sz="1000" dirty="0">
                <a:solidFill>
                  <a:srgbClr val="6B7280"/>
                </a:solidFill>
                <a:latin typeface="Aptos" pitchFamily="34" charset="0"/>
                <a:ea typeface="Aptos" pitchFamily="34" charset="-122"/>
                <a:cs typeface="Aptos" pitchFamily="34" charset="-120"/>
              </a:rPr>
              <a:t>Unit Standard 8252 — Writing Business Reports   ·   Investec IT Systems Support NQF 5</a:t>
            </a:r>
            <a:endParaRPr lang="en-US" sz="1000" dirty="0"/>
          </a:p>
        </p:txBody>
      </p:sp>
      <p:sp>
        <p:nvSpPr>
          <p:cNvPr id="3" name="Text 1"/>
          <p:cNvSpPr/>
          <p:nvPr/>
        </p:nvSpPr>
        <p:spPr>
          <a:xfrm>
            <a:off x="11137392" y="6473952"/>
            <a:ext cx="548640" cy="274320"/>
          </a:xfrm>
          <a:prstGeom prst="rect">
            <a:avLst/>
          </a:prstGeom>
          <a:noFill/>
          <a:ln/>
        </p:spPr>
        <p:txBody>
          <a:bodyPr wrap="square" rtlCol="0" anchor="ctr"/>
          <a:lstStyle/>
          <a:p>
            <a:pPr algn="r" indent="0" marL="0">
              <a:buNone/>
            </a:pPr>
            <a:r>
              <a:rPr lang="en-US" sz="1000" dirty="0">
                <a:solidFill>
                  <a:srgbClr val="6B7280"/>
                </a:solidFill>
                <a:latin typeface="Aptos" pitchFamily="34" charset="0"/>
                <a:ea typeface="Aptos" pitchFamily="34" charset="-122"/>
                <a:cs typeface="Aptos" pitchFamily="34" charset="-120"/>
              </a:rPr>
              <a:t>4</a:t>
            </a:r>
            <a:endParaRPr lang="en-US" sz="1000" dirty="0"/>
          </a:p>
        </p:txBody>
      </p:sp>
      <p:sp>
        <p:nvSpPr>
          <p:cNvPr id="4" name="Shape 2"/>
          <p:cNvSpPr/>
          <p:nvPr/>
        </p:nvSpPr>
        <p:spPr>
          <a:xfrm>
            <a:off x="0" y="0"/>
            <a:ext cx="12188952" cy="82296"/>
          </a:xfrm>
          <a:prstGeom prst="rect">
            <a:avLst/>
          </a:prstGeom>
          <a:solidFill>
            <a:srgbClr val="0F6CBD"/>
          </a:solidFill>
          <a:ln/>
        </p:spPr>
      </p:sp>
      <p:sp>
        <p:nvSpPr>
          <p:cNvPr id="5" name="Text 3"/>
          <p:cNvSpPr/>
          <p:nvPr/>
        </p:nvSpPr>
        <p:spPr>
          <a:xfrm>
            <a:off x="502920" y="256032"/>
            <a:ext cx="11183112" cy="347472"/>
          </a:xfrm>
          <a:prstGeom prst="rect">
            <a:avLst/>
          </a:prstGeom>
          <a:noFill/>
          <a:ln/>
        </p:spPr>
        <p:txBody>
          <a:bodyPr wrap="square" rtlCol="0" anchor="ctr"/>
          <a:lstStyle/>
          <a:p>
            <a:pPr indent="0" marL="0">
              <a:buNone/>
            </a:pPr>
            <a:r>
              <a:rPr lang="en-US" sz="1400" b="1" spc="200" kern="0" dirty="0">
                <a:solidFill>
                  <a:srgbClr val="0F6CBD"/>
                </a:solidFill>
                <a:latin typeface="Aptos" pitchFamily="34" charset="0"/>
                <a:ea typeface="Aptos" pitchFamily="34" charset="-122"/>
                <a:cs typeface="Aptos" pitchFamily="34" charset="-120"/>
              </a:rPr>
              <a:t>PURPOSE &amp; CONTENT OF REPORTS</a:t>
            </a:r>
            <a:endParaRPr lang="en-US" sz="1400" dirty="0"/>
          </a:p>
        </p:txBody>
      </p:sp>
      <p:sp>
        <p:nvSpPr>
          <p:cNvPr id="6" name="Text 4"/>
          <p:cNvSpPr/>
          <p:nvPr/>
        </p:nvSpPr>
        <p:spPr>
          <a:xfrm>
            <a:off x="502920" y="585216"/>
            <a:ext cx="11183112" cy="786384"/>
          </a:xfrm>
          <a:prstGeom prst="rect">
            <a:avLst/>
          </a:prstGeom>
          <a:noFill/>
          <a:ln/>
        </p:spPr>
        <p:txBody>
          <a:bodyPr wrap="square" rtlCol="0" anchor="ctr"/>
          <a:lstStyle/>
          <a:p>
            <a:pPr indent="0" marL="0">
              <a:buNone/>
            </a:pPr>
            <a:r>
              <a:rPr lang="en-US" sz="3400" b="1" dirty="0">
                <a:solidFill>
                  <a:srgbClr val="002050"/>
                </a:solidFill>
                <a:latin typeface="Aptos Display" pitchFamily="34" charset="0"/>
                <a:ea typeface="Aptos Display" pitchFamily="34" charset="-122"/>
                <a:cs typeface="Aptos Display" pitchFamily="34" charset="-120"/>
              </a:rPr>
              <a:t>Introduction</a:t>
            </a:r>
            <a:endParaRPr lang="en-US" sz="3400" dirty="0"/>
          </a:p>
        </p:txBody>
      </p:sp>
      <p:sp>
        <p:nvSpPr>
          <p:cNvPr id="7" name="Text 5"/>
          <p:cNvSpPr/>
          <p:nvPr/>
        </p:nvSpPr>
        <p:spPr>
          <a:xfrm>
            <a:off x="502920" y="1600200"/>
            <a:ext cx="11183112" cy="1097280"/>
          </a:xfrm>
          <a:prstGeom prst="rect">
            <a:avLst/>
          </a:prstGeom>
          <a:noFill/>
          <a:ln/>
        </p:spPr>
        <p:txBody>
          <a:bodyPr wrap="square" rtlCol="0" anchor="t"/>
          <a:lstStyle/>
          <a:p>
            <a:pPr indent="0" marL="0">
              <a:lnSpc>
                <a:spcPct val="112000"/>
              </a:lnSpc>
              <a:spcAft>
                <a:spcPts val="1200"/>
              </a:spcAft>
              <a:buNone/>
            </a:pPr>
            <a:r>
              <a:rPr lang="en-US" sz="1750" dirty="0">
                <a:solidFill>
                  <a:srgbClr val="002050"/>
                </a:solidFill>
                <a:latin typeface="Aptos" pitchFamily="34" charset="0"/>
                <a:ea typeface="Aptos" pitchFamily="34" charset="-122"/>
                <a:cs typeface="Aptos" pitchFamily="34" charset="-120"/>
              </a:rPr>
              <a:t>There are a few general rules about report writing. A report should be a formal document and should be in the past tense as far as possible, as well as avoiding the use of first or second person pronouns.</a:t>
            </a:r>
            <a:endParaRPr lang="en-US" sz="175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02920" y="2880360"/>
          <a:ext cx="11183112" cy="914400"/>
        </p:xfrm>
        <a:graphic>
          <a:graphicData uri="http://schemas.openxmlformats.org/drawingml/2006/table">
            <a:tbl>
              <a:tblPr/>
              <a:tblGrid>
                <a:gridCol w="2926080"/>
                <a:gridCol w="4389120"/>
                <a:gridCol w="3867912"/>
              </a:tblGrid>
              <a:tr h="777240">
                <a:tc>
                  <a:txBody>
                    <a:bodyPr/>
                    <a:lstStyle/>
                    <a:p>
                      <a:pPr indent="0" marL="0">
                        <a:buNone/>
                      </a:pPr>
                      <a:r>
                        <a:rPr lang="en-US" sz="1700" b="1" dirty="0">
                          <a:solidFill>
                            <a:srgbClr val="FFFFFF"/>
                          </a:solidFill>
                          <a:latin typeface="Aptos Display" pitchFamily="34" charset="0"/>
                          <a:ea typeface="Aptos Display" pitchFamily="34" charset="-122"/>
                          <a:cs typeface="Aptos Display" pitchFamily="34" charset="-120"/>
                        </a:rPr>
                        <a:t>Person</a:t>
                      </a:r>
                      <a:endParaRPr lang="en-US" sz="1700" dirty="0">
                        <a:latin typeface="Aptos Display" charset="0"/>
                        <a:ea typeface="Aptos Display" charset="0"/>
                        <a:cs typeface="Aptos Display" charset="0"/>
                      </a:endParaRPr>
                    </a:p>
                  </a:txBody>
                  <a:tcPr marL="91440" marR="91440" marT="91440" marB="91440"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0F6CBD"/>
                    </a:solidFill>
                  </a:tcPr>
                </a:tc>
                <a:tc>
                  <a:txBody>
                    <a:bodyPr/>
                    <a:lstStyle/>
                    <a:p>
                      <a:pPr indent="0" marL="0">
                        <a:buNone/>
                      </a:pPr>
                      <a:r>
                        <a:rPr lang="en-US" sz="1700" b="1" dirty="0">
                          <a:solidFill>
                            <a:srgbClr val="FFFFFF"/>
                          </a:solidFill>
                          <a:latin typeface="Aptos Display" pitchFamily="34" charset="0"/>
                          <a:ea typeface="Aptos Display" pitchFamily="34" charset="-122"/>
                          <a:cs typeface="Aptos Display" pitchFamily="34" charset="-120"/>
                        </a:rPr>
                        <a:t>Who it refers to</a:t>
                      </a:r>
                      <a:endParaRPr lang="en-US" sz="1700" dirty="0">
                        <a:latin typeface="Aptos Display" charset="0"/>
                        <a:ea typeface="Aptos Display" charset="0"/>
                        <a:cs typeface="Aptos Display" charset="0"/>
                      </a:endParaRPr>
                    </a:p>
                  </a:txBody>
                  <a:tcPr marL="91440" marR="91440" marT="91440" marB="91440"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0F6CBD"/>
                    </a:solidFill>
                  </a:tcPr>
                </a:tc>
                <a:tc>
                  <a:txBody>
                    <a:bodyPr/>
                    <a:lstStyle/>
                    <a:p>
                      <a:pPr indent="0" marL="0">
                        <a:buNone/>
                      </a:pPr>
                      <a:r>
                        <a:rPr lang="en-US" sz="1700" b="1" dirty="0">
                          <a:solidFill>
                            <a:srgbClr val="FFFFFF"/>
                          </a:solidFill>
                          <a:latin typeface="Aptos Display" pitchFamily="34" charset="0"/>
                          <a:ea typeface="Aptos Display" pitchFamily="34" charset="-122"/>
                          <a:cs typeface="Aptos Display" pitchFamily="34" charset="-120"/>
                        </a:rPr>
                        <a:t>Common Examples</a:t>
                      </a:r>
                      <a:endParaRPr lang="en-US" sz="1700" dirty="0">
                        <a:latin typeface="Aptos Display" charset="0"/>
                        <a:ea typeface="Aptos Display" charset="0"/>
                        <a:cs typeface="Aptos Display" charset="0"/>
                      </a:endParaRPr>
                    </a:p>
                  </a:txBody>
                  <a:tcPr marL="91440" marR="91440" marT="91440" marB="91440"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0F6CBD"/>
                    </a:solidFill>
                  </a:tcPr>
                </a:tc>
              </a:tr>
              <a:tr h="777240">
                <a:tc>
                  <a:txBody>
                    <a:bodyPr/>
                    <a:lstStyle/>
                    <a:p>
                      <a:pPr indent="0" marL="0">
                        <a:buNone/>
                      </a:pPr>
                      <a:r>
                        <a:rPr lang="en-US" sz="1700" dirty="0">
                          <a:solidFill>
                            <a:srgbClr val="002050"/>
                          </a:solidFill>
                          <a:latin typeface="Aptos" pitchFamily="34" charset="0"/>
                          <a:ea typeface="Aptos" pitchFamily="34" charset="-122"/>
                          <a:cs typeface="Aptos" pitchFamily="34" charset="-120"/>
                        </a:rPr>
                        <a:t>First Person</a:t>
                      </a:r>
                      <a:endParaRPr lang="en-US" sz="1700" dirty="0">
                        <a:latin typeface="Aptos" charset="0"/>
                        <a:ea typeface="Aptos" charset="0"/>
                        <a:cs typeface="Aptos" charset="0"/>
                      </a:endParaRPr>
                    </a:p>
                  </a:txBody>
                  <a:tcPr marL="91440" marR="91440" marT="91440" marB="91440"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FFFFFF"/>
                    </a:solidFill>
                  </a:tcPr>
                </a:tc>
                <a:tc>
                  <a:txBody>
                    <a:bodyPr/>
                    <a:lstStyle/>
                    <a:p>
                      <a:pPr indent="0" marL="0">
                        <a:buNone/>
                      </a:pPr>
                      <a:r>
                        <a:rPr lang="en-US" sz="1700" dirty="0">
                          <a:solidFill>
                            <a:srgbClr val="002050"/>
                          </a:solidFill>
                          <a:latin typeface="Aptos" pitchFamily="34" charset="0"/>
                          <a:ea typeface="Aptos" pitchFamily="34" charset="-122"/>
                          <a:cs typeface="Aptos" pitchFamily="34" charset="-120"/>
                        </a:rPr>
                        <a:t>The person speaking</a:t>
                      </a:r>
                      <a:endParaRPr lang="en-US" sz="1700" dirty="0">
                        <a:latin typeface="Aptos" charset="0"/>
                        <a:ea typeface="Aptos" charset="0"/>
                        <a:cs typeface="Aptos" charset="0"/>
                      </a:endParaRPr>
                    </a:p>
                  </a:txBody>
                  <a:tcPr marL="91440" marR="91440" marT="91440" marB="91440"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FFFFFF"/>
                    </a:solidFill>
                  </a:tcPr>
                </a:tc>
                <a:tc>
                  <a:txBody>
                    <a:bodyPr/>
                    <a:lstStyle/>
                    <a:p>
                      <a:pPr indent="0" marL="0">
                        <a:buNone/>
                      </a:pPr>
                      <a:r>
                        <a:rPr lang="en-US" sz="1700" dirty="0">
                          <a:solidFill>
                            <a:srgbClr val="002050"/>
                          </a:solidFill>
                          <a:latin typeface="Aptos" pitchFamily="34" charset="0"/>
                          <a:ea typeface="Aptos" pitchFamily="34" charset="-122"/>
                          <a:cs typeface="Aptos" pitchFamily="34" charset="-120"/>
                        </a:rPr>
                        <a:t>I, me, we, us, my, our</a:t>
                      </a:r>
                      <a:endParaRPr lang="en-US" sz="1700" dirty="0">
                        <a:latin typeface="Aptos" charset="0"/>
                        <a:ea typeface="Aptos" charset="0"/>
                        <a:cs typeface="Aptos" charset="0"/>
                      </a:endParaRPr>
                    </a:p>
                  </a:txBody>
                  <a:tcPr marL="91440" marR="91440" marT="91440" marB="91440"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FFFFFF"/>
                    </a:solidFill>
                  </a:tcPr>
                </a:tc>
              </a:tr>
              <a:tr h="777240">
                <a:tc>
                  <a:txBody>
                    <a:bodyPr/>
                    <a:lstStyle/>
                    <a:p>
                      <a:pPr indent="0" marL="0">
                        <a:buNone/>
                      </a:pPr>
                      <a:r>
                        <a:rPr lang="en-US" sz="1700" dirty="0">
                          <a:solidFill>
                            <a:srgbClr val="002050"/>
                          </a:solidFill>
                          <a:latin typeface="Aptos" pitchFamily="34" charset="0"/>
                          <a:ea typeface="Aptos" pitchFamily="34" charset="-122"/>
                          <a:cs typeface="Aptos" pitchFamily="34" charset="-120"/>
                        </a:rPr>
                        <a:t>Second Person</a:t>
                      </a:r>
                      <a:endParaRPr lang="en-US" sz="1700" dirty="0">
                        <a:latin typeface="Aptos" charset="0"/>
                        <a:ea typeface="Aptos" charset="0"/>
                        <a:cs typeface="Aptos" charset="0"/>
                      </a:endParaRPr>
                    </a:p>
                  </a:txBody>
                  <a:tcPr marL="91440" marR="91440" marT="91440" marB="91440"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EAF4FF"/>
                    </a:solidFill>
                  </a:tcPr>
                </a:tc>
                <a:tc>
                  <a:txBody>
                    <a:bodyPr/>
                    <a:lstStyle/>
                    <a:p>
                      <a:pPr indent="0" marL="0">
                        <a:buNone/>
                      </a:pPr>
                      <a:r>
                        <a:rPr lang="en-US" sz="1700" dirty="0">
                          <a:solidFill>
                            <a:srgbClr val="002050"/>
                          </a:solidFill>
                          <a:latin typeface="Aptos" pitchFamily="34" charset="0"/>
                          <a:ea typeface="Aptos" pitchFamily="34" charset="-122"/>
                          <a:cs typeface="Aptos" pitchFamily="34" charset="-120"/>
                        </a:rPr>
                        <a:t>The person being spoken to</a:t>
                      </a:r>
                      <a:endParaRPr lang="en-US" sz="1700" dirty="0">
                        <a:latin typeface="Aptos" charset="0"/>
                        <a:ea typeface="Aptos" charset="0"/>
                        <a:cs typeface="Aptos" charset="0"/>
                      </a:endParaRPr>
                    </a:p>
                  </a:txBody>
                  <a:tcPr marL="91440" marR="91440" marT="91440" marB="91440"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EAF4FF"/>
                    </a:solidFill>
                  </a:tcPr>
                </a:tc>
                <a:tc>
                  <a:txBody>
                    <a:bodyPr/>
                    <a:lstStyle/>
                    <a:p>
                      <a:pPr indent="0" marL="0">
                        <a:buNone/>
                      </a:pPr>
                      <a:r>
                        <a:rPr lang="en-US" sz="1700" dirty="0">
                          <a:solidFill>
                            <a:srgbClr val="002050"/>
                          </a:solidFill>
                          <a:latin typeface="Aptos" pitchFamily="34" charset="0"/>
                          <a:ea typeface="Aptos" pitchFamily="34" charset="-122"/>
                          <a:cs typeface="Aptos" pitchFamily="34" charset="-120"/>
                        </a:rPr>
                        <a:t>You, your, yours</a:t>
                      </a:r>
                      <a:endParaRPr lang="en-US" sz="1700" dirty="0">
                        <a:latin typeface="Aptos" charset="0"/>
                        <a:ea typeface="Aptos" charset="0"/>
                        <a:cs typeface="Aptos" charset="0"/>
                      </a:endParaRPr>
                    </a:p>
                  </a:txBody>
                  <a:tcPr marL="91440" marR="91440" marT="91440" marB="91440"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EAF4FF"/>
                    </a:solidFill>
                  </a:tcPr>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6473952"/>
            <a:ext cx="10268712" cy="274320"/>
          </a:xfrm>
          <a:prstGeom prst="rect">
            <a:avLst/>
          </a:prstGeom>
          <a:noFill/>
          <a:ln/>
        </p:spPr>
        <p:txBody>
          <a:bodyPr wrap="square" rtlCol="0" anchor="ctr"/>
          <a:lstStyle/>
          <a:p>
            <a:pPr indent="0" marL="0">
              <a:buNone/>
            </a:pPr>
            <a:r>
              <a:rPr lang="en-US" sz="1000" dirty="0">
                <a:solidFill>
                  <a:srgbClr val="6B7280"/>
                </a:solidFill>
                <a:latin typeface="Aptos" pitchFamily="34" charset="0"/>
                <a:ea typeface="Aptos" pitchFamily="34" charset="-122"/>
                <a:cs typeface="Aptos" pitchFamily="34" charset="-120"/>
              </a:rPr>
              <a:t>Unit Standard 8252 — Writing Business Reports   ·   Investec IT Systems Support NQF 5</a:t>
            </a:r>
            <a:endParaRPr lang="en-US" sz="1000" dirty="0"/>
          </a:p>
        </p:txBody>
      </p:sp>
      <p:sp>
        <p:nvSpPr>
          <p:cNvPr id="3" name="Text 1"/>
          <p:cNvSpPr/>
          <p:nvPr/>
        </p:nvSpPr>
        <p:spPr>
          <a:xfrm>
            <a:off x="11137392" y="6473952"/>
            <a:ext cx="548640" cy="274320"/>
          </a:xfrm>
          <a:prstGeom prst="rect">
            <a:avLst/>
          </a:prstGeom>
          <a:noFill/>
          <a:ln/>
        </p:spPr>
        <p:txBody>
          <a:bodyPr wrap="square" rtlCol="0" anchor="ctr"/>
          <a:lstStyle/>
          <a:p>
            <a:pPr algn="r" indent="0" marL="0">
              <a:buNone/>
            </a:pPr>
            <a:r>
              <a:rPr lang="en-US" sz="1000" dirty="0">
                <a:solidFill>
                  <a:srgbClr val="6B7280"/>
                </a:solidFill>
                <a:latin typeface="Aptos" pitchFamily="34" charset="0"/>
                <a:ea typeface="Aptos" pitchFamily="34" charset="-122"/>
                <a:cs typeface="Aptos" pitchFamily="34" charset="-120"/>
              </a:rPr>
              <a:t>5</a:t>
            </a:r>
            <a:endParaRPr lang="en-US" sz="1000" dirty="0"/>
          </a:p>
        </p:txBody>
      </p:sp>
      <p:sp>
        <p:nvSpPr>
          <p:cNvPr id="4" name="Shape 2"/>
          <p:cNvSpPr/>
          <p:nvPr/>
        </p:nvSpPr>
        <p:spPr>
          <a:xfrm>
            <a:off x="0" y="0"/>
            <a:ext cx="12188952" cy="82296"/>
          </a:xfrm>
          <a:prstGeom prst="rect">
            <a:avLst/>
          </a:prstGeom>
          <a:solidFill>
            <a:srgbClr val="0F6CBD"/>
          </a:solidFill>
          <a:ln/>
        </p:spPr>
      </p:sp>
      <p:sp>
        <p:nvSpPr>
          <p:cNvPr id="5" name="Text 3"/>
          <p:cNvSpPr/>
          <p:nvPr/>
        </p:nvSpPr>
        <p:spPr>
          <a:xfrm>
            <a:off x="502920" y="256032"/>
            <a:ext cx="11183112" cy="347472"/>
          </a:xfrm>
          <a:prstGeom prst="rect">
            <a:avLst/>
          </a:prstGeom>
          <a:noFill/>
          <a:ln/>
        </p:spPr>
        <p:txBody>
          <a:bodyPr wrap="square" rtlCol="0" anchor="ctr"/>
          <a:lstStyle/>
          <a:p>
            <a:pPr indent="0" marL="0">
              <a:buNone/>
            </a:pPr>
            <a:r>
              <a:rPr lang="en-US" sz="1400" b="1" spc="200" kern="0" dirty="0">
                <a:solidFill>
                  <a:srgbClr val="0F6CBD"/>
                </a:solidFill>
                <a:latin typeface="Aptos" pitchFamily="34" charset="0"/>
                <a:ea typeface="Aptos" pitchFamily="34" charset="-122"/>
                <a:cs typeface="Aptos" pitchFamily="34" charset="-120"/>
              </a:rPr>
              <a:t>PURPOSE &amp; CONTENT OF REPORTS</a:t>
            </a:r>
            <a:endParaRPr lang="en-US" sz="1400" dirty="0"/>
          </a:p>
        </p:txBody>
      </p:sp>
      <p:sp>
        <p:nvSpPr>
          <p:cNvPr id="6" name="Text 4"/>
          <p:cNvSpPr/>
          <p:nvPr/>
        </p:nvSpPr>
        <p:spPr>
          <a:xfrm>
            <a:off x="502920" y="585216"/>
            <a:ext cx="11183112" cy="786384"/>
          </a:xfrm>
          <a:prstGeom prst="rect">
            <a:avLst/>
          </a:prstGeom>
          <a:noFill/>
          <a:ln/>
        </p:spPr>
        <p:txBody>
          <a:bodyPr wrap="square" rtlCol="0" anchor="ctr"/>
          <a:lstStyle/>
          <a:p>
            <a:pPr indent="0" marL="0">
              <a:buNone/>
            </a:pPr>
            <a:r>
              <a:rPr lang="en-US" sz="3400" b="1" dirty="0">
                <a:solidFill>
                  <a:srgbClr val="002050"/>
                </a:solidFill>
                <a:latin typeface="Aptos Display" pitchFamily="34" charset="0"/>
                <a:ea typeface="Aptos Display" pitchFamily="34" charset="-122"/>
                <a:cs typeface="Aptos Display" pitchFamily="34" charset="-120"/>
              </a:rPr>
              <a:t>Write Without “You” — Passive Voice</a:t>
            </a:r>
            <a:endParaRPr lang="en-US" sz="3400" dirty="0"/>
          </a:p>
        </p:txBody>
      </p:sp>
      <p:sp>
        <p:nvSpPr>
          <p:cNvPr id="7" name="Shape 5"/>
          <p:cNvSpPr/>
          <p:nvPr/>
        </p:nvSpPr>
        <p:spPr>
          <a:xfrm>
            <a:off x="502920" y="1554480"/>
            <a:ext cx="11183112" cy="1234440"/>
          </a:xfrm>
          <a:prstGeom prst="roundRect">
            <a:avLst>
              <a:gd name="adj" fmla="val 6667"/>
            </a:avLst>
          </a:prstGeom>
          <a:solidFill>
            <a:srgbClr val="EAF4FF"/>
          </a:solidFill>
          <a:ln w="12700">
            <a:solidFill>
              <a:srgbClr val="D5E3F2"/>
            </a:solidFill>
            <a:prstDash val="solid"/>
          </a:ln>
          <a:effectLst>
            <a:outerShdw sx="100000" sy="100000" kx="0" ky="0" algn="bl" rotWithShape="0" blurRad="88900" dist="25400" dir="5400000">
              <a:srgbClr val="9AB4CC">
                <a:alpha val="30000"/>
              </a:srgbClr>
            </a:outerShdw>
          </a:effectLst>
        </p:spPr>
      </p:sp>
      <p:pic>
        <p:nvPicPr>
          <p:cNvPr id="8"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31520" y="1737360"/>
            <a:ext cx="365760" cy="365760"/>
          </a:xfrm>
          <a:prstGeom prst="rect">
            <a:avLst/>
          </a:prstGeom>
        </p:spPr>
      </p:pic>
      <p:sp>
        <p:nvSpPr>
          <p:cNvPr id="9" name="Text 6"/>
          <p:cNvSpPr/>
          <p:nvPr/>
        </p:nvSpPr>
        <p:spPr>
          <a:xfrm>
            <a:off x="1280160" y="1664208"/>
            <a:ext cx="10131552" cy="1024128"/>
          </a:xfrm>
          <a:prstGeom prst="rect">
            <a:avLst/>
          </a:prstGeom>
          <a:noFill/>
          <a:ln/>
        </p:spPr>
        <p:txBody>
          <a:bodyPr wrap="square" rtlCol="0" anchor="ctr"/>
          <a:lstStyle/>
          <a:p>
            <a:pPr indent="0" marL="0">
              <a:lnSpc>
                <a:spcPct val="106000"/>
              </a:lnSpc>
              <a:buNone/>
            </a:pPr>
            <a:r>
              <a:rPr lang="en-US" sz="1250" b="1" spc="150" kern="0" dirty="0">
                <a:solidFill>
                  <a:srgbClr val="0F6CBD"/>
                </a:solidFill>
                <a:latin typeface="Aptos" pitchFamily="34" charset="0"/>
                <a:ea typeface="Aptos" pitchFamily="34" charset="-122"/>
                <a:cs typeface="Aptos" pitchFamily="34" charset="-120"/>
              </a:rPr>
              <a:t>IT EXAMPLE
</a:t>
            </a:r>
            <a:pPr indent="0" marL="0">
              <a:lnSpc>
                <a:spcPct val="106000"/>
              </a:lnSpc>
              <a:buNone/>
            </a:pPr>
            <a:r>
              <a:rPr lang="en-US" sz="1450" dirty="0">
                <a:solidFill>
                  <a:srgbClr val="002050"/>
                </a:solidFill>
                <a:latin typeface="Aptos" pitchFamily="34" charset="0"/>
                <a:ea typeface="Aptos" pitchFamily="34" charset="-122"/>
                <a:cs typeface="Aptos" pitchFamily="34" charset="-120"/>
              </a:rPr>
              <a:t>“You need to reset your password before accessing the system.” — in professional IT documentation, system messages and banking support environments like Investec, the correct way to write this is to use passive voice or imperative (action-based) phrasing. This removes the word “You”, making the instructions sound objective, professional, and less accusatory.</a:t>
            </a:r>
            <a:endParaRPr lang="en-US" sz="1250" dirty="0"/>
          </a:p>
        </p:txBody>
      </p:sp>
      <p:sp>
        <p:nvSpPr>
          <p:cNvPr id="10" name="Text 7"/>
          <p:cNvSpPr/>
          <p:nvPr/>
        </p:nvSpPr>
        <p:spPr>
          <a:xfrm>
            <a:off x="502920" y="2971800"/>
            <a:ext cx="11183112" cy="1005840"/>
          </a:xfrm>
          <a:prstGeom prst="rect">
            <a:avLst/>
          </a:prstGeom>
          <a:noFill/>
          <a:ln/>
        </p:spPr>
        <p:txBody>
          <a:bodyPr wrap="square" rtlCol="0" anchor="t"/>
          <a:lstStyle/>
          <a:p>
            <a:pPr indent="0" marL="0">
              <a:lnSpc>
                <a:spcPct val="112000"/>
              </a:lnSpc>
              <a:spcAft>
                <a:spcPts val="1200"/>
              </a:spcAft>
              <a:buNone/>
            </a:pPr>
            <a:r>
              <a:rPr lang="en-US" sz="1550" dirty="0">
                <a:solidFill>
                  <a:srgbClr val="002050"/>
                </a:solidFill>
                <a:latin typeface="Aptos" pitchFamily="34" charset="0"/>
                <a:ea typeface="Aptos" pitchFamily="34" charset="-122"/>
                <a:cs typeface="Aptos" pitchFamily="34" charset="-120"/>
              </a:rPr>
              <a:t>Passive voice is a way of writing a sentence where the focus is placed on the action or the object receiving the action, rather than the person or thing doing it. In IT and business writing, it is used to make statements sound neutral, objective, and professional.</a:t>
            </a:r>
            <a:endParaRPr lang="en-US" sz="1550" dirty="0"/>
          </a:p>
        </p:txBody>
      </p:sp>
      <p:pic>
        <p:nvPicPr>
          <p:cNvPr id="11"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48640" y="4069080"/>
            <a:ext cx="347472" cy="347472"/>
          </a:xfrm>
          <a:prstGeom prst="rect">
            <a:avLst/>
          </a:prstGeom>
        </p:spPr>
      </p:pic>
      <p:sp>
        <p:nvSpPr>
          <p:cNvPr id="12" name="Text 8"/>
          <p:cNvSpPr/>
          <p:nvPr/>
        </p:nvSpPr>
        <p:spPr>
          <a:xfrm>
            <a:off x="1005840" y="4023360"/>
            <a:ext cx="11183112" cy="411480"/>
          </a:xfrm>
          <a:prstGeom prst="rect">
            <a:avLst/>
          </a:prstGeom>
          <a:noFill/>
          <a:ln/>
        </p:spPr>
        <p:txBody>
          <a:bodyPr wrap="square" rtlCol="0" anchor="ctr"/>
          <a:lstStyle/>
          <a:p>
            <a:pPr indent="0" marL="0">
              <a:buNone/>
            </a:pPr>
            <a:r>
              <a:rPr lang="en-US" sz="2000" b="1" dirty="0">
                <a:solidFill>
                  <a:srgbClr val="002050"/>
                </a:solidFill>
                <a:latin typeface="Aptos Display" pitchFamily="34" charset="0"/>
                <a:ea typeface="Aptos Display" pitchFamily="34" charset="-122"/>
                <a:cs typeface="Aptos Display" pitchFamily="34" charset="-120"/>
              </a:rPr>
              <a:t>The Core Difference</a:t>
            </a:r>
            <a:endParaRPr lang="en-US" sz="2000" dirty="0"/>
          </a:p>
        </p:txBody>
      </p:sp>
      <p:sp>
        <p:nvSpPr>
          <p:cNvPr id="13" name="Shape 9"/>
          <p:cNvSpPr/>
          <p:nvPr/>
        </p:nvSpPr>
        <p:spPr>
          <a:xfrm>
            <a:off x="502920" y="4526280"/>
            <a:ext cx="5454396" cy="1554480"/>
          </a:xfrm>
          <a:prstGeom prst="roundRect">
            <a:avLst>
              <a:gd name="adj" fmla="val 5294"/>
            </a:avLst>
          </a:prstGeom>
          <a:solidFill>
            <a:srgbClr val="FFFFFF"/>
          </a:solidFill>
          <a:ln w="12700">
            <a:solidFill>
              <a:srgbClr val="D5E3F2"/>
            </a:solidFill>
            <a:prstDash val="solid"/>
          </a:ln>
          <a:effectLst>
            <a:outerShdw sx="100000" sy="100000" kx="0" ky="0" algn="bl" rotWithShape="0" blurRad="88900" dist="25400" dir="5400000">
              <a:srgbClr val="9AB4CC">
                <a:alpha val="30000"/>
              </a:srgbClr>
            </a:outerShdw>
          </a:effectLst>
        </p:spPr>
      </p:sp>
      <p:sp>
        <p:nvSpPr>
          <p:cNvPr id="14" name="Text 10"/>
          <p:cNvSpPr/>
          <p:nvPr/>
        </p:nvSpPr>
        <p:spPr>
          <a:xfrm>
            <a:off x="731520" y="4663440"/>
            <a:ext cx="4997196" cy="1280160"/>
          </a:xfrm>
          <a:prstGeom prst="rect">
            <a:avLst/>
          </a:prstGeom>
          <a:noFill/>
          <a:ln/>
        </p:spPr>
        <p:txBody>
          <a:bodyPr wrap="square" rtlCol="0" anchor="ctr"/>
          <a:lstStyle/>
          <a:p>
            <a:pPr indent="0" marL="0">
              <a:lnSpc>
                <a:spcPct val="112000"/>
              </a:lnSpc>
              <a:buNone/>
            </a:pPr>
            <a:r>
              <a:rPr lang="en-US" sz="1550" b="1" dirty="0">
                <a:solidFill>
                  <a:srgbClr val="002050"/>
                </a:solidFill>
                <a:latin typeface="Aptos" pitchFamily="34" charset="0"/>
                <a:ea typeface="Aptos" pitchFamily="34" charset="-122"/>
                <a:cs typeface="Aptos" pitchFamily="34" charset="-120"/>
              </a:rPr>
              <a:t>Active Voice:  </a:t>
            </a:r>
            <a:pPr indent="0" marL="0">
              <a:lnSpc>
                <a:spcPct val="112000"/>
              </a:lnSpc>
              <a:buNone/>
            </a:pPr>
            <a:r>
              <a:rPr lang="en-US" sz="1550" dirty="0">
                <a:solidFill>
                  <a:srgbClr val="002050"/>
                </a:solidFill>
                <a:latin typeface="Aptos" pitchFamily="34" charset="0"/>
                <a:ea typeface="Aptos" pitchFamily="34" charset="-122"/>
                <a:cs typeface="Aptos" pitchFamily="34" charset="-120"/>
              </a:rPr>
              <a:t>The subject does the action. (Focus is on who did it).
</a:t>
            </a:r>
            <a:pPr indent="0" marL="0">
              <a:lnSpc>
                <a:spcPct val="112000"/>
              </a:lnSpc>
              <a:buNone/>
            </a:pPr>
            <a:r>
              <a:rPr lang="en-US" sz="1550" i="1" dirty="0">
                <a:solidFill>
                  <a:srgbClr val="6B7280"/>
                </a:solidFill>
                <a:latin typeface="Aptos" pitchFamily="34" charset="0"/>
                <a:ea typeface="Aptos" pitchFamily="34" charset="-122"/>
                <a:cs typeface="Aptos" pitchFamily="34" charset="-120"/>
              </a:rPr>
              <a:t>“John updated the database.”</a:t>
            </a:r>
            <a:endParaRPr lang="en-US" sz="1550" dirty="0"/>
          </a:p>
        </p:txBody>
      </p:sp>
      <p:sp>
        <p:nvSpPr>
          <p:cNvPr id="15" name="Shape 11"/>
          <p:cNvSpPr/>
          <p:nvPr/>
        </p:nvSpPr>
        <p:spPr>
          <a:xfrm>
            <a:off x="6231636" y="4526280"/>
            <a:ext cx="5454396" cy="1554480"/>
          </a:xfrm>
          <a:prstGeom prst="roundRect">
            <a:avLst>
              <a:gd name="adj" fmla="val 5294"/>
            </a:avLst>
          </a:prstGeom>
          <a:solidFill>
            <a:srgbClr val="EAF4FF"/>
          </a:solidFill>
          <a:ln w="12700">
            <a:solidFill>
              <a:srgbClr val="D5E3F2"/>
            </a:solidFill>
            <a:prstDash val="solid"/>
          </a:ln>
          <a:effectLst>
            <a:outerShdw sx="100000" sy="100000" kx="0" ky="0" algn="bl" rotWithShape="0" blurRad="88900" dist="25400" dir="5400000">
              <a:srgbClr val="9AB4CC">
                <a:alpha val="30000"/>
              </a:srgbClr>
            </a:outerShdw>
          </a:effectLst>
        </p:spPr>
      </p:sp>
      <p:sp>
        <p:nvSpPr>
          <p:cNvPr id="16" name="Text 12"/>
          <p:cNvSpPr/>
          <p:nvPr/>
        </p:nvSpPr>
        <p:spPr>
          <a:xfrm>
            <a:off x="6460236" y="4663440"/>
            <a:ext cx="4997196" cy="1280160"/>
          </a:xfrm>
          <a:prstGeom prst="rect">
            <a:avLst/>
          </a:prstGeom>
          <a:noFill/>
          <a:ln/>
        </p:spPr>
        <p:txBody>
          <a:bodyPr wrap="square" rtlCol="0" anchor="ctr"/>
          <a:lstStyle/>
          <a:p>
            <a:pPr indent="0" marL="0">
              <a:lnSpc>
                <a:spcPct val="112000"/>
              </a:lnSpc>
              <a:buNone/>
            </a:pPr>
            <a:r>
              <a:rPr lang="en-US" sz="1550" b="1" dirty="0">
                <a:solidFill>
                  <a:srgbClr val="0F6CBD"/>
                </a:solidFill>
                <a:latin typeface="Aptos" pitchFamily="34" charset="0"/>
                <a:ea typeface="Aptos" pitchFamily="34" charset="-122"/>
                <a:cs typeface="Aptos" pitchFamily="34" charset="-120"/>
              </a:rPr>
              <a:t>Passive Voice:  </a:t>
            </a:r>
            <a:pPr indent="0" marL="0">
              <a:lnSpc>
                <a:spcPct val="112000"/>
              </a:lnSpc>
              <a:buNone/>
            </a:pPr>
            <a:r>
              <a:rPr lang="en-US" sz="1550" dirty="0">
                <a:solidFill>
                  <a:srgbClr val="002050"/>
                </a:solidFill>
                <a:latin typeface="Aptos" pitchFamily="34" charset="0"/>
                <a:ea typeface="Aptos" pitchFamily="34" charset="-122"/>
                <a:cs typeface="Aptos" pitchFamily="34" charset="-120"/>
              </a:rPr>
              <a:t>The subject receives the action. (Focus is on what happened).
</a:t>
            </a:r>
            <a:pPr indent="0" marL="0">
              <a:lnSpc>
                <a:spcPct val="112000"/>
              </a:lnSpc>
              <a:buNone/>
            </a:pPr>
            <a:r>
              <a:rPr lang="en-US" sz="1550" i="1" dirty="0">
                <a:solidFill>
                  <a:srgbClr val="6B7280"/>
                </a:solidFill>
                <a:latin typeface="Aptos" pitchFamily="34" charset="0"/>
                <a:ea typeface="Aptos" pitchFamily="34" charset="-122"/>
                <a:cs typeface="Aptos" pitchFamily="34" charset="-120"/>
              </a:rPr>
              <a:t>“The database was updated.”</a:t>
            </a:r>
            <a:endParaRPr lang="en-US" sz="15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6473952"/>
            <a:ext cx="10268712" cy="274320"/>
          </a:xfrm>
          <a:prstGeom prst="rect">
            <a:avLst/>
          </a:prstGeom>
          <a:noFill/>
          <a:ln/>
        </p:spPr>
        <p:txBody>
          <a:bodyPr wrap="square" rtlCol="0" anchor="ctr"/>
          <a:lstStyle/>
          <a:p>
            <a:pPr indent="0" marL="0">
              <a:buNone/>
            </a:pPr>
            <a:r>
              <a:rPr lang="en-US" sz="1000" dirty="0">
                <a:solidFill>
                  <a:srgbClr val="6B7280"/>
                </a:solidFill>
                <a:latin typeface="Aptos" pitchFamily="34" charset="0"/>
                <a:ea typeface="Aptos" pitchFamily="34" charset="-122"/>
                <a:cs typeface="Aptos" pitchFamily="34" charset="-120"/>
              </a:rPr>
              <a:t>Unit Standard 8252 — Writing Business Reports   ·   Investec IT Systems Support NQF 5</a:t>
            </a:r>
            <a:endParaRPr lang="en-US" sz="1000" dirty="0"/>
          </a:p>
        </p:txBody>
      </p:sp>
      <p:sp>
        <p:nvSpPr>
          <p:cNvPr id="3" name="Text 1"/>
          <p:cNvSpPr/>
          <p:nvPr/>
        </p:nvSpPr>
        <p:spPr>
          <a:xfrm>
            <a:off x="11137392" y="6473952"/>
            <a:ext cx="548640" cy="274320"/>
          </a:xfrm>
          <a:prstGeom prst="rect">
            <a:avLst/>
          </a:prstGeom>
          <a:noFill/>
          <a:ln/>
        </p:spPr>
        <p:txBody>
          <a:bodyPr wrap="square" rtlCol="0" anchor="ctr"/>
          <a:lstStyle/>
          <a:p>
            <a:pPr algn="r" indent="0" marL="0">
              <a:buNone/>
            </a:pPr>
            <a:r>
              <a:rPr lang="en-US" sz="1000" dirty="0">
                <a:solidFill>
                  <a:srgbClr val="6B7280"/>
                </a:solidFill>
                <a:latin typeface="Aptos" pitchFamily="34" charset="0"/>
                <a:ea typeface="Aptos" pitchFamily="34" charset="-122"/>
                <a:cs typeface="Aptos" pitchFamily="34" charset="-120"/>
              </a:rPr>
              <a:t>6</a:t>
            </a:r>
            <a:endParaRPr lang="en-US" sz="1000" dirty="0"/>
          </a:p>
        </p:txBody>
      </p:sp>
      <p:sp>
        <p:nvSpPr>
          <p:cNvPr id="4" name="Shape 2"/>
          <p:cNvSpPr/>
          <p:nvPr/>
        </p:nvSpPr>
        <p:spPr>
          <a:xfrm>
            <a:off x="0" y="0"/>
            <a:ext cx="12188952" cy="82296"/>
          </a:xfrm>
          <a:prstGeom prst="rect">
            <a:avLst/>
          </a:prstGeom>
          <a:solidFill>
            <a:srgbClr val="0F6CBD"/>
          </a:solidFill>
          <a:ln/>
        </p:spPr>
      </p:sp>
      <p:sp>
        <p:nvSpPr>
          <p:cNvPr id="5" name="Text 3"/>
          <p:cNvSpPr/>
          <p:nvPr/>
        </p:nvSpPr>
        <p:spPr>
          <a:xfrm>
            <a:off x="502920" y="256032"/>
            <a:ext cx="11183112" cy="347472"/>
          </a:xfrm>
          <a:prstGeom prst="rect">
            <a:avLst/>
          </a:prstGeom>
          <a:noFill/>
          <a:ln/>
        </p:spPr>
        <p:txBody>
          <a:bodyPr wrap="square" rtlCol="0" anchor="ctr"/>
          <a:lstStyle/>
          <a:p>
            <a:pPr indent="0" marL="0">
              <a:buNone/>
            </a:pPr>
            <a:r>
              <a:rPr lang="en-US" sz="1400" b="1" spc="200" kern="0" dirty="0">
                <a:solidFill>
                  <a:srgbClr val="0F6CBD"/>
                </a:solidFill>
                <a:latin typeface="Aptos" pitchFamily="34" charset="0"/>
                <a:ea typeface="Aptos" pitchFamily="34" charset="-122"/>
                <a:cs typeface="Aptos" pitchFamily="34" charset="-120"/>
              </a:rPr>
              <a:t>PURPOSE &amp; CONTENT OF REPORTS</a:t>
            </a:r>
            <a:endParaRPr lang="en-US" sz="1400" dirty="0"/>
          </a:p>
        </p:txBody>
      </p:sp>
      <p:sp>
        <p:nvSpPr>
          <p:cNvPr id="6" name="Text 4"/>
          <p:cNvSpPr/>
          <p:nvPr/>
        </p:nvSpPr>
        <p:spPr>
          <a:xfrm>
            <a:off x="502920" y="585216"/>
            <a:ext cx="11183112" cy="786384"/>
          </a:xfrm>
          <a:prstGeom prst="rect">
            <a:avLst/>
          </a:prstGeom>
          <a:noFill/>
          <a:ln/>
        </p:spPr>
        <p:txBody>
          <a:bodyPr wrap="square" rtlCol="0" anchor="ctr"/>
          <a:lstStyle/>
          <a:p>
            <a:pPr indent="0" marL="0">
              <a:buNone/>
            </a:pPr>
            <a:r>
              <a:rPr lang="en-US" sz="3400" b="1" dirty="0">
                <a:solidFill>
                  <a:srgbClr val="002050"/>
                </a:solidFill>
                <a:latin typeface="Aptos Display" pitchFamily="34" charset="0"/>
                <a:ea typeface="Aptos Display" pitchFamily="34" charset="-122"/>
                <a:cs typeface="Aptos Display" pitchFamily="34" charset="-120"/>
              </a:rPr>
              <a:t>Imperative-Based Phrasing</a:t>
            </a:r>
            <a:endParaRPr lang="en-US" sz="3400" dirty="0"/>
          </a:p>
        </p:txBody>
      </p:sp>
      <p:sp>
        <p:nvSpPr>
          <p:cNvPr id="7" name="Text 5"/>
          <p:cNvSpPr/>
          <p:nvPr/>
        </p:nvSpPr>
        <p:spPr>
          <a:xfrm>
            <a:off x="502920" y="1600200"/>
            <a:ext cx="11183112" cy="1737360"/>
          </a:xfrm>
          <a:prstGeom prst="rect">
            <a:avLst/>
          </a:prstGeom>
          <a:noFill/>
          <a:ln/>
        </p:spPr>
        <p:txBody>
          <a:bodyPr wrap="square" rtlCol="0" anchor="t"/>
          <a:lstStyle/>
          <a:p>
            <a:pPr indent="0" marL="0">
              <a:lnSpc>
                <a:spcPct val="112000"/>
              </a:lnSpc>
              <a:spcAft>
                <a:spcPts val="1200"/>
              </a:spcAft>
              <a:buNone/>
            </a:pPr>
            <a:r>
              <a:rPr lang="en-US" sz="1650" dirty="0">
                <a:solidFill>
                  <a:srgbClr val="002050"/>
                </a:solidFill>
                <a:latin typeface="Aptos" pitchFamily="34" charset="0"/>
                <a:ea typeface="Aptos" pitchFamily="34" charset="-122"/>
                <a:cs typeface="Aptos" pitchFamily="34" charset="-120"/>
              </a:rPr>
              <a:t>Imperative-based phrasing is a style of writing that gives a direct command or instruction.
</a:t>
            </a:r>
            <a:endParaRPr lang="en-US" sz="1650" dirty="0"/>
          </a:p>
          <a:p>
            <a:pPr indent="0" marL="0">
              <a:lnSpc>
                <a:spcPct val="112000"/>
              </a:lnSpc>
              <a:spcAft>
                <a:spcPts val="1200"/>
              </a:spcAft>
              <a:buNone/>
            </a:pPr>
            <a:r>
              <a:rPr lang="en-US" sz="1650" dirty="0">
                <a:solidFill>
                  <a:srgbClr val="002050"/>
                </a:solidFill>
                <a:latin typeface="Aptos" pitchFamily="34" charset="0"/>
                <a:ea typeface="Aptos" pitchFamily="34" charset="-122"/>
                <a:cs typeface="Aptos" pitchFamily="34" charset="-120"/>
              </a:rPr>
              <a:t>It removes unnecessary fluff and personal pronouns (like “you”), starting the sentence with a strong action verb instead. In IT and software systems, it is the primary way to write clear, actionable documentation, error resolutions, and user interface buttons.</a:t>
            </a:r>
            <a:endParaRPr lang="en-US" sz="1650" dirty="0"/>
          </a:p>
        </p:txBody>
      </p:sp>
      <p:pic>
        <p:nvPicPr>
          <p:cNvPr id="8"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548640" y="3383280"/>
            <a:ext cx="347472" cy="347472"/>
          </a:xfrm>
          <a:prstGeom prst="rect">
            <a:avLst/>
          </a:prstGeom>
        </p:spPr>
      </p:pic>
      <p:sp>
        <p:nvSpPr>
          <p:cNvPr id="9" name="Text 6"/>
          <p:cNvSpPr/>
          <p:nvPr/>
        </p:nvSpPr>
        <p:spPr>
          <a:xfrm>
            <a:off x="1005840" y="3337560"/>
            <a:ext cx="11183112" cy="411480"/>
          </a:xfrm>
          <a:prstGeom prst="rect">
            <a:avLst/>
          </a:prstGeom>
          <a:noFill/>
          <a:ln/>
        </p:spPr>
        <p:txBody>
          <a:bodyPr wrap="square" rtlCol="0" anchor="ctr"/>
          <a:lstStyle/>
          <a:p>
            <a:pPr indent="0" marL="0">
              <a:buNone/>
            </a:pPr>
            <a:r>
              <a:rPr lang="en-US" sz="2000" b="1" dirty="0">
                <a:solidFill>
                  <a:srgbClr val="002050"/>
                </a:solidFill>
                <a:latin typeface="Aptos Display" pitchFamily="34" charset="0"/>
                <a:ea typeface="Aptos Display" pitchFamily="34" charset="-122"/>
                <a:cs typeface="Aptos Display" pitchFamily="34" charset="-120"/>
              </a:rPr>
              <a:t>The Core Formula</a:t>
            </a:r>
            <a:endParaRPr lang="en-US" sz="2000" dirty="0"/>
          </a:p>
        </p:txBody>
      </p:sp>
      <p:sp>
        <p:nvSpPr>
          <p:cNvPr id="10" name="Text 7"/>
          <p:cNvSpPr/>
          <p:nvPr/>
        </p:nvSpPr>
        <p:spPr>
          <a:xfrm>
            <a:off x="502920" y="3794760"/>
            <a:ext cx="11183112" cy="411480"/>
          </a:xfrm>
          <a:prstGeom prst="rect">
            <a:avLst/>
          </a:prstGeom>
          <a:noFill/>
          <a:ln/>
        </p:spPr>
        <p:txBody>
          <a:bodyPr wrap="square" rtlCol="0" anchor="ctr"/>
          <a:lstStyle/>
          <a:p>
            <a:pPr indent="0" marL="0">
              <a:buNone/>
            </a:pPr>
            <a:r>
              <a:rPr lang="en-US" sz="1550" dirty="0">
                <a:solidFill>
                  <a:srgbClr val="002050"/>
                </a:solidFill>
                <a:latin typeface="Aptos" pitchFamily="34" charset="0"/>
                <a:ea typeface="Aptos" pitchFamily="34" charset="-122"/>
                <a:cs typeface="Aptos" pitchFamily="34" charset="-120"/>
              </a:rPr>
              <a:t>Instead of explaining a situation or telling someone what they need to do, you tell them exactly what action to execute.</a:t>
            </a:r>
            <a:endParaRPr lang="en-US" sz="1550" dirty="0"/>
          </a:p>
        </p:txBody>
      </p:sp>
      <p:sp>
        <p:nvSpPr>
          <p:cNvPr id="11" name="Shape 8"/>
          <p:cNvSpPr/>
          <p:nvPr/>
        </p:nvSpPr>
        <p:spPr>
          <a:xfrm>
            <a:off x="502920" y="4343400"/>
            <a:ext cx="5454396" cy="1600200"/>
          </a:xfrm>
          <a:prstGeom prst="roundRect">
            <a:avLst>
              <a:gd name="adj" fmla="val 5143"/>
            </a:avLst>
          </a:prstGeom>
          <a:solidFill>
            <a:srgbClr val="F4F5F7"/>
          </a:solidFill>
          <a:ln w="12700">
            <a:solidFill>
              <a:srgbClr val="DADDE2"/>
            </a:solidFill>
            <a:prstDash val="solid"/>
          </a:ln>
          <a:effectLst>
            <a:outerShdw sx="100000" sy="100000" kx="0" ky="0" algn="bl" rotWithShape="0" blurRad="88900" dist="25400" dir="5400000">
              <a:srgbClr val="9AB4CC">
                <a:alpha val="30000"/>
              </a:srgbClr>
            </a:outerShdw>
          </a:effectLst>
        </p:spPr>
      </p:sp>
      <p:pic>
        <p:nvPicPr>
          <p:cNvPr id="12"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31520" y="4507992"/>
            <a:ext cx="292608" cy="292608"/>
          </a:xfrm>
          <a:prstGeom prst="rect">
            <a:avLst/>
          </a:prstGeom>
        </p:spPr>
      </p:pic>
      <p:sp>
        <p:nvSpPr>
          <p:cNvPr id="13" name="Text 9"/>
          <p:cNvSpPr/>
          <p:nvPr/>
        </p:nvSpPr>
        <p:spPr>
          <a:xfrm>
            <a:off x="731520" y="4846320"/>
            <a:ext cx="4997196" cy="1005840"/>
          </a:xfrm>
          <a:prstGeom prst="rect">
            <a:avLst/>
          </a:prstGeom>
          <a:noFill/>
          <a:ln/>
        </p:spPr>
        <p:txBody>
          <a:bodyPr wrap="square" rtlCol="0" anchor="t"/>
          <a:lstStyle/>
          <a:p>
            <a:pPr indent="0" marL="0">
              <a:lnSpc>
                <a:spcPct val="110000"/>
              </a:lnSpc>
              <a:buNone/>
            </a:pPr>
            <a:r>
              <a:rPr lang="en-US" sz="1200" b="1" spc="150" kern="0" dirty="0">
                <a:solidFill>
                  <a:srgbClr val="6B7280"/>
                </a:solidFill>
                <a:latin typeface="Aptos" pitchFamily="34" charset="0"/>
                <a:ea typeface="Aptos" pitchFamily="34" charset="-122"/>
                <a:cs typeface="Aptos" pitchFamily="34" charset="-120"/>
              </a:rPr>
              <a:t>WORDY / EXPLANATORY
</a:t>
            </a:r>
            <a:pPr indent="0" marL="0">
              <a:lnSpc>
                <a:spcPct val="110000"/>
              </a:lnSpc>
              <a:buNone/>
            </a:pPr>
            <a:r>
              <a:rPr lang="en-US" sz="1600" i="1" dirty="0">
                <a:solidFill>
                  <a:srgbClr val="002050"/>
                </a:solidFill>
                <a:latin typeface="Aptos" pitchFamily="34" charset="0"/>
                <a:ea typeface="Aptos" pitchFamily="34" charset="-122"/>
                <a:cs typeface="Aptos" pitchFamily="34" charset="-120"/>
              </a:rPr>
              <a:t>“You will need to click on the save button to keep your data.”</a:t>
            </a:r>
            <a:endParaRPr lang="en-US" sz="1200" dirty="0"/>
          </a:p>
        </p:txBody>
      </p:sp>
      <p:sp>
        <p:nvSpPr>
          <p:cNvPr id="14" name="Shape 10"/>
          <p:cNvSpPr/>
          <p:nvPr/>
        </p:nvSpPr>
        <p:spPr>
          <a:xfrm>
            <a:off x="6231636" y="4343400"/>
            <a:ext cx="5454396" cy="1600200"/>
          </a:xfrm>
          <a:prstGeom prst="roundRect">
            <a:avLst>
              <a:gd name="adj" fmla="val 5143"/>
            </a:avLst>
          </a:prstGeom>
          <a:solidFill>
            <a:srgbClr val="EAF4FF"/>
          </a:solidFill>
          <a:ln w="12700">
            <a:solidFill>
              <a:srgbClr val="D5E3F2"/>
            </a:solidFill>
            <a:prstDash val="solid"/>
          </a:ln>
          <a:effectLst>
            <a:outerShdw sx="100000" sy="100000" kx="0" ky="0" algn="bl" rotWithShape="0" blurRad="88900" dist="25400" dir="5400000">
              <a:srgbClr val="9AB4CC">
                <a:alpha val="30000"/>
              </a:srgbClr>
            </a:outerShdw>
          </a:effectLst>
        </p:spPr>
      </p:sp>
      <p:pic>
        <p:nvPicPr>
          <p:cNvPr id="15"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460236" y="4507992"/>
            <a:ext cx="292608" cy="292608"/>
          </a:xfrm>
          <a:prstGeom prst="rect">
            <a:avLst/>
          </a:prstGeom>
        </p:spPr>
      </p:pic>
      <p:sp>
        <p:nvSpPr>
          <p:cNvPr id="16" name="Text 11"/>
          <p:cNvSpPr/>
          <p:nvPr/>
        </p:nvSpPr>
        <p:spPr>
          <a:xfrm>
            <a:off x="6460236" y="4846320"/>
            <a:ext cx="4997196" cy="1005840"/>
          </a:xfrm>
          <a:prstGeom prst="rect">
            <a:avLst/>
          </a:prstGeom>
          <a:noFill/>
          <a:ln/>
        </p:spPr>
        <p:txBody>
          <a:bodyPr wrap="square" rtlCol="0" anchor="t"/>
          <a:lstStyle/>
          <a:p>
            <a:pPr indent="0" marL="0">
              <a:lnSpc>
                <a:spcPct val="110000"/>
              </a:lnSpc>
              <a:buNone/>
            </a:pPr>
            <a:r>
              <a:rPr lang="en-US" sz="1200" b="1" spc="150" kern="0" dirty="0">
                <a:solidFill>
                  <a:srgbClr val="0F6CBD"/>
                </a:solidFill>
                <a:latin typeface="Aptos" pitchFamily="34" charset="0"/>
                <a:ea typeface="Aptos" pitchFamily="34" charset="-122"/>
                <a:cs typeface="Aptos" pitchFamily="34" charset="-120"/>
              </a:rPr>
              <a:t>IMPERATIVE (ACTION-BASED)
</a:t>
            </a:r>
            <a:pPr indent="0" marL="0">
              <a:lnSpc>
                <a:spcPct val="110000"/>
              </a:lnSpc>
              <a:buNone/>
            </a:pPr>
            <a:r>
              <a:rPr lang="en-US" sz="2000" b="1" i="1" dirty="0">
                <a:solidFill>
                  <a:srgbClr val="002050"/>
                </a:solidFill>
                <a:latin typeface="Aptos" pitchFamily="34" charset="0"/>
                <a:ea typeface="Aptos" pitchFamily="34" charset="-122"/>
                <a:cs typeface="Aptos" pitchFamily="34" charset="-120"/>
              </a:rPr>
              <a:t>“Click Save.”</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6473952"/>
            <a:ext cx="10268712" cy="274320"/>
          </a:xfrm>
          <a:prstGeom prst="rect">
            <a:avLst/>
          </a:prstGeom>
          <a:noFill/>
          <a:ln/>
        </p:spPr>
        <p:txBody>
          <a:bodyPr wrap="square" rtlCol="0" anchor="ctr"/>
          <a:lstStyle/>
          <a:p>
            <a:pPr indent="0" marL="0">
              <a:buNone/>
            </a:pPr>
            <a:r>
              <a:rPr lang="en-US" sz="1000" dirty="0">
                <a:solidFill>
                  <a:srgbClr val="6B7280"/>
                </a:solidFill>
                <a:latin typeface="Aptos" pitchFamily="34" charset="0"/>
                <a:ea typeface="Aptos" pitchFamily="34" charset="-122"/>
                <a:cs typeface="Aptos" pitchFamily="34" charset="-120"/>
              </a:rPr>
              <a:t>Unit Standard 8252 — Writing Business Reports   ·   Investec IT Systems Support NQF 5</a:t>
            </a:r>
            <a:endParaRPr lang="en-US" sz="1000" dirty="0"/>
          </a:p>
        </p:txBody>
      </p:sp>
      <p:sp>
        <p:nvSpPr>
          <p:cNvPr id="3" name="Text 1"/>
          <p:cNvSpPr/>
          <p:nvPr/>
        </p:nvSpPr>
        <p:spPr>
          <a:xfrm>
            <a:off x="11137392" y="6473952"/>
            <a:ext cx="548640" cy="274320"/>
          </a:xfrm>
          <a:prstGeom prst="rect">
            <a:avLst/>
          </a:prstGeom>
          <a:noFill/>
          <a:ln/>
        </p:spPr>
        <p:txBody>
          <a:bodyPr wrap="square" rtlCol="0" anchor="ctr"/>
          <a:lstStyle/>
          <a:p>
            <a:pPr algn="r" indent="0" marL="0">
              <a:buNone/>
            </a:pPr>
            <a:r>
              <a:rPr lang="en-US" sz="1000" dirty="0">
                <a:solidFill>
                  <a:srgbClr val="6B7280"/>
                </a:solidFill>
                <a:latin typeface="Aptos" pitchFamily="34" charset="0"/>
                <a:ea typeface="Aptos" pitchFamily="34" charset="-122"/>
                <a:cs typeface="Aptos" pitchFamily="34" charset="-120"/>
              </a:rPr>
              <a:t>7</a:t>
            </a:r>
            <a:endParaRPr lang="en-US" sz="1000" dirty="0"/>
          </a:p>
        </p:txBody>
      </p:sp>
      <p:sp>
        <p:nvSpPr>
          <p:cNvPr id="4" name="Shape 2"/>
          <p:cNvSpPr/>
          <p:nvPr/>
        </p:nvSpPr>
        <p:spPr>
          <a:xfrm>
            <a:off x="0" y="0"/>
            <a:ext cx="12188952" cy="82296"/>
          </a:xfrm>
          <a:prstGeom prst="rect">
            <a:avLst/>
          </a:prstGeom>
          <a:solidFill>
            <a:srgbClr val="0F6CBD"/>
          </a:solidFill>
          <a:ln/>
        </p:spPr>
      </p:sp>
      <p:sp>
        <p:nvSpPr>
          <p:cNvPr id="5" name="Text 3"/>
          <p:cNvSpPr/>
          <p:nvPr/>
        </p:nvSpPr>
        <p:spPr>
          <a:xfrm>
            <a:off x="502920" y="256032"/>
            <a:ext cx="11183112" cy="347472"/>
          </a:xfrm>
          <a:prstGeom prst="rect">
            <a:avLst/>
          </a:prstGeom>
          <a:noFill/>
          <a:ln/>
        </p:spPr>
        <p:txBody>
          <a:bodyPr wrap="square" rtlCol="0" anchor="ctr"/>
          <a:lstStyle/>
          <a:p>
            <a:pPr indent="0" marL="0">
              <a:buNone/>
            </a:pPr>
            <a:r>
              <a:rPr lang="en-US" sz="1400" b="1" spc="200" kern="0" dirty="0">
                <a:solidFill>
                  <a:srgbClr val="0F6CBD"/>
                </a:solidFill>
                <a:latin typeface="Aptos" pitchFamily="34" charset="0"/>
                <a:ea typeface="Aptos" pitchFamily="34" charset="-122"/>
                <a:cs typeface="Aptos" pitchFamily="34" charset="-120"/>
              </a:rPr>
              <a:t>PURPOSE &amp; CONTENT OF REPORTS</a:t>
            </a:r>
            <a:endParaRPr lang="en-US" sz="1400" dirty="0"/>
          </a:p>
        </p:txBody>
      </p:sp>
      <p:sp>
        <p:nvSpPr>
          <p:cNvPr id="6" name="Text 4"/>
          <p:cNvSpPr/>
          <p:nvPr/>
        </p:nvSpPr>
        <p:spPr>
          <a:xfrm>
            <a:off x="502920" y="585216"/>
            <a:ext cx="11183112" cy="786384"/>
          </a:xfrm>
          <a:prstGeom prst="rect">
            <a:avLst/>
          </a:prstGeom>
          <a:noFill/>
          <a:ln/>
        </p:spPr>
        <p:txBody>
          <a:bodyPr wrap="square" rtlCol="0" anchor="ctr"/>
          <a:lstStyle/>
          <a:p>
            <a:pPr indent="0" marL="0">
              <a:buNone/>
            </a:pPr>
            <a:r>
              <a:rPr lang="en-US" sz="3400" b="1" dirty="0">
                <a:solidFill>
                  <a:srgbClr val="002050"/>
                </a:solidFill>
                <a:latin typeface="Aptos Display" pitchFamily="34" charset="0"/>
                <a:ea typeface="Aptos Display" pitchFamily="34" charset="-122"/>
                <a:cs typeface="Aptos Display" pitchFamily="34" charset="-120"/>
              </a:rPr>
              <a:t>Imperative Phrasing in Practice</a:t>
            </a:r>
            <a:endParaRPr lang="en-US" sz="34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02920" y="1600200"/>
          <a:ext cx="11183112" cy="914400"/>
        </p:xfrm>
        <a:graphic>
          <a:graphicData uri="http://schemas.openxmlformats.org/drawingml/2006/table">
            <a:tbl>
              <a:tblPr/>
              <a:tblGrid>
                <a:gridCol w="4663440"/>
                <a:gridCol w="4206240"/>
                <a:gridCol w="2313432"/>
              </a:tblGrid>
              <a:tr h="658368">
                <a:tc>
                  <a:txBody>
                    <a:bodyPr/>
                    <a:lstStyle/>
                    <a:p>
                      <a:pPr indent="0" marL="0">
                        <a:buNone/>
                      </a:pPr>
                      <a:r>
                        <a:rPr lang="en-US" sz="1500" b="1" dirty="0">
                          <a:solidFill>
                            <a:srgbClr val="FFFFFF"/>
                          </a:solidFill>
                          <a:latin typeface="Aptos Display" pitchFamily="34" charset="0"/>
                          <a:ea typeface="Aptos Display" pitchFamily="34" charset="-122"/>
                          <a:cs typeface="Aptos Display" pitchFamily="34" charset="-120"/>
                        </a:rPr>
                        <a:t>Non-Imperative Phrasing (Avoid)</a:t>
                      </a:r>
                      <a:endParaRPr lang="en-US" sz="1500" dirty="0">
                        <a:latin typeface="Aptos Display" charset="0"/>
                        <a:ea typeface="Aptos Display" charset="0"/>
                        <a:cs typeface="Aptos Display" charset="0"/>
                      </a:endParaRPr>
                    </a:p>
                  </a:txBody>
                  <a:tcPr marL="91440" marR="91440" marT="91440" marB="91440"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0F6CBD"/>
                    </a:solidFill>
                  </a:tcPr>
                </a:tc>
                <a:tc>
                  <a:txBody>
                    <a:bodyPr/>
                    <a:lstStyle/>
                    <a:p>
                      <a:pPr indent="0" marL="0">
                        <a:buNone/>
                      </a:pPr>
                      <a:r>
                        <a:rPr lang="en-US" sz="1500" b="1" dirty="0">
                          <a:solidFill>
                            <a:srgbClr val="FFFFFF"/>
                          </a:solidFill>
                          <a:latin typeface="Aptos Display" pitchFamily="34" charset="0"/>
                          <a:ea typeface="Aptos Display" pitchFamily="34" charset="-122"/>
                          <a:cs typeface="Aptos Display" pitchFamily="34" charset="-120"/>
                        </a:rPr>
                        <a:t>Imperative Phrasing (Use)</a:t>
                      </a:r>
                      <a:endParaRPr lang="en-US" sz="1500" dirty="0">
                        <a:latin typeface="Aptos Display" charset="0"/>
                        <a:ea typeface="Aptos Display" charset="0"/>
                        <a:cs typeface="Aptos Display" charset="0"/>
                      </a:endParaRPr>
                    </a:p>
                  </a:txBody>
                  <a:tcPr marL="91440" marR="91440" marT="91440" marB="91440"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0F6CBD"/>
                    </a:solidFill>
                  </a:tcPr>
                </a:tc>
                <a:tc>
                  <a:txBody>
                    <a:bodyPr/>
                    <a:lstStyle/>
                    <a:p>
                      <a:pPr indent="0" marL="0">
                        <a:buNone/>
                      </a:pPr>
                      <a:r>
                        <a:rPr lang="en-US" sz="1500" b="1" dirty="0">
                          <a:solidFill>
                            <a:srgbClr val="FFFFFF"/>
                          </a:solidFill>
                          <a:latin typeface="Aptos Display" pitchFamily="34" charset="0"/>
                          <a:ea typeface="Aptos Display" pitchFamily="34" charset="-122"/>
                          <a:cs typeface="Aptos Display" pitchFamily="34" charset="-120"/>
                        </a:rPr>
                        <a:t>Primary Action Verb</a:t>
                      </a:r>
                      <a:endParaRPr lang="en-US" sz="1500" dirty="0">
                        <a:latin typeface="Aptos Display" charset="0"/>
                        <a:ea typeface="Aptos Display" charset="0"/>
                        <a:cs typeface="Aptos Display" charset="0"/>
                      </a:endParaRPr>
                    </a:p>
                  </a:txBody>
                  <a:tcPr marL="91440" marR="91440" marT="91440" marB="91440"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0F6CBD"/>
                    </a:solidFill>
                  </a:tcPr>
                </a:tc>
              </a:tr>
              <a:tr h="658368">
                <a:tc>
                  <a:txBody>
                    <a:bodyPr/>
                    <a:lstStyle/>
                    <a:p>
                      <a:pPr indent="0" marL="0">
                        <a:buNone/>
                      </a:pPr>
                      <a:r>
                        <a:rPr lang="en-US" sz="1500" dirty="0">
                          <a:solidFill>
                            <a:srgbClr val="002050"/>
                          </a:solidFill>
                          <a:latin typeface="Aptos" pitchFamily="34" charset="0"/>
                          <a:ea typeface="Aptos" pitchFamily="34" charset="-122"/>
                          <a:cs typeface="Aptos" pitchFamily="34" charset="-120"/>
                        </a:rPr>
                        <a:t>“You need to restart your device now.”</a:t>
                      </a:r>
                      <a:endParaRPr lang="en-US" sz="1500" dirty="0">
                        <a:latin typeface="Aptos" charset="0"/>
                        <a:ea typeface="Aptos" charset="0"/>
                        <a:cs typeface="Aptos" charset="0"/>
                      </a:endParaRPr>
                    </a:p>
                  </a:txBody>
                  <a:tcPr marL="91440" marR="91440" marT="91440" marB="91440"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FFFFFF"/>
                    </a:solidFill>
                  </a:tcPr>
                </a:tc>
                <a:tc>
                  <a:txBody>
                    <a:bodyPr/>
                    <a:lstStyle/>
                    <a:p>
                      <a:pPr indent="0" marL="0">
                        <a:buNone/>
                      </a:pPr>
                      <a:r>
                        <a:rPr lang="en-US" sz="1500" dirty="0">
                          <a:solidFill>
                            <a:srgbClr val="002050"/>
                          </a:solidFill>
                          <a:latin typeface="Aptos" pitchFamily="34" charset="0"/>
                          <a:ea typeface="Aptos" pitchFamily="34" charset="-122"/>
                          <a:cs typeface="Aptos" pitchFamily="34" charset="-120"/>
                        </a:rPr>
                        <a:t>“Restart the device.”</a:t>
                      </a:r>
                      <a:endParaRPr lang="en-US" sz="1500" dirty="0">
                        <a:latin typeface="Aptos" charset="0"/>
                        <a:ea typeface="Aptos" charset="0"/>
                        <a:cs typeface="Aptos" charset="0"/>
                      </a:endParaRPr>
                    </a:p>
                  </a:txBody>
                  <a:tcPr marL="91440" marR="91440" marT="91440" marB="91440"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FFFFFF"/>
                    </a:solidFill>
                  </a:tcPr>
                </a:tc>
                <a:tc>
                  <a:txBody>
                    <a:bodyPr/>
                    <a:lstStyle/>
                    <a:p>
                      <a:pPr indent="0" marL="0">
                        <a:buNone/>
                      </a:pPr>
                      <a:r>
                        <a:rPr lang="en-US" sz="1500" dirty="0">
                          <a:solidFill>
                            <a:srgbClr val="002050"/>
                          </a:solidFill>
                          <a:latin typeface="Aptos" pitchFamily="34" charset="0"/>
                          <a:ea typeface="Aptos" pitchFamily="34" charset="-122"/>
                          <a:cs typeface="Aptos" pitchFamily="34" charset="-120"/>
                        </a:rPr>
                        <a:t>Restart</a:t>
                      </a:r>
                      <a:endParaRPr lang="en-US" sz="1500" dirty="0">
                        <a:latin typeface="Aptos" charset="0"/>
                        <a:ea typeface="Aptos" charset="0"/>
                        <a:cs typeface="Aptos" charset="0"/>
                      </a:endParaRPr>
                    </a:p>
                  </a:txBody>
                  <a:tcPr marL="91440" marR="91440" marT="91440" marB="91440"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FFFFFF"/>
                    </a:solidFill>
                  </a:tcPr>
                </a:tc>
              </a:tr>
              <a:tr h="658368">
                <a:tc>
                  <a:txBody>
                    <a:bodyPr/>
                    <a:lstStyle/>
                    <a:p>
                      <a:pPr indent="0" marL="0">
                        <a:buNone/>
                      </a:pPr>
                      <a:r>
                        <a:rPr lang="en-US" sz="1500" dirty="0">
                          <a:solidFill>
                            <a:srgbClr val="002050"/>
                          </a:solidFill>
                          <a:latin typeface="Aptos" pitchFamily="34" charset="0"/>
                          <a:ea typeface="Aptos" pitchFamily="34" charset="-122"/>
                          <a:cs typeface="Aptos" pitchFamily="34" charset="-120"/>
                        </a:rPr>
                        <a:t>“Please download the software update.”</a:t>
                      </a:r>
                      <a:endParaRPr lang="en-US" sz="1500" dirty="0">
                        <a:latin typeface="Aptos" charset="0"/>
                        <a:ea typeface="Aptos" charset="0"/>
                        <a:cs typeface="Aptos" charset="0"/>
                      </a:endParaRPr>
                    </a:p>
                  </a:txBody>
                  <a:tcPr marL="91440" marR="91440" marT="91440" marB="91440"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EAF4FF"/>
                    </a:solidFill>
                  </a:tcPr>
                </a:tc>
                <a:tc>
                  <a:txBody>
                    <a:bodyPr/>
                    <a:lstStyle/>
                    <a:p>
                      <a:pPr indent="0" marL="0">
                        <a:buNone/>
                      </a:pPr>
                      <a:r>
                        <a:rPr lang="en-US" sz="1500" dirty="0">
                          <a:solidFill>
                            <a:srgbClr val="002050"/>
                          </a:solidFill>
                          <a:latin typeface="Aptos" pitchFamily="34" charset="0"/>
                          <a:ea typeface="Aptos" pitchFamily="34" charset="-122"/>
                          <a:cs typeface="Aptos" pitchFamily="34" charset="-120"/>
                        </a:rPr>
                        <a:t>“Download the update.”</a:t>
                      </a:r>
                      <a:endParaRPr lang="en-US" sz="1500" dirty="0">
                        <a:latin typeface="Aptos" charset="0"/>
                        <a:ea typeface="Aptos" charset="0"/>
                        <a:cs typeface="Aptos" charset="0"/>
                      </a:endParaRPr>
                    </a:p>
                  </a:txBody>
                  <a:tcPr marL="91440" marR="91440" marT="91440" marB="91440"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EAF4FF"/>
                    </a:solidFill>
                  </a:tcPr>
                </a:tc>
                <a:tc>
                  <a:txBody>
                    <a:bodyPr/>
                    <a:lstStyle/>
                    <a:p>
                      <a:pPr indent="0" marL="0">
                        <a:buNone/>
                      </a:pPr>
                      <a:r>
                        <a:rPr lang="en-US" sz="1500" dirty="0">
                          <a:solidFill>
                            <a:srgbClr val="002050"/>
                          </a:solidFill>
                          <a:latin typeface="Aptos" pitchFamily="34" charset="0"/>
                          <a:ea typeface="Aptos" pitchFamily="34" charset="-122"/>
                          <a:cs typeface="Aptos" pitchFamily="34" charset="-120"/>
                        </a:rPr>
                        <a:t>Download</a:t>
                      </a:r>
                      <a:endParaRPr lang="en-US" sz="1500" dirty="0">
                        <a:latin typeface="Aptos" charset="0"/>
                        <a:ea typeface="Aptos" charset="0"/>
                        <a:cs typeface="Aptos" charset="0"/>
                      </a:endParaRPr>
                    </a:p>
                  </a:txBody>
                  <a:tcPr marL="91440" marR="91440" marT="91440" marB="91440"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EAF4FF"/>
                    </a:solidFill>
                  </a:tcPr>
                </a:tc>
              </a:tr>
              <a:tr h="658368">
                <a:tc>
                  <a:txBody>
                    <a:bodyPr/>
                    <a:lstStyle/>
                    <a:p>
                      <a:pPr indent="0" marL="0">
                        <a:buNone/>
                      </a:pPr>
                      <a:r>
                        <a:rPr lang="en-US" sz="1500" dirty="0">
                          <a:solidFill>
                            <a:srgbClr val="002050"/>
                          </a:solidFill>
                          <a:latin typeface="Aptos" pitchFamily="34" charset="0"/>
                          <a:ea typeface="Aptos" pitchFamily="34" charset="-122"/>
                          <a:cs typeface="Aptos" pitchFamily="34" charset="-120"/>
                        </a:rPr>
                        <a:t>“You should enter your username here.”</a:t>
                      </a:r>
                      <a:endParaRPr lang="en-US" sz="1500" dirty="0">
                        <a:latin typeface="Aptos" charset="0"/>
                        <a:ea typeface="Aptos" charset="0"/>
                        <a:cs typeface="Aptos" charset="0"/>
                      </a:endParaRPr>
                    </a:p>
                  </a:txBody>
                  <a:tcPr marL="91440" marR="91440" marT="91440" marB="91440"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FFFFFF"/>
                    </a:solidFill>
                  </a:tcPr>
                </a:tc>
                <a:tc>
                  <a:txBody>
                    <a:bodyPr/>
                    <a:lstStyle/>
                    <a:p>
                      <a:pPr indent="0" marL="0">
                        <a:buNone/>
                      </a:pPr>
                      <a:r>
                        <a:rPr lang="en-US" sz="1500" dirty="0">
                          <a:solidFill>
                            <a:srgbClr val="002050"/>
                          </a:solidFill>
                          <a:latin typeface="Aptos" pitchFamily="34" charset="0"/>
                          <a:ea typeface="Aptos" pitchFamily="34" charset="-122"/>
                          <a:cs typeface="Aptos" pitchFamily="34" charset="-120"/>
                        </a:rPr>
                        <a:t>“Enter your username.”</a:t>
                      </a:r>
                      <a:endParaRPr lang="en-US" sz="1500" dirty="0">
                        <a:latin typeface="Aptos" charset="0"/>
                        <a:ea typeface="Aptos" charset="0"/>
                        <a:cs typeface="Aptos" charset="0"/>
                      </a:endParaRPr>
                    </a:p>
                  </a:txBody>
                  <a:tcPr marL="91440" marR="91440" marT="91440" marB="91440"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FFFFFF"/>
                    </a:solidFill>
                  </a:tcPr>
                </a:tc>
                <a:tc>
                  <a:txBody>
                    <a:bodyPr/>
                    <a:lstStyle/>
                    <a:p>
                      <a:pPr indent="0" marL="0">
                        <a:buNone/>
                      </a:pPr>
                      <a:r>
                        <a:rPr lang="en-US" sz="1500" dirty="0">
                          <a:solidFill>
                            <a:srgbClr val="002050"/>
                          </a:solidFill>
                          <a:latin typeface="Aptos" pitchFamily="34" charset="0"/>
                          <a:ea typeface="Aptos" pitchFamily="34" charset="-122"/>
                          <a:cs typeface="Aptos" pitchFamily="34" charset="-120"/>
                        </a:rPr>
                        <a:t>Enter</a:t>
                      </a:r>
                      <a:endParaRPr lang="en-US" sz="1500" dirty="0">
                        <a:latin typeface="Aptos" charset="0"/>
                        <a:ea typeface="Aptos" charset="0"/>
                        <a:cs typeface="Aptos" charset="0"/>
                      </a:endParaRPr>
                    </a:p>
                  </a:txBody>
                  <a:tcPr marL="91440" marR="91440" marT="91440" marB="91440"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FFFFFF"/>
                    </a:solidFill>
                  </a:tcPr>
                </a:tc>
              </a:tr>
              <a:tr h="658368">
                <a:tc>
                  <a:txBody>
                    <a:bodyPr/>
                    <a:lstStyle/>
                    <a:p>
                      <a:pPr indent="0" marL="0">
                        <a:buNone/>
                      </a:pPr>
                      <a:r>
                        <a:rPr lang="en-US" sz="1500" dirty="0">
                          <a:solidFill>
                            <a:srgbClr val="002050"/>
                          </a:solidFill>
                          <a:latin typeface="Aptos" pitchFamily="34" charset="0"/>
                          <a:ea typeface="Aptos" pitchFamily="34" charset="-122"/>
                          <a:cs typeface="Aptos" pitchFamily="34" charset="-120"/>
                        </a:rPr>
                        <a:t>“Make sure to backup your files first.”</a:t>
                      </a:r>
                      <a:endParaRPr lang="en-US" sz="1500" dirty="0">
                        <a:latin typeface="Aptos" charset="0"/>
                        <a:ea typeface="Aptos" charset="0"/>
                        <a:cs typeface="Aptos" charset="0"/>
                      </a:endParaRPr>
                    </a:p>
                  </a:txBody>
                  <a:tcPr marL="91440" marR="91440" marT="91440" marB="91440"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EAF4FF"/>
                    </a:solidFill>
                  </a:tcPr>
                </a:tc>
                <a:tc>
                  <a:txBody>
                    <a:bodyPr/>
                    <a:lstStyle/>
                    <a:p>
                      <a:pPr indent="0" marL="0">
                        <a:buNone/>
                      </a:pPr>
                      <a:r>
                        <a:rPr lang="en-US" sz="1500" dirty="0">
                          <a:solidFill>
                            <a:srgbClr val="002050"/>
                          </a:solidFill>
                          <a:latin typeface="Aptos" pitchFamily="34" charset="0"/>
                          <a:ea typeface="Aptos" pitchFamily="34" charset="-122"/>
                          <a:cs typeface="Aptos" pitchFamily="34" charset="-120"/>
                        </a:rPr>
                        <a:t>“Backup all data prior to installation.”</a:t>
                      </a:r>
                      <a:endParaRPr lang="en-US" sz="1500" dirty="0">
                        <a:latin typeface="Aptos" charset="0"/>
                        <a:ea typeface="Aptos" charset="0"/>
                        <a:cs typeface="Aptos" charset="0"/>
                      </a:endParaRPr>
                    </a:p>
                  </a:txBody>
                  <a:tcPr marL="91440" marR="91440" marT="91440" marB="91440"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EAF4FF"/>
                    </a:solidFill>
                  </a:tcPr>
                </a:tc>
                <a:tc>
                  <a:txBody>
                    <a:bodyPr/>
                    <a:lstStyle/>
                    <a:p>
                      <a:pPr indent="0" marL="0">
                        <a:buNone/>
                      </a:pPr>
                      <a:r>
                        <a:rPr lang="en-US" sz="1500" dirty="0">
                          <a:solidFill>
                            <a:srgbClr val="002050"/>
                          </a:solidFill>
                          <a:latin typeface="Aptos" pitchFamily="34" charset="0"/>
                          <a:ea typeface="Aptos" pitchFamily="34" charset="-122"/>
                          <a:cs typeface="Aptos" pitchFamily="34" charset="-120"/>
                        </a:rPr>
                        <a:t>Backup</a:t>
                      </a:r>
                      <a:endParaRPr lang="en-US" sz="1500" dirty="0">
                        <a:latin typeface="Aptos" charset="0"/>
                        <a:ea typeface="Aptos" charset="0"/>
                        <a:cs typeface="Aptos" charset="0"/>
                      </a:endParaRPr>
                    </a:p>
                  </a:txBody>
                  <a:tcPr marL="91440" marR="91440" marT="91440" marB="91440"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EAF4FF"/>
                    </a:solidFill>
                  </a:tcPr>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6473952"/>
            <a:ext cx="10268712" cy="274320"/>
          </a:xfrm>
          <a:prstGeom prst="rect">
            <a:avLst/>
          </a:prstGeom>
          <a:noFill/>
          <a:ln/>
        </p:spPr>
        <p:txBody>
          <a:bodyPr wrap="square" rtlCol="0" anchor="ctr"/>
          <a:lstStyle/>
          <a:p>
            <a:pPr indent="0" marL="0">
              <a:buNone/>
            </a:pPr>
            <a:r>
              <a:rPr lang="en-US" sz="1000" dirty="0">
                <a:solidFill>
                  <a:srgbClr val="6B7280"/>
                </a:solidFill>
                <a:latin typeface="Aptos" pitchFamily="34" charset="0"/>
                <a:ea typeface="Aptos" pitchFamily="34" charset="-122"/>
                <a:cs typeface="Aptos" pitchFamily="34" charset="-120"/>
              </a:rPr>
              <a:t>Unit Standard 8252 — Writing Business Reports   ·   Investec IT Systems Support NQF 5</a:t>
            </a:r>
            <a:endParaRPr lang="en-US" sz="1000" dirty="0"/>
          </a:p>
        </p:txBody>
      </p:sp>
      <p:sp>
        <p:nvSpPr>
          <p:cNvPr id="3" name="Text 1"/>
          <p:cNvSpPr/>
          <p:nvPr/>
        </p:nvSpPr>
        <p:spPr>
          <a:xfrm>
            <a:off x="11137392" y="6473952"/>
            <a:ext cx="548640" cy="274320"/>
          </a:xfrm>
          <a:prstGeom prst="rect">
            <a:avLst/>
          </a:prstGeom>
          <a:noFill/>
          <a:ln/>
        </p:spPr>
        <p:txBody>
          <a:bodyPr wrap="square" rtlCol="0" anchor="ctr"/>
          <a:lstStyle/>
          <a:p>
            <a:pPr algn="r" indent="0" marL="0">
              <a:buNone/>
            </a:pPr>
            <a:r>
              <a:rPr lang="en-US" sz="1000" dirty="0">
                <a:solidFill>
                  <a:srgbClr val="6B7280"/>
                </a:solidFill>
                <a:latin typeface="Aptos" pitchFamily="34" charset="0"/>
                <a:ea typeface="Aptos" pitchFamily="34" charset="-122"/>
                <a:cs typeface="Aptos" pitchFamily="34" charset="-120"/>
              </a:rPr>
              <a:t>8</a:t>
            </a:r>
            <a:endParaRPr lang="en-US" sz="1000" dirty="0"/>
          </a:p>
        </p:txBody>
      </p:sp>
      <p:sp>
        <p:nvSpPr>
          <p:cNvPr id="4" name="Shape 2"/>
          <p:cNvSpPr/>
          <p:nvPr/>
        </p:nvSpPr>
        <p:spPr>
          <a:xfrm>
            <a:off x="0" y="0"/>
            <a:ext cx="12188952" cy="82296"/>
          </a:xfrm>
          <a:prstGeom prst="rect">
            <a:avLst/>
          </a:prstGeom>
          <a:solidFill>
            <a:srgbClr val="0F6CBD"/>
          </a:solidFill>
          <a:ln/>
        </p:spPr>
      </p:sp>
      <p:sp>
        <p:nvSpPr>
          <p:cNvPr id="5" name="Text 3"/>
          <p:cNvSpPr/>
          <p:nvPr/>
        </p:nvSpPr>
        <p:spPr>
          <a:xfrm>
            <a:off x="502920" y="256032"/>
            <a:ext cx="11183112" cy="347472"/>
          </a:xfrm>
          <a:prstGeom prst="rect">
            <a:avLst/>
          </a:prstGeom>
          <a:noFill/>
          <a:ln/>
        </p:spPr>
        <p:txBody>
          <a:bodyPr wrap="square" rtlCol="0" anchor="ctr"/>
          <a:lstStyle/>
          <a:p>
            <a:pPr indent="0" marL="0">
              <a:buNone/>
            </a:pPr>
            <a:r>
              <a:rPr lang="en-US" sz="1400" b="1" spc="200" kern="0" dirty="0">
                <a:solidFill>
                  <a:srgbClr val="0F6CBD"/>
                </a:solidFill>
                <a:latin typeface="Aptos" pitchFamily="34" charset="0"/>
                <a:ea typeface="Aptos" pitchFamily="34" charset="-122"/>
                <a:cs typeface="Aptos" pitchFamily="34" charset="-120"/>
              </a:rPr>
              <a:t>PURPOSE &amp; CONTENT OF REPORTS</a:t>
            </a:r>
            <a:endParaRPr lang="en-US" sz="1400" dirty="0"/>
          </a:p>
        </p:txBody>
      </p:sp>
      <p:sp>
        <p:nvSpPr>
          <p:cNvPr id="6" name="Text 4"/>
          <p:cNvSpPr/>
          <p:nvPr/>
        </p:nvSpPr>
        <p:spPr>
          <a:xfrm>
            <a:off x="502920" y="585216"/>
            <a:ext cx="11183112" cy="786384"/>
          </a:xfrm>
          <a:prstGeom prst="rect">
            <a:avLst/>
          </a:prstGeom>
          <a:noFill/>
          <a:ln/>
        </p:spPr>
        <p:txBody>
          <a:bodyPr wrap="square" rtlCol="0" anchor="ctr"/>
          <a:lstStyle/>
          <a:p>
            <a:pPr indent="0" marL="0">
              <a:buNone/>
            </a:pPr>
            <a:r>
              <a:rPr lang="en-US" sz="3400" b="1" dirty="0">
                <a:solidFill>
                  <a:srgbClr val="002050"/>
                </a:solidFill>
                <a:latin typeface="Aptos Display" pitchFamily="34" charset="0"/>
                <a:ea typeface="Aptos Display" pitchFamily="34" charset="-122"/>
                <a:cs typeface="Aptos Display" pitchFamily="34" charset="-120"/>
              </a:rPr>
              <a:t>Why Use Imperative Phrasing in IT?</a:t>
            </a:r>
            <a:endParaRPr lang="en-US" sz="3400" dirty="0"/>
          </a:p>
        </p:txBody>
      </p:sp>
      <p:sp>
        <p:nvSpPr>
          <p:cNvPr id="7" name="Shape 5"/>
          <p:cNvSpPr/>
          <p:nvPr/>
        </p:nvSpPr>
        <p:spPr>
          <a:xfrm>
            <a:off x="502920" y="1691640"/>
            <a:ext cx="11183112" cy="1298448"/>
          </a:xfrm>
          <a:prstGeom prst="roundRect">
            <a:avLst>
              <a:gd name="adj" fmla="val 6338"/>
            </a:avLst>
          </a:prstGeom>
          <a:solidFill>
            <a:srgbClr val="FFFFFF"/>
          </a:solidFill>
          <a:ln w="12700">
            <a:solidFill>
              <a:srgbClr val="D5E3F2"/>
            </a:solidFill>
            <a:prstDash val="solid"/>
          </a:ln>
          <a:effectLst>
            <a:outerShdw sx="100000" sy="100000" kx="0" ky="0" algn="bl" rotWithShape="0" blurRad="88900" dist="25400" dir="5400000">
              <a:srgbClr val="9AB4CC">
                <a:alpha val="30000"/>
              </a:srgbClr>
            </a:outerShdw>
          </a:effectLst>
        </p:spPr>
      </p:sp>
      <p:sp>
        <p:nvSpPr>
          <p:cNvPr id="8" name="Shape 6"/>
          <p:cNvSpPr/>
          <p:nvPr/>
        </p:nvSpPr>
        <p:spPr>
          <a:xfrm>
            <a:off x="502920" y="1691640"/>
            <a:ext cx="82296" cy="1298448"/>
          </a:xfrm>
          <a:prstGeom prst="rect">
            <a:avLst/>
          </a:prstGeom>
          <a:solidFill>
            <a:srgbClr val="0F6CBD"/>
          </a:solidFill>
          <a:ln/>
        </p:spPr>
      </p:sp>
      <p:pic>
        <p:nvPicPr>
          <p:cNvPr id="9"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58952" y="1856232"/>
            <a:ext cx="365760" cy="365760"/>
          </a:xfrm>
          <a:prstGeom prst="rect">
            <a:avLst/>
          </a:prstGeom>
        </p:spPr>
      </p:pic>
      <p:sp>
        <p:nvSpPr>
          <p:cNvPr id="10" name="Text 7"/>
          <p:cNvSpPr/>
          <p:nvPr/>
        </p:nvSpPr>
        <p:spPr>
          <a:xfrm>
            <a:off x="1280160" y="1801368"/>
            <a:ext cx="10131552" cy="1078992"/>
          </a:xfrm>
          <a:prstGeom prst="rect">
            <a:avLst/>
          </a:prstGeom>
          <a:noFill/>
          <a:ln/>
        </p:spPr>
        <p:txBody>
          <a:bodyPr wrap="square" rtlCol="0" anchor="ctr"/>
          <a:lstStyle/>
          <a:p>
            <a:pPr indent="0" marL="0">
              <a:lnSpc>
                <a:spcPct val="108000"/>
              </a:lnSpc>
              <a:buNone/>
            </a:pPr>
            <a:r>
              <a:rPr lang="en-US" sz="1950" b="1" dirty="0">
                <a:solidFill>
                  <a:srgbClr val="002050"/>
                </a:solidFill>
                <a:latin typeface="Aptos Display" pitchFamily="34" charset="0"/>
                <a:ea typeface="Aptos Display" pitchFamily="34" charset="-122"/>
                <a:cs typeface="Aptos Display" pitchFamily="34" charset="-120"/>
              </a:rPr>
              <a:t>Saves Time
</a:t>
            </a:r>
            <a:pPr indent="0" marL="0">
              <a:lnSpc>
                <a:spcPct val="108000"/>
              </a:lnSpc>
              <a:buNone/>
            </a:pPr>
            <a:r>
              <a:rPr lang="en-US" sz="1600" dirty="0">
                <a:solidFill>
                  <a:srgbClr val="002050"/>
                </a:solidFill>
                <a:latin typeface="Aptos" pitchFamily="34" charset="0"/>
                <a:ea typeface="Aptos" pitchFamily="34" charset="-122"/>
                <a:cs typeface="Aptos" pitchFamily="34" charset="-120"/>
              </a:rPr>
              <a:t>Users scan technical text quickly; commands tell them what to do instantly.</a:t>
            </a:r>
            <a:endParaRPr lang="en-US" sz="1950" dirty="0"/>
          </a:p>
        </p:txBody>
      </p:sp>
      <p:sp>
        <p:nvSpPr>
          <p:cNvPr id="11" name="Shape 8"/>
          <p:cNvSpPr/>
          <p:nvPr/>
        </p:nvSpPr>
        <p:spPr>
          <a:xfrm>
            <a:off x="502920" y="3191256"/>
            <a:ext cx="11183112" cy="1298448"/>
          </a:xfrm>
          <a:prstGeom prst="roundRect">
            <a:avLst>
              <a:gd name="adj" fmla="val 6338"/>
            </a:avLst>
          </a:prstGeom>
          <a:solidFill>
            <a:srgbClr val="EAF4FF"/>
          </a:solidFill>
          <a:ln w="12700">
            <a:solidFill>
              <a:srgbClr val="D5E3F2"/>
            </a:solidFill>
            <a:prstDash val="solid"/>
          </a:ln>
          <a:effectLst>
            <a:outerShdw sx="100000" sy="100000" kx="0" ky="0" algn="bl" rotWithShape="0" blurRad="88900" dist="25400" dir="5400000">
              <a:srgbClr val="9AB4CC">
                <a:alpha val="30000"/>
              </a:srgbClr>
            </a:outerShdw>
          </a:effectLst>
        </p:spPr>
      </p:sp>
      <p:sp>
        <p:nvSpPr>
          <p:cNvPr id="12" name="Shape 9"/>
          <p:cNvSpPr/>
          <p:nvPr/>
        </p:nvSpPr>
        <p:spPr>
          <a:xfrm>
            <a:off x="502920" y="3191256"/>
            <a:ext cx="82296" cy="1298448"/>
          </a:xfrm>
          <a:prstGeom prst="rect">
            <a:avLst/>
          </a:prstGeom>
          <a:solidFill>
            <a:srgbClr val="0F6CBD"/>
          </a:solidFill>
          <a:ln/>
        </p:spPr>
      </p:sp>
      <p:pic>
        <p:nvPicPr>
          <p:cNvPr id="13"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58952" y="3355848"/>
            <a:ext cx="365760" cy="365760"/>
          </a:xfrm>
          <a:prstGeom prst="rect">
            <a:avLst/>
          </a:prstGeom>
        </p:spPr>
      </p:pic>
      <p:sp>
        <p:nvSpPr>
          <p:cNvPr id="14" name="Text 10"/>
          <p:cNvSpPr/>
          <p:nvPr/>
        </p:nvSpPr>
        <p:spPr>
          <a:xfrm>
            <a:off x="1280160" y="3300984"/>
            <a:ext cx="10131552" cy="1078992"/>
          </a:xfrm>
          <a:prstGeom prst="rect">
            <a:avLst/>
          </a:prstGeom>
          <a:noFill/>
          <a:ln/>
        </p:spPr>
        <p:txBody>
          <a:bodyPr wrap="square" rtlCol="0" anchor="ctr"/>
          <a:lstStyle/>
          <a:p>
            <a:pPr indent="0" marL="0">
              <a:lnSpc>
                <a:spcPct val="108000"/>
              </a:lnSpc>
              <a:buNone/>
            </a:pPr>
            <a:r>
              <a:rPr lang="en-US" sz="1950" b="1" dirty="0">
                <a:solidFill>
                  <a:srgbClr val="002050"/>
                </a:solidFill>
                <a:latin typeface="Aptos Display" pitchFamily="34" charset="0"/>
                <a:ea typeface="Aptos Display" pitchFamily="34" charset="-122"/>
                <a:cs typeface="Aptos Display" pitchFamily="34" charset="-120"/>
              </a:rPr>
              <a:t>Saves Screen Space
</a:t>
            </a:r>
            <a:pPr indent="0" marL="0">
              <a:lnSpc>
                <a:spcPct val="108000"/>
              </a:lnSpc>
              <a:buNone/>
            </a:pPr>
            <a:r>
              <a:rPr lang="en-US" sz="1600" dirty="0">
                <a:solidFill>
                  <a:srgbClr val="002050"/>
                </a:solidFill>
                <a:latin typeface="Aptos" pitchFamily="34" charset="0"/>
                <a:ea typeface="Aptos" pitchFamily="34" charset="-122"/>
                <a:cs typeface="Aptos" pitchFamily="34" charset="-120"/>
              </a:rPr>
              <a:t>It is perfect for system dialog boxes, mobile alerts, and buttons.</a:t>
            </a:r>
            <a:endParaRPr lang="en-US" sz="1950" dirty="0"/>
          </a:p>
        </p:txBody>
      </p:sp>
      <p:sp>
        <p:nvSpPr>
          <p:cNvPr id="15" name="Shape 11"/>
          <p:cNvSpPr/>
          <p:nvPr/>
        </p:nvSpPr>
        <p:spPr>
          <a:xfrm>
            <a:off x="502920" y="4690872"/>
            <a:ext cx="11183112" cy="1298448"/>
          </a:xfrm>
          <a:prstGeom prst="roundRect">
            <a:avLst>
              <a:gd name="adj" fmla="val 6338"/>
            </a:avLst>
          </a:prstGeom>
          <a:solidFill>
            <a:srgbClr val="FFFFFF"/>
          </a:solidFill>
          <a:ln w="12700">
            <a:solidFill>
              <a:srgbClr val="D5E3F2"/>
            </a:solidFill>
            <a:prstDash val="solid"/>
          </a:ln>
          <a:effectLst>
            <a:outerShdw sx="100000" sy="100000" kx="0" ky="0" algn="bl" rotWithShape="0" blurRad="88900" dist="25400" dir="5400000">
              <a:srgbClr val="9AB4CC">
                <a:alpha val="30000"/>
              </a:srgbClr>
            </a:outerShdw>
          </a:effectLst>
        </p:spPr>
      </p:sp>
      <p:sp>
        <p:nvSpPr>
          <p:cNvPr id="16" name="Shape 12"/>
          <p:cNvSpPr/>
          <p:nvPr/>
        </p:nvSpPr>
        <p:spPr>
          <a:xfrm>
            <a:off x="502920" y="4690872"/>
            <a:ext cx="82296" cy="1298448"/>
          </a:xfrm>
          <a:prstGeom prst="rect">
            <a:avLst/>
          </a:prstGeom>
          <a:solidFill>
            <a:srgbClr val="0F6CBD"/>
          </a:solidFill>
          <a:ln/>
        </p:spPr>
      </p:sp>
      <p:pic>
        <p:nvPicPr>
          <p:cNvPr id="17"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58952" y="4855464"/>
            <a:ext cx="365760" cy="365760"/>
          </a:xfrm>
          <a:prstGeom prst="rect">
            <a:avLst/>
          </a:prstGeom>
        </p:spPr>
      </p:pic>
      <p:sp>
        <p:nvSpPr>
          <p:cNvPr id="18" name="Text 13"/>
          <p:cNvSpPr/>
          <p:nvPr/>
        </p:nvSpPr>
        <p:spPr>
          <a:xfrm>
            <a:off x="1280160" y="4800600"/>
            <a:ext cx="10131552" cy="1078992"/>
          </a:xfrm>
          <a:prstGeom prst="rect">
            <a:avLst/>
          </a:prstGeom>
          <a:noFill/>
          <a:ln/>
        </p:spPr>
        <p:txBody>
          <a:bodyPr wrap="square" rtlCol="0" anchor="ctr"/>
          <a:lstStyle/>
          <a:p>
            <a:pPr indent="0" marL="0">
              <a:lnSpc>
                <a:spcPct val="108000"/>
              </a:lnSpc>
              <a:buNone/>
            </a:pPr>
            <a:r>
              <a:rPr lang="en-US" sz="1950" b="1" dirty="0">
                <a:solidFill>
                  <a:srgbClr val="002050"/>
                </a:solidFill>
                <a:latin typeface="Aptos Display" pitchFamily="34" charset="0"/>
                <a:ea typeface="Aptos Display" pitchFamily="34" charset="-122"/>
                <a:cs typeface="Aptos Display" pitchFamily="34" charset="-120"/>
              </a:rPr>
              <a:t>Removes Blame
</a:t>
            </a:r>
            <a:pPr indent="0" marL="0">
              <a:lnSpc>
                <a:spcPct val="108000"/>
              </a:lnSpc>
              <a:buNone/>
            </a:pPr>
            <a:r>
              <a:rPr lang="en-US" sz="1600" dirty="0">
                <a:solidFill>
                  <a:srgbClr val="002050"/>
                </a:solidFill>
                <a:latin typeface="Aptos" pitchFamily="34" charset="0"/>
                <a:ea typeface="Aptos" pitchFamily="34" charset="-122"/>
                <a:cs typeface="Aptos" pitchFamily="34" charset="-120"/>
              </a:rPr>
              <a:t>Like passive voice, it avoids using “you”, keeping the language strictly professional.</a:t>
            </a:r>
            <a:endParaRPr lang="en-US" sz="1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6473952"/>
            <a:ext cx="10268712" cy="274320"/>
          </a:xfrm>
          <a:prstGeom prst="rect">
            <a:avLst/>
          </a:prstGeom>
          <a:noFill/>
          <a:ln/>
        </p:spPr>
        <p:txBody>
          <a:bodyPr wrap="square" rtlCol="0" anchor="ctr"/>
          <a:lstStyle/>
          <a:p>
            <a:pPr indent="0" marL="0">
              <a:buNone/>
            </a:pPr>
            <a:r>
              <a:rPr lang="en-US" sz="1000" dirty="0">
                <a:solidFill>
                  <a:srgbClr val="6B7280"/>
                </a:solidFill>
                <a:latin typeface="Aptos" pitchFamily="34" charset="0"/>
                <a:ea typeface="Aptos" pitchFamily="34" charset="-122"/>
                <a:cs typeface="Aptos" pitchFamily="34" charset="-120"/>
              </a:rPr>
              <a:t>Unit Standard 8252 — Writing Business Reports   ·   Investec IT Systems Support NQF 5</a:t>
            </a:r>
            <a:endParaRPr lang="en-US" sz="1000" dirty="0"/>
          </a:p>
        </p:txBody>
      </p:sp>
      <p:sp>
        <p:nvSpPr>
          <p:cNvPr id="3" name="Text 1"/>
          <p:cNvSpPr/>
          <p:nvPr/>
        </p:nvSpPr>
        <p:spPr>
          <a:xfrm>
            <a:off x="11137392" y="6473952"/>
            <a:ext cx="548640" cy="274320"/>
          </a:xfrm>
          <a:prstGeom prst="rect">
            <a:avLst/>
          </a:prstGeom>
          <a:noFill/>
          <a:ln/>
        </p:spPr>
        <p:txBody>
          <a:bodyPr wrap="square" rtlCol="0" anchor="ctr"/>
          <a:lstStyle/>
          <a:p>
            <a:pPr algn="r" indent="0" marL="0">
              <a:buNone/>
            </a:pPr>
            <a:r>
              <a:rPr lang="en-US" sz="1000" dirty="0">
                <a:solidFill>
                  <a:srgbClr val="6B7280"/>
                </a:solidFill>
                <a:latin typeface="Aptos" pitchFamily="34" charset="0"/>
                <a:ea typeface="Aptos" pitchFamily="34" charset="-122"/>
                <a:cs typeface="Aptos" pitchFamily="34" charset="-120"/>
              </a:rPr>
              <a:t>9</a:t>
            </a:r>
            <a:endParaRPr lang="en-US" sz="1000" dirty="0"/>
          </a:p>
        </p:txBody>
      </p:sp>
      <p:sp>
        <p:nvSpPr>
          <p:cNvPr id="4" name="Shape 2"/>
          <p:cNvSpPr/>
          <p:nvPr/>
        </p:nvSpPr>
        <p:spPr>
          <a:xfrm>
            <a:off x="0" y="0"/>
            <a:ext cx="12188952" cy="82296"/>
          </a:xfrm>
          <a:prstGeom prst="rect">
            <a:avLst/>
          </a:prstGeom>
          <a:solidFill>
            <a:srgbClr val="0F6CBD"/>
          </a:solidFill>
          <a:ln/>
        </p:spPr>
      </p:sp>
      <p:sp>
        <p:nvSpPr>
          <p:cNvPr id="5" name="Text 3"/>
          <p:cNvSpPr/>
          <p:nvPr/>
        </p:nvSpPr>
        <p:spPr>
          <a:xfrm>
            <a:off x="502920" y="256032"/>
            <a:ext cx="11183112" cy="347472"/>
          </a:xfrm>
          <a:prstGeom prst="rect">
            <a:avLst/>
          </a:prstGeom>
          <a:noFill/>
          <a:ln/>
        </p:spPr>
        <p:txBody>
          <a:bodyPr wrap="square" rtlCol="0" anchor="ctr"/>
          <a:lstStyle/>
          <a:p>
            <a:pPr indent="0" marL="0">
              <a:buNone/>
            </a:pPr>
            <a:r>
              <a:rPr lang="en-US" sz="1400" b="1" spc="200" kern="0" dirty="0">
                <a:solidFill>
                  <a:srgbClr val="0F6CBD"/>
                </a:solidFill>
                <a:latin typeface="Aptos" pitchFamily="34" charset="0"/>
                <a:ea typeface="Aptos" pitchFamily="34" charset="-122"/>
                <a:cs typeface="Aptos" pitchFamily="34" charset="-120"/>
              </a:rPr>
              <a:t>PURPOSE &amp; CONTENT OF REPORTS</a:t>
            </a:r>
            <a:endParaRPr lang="en-US" sz="1400" dirty="0"/>
          </a:p>
        </p:txBody>
      </p:sp>
      <p:sp>
        <p:nvSpPr>
          <p:cNvPr id="6" name="Text 4"/>
          <p:cNvSpPr/>
          <p:nvPr/>
        </p:nvSpPr>
        <p:spPr>
          <a:xfrm>
            <a:off x="502920" y="585216"/>
            <a:ext cx="11183112" cy="786384"/>
          </a:xfrm>
          <a:prstGeom prst="rect">
            <a:avLst/>
          </a:prstGeom>
          <a:noFill/>
          <a:ln/>
        </p:spPr>
        <p:txBody>
          <a:bodyPr wrap="square" rtlCol="0" anchor="ctr"/>
          <a:lstStyle/>
          <a:p>
            <a:pPr indent="0" marL="0">
              <a:buNone/>
            </a:pPr>
            <a:r>
              <a:rPr lang="en-US" sz="3400" b="1" dirty="0">
                <a:solidFill>
                  <a:srgbClr val="002050"/>
                </a:solidFill>
                <a:latin typeface="Aptos Display" pitchFamily="34" charset="0"/>
                <a:ea typeface="Aptos Display" pitchFamily="34" charset="-122"/>
                <a:cs typeface="Aptos Display" pitchFamily="34" charset="-120"/>
              </a:rPr>
              <a:t>Know the Purpose Before You Write</a:t>
            </a:r>
            <a:endParaRPr lang="en-US" sz="3400" dirty="0"/>
          </a:p>
        </p:txBody>
      </p:sp>
      <p:sp>
        <p:nvSpPr>
          <p:cNvPr id="7" name="Text 5"/>
          <p:cNvSpPr/>
          <p:nvPr/>
        </p:nvSpPr>
        <p:spPr>
          <a:xfrm>
            <a:off x="502920" y="1828800"/>
            <a:ext cx="11183112" cy="4663440"/>
          </a:xfrm>
          <a:prstGeom prst="rect">
            <a:avLst/>
          </a:prstGeom>
          <a:noFill/>
          <a:ln/>
        </p:spPr>
        <p:txBody>
          <a:bodyPr wrap="square" rtlCol="0" anchor="t"/>
          <a:lstStyle/>
          <a:p>
            <a:pPr indent="0" marL="0">
              <a:lnSpc>
                <a:spcPct val="112000"/>
              </a:lnSpc>
              <a:spcAft>
                <a:spcPts val="1200"/>
              </a:spcAft>
              <a:buNone/>
            </a:pPr>
            <a:r>
              <a:rPr lang="en-US" sz="1900" dirty="0">
                <a:solidFill>
                  <a:srgbClr val="002050"/>
                </a:solidFill>
                <a:latin typeface="Aptos" pitchFamily="34" charset="0"/>
                <a:ea typeface="Aptos" pitchFamily="34" charset="-122"/>
                <a:cs typeface="Aptos" pitchFamily="34" charset="-120"/>
              </a:rPr>
              <a:t>Before we start writing reports in business, we need to understand what the purpose of the report is — i.e. the outcome, or required outcome thereof — as well as the manner (style) in which the report must be written.
</a:t>
            </a:r>
            <a:endParaRPr lang="en-US" sz="1900" dirty="0"/>
          </a:p>
          <a:p>
            <a:pPr indent="0" marL="0">
              <a:lnSpc>
                <a:spcPct val="112000"/>
              </a:lnSpc>
              <a:spcAft>
                <a:spcPts val="1200"/>
              </a:spcAft>
              <a:buNone/>
            </a:pPr>
            <a:r>
              <a:rPr lang="en-US" sz="1900" dirty="0">
                <a:solidFill>
                  <a:srgbClr val="002050"/>
                </a:solidFill>
                <a:latin typeface="Aptos" pitchFamily="34" charset="0"/>
                <a:ea typeface="Aptos" pitchFamily="34" charset="-122"/>
                <a:cs typeface="Aptos" pitchFamily="34" charset="-120"/>
              </a:rPr>
              <a:t>Writing a report in a style which is not suited to its audience or readers will not be professional. Therefore, we must understand what we need to put into the report and phrase it appropriately so that the readers understand the information being given to them.</a:t>
            </a:r>
            <a:endParaRPr lang="en-US" sz="1900" dirty="0"/>
          </a:p>
        </p:txBody>
      </p:sp>
      <p:pic>
        <p:nvPicPr>
          <p:cNvPr id="8"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5637276" y="4754880"/>
            <a:ext cx="914400" cy="9144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6473952"/>
            <a:ext cx="10268712" cy="274320"/>
          </a:xfrm>
          <a:prstGeom prst="rect">
            <a:avLst/>
          </a:prstGeom>
          <a:noFill/>
          <a:ln/>
        </p:spPr>
        <p:txBody>
          <a:bodyPr wrap="square" rtlCol="0" anchor="ctr"/>
          <a:lstStyle/>
          <a:p>
            <a:pPr indent="0" marL="0">
              <a:buNone/>
            </a:pPr>
            <a:r>
              <a:rPr lang="en-US" sz="1000" dirty="0">
                <a:solidFill>
                  <a:srgbClr val="6B7280"/>
                </a:solidFill>
                <a:latin typeface="Aptos" pitchFamily="34" charset="0"/>
                <a:ea typeface="Aptos" pitchFamily="34" charset="-122"/>
                <a:cs typeface="Aptos" pitchFamily="34" charset="-120"/>
              </a:rPr>
              <a:t>Unit Standard 8252 — Writing Business Reports   ·   Investec IT Systems Support NQF 5</a:t>
            </a:r>
            <a:endParaRPr lang="en-US" sz="1000" dirty="0"/>
          </a:p>
        </p:txBody>
      </p:sp>
      <p:sp>
        <p:nvSpPr>
          <p:cNvPr id="3" name="Text 1"/>
          <p:cNvSpPr/>
          <p:nvPr/>
        </p:nvSpPr>
        <p:spPr>
          <a:xfrm>
            <a:off x="11137392" y="6473952"/>
            <a:ext cx="548640" cy="274320"/>
          </a:xfrm>
          <a:prstGeom prst="rect">
            <a:avLst/>
          </a:prstGeom>
          <a:noFill/>
          <a:ln/>
        </p:spPr>
        <p:txBody>
          <a:bodyPr wrap="square" rtlCol="0" anchor="ctr"/>
          <a:lstStyle/>
          <a:p>
            <a:pPr algn="r" indent="0" marL="0">
              <a:buNone/>
            </a:pPr>
            <a:r>
              <a:rPr lang="en-US" sz="1000" dirty="0">
                <a:solidFill>
                  <a:srgbClr val="6B7280"/>
                </a:solidFill>
                <a:latin typeface="Aptos" pitchFamily="34" charset="0"/>
                <a:ea typeface="Aptos" pitchFamily="34" charset="-122"/>
                <a:cs typeface="Aptos" pitchFamily="34" charset="-120"/>
              </a:rPr>
              <a:t>10</a:t>
            </a:r>
            <a:endParaRPr lang="en-US" sz="1000" dirty="0"/>
          </a:p>
        </p:txBody>
      </p:sp>
      <p:sp>
        <p:nvSpPr>
          <p:cNvPr id="4" name="Shape 2"/>
          <p:cNvSpPr/>
          <p:nvPr/>
        </p:nvSpPr>
        <p:spPr>
          <a:xfrm>
            <a:off x="0" y="0"/>
            <a:ext cx="12188952" cy="82296"/>
          </a:xfrm>
          <a:prstGeom prst="rect">
            <a:avLst/>
          </a:prstGeom>
          <a:solidFill>
            <a:srgbClr val="0F6CBD"/>
          </a:solidFill>
          <a:ln/>
        </p:spPr>
      </p:sp>
      <p:sp>
        <p:nvSpPr>
          <p:cNvPr id="5" name="Text 3"/>
          <p:cNvSpPr/>
          <p:nvPr/>
        </p:nvSpPr>
        <p:spPr>
          <a:xfrm>
            <a:off x="502920" y="256032"/>
            <a:ext cx="11183112" cy="347472"/>
          </a:xfrm>
          <a:prstGeom prst="rect">
            <a:avLst/>
          </a:prstGeom>
          <a:noFill/>
          <a:ln/>
        </p:spPr>
        <p:txBody>
          <a:bodyPr wrap="square" rtlCol="0" anchor="ctr"/>
          <a:lstStyle/>
          <a:p>
            <a:pPr indent="0" marL="0">
              <a:buNone/>
            </a:pPr>
            <a:r>
              <a:rPr lang="en-US" sz="1400" b="1" spc="200" kern="0" dirty="0">
                <a:solidFill>
                  <a:srgbClr val="0F6CBD"/>
                </a:solidFill>
                <a:latin typeface="Aptos" pitchFamily="34" charset="0"/>
                <a:ea typeface="Aptos" pitchFamily="34" charset="-122"/>
                <a:cs typeface="Aptos" pitchFamily="34" charset="-120"/>
              </a:rPr>
              <a:t>HOW TO WRITE A REPORT</a:t>
            </a:r>
            <a:endParaRPr lang="en-US" sz="1400" dirty="0"/>
          </a:p>
        </p:txBody>
      </p:sp>
      <p:sp>
        <p:nvSpPr>
          <p:cNvPr id="6" name="Text 4"/>
          <p:cNvSpPr/>
          <p:nvPr/>
        </p:nvSpPr>
        <p:spPr>
          <a:xfrm>
            <a:off x="502920" y="585216"/>
            <a:ext cx="11183112" cy="786384"/>
          </a:xfrm>
          <a:prstGeom prst="rect">
            <a:avLst/>
          </a:prstGeom>
          <a:noFill/>
          <a:ln/>
        </p:spPr>
        <p:txBody>
          <a:bodyPr wrap="square" rtlCol="0" anchor="ctr"/>
          <a:lstStyle/>
          <a:p>
            <a:pPr indent="0" marL="0">
              <a:buNone/>
            </a:pPr>
            <a:r>
              <a:rPr lang="en-US" sz="3400" b="1" dirty="0">
                <a:solidFill>
                  <a:srgbClr val="002050"/>
                </a:solidFill>
                <a:latin typeface="Aptos Display" pitchFamily="34" charset="0"/>
                <a:ea typeface="Aptos Display" pitchFamily="34" charset="-122"/>
                <a:cs typeface="Aptos Display" pitchFamily="34" charset="-120"/>
              </a:rPr>
              <a:t>How to Write a Report — Style</a:t>
            </a:r>
            <a:endParaRPr lang="en-US" sz="3400" dirty="0"/>
          </a:p>
        </p:txBody>
      </p:sp>
      <p:sp>
        <p:nvSpPr>
          <p:cNvPr id="7" name="Text 5"/>
          <p:cNvSpPr/>
          <p:nvPr/>
        </p:nvSpPr>
        <p:spPr>
          <a:xfrm>
            <a:off x="502920" y="1554480"/>
            <a:ext cx="11183112" cy="457200"/>
          </a:xfrm>
          <a:prstGeom prst="rect">
            <a:avLst/>
          </a:prstGeom>
          <a:noFill/>
          <a:ln/>
        </p:spPr>
        <p:txBody>
          <a:bodyPr wrap="square" rtlCol="0" anchor="ctr"/>
          <a:lstStyle/>
          <a:p>
            <a:pPr indent="0" marL="0">
              <a:buNone/>
            </a:pPr>
            <a:r>
              <a:rPr lang="en-US" sz="1650" dirty="0">
                <a:solidFill>
                  <a:srgbClr val="6B7280"/>
                </a:solidFill>
                <a:latin typeface="Aptos" pitchFamily="34" charset="0"/>
                <a:ea typeface="Aptos" pitchFamily="34" charset="-122"/>
                <a:cs typeface="Aptos" pitchFamily="34" charset="-120"/>
              </a:rPr>
              <a:t>To make sure a recommendation report works perfectly, the persons for whom the report is intended must be able to do four things:</a:t>
            </a:r>
            <a:endParaRPr lang="en-US" sz="1650" dirty="0"/>
          </a:p>
        </p:txBody>
      </p:sp>
      <p:sp>
        <p:nvSpPr>
          <p:cNvPr id="8" name="Shape 6"/>
          <p:cNvSpPr/>
          <p:nvPr/>
        </p:nvSpPr>
        <p:spPr>
          <a:xfrm>
            <a:off x="502920" y="2103120"/>
            <a:ext cx="11183112" cy="626364"/>
          </a:xfrm>
          <a:prstGeom prst="roundRect">
            <a:avLst>
              <a:gd name="adj" fmla="val 13139"/>
            </a:avLst>
          </a:prstGeom>
          <a:solidFill>
            <a:srgbClr val="FFFFFF"/>
          </a:solidFill>
          <a:ln w="12700">
            <a:solidFill>
              <a:srgbClr val="D5E3F2"/>
            </a:solidFill>
            <a:prstDash val="solid"/>
          </a:ln>
          <a:effectLst>
            <a:outerShdw sx="100000" sy="100000" kx="0" ky="0" algn="bl" rotWithShape="0" blurRad="88900" dist="25400" dir="5400000">
              <a:srgbClr val="9AB4CC">
                <a:alpha val="30000"/>
              </a:srgbClr>
            </a:outerShdw>
          </a:effectLst>
        </p:spPr>
      </p:sp>
      <p:sp>
        <p:nvSpPr>
          <p:cNvPr id="9" name="Shape 7"/>
          <p:cNvSpPr/>
          <p:nvPr/>
        </p:nvSpPr>
        <p:spPr>
          <a:xfrm>
            <a:off x="502920" y="2103120"/>
            <a:ext cx="82296" cy="626364"/>
          </a:xfrm>
          <a:prstGeom prst="rect">
            <a:avLst/>
          </a:prstGeom>
          <a:solidFill>
            <a:srgbClr val="0F6CBD"/>
          </a:solidFill>
          <a:ln/>
        </p:spPr>
      </p:sp>
      <p:pic>
        <p:nvPicPr>
          <p:cNvPr id="10"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58952" y="2267712"/>
            <a:ext cx="365760" cy="365760"/>
          </a:xfrm>
          <a:prstGeom prst="rect">
            <a:avLst/>
          </a:prstGeom>
        </p:spPr>
      </p:pic>
      <p:sp>
        <p:nvSpPr>
          <p:cNvPr id="11" name="Text 8"/>
          <p:cNvSpPr/>
          <p:nvPr/>
        </p:nvSpPr>
        <p:spPr>
          <a:xfrm>
            <a:off x="1280160" y="2212848"/>
            <a:ext cx="10131552" cy="406908"/>
          </a:xfrm>
          <a:prstGeom prst="rect">
            <a:avLst/>
          </a:prstGeom>
          <a:noFill/>
          <a:ln/>
        </p:spPr>
        <p:txBody>
          <a:bodyPr wrap="square" rtlCol="0" anchor="ctr"/>
          <a:lstStyle/>
          <a:p>
            <a:pPr indent="0" marL="0">
              <a:lnSpc>
                <a:spcPct val="108000"/>
              </a:lnSpc>
              <a:buNone/>
            </a:pPr>
            <a:r>
              <a:rPr lang="en-US" sz="1800" b="1" dirty="0">
                <a:solidFill>
                  <a:srgbClr val="002050"/>
                </a:solidFill>
                <a:latin typeface="Aptos Display" pitchFamily="34" charset="0"/>
                <a:ea typeface="Aptos Display" pitchFamily="34" charset="-122"/>
                <a:cs typeface="Aptos Display" pitchFamily="34" charset="-120"/>
              </a:rPr>
              <a:t>Read it quickly
</a:t>
            </a:r>
            <a:pPr indent="0" marL="0">
              <a:lnSpc>
                <a:spcPct val="108000"/>
              </a:lnSpc>
              <a:buNone/>
            </a:pPr>
            <a:r>
              <a:rPr lang="en-US" sz="1450" dirty="0">
                <a:solidFill>
                  <a:srgbClr val="002050"/>
                </a:solidFill>
                <a:latin typeface="Aptos" pitchFamily="34" charset="0"/>
                <a:ea typeface="Aptos" pitchFamily="34" charset="-122"/>
                <a:cs typeface="Aptos" pitchFamily="34" charset="-120"/>
              </a:rPr>
              <a:t>They can read the report without wasting any time.</a:t>
            </a:r>
            <a:endParaRPr lang="en-US" sz="1800" dirty="0"/>
          </a:p>
        </p:txBody>
      </p:sp>
      <p:sp>
        <p:nvSpPr>
          <p:cNvPr id="12" name="Shape 9"/>
          <p:cNvSpPr/>
          <p:nvPr/>
        </p:nvSpPr>
        <p:spPr>
          <a:xfrm>
            <a:off x="502920" y="2930652"/>
            <a:ext cx="11183112" cy="626364"/>
          </a:xfrm>
          <a:prstGeom prst="roundRect">
            <a:avLst>
              <a:gd name="adj" fmla="val 13139"/>
            </a:avLst>
          </a:prstGeom>
          <a:solidFill>
            <a:srgbClr val="EAF4FF"/>
          </a:solidFill>
          <a:ln w="12700">
            <a:solidFill>
              <a:srgbClr val="D5E3F2"/>
            </a:solidFill>
            <a:prstDash val="solid"/>
          </a:ln>
          <a:effectLst>
            <a:outerShdw sx="100000" sy="100000" kx="0" ky="0" algn="bl" rotWithShape="0" blurRad="88900" dist="25400" dir="5400000">
              <a:srgbClr val="9AB4CC">
                <a:alpha val="30000"/>
              </a:srgbClr>
            </a:outerShdw>
          </a:effectLst>
        </p:spPr>
      </p:sp>
      <p:sp>
        <p:nvSpPr>
          <p:cNvPr id="13" name="Shape 10"/>
          <p:cNvSpPr/>
          <p:nvPr/>
        </p:nvSpPr>
        <p:spPr>
          <a:xfrm>
            <a:off x="502920" y="2930652"/>
            <a:ext cx="82296" cy="626364"/>
          </a:xfrm>
          <a:prstGeom prst="rect">
            <a:avLst/>
          </a:prstGeom>
          <a:solidFill>
            <a:srgbClr val="0F6CBD"/>
          </a:solidFill>
          <a:ln/>
        </p:spPr>
      </p:sp>
      <p:pic>
        <p:nvPicPr>
          <p:cNvPr id="14"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58952" y="3095244"/>
            <a:ext cx="365760" cy="365760"/>
          </a:xfrm>
          <a:prstGeom prst="rect">
            <a:avLst/>
          </a:prstGeom>
        </p:spPr>
      </p:pic>
      <p:sp>
        <p:nvSpPr>
          <p:cNvPr id="15" name="Text 11"/>
          <p:cNvSpPr/>
          <p:nvPr/>
        </p:nvSpPr>
        <p:spPr>
          <a:xfrm>
            <a:off x="1280160" y="3040380"/>
            <a:ext cx="10131552" cy="406908"/>
          </a:xfrm>
          <a:prstGeom prst="rect">
            <a:avLst/>
          </a:prstGeom>
          <a:noFill/>
          <a:ln/>
        </p:spPr>
        <p:txBody>
          <a:bodyPr wrap="square" rtlCol="0" anchor="ctr"/>
          <a:lstStyle/>
          <a:p>
            <a:pPr indent="0" marL="0">
              <a:lnSpc>
                <a:spcPct val="108000"/>
              </a:lnSpc>
              <a:buNone/>
            </a:pPr>
            <a:r>
              <a:rPr lang="en-US" sz="1800" b="1" dirty="0">
                <a:solidFill>
                  <a:srgbClr val="002050"/>
                </a:solidFill>
                <a:latin typeface="Aptos Display" pitchFamily="34" charset="0"/>
                <a:ea typeface="Aptos Display" pitchFamily="34" charset="-122"/>
                <a:cs typeface="Aptos Display" pitchFamily="34" charset="-120"/>
              </a:rPr>
              <a:t>Understand it easily
</a:t>
            </a:r>
            <a:pPr indent="0" marL="0">
              <a:lnSpc>
                <a:spcPct val="108000"/>
              </a:lnSpc>
              <a:buNone/>
            </a:pPr>
            <a:r>
              <a:rPr lang="en-US" sz="1450" dirty="0">
                <a:solidFill>
                  <a:srgbClr val="002050"/>
                </a:solidFill>
                <a:latin typeface="Aptos" pitchFamily="34" charset="0"/>
                <a:ea typeface="Aptos" pitchFamily="34" charset="-122"/>
                <a:cs typeface="Aptos" pitchFamily="34" charset="-120"/>
              </a:rPr>
              <a:t>They can grasp everything in the report without struggling.</a:t>
            </a:r>
            <a:endParaRPr lang="en-US" sz="1800" dirty="0"/>
          </a:p>
        </p:txBody>
      </p:sp>
      <p:sp>
        <p:nvSpPr>
          <p:cNvPr id="16" name="Shape 12"/>
          <p:cNvSpPr/>
          <p:nvPr/>
        </p:nvSpPr>
        <p:spPr>
          <a:xfrm>
            <a:off x="502920" y="3758184"/>
            <a:ext cx="11183112" cy="626364"/>
          </a:xfrm>
          <a:prstGeom prst="roundRect">
            <a:avLst>
              <a:gd name="adj" fmla="val 13139"/>
            </a:avLst>
          </a:prstGeom>
          <a:solidFill>
            <a:srgbClr val="FFFFFF"/>
          </a:solidFill>
          <a:ln w="12700">
            <a:solidFill>
              <a:srgbClr val="D5E3F2"/>
            </a:solidFill>
            <a:prstDash val="solid"/>
          </a:ln>
          <a:effectLst>
            <a:outerShdw sx="100000" sy="100000" kx="0" ky="0" algn="bl" rotWithShape="0" blurRad="88900" dist="25400" dir="5400000">
              <a:srgbClr val="9AB4CC">
                <a:alpha val="30000"/>
              </a:srgbClr>
            </a:outerShdw>
          </a:effectLst>
        </p:spPr>
      </p:sp>
      <p:sp>
        <p:nvSpPr>
          <p:cNvPr id="17" name="Shape 13"/>
          <p:cNvSpPr/>
          <p:nvPr/>
        </p:nvSpPr>
        <p:spPr>
          <a:xfrm>
            <a:off x="502920" y="3758184"/>
            <a:ext cx="82296" cy="626364"/>
          </a:xfrm>
          <a:prstGeom prst="rect">
            <a:avLst/>
          </a:prstGeom>
          <a:solidFill>
            <a:srgbClr val="0F6CBD"/>
          </a:solidFill>
          <a:ln/>
        </p:spPr>
      </p:sp>
      <p:pic>
        <p:nvPicPr>
          <p:cNvPr id="18"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58952" y="3922776"/>
            <a:ext cx="365760" cy="365760"/>
          </a:xfrm>
          <a:prstGeom prst="rect">
            <a:avLst/>
          </a:prstGeom>
        </p:spPr>
      </p:pic>
      <p:sp>
        <p:nvSpPr>
          <p:cNvPr id="19" name="Text 14"/>
          <p:cNvSpPr/>
          <p:nvPr/>
        </p:nvSpPr>
        <p:spPr>
          <a:xfrm>
            <a:off x="1280160" y="3867912"/>
            <a:ext cx="10131552" cy="406908"/>
          </a:xfrm>
          <a:prstGeom prst="rect">
            <a:avLst/>
          </a:prstGeom>
          <a:noFill/>
          <a:ln/>
        </p:spPr>
        <p:txBody>
          <a:bodyPr wrap="square" rtlCol="0" anchor="ctr"/>
          <a:lstStyle/>
          <a:p>
            <a:pPr indent="0" marL="0">
              <a:lnSpc>
                <a:spcPct val="108000"/>
              </a:lnSpc>
              <a:buNone/>
            </a:pPr>
            <a:r>
              <a:rPr lang="en-US" sz="1800" b="1" dirty="0">
                <a:solidFill>
                  <a:srgbClr val="002050"/>
                </a:solidFill>
                <a:latin typeface="Aptos Display" pitchFamily="34" charset="0"/>
                <a:ea typeface="Aptos Display" pitchFamily="34" charset="-122"/>
                <a:cs typeface="Aptos Display" pitchFamily="34" charset="-120"/>
              </a:rPr>
              <a:t>Trust the information
</a:t>
            </a:r>
            <a:pPr indent="0" marL="0">
              <a:lnSpc>
                <a:spcPct val="108000"/>
              </a:lnSpc>
              <a:buNone/>
            </a:pPr>
            <a:r>
              <a:rPr lang="en-US" sz="1450" dirty="0">
                <a:solidFill>
                  <a:srgbClr val="002050"/>
                </a:solidFill>
                <a:latin typeface="Aptos" pitchFamily="34" charset="0"/>
                <a:ea typeface="Aptos" pitchFamily="34" charset="-122"/>
                <a:cs typeface="Aptos" pitchFamily="34" charset="-120"/>
              </a:rPr>
              <a:t>They agree with and believe your facts, results, and ideas.</a:t>
            </a:r>
            <a:endParaRPr lang="en-US" sz="1800" dirty="0"/>
          </a:p>
        </p:txBody>
      </p:sp>
      <p:sp>
        <p:nvSpPr>
          <p:cNvPr id="20" name="Shape 15"/>
          <p:cNvSpPr/>
          <p:nvPr/>
        </p:nvSpPr>
        <p:spPr>
          <a:xfrm>
            <a:off x="502920" y="4585716"/>
            <a:ext cx="11183112" cy="626364"/>
          </a:xfrm>
          <a:prstGeom prst="roundRect">
            <a:avLst>
              <a:gd name="adj" fmla="val 13139"/>
            </a:avLst>
          </a:prstGeom>
          <a:solidFill>
            <a:srgbClr val="EAF4FF"/>
          </a:solidFill>
          <a:ln w="12700">
            <a:solidFill>
              <a:srgbClr val="D5E3F2"/>
            </a:solidFill>
            <a:prstDash val="solid"/>
          </a:ln>
          <a:effectLst>
            <a:outerShdw sx="100000" sy="100000" kx="0" ky="0" algn="bl" rotWithShape="0" blurRad="88900" dist="25400" dir="5400000">
              <a:srgbClr val="9AB4CC">
                <a:alpha val="30000"/>
              </a:srgbClr>
            </a:outerShdw>
          </a:effectLst>
        </p:spPr>
      </p:sp>
      <p:sp>
        <p:nvSpPr>
          <p:cNvPr id="21" name="Shape 16"/>
          <p:cNvSpPr/>
          <p:nvPr/>
        </p:nvSpPr>
        <p:spPr>
          <a:xfrm>
            <a:off x="502920" y="4585716"/>
            <a:ext cx="82296" cy="626364"/>
          </a:xfrm>
          <a:prstGeom prst="rect">
            <a:avLst/>
          </a:prstGeom>
          <a:solidFill>
            <a:srgbClr val="0F6CBD"/>
          </a:solidFill>
          <a:ln/>
        </p:spPr>
      </p:sp>
      <p:pic>
        <p:nvPicPr>
          <p:cNvPr id="22"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758952" y="4750308"/>
            <a:ext cx="365760" cy="365760"/>
          </a:xfrm>
          <a:prstGeom prst="rect">
            <a:avLst/>
          </a:prstGeom>
        </p:spPr>
      </p:pic>
      <p:sp>
        <p:nvSpPr>
          <p:cNvPr id="23" name="Text 17"/>
          <p:cNvSpPr/>
          <p:nvPr/>
        </p:nvSpPr>
        <p:spPr>
          <a:xfrm>
            <a:off x="1280160" y="4695444"/>
            <a:ext cx="10131552" cy="406908"/>
          </a:xfrm>
          <a:prstGeom prst="rect">
            <a:avLst/>
          </a:prstGeom>
          <a:noFill/>
          <a:ln/>
        </p:spPr>
        <p:txBody>
          <a:bodyPr wrap="square" rtlCol="0" anchor="ctr"/>
          <a:lstStyle/>
          <a:p>
            <a:pPr indent="0" marL="0">
              <a:lnSpc>
                <a:spcPct val="108000"/>
              </a:lnSpc>
              <a:buNone/>
            </a:pPr>
            <a:r>
              <a:rPr lang="en-US" sz="1800" b="1" dirty="0">
                <a:solidFill>
                  <a:srgbClr val="002050"/>
                </a:solidFill>
                <a:latin typeface="Aptos Display" pitchFamily="34" charset="0"/>
                <a:ea typeface="Aptos Display" pitchFamily="34" charset="-122"/>
                <a:cs typeface="Aptos Display" pitchFamily="34" charset="-120"/>
              </a:rPr>
              <a:t>Take action
</a:t>
            </a:r>
            <a:pPr indent="0" marL="0">
              <a:lnSpc>
                <a:spcPct val="108000"/>
              </a:lnSpc>
              <a:buNone/>
            </a:pPr>
            <a:r>
              <a:rPr lang="en-US" sz="1450" dirty="0">
                <a:solidFill>
                  <a:srgbClr val="002050"/>
                </a:solidFill>
                <a:latin typeface="Aptos" pitchFamily="34" charset="0"/>
                <a:ea typeface="Aptos" pitchFamily="34" charset="-122"/>
                <a:cs typeface="Aptos" pitchFamily="34" charset="-120"/>
              </a:rPr>
              <a:t>They choose to follow your advice and do what you suggest.</a:t>
            </a:r>
            <a:endParaRPr lang="en-US" sz="1800" dirty="0"/>
          </a:p>
        </p:txBody>
      </p:sp>
      <p:sp>
        <p:nvSpPr>
          <p:cNvPr id="24" name="Shape 18"/>
          <p:cNvSpPr/>
          <p:nvPr/>
        </p:nvSpPr>
        <p:spPr>
          <a:xfrm>
            <a:off x="502920" y="5394960"/>
            <a:ext cx="11183112" cy="914400"/>
          </a:xfrm>
          <a:prstGeom prst="roundRect">
            <a:avLst>
              <a:gd name="adj" fmla="val 9000"/>
            </a:avLst>
          </a:prstGeom>
          <a:solidFill>
            <a:srgbClr val="EAF4FF"/>
          </a:solidFill>
          <a:ln w="12700">
            <a:solidFill>
              <a:srgbClr val="D5E3F2"/>
            </a:solidFill>
            <a:prstDash val="solid"/>
          </a:ln>
          <a:effectLst>
            <a:outerShdw sx="100000" sy="100000" kx="0" ky="0" algn="bl" rotWithShape="0" blurRad="88900" dist="25400" dir="5400000">
              <a:srgbClr val="9AB4CC">
                <a:alpha val="30000"/>
              </a:srgbClr>
            </a:outerShdw>
          </a:effectLst>
        </p:spPr>
      </p:sp>
      <p:pic>
        <p:nvPicPr>
          <p:cNvPr id="25" name="Image 4" descr="preencoded.png">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731520" y="5623560"/>
            <a:ext cx="329184" cy="329184"/>
          </a:xfrm>
          <a:prstGeom prst="rect">
            <a:avLst/>
          </a:prstGeom>
        </p:spPr>
      </p:pic>
      <p:sp>
        <p:nvSpPr>
          <p:cNvPr id="26" name="Text 19"/>
          <p:cNvSpPr/>
          <p:nvPr/>
        </p:nvSpPr>
        <p:spPr>
          <a:xfrm>
            <a:off x="1188720" y="5486400"/>
            <a:ext cx="10222992" cy="731520"/>
          </a:xfrm>
          <a:prstGeom prst="rect">
            <a:avLst/>
          </a:prstGeom>
          <a:noFill/>
          <a:ln/>
        </p:spPr>
        <p:txBody>
          <a:bodyPr wrap="square" rtlCol="0" anchor="ctr"/>
          <a:lstStyle/>
          <a:p>
            <a:pPr indent="0" marL="0">
              <a:lnSpc>
                <a:spcPct val="108000"/>
              </a:lnSpc>
              <a:buNone/>
            </a:pPr>
            <a:r>
              <a:rPr lang="en-US" sz="1500" dirty="0">
                <a:solidFill>
                  <a:srgbClr val="002050"/>
                </a:solidFill>
                <a:latin typeface="Aptos" pitchFamily="34" charset="0"/>
                <a:ea typeface="Aptos" pitchFamily="34" charset="-122"/>
                <a:cs typeface="Aptos" pitchFamily="34" charset="-120"/>
              </a:rPr>
              <a:t>Achieving this demands more of you than merely presenting relevant facts accurately. It also demands that you communicate in a way that is both acceptable and intelligible to the readers.</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6473952"/>
            <a:ext cx="10268712" cy="274320"/>
          </a:xfrm>
          <a:prstGeom prst="rect">
            <a:avLst/>
          </a:prstGeom>
          <a:noFill/>
          <a:ln/>
        </p:spPr>
        <p:txBody>
          <a:bodyPr wrap="square" rtlCol="0" anchor="ctr"/>
          <a:lstStyle/>
          <a:p>
            <a:pPr indent="0" marL="0">
              <a:buNone/>
            </a:pPr>
            <a:r>
              <a:rPr lang="en-US" sz="1000" dirty="0">
                <a:solidFill>
                  <a:srgbClr val="6B7280"/>
                </a:solidFill>
                <a:latin typeface="Aptos" pitchFamily="34" charset="0"/>
                <a:ea typeface="Aptos" pitchFamily="34" charset="-122"/>
                <a:cs typeface="Aptos" pitchFamily="34" charset="-120"/>
              </a:rPr>
              <a:t>Unit Standard 8252 — Writing Business Reports   ·   Investec IT Systems Support NQF 5</a:t>
            </a:r>
            <a:endParaRPr lang="en-US" sz="1000" dirty="0"/>
          </a:p>
        </p:txBody>
      </p:sp>
      <p:sp>
        <p:nvSpPr>
          <p:cNvPr id="3" name="Text 1"/>
          <p:cNvSpPr/>
          <p:nvPr/>
        </p:nvSpPr>
        <p:spPr>
          <a:xfrm>
            <a:off x="11137392" y="6473952"/>
            <a:ext cx="548640" cy="274320"/>
          </a:xfrm>
          <a:prstGeom prst="rect">
            <a:avLst/>
          </a:prstGeom>
          <a:noFill/>
          <a:ln/>
        </p:spPr>
        <p:txBody>
          <a:bodyPr wrap="square" rtlCol="0" anchor="ctr"/>
          <a:lstStyle/>
          <a:p>
            <a:pPr algn="r" indent="0" marL="0">
              <a:buNone/>
            </a:pPr>
            <a:r>
              <a:rPr lang="en-US" sz="1000" dirty="0">
                <a:solidFill>
                  <a:srgbClr val="6B7280"/>
                </a:solidFill>
                <a:latin typeface="Aptos" pitchFamily="34" charset="0"/>
                <a:ea typeface="Aptos" pitchFamily="34" charset="-122"/>
                <a:cs typeface="Aptos" pitchFamily="34" charset="-120"/>
              </a:rPr>
              <a:t>11</a:t>
            </a:r>
            <a:endParaRPr lang="en-US" sz="1000" dirty="0"/>
          </a:p>
        </p:txBody>
      </p:sp>
      <p:sp>
        <p:nvSpPr>
          <p:cNvPr id="4" name="Shape 2"/>
          <p:cNvSpPr/>
          <p:nvPr/>
        </p:nvSpPr>
        <p:spPr>
          <a:xfrm>
            <a:off x="0" y="0"/>
            <a:ext cx="12188952" cy="82296"/>
          </a:xfrm>
          <a:prstGeom prst="rect">
            <a:avLst/>
          </a:prstGeom>
          <a:solidFill>
            <a:srgbClr val="0F6CBD"/>
          </a:solidFill>
          <a:ln/>
        </p:spPr>
      </p:sp>
      <p:sp>
        <p:nvSpPr>
          <p:cNvPr id="5" name="Text 3"/>
          <p:cNvSpPr/>
          <p:nvPr/>
        </p:nvSpPr>
        <p:spPr>
          <a:xfrm>
            <a:off x="502920" y="256032"/>
            <a:ext cx="11183112" cy="347472"/>
          </a:xfrm>
          <a:prstGeom prst="rect">
            <a:avLst/>
          </a:prstGeom>
          <a:noFill/>
          <a:ln/>
        </p:spPr>
        <p:txBody>
          <a:bodyPr wrap="square" rtlCol="0" anchor="ctr"/>
          <a:lstStyle/>
          <a:p>
            <a:pPr indent="0" marL="0">
              <a:buNone/>
            </a:pPr>
            <a:r>
              <a:rPr lang="en-US" sz="1400" b="1" spc="200" kern="0" dirty="0">
                <a:solidFill>
                  <a:srgbClr val="0F6CBD"/>
                </a:solidFill>
                <a:latin typeface="Aptos" pitchFamily="34" charset="0"/>
                <a:ea typeface="Aptos" pitchFamily="34" charset="-122"/>
                <a:cs typeface="Aptos" pitchFamily="34" charset="-120"/>
              </a:rPr>
              <a:t>QUALITIES OF GOOD REPORT WRITING · 1 OF 2</a:t>
            </a:r>
            <a:endParaRPr lang="en-US" sz="1400" dirty="0"/>
          </a:p>
        </p:txBody>
      </p:sp>
      <p:sp>
        <p:nvSpPr>
          <p:cNvPr id="6" name="Text 4"/>
          <p:cNvSpPr/>
          <p:nvPr/>
        </p:nvSpPr>
        <p:spPr>
          <a:xfrm>
            <a:off x="502920" y="585216"/>
            <a:ext cx="11183112" cy="786384"/>
          </a:xfrm>
          <a:prstGeom prst="rect">
            <a:avLst/>
          </a:prstGeom>
          <a:noFill/>
          <a:ln/>
        </p:spPr>
        <p:txBody>
          <a:bodyPr wrap="square" rtlCol="0" anchor="ctr"/>
          <a:lstStyle/>
          <a:p>
            <a:pPr indent="0" marL="0">
              <a:buNone/>
            </a:pPr>
            <a:r>
              <a:rPr lang="en-US" sz="3400" b="1" dirty="0">
                <a:solidFill>
                  <a:srgbClr val="002050"/>
                </a:solidFill>
                <a:latin typeface="Aptos Display" pitchFamily="34" charset="0"/>
                <a:ea typeface="Aptos Display" pitchFamily="34" charset="-122"/>
                <a:cs typeface="Aptos Display" pitchFamily="34" charset="-120"/>
              </a:rPr>
              <a:t>Selectivity</a:t>
            </a:r>
            <a:endParaRPr lang="en-US" sz="3400" dirty="0"/>
          </a:p>
        </p:txBody>
      </p:sp>
      <p:sp>
        <p:nvSpPr>
          <p:cNvPr id="7" name="Text 5"/>
          <p:cNvSpPr/>
          <p:nvPr/>
        </p:nvSpPr>
        <p:spPr>
          <a:xfrm>
            <a:off x="502920" y="1554480"/>
            <a:ext cx="11183112" cy="411480"/>
          </a:xfrm>
          <a:prstGeom prst="rect">
            <a:avLst/>
          </a:prstGeom>
          <a:noFill/>
          <a:ln/>
        </p:spPr>
        <p:txBody>
          <a:bodyPr wrap="square" rtlCol="0" anchor="ctr"/>
          <a:lstStyle/>
          <a:p>
            <a:pPr indent="0" marL="0">
              <a:buNone/>
            </a:pPr>
            <a:r>
              <a:rPr lang="en-US" sz="1650" dirty="0">
                <a:solidFill>
                  <a:srgbClr val="6B7280"/>
                </a:solidFill>
                <a:latin typeface="Aptos" pitchFamily="34" charset="0"/>
                <a:ea typeface="Aptos" pitchFamily="34" charset="-122"/>
                <a:cs typeface="Aptos" pitchFamily="34" charset="-120"/>
              </a:rPr>
              <a:t>Careful choice of words can enable you to convey many subtleties of meaning.</a:t>
            </a:r>
            <a:endParaRPr lang="en-US" sz="165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02920" y="2057400"/>
          <a:ext cx="11183112" cy="914400"/>
        </p:xfrm>
        <a:graphic>
          <a:graphicData uri="http://schemas.openxmlformats.org/drawingml/2006/table">
            <a:tbl>
              <a:tblPr/>
              <a:tblGrid>
                <a:gridCol w="3108960"/>
                <a:gridCol w="3749040"/>
                <a:gridCol w="4325112"/>
              </a:tblGrid>
              <a:tr h="868680">
                <a:tc>
                  <a:txBody>
                    <a:bodyPr/>
                    <a:lstStyle/>
                    <a:p>
                      <a:pPr indent="0" marL="0">
                        <a:buNone/>
                      </a:pPr>
                      <a:r>
                        <a:rPr lang="en-US" sz="1400" b="1" dirty="0">
                          <a:solidFill>
                            <a:srgbClr val="FFFFFF"/>
                          </a:solidFill>
                          <a:latin typeface="Aptos Display" pitchFamily="34" charset="0"/>
                          <a:ea typeface="Aptos Display" pitchFamily="34" charset="-122"/>
                          <a:cs typeface="Aptos Display" pitchFamily="34" charset="-120"/>
                        </a:rPr>
                        <a:t>Vague / Soft Phrasing</a:t>
                      </a:r>
                      <a:endParaRPr lang="en-US" sz="1400" dirty="0">
                        <a:latin typeface="Aptos Display" charset="0"/>
                        <a:ea typeface="Aptos Display" charset="0"/>
                        <a:cs typeface="Aptos Display" charset="0"/>
                      </a:endParaRPr>
                    </a:p>
                  </a:txBody>
                  <a:tcPr marL="91440" marR="91440" marT="91440" marB="91440"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0F6CBD"/>
                    </a:solidFill>
                  </a:tcPr>
                </a:tc>
                <a:tc>
                  <a:txBody>
                    <a:bodyPr/>
                    <a:lstStyle/>
                    <a:p>
                      <a:pPr indent="0" marL="0">
                        <a:buNone/>
                      </a:pPr>
                      <a:r>
                        <a:rPr lang="en-US" sz="1400" b="1" dirty="0">
                          <a:solidFill>
                            <a:srgbClr val="FFFFFF"/>
                          </a:solidFill>
                          <a:latin typeface="Aptos Display" pitchFamily="34" charset="0"/>
                          <a:ea typeface="Aptos Display" pitchFamily="34" charset="-122"/>
                          <a:cs typeface="Aptos Display" pitchFamily="34" charset="-120"/>
                        </a:rPr>
                        <a:t>Precise IT Phrasing</a:t>
                      </a:r>
                      <a:endParaRPr lang="en-US" sz="1400" dirty="0">
                        <a:latin typeface="Aptos Display" charset="0"/>
                        <a:ea typeface="Aptos Display" charset="0"/>
                        <a:cs typeface="Aptos Display" charset="0"/>
                      </a:endParaRPr>
                    </a:p>
                  </a:txBody>
                  <a:tcPr marL="91440" marR="91440" marT="91440" marB="91440"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0F6CBD"/>
                    </a:solidFill>
                  </a:tcPr>
                </a:tc>
                <a:tc>
                  <a:txBody>
                    <a:bodyPr/>
                    <a:lstStyle/>
                    <a:p>
                      <a:pPr indent="0" marL="0">
                        <a:buNone/>
                      </a:pPr>
                      <a:r>
                        <a:rPr lang="en-US" sz="1400" b="1" dirty="0">
                          <a:solidFill>
                            <a:srgbClr val="FFFFFF"/>
                          </a:solidFill>
                          <a:latin typeface="Aptos Display" pitchFamily="34" charset="0"/>
                          <a:ea typeface="Aptos Display" pitchFamily="34" charset="-122"/>
                          <a:cs typeface="Aptos Display" pitchFamily="34" charset="-120"/>
                        </a:rPr>
                        <a:t>Impact of the Change</a:t>
                      </a:r>
                      <a:endParaRPr lang="en-US" sz="1400" dirty="0">
                        <a:latin typeface="Aptos Display" charset="0"/>
                        <a:ea typeface="Aptos Display" charset="0"/>
                        <a:cs typeface="Aptos Display" charset="0"/>
                      </a:endParaRPr>
                    </a:p>
                  </a:txBody>
                  <a:tcPr marL="91440" marR="91440" marT="91440" marB="91440"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0F6CBD"/>
                    </a:solidFill>
                  </a:tcPr>
                </a:tc>
              </a:tr>
              <a:tr h="868680">
                <a:tc>
                  <a:txBody>
                    <a:bodyPr/>
                    <a:lstStyle/>
                    <a:p>
                      <a:pPr indent="0" marL="0">
                        <a:buNone/>
                      </a:pPr>
                      <a:r>
                        <a:rPr lang="en-US" sz="1400" dirty="0">
                          <a:solidFill>
                            <a:srgbClr val="002050"/>
                          </a:solidFill>
                          <a:latin typeface="Aptos" pitchFamily="34" charset="0"/>
                          <a:ea typeface="Aptos" pitchFamily="34" charset="-122"/>
                          <a:cs typeface="Aptos" pitchFamily="34" charset="-120"/>
                        </a:rPr>
                        <a:t>“The server went down.”</a:t>
                      </a:r>
                      <a:endParaRPr lang="en-US" sz="1400" dirty="0">
                        <a:latin typeface="Aptos" charset="0"/>
                        <a:ea typeface="Aptos" charset="0"/>
                        <a:cs typeface="Aptos" charset="0"/>
                      </a:endParaRPr>
                    </a:p>
                  </a:txBody>
                  <a:tcPr marL="91440" marR="91440" marT="91440" marB="91440"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FFFFFF"/>
                    </a:solidFill>
                  </a:tcPr>
                </a:tc>
                <a:tc>
                  <a:txBody>
                    <a:bodyPr/>
                    <a:lstStyle/>
                    <a:p>
                      <a:pPr indent="0" marL="0">
                        <a:buNone/>
                      </a:pPr>
                      <a:r>
                        <a:rPr lang="en-US" sz="1400" dirty="0">
                          <a:solidFill>
                            <a:srgbClr val="002050"/>
                          </a:solidFill>
                          <a:latin typeface="Aptos" pitchFamily="34" charset="0"/>
                          <a:ea typeface="Aptos" pitchFamily="34" charset="-122"/>
                          <a:cs typeface="Aptos" pitchFamily="34" charset="-120"/>
                        </a:rPr>
                        <a:t>“The server experienced an unscheduled outage.”</a:t>
                      </a:r>
                      <a:endParaRPr lang="en-US" sz="1400" dirty="0">
                        <a:latin typeface="Aptos" charset="0"/>
                        <a:ea typeface="Aptos" charset="0"/>
                        <a:cs typeface="Aptos" charset="0"/>
                      </a:endParaRPr>
                    </a:p>
                  </a:txBody>
                  <a:tcPr marL="91440" marR="91440" marT="91440" marB="91440"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FFFFFF"/>
                    </a:solidFill>
                  </a:tcPr>
                </a:tc>
                <a:tc>
                  <a:txBody>
                    <a:bodyPr/>
                    <a:lstStyle/>
                    <a:p>
                      <a:pPr indent="0" marL="0">
                        <a:buNone/>
                      </a:pPr>
                      <a:r>
                        <a:rPr lang="en-US" sz="1400" dirty="0">
                          <a:solidFill>
                            <a:srgbClr val="002050"/>
                          </a:solidFill>
                          <a:latin typeface="Aptos" pitchFamily="34" charset="0"/>
                          <a:ea typeface="Aptos" pitchFamily="34" charset="-122"/>
                          <a:cs typeface="Aptos" pitchFamily="34" charset="-120"/>
                        </a:rPr>
                        <a:t>Clarifies that the downtime was unplanned and requires investigation.</a:t>
                      </a:r>
                      <a:endParaRPr lang="en-US" sz="1400" dirty="0">
                        <a:latin typeface="Aptos" charset="0"/>
                        <a:ea typeface="Aptos" charset="0"/>
                        <a:cs typeface="Aptos" charset="0"/>
                      </a:endParaRPr>
                    </a:p>
                  </a:txBody>
                  <a:tcPr marL="91440" marR="91440" marT="91440" marB="91440"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FFFFFF"/>
                    </a:solidFill>
                  </a:tcPr>
                </a:tc>
              </a:tr>
              <a:tr h="868680">
                <a:tc>
                  <a:txBody>
                    <a:bodyPr/>
                    <a:lstStyle/>
                    <a:p>
                      <a:pPr indent="0" marL="0">
                        <a:buNone/>
                      </a:pPr>
                      <a:r>
                        <a:rPr lang="en-US" sz="1400" dirty="0">
                          <a:solidFill>
                            <a:srgbClr val="002050"/>
                          </a:solidFill>
                          <a:latin typeface="Aptos" pitchFamily="34" charset="0"/>
                          <a:ea typeface="Aptos" pitchFamily="34" charset="-122"/>
                          <a:cs typeface="Aptos" pitchFamily="34" charset="-120"/>
                        </a:rPr>
                        <a:t>“We need to fix the software.”</a:t>
                      </a:r>
                      <a:endParaRPr lang="en-US" sz="1400" dirty="0">
                        <a:latin typeface="Aptos" charset="0"/>
                        <a:ea typeface="Aptos" charset="0"/>
                        <a:cs typeface="Aptos" charset="0"/>
                      </a:endParaRPr>
                    </a:p>
                  </a:txBody>
                  <a:tcPr marL="91440" marR="91440" marT="91440" marB="91440"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EAF4FF"/>
                    </a:solidFill>
                  </a:tcPr>
                </a:tc>
                <a:tc>
                  <a:txBody>
                    <a:bodyPr/>
                    <a:lstStyle/>
                    <a:p>
                      <a:pPr indent="0" marL="0">
                        <a:buNone/>
                      </a:pPr>
                      <a:r>
                        <a:rPr lang="en-US" sz="1400" dirty="0">
                          <a:solidFill>
                            <a:srgbClr val="002050"/>
                          </a:solidFill>
                          <a:latin typeface="Aptos" pitchFamily="34" charset="0"/>
                          <a:ea typeface="Aptos" pitchFamily="34" charset="-122"/>
                          <a:cs typeface="Aptos" pitchFamily="34" charset="-120"/>
                        </a:rPr>
                        <a:t>“We must patch the vulnerability.”</a:t>
                      </a:r>
                      <a:endParaRPr lang="en-US" sz="1400" dirty="0">
                        <a:latin typeface="Aptos" charset="0"/>
                        <a:ea typeface="Aptos" charset="0"/>
                        <a:cs typeface="Aptos" charset="0"/>
                      </a:endParaRPr>
                    </a:p>
                  </a:txBody>
                  <a:tcPr marL="91440" marR="91440" marT="91440" marB="91440"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EAF4FF"/>
                    </a:solidFill>
                  </a:tcPr>
                </a:tc>
                <a:tc>
                  <a:txBody>
                    <a:bodyPr/>
                    <a:lstStyle/>
                    <a:p>
                      <a:pPr indent="0" marL="0">
                        <a:buNone/>
                      </a:pPr>
                      <a:r>
                        <a:rPr lang="en-US" sz="1400" dirty="0">
                          <a:solidFill>
                            <a:srgbClr val="002050"/>
                          </a:solidFill>
                          <a:latin typeface="Aptos" pitchFamily="34" charset="0"/>
                          <a:ea typeface="Aptos" pitchFamily="34" charset="-122"/>
                          <a:cs typeface="Aptos" pitchFamily="34" charset="-120"/>
                        </a:rPr>
                        <a:t>Identifies the exact action (patching) and the specific issue (security risk).</a:t>
                      </a:r>
                      <a:endParaRPr lang="en-US" sz="1400" dirty="0">
                        <a:latin typeface="Aptos" charset="0"/>
                        <a:ea typeface="Aptos" charset="0"/>
                        <a:cs typeface="Aptos" charset="0"/>
                      </a:endParaRPr>
                    </a:p>
                  </a:txBody>
                  <a:tcPr marL="91440" marR="91440" marT="91440" marB="91440"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EAF4FF"/>
                    </a:solidFill>
                  </a:tcPr>
                </a:tc>
              </a:tr>
              <a:tr h="868680">
                <a:tc>
                  <a:txBody>
                    <a:bodyPr/>
                    <a:lstStyle/>
                    <a:p>
                      <a:pPr indent="0" marL="0">
                        <a:buNone/>
                      </a:pPr>
                      <a:r>
                        <a:rPr lang="en-US" sz="1400" dirty="0">
                          <a:solidFill>
                            <a:srgbClr val="002050"/>
                          </a:solidFill>
                          <a:latin typeface="Aptos" pitchFamily="34" charset="0"/>
                          <a:ea typeface="Aptos" pitchFamily="34" charset="-122"/>
                          <a:cs typeface="Aptos" pitchFamily="34" charset="-120"/>
                        </a:rPr>
                        <a:t>“The app is slow.”</a:t>
                      </a:r>
                      <a:endParaRPr lang="en-US" sz="1400" dirty="0">
                        <a:latin typeface="Aptos" charset="0"/>
                        <a:ea typeface="Aptos" charset="0"/>
                        <a:cs typeface="Aptos" charset="0"/>
                      </a:endParaRPr>
                    </a:p>
                  </a:txBody>
                  <a:tcPr marL="91440" marR="91440" marT="91440" marB="91440"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FFFFFF"/>
                    </a:solidFill>
                  </a:tcPr>
                </a:tc>
                <a:tc>
                  <a:txBody>
                    <a:bodyPr/>
                    <a:lstStyle/>
                    <a:p>
                      <a:pPr indent="0" marL="0">
                        <a:buNone/>
                      </a:pPr>
                      <a:r>
                        <a:rPr lang="en-US" sz="1400" dirty="0">
                          <a:solidFill>
                            <a:srgbClr val="002050"/>
                          </a:solidFill>
                          <a:latin typeface="Aptos" pitchFamily="34" charset="0"/>
                          <a:ea typeface="Aptos" pitchFamily="34" charset="-122"/>
                          <a:cs typeface="Aptos" pitchFamily="34" charset="-120"/>
                        </a:rPr>
                        <a:t>“Latencies exceeded the 200ms threshold.”</a:t>
                      </a:r>
                      <a:endParaRPr lang="en-US" sz="1400" dirty="0">
                        <a:latin typeface="Aptos" charset="0"/>
                        <a:ea typeface="Aptos" charset="0"/>
                        <a:cs typeface="Aptos" charset="0"/>
                      </a:endParaRPr>
                    </a:p>
                  </a:txBody>
                  <a:tcPr marL="91440" marR="91440" marT="91440" marB="91440"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FFFFFF"/>
                    </a:solidFill>
                  </a:tcPr>
                </a:tc>
                <a:tc>
                  <a:txBody>
                    <a:bodyPr/>
                    <a:lstStyle/>
                    <a:p>
                      <a:pPr indent="0" marL="0">
                        <a:buNone/>
                      </a:pPr>
                      <a:r>
                        <a:rPr lang="en-US" sz="1400" dirty="0">
                          <a:solidFill>
                            <a:srgbClr val="002050"/>
                          </a:solidFill>
                          <a:latin typeface="Aptos" pitchFamily="34" charset="0"/>
                          <a:ea typeface="Aptos" pitchFamily="34" charset="-122"/>
                          <a:cs typeface="Aptos" pitchFamily="34" charset="-120"/>
                        </a:rPr>
                        <a:t>Provides measurable data instead of a subjective opinion.</a:t>
                      </a:r>
                      <a:endParaRPr lang="en-US" sz="1400" dirty="0">
                        <a:latin typeface="Aptos" charset="0"/>
                        <a:ea typeface="Aptos" charset="0"/>
                        <a:cs typeface="Aptos" charset="0"/>
                      </a:endParaRPr>
                    </a:p>
                  </a:txBody>
                  <a:tcPr marL="91440" marR="91440" marT="91440" marB="91440"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FFFFFF"/>
                    </a:solidFill>
                  </a:tcPr>
                </a:tc>
              </a:tr>
              <a:tr h="868680">
                <a:tc>
                  <a:txBody>
                    <a:bodyPr/>
                    <a:lstStyle/>
                    <a:p>
                      <a:pPr indent="0" marL="0">
                        <a:buNone/>
                      </a:pPr>
                      <a:r>
                        <a:rPr lang="en-US" sz="1400" dirty="0">
                          <a:solidFill>
                            <a:srgbClr val="002050"/>
                          </a:solidFill>
                          <a:latin typeface="Aptos" pitchFamily="34" charset="0"/>
                          <a:ea typeface="Aptos" pitchFamily="34" charset="-122"/>
                          <a:cs typeface="Aptos" pitchFamily="34" charset="-120"/>
                        </a:rPr>
                        <a:t>“Users can't login.”</a:t>
                      </a:r>
                      <a:endParaRPr lang="en-US" sz="1400" dirty="0">
                        <a:latin typeface="Aptos" charset="0"/>
                        <a:ea typeface="Aptos" charset="0"/>
                        <a:cs typeface="Aptos" charset="0"/>
                      </a:endParaRPr>
                    </a:p>
                  </a:txBody>
                  <a:tcPr marL="91440" marR="91440" marT="91440" marB="91440"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EAF4FF"/>
                    </a:solidFill>
                  </a:tcPr>
                </a:tc>
                <a:tc>
                  <a:txBody>
                    <a:bodyPr/>
                    <a:lstStyle/>
                    <a:p>
                      <a:pPr indent="0" marL="0">
                        <a:buNone/>
                      </a:pPr>
                      <a:r>
                        <a:rPr lang="en-US" sz="1400" dirty="0">
                          <a:solidFill>
                            <a:srgbClr val="002050"/>
                          </a:solidFill>
                          <a:latin typeface="Aptos" pitchFamily="34" charset="0"/>
                          <a:ea typeface="Aptos" pitchFamily="34" charset="-122"/>
                          <a:cs typeface="Aptos" pitchFamily="34" charset="-120"/>
                        </a:rPr>
                        <a:t>“Authentication requests are timing out.”</a:t>
                      </a:r>
                      <a:endParaRPr lang="en-US" sz="1400" dirty="0">
                        <a:latin typeface="Aptos" charset="0"/>
                        <a:ea typeface="Aptos" charset="0"/>
                        <a:cs typeface="Aptos" charset="0"/>
                      </a:endParaRPr>
                    </a:p>
                  </a:txBody>
                  <a:tcPr marL="91440" marR="91440" marT="91440" marB="91440"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EAF4FF"/>
                    </a:solidFill>
                  </a:tcPr>
                </a:tc>
                <a:tc>
                  <a:txBody>
                    <a:bodyPr/>
                    <a:lstStyle/>
                    <a:p>
                      <a:pPr indent="0" marL="0">
                        <a:buNone/>
                      </a:pPr>
                      <a:r>
                        <a:rPr lang="en-US" sz="1400" dirty="0">
                          <a:solidFill>
                            <a:srgbClr val="002050"/>
                          </a:solidFill>
                          <a:latin typeface="Aptos" pitchFamily="34" charset="0"/>
                          <a:ea typeface="Aptos" pitchFamily="34" charset="-122"/>
                          <a:cs typeface="Aptos" pitchFamily="34" charset="-120"/>
                        </a:rPr>
                        <a:t>Pinpoints the exact technical failure point in the login process.</a:t>
                      </a:r>
                      <a:endParaRPr lang="en-US" sz="1400" dirty="0">
                        <a:latin typeface="Aptos" charset="0"/>
                        <a:ea typeface="Aptos" charset="0"/>
                        <a:cs typeface="Aptos" charset="0"/>
                      </a:endParaRPr>
                    </a:p>
                  </a:txBody>
                  <a:tcPr marL="91440" marR="91440" marT="91440" marB="91440"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EAF4FF"/>
                    </a:solidFill>
                  </a:tcPr>
                </a:tc>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6473952"/>
            <a:ext cx="10268712" cy="274320"/>
          </a:xfrm>
          <a:prstGeom prst="rect">
            <a:avLst/>
          </a:prstGeom>
          <a:noFill/>
          <a:ln/>
        </p:spPr>
        <p:txBody>
          <a:bodyPr wrap="square" rtlCol="0" anchor="ctr"/>
          <a:lstStyle/>
          <a:p>
            <a:pPr indent="0" marL="0">
              <a:buNone/>
            </a:pPr>
            <a:r>
              <a:rPr lang="en-US" sz="1000" dirty="0">
                <a:solidFill>
                  <a:srgbClr val="6B7280"/>
                </a:solidFill>
                <a:latin typeface="Aptos" pitchFamily="34" charset="0"/>
                <a:ea typeface="Aptos" pitchFamily="34" charset="-122"/>
                <a:cs typeface="Aptos" pitchFamily="34" charset="-120"/>
              </a:rPr>
              <a:t>Unit Standard 8252 — Writing Business Reports   ·   Investec IT Systems Support NQF 5</a:t>
            </a:r>
            <a:endParaRPr lang="en-US" sz="1000" dirty="0"/>
          </a:p>
        </p:txBody>
      </p:sp>
      <p:sp>
        <p:nvSpPr>
          <p:cNvPr id="3" name="Text 1"/>
          <p:cNvSpPr/>
          <p:nvPr/>
        </p:nvSpPr>
        <p:spPr>
          <a:xfrm>
            <a:off x="11137392" y="6473952"/>
            <a:ext cx="548640" cy="274320"/>
          </a:xfrm>
          <a:prstGeom prst="rect">
            <a:avLst/>
          </a:prstGeom>
          <a:noFill/>
          <a:ln/>
        </p:spPr>
        <p:txBody>
          <a:bodyPr wrap="square" rtlCol="0" anchor="ctr"/>
          <a:lstStyle/>
          <a:p>
            <a:pPr algn="r" indent="0" marL="0">
              <a:buNone/>
            </a:pPr>
            <a:r>
              <a:rPr lang="en-US" sz="1000" dirty="0">
                <a:solidFill>
                  <a:srgbClr val="6B7280"/>
                </a:solidFill>
                <a:latin typeface="Aptos" pitchFamily="34" charset="0"/>
                <a:ea typeface="Aptos" pitchFamily="34" charset="-122"/>
                <a:cs typeface="Aptos" pitchFamily="34" charset="-120"/>
              </a:rPr>
              <a:t>12</a:t>
            </a:r>
            <a:endParaRPr lang="en-US" sz="1000" dirty="0"/>
          </a:p>
        </p:txBody>
      </p:sp>
      <p:sp>
        <p:nvSpPr>
          <p:cNvPr id="4" name="Shape 2"/>
          <p:cNvSpPr/>
          <p:nvPr/>
        </p:nvSpPr>
        <p:spPr>
          <a:xfrm>
            <a:off x="0" y="0"/>
            <a:ext cx="12188952" cy="82296"/>
          </a:xfrm>
          <a:prstGeom prst="rect">
            <a:avLst/>
          </a:prstGeom>
          <a:solidFill>
            <a:srgbClr val="0F6CBD"/>
          </a:solidFill>
          <a:ln/>
        </p:spPr>
      </p:sp>
      <p:sp>
        <p:nvSpPr>
          <p:cNvPr id="5" name="Text 3"/>
          <p:cNvSpPr/>
          <p:nvPr/>
        </p:nvSpPr>
        <p:spPr>
          <a:xfrm>
            <a:off x="502920" y="256032"/>
            <a:ext cx="11183112" cy="347472"/>
          </a:xfrm>
          <a:prstGeom prst="rect">
            <a:avLst/>
          </a:prstGeom>
          <a:noFill/>
          <a:ln/>
        </p:spPr>
        <p:txBody>
          <a:bodyPr wrap="square" rtlCol="0" anchor="ctr"/>
          <a:lstStyle/>
          <a:p>
            <a:pPr indent="0" marL="0">
              <a:buNone/>
            </a:pPr>
            <a:r>
              <a:rPr lang="en-US" sz="1400" b="1" spc="200" kern="0" dirty="0">
                <a:solidFill>
                  <a:srgbClr val="0F6CBD"/>
                </a:solidFill>
                <a:latin typeface="Aptos" pitchFamily="34" charset="0"/>
                <a:ea typeface="Aptos" pitchFamily="34" charset="-122"/>
                <a:cs typeface="Aptos" pitchFamily="34" charset="-120"/>
              </a:rPr>
              <a:t>QUALITIES OF GOOD REPORT WRITING · 1 OF 2</a:t>
            </a:r>
            <a:endParaRPr lang="en-US" sz="1400" dirty="0"/>
          </a:p>
        </p:txBody>
      </p:sp>
      <p:sp>
        <p:nvSpPr>
          <p:cNvPr id="6" name="Text 4"/>
          <p:cNvSpPr/>
          <p:nvPr/>
        </p:nvSpPr>
        <p:spPr>
          <a:xfrm>
            <a:off x="502920" y="585216"/>
            <a:ext cx="11183112" cy="786384"/>
          </a:xfrm>
          <a:prstGeom prst="rect">
            <a:avLst/>
          </a:prstGeom>
          <a:noFill/>
          <a:ln/>
        </p:spPr>
        <p:txBody>
          <a:bodyPr wrap="square" rtlCol="0" anchor="ctr"/>
          <a:lstStyle/>
          <a:p>
            <a:pPr indent="0" marL="0">
              <a:buNone/>
            </a:pPr>
            <a:r>
              <a:rPr lang="en-US" sz="3400" b="1" dirty="0">
                <a:solidFill>
                  <a:srgbClr val="002050"/>
                </a:solidFill>
                <a:latin typeface="Aptos Display" pitchFamily="34" charset="0"/>
                <a:ea typeface="Aptos Display" pitchFamily="34" charset="-122"/>
                <a:cs typeface="Aptos Display" pitchFamily="34" charset="-120"/>
              </a:rPr>
              <a:t>Accuracy</a:t>
            </a:r>
            <a:endParaRPr lang="en-US" sz="3400" dirty="0"/>
          </a:p>
        </p:txBody>
      </p:sp>
      <p:sp>
        <p:nvSpPr>
          <p:cNvPr id="7" name="Text 5"/>
          <p:cNvSpPr/>
          <p:nvPr/>
        </p:nvSpPr>
        <p:spPr>
          <a:xfrm>
            <a:off x="502920" y="1600200"/>
            <a:ext cx="11183112" cy="1234440"/>
          </a:xfrm>
          <a:prstGeom prst="rect">
            <a:avLst/>
          </a:prstGeom>
          <a:noFill/>
          <a:ln/>
        </p:spPr>
        <p:txBody>
          <a:bodyPr wrap="square" rtlCol="0" anchor="t"/>
          <a:lstStyle/>
          <a:p>
            <a:pPr indent="0" marL="0">
              <a:lnSpc>
                <a:spcPct val="112000"/>
              </a:lnSpc>
              <a:spcAft>
                <a:spcPts val="1200"/>
              </a:spcAft>
              <a:buNone/>
            </a:pPr>
            <a:r>
              <a:rPr lang="en-US" sz="1550" dirty="0">
                <a:solidFill>
                  <a:srgbClr val="002050"/>
                </a:solidFill>
                <a:latin typeface="Aptos" pitchFamily="34" charset="0"/>
                <a:ea typeface="Aptos" pitchFamily="34" charset="-122"/>
                <a:cs typeface="Aptos" pitchFamily="34" charset="-120"/>
              </a:rPr>
              <a:t>Check that everything you write is factually accurate and capable of being verified. Arguments should be soundly based and your reasoning logical. Do not write anything that will misinform, mislead or unfairly persuade your readers — accurate information is essential for effective communication and decision making.</a:t>
            </a:r>
            <a:endParaRPr lang="en-US" sz="1550" dirty="0"/>
          </a:p>
        </p:txBody>
      </p:sp>
      <p:pic>
        <p:nvPicPr>
          <p:cNvPr id="8"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548640" y="2880360"/>
            <a:ext cx="347472" cy="347472"/>
          </a:xfrm>
          <a:prstGeom prst="rect">
            <a:avLst/>
          </a:prstGeom>
        </p:spPr>
      </p:pic>
      <p:sp>
        <p:nvSpPr>
          <p:cNvPr id="9" name="Text 6"/>
          <p:cNvSpPr/>
          <p:nvPr/>
        </p:nvSpPr>
        <p:spPr>
          <a:xfrm>
            <a:off x="1005840" y="2834640"/>
            <a:ext cx="11183112" cy="411480"/>
          </a:xfrm>
          <a:prstGeom prst="rect">
            <a:avLst/>
          </a:prstGeom>
          <a:noFill/>
          <a:ln/>
        </p:spPr>
        <p:txBody>
          <a:bodyPr wrap="square" rtlCol="0" anchor="ctr"/>
          <a:lstStyle/>
          <a:p>
            <a:pPr indent="0" marL="0">
              <a:buNone/>
            </a:pPr>
            <a:r>
              <a:rPr lang="en-US" sz="2000" b="1" dirty="0">
                <a:solidFill>
                  <a:srgbClr val="002050"/>
                </a:solidFill>
                <a:latin typeface="Aptos Display" pitchFamily="34" charset="0"/>
                <a:ea typeface="Aptos Display" pitchFamily="34" charset="-122"/>
                <a:cs typeface="Aptos Display" pitchFamily="34" charset="-120"/>
              </a:rPr>
              <a:t>What the Text Means</a:t>
            </a:r>
            <a:endParaRPr lang="en-US" sz="2000" dirty="0"/>
          </a:p>
        </p:txBody>
      </p:sp>
      <p:pic>
        <p:nvPicPr>
          <p:cNvPr id="10"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48640" y="3483864"/>
            <a:ext cx="365760" cy="365760"/>
          </a:xfrm>
          <a:prstGeom prst="rect">
            <a:avLst/>
          </a:prstGeom>
        </p:spPr>
      </p:pic>
      <p:sp>
        <p:nvSpPr>
          <p:cNvPr id="11" name="Text 7"/>
          <p:cNvSpPr/>
          <p:nvPr/>
        </p:nvSpPr>
        <p:spPr>
          <a:xfrm>
            <a:off x="1124712" y="3355848"/>
            <a:ext cx="10360152" cy="804672"/>
          </a:xfrm>
          <a:prstGeom prst="rect">
            <a:avLst/>
          </a:prstGeom>
          <a:noFill/>
          <a:ln/>
        </p:spPr>
        <p:txBody>
          <a:bodyPr wrap="square" rtlCol="0" anchor="ctr"/>
          <a:lstStyle/>
          <a:p>
            <a:pPr indent="0" marL="0">
              <a:lnSpc>
                <a:spcPct val="106000"/>
              </a:lnSpc>
              <a:buNone/>
            </a:pPr>
            <a:r>
              <a:rPr lang="en-US" sz="1650" b="1" dirty="0">
                <a:solidFill>
                  <a:srgbClr val="002050"/>
                </a:solidFill>
                <a:latin typeface="Aptos" pitchFamily="34" charset="0"/>
                <a:ea typeface="Aptos" pitchFamily="34" charset="-122"/>
                <a:cs typeface="Aptos" pitchFamily="34" charset="-120"/>
              </a:rPr>
              <a:t>Tell the truth: </a:t>
            </a:r>
            <a:pPr indent="0" marL="0">
              <a:lnSpc>
                <a:spcPct val="106000"/>
              </a:lnSpc>
              <a:buNone/>
            </a:pPr>
            <a:r>
              <a:rPr lang="en-US" sz="1650" dirty="0">
                <a:solidFill>
                  <a:srgbClr val="002050"/>
                </a:solidFill>
                <a:latin typeface="Aptos" pitchFamily="34" charset="0"/>
                <a:ea typeface="Aptos" pitchFamily="34" charset="-122"/>
                <a:cs typeface="Aptos" pitchFamily="34" charset="-120"/>
              </a:rPr>
              <a:t>Everything you write must be 100% correct.</a:t>
            </a:r>
            <a:endParaRPr lang="en-US" sz="1650" dirty="0"/>
          </a:p>
        </p:txBody>
      </p:sp>
      <p:pic>
        <p:nvPicPr>
          <p:cNvPr id="12"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48640" y="4197096"/>
            <a:ext cx="365760" cy="365760"/>
          </a:xfrm>
          <a:prstGeom prst="rect">
            <a:avLst/>
          </a:prstGeom>
        </p:spPr>
      </p:pic>
      <p:sp>
        <p:nvSpPr>
          <p:cNvPr id="13" name="Text 8"/>
          <p:cNvSpPr/>
          <p:nvPr/>
        </p:nvSpPr>
        <p:spPr>
          <a:xfrm>
            <a:off x="1124712" y="4069080"/>
            <a:ext cx="10360152" cy="804672"/>
          </a:xfrm>
          <a:prstGeom prst="rect">
            <a:avLst/>
          </a:prstGeom>
          <a:noFill/>
          <a:ln/>
        </p:spPr>
        <p:txBody>
          <a:bodyPr wrap="square" rtlCol="0" anchor="ctr"/>
          <a:lstStyle/>
          <a:p>
            <a:pPr indent="0" marL="0">
              <a:lnSpc>
                <a:spcPct val="106000"/>
              </a:lnSpc>
              <a:buNone/>
            </a:pPr>
            <a:r>
              <a:rPr lang="en-US" sz="1650" b="1" dirty="0">
                <a:solidFill>
                  <a:srgbClr val="002050"/>
                </a:solidFill>
                <a:latin typeface="Aptos" pitchFamily="34" charset="0"/>
                <a:ea typeface="Aptos" pitchFamily="34" charset="-122"/>
                <a:cs typeface="Aptos" pitchFamily="34" charset="-120"/>
              </a:rPr>
              <a:t>Prove it: </a:t>
            </a:r>
            <a:pPr indent="0" marL="0">
              <a:lnSpc>
                <a:spcPct val="106000"/>
              </a:lnSpc>
              <a:buNone/>
            </a:pPr>
            <a:r>
              <a:rPr lang="en-US" sz="1650" dirty="0">
                <a:solidFill>
                  <a:srgbClr val="002050"/>
                </a:solidFill>
                <a:latin typeface="Aptos" pitchFamily="34" charset="0"/>
                <a:ea typeface="Aptos" pitchFamily="34" charset="-122"/>
                <a:cs typeface="Aptos" pitchFamily="34" charset="-120"/>
              </a:rPr>
              <a:t>You must be able to back up your claims with real facts or evidence.</a:t>
            </a:r>
            <a:endParaRPr lang="en-US" sz="1650" dirty="0"/>
          </a:p>
        </p:txBody>
      </p:sp>
      <p:pic>
        <p:nvPicPr>
          <p:cNvPr id="14"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548640" y="4910328"/>
            <a:ext cx="365760" cy="365760"/>
          </a:xfrm>
          <a:prstGeom prst="rect">
            <a:avLst/>
          </a:prstGeom>
        </p:spPr>
      </p:pic>
      <p:sp>
        <p:nvSpPr>
          <p:cNvPr id="15" name="Text 9"/>
          <p:cNvSpPr/>
          <p:nvPr/>
        </p:nvSpPr>
        <p:spPr>
          <a:xfrm>
            <a:off x="1124712" y="4782312"/>
            <a:ext cx="10360152" cy="804672"/>
          </a:xfrm>
          <a:prstGeom prst="rect">
            <a:avLst/>
          </a:prstGeom>
          <a:noFill/>
          <a:ln/>
        </p:spPr>
        <p:txBody>
          <a:bodyPr wrap="square" rtlCol="0" anchor="ctr"/>
          <a:lstStyle/>
          <a:p>
            <a:pPr indent="0" marL="0">
              <a:lnSpc>
                <a:spcPct val="106000"/>
              </a:lnSpc>
              <a:buNone/>
            </a:pPr>
            <a:r>
              <a:rPr lang="en-US" sz="1650" b="1" dirty="0">
                <a:solidFill>
                  <a:srgbClr val="002050"/>
                </a:solidFill>
                <a:latin typeface="Aptos" pitchFamily="34" charset="0"/>
                <a:ea typeface="Aptos" pitchFamily="34" charset="-122"/>
                <a:cs typeface="Aptos" pitchFamily="34" charset="-120"/>
              </a:rPr>
              <a:t>Be logical: </a:t>
            </a:r>
            <a:pPr indent="0" marL="0">
              <a:lnSpc>
                <a:spcPct val="106000"/>
              </a:lnSpc>
              <a:buNone/>
            </a:pPr>
            <a:r>
              <a:rPr lang="en-US" sz="1650" dirty="0">
                <a:solidFill>
                  <a:srgbClr val="002050"/>
                </a:solidFill>
                <a:latin typeface="Aptos" pitchFamily="34" charset="0"/>
                <a:ea typeface="Aptos" pitchFamily="34" charset="-122"/>
                <a:cs typeface="Aptos" pitchFamily="34" charset="-120"/>
              </a:rPr>
              <a:t>Your ideas must make sense and follow a clear line of reasoning.</a:t>
            </a:r>
            <a:endParaRPr lang="en-US" sz="1650" dirty="0"/>
          </a:p>
        </p:txBody>
      </p:sp>
      <p:pic>
        <p:nvPicPr>
          <p:cNvPr id="16" name="Image 4" descr="preencoded.png">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548640" y="5623560"/>
            <a:ext cx="365760" cy="365760"/>
          </a:xfrm>
          <a:prstGeom prst="rect">
            <a:avLst/>
          </a:prstGeom>
        </p:spPr>
      </p:pic>
      <p:sp>
        <p:nvSpPr>
          <p:cNvPr id="17" name="Text 10"/>
          <p:cNvSpPr/>
          <p:nvPr/>
        </p:nvSpPr>
        <p:spPr>
          <a:xfrm>
            <a:off x="1124712" y="5495544"/>
            <a:ext cx="10360152" cy="804672"/>
          </a:xfrm>
          <a:prstGeom prst="rect">
            <a:avLst/>
          </a:prstGeom>
          <a:noFill/>
          <a:ln/>
        </p:spPr>
        <p:txBody>
          <a:bodyPr wrap="square" rtlCol="0" anchor="ctr"/>
          <a:lstStyle/>
          <a:p>
            <a:pPr indent="0" marL="0">
              <a:lnSpc>
                <a:spcPct val="106000"/>
              </a:lnSpc>
              <a:buNone/>
            </a:pPr>
            <a:r>
              <a:rPr lang="en-US" sz="1650" b="1" dirty="0">
                <a:solidFill>
                  <a:srgbClr val="002050"/>
                </a:solidFill>
                <a:latin typeface="Aptos" pitchFamily="34" charset="0"/>
                <a:ea typeface="Aptos" pitchFamily="34" charset="-122"/>
                <a:cs typeface="Aptos" pitchFamily="34" charset="-120"/>
              </a:rPr>
              <a:t>Do not trick people: </a:t>
            </a:r>
            <a:pPr indent="0" marL="0">
              <a:lnSpc>
                <a:spcPct val="106000"/>
              </a:lnSpc>
              <a:buNone/>
            </a:pPr>
            <a:r>
              <a:rPr lang="en-US" sz="1650" dirty="0">
                <a:solidFill>
                  <a:srgbClr val="002050"/>
                </a:solidFill>
                <a:latin typeface="Aptos" pitchFamily="34" charset="0"/>
                <a:ea typeface="Aptos" pitchFamily="34" charset="-122"/>
                <a:cs typeface="Aptos" pitchFamily="34" charset="-120"/>
              </a:rPr>
              <a:t>Do not leave out important facts to force someone to agree with you.</a:t>
            </a:r>
            <a:endParaRPr lang="en-US" sz="16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6473952"/>
            <a:ext cx="10268712" cy="274320"/>
          </a:xfrm>
          <a:prstGeom prst="rect">
            <a:avLst/>
          </a:prstGeom>
          <a:noFill/>
          <a:ln/>
        </p:spPr>
        <p:txBody>
          <a:bodyPr wrap="square" rtlCol="0" anchor="ctr"/>
          <a:lstStyle/>
          <a:p>
            <a:pPr indent="0" marL="0">
              <a:buNone/>
            </a:pPr>
            <a:r>
              <a:rPr lang="en-US" sz="1000" dirty="0">
                <a:solidFill>
                  <a:srgbClr val="6B7280"/>
                </a:solidFill>
                <a:latin typeface="Aptos" pitchFamily="34" charset="0"/>
                <a:ea typeface="Aptos" pitchFamily="34" charset="-122"/>
                <a:cs typeface="Aptos" pitchFamily="34" charset="-120"/>
              </a:rPr>
              <a:t>Unit Standard 8252 — Writing Business Reports   ·   Investec IT Systems Support NQF 5</a:t>
            </a:r>
            <a:endParaRPr lang="en-US" sz="1000" dirty="0"/>
          </a:p>
        </p:txBody>
      </p:sp>
      <p:sp>
        <p:nvSpPr>
          <p:cNvPr id="3" name="Text 1"/>
          <p:cNvSpPr/>
          <p:nvPr/>
        </p:nvSpPr>
        <p:spPr>
          <a:xfrm>
            <a:off x="11137392" y="6473952"/>
            <a:ext cx="548640" cy="274320"/>
          </a:xfrm>
          <a:prstGeom prst="rect">
            <a:avLst/>
          </a:prstGeom>
          <a:noFill/>
          <a:ln/>
        </p:spPr>
        <p:txBody>
          <a:bodyPr wrap="square" rtlCol="0" anchor="ctr"/>
          <a:lstStyle/>
          <a:p>
            <a:pPr algn="r" indent="0" marL="0">
              <a:buNone/>
            </a:pPr>
            <a:r>
              <a:rPr lang="en-US" sz="1000" dirty="0">
                <a:solidFill>
                  <a:srgbClr val="6B7280"/>
                </a:solidFill>
                <a:latin typeface="Aptos" pitchFamily="34" charset="0"/>
                <a:ea typeface="Aptos" pitchFamily="34" charset="-122"/>
                <a:cs typeface="Aptos" pitchFamily="34" charset="-120"/>
              </a:rPr>
              <a:t>13</a:t>
            </a:r>
            <a:endParaRPr lang="en-US" sz="1000" dirty="0"/>
          </a:p>
        </p:txBody>
      </p:sp>
      <p:sp>
        <p:nvSpPr>
          <p:cNvPr id="4" name="Shape 2"/>
          <p:cNvSpPr/>
          <p:nvPr/>
        </p:nvSpPr>
        <p:spPr>
          <a:xfrm>
            <a:off x="0" y="0"/>
            <a:ext cx="12188952" cy="82296"/>
          </a:xfrm>
          <a:prstGeom prst="rect">
            <a:avLst/>
          </a:prstGeom>
          <a:solidFill>
            <a:srgbClr val="0F6CBD"/>
          </a:solidFill>
          <a:ln/>
        </p:spPr>
      </p:sp>
      <p:sp>
        <p:nvSpPr>
          <p:cNvPr id="5" name="Text 3"/>
          <p:cNvSpPr/>
          <p:nvPr/>
        </p:nvSpPr>
        <p:spPr>
          <a:xfrm>
            <a:off x="502920" y="256032"/>
            <a:ext cx="11183112" cy="347472"/>
          </a:xfrm>
          <a:prstGeom prst="rect">
            <a:avLst/>
          </a:prstGeom>
          <a:noFill/>
          <a:ln/>
        </p:spPr>
        <p:txBody>
          <a:bodyPr wrap="square" rtlCol="0" anchor="ctr"/>
          <a:lstStyle/>
          <a:p>
            <a:pPr indent="0" marL="0">
              <a:buNone/>
            </a:pPr>
            <a:r>
              <a:rPr lang="en-US" sz="1400" b="1" spc="200" kern="0" dirty="0">
                <a:solidFill>
                  <a:srgbClr val="0F6CBD"/>
                </a:solidFill>
                <a:latin typeface="Aptos" pitchFamily="34" charset="0"/>
                <a:ea typeface="Aptos" pitchFamily="34" charset="-122"/>
                <a:cs typeface="Aptos" pitchFamily="34" charset="-120"/>
              </a:rPr>
              <a:t>ACCURACY IN PRACTICE · 1 OF 3</a:t>
            </a:r>
            <a:endParaRPr lang="en-US" sz="1400" dirty="0"/>
          </a:p>
        </p:txBody>
      </p:sp>
      <p:sp>
        <p:nvSpPr>
          <p:cNvPr id="6" name="Text 4"/>
          <p:cNvSpPr/>
          <p:nvPr/>
        </p:nvSpPr>
        <p:spPr>
          <a:xfrm>
            <a:off x="502920" y="585216"/>
            <a:ext cx="11183112" cy="786384"/>
          </a:xfrm>
          <a:prstGeom prst="rect">
            <a:avLst/>
          </a:prstGeom>
          <a:noFill/>
          <a:ln/>
        </p:spPr>
        <p:txBody>
          <a:bodyPr wrap="square" rtlCol="0" anchor="ctr"/>
          <a:lstStyle/>
          <a:p>
            <a:pPr indent="0" marL="0">
              <a:buNone/>
            </a:pPr>
            <a:r>
              <a:rPr lang="en-US" sz="3400" b="1" dirty="0">
                <a:solidFill>
                  <a:srgbClr val="002050"/>
                </a:solidFill>
                <a:latin typeface="Aptos Display" pitchFamily="34" charset="0"/>
                <a:ea typeface="Aptos Display" pitchFamily="34" charset="-122"/>
                <a:cs typeface="Aptos Display" pitchFamily="34" charset="-120"/>
              </a:rPr>
              <a:t>1. Do Not Guess or Assume (Verifiable Facts)</a:t>
            </a:r>
            <a:endParaRPr lang="en-US" sz="3400" dirty="0"/>
          </a:p>
        </p:txBody>
      </p:sp>
      <p:sp>
        <p:nvSpPr>
          <p:cNvPr id="7" name="Shape 5"/>
          <p:cNvSpPr/>
          <p:nvPr/>
        </p:nvSpPr>
        <p:spPr>
          <a:xfrm>
            <a:off x="502920" y="1645920"/>
            <a:ext cx="11183112" cy="1417320"/>
          </a:xfrm>
          <a:prstGeom prst="roundRect">
            <a:avLst>
              <a:gd name="adj" fmla="val 5806"/>
            </a:avLst>
          </a:prstGeom>
          <a:solidFill>
            <a:srgbClr val="FCEDEE"/>
          </a:solidFill>
          <a:ln w="12700">
            <a:solidFill>
              <a:srgbClr val="F2C7CB"/>
            </a:solidFill>
            <a:prstDash val="solid"/>
          </a:ln>
          <a:effectLst>
            <a:outerShdw sx="100000" sy="100000" kx="0" ky="0" algn="bl" rotWithShape="0" blurRad="88900" dist="25400" dir="5400000">
              <a:srgbClr val="9AB4CC">
                <a:alpha val="30000"/>
              </a:srgbClr>
            </a:outerShdw>
          </a:effectLst>
        </p:spPr>
      </p:sp>
      <p:pic>
        <p:nvPicPr>
          <p:cNvPr id="8"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31520" y="1828800"/>
            <a:ext cx="365760" cy="365760"/>
          </a:xfrm>
          <a:prstGeom prst="rect">
            <a:avLst/>
          </a:prstGeom>
        </p:spPr>
      </p:pic>
      <p:sp>
        <p:nvSpPr>
          <p:cNvPr id="9" name="Text 6"/>
          <p:cNvSpPr/>
          <p:nvPr/>
        </p:nvSpPr>
        <p:spPr>
          <a:xfrm>
            <a:off x="1280160" y="1755648"/>
            <a:ext cx="10131552" cy="1188720"/>
          </a:xfrm>
          <a:prstGeom prst="rect">
            <a:avLst/>
          </a:prstGeom>
          <a:noFill/>
          <a:ln/>
        </p:spPr>
        <p:txBody>
          <a:bodyPr wrap="square" rtlCol="0" anchor="ctr"/>
          <a:lstStyle/>
          <a:p>
            <a:pPr indent="0" marL="0">
              <a:lnSpc>
                <a:spcPct val="108000"/>
              </a:lnSpc>
              <a:buNone/>
            </a:pPr>
            <a:r>
              <a:rPr lang="en-US" sz="1250" b="1" spc="150" kern="0" dirty="0">
                <a:solidFill>
                  <a:srgbClr val="C50F1F"/>
                </a:solidFill>
                <a:latin typeface="Aptos" pitchFamily="34" charset="0"/>
                <a:ea typeface="Aptos" pitchFamily="34" charset="-122"/>
                <a:cs typeface="Aptos" pitchFamily="34" charset="-120"/>
              </a:rPr>
              <a:t>WHAT NOT TO DO
</a:t>
            </a:r>
            <a:pPr indent="0" marL="0">
              <a:lnSpc>
                <a:spcPct val="108000"/>
              </a:lnSpc>
              <a:buNone/>
            </a:pPr>
            <a:r>
              <a:rPr lang="en-US" sz="1550" i="1" dirty="0">
                <a:solidFill>
                  <a:srgbClr val="002050"/>
                </a:solidFill>
                <a:latin typeface="Aptos" pitchFamily="34" charset="0"/>
                <a:ea typeface="Aptos" pitchFamily="34" charset="-122"/>
                <a:cs typeface="Aptos" pitchFamily="34" charset="-120"/>
              </a:rPr>
              <a:t>Writing in an incident report: “The server crashed because the network team messed up the configuration update last night.”</a:t>
            </a:r>
            <a:endParaRPr lang="en-US" sz="1250" dirty="0"/>
          </a:p>
        </p:txBody>
      </p:sp>
      <p:sp>
        <p:nvSpPr>
          <p:cNvPr id="10" name="Shape 7"/>
          <p:cNvSpPr/>
          <p:nvPr/>
        </p:nvSpPr>
        <p:spPr>
          <a:xfrm>
            <a:off x="502920" y="3246120"/>
            <a:ext cx="11183112" cy="1143000"/>
          </a:xfrm>
          <a:prstGeom prst="roundRect">
            <a:avLst>
              <a:gd name="adj" fmla="val 7200"/>
            </a:avLst>
          </a:prstGeom>
          <a:solidFill>
            <a:srgbClr val="FFFFFF"/>
          </a:solidFill>
          <a:ln w="12700">
            <a:solidFill>
              <a:srgbClr val="D5E3F2"/>
            </a:solidFill>
            <a:prstDash val="solid"/>
          </a:ln>
          <a:effectLst>
            <a:outerShdw sx="100000" sy="100000" kx="0" ky="0" algn="bl" rotWithShape="0" blurRad="88900" dist="25400" dir="5400000">
              <a:srgbClr val="9AB4CC">
                <a:alpha val="30000"/>
              </a:srgbClr>
            </a:outerShdw>
          </a:effectLst>
        </p:spPr>
      </p:sp>
      <p:pic>
        <p:nvPicPr>
          <p:cNvPr id="11"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31520" y="3520440"/>
            <a:ext cx="365760" cy="365760"/>
          </a:xfrm>
          <a:prstGeom prst="rect">
            <a:avLst/>
          </a:prstGeom>
        </p:spPr>
      </p:pic>
      <p:sp>
        <p:nvSpPr>
          <p:cNvPr id="12" name="Text 8"/>
          <p:cNvSpPr/>
          <p:nvPr/>
        </p:nvSpPr>
        <p:spPr>
          <a:xfrm>
            <a:off x="1280160" y="3337560"/>
            <a:ext cx="10131552" cy="960120"/>
          </a:xfrm>
          <a:prstGeom prst="rect">
            <a:avLst/>
          </a:prstGeom>
          <a:noFill/>
          <a:ln/>
        </p:spPr>
        <p:txBody>
          <a:bodyPr wrap="square" rtlCol="0" anchor="ctr"/>
          <a:lstStyle/>
          <a:p>
            <a:pPr indent="0" marL="0">
              <a:lnSpc>
                <a:spcPct val="108000"/>
              </a:lnSpc>
              <a:buNone/>
            </a:pPr>
            <a:r>
              <a:rPr lang="en-US" sz="1250" b="1" spc="150" kern="0" dirty="0">
                <a:solidFill>
                  <a:srgbClr val="6B7280"/>
                </a:solidFill>
                <a:latin typeface="Aptos" pitchFamily="34" charset="0"/>
                <a:ea typeface="Aptos" pitchFamily="34" charset="-122"/>
                <a:cs typeface="Aptos" pitchFamily="34" charset="-120"/>
              </a:rPr>
              <a:t>WHY IT BREAKS THE RULE
</a:t>
            </a:r>
            <a:pPr indent="0" marL="0">
              <a:lnSpc>
                <a:spcPct val="108000"/>
              </a:lnSpc>
              <a:buNone/>
            </a:pPr>
            <a:r>
              <a:rPr lang="en-US" sz="1550" dirty="0">
                <a:solidFill>
                  <a:srgbClr val="002050"/>
                </a:solidFill>
                <a:latin typeface="Aptos" pitchFamily="34" charset="0"/>
                <a:ea typeface="Aptos" pitchFamily="34" charset="-122"/>
                <a:cs typeface="Aptos" pitchFamily="34" charset="-120"/>
              </a:rPr>
              <a:t>You are blaming another team without proof or log evidence.</a:t>
            </a:r>
            <a:endParaRPr lang="en-US" sz="1250" dirty="0"/>
          </a:p>
        </p:txBody>
      </p:sp>
      <p:sp>
        <p:nvSpPr>
          <p:cNvPr id="13" name="Shape 9"/>
          <p:cNvSpPr/>
          <p:nvPr/>
        </p:nvSpPr>
        <p:spPr>
          <a:xfrm>
            <a:off x="502920" y="4572000"/>
            <a:ext cx="11183112" cy="1417320"/>
          </a:xfrm>
          <a:prstGeom prst="roundRect">
            <a:avLst>
              <a:gd name="adj" fmla="val 5806"/>
            </a:avLst>
          </a:prstGeom>
          <a:solidFill>
            <a:srgbClr val="E7F4E7"/>
          </a:solidFill>
          <a:ln w="12700">
            <a:solidFill>
              <a:srgbClr val="BFE0BF"/>
            </a:solidFill>
            <a:prstDash val="solid"/>
          </a:ln>
          <a:effectLst>
            <a:outerShdw sx="100000" sy="100000" kx="0" ky="0" algn="bl" rotWithShape="0" blurRad="88900" dist="25400" dir="5400000">
              <a:srgbClr val="9AB4CC">
                <a:alpha val="30000"/>
              </a:srgbClr>
            </a:outerShdw>
          </a:effectLst>
        </p:spPr>
      </p:sp>
      <p:pic>
        <p:nvPicPr>
          <p:cNvPr id="14"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31520" y="4773168"/>
            <a:ext cx="365760" cy="365760"/>
          </a:xfrm>
          <a:prstGeom prst="rect">
            <a:avLst/>
          </a:prstGeom>
        </p:spPr>
      </p:pic>
      <p:sp>
        <p:nvSpPr>
          <p:cNvPr id="15" name="Text 10"/>
          <p:cNvSpPr/>
          <p:nvPr/>
        </p:nvSpPr>
        <p:spPr>
          <a:xfrm>
            <a:off x="1280160" y="4681728"/>
            <a:ext cx="10131552" cy="1188720"/>
          </a:xfrm>
          <a:prstGeom prst="rect">
            <a:avLst/>
          </a:prstGeom>
          <a:noFill/>
          <a:ln/>
        </p:spPr>
        <p:txBody>
          <a:bodyPr wrap="square" rtlCol="0" anchor="ctr"/>
          <a:lstStyle/>
          <a:p>
            <a:pPr indent="0" marL="0">
              <a:lnSpc>
                <a:spcPct val="108000"/>
              </a:lnSpc>
              <a:buNone/>
            </a:pPr>
            <a:r>
              <a:rPr lang="en-US" sz="1250" b="1" spc="150" kern="0" dirty="0">
                <a:solidFill>
                  <a:srgbClr val="0E700E"/>
                </a:solidFill>
                <a:latin typeface="Aptos" pitchFamily="34" charset="0"/>
                <a:ea typeface="Aptos" pitchFamily="34" charset="-122"/>
                <a:cs typeface="Aptos" pitchFamily="34" charset="-120"/>
              </a:rPr>
              <a:t>THE ACCURATE WAY
</a:t>
            </a:r>
            <a:pPr indent="0" marL="0">
              <a:lnSpc>
                <a:spcPct val="108000"/>
              </a:lnSpc>
              <a:buNone/>
            </a:pPr>
            <a:r>
              <a:rPr lang="en-US" sz="1550" dirty="0">
                <a:solidFill>
                  <a:srgbClr val="002050"/>
                </a:solidFill>
                <a:latin typeface="Aptos" pitchFamily="34" charset="0"/>
                <a:ea typeface="Aptos" pitchFamily="34" charset="-122"/>
                <a:cs typeface="Aptos" pitchFamily="34" charset="-120"/>
              </a:rPr>
              <a:t>“The server went offline at 02:14 AM due to a 100% CPU spike. Logs are being reviewed to find the root cause.”</a:t>
            </a:r>
            <a:endParaRPr lang="en-US" sz="1250" dirty="0"/>
          </a:p>
        </p:txBody>
      </p:sp>
      <p:sp>
        <p:nvSpPr>
          <p:cNvPr id="16" name="Text 11"/>
          <p:cNvSpPr/>
          <p:nvPr/>
        </p:nvSpPr>
        <p:spPr>
          <a:xfrm>
            <a:off x="502920" y="6108192"/>
            <a:ext cx="11183112" cy="274320"/>
          </a:xfrm>
          <a:prstGeom prst="rect">
            <a:avLst/>
          </a:prstGeom>
          <a:noFill/>
          <a:ln/>
        </p:spPr>
        <p:txBody>
          <a:bodyPr wrap="square" rtlCol="0" anchor="ctr"/>
          <a:lstStyle/>
          <a:p>
            <a:pPr indent="0" marL="0">
              <a:buNone/>
            </a:pPr>
            <a:r>
              <a:rPr lang="en-US" sz="1250" i="1" dirty="0">
                <a:solidFill>
                  <a:srgbClr val="6B7280"/>
                </a:solidFill>
                <a:latin typeface="Aptos" pitchFamily="34" charset="0"/>
                <a:ea typeface="Aptos" pitchFamily="34" charset="-122"/>
                <a:cs typeface="Aptos" pitchFamily="34" charset="-120"/>
              </a:rPr>
              <a:t>Accuracy — check that everything you write is factually accurate and capable of being verified.</a:t>
            </a:r>
            <a:endParaRPr lang="en-US" sz="12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6473952"/>
            <a:ext cx="10268712" cy="274320"/>
          </a:xfrm>
          <a:prstGeom prst="rect">
            <a:avLst/>
          </a:prstGeom>
          <a:noFill/>
          <a:ln/>
        </p:spPr>
        <p:txBody>
          <a:bodyPr wrap="square" rtlCol="0" anchor="ctr"/>
          <a:lstStyle/>
          <a:p>
            <a:pPr indent="0" marL="0">
              <a:buNone/>
            </a:pPr>
            <a:r>
              <a:rPr lang="en-US" sz="1000" dirty="0">
                <a:solidFill>
                  <a:srgbClr val="6B7280"/>
                </a:solidFill>
                <a:latin typeface="Aptos" pitchFamily="34" charset="0"/>
                <a:ea typeface="Aptos" pitchFamily="34" charset="-122"/>
                <a:cs typeface="Aptos" pitchFamily="34" charset="-120"/>
              </a:rPr>
              <a:t>Unit Standard 8252 — Writing Business Reports   ·   Investec IT Systems Support NQF 5</a:t>
            </a:r>
            <a:endParaRPr lang="en-US" sz="1000" dirty="0"/>
          </a:p>
        </p:txBody>
      </p:sp>
      <p:sp>
        <p:nvSpPr>
          <p:cNvPr id="3" name="Text 1"/>
          <p:cNvSpPr/>
          <p:nvPr/>
        </p:nvSpPr>
        <p:spPr>
          <a:xfrm>
            <a:off x="11137392" y="6473952"/>
            <a:ext cx="548640" cy="274320"/>
          </a:xfrm>
          <a:prstGeom prst="rect">
            <a:avLst/>
          </a:prstGeom>
          <a:noFill/>
          <a:ln/>
        </p:spPr>
        <p:txBody>
          <a:bodyPr wrap="square" rtlCol="0" anchor="ctr"/>
          <a:lstStyle/>
          <a:p>
            <a:pPr algn="r" indent="0" marL="0">
              <a:buNone/>
            </a:pPr>
            <a:r>
              <a:rPr lang="en-US" sz="1000" dirty="0">
                <a:solidFill>
                  <a:srgbClr val="6B7280"/>
                </a:solidFill>
                <a:latin typeface="Aptos" pitchFamily="34" charset="0"/>
                <a:ea typeface="Aptos" pitchFamily="34" charset="-122"/>
                <a:cs typeface="Aptos" pitchFamily="34" charset="-120"/>
              </a:rPr>
              <a:t>14</a:t>
            </a:r>
            <a:endParaRPr lang="en-US" sz="1000" dirty="0"/>
          </a:p>
        </p:txBody>
      </p:sp>
      <p:sp>
        <p:nvSpPr>
          <p:cNvPr id="4" name="Shape 2"/>
          <p:cNvSpPr/>
          <p:nvPr/>
        </p:nvSpPr>
        <p:spPr>
          <a:xfrm>
            <a:off x="0" y="0"/>
            <a:ext cx="12188952" cy="82296"/>
          </a:xfrm>
          <a:prstGeom prst="rect">
            <a:avLst/>
          </a:prstGeom>
          <a:solidFill>
            <a:srgbClr val="0F6CBD"/>
          </a:solidFill>
          <a:ln/>
        </p:spPr>
      </p:sp>
      <p:sp>
        <p:nvSpPr>
          <p:cNvPr id="5" name="Text 3"/>
          <p:cNvSpPr/>
          <p:nvPr/>
        </p:nvSpPr>
        <p:spPr>
          <a:xfrm>
            <a:off x="502920" y="256032"/>
            <a:ext cx="11183112" cy="347472"/>
          </a:xfrm>
          <a:prstGeom prst="rect">
            <a:avLst/>
          </a:prstGeom>
          <a:noFill/>
          <a:ln/>
        </p:spPr>
        <p:txBody>
          <a:bodyPr wrap="square" rtlCol="0" anchor="ctr"/>
          <a:lstStyle/>
          <a:p>
            <a:pPr indent="0" marL="0">
              <a:buNone/>
            </a:pPr>
            <a:r>
              <a:rPr lang="en-US" sz="1400" b="1" spc="200" kern="0" dirty="0">
                <a:solidFill>
                  <a:srgbClr val="0F6CBD"/>
                </a:solidFill>
                <a:latin typeface="Aptos" pitchFamily="34" charset="0"/>
                <a:ea typeface="Aptos" pitchFamily="34" charset="-122"/>
                <a:cs typeface="Aptos" pitchFamily="34" charset="-120"/>
              </a:rPr>
              <a:t>ACCURACY IN PRACTICE · 2 OF 3</a:t>
            </a:r>
            <a:endParaRPr lang="en-US" sz="1400" dirty="0"/>
          </a:p>
        </p:txBody>
      </p:sp>
      <p:sp>
        <p:nvSpPr>
          <p:cNvPr id="6" name="Text 4"/>
          <p:cNvSpPr/>
          <p:nvPr/>
        </p:nvSpPr>
        <p:spPr>
          <a:xfrm>
            <a:off x="502920" y="585216"/>
            <a:ext cx="11183112" cy="786384"/>
          </a:xfrm>
          <a:prstGeom prst="rect">
            <a:avLst/>
          </a:prstGeom>
          <a:noFill/>
          <a:ln/>
        </p:spPr>
        <p:txBody>
          <a:bodyPr wrap="square" rtlCol="0" anchor="ctr"/>
          <a:lstStyle/>
          <a:p>
            <a:pPr indent="0" marL="0">
              <a:buNone/>
            </a:pPr>
            <a:r>
              <a:rPr lang="en-US" sz="3400" b="1" dirty="0">
                <a:solidFill>
                  <a:srgbClr val="002050"/>
                </a:solidFill>
                <a:latin typeface="Aptos Display" pitchFamily="34" charset="0"/>
                <a:ea typeface="Aptos Display" pitchFamily="34" charset="-122"/>
                <a:cs typeface="Aptos Display" pitchFamily="34" charset="-120"/>
              </a:rPr>
              <a:t>2. Do Not Hide the Full Truth (Misleading)</a:t>
            </a:r>
            <a:endParaRPr lang="en-US" sz="3400" dirty="0"/>
          </a:p>
        </p:txBody>
      </p:sp>
      <p:sp>
        <p:nvSpPr>
          <p:cNvPr id="7" name="Shape 5"/>
          <p:cNvSpPr/>
          <p:nvPr/>
        </p:nvSpPr>
        <p:spPr>
          <a:xfrm>
            <a:off x="502920" y="1645920"/>
            <a:ext cx="11183112" cy="1417320"/>
          </a:xfrm>
          <a:prstGeom prst="roundRect">
            <a:avLst>
              <a:gd name="adj" fmla="val 5806"/>
            </a:avLst>
          </a:prstGeom>
          <a:solidFill>
            <a:srgbClr val="FCEDEE"/>
          </a:solidFill>
          <a:ln w="12700">
            <a:solidFill>
              <a:srgbClr val="F2C7CB"/>
            </a:solidFill>
            <a:prstDash val="solid"/>
          </a:ln>
          <a:effectLst>
            <a:outerShdw sx="100000" sy="100000" kx="0" ky="0" algn="bl" rotWithShape="0" blurRad="88900" dist="25400" dir="5400000">
              <a:srgbClr val="9AB4CC">
                <a:alpha val="30000"/>
              </a:srgbClr>
            </a:outerShdw>
          </a:effectLst>
        </p:spPr>
      </p:sp>
      <p:pic>
        <p:nvPicPr>
          <p:cNvPr id="8"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31520" y="1828800"/>
            <a:ext cx="365760" cy="365760"/>
          </a:xfrm>
          <a:prstGeom prst="rect">
            <a:avLst/>
          </a:prstGeom>
        </p:spPr>
      </p:pic>
      <p:sp>
        <p:nvSpPr>
          <p:cNvPr id="9" name="Text 6"/>
          <p:cNvSpPr/>
          <p:nvPr/>
        </p:nvSpPr>
        <p:spPr>
          <a:xfrm>
            <a:off x="1280160" y="1755648"/>
            <a:ext cx="10131552" cy="1188720"/>
          </a:xfrm>
          <a:prstGeom prst="rect">
            <a:avLst/>
          </a:prstGeom>
          <a:noFill/>
          <a:ln/>
        </p:spPr>
        <p:txBody>
          <a:bodyPr wrap="square" rtlCol="0" anchor="ctr"/>
          <a:lstStyle/>
          <a:p>
            <a:pPr indent="0" marL="0">
              <a:lnSpc>
                <a:spcPct val="108000"/>
              </a:lnSpc>
              <a:buNone/>
            </a:pPr>
            <a:r>
              <a:rPr lang="en-US" sz="1250" b="1" spc="150" kern="0" dirty="0">
                <a:solidFill>
                  <a:srgbClr val="C50F1F"/>
                </a:solidFill>
                <a:latin typeface="Aptos" pitchFamily="34" charset="0"/>
                <a:ea typeface="Aptos" pitchFamily="34" charset="-122"/>
                <a:cs typeface="Aptos" pitchFamily="34" charset="-120"/>
              </a:rPr>
              <a:t>WHAT NOT TO DO
</a:t>
            </a:r>
            <a:pPr indent="0" marL="0">
              <a:lnSpc>
                <a:spcPct val="108000"/>
              </a:lnSpc>
              <a:buNone/>
            </a:pPr>
            <a:r>
              <a:rPr lang="en-US" sz="1550" i="1" dirty="0">
                <a:solidFill>
                  <a:srgbClr val="002050"/>
                </a:solidFill>
                <a:latin typeface="Aptos" pitchFamily="34" charset="0"/>
                <a:ea typeface="Aptos" pitchFamily="34" charset="-122"/>
                <a:cs typeface="Aptos" pitchFamily="34" charset="-120"/>
              </a:rPr>
              <a:t>Telling a client: “The new software update is 100% finished and ready for deployment tomorrow.”</a:t>
            </a:r>
            <a:endParaRPr lang="en-US" sz="1250" dirty="0"/>
          </a:p>
        </p:txBody>
      </p:sp>
      <p:sp>
        <p:nvSpPr>
          <p:cNvPr id="10" name="Shape 7"/>
          <p:cNvSpPr/>
          <p:nvPr/>
        </p:nvSpPr>
        <p:spPr>
          <a:xfrm>
            <a:off x="502920" y="3246120"/>
            <a:ext cx="11183112" cy="1143000"/>
          </a:xfrm>
          <a:prstGeom prst="roundRect">
            <a:avLst>
              <a:gd name="adj" fmla="val 7200"/>
            </a:avLst>
          </a:prstGeom>
          <a:solidFill>
            <a:srgbClr val="FFFFFF"/>
          </a:solidFill>
          <a:ln w="12700">
            <a:solidFill>
              <a:srgbClr val="D5E3F2"/>
            </a:solidFill>
            <a:prstDash val="solid"/>
          </a:ln>
          <a:effectLst>
            <a:outerShdw sx="100000" sy="100000" kx="0" ky="0" algn="bl" rotWithShape="0" blurRad="88900" dist="25400" dir="5400000">
              <a:srgbClr val="9AB4CC">
                <a:alpha val="30000"/>
              </a:srgbClr>
            </a:outerShdw>
          </a:effectLst>
        </p:spPr>
      </p:sp>
      <p:pic>
        <p:nvPicPr>
          <p:cNvPr id="11"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31520" y="3520440"/>
            <a:ext cx="365760" cy="365760"/>
          </a:xfrm>
          <a:prstGeom prst="rect">
            <a:avLst/>
          </a:prstGeom>
        </p:spPr>
      </p:pic>
      <p:sp>
        <p:nvSpPr>
          <p:cNvPr id="12" name="Text 8"/>
          <p:cNvSpPr/>
          <p:nvPr/>
        </p:nvSpPr>
        <p:spPr>
          <a:xfrm>
            <a:off x="1280160" y="3337560"/>
            <a:ext cx="10131552" cy="960120"/>
          </a:xfrm>
          <a:prstGeom prst="rect">
            <a:avLst/>
          </a:prstGeom>
          <a:noFill/>
          <a:ln/>
        </p:spPr>
        <p:txBody>
          <a:bodyPr wrap="square" rtlCol="0" anchor="ctr"/>
          <a:lstStyle/>
          <a:p>
            <a:pPr indent="0" marL="0">
              <a:lnSpc>
                <a:spcPct val="108000"/>
              </a:lnSpc>
              <a:buNone/>
            </a:pPr>
            <a:r>
              <a:rPr lang="en-US" sz="1250" b="1" spc="150" kern="0" dirty="0">
                <a:solidFill>
                  <a:srgbClr val="6B7280"/>
                </a:solidFill>
                <a:latin typeface="Aptos" pitchFamily="34" charset="0"/>
                <a:ea typeface="Aptos" pitchFamily="34" charset="-122"/>
                <a:cs typeface="Aptos" pitchFamily="34" charset="-120"/>
              </a:rPr>
              <a:t>WHY IT BREAKS THE RULE
</a:t>
            </a:r>
            <a:pPr indent="0" marL="0">
              <a:lnSpc>
                <a:spcPct val="108000"/>
              </a:lnSpc>
              <a:buNone/>
            </a:pPr>
            <a:r>
              <a:rPr lang="en-US" sz="1550" dirty="0">
                <a:solidFill>
                  <a:srgbClr val="002050"/>
                </a:solidFill>
                <a:latin typeface="Aptos" pitchFamily="34" charset="0"/>
                <a:ea typeface="Aptos" pitchFamily="34" charset="-122"/>
                <a:cs typeface="Aptos" pitchFamily="34" charset="-120"/>
              </a:rPr>
              <a:t>The code is done, but you intentionally left out the fact that it completely failed security testing.</a:t>
            </a:r>
            <a:endParaRPr lang="en-US" sz="1250" dirty="0"/>
          </a:p>
        </p:txBody>
      </p:sp>
      <p:sp>
        <p:nvSpPr>
          <p:cNvPr id="13" name="Shape 9"/>
          <p:cNvSpPr/>
          <p:nvPr/>
        </p:nvSpPr>
        <p:spPr>
          <a:xfrm>
            <a:off x="502920" y="4572000"/>
            <a:ext cx="11183112" cy="1417320"/>
          </a:xfrm>
          <a:prstGeom prst="roundRect">
            <a:avLst>
              <a:gd name="adj" fmla="val 5806"/>
            </a:avLst>
          </a:prstGeom>
          <a:solidFill>
            <a:srgbClr val="E7F4E7"/>
          </a:solidFill>
          <a:ln w="12700">
            <a:solidFill>
              <a:srgbClr val="BFE0BF"/>
            </a:solidFill>
            <a:prstDash val="solid"/>
          </a:ln>
          <a:effectLst>
            <a:outerShdw sx="100000" sy="100000" kx="0" ky="0" algn="bl" rotWithShape="0" blurRad="88900" dist="25400" dir="5400000">
              <a:srgbClr val="9AB4CC">
                <a:alpha val="30000"/>
              </a:srgbClr>
            </a:outerShdw>
          </a:effectLst>
        </p:spPr>
      </p:sp>
      <p:pic>
        <p:nvPicPr>
          <p:cNvPr id="14"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31520" y="4773168"/>
            <a:ext cx="365760" cy="365760"/>
          </a:xfrm>
          <a:prstGeom prst="rect">
            <a:avLst/>
          </a:prstGeom>
        </p:spPr>
      </p:pic>
      <p:sp>
        <p:nvSpPr>
          <p:cNvPr id="15" name="Text 10"/>
          <p:cNvSpPr/>
          <p:nvPr/>
        </p:nvSpPr>
        <p:spPr>
          <a:xfrm>
            <a:off x="1280160" y="4681728"/>
            <a:ext cx="10131552" cy="1188720"/>
          </a:xfrm>
          <a:prstGeom prst="rect">
            <a:avLst/>
          </a:prstGeom>
          <a:noFill/>
          <a:ln/>
        </p:spPr>
        <p:txBody>
          <a:bodyPr wrap="square" rtlCol="0" anchor="ctr"/>
          <a:lstStyle/>
          <a:p>
            <a:pPr indent="0" marL="0">
              <a:lnSpc>
                <a:spcPct val="108000"/>
              </a:lnSpc>
              <a:buNone/>
            </a:pPr>
            <a:r>
              <a:rPr lang="en-US" sz="1250" b="1" spc="150" kern="0" dirty="0">
                <a:solidFill>
                  <a:srgbClr val="0E700E"/>
                </a:solidFill>
                <a:latin typeface="Aptos" pitchFamily="34" charset="0"/>
                <a:ea typeface="Aptos" pitchFamily="34" charset="-122"/>
                <a:cs typeface="Aptos" pitchFamily="34" charset="-120"/>
              </a:rPr>
              <a:t>THE ACCURATE WAY
</a:t>
            </a:r>
            <a:pPr indent="0" marL="0">
              <a:lnSpc>
                <a:spcPct val="108000"/>
              </a:lnSpc>
              <a:buNone/>
            </a:pPr>
            <a:r>
              <a:rPr lang="en-US" sz="1550" dirty="0">
                <a:solidFill>
                  <a:srgbClr val="002050"/>
                </a:solidFill>
                <a:latin typeface="Aptos" pitchFamily="34" charset="0"/>
                <a:ea typeface="Aptos" pitchFamily="34" charset="-122"/>
                <a:cs typeface="Aptos" pitchFamily="34" charset="-120"/>
              </a:rPr>
              <a:t>“The software development phase is complete, but deployment is on hold until it passes final security validation.”</a:t>
            </a:r>
            <a:endParaRPr lang="en-US" sz="1250" dirty="0"/>
          </a:p>
        </p:txBody>
      </p:sp>
      <p:sp>
        <p:nvSpPr>
          <p:cNvPr id="16" name="Text 11"/>
          <p:cNvSpPr/>
          <p:nvPr/>
        </p:nvSpPr>
        <p:spPr>
          <a:xfrm>
            <a:off x="502920" y="6108192"/>
            <a:ext cx="11183112" cy="274320"/>
          </a:xfrm>
          <a:prstGeom prst="rect">
            <a:avLst/>
          </a:prstGeom>
          <a:noFill/>
          <a:ln/>
        </p:spPr>
        <p:txBody>
          <a:bodyPr wrap="square" rtlCol="0" anchor="ctr"/>
          <a:lstStyle/>
          <a:p>
            <a:pPr indent="0" marL="0">
              <a:buNone/>
            </a:pPr>
            <a:r>
              <a:rPr lang="en-US" sz="1250" i="1" dirty="0">
                <a:solidFill>
                  <a:srgbClr val="6B7280"/>
                </a:solidFill>
                <a:latin typeface="Aptos" pitchFamily="34" charset="0"/>
                <a:ea typeface="Aptos" pitchFamily="34" charset="-122"/>
                <a:cs typeface="Aptos" pitchFamily="34" charset="-120"/>
              </a:rPr>
              <a:t>Accuracy — check that everything you write is factually accurate and capable of being verified.</a:t>
            </a:r>
            <a:endParaRPr lang="en-US" sz="12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6473952"/>
            <a:ext cx="10268712" cy="274320"/>
          </a:xfrm>
          <a:prstGeom prst="rect">
            <a:avLst/>
          </a:prstGeom>
          <a:noFill/>
          <a:ln/>
        </p:spPr>
        <p:txBody>
          <a:bodyPr wrap="square" rtlCol="0" anchor="ctr"/>
          <a:lstStyle/>
          <a:p>
            <a:pPr indent="0" marL="0">
              <a:buNone/>
            </a:pPr>
            <a:r>
              <a:rPr lang="en-US" sz="1000" dirty="0">
                <a:solidFill>
                  <a:srgbClr val="6B7280"/>
                </a:solidFill>
                <a:latin typeface="Aptos" pitchFamily="34" charset="0"/>
                <a:ea typeface="Aptos" pitchFamily="34" charset="-122"/>
                <a:cs typeface="Aptos" pitchFamily="34" charset="-120"/>
              </a:rPr>
              <a:t>Unit Standard 8252 — Writing Business Reports   ·   Investec IT Systems Support NQF 5</a:t>
            </a:r>
            <a:endParaRPr lang="en-US" sz="1000" dirty="0"/>
          </a:p>
        </p:txBody>
      </p:sp>
      <p:sp>
        <p:nvSpPr>
          <p:cNvPr id="3" name="Text 1"/>
          <p:cNvSpPr/>
          <p:nvPr/>
        </p:nvSpPr>
        <p:spPr>
          <a:xfrm>
            <a:off x="11137392" y="6473952"/>
            <a:ext cx="548640" cy="274320"/>
          </a:xfrm>
          <a:prstGeom prst="rect">
            <a:avLst/>
          </a:prstGeom>
          <a:noFill/>
          <a:ln/>
        </p:spPr>
        <p:txBody>
          <a:bodyPr wrap="square" rtlCol="0" anchor="ctr"/>
          <a:lstStyle/>
          <a:p>
            <a:pPr algn="r" indent="0" marL="0">
              <a:buNone/>
            </a:pPr>
            <a:r>
              <a:rPr lang="en-US" sz="1000" dirty="0">
                <a:solidFill>
                  <a:srgbClr val="6B7280"/>
                </a:solidFill>
                <a:latin typeface="Aptos" pitchFamily="34" charset="0"/>
                <a:ea typeface="Aptos" pitchFamily="34" charset="-122"/>
                <a:cs typeface="Aptos" pitchFamily="34" charset="-120"/>
              </a:rPr>
              <a:t>15</a:t>
            </a:r>
            <a:endParaRPr lang="en-US" sz="1000" dirty="0"/>
          </a:p>
        </p:txBody>
      </p:sp>
      <p:sp>
        <p:nvSpPr>
          <p:cNvPr id="4" name="Shape 2"/>
          <p:cNvSpPr/>
          <p:nvPr/>
        </p:nvSpPr>
        <p:spPr>
          <a:xfrm>
            <a:off x="0" y="0"/>
            <a:ext cx="12188952" cy="82296"/>
          </a:xfrm>
          <a:prstGeom prst="rect">
            <a:avLst/>
          </a:prstGeom>
          <a:solidFill>
            <a:srgbClr val="0F6CBD"/>
          </a:solidFill>
          <a:ln/>
        </p:spPr>
      </p:sp>
      <p:sp>
        <p:nvSpPr>
          <p:cNvPr id="5" name="Text 3"/>
          <p:cNvSpPr/>
          <p:nvPr/>
        </p:nvSpPr>
        <p:spPr>
          <a:xfrm>
            <a:off x="502920" y="256032"/>
            <a:ext cx="11183112" cy="347472"/>
          </a:xfrm>
          <a:prstGeom prst="rect">
            <a:avLst/>
          </a:prstGeom>
          <a:noFill/>
          <a:ln/>
        </p:spPr>
        <p:txBody>
          <a:bodyPr wrap="square" rtlCol="0" anchor="ctr"/>
          <a:lstStyle/>
          <a:p>
            <a:pPr indent="0" marL="0">
              <a:buNone/>
            </a:pPr>
            <a:r>
              <a:rPr lang="en-US" sz="1400" b="1" spc="200" kern="0" dirty="0">
                <a:solidFill>
                  <a:srgbClr val="0F6CBD"/>
                </a:solidFill>
                <a:latin typeface="Aptos" pitchFamily="34" charset="0"/>
                <a:ea typeface="Aptos" pitchFamily="34" charset="-122"/>
                <a:cs typeface="Aptos" pitchFamily="34" charset="-120"/>
              </a:rPr>
              <a:t>ACCURACY IN PRACTICE · 3 OF 3</a:t>
            </a:r>
            <a:endParaRPr lang="en-US" sz="1400" dirty="0"/>
          </a:p>
        </p:txBody>
      </p:sp>
      <p:sp>
        <p:nvSpPr>
          <p:cNvPr id="6" name="Text 4"/>
          <p:cNvSpPr/>
          <p:nvPr/>
        </p:nvSpPr>
        <p:spPr>
          <a:xfrm>
            <a:off x="502920" y="585216"/>
            <a:ext cx="11183112" cy="786384"/>
          </a:xfrm>
          <a:prstGeom prst="rect">
            <a:avLst/>
          </a:prstGeom>
          <a:noFill/>
          <a:ln/>
        </p:spPr>
        <p:txBody>
          <a:bodyPr wrap="square" rtlCol="0" anchor="ctr"/>
          <a:lstStyle/>
          <a:p>
            <a:pPr indent="0" marL="0">
              <a:buNone/>
            </a:pPr>
            <a:r>
              <a:rPr lang="en-US" sz="3400" b="1" dirty="0">
                <a:solidFill>
                  <a:srgbClr val="002050"/>
                </a:solidFill>
                <a:latin typeface="Aptos Display" pitchFamily="34" charset="0"/>
                <a:ea typeface="Aptos Display" pitchFamily="34" charset="-122"/>
                <a:cs typeface="Aptos Display" pitchFamily="34" charset="-120"/>
              </a:rPr>
              <a:t>3. Do Not Exaggerate (Sound Reasoning)</a:t>
            </a:r>
            <a:endParaRPr lang="en-US" sz="3400" dirty="0"/>
          </a:p>
        </p:txBody>
      </p:sp>
      <p:sp>
        <p:nvSpPr>
          <p:cNvPr id="7" name="Shape 5"/>
          <p:cNvSpPr/>
          <p:nvPr/>
        </p:nvSpPr>
        <p:spPr>
          <a:xfrm>
            <a:off x="502920" y="1645920"/>
            <a:ext cx="11183112" cy="1417320"/>
          </a:xfrm>
          <a:prstGeom prst="roundRect">
            <a:avLst>
              <a:gd name="adj" fmla="val 5806"/>
            </a:avLst>
          </a:prstGeom>
          <a:solidFill>
            <a:srgbClr val="FCEDEE"/>
          </a:solidFill>
          <a:ln w="12700">
            <a:solidFill>
              <a:srgbClr val="F2C7CB"/>
            </a:solidFill>
            <a:prstDash val="solid"/>
          </a:ln>
          <a:effectLst>
            <a:outerShdw sx="100000" sy="100000" kx="0" ky="0" algn="bl" rotWithShape="0" blurRad="88900" dist="25400" dir="5400000">
              <a:srgbClr val="9AB4CC">
                <a:alpha val="30000"/>
              </a:srgbClr>
            </a:outerShdw>
          </a:effectLst>
        </p:spPr>
      </p:sp>
      <p:pic>
        <p:nvPicPr>
          <p:cNvPr id="8"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31520" y="1828800"/>
            <a:ext cx="365760" cy="365760"/>
          </a:xfrm>
          <a:prstGeom prst="rect">
            <a:avLst/>
          </a:prstGeom>
        </p:spPr>
      </p:pic>
      <p:sp>
        <p:nvSpPr>
          <p:cNvPr id="9" name="Text 6"/>
          <p:cNvSpPr/>
          <p:nvPr/>
        </p:nvSpPr>
        <p:spPr>
          <a:xfrm>
            <a:off x="1280160" y="1755648"/>
            <a:ext cx="10131552" cy="1188720"/>
          </a:xfrm>
          <a:prstGeom prst="rect">
            <a:avLst/>
          </a:prstGeom>
          <a:noFill/>
          <a:ln/>
        </p:spPr>
        <p:txBody>
          <a:bodyPr wrap="square" rtlCol="0" anchor="ctr"/>
          <a:lstStyle/>
          <a:p>
            <a:pPr indent="0" marL="0">
              <a:lnSpc>
                <a:spcPct val="108000"/>
              </a:lnSpc>
              <a:buNone/>
            </a:pPr>
            <a:r>
              <a:rPr lang="en-US" sz="1250" b="1" spc="150" kern="0" dirty="0">
                <a:solidFill>
                  <a:srgbClr val="C50F1F"/>
                </a:solidFill>
                <a:latin typeface="Aptos" pitchFamily="34" charset="0"/>
                <a:ea typeface="Aptos" pitchFamily="34" charset="-122"/>
                <a:cs typeface="Aptos" pitchFamily="34" charset="-120"/>
              </a:rPr>
              <a:t>WHAT NOT TO DO
</a:t>
            </a:r>
            <a:pPr indent="0" marL="0">
              <a:lnSpc>
                <a:spcPct val="108000"/>
              </a:lnSpc>
              <a:buNone/>
            </a:pPr>
            <a:r>
              <a:rPr lang="en-US" sz="1550" i="1" dirty="0">
                <a:solidFill>
                  <a:srgbClr val="002050"/>
                </a:solidFill>
                <a:latin typeface="Aptos" pitchFamily="34" charset="0"/>
                <a:ea typeface="Aptos" pitchFamily="34" charset="-122"/>
                <a:cs typeface="Aptos" pitchFamily="34" charset="-120"/>
              </a:rPr>
              <a:t>Writing to management: “The entire bank network is completely down and the whole company is paralyzed!”</a:t>
            </a:r>
            <a:endParaRPr lang="en-US" sz="1250" dirty="0"/>
          </a:p>
        </p:txBody>
      </p:sp>
      <p:sp>
        <p:nvSpPr>
          <p:cNvPr id="10" name="Shape 7"/>
          <p:cNvSpPr/>
          <p:nvPr/>
        </p:nvSpPr>
        <p:spPr>
          <a:xfrm>
            <a:off x="502920" y="3246120"/>
            <a:ext cx="11183112" cy="1143000"/>
          </a:xfrm>
          <a:prstGeom prst="roundRect">
            <a:avLst>
              <a:gd name="adj" fmla="val 7200"/>
            </a:avLst>
          </a:prstGeom>
          <a:solidFill>
            <a:srgbClr val="FFFFFF"/>
          </a:solidFill>
          <a:ln w="12700">
            <a:solidFill>
              <a:srgbClr val="D5E3F2"/>
            </a:solidFill>
            <a:prstDash val="solid"/>
          </a:ln>
          <a:effectLst>
            <a:outerShdw sx="100000" sy="100000" kx="0" ky="0" algn="bl" rotWithShape="0" blurRad="88900" dist="25400" dir="5400000">
              <a:srgbClr val="9AB4CC">
                <a:alpha val="30000"/>
              </a:srgbClr>
            </a:outerShdw>
          </a:effectLst>
        </p:spPr>
      </p:sp>
      <p:pic>
        <p:nvPicPr>
          <p:cNvPr id="11"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31520" y="3520440"/>
            <a:ext cx="365760" cy="365760"/>
          </a:xfrm>
          <a:prstGeom prst="rect">
            <a:avLst/>
          </a:prstGeom>
        </p:spPr>
      </p:pic>
      <p:sp>
        <p:nvSpPr>
          <p:cNvPr id="12" name="Text 8"/>
          <p:cNvSpPr/>
          <p:nvPr/>
        </p:nvSpPr>
        <p:spPr>
          <a:xfrm>
            <a:off x="1280160" y="3337560"/>
            <a:ext cx="10131552" cy="960120"/>
          </a:xfrm>
          <a:prstGeom prst="rect">
            <a:avLst/>
          </a:prstGeom>
          <a:noFill/>
          <a:ln/>
        </p:spPr>
        <p:txBody>
          <a:bodyPr wrap="square" rtlCol="0" anchor="ctr"/>
          <a:lstStyle/>
          <a:p>
            <a:pPr indent="0" marL="0">
              <a:lnSpc>
                <a:spcPct val="108000"/>
              </a:lnSpc>
              <a:buNone/>
            </a:pPr>
            <a:r>
              <a:rPr lang="en-US" sz="1250" b="1" spc="150" kern="0" dirty="0">
                <a:solidFill>
                  <a:srgbClr val="6B7280"/>
                </a:solidFill>
                <a:latin typeface="Aptos" pitchFamily="34" charset="0"/>
                <a:ea typeface="Aptos" pitchFamily="34" charset="-122"/>
                <a:cs typeface="Aptos" pitchFamily="34" charset="-120"/>
              </a:rPr>
              <a:t>WHY IT BREAKS THE RULE
</a:t>
            </a:r>
            <a:pPr indent="0" marL="0">
              <a:lnSpc>
                <a:spcPct val="108000"/>
              </a:lnSpc>
              <a:buNone/>
            </a:pPr>
            <a:r>
              <a:rPr lang="en-US" sz="1550" dirty="0">
                <a:solidFill>
                  <a:srgbClr val="002050"/>
                </a:solidFill>
                <a:latin typeface="Aptos" pitchFamily="34" charset="0"/>
                <a:ea typeface="Aptos" pitchFamily="34" charset="-122"/>
                <a:cs typeface="Aptos" pitchFamily="34" charset="-120"/>
              </a:rPr>
              <a:t>It is an emotional overstatement. Only one localized branch office is experiencing a slow internet connection.</a:t>
            </a:r>
            <a:endParaRPr lang="en-US" sz="1250" dirty="0"/>
          </a:p>
        </p:txBody>
      </p:sp>
      <p:sp>
        <p:nvSpPr>
          <p:cNvPr id="13" name="Shape 9"/>
          <p:cNvSpPr/>
          <p:nvPr/>
        </p:nvSpPr>
        <p:spPr>
          <a:xfrm>
            <a:off x="502920" y="4572000"/>
            <a:ext cx="11183112" cy="1417320"/>
          </a:xfrm>
          <a:prstGeom prst="roundRect">
            <a:avLst>
              <a:gd name="adj" fmla="val 5806"/>
            </a:avLst>
          </a:prstGeom>
          <a:solidFill>
            <a:srgbClr val="E7F4E7"/>
          </a:solidFill>
          <a:ln w="12700">
            <a:solidFill>
              <a:srgbClr val="BFE0BF"/>
            </a:solidFill>
            <a:prstDash val="solid"/>
          </a:ln>
          <a:effectLst>
            <a:outerShdw sx="100000" sy="100000" kx="0" ky="0" algn="bl" rotWithShape="0" blurRad="88900" dist="25400" dir="5400000">
              <a:srgbClr val="9AB4CC">
                <a:alpha val="30000"/>
              </a:srgbClr>
            </a:outerShdw>
          </a:effectLst>
        </p:spPr>
      </p:sp>
      <p:pic>
        <p:nvPicPr>
          <p:cNvPr id="14"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31520" y="4773168"/>
            <a:ext cx="365760" cy="365760"/>
          </a:xfrm>
          <a:prstGeom prst="rect">
            <a:avLst/>
          </a:prstGeom>
        </p:spPr>
      </p:pic>
      <p:sp>
        <p:nvSpPr>
          <p:cNvPr id="15" name="Text 10"/>
          <p:cNvSpPr/>
          <p:nvPr/>
        </p:nvSpPr>
        <p:spPr>
          <a:xfrm>
            <a:off x="1280160" y="4681728"/>
            <a:ext cx="10131552" cy="1188720"/>
          </a:xfrm>
          <a:prstGeom prst="rect">
            <a:avLst/>
          </a:prstGeom>
          <a:noFill/>
          <a:ln/>
        </p:spPr>
        <p:txBody>
          <a:bodyPr wrap="square" rtlCol="0" anchor="ctr"/>
          <a:lstStyle/>
          <a:p>
            <a:pPr indent="0" marL="0">
              <a:lnSpc>
                <a:spcPct val="108000"/>
              </a:lnSpc>
              <a:buNone/>
            </a:pPr>
            <a:r>
              <a:rPr lang="en-US" sz="1250" b="1" spc="150" kern="0" dirty="0">
                <a:solidFill>
                  <a:srgbClr val="0E700E"/>
                </a:solidFill>
                <a:latin typeface="Aptos" pitchFamily="34" charset="0"/>
                <a:ea typeface="Aptos" pitchFamily="34" charset="-122"/>
                <a:cs typeface="Aptos" pitchFamily="34" charset="-120"/>
              </a:rPr>
              <a:t>THE ACCURATE WAY
</a:t>
            </a:r>
            <a:pPr indent="0" marL="0">
              <a:lnSpc>
                <a:spcPct val="108000"/>
              </a:lnSpc>
              <a:buNone/>
            </a:pPr>
            <a:r>
              <a:rPr lang="en-US" sz="1550" dirty="0">
                <a:solidFill>
                  <a:srgbClr val="002050"/>
                </a:solidFill>
                <a:latin typeface="Aptos" pitchFamily="34" charset="0"/>
                <a:ea typeface="Aptos" pitchFamily="34" charset="-122"/>
                <a:cs typeface="Aptos" pitchFamily="34" charset="-120"/>
              </a:rPr>
              <a:t>“The Sandton branch office is currently experiencing high network latency, impacting 15 users.”</a:t>
            </a:r>
            <a:endParaRPr lang="en-US" sz="1250" dirty="0"/>
          </a:p>
        </p:txBody>
      </p:sp>
      <p:sp>
        <p:nvSpPr>
          <p:cNvPr id="16" name="Text 11"/>
          <p:cNvSpPr/>
          <p:nvPr/>
        </p:nvSpPr>
        <p:spPr>
          <a:xfrm>
            <a:off x="502920" y="6108192"/>
            <a:ext cx="11183112" cy="274320"/>
          </a:xfrm>
          <a:prstGeom prst="rect">
            <a:avLst/>
          </a:prstGeom>
          <a:noFill/>
          <a:ln/>
        </p:spPr>
        <p:txBody>
          <a:bodyPr wrap="square" rtlCol="0" anchor="ctr"/>
          <a:lstStyle/>
          <a:p>
            <a:pPr indent="0" marL="0">
              <a:buNone/>
            </a:pPr>
            <a:r>
              <a:rPr lang="en-US" sz="1250" i="1" dirty="0">
                <a:solidFill>
                  <a:srgbClr val="6B7280"/>
                </a:solidFill>
                <a:latin typeface="Aptos" pitchFamily="34" charset="0"/>
                <a:ea typeface="Aptos" pitchFamily="34" charset="-122"/>
                <a:cs typeface="Aptos" pitchFamily="34" charset="-120"/>
              </a:rPr>
              <a:t>Accuracy — check that everything you write is factually accurate and capable of being verified.</a:t>
            </a:r>
            <a:endParaRPr lang="en-US" sz="12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6473952"/>
            <a:ext cx="10268712" cy="274320"/>
          </a:xfrm>
          <a:prstGeom prst="rect">
            <a:avLst/>
          </a:prstGeom>
          <a:noFill/>
          <a:ln/>
        </p:spPr>
        <p:txBody>
          <a:bodyPr wrap="square" rtlCol="0" anchor="ctr"/>
          <a:lstStyle/>
          <a:p>
            <a:pPr indent="0" marL="0">
              <a:buNone/>
            </a:pPr>
            <a:r>
              <a:rPr lang="en-US" sz="1000" dirty="0">
                <a:solidFill>
                  <a:srgbClr val="6B7280"/>
                </a:solidFill>
                <a:latin typeface="Aptos" pitchFamily="34" charset="0"/>
                <a:ea typeface="Aptos" pitchFamily="34" charset="-122"/>
                <a:cs typeface="Aptos" pitchFamily="34" charset="-120"/>
              </a:rPr>
              <a:t>Unit Standard 8252 — Writing Business Reports   ·   Investec IT Systems Support NQF 5</a:t>
            </a:r>
            <a:endParaRPr lang="en-US" sz="1000" dirty="0"/>
          </a:p>
        </p:txBody>
      </p:sp>
      <p:sp>
        <p:nvSpPr>
          <p:cNvPr id="3" name="Text 1"/>
          <p:cNvSpPr/>
          <p:nvPr/>
        </p:nvSpPr>
        <p:spPr>
          <a:xfrm>
            <a:off x="11137392" y="6473952"/>
            <a:ext cx="548640" cy="274320"/>
          </a:xfrm>
          <a:prstGeom prst="rect">
            <a:avLst/>
          </a:prstGeom>
          <a:noFill/>
          <a:ln/>
        </p:spPr>
        <p:txBody>
          <a:bodyPr wrap="square" rtlCol="0" anchor="ctr"/>
          <a:lstStyle/>
          <a:p>
            <a:pPr algn="r" indent="0" marL="0">
              <a:buNone/>
            </a:pPr>
            <a:r>
              <a:rPr lang="en-US" sz="1000" dirty="0">
                <a:solidFill>
                  <a:srgbClr val="6B7280"/>
                </a:solidFill>
                <a:latin typeface="Aptos" pitchFamily="34" charset="0"/>
                <a:ea typeface="Aptos" pitchFamily="34" charset="-122"/>
                <a:cs typeface="Aptos" pitchFamily="34" charset="-120"/>
              </a:rPr>
              <a:t>16</a:t>
            </a:r>
            <a:endParaRPr lang="en-US" sz="1000" dirty="0"/>
          </a:p>
        </p:txBody>
      </p:sp>
      <p:sp>
        <p:nvSpPr>
          <p:cNvPr id="4" name="Shape 2"/>
          <p:cNvSpPr/>
          <p:nvPr/>
        </p:nvSpPr>
        <p:spPr>
          <a:xfrm>
            <a:off x="0" y="0"/>
            <a:ext cx="12188952" cy="82296"/>
          </a:xfrm>
          <a:prstGeom prst="rect">
            <a:avLst/>
          </a:prstGeom>
          <a:solidFill>
            <a:srgbClr val="0F6CBD"/>
          </a:solidFill>
          <a:ln/>
        </p:spPr>
      </p:sp>
      <p:sp>
        <p:nvSpPr>
          <p:cNvPr id="5" name="Text 3"/>
          <p:cNvSpPr/>
          <p:nvPr/>
        </p:nvSpPr>
        <p:spPr>
          <a:xfrm>
            <a:off x="502920" y="256032"/>
            <a:ext cx="11183112" cy="347472"/>
          </a:xfrm>
          <a:prstGeom prst="rect">
            <a:avLst/>
          </a:prstGeom>
          <a:noFill/>
          <a:ln/>
        </p:spPr>
        <p:txBody>
          <a:bodyPr wrap="square" rtlCol="0" anchor="ctr"/>
          <a:lstStyle/>
          <a:p>
            <a:pPr indent="0" marL="0">
              <a:buNone/>
            </a:pPr>
            <a:r>
              <a:rPr lang="en-US" sz="1400" b="1" spc="200" kern="0" dirty="0">
                <a:solidFill>
                  <a:srgbClr val="0F6CBD"/>
                </a:solidFill>
                <a:latin typeface="Aptos" pitchFamily="34" charset="0"/>
                <a:ea typeface="Aptos" pitchFamily="34" charset="-122"/>
                <a:cs typeface="Aptos" pitchFamily="34" charset="-120"/>
              </a:rPr>
              <a:t>QUALITIES OF GOOD REPORT WRITING · 1 OF 2</a:t>
            </a:r>
            <a:endParaRPr lang="en-US" sz="1400" dirty="0"/>
          </a:p>
        </p:txBody>
      </p:sp>
      <p:sp>
        <p:nvSpPr>
          <p:cNvPr id="6" name="Text 4"/>
          <p:cNvSpPr/>
          <p:nvPr/>
        </p:nvSpPr>
        <p:spPr>
          <a:xfrm>
            <a:off x="502920" y="585216"/>
            <a:ext cx="11183112" cy="786384"/>
          </a:xfrm>
          <a:prstGeom prst="rect">
            <a:avLst/>
          </a:prstGeom>
          <a:noFill/>
          <a:ln/>
        </p:spPr>
        <p:txBody>
          <a:bodyPr wrap="square" rtlCol="0" anchor="ctr"/>
          <a:lstStyle/>
          <a:p>
            <a:pPr indent="0" marL="0">
              <a:buNone/>
            </a:pPr>
            <a:r>
              <a:rPr lang="en-US" sz="3400" b="1" dirty="0">
                <a:solidFill>
                  <a:srgbClr val="002050"/>
                </a:solidFill>
                <a:latin typeface="Aptos Display" pitchFamily="34" charset="0"/>
                <a:ea typeface="Aptos Display" pitchFamily="34" charset="-122"/>
                <a:cs typeface="Aptos Display" pitchFamily="34" charset="-120"/>
              </a:rPr>
              <a:t>Objectivity</a:t>
            </a:r>
            <a:endParaRPr lang="en-US" sz="3400" dirty="0"/>
          </a:p>
        </p:txBody>
      </p:sp>
      <p:sp>
        <p:nvSpPr>
          <p:cNvPr id="7" name="Text 5"/>
          <p:cNvSpPr/>
          <p:nvPr/>
        </p:nvSpPr>
        <p:spPr>
          <a:xfrm>
            <a:off x="502920" y="1600200"/>
            <a:ext cx="11183112" cy="1280160"/>
          </a:xfrm>
          <a:prstGeom prst="rect">
            <a:avLst/>
          </a:prstGeom>
          <a:noFill/>
          <a:ln/>
        </p:spPr>
        <p:txBody>
          <a:bodyPr wrap="square" rtlCol="0" anchor="t"/>
          <a:lstStyle/>
          <a:p>
            <a:pPr indent="0" marL="0">
              <a:lnSpc>
                <a:spcPct val="112000"/>
              </a:lnSpc>
              <a:spcAft>
                <a:spcPts val="1200"/>
              </a:spcAft>
              <a:buNone/>
            </a:pPr>
            <a:r>
              <a:rPr lang="en-US" sz="1550" dirty="0">
                <a:solidFill>
                  <a:srgbClr val="002050"/>
                </a:solidFill>
                <a:latin typeface="Aptos" pitchFamily="34" charset="0"/>
                <a:ea typeface="Aptos" pitchFamily="34" charset="-122"/>
                <a:cs typeface="Aptos" pitchFamily="34" charset="-120"/>
              </a:rPr>
              <a:t>A report should not be an essay reflecting personal emotions and opinions. Look at all sides of a problem with an open mind before stating conclusions. Showing an open mind makes your conclusions and recommendations more acceptable — the emphasis is on the factual material and conclusions drawn, not on personal beliefs, biases or prejudices.</a:t>
            </a:r>
            <a:endParaRPr lang="en-US" sz="1550" dirty="0"/>
          </a:p>
        </p:txBody>
      </p:sp>
      <p:pic>
        <p:nvPicPr>
          <p:cNvPr id="8"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548640" y="2926080"/>
            <a:ext cx="347472" cy="347472"/>
          </a:xfrm>
          <a:prstGeom prst="rect">
            <a:avLst/>
          </a:prstGeom>
        </p:spPr>
      </p:pic>
      <p:sp>
        <p:nvSpPr>
          <p:cNvPr id="9" name="Text 6"/>
          <p:cNvSpPr/>
          <p:nvPr/>
        </p:nvSpPr>
        <p:spPr>
          <a:xfrm>
            <a:off x="1005840" y="2880360"/>
            <a:ext cx="11183112" cy="411480"/>
          </a:xfrm>
          <a:prstGeom prst="rect">
            <a:avLst/>
          </a:prstGeom>
          <a:noFill/>
          <a:ln/>
        </p:spPr>
        <p:txBody>
          <a:bodyPr wrap="square" rtlCol="0" anchor="ctr"/>
          <a:lstStyle/>
          <a:p>
            <a:pPr indent="0" marL="0">
              <a:buNone/>
            </a:pPr>
            <a:r>
              <a:rPr lang="en-US" sz="2000" b="1" dirty="0">
                <a:solidFill>
                  <a:srgbClr val="002050"/>
                </a:solidFill>
                <a:latin typeface="Aptos Display" pitchFamily="34" charset="0"/>
                <a:ea typeface="Aptos Display" pitchFamily="34" charset="-122"/>
                <a:cs typeface="Aptos Display" pitchFamily="34" charset="-120"/>
              </a:rPr>
              <a:t>How to Apply This to an IT Report</a:t>
            </a:r>
            <a:endParaRPr lang="en-US" sz="2000" dirty="0"/>
          </a:p>
        </p:txBody>
      </p:sp>
      <p:pic>
        <p:nvPicPr>
          <p:cNvPr id="10"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48640" y="3529584"/>
            <a:ext cx="365760" cy="365760"/>
          </a:xfrm>
          <a:prstGeom prst="rect">
            <a:avLst/>
          </a:prstGeom>
        </p:spPr>
      </p:pic>
      <p:sp>
        <p:nvSpPr>
          <p:cNvPr id="11" name="Text 7"/>
          <p:cNvSpPr/>
          <p:nvPr/>
        </p:nvSpPr>
        <p:spPr>
          <a:xfrm>
            <a:off x="1124712" y="3401568"/>
            <a:ext cx="10360152" cy="804672"/>
          </a:xfrm>
          <a:prstGeom prst="rect">
            <a:avLst/>
          </a:prstGeom>
          <a:noFill/>
          <a:ln/>
        </p:spPr>
        <p:txBody>
          <a:bodyPr wrap="square" rtlCol="0" anchor="ctr"/>
          <a:lstStyle/>
          <a:p>
            <a:pPr indent="0" marL="0">
              <a:lnSpc>
                <a:spcPct val="106000"/>
              </a:lnSpc>
              <a:buNone/>
            </a:pPr>
            <a:r>
              <a:rPr lang="en-US" sz="1650" b="1" dirty="0">
                <a:solidFill>
                  <a:srgbClr val="002050"/>
                </a:solidFill>
                <a:latin typeface="Aptos" pitchFamily="34" charset="0"/>
                <a:ea typeface="Aptos" pitchFamily="34" charset="-122"/>
                <a:cs typeface="Aptos" pitchFamily="34" charset="-120"/>
              </a:rPr>
              <a:t>Make it fast to read: </a:t>
            </a:r>
            <a:pPr indent="0" marL="0">
              <a:lnSpc>
                <a:spcPct val="106000"/>
              </a:lnSpc>
              <a:buNone/>
            </a:pPr>
            <a:r>
              <a:rPr lang="en-US" sz="1650" dirty="0">
                <a:solidFill>
                  <a:srgbClr val="002050"/>
                </a:solidFill>
                <a:latin typeface="Aptos" pitchFamily="34" charset="0"/>
                <a:ea typeface="Aptos" pitchFamily="34" charset="-122"/>
                <a:cs typeface="Aptos" pitchFamily="34" charset="-120"/>
              </a:rPr>
              <a:t>Use bullet points and clear headers so the reader gets the point instantly.</a:t>
            </a:r>
            <a:endParaRPr lang="en-US" sz="1650" dirty="0"/>
          </a:p>
        </p:txBody>
      </p:sp>
      <p:pic>
        <p:nvPicPr>
          <p:cNvPr id="12"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48640" y="4242816"/>
            <a:ext cx="365760" cy="365760"/>
          </a:xfrm>
          <a:prstGeom prst="rect">
            <a:avLst/>
          </a:prstGeom>
        </p:spPr>
      </p:pic>
      <p:sp>
        <p:nvSpPr>
          <p:cNvPr id="13" name="Text 8"/>
          <p:cNvSpPr/>
          <p:nvPr/>
        </p:nvSpPr>
        <p:spPr>
          <a:xfrm>
            <a:off x="1124712" y="4114800"/>
            <a:ext cx="10360152" cy="804672"/>
          </a:xfrm>
          <a:prstGeom prst="rect">
            <a:avLst/>
          </a:prstGeom>
          <a:noFill/>
          <a:ln/>
        </p:spPr>
        <p:txBody>
          <a:bodyPr wrap="square" rtlCol="0" anchor="ctr"/>
          <a:lstStyle/>
          <a:p>
            <a:pPr indent="0" marL="0">
              <a:lnSpc>
                <a:spcPct val="106000"/>
              </a:lnSpc>
              <a:buNone/>
            </a:pPr>
            <a:r>
              <a:rPr lang="en-US" sz="1650" b="1" dirty="0">
                <a:solidFill>
                  <a:srgbClr val="002050"/>
                </a:solidFill>
                <a:latin typeface="Aptos" pitchFamily="34" charset="0"/>
                <a:ea typeface="Aptos" pitchFamily="34" charset="-122"/>
                <a:cs typeface="Aptos" pitchFamily="34" charset="-120"/>
              </a:rPr>
              <a:t>Make it easy to understand: </a:t>
            </a:r>
            <a:pPr indent="0" marL="0">
              <a:lnSpc>
                <a:spcPct val="106000"/>
              </a:lnSpc>
              <a:buNone/>
            </a:pPr>
            <a:r>
              <a:rPr lang="en-US" sz="1650" dirty="0">
                <a:solidFill>
                  <a:srgbClr val="002050"/>
                </a:solidFill>
                <a:latin typeface="Aptos" pitchFamily="34" charset="0"/>
                <a:ea typeface="Aptos" pitchFamily="34" charset="-122"/>
                <a:cs typeface="Aptos" pitchFamily="34" charset="-120"/>
              </a:rPr>
              <a:t>Use plain language instead of dense technical jargon.</a:t>
            </a:r>
            <a:endParaRPr lang="en-US" sz="1650" dirty="0"/>
          </a:p>
        </p:txBody>
      </p:sp>
      <p:pic>
        <p:nvPicPr>
          <p:cNvPr id="14"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548640" y="4956048"/>
            <a:ext cx="365760" cy="365760"/>
          </a:xfrm>
          <a:prstGeom prst="rect">
            <a:avLst/>
          </a:prstGeom>
        </p:spPr>
      </p:pic>
      <p:sp>
        <p:nvSpPr>
          <p:cNvPr id="15" name="Text 9"/>
          <p:cNvSpPr/>
          <p:nvPr/>
        </p:nvSpPr>
        <p:spPr>
          <a:xfrm>
            <a:off x="1124712" y="4828032"/>
            <a:ext cx="10360152" cy="804672"/>
          </a:xfrm>
          <a:prstGeom prst="rect">
            <a:avLst/>
          </a:prstGeom>
          <a:noFill/>
          <a:ln/>
        </p:spPr>
        <p:txBody>
          <a:bodyPr wrap="square" rtlCol="0" anchor="ctr"/>
          <a:lstStyle/>
          <a:p>
            <a:pPr indent="0" marL="0">
              <a:lnSpc>
                <a:spcPct val="106000"/>
              </a:lnSpc>
              <a:buNone/>
            </a:pPr>
            <a:r>
              <a:rPr lang="en-US" sz="1650" b="1" dirty="0">
                <a:solidFill>
                  <a:srgbClr val="002050"/>
                </a:solidFill>
                <a:latin typeface="Aptos" pitchFamily="34" charset="0"/>
                <a:ea typeface="Aptos" pitchFamily="34" charset="-122"/>
                <a:cs typeface="Aptos" pitchFamily="34" charset="-120"/>
              </a:rPr>
              <a:t>Make it believable: </a:t>
            </a:r>
            <a:pPr indent="0" marL="0">
              <a:lnSpc>
                <a:spcPct val="106000"/>
              </a:lnSpc>
              <a:buNone/>
            </a:pPr>
            <a:r>
              <a:rPr lang="en-US" sz="1650" dirty="0">
                <a:solidFill>
                  <a:srgbClr val="002050"/>
                </a:solidFill>
                <a:latin typeface="Aptos" pitchFamily="34" charset="0"/>
                <a:ea typeface="Aptos" pitchFamily="34" charset="-122"/>
                <a:cs typeface="Aptos" pitchFamily="34" charset="-120"/>
              </a:rPr>
              <a:t>Support your conclusions with hard data, system logs, or metrics.</a:t>
            </a:r>
            <a:endParaRPr lang="en-US" sz="1650" dirty="0"/>
          </a:p>
        </p:txBody>
      </p:sp>
      <p:pic>
        <p:nvPicPr>
          <p:cNvPr id="16" name="Image 4" descr="preencoded.png">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548640" y="5669280"/>
            <a:ext cx="365760" cy="365760"/>
          </a:xfrm>
          <a:prstGeom prst="rect">
            <a:avLst/>
          </a:prstGeom>
        </p:spPr>
      </p:pic>
      <p:sp>
        <p:nvSpPr>
          <p:cNvPr id="17" name="Text 10"/>
          <p:cNvSpPr/>
          <p:nvPr/>
        </p:nvSpPr>
        <p:spPr>
          <a:xfrm>
            <a:off x="1124712" y="5541264"/>
            <a:ext cx="10360152" cy="804672"/>
          </a:xfrm>
          <a:prstGeom prst="rect">
            <a:avLst/>
          </a:prstGeom>
          <a:noFill/>
          <a:ln/>
        </p:spPr>
        <p:txBody>
          <a:bodyPr wrap="square" rtlCol="0" anchor="ctr"/>
          <a:lstStyle/>
          <a:p>
            <a:pPr indent="0" marL="0">
              <a:lnSpc>
                <a:spcPct val="106000"/>
              </a:lnSpc>
              <a:buNone/>
            </a:pPr>
            <a:r>
              <a:rPr lang="en-US" sz="1650" b="1" dirty="0">
                <a:solidFill>
                  <a:srgbClr val="002050"/>
                </a:solidFill>
                <a:latin typeface="Aptos" pitchFamily="34" charset="0"/>
                <a:ea typeface="Aptos" pitchFamily="34" charset="-122"/>
                <a:cs typeface="Aptos" pitchFamily="34" charset="-120"/>
              </a:rPr>
              <a:t>Make it actionable: </a:t>
            </a:r>
            <a:pPr indent="0" marL="0">
              <a:lnSpc>
                <a:spcPct val="106000"/>
              </a:lnSpc>
              <a:buNone/>
            </a:pPr>
            <a:r>
              <a:rPr lang="en-US" sz="1650" dirty="0">
                <a:solidFill>
                  <a:srgbClr val="002050"/>
                </a:solidFill>
                <a:latin typeface="Aptos" pitchFamily="34" charset="0"/>
                <a:ea typeface="Aptos" pitchFamily="34" charset="-122"/>
                <a:cs typeface="Aptos" pitchFamily="34" charset="-120"/>
              </a:rPr>
              <a:t>End the report with a clear, step-by-step instruction on what to do next.</a:t>
            </a:r>
            <a:endParaRPr lang="en-US" sz="16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6473952"/>
            <a:ext cx="10268712" cy="274320"/>
          </a:xfrm>
          <a:prstGeom prst="rect">
            <a:avLst/>
          </a:prstGeom>
          <a:noFill/>
          <a:ln/>
        </p:spPr>
        <p:txBody>
          <a:bodyPr wrap="square" rtlCol="0" anchor="ctr"/>
          <a:lstStyle/>
          <a:p>
            <a:pPr indent="0" marL="0">
              <a:buNone/>
            </a:pPr>
            <a:r>
              <a:rPr lang="en-US" sz="1000" dirty="0">
                <a:solidFill>
                  <a:srgbClr val="6B7280"/>
                </a:solidFill>
                <a:latin typeface="Aptos" pitchFamily="34" charset="0"/>
                <a:ea typeface="Aptos" pitchFamily="34" charset="-122"/>
                <a:cs typeface="Aptos" pitchFamily="34" charset="-120"/>
              </a:rPr>
              <a:t>Unit Standard 8252 — Writing Business Reports   ·   Investec IT Systems Support NQF 5</a:t>
            </a:r>
            <a:endParaRPr lang="en-US" sz="1000" dirty="0"/>
          </a:p>
        </p:txBody>
      </p:sp>
      <p:sp>
        <p:nvSpPr>
          <p:cNvPr id="3" name="Text 1"/>
          <p:cNvSpPr/>
          <p:nvPr/>
        </p:nvSpPr>
        <p:spPr>
          <a:xfrm>
            <a:off x="11137392" y="6473952"/>
            <a:ext cx="548640" cy="274320"/>
          </a:xfrm>
          <a:prstGeom prst="rect">
            <a:avLst/>
          </a:prstGeom>
          <a:noFill/>
          <a:ln/>
        </p:spPr>
        <p:txBody>
          <a:bodyPr wrap="square" rtlCol="0" anchor="ctr"/>
          <a:lstStyle/>
          <a:p>
            <a:pPr algn="r" indent="0" marL="0">
              <a:buNone/>
            </a:pPr>
            <a:r>
              <a:rPr lang="en-US" sz="1000" dirty="0">
                <a:solidFill>
                  <a:srgbClr val="6B7280"/>
                </a:solidFill>
                <a:latin typeface="Aptos" pitchFamily="34" charset="0"/>
                <a:ea typeface="Aptos" pitchFamily="34" charset="-122"/>
                <a:cs typeface="Aptos" pitchFamily="34" charset="-120"/>
              </a:rPr>
              <a:t>17</a:t>
            </a:r>
            <a:endParaRPr lang="en-US" sz="1000" dirty="0"/>
          </a:p>
        </p:txBody>
      </p:sp>
      <p:sp>
        <p:nvSpPr>
          <p:cNvPr id="4" name="Shape 2"/>
          <p:cNvSpPr/>
          <p:nvPr/>
        </p:nvSpPr>
        <p:spPr>
          <a:xfrm>
            <a:off x="0" y="0"/>
            <a:ext cx="12188952" cy="82296"/>
          </a:xfrm>
          <a:prstGeom prst="rect">
            <a:avLst/>
          </a:prstGeom>
          <a:solidFill>
            <a:srgbClr val="0F6CBD"/>
          </a:solidFill>
          <a:ln/>
        </p:spPr>
      </p:sp>
      <p:sp>
        <p:nvSpPr>
          <p:cNvPr id="5" name="Text 3"/>
          <p:cNvSpPr/>
          <p:nvPr/>
        </p:nvSpPr>
        <p:spPr>
          <a:xfrm>
            <a:off x="502920" y="256032"/>
            <a:ext cx="11183112" cy="347472"/>
          </a:xfrm>
          <a:prstGeom prst="rect">
            <a:avLst/>
          </a:prstGeom>
          <a:noFill/>
          <a:ln/>
        </p:spPr>
        <p:txBody>
          <a:bodyPr wrap="square" rtlCol="0" anchor="ctr"/>
          <a:lstStyle/>
          <a:p>
            <a:pPr indent="0" marL="0">
              <a:buNone/>
            </a:pPr>
            <a:r>
              <a:rPr lang="en-US" sz="1400" b="1" spc="200" kern="0" dirty="0">
                <a:solidFill>
                  <a:srgbClr val="0F6CBD"/>
                </a:solidFill>
                <a:latin typeface="Aptos" pitchFamily="34" charset="0"/>
                <a:ea typeface="Aptos" pitchFamily="34" charset="-122"/>
                <a:cs typeface="Aptos" pitchFamily="34" charset="-120"/>
              </a:rPr>
              <a:t>QUALITIES OF GOOD REPORT WRITING · 1 OF 2</a:t>
            </a:r>
            <a:endParaRPr lang="en-US" sz="1400" dirty="0"/>
          </a:p>
        </p:txBody>
      </p:sp>
      <p:sp>
        <p:nvSpPr>
          <p:cNvPr id="6" name="Text 4"/>
          <p:cNvSpPr/>
          <p:nvPr/>
        </p:nvSpPr>
        <p:spPr>
          <a:xfrm>
            <a:off x="502920" y="585216"/>
            <a:ext cx="11183112" cy="786384"/>
          </a:xfrm>
          <a:prstGeom prst="rect">
            <a:avLst/>
          </a:prstGeom>
          <a:noFill/>
          <a:ln/>
        </p:spPr>
        <p:txBody>
          <a:bodyPr wrap="square" rtlCol="0" anchor="ctr"/>
          <a:lstStyle/>
          <a:p>
            <a:pPr indent="0" marL="0">
              <a:buNone/>
            </a:pPr>
            <a:r>
              <a:rPr lang="en-US" sz="3400" b="1" dirty="0">
                <a:solidFill>
                  <a:srgbClr val="002050"/>
                </a:solidFill>
                <a:latin typeface="Aptos Display" pitchFamily="34" charset="0"/>
                <a:ea typeface="Aptos Display" pitchFamily="34" charset="-122"/>
                <a:cs typeface="Aptos Display" pitchFamily="34" charset="-120"/>
              </a:rPr>
              <a:t>✖ What NOT to Do (IT Examples)</a:t>
            </a:r>
            <a:endParaRPr lang="en-US" sz="3400" dirty="0"/>
          </a:p>
        </p:txBody>
      </p:sp>
      <p:sp>
        <p:nvSpPr>
          <p:cNvPr id="7" name="Shape 5"/>
          <p:cNvSpPr/>
          <p:nvPr/>
        </p:nvSpPr>
        <p:spPr>
          <a:xfrm>
            <a:off x="502920" y="1691640"/>
            <a:ext cx="11183112" cy="2057400"/>
          </a:xfrm>
          <a:prstGeom prst="roundRect">
            <a:avLst>
              <a:gd name="adj" fmla="val 4000"/>
            </a:avLst>
          </a:prstGeom>
          <a:solidFill>
            <a:srgbClr val="FCEDEE"/>
          </a:solidFill>
          <a:ln w="12700">
            <a:solidFill>
              <a:srgbClr val="F2C7CB"/>
            </a:solidFill>
            <a:prstDash val="solid"/>
          </a:ln>
          <a:effectLst>
            <a:outerShdw sx="100000" sy="100000" kx="0" ky="0" algn="bl" rotWithShape="0" blurRad="88900" dist="25400" dir="5400000">
              <a:srgbClr val="9AB4CC">
                <a:alpha val="30000"/>
              </a:srgbClr>
            </a:outerShdw>
          </a:effectLst>
        </p:spPr>
      </p:sp>
      <p:pic>
        <p:nvPicPr>
          <p:cNvPr id="8"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31520" y="1874520"/>
            <a:ext cx="365760" cy="365760"/>
          </a:xfrm>
          <a:prstGeom prst="rect">
            <a:avLst/>
          </a:prstGeom>
        </p:spPr>
      </p:pic>
      <p:sp>
        <p:nvSpPr>
          <p:cNvPr id="9" name="Text 6"/>
          <p:cNvSpPr/>
          <p:nvPr/>
        </p:nvSpPr>
        <p:spPr>
          <a:xfrm>
            <a:off x="1280160" y="1828800"/>
            <a:ext cx="10131552" cy="1828800"/>
          </a:xfrm>
          <a:prstGeom prst="rect">
            <a:avLst/>
          </a:prstGeom>
          <a:noFill/>
          <a:ln/>
        </p:spPr>
        <p:txBody>
          <a:bodyPr wrap="square" rtlCol="0" anchor="ctr"/>
          <a:lstStyle/>
          <a:p>
            <a:pPr indent="0" marL="0">
              <a:lnSpc>
                <a:spcPct val="112000"/>
              </a:lnSpc>
              <a:buNone/>
            </a:pPr>
            <a:r>
              <a:rPr lang="en-US" sz="1250" b="1" spc="150" kern="0" dirty="0">
                <a:solidFill>
                  <a:srgbClr val="C50F1F"/>
                </a:solidFill>
                <a:latin typeface="Aptos" pitchFamily="34" charset="0"/>
                <a:ea typeface="Aptos" pitchFamily="34" charset="-122"/>
                <a:cs typeface="Aptos" pitchFamily="34" charset="-120"/>
              </a:rPr>
              <a:t>DO NOT DELAY THE READER (WORDY)
</a:t>
            </a:r>
            <a:pPr indent="0" marL="0">
              <a:lnSpc>
                <a:spcPct val="112000"/>
              </a:lnSpc>
              <a:buNone/>
            </a:pPr>
            <a:r>
              <a:rPr lang="en-US" sz="1550" i="1" dirty="0">
                <a:solidFill>
                  <a:srgbClr val="002050"/>
                </a:solidFill>
                <a:latin typeface="Aptos" pitchFamily="34" charset="0"/>
                <a:ea typeface="Aptos" pitchFamily="34" charset="-122"/>
                <a:cs typeface="Aptos" pitchFamily="34" charset="-120"/>
              </a:rPr>
              <a:t>“It has come to our attention via various diagnostic methodologies that the database is encountering latency constraints due to a variety of interconnected factors.”
</a:t>
            </a:r>
            <a:pPr indent="0" marL="0">
              <a:lnSpc>
                <a:spcPct val="112000"/>
              </a:lnSpc>
              <a:buNone/>
            </a:pPr>
            <a:r>
              <a:rPr lang="en-US" sz="1450" b="1" dirty="0">
                <a:solidFill>
                  <a:srgbClr val="002050"/>
                </a:solidFill>
                <a:latin typeface="Aptos" pitchFamily="34" charset="0"/>
                <a:ea typeface="Aptos" pitchFamily="34" charset="-122"/>
                <a:cs typeface="Aptos" pitchFamily="34" charset="-120"/>
              </a:rPr>
              <a:t>Why it fails: It wastes the reader's time with empty filler words.</a:t>
            </a:r>
            <a:endParaRPr lang="en-US" sz="1250" dirty="0"/>
          </a:p>
        </p:txBody>
      </p:sp>
      <p:sp>
        <p:nvSpPr>
          <p:cNvPr id="10" name="Shape 7"/>
          <p:cNvSpPr/>
          <p:nvPr/>
        </p:nvSpPr>
        <p:spPr>
          <a:xfrm>
            <a:off x="502920" y="3977640"/>
            <a:ext cx="11183112" cy="2057400"/>
          </a:xfrm>
          <a:prstGeom prst="roundRect">
            <a:avLst>
              <a:gd name="adj" fmla="val 4000"/>
            </a:avLst>
          </a:prstGeom>
          <a:solidFill>
            <a:srgbClr val="FCEDEE"/>
          </a:solidFill>
          <a:ln w="12700">
            <a:solidFill>
              <a:srgbClr val="F2C7CB"/>
            </a:solidFill>
            <a:prstDash val="solid"/>
          </a:ln>
          <a:effectLst>
            <a:outerShdw sx="100000" sy="100000" kx="0" ky="0" algn="bl" rotWithShape="0" blurRad="88900" dist="25400" dir="5400000">
              <a:srgbClr val="9AB4CC">
                <a:alpha val="30000"/>
              </a:srgbClr>
            </a:outerShdw>
          </a:effectLst>
        </p:spPr>
      </p:sp>
      <p:pic>
        <p:nvPicPr>
          <p:cNvPr id="11"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31520" y="4160520"/>
            <a:ext cx="365760" cy="365760"/>
          </a:xfrm>
          <a:prstGeom prst="rect">
            <a:avLst/>
          </a:prstGeom>
        </p:spPr>
      </p:pic>
      <p:sp>
        <p:nvSpPr>
          <p:cNvPr id="12" name="Text 8"/>
          <p:cNvSpPr/>
          <p:nvPr/>
        </p:nvSpPr>
        <p:spPr>
          <a:xfrm>
            <a:off x="1280160" y="4114800"/>
            <a:ext cx="10131552" cy="1828800"/>
          </a:xfrm>
          <a:prstGeom prst="rect">
            <a:avLst/>
          </a:prstGeom>
          <a:noFill/>
          <a:ln/>
        </p:spPr>
        <p:txBody>
          <a:bodyPr wrap="square" rtlCol="0" anchor="ctr"/>
          <a:lstStyle/>
          <a:p>
            <a:pPr indent="0" marL="0">
              <a:lnSpc>
                <a:spcPct val="112000"/>
              </a:lnSpc>
              <a:buNone/>
            </a:pPr>
            <a:r>
              <a:rPr lang="en-US" sz="1250" b="1" spc="150" kern="0" dirty="0">
                <a:solidFill>
                  <a:srgbClr val="C50F1F"/>
                </a:solidFill>
                <a:latin typeface="Aptos" pitchFamily="34" charset="0"/>
                <a:ea typeface="Aptos" pitchFamily="34" charset="-122"/>
                <a:cs typeface="Aptos" pitchFamily="34" charset="-120"/>
              </a:rPr>
              <a:t>DO NOT MAKE IT HARD TO UNDERSTAND (TOO MUCH JARGON)
</a:t>
            </a:r>
            <a:pPr indent="0" marL="0">
              <a:lnSpc>
                <a:spcPct val="112000"/>
              </a:lnSpc>
              <a:buNone/>
            </a:pPr>
            <a:r>
              <a:rPr lang="en-US" sz="1550" i="1" dirty="0">
                <a:solidFill>
                  <a:srgbClr val="002050"/>
                </a:solidFill>
                <a:latin typeface="Aptos" pitchFamily="34" charset="0"/>
                <a:ea typeface="Aptos" pitchFamily="34" charset="-122"/>
                <a:cs typeface="Aptos" pitchFamily="34" charset="-120"/>
              </a:rPr>
              <a:t>“Execute a hard provisioning cycle on the hypervisor virtual switch infrastructure to mitigate packet drops.”
</a:t>
            </a:r>
            <a:pPr indent="0" marL="0">
              <a:lnSpc>
                <a:spcPct val="112000"/>
              </a:lnSpc>
              <a:buNone/>
            </a:pPr>
            <a:r>
              <a:rPr lang="en-US" sz="1450" b="1" dirty="0">
                <a:solidFill>
                  <a:srgbClr val="002050"/>
                </a:solidFill>
                <a:latin typeface="Aptos" pitchFamily="34" charset="0"/>
                <a:ea typeface="Aptos" pitchFamily="34" charset="-122"/>
                <a:cs typeface="Aptos" pitchFamily="34" charset="-120"/>
              </a:rPr>
              <a:t>Why it fails: A non-technical manager will struggle to understand what this means.</a:t>
            </a:r>
            <a:endParaRPr lang="en-US" sz="12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6473952"/>
            <a:ext cx="10268712" cy="274320"/>
          </a:xfrm>
          <a:prstGeom prst="rect">
            <a:avLst/>
          </a:prstGeom>
          <a:noFill/>
          <a:ln/>
        </p:spPr>
        <p:txBody>
          <a:bodyPr wrap="square" rtlCol="0" anchor="ctr"/>
          <a:lstStyle/>
          <a:p>
            <a:pPr indent="0" marL="0">
              <a:buNone/>
            </a:pPr>
            <a:r>
              <a:rPr lang="en-US" sz="1000" dirty="0">
                <a:solidFill>
                  <a:srgbClr val="6B7280"/>
                </a:solidFill>
                <a:latin typeface="Aptos" pitchFamily="34" charset="0"/>
                <a:ea typeface="Aptos" pitchFamily="34" charset="-122"/>
                <a:cs typeface="Aptos" pitchFamily="34" charset="-120"/>
              </a:rPr>
              <a:t>Unit Standard 8252 — Writing Business Reports   ·   Investec IT Systems Support NQF 5</a:t>
            </a:r>
            <a:endParaRPr lang="en-US" sz="1000" dirty="0"/>
          </a:p>
        </p:txBody>
      </p:sp>
      <p:sp>
        <p:nvSpPr>
          <p:cNvPr id="3" name="Text 1"/>
          <p:cNvSpPr/>
          <p:nvPr/>
        </p:nvSpPr>
        <p:spPr>
          <a:xfrm>
            <a:off x="11137392" y="6473952"/>
            <a:ext cx="548640" cy="274320"/>
          </a:xfrm>
          <a:prstGeom prst="rect">
            <a:avLst/>
          </a:prstGeom>
          <a:noFill/>
          <a:ln/>
        </p:spPr>
        <p:txBody>
          <a:bodyPr wrap="square" rtlCol="0" anchor="ctr"/>
          <a:lstStyle/>
          <a:p>
            <a:pPr algn="r" indent="0" marL="0">
              <a:buNone/>
            </a:pPr>
            <a:r>
              <a:rPr lang="en-US" sz="1000" dirty="0">
                <a:solidFill>
                  <a:srgbClr val="6B7280"/>
                </a:solidFill>
                <a:latin typeface="Aptos" pitchFamily="34" charset="0"/>
                <a:ea typeface="Aptos" pitchFamily="34" charset="-122"/>
                <a:cs typeface="Aptos" pitchFamily="34" charset="-120"/>
              </a:rPr>
              <a:t>18</a:t>
            </a:r>
            <a:endParaRPr lang="en-US" sz="1000" dirty="0"/>
          </a:p>
        </p:txBody>
      </p:sp>
      <p:sp>
        <p:nvSpPr>
          <p:cNvPr id="4" name="Shape 2"/>
          <p:cNvSpPr/>
          <p:nvPr/>
        </p:nvSpPr>
        <p:spPr>
          <a:xfrm>
            <a:off x="0" y="0"/>
            <a:ext cx="12188952" cy="82296"/>
          </a:xfrm>
          <a:prstGeom prst="rect">
            <a:avLst/>
          </a:prstGeom>
          <a:solidFill>
            <a:srgbClr val="0F6CBD"/>
          </a:solidFill>
          <a:ln/>
        </p:spPr>
      </p:sp>
      <p:sp>
        <p:nvSpPr>
          <p:cNvPr id="5" name="Text 3"/>
          <p:cNvSpPr/>
          <p:nvPr/>
        </p:nvSpPr>
        <p:spPr>
          <a:xfrm>
            <a:off x="502920" y="256032"/>
            <a:ext cx="11183112" cy="347472"/>
          </a:xfrm>
          <a:prstGeom prst="rect">
            <a:avLst/>
          </a:prstGeom>
          <a:noFill/>
          <a:ln/>
        </p:spPr>
        <p:txBody>
          <a:bodyPr wrap="square" rtlCol="0" anchor="ctr"/>
          <a:lstStyle/>
          <a:p>
            <a:pPr indent="0" marL="0">
              <a:buNone/>
            </a:pPr>
            <a:r>
              <a:rPr lang="en-US" sz="1400" b="1" spc="200" kern="0" dirty="0">
                <a:solidFill>
                  <a:srgbClr val="0F6CBD"/>
                </a:solidFill>
                <a:latin typeface="Aptos" pitchFamily="34" charset="0"/>
                <a:ea typeface="Aptos" pitchFamily="34" charset="-122"/>
                <a:cs typeface="Aptos" pitchFamily="34" charset="-120"/>
              </a:rPr>
              <a:t>QUALITIES OF GOOD REPORT WRITING · 2 OF 2</a:t>
            </a:r>
            <a:endParaRPr lang="en-US" sz="1400" dirty="0"/>
          </a:p>
        </p:txBody>
      </p:sp>
      <p:sp>
        <p:nvSpPr>
          <p:cNvPr id="6" name="Text 4"/>
          <p:cNvSpPr/>
          <p:nvPr/>
        </p:nvSpPr>
        <p:spPr>
          <a:xfrm>
            <a:off x="502920" y="585216"/>
            <a:ext cx="11183112" cy="786384"/>
          </a:xfrm>
          <a:prstGeom prst="rect">
            <a:avLst/>
          </a:prstGeom>
          <a:noFill/>
          <a:ln/>
        </p:spPr>
        <p:txBody>
          <a:bodyPr wrap="square" rtlCol="0" anchor="ctr"/>
          <a:lstStyle/>
          <a:p>
            <a:pPr indent="0" marL="0">
              <a:buNone/>
            </a:pPr>
            <a:r>
              <a:rPr lang="en-US" sz="3400" b="1" dirty="0">
                <a:solidFill>
                  <a:srgbClr val="002050"/>
                </a:solidFill>
                <a:latin typeface="Aptos Display" pitchFamily="34" charset="0"/>
                <a:ea typeface="Aptos Display" pitchFamily="34" charset="-122"/>
                <a:cs typeface="Aptos Display" pitchFamily="34" charset="-120"/>
              </a:rPr>
              <a:t>The Qualities of Good Report Writing</a:t>
            </a:r>
            <a:endParaRPr lang="en-US" sz="3400" dirty="0"/>
          </a:p>
        </p:txBody>
      </p:sp>
      <p:sp>
        <p:nvSpPr>
          <p:cNvPr id="7" name="Shape 5"/>
          <p:cNvSpPr/>
          <p:nvPr/>
        </p:nvSpPr>
        <p:spPr>
          <a:xfrm>
            <a:off x="502920" y="1645920"/>
            <a:ext cx="11183112" cy="1374648"/>
          </a:xfrm>
          <a:prstGeom prst="roundRect">
            <a:avLst>
              <a:gd name="adj" fmla="val 5987"/>
            </a:avLst>
          </a:prstGeom>
          <a:solidFill>
            <a:srgbClr val="FFFFFF"/>
          </a:solidFill>
          <a:ln w="12700">
            <a:solidFill>
              <a:srgbClr val="D5E3F2"/>
            </a:solidFill>
            <a:prstDash val="solid"/>
          </a:ln>
          <a:effectLst>
            <a:outerShdw sx="100000" sy="100000" kx="0" ky="0" algn="bl" rotWithShape="0" blurRad="88900" dist="25400" dir="5400000">
              <a:srgbClr val="9AB4CC">
                <a:alpha val="30000"/>
              </a:srgbClr>
            </a:outerShdw>
          </a:effectLst>
        </p:spPr>
      </p:sp>
      <p:sp>
        <p:nvSpPr>
          <p:cNvPr id="8" name="Shape 6"/>
          <p:cNvSpPr/>
          <p:nvPr/>
        </p:nvSpPr>
        <p:spPr>
          <a:xfrm>
            <a:off x="502920" y="1645920"/>
            <a:ext cx="82296" cy="1374648"/>
          </a:xfrm>
          <a:prstGeom prst="rect">
            <a:avLst/>
          </a:prstGeom>
          <a:solidFill>
            <a:srgbClr val="0F6CBD"/>
          </a:solidFill>
          <a:ln/>
        </p:spPr>
      </p:sp>
      <p:pic>
        <p:nvPicPr>
          <p:cNvPr id="9"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58952" y="1810512"/>
            <a:ext cx="365760" cy="365760"/>
          </a:xfrm>
          <a:prstGeom prst="rect">
            <a:avLst/>
          </a:prstGeom>
        </p:spPr>
      </p:pic>
      <p:sp>
        <p:nvSpPr>
          <p:cNvPr id="10" name="Text 7"/>
          <p:cNvSpPr/>
          <p:nvPr/>
        </p:nvSpPr>
        <p:spPr>
          <a:xfrm>
            <a:off x="1280160" y="1755648"/>
            <a:ext cx="10131552" cy="1155192"/>
          </a:xfrm>
          <a:prstGeom prst="rect">
            <a:avLst/>
          </a:prstGeom>
          <a:noFill/>
          <a:ln/>
        </p:spPr>
        <p:txBody>
          <a:bodyPr wrap="square" rtlCol="0" anchor="ctr"/>
          <a:lstStyle/>
          <a:p>
            <a:pPr indent="0" marL="0">
              <a:lnSpc>
                <a:spcPct val="108000"/>
              </a:lnSpc>
              <a:buNone/>
            </a:pPr>
            <a:r>
              <a:rPr lang="en-US" sz="1800" b="1" dirty="0">
                <a:solidFill>
                  <a:srgbClr val="002050"/>
                </a:solidFill>
                <a:latin typeface="Aptos Display" pitchFamily="34" charset="0"/>
                <a:ea typeface="Aptos Display" pitchFamily="34" charset="-122"/>
                <a:cs typeface="Aptos Display" pitchFamily="34" charset="-120"/>
              </a:rPr>
              <a:t>Conciseness
</a:t>
            </a:r>
            <a:pPr indent="0" marL="0">
              <a:lnSpc>
                <a:spcPct val="108000"/>
              </a:lnSpc>
              <a:buNone/>
            </a:pPr>
            <a:r>
              <a:rPr lang="en-US" sz="1450" dirty="0">
                <a:solidFill>
                  <a:srgbClr val="002050"/>
                </a:solidFill>
                <a:latin typeface="Aptos" pitchFamily="34" charset="0"/>
                <a:ea typeface="Aptos" pitchFamily="34" charset="-122"/>
                <a:cs typeface="Aptos" pitchFamily="34" charset="-120"/>
              </a:rPr>
              <a:t>'Veni, Vidi, Vici' (I came, I saw, I conquered) — that is how Julius Caesar reported his visit. While your reports won't be this short, aim to keep them concise. Do not mistake brevity for conciseness: a brief report may omit important information; a concise report is short but keeps all essential details.</a:t>
            </a:r>
            <a:endParaRPr lang="en-US" sz="1800" dirty="0"/>
          </a:p>
        </p:txBody>
      </p:sp>
      <p:sp>
        <p:nvSpPr>
          <p:cNvPr id="11" name="Shape 8"/>
          <p:cNvSpPr/>
          <p:nvPr/>
        </p:nvSpPr>
        <p:spPr>
          <a:xfrm>
            <a:off x="502920" y="3221736"/>
            <a:ext cx="11183112" cy="1374648"/>
          </a:xfrm>
          <a:prstGeom prst="roundRect">
            <a:avLst>
              <a:gd name="adj" fmla="val 5987"/>
            </a:avLst>
          </a:prstGeom>
          <a:solidFill>
            <a:srgbClr val="EAF4FF"/>
          </a:solidFill>
          <a:ln w="12700">
            <a:solidFill>
              <a:srgbClr val="D5E3F2"/>
            </a:solidFill>
            <a:prstDash val="solid"/>
          </a:ln>
          <a:effectLst>
            <a:outerShdw sx="100000" sy="100000" kx="0" ky="0" algn="bl" rotWithShape="0" blurRad="88900" dist="25400" dir="5400000">
              <a:srgbClr val="9AB4CC">
                <a:alpha val="30000"/>
              </a:srgbClr>
            </a:outerShdw>
          </a:effectLst>
        </p:spPr>
      </p:sp>
      <p:sp>
        <p:nvSpPr>
          <p:cNvPr id="12" name="Shape 9"/>
          <p:cNvSpPr/>
          <p:nvPr/>
        </p:nvSpPr>
        <p:spPr>
          <a:xfrm>
            <a:off x="502920" y="3221736"/>
            <a:ext cx="82296" cy="1374648"/>
          </a:xfrm>
          <a:prstGeom prst="rect">
            <a:avLst/>
          </a:prstGeom>
          <a:solidFill>
            <a:srgbClr val="0F6CBD"/>
          </a:solidFill>
          <a:ln/>
        </p:spPr>
      </p:sp>
      <p:pic>
        <p:nvPicPr>
          <p:cNvPr id="13"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58952" y="3386328"/>
            <a:ext cx="365760" cy="365760"/>
          </a:xfrm>
          <a:prstGeom prst="rect">
            <a:avLst/>
          </a:prstGeom>
        </p:spPr>
      </p:pic>
      <p:sp>
        <p:nvSpPr>
          <p:cNvPr id="14" name="Text 10"/>
          <p:cNvSpPr/>
          <p:nvPr/>
        </p:nvSpPr>
        <p:spPr>
          <a:xfrm>
            <a:off x="1280160" y="3331464"/>
            <a:ext cx="10131552" cy="1155192"/>
          </a:xfrm>
          <a:prstGeom prst="rect">
            <a:avLst/>
          </a:prstGeom>
          <a:noFill/>
          <a:ln/>
        </p:spPr>
        <p:txBody>
          <a:bodyPr wrap="square" rtlCol="0" anchor="ctr"/>
          <a:lstStyle/>
          <a:p>
            <a:pPr indent="0" marL="0">
              <a:lnSpc>
                <a:spcPct val="108000"/>
              </a:lnSpc>
              <a:buNone/>
            </a:pPr>
            <a:r>
              <a:rPr lang="en-US" sz="1800" b="1" dirty="0">
                <a:solidFill>
                  <a:srgbClr val="002050"/>
                </a:solidFill>
                <a:latin typeface="Aptos Display" pitchFamily="34" charset="0"/>
                <a:ea typeface="Aptos Display" pitchFamily="34" charset="-122"/>
                <a:cs typeface="Aptos Display" pitchFamily="34" charset="-120"/>
              </a:rPr>
              <a:t>Clarity &amp; Consistency
</a:t>
            </a:r>
            <a:pPr indent="0" marL="0">
              <a:lnSpc>
                <a:spcPct val="108000"/>
              </a:lnSpc>
              <a:buNone/>
            </a:pPr>
            <a:r>
              <a:rPr lang="en-US" sz="1450" dirty="0">
                <a:solidFill>
                  <a:srgbClr val="002050"/>
                </a:solidFill>
                <a:latin typeface="Aptos" pitchFamily="34" charset="0"/>
                <a:ea typeface="Aptos" pitchFamily="34" charset="-122"/>
                <a:cs typeface="Aptos" pitchFamily="34" charset="-120"/>
              </a:rPr>
              <a:t>The best way to achieve clarity is to allow time between the first draft and its revision — over a weekend, or at least overnight. If under pressure, at least leave it over a lunch or coffee break. A period of time thinking of other things lets you return with objectivity.</a:t>
            </a:r>
            <a:endParaRPr lang="en-US" sz="1800" dirty="0"/>
          </a:p>
        </p:txBody>
      </p:sp>
      <p:sp>
        <p:nvSpPr>
          <p:cNvPr id="15" name="Shape 11"/>
          <p:cNvSpPr/>
          <p:nvPr/>
        </p:nvSpPr>
        <p:spPr>
          <a:xfrm>
            <a:off x="502920" y="4797552"/>
            <a:ext cx="11183112" cy="1374648"/>
          </a:xfrm>
          <a:prstGeom prst="roundRect">
            <a:avLst>
              <a:gd name="adj" fmla="val 5987"/>
            </a:avLst>
          </a:prstGeom>
          <a:solidFill>
            <a:srgbClr val="FFFFFF"/>
          </a:solidFill>
          <a:ln w="12700">
            <a:solidFill>
              <a:srgbClr val="D5E3F2"/>
            </a:solidFill>
            <a:prstDash val="solid"/>
          </a:ln>
          <a:effectLst>
            <a:outerShdw sx="100000" sy="100000" kx="0" ky="0" algn="bl" rotWithShape="0" blurRad="88900" dist="25400" dir="5400000">
              <a:srgbClr val="9AB4CC">
                <a:alpha val="30000"/>
              </a:srgbClr>
            </a:outerShdw>
          </a:effectLst>
        </p:spPr>
      </p:sp>
      <p:sp>
        <p:nvSpPr>
          <p:cNvPr id="16" name="Shape 12"/>
          <p:cNvSpPr/>
          <p:nvPr/>
        </p:nvSpPr>
        <p:spPr>
          <a:xfrm>
            <a:off x="502920" y="4797552"/>
            <a:ext cx="82296" cy="1374648"/>
          </a:xfrm>
          <a:prstGeom prst="rect">
            <a:avLst/>
          </a:prstGeom>
          <a:solidFill>
            <a:srgbClr val="0F6CBD"/>
          </a:solidFill>
          <a:ln/>
        </p:spPr>
      </p:sp>
      <p:pic>
        <p:nvPicPr>
          <p:cNvPr id="17"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58952" y="4962144"/>
            <a:ext cx="365760" cy="365760"/>
          </a:xfrm>
          <a:prstGeom prst="rect">
            <a:avLst/>
          </a:prstGeom>
        </p:spPr>
      </p:pic>
      <p:sp>
        <p:nvSpPr>
          <p:cNvPr id="18" name="Text 13"/>
          <p:cNvSpPr/>
          <p:nvPr/>
        </p:nvSpPr>
        <p:spPr>
          <a:xfrm>
            <a:off x="1280160" y="4907280"/>
            <a:ext cx="10131552" cy="1155192"/>
          </a:xfrm>
          <a:prstGeom prst="rect">
            <a:avLst/>
          </a:prstGeom>
          <a:noFill/>
          <a:ln/>
        </p:spPr>
        <p:txBody>
          <a:bodyPr wrap="square" rtlCol="0" anchor="ctr"/>
          <a:lstStyle/>
          <a:p>
            <a:pPr indent="0" marL="0">
              <a:lnSpc>
                <a:spcPct val="108000"/>
              </a:lnSpc>
              <a:buNone/>
            </a:pPr>
            <a:r>
              <a:rPr lang="en-US" sz="1800" b="1" dirty="0">
                <a:solidFill>
                  <a:srgbClr val="002050"/>
                </a:solidFill>
                <a:latin typeface="Aptos Display" pitchFamily="34" charset="0"/>
                <a:ea typeface="Aptos Display" pitchFamily="34" charset="-122"/>
                <a:cs typeface="Aptos Display" pitchFamily="34" charset="-120"/>
              </a:rPr>
              <a:t>Simplicity
</a:t>
            </a:r>
            <a:pPr indent="0" marL="0">
              <a:lnSpc>
                <a:spcPct val="108000"/>
              </a:lnSpc>
              <a:buNone/>
            </a:pPr>
            <a:r>
              <a:rPr lang="en-US" sz="1450" dirty="0">
                <a:solidFill>
                  <a:srgbClr val="002050"/>
                </a:solidFill>
                <a:latin typeface="Aptos" pitchFamily="34" charset="0"/>
                <a:ea typeface="Aptos" pitchFamily="34" charset="-122"/>
                <a:cs typeface="Aptos" pitchFamily="34" charset="-120"/>
              </a:rPr>
              <a:t>If your writing is selective, accurate, objective, concise, clear and consistent, it will also be as simple as it can be. Guard against over-simplifying to the point of leaving out information the reader needs. Keep the reader in mind and ask whether they can follow the logic of your presentation.</a:t>
            </a:r>
            <a:endParaRPr lang="en-US" sz="18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6473952"/>
            <a:ext cx="10268712" cy="274320"/>
          </a:xfrm>
          <a:prstGeom prst="rect">
            <a:avLst/>
          </a:prstGeom>
          <a:noFill/>
          <a:ln/>
        </p:spPr>
        <p:txBody>
          <a:bodyPr wrap="square" rtlCol="0" anchor="ctr"/>
          <a:lstStyle/>
          <a:p>
            <a:pPr indent="0" marL="0">
              <a:buNone/>
            </a:pPr>
            <a:r>
              <a:rPr lang="en-US" sz="1000" dirty="0">
                <a:solidFill>
                  <a:srgbClr val="6B7280"/>
                </a:solidFill>
                <a:latin typeface="Aptos" pitchFamily="34" charset="0"/>
                <a:ea typeface="Aptos" pitchFamily="34" charset="-122"/>
                <a:cs typeface="Aptos" pitchFamily="34" charset="-120"/>
              </a:rPr>
              <a:t>Unit Standard 8252 — Writing Business Reports   ·   Investec IT Systems Support NQF 5</a:t>
            </a:r>
            <a:endParaRPr lang="en-US" sz="1000" dirty="0"/>
          </a:p>
        </p:txBody>
      </p:sp>
      <p:sp>
        <p:nvSpPr>
          <p:cNvPr id="3" name="Text 1"/>
          <p:cNvSpPr/>
          <p:nvPr/>
        </p:nvSpPr>
        <p:spPr>
          <a:xfrm>
            <a:off x="11137392" y="6473952"/>
            <a:ext cx="548640" cy="274320"/>
          </a:xfrm>
          <a:prstGeom prst="rect">
            <a:avLst/>
          </a:prstGeom>
          <a:noFill/>
          <a:ln/>
        </p:spPr>
        <p:txBody>
          <a:bodyPr wrap="square" rtlCol="0" anchor="ctr"/>
          <a:lstStyle/>
          <a:p>
            <a:pPr algn="r" indent="0" marL="0">
              <a:buNone/>
            </a:pPr>
            <a:r>
              <a:rPr lang="en-US" sz="1000" dirty="0">
                <a:solidFill>
                  <a:srgbClr val="6B7280"/>
                </a:solidFill>
                <a:latin typeface="Aptos" pitchFamily="34" charset="0"/>
                <a:ea typeface="Aptos" pitchFamily="34" charset="-122"/>
                <a:cs typeface="Aptos" pitchFamily="34" charset="-120"/>
              </a:rPr>
              <a:t>19</a:t>
            </a:r>
            <a:endParaRPr lang="en-US" sz="1000" dirty="0"/>
          </a:p>
        </p:txBody>
      </p:sp>
      <p:sp>
        <p:nvSpPr>
          <p:cNvPr id="4" name="Shape 2"/>
          <p:cNvSpPr/>
          <p:nvPr/>
        </p:nvSpPr>
        <p:spPr>
          <a:xfrm>
            <a:off x="0" y="0"/>
            <a:ext cx="12188952" cy="82296"/>
          </a:xfrm>
          <a:prstGeom prst="rect">
            <a:avLst/>
          </a:prstGeom>
          <a:solidFill>
            <a:srgbClr val="0F6CBD"/>
          </a:solidFill>
          <a:ln/>
        </p:spPr>
      </p:sp>
      <p:sp>
        <p:nvSpPr>
          <p:cNvPr id="5" name="Text 3"/>
          <p:cNvSpPr/>
          <p:nvPr/>
        </p:nvSpPr>
        <p:spPr>
          <a:xfrm>
            <a:off x="502920" y="256032"/>
            <a:ext cx="11183112" cy="347472"/>
          </a:xfrm>
          <a:prstGeom prst="rect">
            <a:avLst/>
          </a:prstGeom>
          <a:noFill/>
          <a:ln/>
        </p:spPr>
        <p:txBody>
          <a:bodyPr wrap="square" rtlCol="0" anchor="ctr"/>
          <a:lstStyle/>
          <a:p>
            <a:pPr indent="0" marL="0">
              <a:buNone/>
            </a:pPr>
            <a:r>
              <a:rPr lang="en-US" sz="1400" b="1" spc="200" kern="0" dirty="0">
                <a:solidFill>
                  <a:srgbClr val="0F6CBD"/>
                </a:solidFill>
                <a:latin typeface="Aptos" pitchFamily="34" charset="0"/>
                <a:ea typeface="Aptos" pitchFamily="34" charset="-122"/>
                <a:cs typeface="Aptos" pitchFamily="34" charset="-120"/>
              </a:rPr>
              <a:t>WRITING TIPS</a:t>
            </a:r>
            <a:endParaRPr lang="en-US" sz="1400" dirty="0"/>
          </a:p>
        </p:txBody>
      </p:sp>
      <p:sp>
        <p:nvSpPr>
          <p:cNvPr id="6" name="Text 4"/>
          <p:cNvSpPr/>
          <p:nvPr/>
        </p:nvSpPr>
        <p:spPr>
          <a:xfrm>
            <a:off x="502920" y="585216"/>
            <a:ext cx="11183112" cy="786384"/>
          </a:xfrm>
          <a:prstGeom prst="rect">
            <a:avLst/>
          </a:prstGeom>
          <a:noFill/>
          <a:ln/>
        </p:spPr>
        <p:txBody>
          <a:bodyPr wrap="square" rtlCol="0" anchor="ctr"/>
          <a:lstStyle/>
          <a:p>
            <a:pPr indent="0" marL="0">
              <a:buNone/>
            </a:pPr>
            <a:r>
              <a:rPr lang="en-US" sz="3400" b="1" dirty="0">
                <a:solidFill>
                  <a:srgbClr val="002050"/>
                </a:solidFill>
                <a:latin typeface="Aptos Display" pitchFamily="34" charset="0"/>
                <a:ea typeface="Aptos Display" pitchFamily="34" charset="-122"/>
                <a:cs typeface="Aptos Display" pitchFamily="34" charset="-120"/>
              </a:rPr>
              <a:t>Avoid Pointless Words</a:t>
            </a:r>
            <a:endParaRPr lang="en-US" sz="3400" dirty="0"/>
          </a:p>
        </p:txBody>
      </p:sp>
      <p:sp>
        <p:nvSpPr>
          <p:cNvPr id="7" name="Text 5"/>
          <p:cNvSpPr/>
          <p:nvPr/>
        </p:nvSpPr>
        <p:spPr>
          <a:xfrm>
            <a:off x="502920" y="1737360"/>
            <a:ext cx="11183112" cy="4663440"/>
          </a:xfrm>
          <a:prstGeom prst="rect">
            <a:avLst/>
          </a:prstGeom>
          <a:noFill/>
          <a:ln/>
        </p:spPr>
        <p:txBody>
          <a:bodyPr wrap="square" rtlCol="0" anchor="t"/>
          <a:lstStyle/>
          <a:p>
            <a:pPr indent="0" marL="0">
              <a:lnSpc>
                <a:spcPct val="112000"/>
              </a:lnSpc>
              <a:spcAft>
                <a:spcPts val="1200"/>
              </a:spcAft>
              <a:buNone/>
            </a:pPr>
            <a:r>
              <a:rPr lang="en-US" sz="1900" dirty="0">
                <a:solidFill>
                  <a:srgbClr val="002050"/>
                </a:solidFill>
                <a:latin typeface="Aptos" pitchFamily="34" charset="0"/>
                <a:ea typeface="Aptos" pitchFamily="34" charset="-122"/>
                <a:cs typeface="Aptos" pitchFamily="34" charset="-120"/>
              </a:rPr>
              <a:t>Some words and phrases — like 'basically', 'actually', 'undoubtedly', 'each and every one' and 'during the course of our investigation' — keep cropping up in reports. Yet they add nothing to the message and often can be removed without changing the meaning or the tone.
</a:t>
            </a:r>
            <a:endParaRPr lang="en-US" sz="1900" dirty="0"/>
          </a:p>
          <a:p>
            <a:pPr indent="0" marL="0">
              <a:lnSpc>
                <a:spcPct val="112000"/>
              </a:lnSpc>
              <a:spcAft>
                <a:spcPts val="1200"/>
              </a:spcAft>
              <a:buNone/>
            </a:pPr>
            <a:r>
              <a:rPr lang="en-US" sz="1900" dirty="0">
                <a:solidFill>
                  <a:srgbClr val="002050"/>
                </a:solidFill>
                <a:latin typeface="Aptos" pitchFamily="34" charset="0"/>
                <a:ea typeface="Aptos" pitchFamily="34" charset="-122"/>
                <a:cs typeface="Aptos" pitchFamily="34" charset="-120"/>
              </a:rPr>
              <a:t>Try leaving them out of your writing. You will find your sentences survive, succeed and may even flourish without them.</a:t>
            </a:r>
            <a:endParaRPr lang="en-US" sz="1900" dirty="0"/>
          </a:p>
        </p:txBody>
      </p:sp>
      <p:sp>
        <p:nvSpPr>
          <p:cNvPr id="8" name="Shape 6"/>
          <p:cNvSpPr/>
          <p:nvPr/>
        </p:nvSpPr>
        <p:spPr>
          <a:xfrm>
            <a:off x="502920" y="4023360"/>
            <a:ext cx="11183112" cy="1554480"/>
          </a:xfrm>
          <a:prstGeom prst="roundRect">
            <a:avLst>
              <a:gd name="adj" fmla="val 5294"/>
            </a:avLst>
          </a:prstGeom>
          <a:solidFill>
            <a:srgbClr val="EAF4FF"/>
          </a:solidFill>
          <a:ln w="12700">
            <a:solidFill>
              <a:srgbClr val="D5E3F2"/>
            </a:solidFill>
            <a:prstDash val="solid"/>
          </a:ln>
          <a:effectLst>
            <a:outerShdw sx="100000" sy="100000" kx="0" ky="0" algn="bl" rotWithShape="0" blurRad="88900" dist="25400" dir="5400000">
              <a:srgbClr val="9AB4CC">
                <a:alpha val="30000"/>
              </a:srgbClr>
            </a:outerShdw>
          </a:effectLst>
        </p:spPr>
      </p:sp>
      <p:pic>
        <p:nvPicPr>
          <p:cNvPr id="9"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31520" y="4251960"/>
            <a:ext cx="329184" cy="329184"/>
          </a:xfrm>
          <a:prstGeom prst="rect">
            <a:avLst/>
          </a:prstGeom>
        </p:spPr>
      </p:pic>
      <p:sp>
        <p:nvSpPr>
          <p:cNvPr id="10" name="Text 7"/>
          <p:cNvSpPr/>
          <p:nvPr/>
        </p:nvSpPr>
        <p:spPr>
          <a:xfrm>
            <a:off x="1188720" y="4160520"/>
            <a:ext cx="10222992" cy="1280160"/>
          </a:xfrm>
          <a:prstGeom prst="rect">
            <a:avLst/>
          </a:prstGeom>
          <a:noFill/>
          <a:ln/>
        </p:spPr>
        <p:txBody>
          <a:bodyPr wrap="square" rtlCol="0" anchor="ctr"/>
          <a:lstStyle/>
          <a:p>
            <a:pPr indent="0" marL="0">
              <a:lnSpc>
                <a:spcPct val="110000"/>
              </a:lnSpc>
              <a:buNone/>
            </a:pPr>
            <a:r>
              <a:rPr lang="en-US" sz="1350" b="1" spc="150" kern="0" dirty="0">
                <a:solidFill>
                  <a:srgbClr val="0F6CBD"/>
                </a:solidFill>
                <a:latin typeface="Aptos" pitchFamily="34" charset="0"/>
                <a:ea typeface="Aptos" pitchFamily="34" charset="-122"/>
                <a:cs typeface="Aptos" pitchFamily="34" charset="-120"/>
              </a:rPr>
              <a:t>TRY THIS   </a:t>
            </a:r>
            <a:pPr indent="0" marL="0">
              <a:lnSpc>
                <a:spcPct val="110000"/>
              </a:lnSpc>
              <a:buNone/>
            </a:pPr>
            <a:r>
              <a:rPr lang="en-US" sz="1700" dirty="0">
                <a:solidFill>
                  <a:srgbClr val="002050"/>
                </a:solidFill>
                <a:latin typeface="Aptos" pitchFamily="34" charset="0"/>
                <a:ea typeface="Aptos" pitchFamily="34" charset="-122"/>
                <a:cs typeface="Aptos" pitchFamily="34" charset="-120"/>
              </a:rPr>
              <a:t>Take a paragraph you wrote this week and strike out every filler word. Read it again — the meaning stays, the message gets stronger.</a:t>
            </a:r>
            <a:endParaRPr lang="en-US" sz="13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6473952"/>
            <a:ext cx="10268712" cy="274320"/>
          </a:xfrm>
          <a:prstGeom prst="rect">
            <a:avLst/>
          </a:prstGeom>
          <a:noFill/>
          <a:ln/>
        </p:spPr>
        <p:txBody>
          <a:bodyPr wrap="square" rtlCol="0" anchor="ctr"/>
          <a:lstStyle/>
          <a:p>
            <a:pPr indent="0" marL="0">
              <a:buNone/>
            </a:pPr>
            <a:r>
              <a:rPr lang="en-US" sz="1000" dirty="0">
                <a:solidFill>
                  <a:srgbClr val="6B7280"/>
                </a:solidFill>
                <a:latin typeface="Aptos" pitchFamily="34" charset="0"/>
                <a:ea typeface="Aptos" pitchFamily="34" charset="-122"/>
                <a:cs typeface="Aptos" pitchFamily="34" charset="-120"/>
              </a:rPr>
              <a:t>Unit Standard 8252 — Writing Business Reports   ·   Investec IT Systems Support NQF 5</a:t>
            </a:r>
            <a:endParaRPr lang="en-US" sz="1000" dirty="0"/>
          </a:p>
        </p:txBody>
      </p:sp>
      <p:sp>
        <p:nvSpPr>
          <p:cNvPr id="3" name="Text 1"/>
          <p:cNvSpPr/>
          <p:nvPr/>
        </p:nvSpPr>
        <p:spPr>
          <a:xfrm>
            <a:off x="11137392" y="6473952"/>
            <a:ext cx="548640" cy="274320"/>
          </a:xfrm>
          <a:prstGeom prst="rect">
            <a:avLst/>
          </a:prstGeom>
          <a:noFill/>
          <a:ln/>
        </p:spPr>
        <p:txBody>
          <a:bodyPr wrap="square" rtlCol="0" anchor="ctr"/>
          <a:lstStyle/>
          <a:p>
            <a:pPr algn="r" indent="0" marL="0">
              <a:buNone/>
            </a:pPr>
            <a:r>
              <a:rPr lang="en-US" sz="1000" dirty="0">
                <a:solidFill>
                  <a:srgbClr val="6B7280"/>
                </a:solidFill>
                <a:latin typeface="Aptos" pitchFamily="34" charset="0"/>
                <a:ea typeface="Aptos" pitchFamily="34" charset="-122"/>
                <a:cs typeface="Aptos" pitchFamily="34" charset="-120"/>
              </a:rPr>
              <a:t>20</a:t>
            </a:r>
            <a:endParaRPr lang="en-US" sz="1000" dirty="0"/>
          </a:p>
        </p:txBody>
      </p:sp>
      <p:sp>
        <p:nvSpPr>
          <p:cNvPr id="4" name="Shape 2"/>
          <p:cNvSpPr/>
          <p:nvPr/>
        </p:nvSpPr>
        <p:spPr>
          <a:xfrm>
            <a:off x="0" y="0"/>
            <a:ext cx="12188952" cy="82296"/>
          </a:xfrm>
          <a:prstGeom prst="rect">
            <a:avLst/>
          </a:prstGeom>
          <a:solidFill>
            <a:srgbClr val="0F6CBD"/>
          </a:solidFill>
          <a:ln/>
        </p:spPr>
      </p:sp>
      <p:sp>
        <p:nvSpPr>
          <p:cNvPr id="5" name="Text 3"/>
          <p:cNvSpPr/>
          <p:nvPr/>
        </p:nvSpPr>
        <p:spPr>
          <a:xfrm>
            <a:off x="502920" y="256032"/>
            <a:ext cx="11183112" cy="347472"/>
          </a:xfrm>
          <a:prstGeom prst="rect">
            <a:avLst/>
          </a:prstGeom>
          <a:noFill/>
          <a:ln/>
        </p:spPr>
        <p:txBody>
          <a:bodyPr wrap="square" rtlCol="0" anchor="ctr"/>
          <a:lstStyle/>
          <a:p>
            <a:pPr indent="0" marL="0">
              <a:buNone/>
            </a:pPr>
            <a:r>
              <a:rPr lang="en-US" sz="1400" b="1" spc="200" kern="0" dirty="0">
                <a:solidFill>
                  <a:srgbClr val="0F6CBD"/>
                </a:solidFill>
                <a:latin typeface="Aptos" pitchFamily="34" charset="0"/>
                <a:ea typeface="Aptos" pitchFamily="34" charset="-122"/>
                <a:cs typeface="Aptos" pitchFamily="34" charset="-120"/>
              </a:rPr>
              <a:t>REPORT STRUCTURE</a:t>
            </a:r>
            <a:endParaRPr lang="en-US" sz="1400" dirty="0"/>
          </a:p>
        </p:txBody>
      </p:sp>
      <p:sp>
        <p:nvSpPr>
          <p:cNvPr id="6" name="Text 4"/>
          <p:cNvSpPr/>
          <p:nvPr/>
        </p:nvSpPr>
        <p:spPr>
          <a:xfrm>
            <a:off x="502920" y="585216"/>
            <a:ext cx="11183112" cy="786384"/>
          </a:xfrm>
          <a:prstGeom prst="rect">
            <a:avLst/>
          </a:prstGeom>
          <a:noFill/>
          <a:ln/>
        </p:spPr>
        <p:txBody>
          <a:bodyPr wrap="square" rtlCol="0" anchor="ctr"/>
          <a:lstStyle/>
          <a:p>
            <a:pPr indent="0" marL="0">
              <a:buNone/>
            </a:pPr>
            <a:r>
              <a:rPr lang="en-US" sz="3400" b="1" dirty="0">
                <a:solidFill>
                  <a:srgbClr val="002050"/>
                </a:solidFill>
                <a:latin typeface="Aptos Display" pitchFamily="34" charset="0"/>
                <a:ea typeface="Aptos Display" pitchFamily="34" charset="-122"/>
                <a:cs typeface="Aptos Display" pitchFamily="34" charset="-120"/>
              </a:rPr>
              <a:t>What is the Basic Structure of a Report?</a:t>
            </a:r>
            <a:endParaRPr lang="en-US" sz="3400" dirty="0"/>
          </a:p>
        </p:txBody>
      </p:sp>
      <p:sp>
        <p:nvSpPr>
          <p:cNvPr id="7" name="Text 5"/>
          <p:cNvSpPr/>
          <p:nvPr/>
        </p:nvSpPr>
        <p:spPr>
          <a:xfrm>
            <a:off x="502920" y="1828800"/>
            <a:ext cx="11183112" cy="4663440"/>
          </a:xfrm>
          <a:prstGeom prst="rect">
            <a:avLst/>
          </a:prstGeom>
          <a:noFill/>
          <a:ln/>
        </p:spPr>
        <p:txBody>
          <a:bodyPr wrap="square" rtlCol="0" anchor="t"/>
          <a:lstStyle/>
          <a:p>
            <a:pPr indent="0" marL="0">
              <a:lnSpc>
                <a:spcPct val="112000"/>
              </a:lnSpc>
              <a:spcAft>
                <a:spcPts val="1200"/>
              </a:spcAft>
              <a:buNone/>
            </a:pPr>
            <a:r>
              <a:rPr lang="en-US" sz="2000" dirty="0">
                <a:solidFill>
                  <a:srgbClr val="002050"/>
                </a:solidFill>
                <a:latin typeface="Aptos" pitchFamily="34" charset="0"/>
                <a:ea typeface="Aptos" pitchFamily="34" charset="-122"/>
                <a:cs typeface="Aptos" pitchFamily="34" charset="-120"/>
              </a:rPr>
              <a:t>Types of reports can vary greatly; they can range from an experimental report to an environmental impact statement. There is, however, a basic structure common to most reports, irrespective of their type.
</a:t>
            </a:r>
            <a:endParaRPr lang="en-US" sz="2000" dirty="0"/>
          </a:p>
          <a:p>
            <a:pPr indent="0" marL="0">
              <a:lnSpc>
                <a:spcPct val="112000"/>
              </a:lnSpc>
              <a:spcAft>
                <a:spcPts val="1200"/>
              </a:spcAft>
              <a:buNone/>
            </a:pPr>
            <a:r>
              <a:rPr lang="en-US" sz="2000" dirty="0">
                <a:solidFill>
                  <a:srgbClr val="002050"/>
                </a:solidFill>
                <a:latin typeface="Aptos" pitchFamily="34" charset="0"/>
                <a:ea typeface="Aptos" pitchFamily="34" charset="-122"/>
                <a:cs typeface="Aptos" pitchFamily="34" charset="-120"/>
              </a:rPr>
              <a:t>The major components of a general report are shown on the next slide — from the title page through to the appendices.</a:t>
            </a:r>
            <a:endParaRPr lang="en-US" sz="2000" dirty="0"/>
          </a:p>
        </p:txBody>
      </p:sp>
      <p:pic>
        <p:nvPicPr>
          <p:cNvPr id="8"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5637276" y="4206240"/>
            <a:ext cx="914400" cy="91440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6473952"/>
            <a:ext cx="10268712" cy="274320"/>
          </a:xfrm>
          <a:prstGeom prst="rect">
            <a:avLst/>
          </a:prstGeom>
          <a:noFill/>
          <a:ln/>
        </p:spPr>
        <p:txBody>
          <a:bodyPr wrap="square" rtlCol="0" anchor="ctr"/>
          <a:lstStyle/>
          <a:p>
            <a:pPr indent="0" marL="0">
              <a:buNone/>
            </a:pPr>
            <a:r>
              <a:rPr lang="en-US" sz="1000" dirty="0">
                <a:solidFill>
                  <a:srgbClr val="6B7280"/>
                </a:solidFill>
                <a:latin typeface="Aptos" pitchFamily="34" charset="0"/>
                <a:ea typeface="Aptos" pitchFamily="34" charset="-122"/>
                <a:cs typeface="Aptos" pitchFamily="34" charset="-120"/>
              </a:rPr>
              <a:t>Unit Standard 8252 — Writing Business Reports   ·   Investec IT Systems Support NQF 5</a:t>
            </a:r>
            <a:endParaRPr lang="en-US" sz="1000" dirty="0"/>
          </a:p>
        </p:txBody>
      </p:sp>
      <p:sp>
        <p:nvSpPr>
          <p:cNvPr id="3" name="Text 1"/>
          <p:cNvSpPr/>
          <p:nvPr/>
        </p:nvSpPr>
        <p:spPr>
          <a:xfrm>
            <a:off x="11137392" y="6473952"/>
            <a:ext cx="548640" cy="274320"/>
          </a:xfrm>
          <a:prstGeom prst="rect">
            <a:avLst/>
          </a:prstGeom>
          <a:noFill/>
          <a:ln/>
        </p:spPr>
        <p:txBody>
          <a:bodyPr wrap="square" rtlCol="0" anchor="ctr"/>
          <a:lstStyle/>
          <a:p>
            <a:pPr algn="r" indent="0" marL="0">
              <a:buNone/>
            </a:pPr>
            <a:r>
              <a:rPr lang="en-US" sz="1000" dirty="0">
                <a:solidFill>
                  <a:srgbClr val="6B7280"/>
                </a:solidFill>
                <a:latin typeface="Aptos" pitchFamily="34" charset="0"/>
                <a:ea typeface="Aptos" pitchFamily="34" charset="-122"/>
                <a:cs typeface="Aptos" pitchFamily="34" charset="-120"/>
              </a:rPr>
              <a:t>21</a:t>
            </a:r>
            <a:endParaRPr lang="en-US" sz="1000" dirty="0"/>
          </a:p>
        </p:txBody>
      </p:sp>
      <p:sp>
        <p:nvSpPr>
          <p:cNvPr id="4" name="Shape 2"/>
          <p:cNvSpPr/>
          <p:nvPr/>
        </p:nvSpPr>
        <p:spPr>
          <a:xfrm>
            <a:off x="0" y="0"/>
            <a:ext cx="12188952" cy="82296"/>
          </a:xfrm>
          <a:prstGeom prst="rect">
            <a:avLst/>
          </a:prstGeom>
          <a:solidFill>
            <a:srgbClr val="0F6CBD"/>
          </a:solidFill>
          <a:ln/>
        </p:spPr>
      </p:sp>
      <p:sp>
        <p:nvSpPr>
          <p:cNvPr id="5" name="Text 3"/>
          <p:cNvSpPr/>
          <p:nvPr/>
        </p:nvSpPr>
        <p:spPr>
          <a:xfrm>
            <a:off x="502920" y="256032"/>
            <a:ext cx="11183112" cy="347472"/>
          </a:xfrm>
          <a:prstGeom prst="rect">
            <a:avLst/>
          </a:prstGeom>
          <a:noFill/>
          <a:ln/>
        </p:spPr>
        <p:txBody>
          <a:bodyPr wrap="square" rtlCol="0" anchor="ctr"/>
          <a:lstStyle/>
          <a:p>
            <a:pPr indent="0" marL="0">
              <a:buNone/>
            </a:pPr>
            <a:r>
              <a:rPr lang="en-US" sz="1400" b="1" spc="200" kern="0" dirty="0">
                <a:solidFill>
                  <a:srgbClr val="0F6CBD"/>
                </a:solidFill>
                <a:latin typeface="Aptos" pitchFamily="34" charset="0"/>
                <a:ea typeface="Aptos" pitchFamily="34" charset="-122"/>
                <a:cs typeface="Aptos" pitchFamily="34" charset="-120"/>
              </a:rPr>
              <a:t>REPORT STRUCTURE</a:t>
            </a:r>
            <a:endParaRPr lang="en-US" sz="1400" dirty="0"/>
          </a:p>
        </p:txBody>
      </p:sp>
      <p:sp>
        <p:nvSpPr>
          <p:cNvPr id="6" name="Text 4"/>
          <p:cNvSpPr/>
          <p:nvPr/>
        </p:nvSpPr>
        <p:spPr>
          <a:xfrm>
            <a:off x="502920" y="585216"/>
            <a:ext cx="11183112" cy="786384"/>
          </a:xfrm>
          <a:prstGeom prst="rect">
            <a:avLst/>
          </a:prstGeom>
          <a:noFill/>
          <a:ln/>
        </p:spPr>
        <p:txBody>
          <a:bodyPr wrap="square" rtlCol="0" anchor="ctr"/>
          <a:lstStyle/>
          <a:p>
            <a:pPr indent="0" marL="0">
              <a:buNone/>
            </a:pPr>
            <a:r>
              <a:rPr lang="en-US" sz="3400" b="1" dirty="0">
                <a:solidFill>
                  <a:srgbClr val="002050"/>
                </a:solidFill>
                <a:latin typeface="Aptos Display" pitchFamily="34" charset="0"/>
                <a:ea typeface="Aptos Display" pitchFamily="34" charset="-122"/>
                <a:cs typeface="Aptos Display" pitchFamily="34" charset="-120"/>
              </a:rPr>
              <a:t>Major Components of a General Report</a:t>
            </a:r>
            <a:endParaRPr lang="en-US" sz="34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502920" y="1481328"/>
          <a:ext cx="11183112" cy="914400"/>
        </p:xfrm>
        <a:graphic>
          <a:graphicData uri="http://schemas.openxmlformats.org/drawingml/2006/table">
            <a:tbl>
              <a:tblPr/>
              <a:tblGrid>
                <a:gridCol w="2651760"/>
                <a:gridCol w="8531352"/>
              </a:tblGrid>
              <a:tr h="512064">
                <a:tc>
                  <a:txBody>
                    <a:bodyPr/>
                    <a:lstStyle/>
                    <a:p>
                      <a:pPr indent="0" marL="0">
                        <a:buNone/>
                      </a:pPr>
                      <a:r>
                        <a:rPr lang="en-US" sz="1350" b="1" dirty="0">
                          <a:solidFill>
                            <a:srgbClr val="FFFFFF"/>
                          </a:solidFill>
                          <a:latin typeface="Aptos Display" pitchFamily="34" charset="0"/>
                          <a:ea typeface="Aptos Display" pitchFamily="34" charset="-122"/>
                          <a:cs typeface="Aptos Display" pitchFamily="34" charset="-120"/>
                        </a:rPr>
                        <a:t>Component</a:t>
                      </a:r>
                      <a:endParaRPr lang="en-US" sz="1350" dirty="0">
                        <a:latin typeface="Aptos Display" charset="0"/>
                        <a:ea typeface="Aptos Display" charset="0"/>
                        <a:cs typeface="Aptos Display" charset="0"/>
                      </a:endParaRPr>
                    </a:p>
                  </a:txBody>
                  <a:tcPr marL="91440" marR="91440" marT="91440" marB="91440"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0F6CBD"/>
                    </a:solidFill>
                  </a:tcPr>
                </a:tc>
                <a:tc>
                  <a:txBody>
                    <a:bodyPr/>
                    <a:lstStyle/>
                    <a:p>
                      <a:pPr indent="0" marL="0">
                        <a:buNone/>
                      </a:pPr>
                      <a:r>
                        <a:rPr lang="en-US" sz="1350" b="1" dirty="0">
                          <a:solidFill>
                            <a:srgbClr val="FFFFFF"/>
                          </a:solidFill>
                          <a:latin typeface="Aptos Display" pitchFamily="34" charset="0"/>
                          <a:ea typeface="Aptos Display" pitchFamily="34" charset="-122"/>
                          <a:cs typeface="Aptos Display" pitchFamily="34" charset="-120"/>
                        </a:rPr>
                        <a:t>What it contains</a:t>
                      </a:r>
                      <a:endParaRPr lang="en-US" sz="1350" dirty="0">
                        <a:latin typeface="Aptos Display" charset="0"/>
                        <a:ea typeface="Aptos Display" charset="0"/>
                        <a:cs typeface="Aptos Display" charset="0"/>
                      </a:endParaRPr>
                    </a:p>
                  </a:txBody>
                  <a:tcPr marL="91440" marR="91440" marT="91440" marB="91440"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0F6CBD"/>
                    </a:solidFill>
                  </a:tcPr>
                </a:tc>
              </a:tr>
              <a:tr h="512064">
                <a:tc>
                  <a:txBody>
                    <a:bodyPr/>
                    <a:lstStyle/>
                    <a:p>
                      <a:pPr indent="0" marL="0">
                        <a:buNone/>
                      </a:pPr>
                      <a:r>
                        <a:rPr lang="en-US" sz="1350" dirty="0">
                          <a:solidFill>
                            <a:srgbClr val="002050"/>
                          </a:solidFill>
                          <a:latin typeface="Aptos" pitchFamily="34" charset="0"/>
                          <a:ea typeface="Aptos" pitchFamily="34" charset="-122"/>
                          <a:cs typeface="Aptos" pitchFamily="34" charset="-120"/>
                        </a:rPr>
                        <a:t>Title Page</a:t>
                      </a:r>
                      <a:endParaRPr lang="en-US" sz="1350" dirty="0">
                        <a:latin typeface="Aptos" charset="0"/>
                        <a:ea typeface="Aptos" charset="0"/>
                        <a:cs typeface="Aptos" charset="0"/>
                      </a:endParaRPr>
                    </a:p>
                  </a:txBody>
                  <a:tcPr marL="91440" marR="91440" marT="91440" marB="91440"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FFFFFF"/>
                    </a:solidFill>
                  </a:tcPr>
                </a:tc>
                <a:tc>
                  <a:txBody>
                    <a:bodyPr/>
                    <a:lstStyle/>
                    <a:p>
                      <a:pPr indent="0" marL="0">
                        <a:buNone/>
                      </a:pPr>
                      <a:r>
                        <a:rPr lang="en-US" sz="1350" dirty="0">
                          <a:solidFill>
                            <a:srgbClr val="002050"/>
                          </a:solidFill>
                          <a:latin typeface="Aptos" pitchFamily="34" charset="0"/>
                          <a:ea typeface="Aptos" pitchFamily="34" charset="-122"/>
                          <a:cs typeface="Aptos" pitchFamily="34" charset="-120"/>
                        </a:rPr>
                        <a:t>The report title, and identifying details</a:t>
                      </a:r>
                      <a:endParaRPr lang="en-US" sz="1350" dirty="0">
                        <a:latin typeface="Aptos" charset="0"/>
                        <a:ea typeface="Aptos" charset="0"/>
                        <a:cs typeface="Aptos" charset="0"/>
                      </a:endParaRPr>
                    </a:p>
                  </a:txBody>
                  <a:tcPr marL="91440" marR="91440" marT="91440" marB="91440"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FFFFFF"/>
                    </a:solidFill>
                  </a:tcPr>
                </a:tc>
              </a:tr>
              <a:tr h="512064">
                <a:tc>
                  <a:txBody>
                    <a:bodyPr/>
                    <a:lstStyle/>
                    <a:p>
                      <a:pPr indent="0" marL="0">
                        <a:buNone/>
                      </a:pPr>
                      <a:r>
                        <a:rPr lang="en-US" sz="1350" dirty="0">
                          <a:solidFill>
                            <a:srgbClr val="002050"/>
                          </a:solidFill>
                          <a:latin typeface="Aptos" pitchFamily="34" charset="0"/>
                          <a:ea typeface="Aptos" pitchFamily="34" charset="-122"/>
                          <a:cs typeface="Aptos" pitchFamily="34" charset="-120"/>
                        </a:rPr>
                        <a:t>Abstract</a:t>
                      </a:r>
                      <a:endParaRPr lang="en-US" sz="1350" dirty="0">
                        <a:latin typeface="Aptos" charset="0"/>
                        <a:ea typeface="Aptos" charset="0"/>
                        <a:cs typeface="Aptos" charset="0"/>
                      </a:endParaRPr>
                    </a:p>
                  </a:txBody>
                  <a:tcPr marL="91440" marR="91440" marT="91440" marB="91440"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EAF4FF"/>
                    </a:solidFill>
                  </a:tcPr>
                </a:tc>
                <a:tc>
                  <a:txBody>
                    <a:bodyPr/>
                    <a:lstStyle/>
                    <a:p>
                      <a:pPr indent="0" marL="0">
                        <a:buNone/>
                      </a:pPr>
                      <a:r>
                        <a:rPr lang="en-US" sz="1350" dirty="0">
                          <a:solidFill>
                            <a:srgbClr val="002050"/>
                          </a:solidFill>
                          <a:latin typeface="Aptos" pitchFamily="34" charset="0"/>
                          <a:ea typeface="Aptos" pitchFamily="34" charset="-122"/>
                          <a:cs typeface="Aptos" pitchFamily="34" charset="-120"/>
                        </a:rPr>
                        <a:t>In less than 200 words: what was the problem, how was it investigated, what did you find out and what do your findings mean?</a:t>
                      </a:r>
                      <a:endParaRPr lang="en-US" sz="1350" dirty="0">
                        <a:latin typeface="Aptos" charset="0"/>
                        <a:ea typeface="Aptos" charset="0"/>
                        <a:cs typeface="Aptos" charset="0"/>
                      </a:endParaRPr>
                    </a:p>
                  </a:txBody>
                  <a:tcPr marL="91440" marR="91440" marT="91440" marB="91440"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EAF4FF"/>
                    </a:solidFill>
                  </a:tcPr>
                </a:tc>
              </a:tr>
              <a:tr h="512064">
                <a:tc>
                  <a:txBody>
                    <a:bodyPr/>
                    <a:lstStyle/>
                    <a:p>
                      <a:pPr indent="0" marL="0">
                        <a:buNone/>
                      </a:pPr>
                      <a:r>
                        <a:rPr lang="en-US" sz="1350" dirty="0">
                          <a:solidFill>
                            <a:srgbClr val="002050"/>
                          </a:solidFill>
                          <a:latin typeface="Aptos" pitchFamily="34" charset="0"/>
                          <a:ea typeface="Aptos" pitchFamily="34" charset="-122"/>
                          <a:cs typeface="Aptos" pitchFamily="34" charset="-120"/>
                        </a:rPr>
                        <a:t>Table of Contents</a:t>
                      </a:r>
                      <a:endParaRPr lang="en-US" sz="1350" dirty="0">
                        <a:latin typeface="Aptos" charset="0"/>
                        <a:ea typeface="Aptos" charset="0"/>
                        <a:cs typeface="Aptos" charset="0"/>
                      </a:endParaRPr>
                    </a:p>
                  </a:txBody>
                  <a:tcPr marL="91440" marR="91440" marT="91440" marB="91440"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FFFFFF"/>
                    </a:solidFill>
                  </a:tcPr>
                </a:tc>
                <a:tc>
                  <a:txBody>
                    <a:bodyPr/>
                    <a:lstStyle/>
                    <a:p>
                      <a:pPr indent="0" marL="0">
                        <a:buNone/>
                      </a:pPr>
                      <a:r>
                        <a:rPr lang="en-US" sz="1350" dirty="0">
                          <a:solidFill>
                            <a:srgbClr val="002050"/>
                          </a:solidFill>
                          <a:latin typeface="Aptos" pitchFamily="34" charset="0"/>
                          <a:ea typeface="Aptos" pitchFamily="34" charset="-122"/>
                          <a:cs typeface="Aptos" pitchFamily="34" charset="-120"/>
                        </a:rPr>
                        <a:t>A list of the major and minor sections of your report</a:t>
                      </a:r>
                      <a:endParaRPr lang="en-US" sz="1350" dirty="0">
                        <a:latin typeface="Aptos" charset="0"/>
                        <a:ea typeface="Aptos" charset="0"/>
                        <a:cs typeface="Aptos" charset="0"/>
                      </a:endParaRPr>
                    </a:p>
                  </a:txBody>
                  <a:tcPr marL="91440" marR="91440" marT="91440" marB="91440"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FFFFFF"/>
                    </a:solidFill>
                  </a:tcPr>
                </a:tc>
              </a:tr>
              <a:tr h="512064">
                <a:tc>
                  <a:txBody>
                    <a:bodyPr/>
                    <a:lstStyle/>
                    <a:p>
                      <a:pPr indent="0" marL="0">
                        <a:buNone/>
                      </a:pPr>
                      <a:r>
                        <a:rPr lang="en-US" sz="1350" dirty="0">
                          <a:solidFill>
                            <a:srgbClr val="002050"/>
                          </a:solidFill>
                          <a:latin typeface="Aptos" pitchFamily="34" charset="0"/>
                          <a:ea typeface="Aptos" pitchFamily="34" charset="-122"/>
                          <a:cs typeface="Aptos" pitchFamily="34" charset="-120"/>
                        </a:rPr>
                        <a:t>Introduction</a:t>
                      </a:r>
                      <a:endParaRPr lang="en-US" sz="1350" dirty="0">
                        <a:latin typeface="Aptos" charset="0"/>
                        <a:ea typeface="Aptos" charset="0"/>
                        <a:cs typeface="Aptos" charset="0"/>
                      </a:endParaRPr>
                    </a:p>
                  </a:txBody>
                  <a:tcPr marL="91440" marR="91440" marT="91440" marB="91440"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EAF4FF"/>
                    </a:solidFill>
                  </a:tcPr>
                </a:tc>
                <a:tc>
                  <a:txBody>
                    <a:bodyPr/>
                    <a:lstStyle/>
                    <a:p>
                      <a:pPr indent="0" marL="0">
                        <a:buNone/>
                      </a:pPr>
                      <a:r>
                        <a:rPr lang="en-US" sz="1350" dirty="0">
                          <a:solidFill>
                            <a:srgbClr val="002050"/>
                          </a:solidFill>
                          <a:latin typeface="Aptos" pitchFamily="34" charset="0"/>
                          <a:ea typeface="Aptos" pitchFamily="34" charset="-122"/>
                          <a:cs typeface="Aptos" pitchFamily="34" charset="-120"/>
                        </a:rPr>
                        <a:t>Set the scene; give background about the topic; state the aim/purpose of the investigation; outline the body sections</a:t>
                      </a:r>
                      <a:endParaRPr lang="en-US" sz="1350" dirty="0">
                        <a:latin typeface="Aptos" charset="0"/>
                        <a:ea typeface="Aptos" charset="0"/>
                        <a:cs typeface="Aptos" charset="0"/>
                      </a:endParaRPr>
                    </a:p>
                  </a:txBody>
                  <a:tcPr marL="91440" marR="91440" marT="91440" marB="91440"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EAF4FF"/>
                    </a:solidFill>
                  </a:tcPr>
                </a:tc>
              </a:tr>
              <a:tr h="512064">
                <a:tc>
                  <a:txBody>
                    <a:bodyPr/>
                    <a:lstStyle/>
                    <a:p>
                      <a:pPr indent="0" marL="0">
                        <a:buNone/>
                      </a:pPr>
                      <a:r>
                        <a:rPr lang="en-US" sz="1350" dirty="0">
                          <a:solidFill>
                            <a:srgbClr val="002050"/>
                          </a:solidFill>
                          <a:latin typeface="Aptos" pitchFamily="34" charset="0"/>
                          <a:ea typeface="Aptos" pitchFamily="34" charset="-122"/>
                          <a:cs typeface="Aptos" pitchFamily="34" charset="-120"/>
                        </a:rPr>
                        <a:t>Main Body</a:t>
                      </a:r>
                      <a:endParaRPr lang="en-US" sz="1350" dirty="0">
                        <a:latin typeface="Aptos" charset="0"/>
                        <a:ea typeface="Aptos" charset="0"/>
                        <a:cs typeface="Aptos" charset="0"/>
                      </a:endParaRPr>
                    </a:p>
                  </a:txBody>
                  <a:tcPr marL="91440" marR="91440" marT="91440" marB="91440"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FFFFFF"/>
                    </a:solidFill>
                  </a:tcPr>
                </a:tc>
                <a:tc>
                  <a:txBody>
                    <a:bodyPr/>
                    <a:lstStyle/>
                    <a:p>
                      <a:pPr indent="0" marL="0">
                        <a:buNone/>
                      </a:pPr>
                      <a:r>
                        <a:rPr lang="en-US" sz="1350" dirty="0">
                          <a:solidFill>
                            <a:srgbClr val="002050"/>
                          </a:solidFill>
                          <a:latin typeface="Aptos" pitchFamily="34" charset="0"/>
                          <a:ea typeface="Aptos" pitchFamily="34" charset="-122"/>
                          <a:cs typeface="Aptos" pitchFamily="34" charset="-120"/>
                        </a:rPr>
                        <a:t>Organise sections in a logical sequence: what you investigated, what you found, what interpretations and judgments you made. Use short informative headings and subheadings</a:t>
                      </a:r>
                      <a:endParaRPr lang="en-US" sz="1350" dirty="0">
                        <a:latin typeface="Aptos" charset="0"/>
                        <a:ea typeface="Aptos" charset="0"/>
                        <a:cs typeface="Aptos" charset="0"/>
                      </a:endParaRPr>
                    </a:p>
                  </a:txBody>
                  <a:tcPr marL="91440" marR="91440" marT="91440" marB="91440"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FFFFFF"/>
                    </a:solidFill>
                  </a:tcPr>
                </a:tc>
              </a:tr>
              <a:tr h="512064">
                <a:tc>
                  <a:txBody>
                    <a:bodyPr/>
                    <a:lstStyle/>
                    <a:p>
                      <a:pPr indent="0" marL="0">
                        <a:buNone/>
                      </a:pPr>
                      <a:r>
                        <a:rPr lang="en-US" sz="1350" dirty="0">
                          <a:solidFill>
                            <a:srgbClr val="002050"/>
                          </a:solidFill>
                          <a:latin typeface="Aptos" pitchFamily="34" charset="0"/>
                          <a:ea typeface="Aptos" pitchFamily="34" charset="-122"/>
                          <a:cs typeface="Aptos" pitchFamily="34" charset="-120"/>
                        </a:rPr>
                        <a:t>Conclusion</a:t>
                      </a:r>
                      <a:endParaRPr lang="en-US" sz="1350" dirty="0">
                        <a:latin typeface="Aptos" charset="0"/>
                        <a:ea typeface="Aptos" charset="0"/>
                        <a:cs typeface="Aptos" charset="0"/>
                      </a:endParaRPr>
                    </a:p>
                  </a:txBody>
                  <a:tcPr marL="91440" marR="91440" marT="91440" marB="91440"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EAF4FF"/>
                    </a:solidFill>
                  </a:tcPr>
                </a:tc>
                <a:tc>
                  <a:txBody>
                    <a:bodyPr/>
                    <a:lstStyle/>
                    <a:p>
                      <a:pPr indent="0" marL="0">
                        <a:buNone/>
                      </a:pPr>
                      <a:r>
                        <a:rPr lang="en-US" sz="1350" dirty="0">
                          <a:solidFill>
                            <a:srgbClr val="002050"/>
                          </a:solidFill>
                          <a:latin typeface="Aptos" pitchFamily="34" charset="0"/>
                          <a:ea typeface="Aptos" pitchFamily="34" charset="-122"/>
                          <a:cs typeface="Aptos" pitchFamily="34" charset="-120"/>
                        </a:rPr>
                        <a:t>What has been achieved and the significance of your findings and discussion? Have your aims been successful or not?</a:t>
                      </a:r>
                      <a:endParaRPr lang="en-US" sz="1350" dirty="0">
                        <a:latin typeface="Aptos" charset="0"/>
                        <a:ea typeface="Aptos" charset="0"/>
                        <a:cs typeface="Aptos" charset="0"/>
                      </a:endParaRPr>
                    </a:p>
                  </a:txBody>
                  <a:tcPr marL="91440" marR="91440" marT="91440" marB="91440"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EAF4FF"/>
                    </a:solidFill>
                  </a:tcPr>
                </a:tc>
              </a:tr>
              <a:tr h="512064">
                <a:tc>
                  <a:txBody>
                    <a:bodyPr/>
                    <a:lstStyle/>
                    <a:p>
                      <a:pPr indent="0" marL="0">
                        <a:buNone/>
                      </a:pPr>
                      <a:r>
                        <a:rPr lang="en-US" sz="1350" dirty="0">
                          <a:solidFill>
                            <a:srgbClr val="002050"/>
                          </a:solidFill>
                          <a:latin typeface="Aptos" pitchFamily="34" charset="0"/>
                          <a:ea typeface="Aptos" pitchFamily="34" charset="-122"/>
                          <a:cs typeface="Aptos" pitchFamily="34" charset="-120"/>
                        </a:rPr>
                        <a:t>Recommendations</a:t>
                      </a:r>
                      <a:endParaRPr lang="en-US" sz="1350" dirty="0">
                        <a:latin typeface="Aptos" charset="0"/>
                        <a:ea typeface="Aptos" charset="0"/>
                        <a:cs typeface="Aptos" charset="0"/>
                      </a:endParaRPr>
                    </a:p>
                  </a:txBody>
                  <a:tcPr marL="91440" marR="91440" marT="91440" marB="91440"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FFFFFF"/>
                    </a:solidFill>
                  </a:tcPr>
                </a:tc>
                <a:tc>
                  <a:txBody>
                    <a:bodyPr/>
                    <a:lstStyle/>
                    <a:p>
                      <a:pPr indent="0" marL="0">
                        <a:buNone/>
                      </a:pPr>
                      <a:r>
                        <a:rPr lang="en-US" sz="1350" dirty="0">
                          <a:solidFill>
                            <a:srgbClr val="002050"/>
                          </a:solidFill>
                          <a:latin typeface="Aptos" pitchFamily="34" charset="0"/>
                          <a:ea typeface="Aptos" pitchFamily="34" charset="-122"/>
                          <a:cs typeface="Aptos" pitchFamily="34" charset="-120"/>
                        </a:rPr>
                        <a:t>What do you recommend as a course of action following your conclusion?</a:t>
                      </a:r>
                      <a:endParaRPr lang="en-US" sz="1350" dirty="0">
                        <a:latin typeface="Aptos" charset="0"/>
                        <a:ea typeface="Aptos" charset="0"/>
                        <a:cs typeface="Aptos" charset="0"/>
                      </a:endParaRPr>
                    </a:p>
                  </a:txBody>
                  <a:tcPr marL="91440" marR="91440" marT="91440" marB="91440"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FFFFFF"/>
                    </a:solidFill>
                  </a:tcPr>
                </a:tc>
              </a:tr>
              <a:tr h="512064">
                <a:tc>
                  <a:txBody>
                    <a:bodyPr/>
                    <a:lstStyle/>
                    <a:p>
                      <a:pPr indent="0" marL="0">
                        <a:buNone/>
                      </a:pPr>
                      <a:r>
                        <a:rPr lang="en-US" sz="1350" dirty="0">
                          <a:solidFill>
                            <a:srgbClr val="002050"/>
                          </a:solidFill>
                          <a:latin typeface="Aptos" pitchFamily="34" charset="0"/>
                          <a:ea typeface="Aptos" pitchFamily="34" charset="-122"/>
                          <a:cs typeface="Aptos" pitchFamily="34" charset="-120"/>
                        </a:rPr>
                        <a:t>References</a:t>
                      </a:r>
                      <a:endParaRPr lang="en-US" sz="1350" dirty="0">
                        <a:latin typeface="Aptos" charset="0"/>
                        <a:ea typeface="Aptos" charset="0"/>
                        <a:cs typeface="Aptos" charset="0"/>
                      </a:endParaRPr>
                    </a:p>
                  </a:txBody>
                  <a:tcPr marL="91440" marR="91440" marT="91440" marB="91440"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EAF4FF"/>
                    </a:solidFill>
                  </a:tcPr>
                </a:tc>
                <a:tc>
                  <a:txBody>
                    <a:bodyPr/>
                    <a:lstStyle/>
                    <a:p>
                      <a:pPr indent="0" marL="0">
                        <a:buNone/>
                      </a:pPr>
                      <a:r>
                        <a:rPr lang="en-US" sz="1350" dirty="0">
                          <a:solidFill>
                            <a:srgbClr val="002050"/>
                          </a:solidFill>
                          <a:latin typeface="Aptos" pitchFamily="34" charset="0"/>
                          <a:ea typeface="Aptos" pitchFamily="34" charset="-122"/>
                          <a:cs typeface="Aptos" pitchFamily="34" charset="-120"/>
                        </a:rPr>
                        <a:t>A list of all the sources you used</a:t>
                      </a:r>
                      <a:endParaRPr lang="en-US" sz="1350" dirty="0">
                        <a:latin typeface="Aptos" charset="0"/>
                        <a:ea typeface="Aptos" charset="0"/>
                        <a:cs typeface="Aptos" charset="0"/>
                      </a:endParaRPr>
                    </a:p>
                  </a:txBody>
                  <a:tcPr marL="91440" marR="91440" marT="91440" marB="91440"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EAF4FF"/>
                    </a:solidFill>
                  </a:tcPr>
                </a:tc>
              </a:tr>
              <a:tr h="512064">
                <a:tc>
                  <a:txBody>
                    <a:bodyPr/>
                    <a:lstStyle/>
                    <a:p>
                      <a:pPr indent="0" marL="0">
                        <a:buNone/>
                      </a:pPr>
                      <a:r>
                        <a:rPr lang="en-US" sz="1350" dirty="0">
                          <a:solidFill>
                            <a:srgbClr val="002050"/>
                          </a:solidFill>
                          <a:latin typeface="Aptos" pitchFamily="34" charset="0"/>
                          <a:ea typeface="Aptos" pitchFamily="34" charset="-122"/>
                          <a:cs typeface="Aptos" pitchFamily="34" charset="-120"/>
                        </a:rPr>
                        <a:t>Appendices</a:t>
                      </a:r>
                      <a:endParaRPr lang="en-US" sz="1350" dirty="0">
                        <a:latin typeface="Aptos" charset="0"/>
                        <a:ea typeface="Aptos" charset="0"/>
                        <a:cs typeface="Aptos" charset="0"/>
                      </a:endParaRPr>
                    </a:p>
                  </a:txBody>
                  <a:tcPr marL="91440" marR="91440" marT="91440" marB="91440"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FFFFFF"/>
                    </a:solidFill>
                  </a:tcPr>
                </a:tc>
                <a:tc>
                  <a:txBody>
                    <a:bodyPr/>
                    <a:lstStyle/>
                    <a:p>
                      <a:pPr indent="0" marL="0">
                        <a:buNone/>
                      </a:pPr>
                      <a:r>
                        <a:rPr lang="en-US" sz="1350" dirty="0">
                          <a:solidFill>
                            <a:srgbClr val="002050"/>
                          </a:solidFill>
                          <a:latin typeface="Aptos" pitchFamily="34" charset="0"/>
                          <a:ea typeface="Aptos" pitchFamily="34" charset="-122"/>
                          <a:cs typeface="Aptos" pitchFamily="34" charset="-120"/>
                        </a:rPr>
                        <a:t>Any information (graphs, charts, tables or other data) used but not included in the body</a:t>
                      </a:r>
                      <a:endParaRPr lang="en-US" sz="1350" dirty="0">
                        <a:latin typeface="Aptos" charset="0"/>
                        <a:ea typeface="Aptos" charset="0"/>
                        <a:cs typeface="Aptos" charset="0"/>
                      </a:endParaRPr>
                    </a:p>
                  </a:txBody>
                  <a:tcPr marL="91440" marR="91440" marT="91440" marB="91440"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6473952"/>
            <a:ext cx="10268712" cy="274320"/>
          </a:xfrm>
          <a:prstGeom prst="rect">
            <a:avLst/>
          </a:prstGeom>
          <a:noFill/>
          <a:ln/>
        </p:spPr>
        <p:txBody>
          <a:bodyPr wrap="square" rtlCol="0" anchor="ctr"/>
          <a:lstStyle/>
          <a:p>
            <a:pPr indent="0" marL="0">
              <a:buNone/>
            </a:pPr>
            <a:r>
              <a:rPr lang="en-US" sz="1000" dirty="0">
                <a:solidFill>
                  <a:srgbClr val="6B7280"/>
                </a:solidFill>
                <a:latin typeface="Aptos" pitchFamily="34" charset="0"/>
                <a:ea typeface="Aptos" pitchFamily="34" charset="-122"/>
                <a:cs typeface="Aptos" pitchFamily="34" charset="-120"/>
              </a:rPr>
              <a:t>Unit Standard 8252 — Writing Business Reports   ·   Investec IT Systems Support NQF 5</a:t>
            </a:r>
            <a:endParaRPr lang="en-US" sz="1000" dirty="0"/>
          </a:p>
        </p:txBody>
      </p:sp>
      <p:sp>
        <p:nvSpPr>
          <p:cNvPr id="3" name="Text 1"/>
          <p:cNvSpPr/>
          <p:nvPr/>
        </p:nvSpPr>
        <p:spPr>
          <a:xfrm>
            <a:off x="11137392" y="6473952"/>
            <a:ext cx="548640" cy="274320"/>
          </a:xfrm>
          <a:prstGeom prst="rect">
            <a:avLst/>
          </a:prstGeom>
          <a:noFill/>
          <a:ln/>
        </p:spPr>
        <p:txBody>
          <a:bodyPr wrap="square" rtlCol="0" anchor="ctr"/>
          <a:lstStyle/>
          <a:p>
            <a:pPr algn="r" indent="0" marL="0">
              <a:buNone/>
            </a:pPr>
            <a:r>
              <a:rPr lang="en-US" sz="1000" dirty="0">
                <a:solidFill>
                  <a:srgbClr val="6B7280"/>
                </a:solidFill>
                <a:latin typeface="Aptos" pitchFamily="34" charset="0"/>
                <a:ea typeface="Aptos" pitchFamily="34" charset="-122"/>
                <a:cs typeface="Aptos" pitchFamily="34" charset="-120"/>
              </a:rPr>
              <a:t>22</a:t>
            </a:r>
            <a:endParaRPr lang="en-US" sz="1000" dirty="0"/>
          </a:p>
        </p:txBody>
      </p:sp>
      <p:sp>
        <p:nvSpPr>
          <p:cNvPr id="4" name="Shape 2"/>
          <p:cNvSpPr/>
          <p:nvPr/>
        </p:nvSpPr>
        <p:spPr>
          <a:xfrm>
            <a:off x="0" y="0"/>
            <a:ext cx="12188952" cy="82296"/>
          </a:xfrm>
          <a:prstGeom prst="rect">
            <a:avLst/>
          </a:prstGeom>
          <a:solidFill>
            <a:srgbClr val="0F6CBD"/>
          </a:solidFill>
          <a:ln/>
        </p:spPr>
      </p:sp>
      <p:sp>
        <p:nvSpPr>
          <p:cNvPr id="5" name="Text 3"/>
          <p:cNvSpPr/>
          <p:nvPr/>
        </p:nvSpPr>
        <p:spPr>
          <a:xfrm>
            <a:off x="502920" y="256032"/>
            <a:ext cx="11183112" cy="347472"/>
          </a:xfrm>
          <a:prstGeom prst="rect">
            <a:avLst/>
          </a:prstGeom>
          <a:noFill/>
          <a:ln/>
        </p:spPr>
        <p:txBody>
          <a:bodyPr wrap="square" rtlCol="0" anchor="ctr"/>
          <a:lstStyle/>
          <a:p>
            <a:pPr indent="0" marL="0">
              <a:buNone/>
            </a:pPr>
            <a:r>
              <a:rPr lang="en-US" sz="1400" b="1" spc="200" kern="0" dirty="0">
                <a:solidFill>
                  <a:srgbClr val="0F6CBD"/>
                </a:solidFill>
                <a:latin typeface="Aptos" pitchFamily="34" charset="0"/>
                <a:ea typeface="Aptos" pitchFamily="34" charset="-122"/>
                <a:cs typeface="Aptos" pitchFamily="34" charset="-120"/>
              </a:rPr>
              <a:t>PURPOSE &amp; CONTENT OF REPORTS</a:t>
            </a:r>
            <a:endParaRPr lang="en-US" sz="1400" dirty="0"/>
          </a:p>
        </p:txBody>
      </p:sp>
      <p:sp>
        <p:nvSpPr>
          <p:cNvPr id="6" name="Text 4"/>
          <p:cNvSpPr/>
          <p:nvPr/>
        </p:nvSpPr>
        <p:spPr>
          <a:xfrm>
            <a:off x="502920" y="585216"/>
            <a:ext cx="11183112" cy="786384"/>
          </a:xfrm>
          <a:prstGeom prst="rect">
            <a:avLst/>
          </a:prstGeom>
          <a:noFill/>
          <a:ln/>
        </p:spPr>
        <p:txBody>
          <a:bodyPr wrap="square" rtlCol="0" anchor="ctr"/>
          <a:lstStyle/>
          <a:p>
            <a:pPr indent="0" marL="0">
              <a:buNone/>
            </a:pPr>
            <a:r>
              <a:rPr lang="en-US" sz="3400" b="1" dirty="0">
                <a:solidFill>
                  <a:srgbClr val="002050"/>
                </a:solidFill>
                <a:latin typeface="Aptos Display" pitchFamily="34" charset="0"/>
                <a:ea typeface="Aptos Display" pitchFamily="34" charset="-122"/>
                <a:cs typeface="Aptos Display" pitchFamily="34" charset="-120"/>
              </a:rPr>
              <a:t>There Are Various Types of Reports</a:t>
            </a:r>
            <a:endParaRPr lang="en-US" sz="3400" dirty="0"/>
          </a:p>
        </p:txBody>
      </p:sp>
      <p:pic>
        <p:nvPicPr>
          <p:cNvPr id="7"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548640" y="1700784"/>
            <a:ext cx="310896" cy="310896"/>
          </a:xfrm>
          <a:prstGeom prst="rect">
            <a:avLst/>
          </a:prstGeom>
        </p:spPr>
      </p:pic>
      <p:sp>
        <p:nvSpPr>
          <p:cNvPr id="8" name="Text 5"/>
          <p:cNvSpPr/>
          <p:nvPr/>
        </p:nvSpPr>
        <p:spPr>
          <a:xfrm>
            <a:off x="1124712" y="1572768"/>
            <a:ext cx="10360152" cy="603504"/>
          </a:xfrm>
          <a:prstGeom prst="rect">
            <a:avLst/>
          </a:prstGeom>
          <a:noFill/>
          <a:ln/>
        </p:spPr>
        <p:txBody>
          <a:bodyPr wrap="square" rtlCol="0" anchor="ctr"/>
          <a:lstStyle/>
          <a:p>
            <a:pPr indent="0" marL="0">
              <a:lnSpc>
                <a:spcPct val="106000"/>
              </a:lnSpc>
              <a:buNone/>
            </a:pPr>
            <a:r>
              <a:rPr lang="en-US" sz="1600" dirty="0">
                <a:solidFill>
                  <a:srgbClr val="002050"/>
                </a:solidFill>
                <a:latin typeface="Aptos" pitchFamily="34" charset="0"/>
                <a:ea typeface="Aptos" pitchFamily="34" charset="-122"/>
                <a:cs typeface="Aptos" pitchFamily="34" charset="-120"/>
              </a:rPr>
              <a:t>A report of a sports match</a:t>
            </a:r>
            <a:endParaRPr lang="en-US" sz="1600" dirty="0"/>
          </a:p>
        </p:txBody>
      </p:sp>
      <p:pic>
        <p:nvPicPr>
          <p:cNvPr id="9"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48640" y="2212848"/>
            <a:ext cx="310896" cy="310896"/>
          </a:xfrm>
          <a:prstGeom prst="rect">
            <a:avLst/>
          </a:prstGeom>
        </p:spPr>
      </p:pic>
      <p:sp>
        <p:nvSpPr>
          <p:cNvPr id="10" name="Text 6"/>
          <p:cNvSpPr/>
          <p:nvPr/>
        </p:nvSpPr>
        <p:spPr>
          <a:xfrm>
            <a:off x="1124712" y="2084832"/>
            <a:ext cx="10360152" cy="603504"/>
          </a:xfrm>
          <a:prstGeom prst="rect">
            <a:avLst/>
          </a:prstGeom>
          <a:noFill/>
          <a:ln/>
        </p:spPr>
        <p:txBody>
          <a:bodyPr wrap="square" rtlCol="0" anchor="ctr"/>
          <a:lstStyle/>
          <a:p>
            <a:pPr indent="0" marL="0">
              <a:lnSpc>
                <a:spcPct val="106000"/>
              </a:lnSpc>
              <a:buNone/>
            </a:pPr>
            <a:r>
              <a:rPr lang="en-US" sz="1600" dirty="0">
                <a:solidFill>
                  <a:srgbClr val="002050"/>
                </a:solidFill>
                <a:latin typeface="Aptos" pitchFamily="34" charset="0"/>
                <a:ea typeface="Aptos" pitchFamily="34" charset="-122"/>
                <a:cs typeface="Aptos" pitchFamily="34" charset="-120"/>
              </a:rPr>
              <a:t>A report of an accident to the Police or an insurance company</a:t>
            </a:r>
            <a:endParaRPr lang="en-US" sz="1600" dirty="0"/>
          </a:p>
        </p:txBody>
      </p:sp>
      <p:pic>
        <p:nvPicPr>
          <p:cNvPr id="11"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48640" y="2724912"/>
            <a:ext cx="310896" cy="310896"/>
          </a:xfrm>
          <a:prstGeom prst="rect">
            <a:avLst/>
          </a:prstGeom>
        </p:spPr>
      </p:pic>
      <p:sp>
        <p:nvSpPr>
          <p:cNvPr id="12" name="Text 7"/>
          <p:cNvSpPr/>
          <p:nvPr/>
        </p:nvSpPr>
        <p:spPr>
          <a:xfrm>
            <a:off x="1124712" y="2596896"/>
            <a:ext cx="10360152" cy="603504"/>
          </a:xfrm>
          <a:prstGeom prst="rect">
            <a:avLst/>
          </a:prstGeom>
          <a:noFill/>
          <a:ln/>
        </p:spPr>
        <p:txBody>
          <a:bodyPr wrap="square" rtlCol="0" anchor="ctr"/>
          <a:lstStyle/>
          <a:p>
            <a:pPr indent="0" marL="0">
              <a:lnSpc>
                <a:spcPct val="106000"/>
              </a:lnSpc>
              <a:buNone/>
            </a:pPr>
            <a:r>
              <a:rPr lang="en-US" sz="1600" dirty="0">
                <a:solidFill>
                  <a:srgbClr val="002050"/>
                </a:solidFill>
                <a:latin typeface="Aptos" pitchFamily="34" charset="0"/>
                <a:ea typeface="Aptos" pitchFamily="34" charset="-122"/>
                <a:cs typeface="Aptos" pitchFamily="34" charset="-120"/>
              </a:rPr>
              <a:t>A report of a social function, such as a wedding</a:t>
            </a:r>
            <a:endParaRPr lang="en-US" sz="1600" dirty="0"/>
          </a:p>
        </p:txBody>
      </p:sp>
      <p:pic>
        <p:nvPicPr>
          <p:cNvPr id="13"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548640" y="3236976"/>
            <a:ext cx="310896" cy="310896"/>
          </a:xfrm>
          <a:prstGeom prst="rect">
            <a:avLst/>
          </a:prstGeom>
        </p:spPr>
      </p:pic>
      <p:sp>
        <p:nvSpPr>
          <p:cNvPr id="14" name="Text 8"/>
          <p:cNvSpPr/>
          <p:nvPr/>
        </p:nvSpPr>
        <p:spPr>
          <a:xfrm>
            <a:off x="1124712" y="3108960"/>
            <a:ext cx="10360152" cy="603504"/>
          </a:xfrm>
          <a:prstGeom prst="rect">
            <a:avLst/>
          </a:prstGeom>
          <a:noFill/>
          <a:ln/>
        </p:spPr>
        <p:txBody>
          <a:bodyPr wrap="square" rtlCol="0" anchor="ctr"/>
          <a:lstStyle/>
          <a:p>
            <a:pPr indent="0" marL="0">
              <a:lnSpc>
                <a:spcPct val="106000"/>
              </a:lnSpc>
              <a:buNone/>
            </a:pPr>
            <a:r>
              <a:rPr lang="en-US" sz="1600" dirty="0">
                <a:solidFill>
                  <a:srgbClr val="002050"/>
                </a:solidFill>
                <a:latin typeface="Aptos" pitchFamily="34" charset="0"/>
                <a:ea typeface="Aptos" pitchFamily="34" charset="-122"/>
                <a:cs typeface="Aptos" pitchFamily="34" charset="-120"/>
              </a:rPr>
              <a:t>A news report about an accident, meeting or noteworthy incident</a:t>
            </a:r>
            <a:endParaRPr lang="en-US" sz="1600" dirty="0"/>
          </a:p>
        </p:txBody>
      </p:sp>
      <p:pic>
        <p:nvPicPr>
          <p:cNvPr id="15" name="Image 4" descr="preencoded.png">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548640" y="3749040"/>
            <a:ext cx="310896" cy="310896"/>
          </a:xfrm>
          <a:prstGeom prst="rect">
            <a:avLst/>
          </a:prstGeom>
        </p:spPr>
      </p:pic>
      <p:sp>
        <p:nvSpPr>
          <p:cNvPr id="16" name="Text 9"/>
          <p:cNvSpPr/>
          <p:nvPr/>
        </p:nvSpPr>
        <p:spPr>
          <a:xfrm>
            <a:off x="1124712" y="3621024"/>
            <a:ext cx="10360152" cy="603504"/>
          </a:xfrm>
          <a:prstGeom prst="rect">
            <a:avLst/>
          </a:prstGeom>
          <a:noFill/>
          <a:ln/>
        </p:spPr>
        <p:txBody>
          <a:bodyPr wrap="square" rtlCol="0" anchor="ctr"/>
          <a:lstStyle/>
          <a:p>
            <a:pPr indent="0" marL="0">
              <a:lnSpc>
                <a:spcPct val="106000"/>
              </a:lnSpc>
              <a:buNone/>
            </a:pPr>
            <a:r>
              <a:rPr lang="en-US" sz="1600" dirty="0">
                <a:solidFill>
                  <a:srgbClr val="002050"/>
                </a:solidFill>
                <a:latin typeface="Aptos" pitchFamily="34" charset="0"/>
                <a:ea typeface="Aptos" pitchFamily="34" charset="-122"/>
                <a:cs typeface="Aptos" pitchFamily="34" charset="-120"/>
              </a:rPr>
              <a:t>A report of a commission of enquiry</a:t>
            </a:r>
            <a:endParaRPr lang="en-US" sz="1600" dirty="0"/>
          </a:p>
        </p:txBody>
      </p:sp>
      <p:pic>
        <p:nvPicPr>
          <p:cNvPr id="17" name="Image 5" descr="preencoded.png">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548640" y="4261104"/>
            <a:ext cx="310896" cy="310896"/>
          </a:xfrm>
          <a:prstGeom prst="rect">
            <a:avLst/>
          </a:prstGeom>
        </p:spPr>
      </p:pic>
      <p:sp>
        <p:nvSpPr>
          <p:cNvPr id="18" name="Text 10"/>
          <p:cNvSpPr/>
          <p:nvPr/>
        </p:nvSpPr>
        <p:spPr>
          <a:xfrm>
            <a:off x="1124712" y="4133088"/>
            <a:ext cx="10360152" cy="603504"/>
          </a:xfrm>
          <a:prstGeom prst="rect">
            <a:avLst/>
          </a:prstGeom>
          <a:noFill/>
          <a:ln/>
        </p:spPr>
        <p:txBody>
          <a:bodyPr wrap="square" rtlCol="0" anchor="ctr"/>
          <a:lstStyle/>
          <a:p>
            <a:pPr indent="0" marL="0">
              <a:lnSpc>
                <a:spcPct val="106000"/>
              </a:lnSpc>
              <a:buNone/>
            </a:pPr>
            <a:r>
              <a:rPr lang="en-US" sz="1600" dirty="0">
                <a:solidFill>
                  <a:srgbClr val="002050"/>
                </a:solidFill>
                <a:latin typeface="Aptos" pitchFamily="34" charset="0"/>
                <a:ea typeface="Aptos" pitchFamily="34" charset="-122"/>
                <a:cs typeface="Aptos" pitchFamily="34" charset="-120"/>
              </a:rPr>
              <a:t>A trade report</a:t>
            </a:r>
            <a:endParaRPr lang="en-US" sz="1600" dirty="0"/>
          </a:p>
        </p:txBody>
      </p:sp>
      <p:pic>
        <p:nvPicPr>
          <p:cNvPr id="19" name="Image 6" descr="preencoded.png">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548640" y="4773168"/>
            <a:ext cx="310896" cy="310896"/>
          </a:xfrm>
          <a:prstGeom prst="rect">
            <a:avLst/>
          </a:prstGeom>
        </p:spPr>
      </p:pic>
      <p:sp>
        <p:nvSpPr>
          <p:cNvPr id="20" name="Text 11"/>
          <p:cNvSpPr/>
          <p:nvPr/>
        </p:nvSpPr>
        <p:spPr>
          <a:xfrm>
            <a:off x="1124712" y="4645152"/>
            <a:ext cx="10360152" cy="603504"/>
          </a:xfrm>
          <a:prstGeom prst="rect">
            <a:avLst/>
          </a:prstGeom>
          <a:noFill/>
          <a:ln/>
        </p:spPr>
        <p:txBody>
          <a:bodyPr wrap="square" rtlCol="0" anchor="ctr"/>
          <a:lstStyle/>
          <a:p>
            <a:pPr indent="0" marL="0">
              <a:lnSpc>
                <a:spcPct val="106000"/>
              </a:lnSpc>
              <a:buNone/>
            </a:pPr>
            <a:r>
              <a:rPr lang="en-US" sz="1600" dirty="0">
                <a:solidFill>
                  <a:srgbClr val="002050"/>
                </a:solidFill>
                <a:latin typeface="Aptos" pitchFamily="34" charset="0"/>
                <a:ea typeface="Aptos" pitchFamily="34" charset="-122"/>
                <a:cs typeface="Aptos" pitchFamily="34" charset="-120"/>
              </a:rPr>
              <a:t>A company report or a Company Accident Report</a:t>
            </a:r>
            <a:endParaRPr lang="en-US" sz="1600" dirty="0"/>
          </a:p>
        </p:txBody>
      </p:sp>
      <p:pic>
        <p:nvPicPr>
          <p:cNvPr id="21" name="Image 7" descr="preencoded.png">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548640" y="5285232"/>
            <a:ext cx="310896" cy="310896"/>
          </a:xfrm>
          <a:prstGeom prst="rect">
            <a:avLst/>
          </a:prstGeom>
        </p:spPr>
      </p:pic>
      <p:sp>
        <p:nvSpPr>
          <p:cNvPr id="22" name="Text 12"/>
          <p:cNvSpPr/>
          <p:nvPr/>
        </p:nvSpPr>
        <p:spPr>
          <a:xfrm>
            <a:off x="1124712" y="5157216"/>
            <a:ext cx="10360152" cy="603504"/>
          </a:xfrm>
          <a:prstGeom prst="rect">
            <a:avLst/>
          </a:prstGeom>
          <a:noFill/>
          <a:ln/>
        </p:spPr>
        <p:txBody>
          <a:bodyPr wrap="square" rtlCol="0" anchor="ctr"/>
          <a:lstStyle/>
          <a:p>
            <a:pPr indent="0" marL="0">
              <a:lnSpc>
                <a:spcPct val="106000"/>
              </a:lnSpc>
              <a:buNone/>
            </a:pPr>
            <a:r>
              <a:rPr lang="en-US" sz="1600" dirty="0">
                <a:solidFill>
                  <a:srgbClr val="002050"/>
                </a:solidFill>
                <a:latin typeface="Aptos" pitchFamily="34" charset="0"/>
                <a:ea typeface="Aptos" pitchFamily="34" charset="-122"/>
                <a:cs typeface="Aptos" pitchFamily="34" charset="-120"/>
              </a:rPr>
              <a:t>An Annual Report by a Chairman or a Treasurer</a:t>
            </a:r>
            <a:endParaRPr lang="en-US" sz="1600" dirty="0"/>
          </a:p>
        </p:txBody>
      </p:sp>
      <p:pic>
        <p:nvPicPr>
          <p:cNvPr id="23" name="Image 8" descr="preencoded.png">    </p:cNvPr>
          <p:cNvPicPr>
            <a:picLocks noChangeAspect="1"/>
          </p:cNvPicPr>
          <p:nvPr/>
        </p:nvPicPr>
        <p:blipFill>
          <a:blip r:embed="rId17">
            <a:extLst>
              <a:ext uri="{96DAC541-7B7A-43D3-8B79-37D633B846F1}">
                <asvg:svgBlip xmlns:asvg="http://schemas.microsoft.com/office/drawing/2016/SVG/main" r:embed="rId18"/>
              </a:ext>
            </a:extLst>
          </a:blip>
          <a:stretch>
            <a:fillRect/>
          </a:stretch>
        </p:blipFill>
        <p:spPr>
          <a:xfrm>
            <a:off x="548640" y="5797296"/>
            <a:ext cx="310896" cy="310896"/>
          </a:xfrm>
          <a:prstGeom prst="rect">
            <a:avLst/>
          </a:prstGeom>
        </p:spPr>
      </p:pic>
      <p:sp>
        <p:nvSpPr>
          <p:cNvPr id="24" name="Text 13"/>
          <p:cNvSpPr/>
          <p:nvPr/>
        </p:nvSpPr>
        <p:spPr>
          <a:xfrm>
            <a:off x="1124712" y="5669280"/>
            <a:ext cx="10360152" cy="603504"/>
          </a:xfrm>
          <a:prstGeom prst="rect">
            <a:avLst/>
          </a:prstGeom>
          <a:noFill/>
          <a:ln/>
        </p:spPr>
        <p:txBody>
          <a:bodyPr wrap="square" rtlCol="0" anchor="ctr"/>
          <a:lstStyle/>
          <a:p>
            <a:pPr indent="0" marL="0">
              <a:lnSpc>
                <a:spcPct val="106000"/>
              </a:lnSpc>
              <a:buNone/>
            </a:pPr>
            <a:r>
              <a:rPr lang="en-US" sz="1600" dirty="0">
                <a:solidFill>
                  <a:srgbClr val="002050"/>
                </a:solidFill>
                <a:latin typeface="Aptos" pitchFamily="34" charset="0"/>
                <a:ea typeface="Aptos" pitchFamily="34" charset="-122"/>
                <a:cs typeface="Aptos" pitchFamily="34" charset="-120"/>
              </a:rPr>
              <a:t>An internal report on a business related matter following an investigation or collection of data</a:t>
            </a:r>
            <a:endParaRPr lang="en-US" sz="16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6473952"/>
            <a:ext cx="10268712" cy="274320"/>
          </a:xfrm>
          <a:prstGeom prst="rect">
            <a:avLst/>
          </a:prstGeom>
          <a:noFill/>
          <a:ln/>
        </p:spPr>
        <p:txBody>
          <a:bodyPr wrap="square" rtlCol="0" anchor="ctr"/>
          <a:lstStyle/>
          <a:p>
            <a:pPr indent="0" marL="0">
              <a:buNone/>
            </a:pPr>
            <a:r>
              <a:rPr lang="en-US" sz="1000" dirty="0">
                <a:solidFill>
                  <a:srgbClr val="6B7280"/>
                </a:solidFill>
                <a:latin typeface="Aptos" pitchFamily="34" charset="0"/>
                <a:ea typeface="Aptos" pitchFamily="34" charset="-122"/>
                <a:cs typeface="Aptos" pitchFamily="34" charset="-120"/>
              </a:rPr>
              <a:t>Unit Standard 8252 — Writing Business Reports   ·   Investec IT Systems Support NQF 5</a:t>
            </a:r>
            <a:endParaRPr lang="en-US" sz="1000" dirty="0"/>
          </a:p>
        </p:txBody>
      </p:sp>
      <p:sp>
        <p:nvSpPr>
          <p:cNvPr id="3" name="Text 1"/>
          <p:cNvSpPr/>
          <p:nvPr/>
        </p:nvSpPr>
        <p:spPr>
          <a:xfrm>
            <a:off x="11137392" y="6473952"/>
            <a:ext cx="548640" cy="274320"/>
          </a:xfrm>
          <a:prstGeom prst="rect">
            <a:avLst/>
          </a:prstGeom>
          <a:noFill/>
          <a:ln/>
        </p:spPr>
        <p:txBody>
          <a:bodyPr wrap="square" rtlCol="0" anchor="ctr"/>
          <a:lstStyle/>
          <a:p>
            <a:pPr algn="r" indent="0" marL="0">
              <a:buNone/>
            </a:pPr>
            <a:r>
              <a:rPr lang="en-US" sz="1000" dirty="0">
                <a:solidFill>
                  <a:srgbClr val="6B7280"/>
                </a:solidFill>
                <a:latin typeface="Aptos" pitchFamily="34" charset="0"/>
                <a:ea typeface="Aptos" pitchFamily="34" charset="-122"/>
                <a:cs typeface="Aptos" pitchFamily="34" charset="-120"/>
              </a:rPr>
              <a:t>23</a:t>
            </a:r>
            <a:endParaRPr lang="en-US" sz="1000" dirty="0"/>
          </a:p>
        </p:txBody>
      </p:sp>
      <p:sp>
        <p:nvSpPr>
          <p:cNvPr id="4" name="Shape 2"/>
          <p:cNvSpPr/>
          <p:nvPr/>
        </p:nvSpPr>
        <p:spPr>
          <a:xfrm>
            <a:off x="0" y="0"/>
            <a:ext cx="12188952" cy="82296"/>
          </a:xfrm>
          <a:prstGeom prst="rect">
            <a:avLst/>
          </a:prstGeom>
          <a:solidFill>
            <a:srgbClr val="0F6CBD"/>
          </a:solidFill>
          <a:ln/>
        </p:spPr>
      </p:sp>
      <p:sp>
        <p:nvSpPr>
          <p:cNvPr id="5" name="Text 3"/>
          <p:cNvSpPr/>
          <p:nvPr/>
        </p:nvSpPr>
        <p:spPr>
          <a:xfrm>
            <a:off x="502920" y="256032"/>
            <a:ext cx="11183112" cy="347472"/>
          </a:xfrm>
          <a:prstGeom prst="rect">
            <a:avLst/>
          </a:prstGeom>
          <a:noFill/>
          <a:ln/>
        </p:spPr>
        <p:txBody>
          <a:bodyPr wrap="square" rtlCol="0" anchor="ctr"/>
          <a:lstStyle/>
          <a:p>
            <a:pPr indent="0" marL="0">
              <a:buNone/>
            </a:pPr>
            <a:r>
              <a:rPr lang="en-US" sz="1400" b="1" spc="200" kern="0" dirty="0">
                <a:solidFill>
                  <a:srgbClr val="0F6CBD"/>
                </a:solidFill>
                <a:latin typeface="Aptos" pitchFamily="34" charset="0"/>
                <a:ea typeface="Aptos" pitchFamily="34" charset="-122"/>
                <a:cs typeface="Aptos" pitchFamily="34" charset="-120"/>
              </a:rPr>
              <a:t>WORKED EXAMPLES</a:t>
            </a:r>
            <a:endParaRPr lang="en-US" sz="1400" dirty="0"/>
          </a:p>
        </p:txBody>
      </p:sp>
      <p:sp>
        <p:nvSpPr>
          <p:cNvPr id="6" name="Text 4"/>
          <p:cNvSpPr/>
          <p:nvPr/>
        </p:nvSpPr>
        <p:spPr>
          <a:xfrm>
            <a:off x="502920" y="585216"/>
            <a:ext cx="11183112" cy="786384"/>
          </a:xfrm>
          <a:prstGeom prst="rect">
            <a:avLst/>
          </a:prstGeom>
          <a:noFill/>
          <a:ln/>
        </p:spPr>
        <p:txBody>
          <a:bodyPr wrap="square" rtlCol="0" anchor="ctr"/>
          <a:lstStyle/>
          <a:p>
            <a:pPr indent="0" marL="0">
              <a:buNone/>
            </a:pPr>
            <a:r>
              <a:rPr lang="en-US" sz="3400" b="1" dirty="0">
                <a:solidFill>
                  <a:srgbClr val="002050"/>
                </a:solidFill>
                <a:latin typeface="Aptos Display" pitchFamily="34" charset="0"/>
                <a:ea typeface="Aptos Display" pitchFamily="34" charset="-122"/>
                <a:cs typeface="Aptos Display" pitchFamily="34" charset="-120"/>
              </a:rPr>
              <a:t>Investec Sample Reports — 7 Worked Models</a:t>
            </a:r>
            <a:endParaRPr lang="en-US" sz="3400" dirty="0"/>
          </a:p>
        </p:txBody>
      </p:sp>
      <p:sp>
        <p:nvSpPr>
          <p:cNvPr id="7" name="Text 5"/>
          <p:cNvSpPr/>
          <p:nvPr/>
        </p:nvSpPr>
        <p:spPr>
          <a:xfrm>
            <a:off x="502920" y="1417320"/>
            <a:ext cx="11183112" cy="365760"/>
          </a:xfrm>
          <a:prstGeom prst="rect">
            <a:avLst/>
          </a:prstGeom>
          <a:noFill/>
          <a:ln/>
        </p:spPr>
        <p:txBody>
          <a:bodyPr wrap="square" rtlCol="0" anchor="ctr"/>
          <a:lstStyle/>
          <a:p>
            <a:pPr indent="0" marL="0">
              <a:buNone/>
            </a:pPr>
            <a:r>
              <a:rPr lang="en-US" sz="1600" dirty="0">
                <a:solidFill>
                  <a:srgbClr val="6B7280"/>
                </a:solidFill>
                <a:latin typeface="Aptos" pitchFamily="34" charset="0"/>
                <a:ea typeface="Aptos" pitchFamily="34" charset="-122"/>
                <a:cs typeface="Aptos" pitchFamily="34" charset="-120"/>
              </a:rPr>
              <a:t>Use these models to practise matching report type, purpose, audience and recommended action.</a:t>
            </a:r>
            <a:endParaRPr lang="en-US" sz="16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502920" y="1874520"/>
          <a:ext cx="11183112" cy="914400"/>
        </p:xfrm>
        <a:graphic>
          <a:graphicData uri="http://schemas.openxmlformats.org/drawingml/2006/table">
            <a:tbl>
              <a:tblPr/>
              <a:tblGrid>
                <a:gridCol w="777240"/>
                <a:gridCol w="2286000"/>
                <a:gridCol w="8119872"/>
              </a:tblGrid>
              <a:tr h="566928">
                <a:tc>
                  <a:txBody>
                    <a:bodyPr/>
                    <a:lstStyle/>
                    <a:p>
                      <a:pPr indent="0" marL="0">
                        <a:buNone/>
                      </a:pPr>
                      <a:r>
                        <a:rPr lang="en-US" sz="1500" b="1" dirty="0">
                          <a:solidFill>
                            <a:srgbClr val="FFFFFF"/>
                          </a:solidFill>
                          <a:latin typeface="Aptos Display" pitchFamily="34" charset="0"/>
                          <a:ea typeface="Aptos Display" pitchFamily="34" charset="-122"/>
                          <a:cs typeface="Aptos Display" pitchFamily="34" charset="-120"/>
                        </a:rPr>
                        <a:t>No.</a:t>
                      </a:r>
                      <a:endParaRPr lang="en-US" sz="1500" dirty="0">
                        <a:latin typeface="Aptos Display" charset="0"/>
                        <a:ea typeface="Aptos Display" charset="0"/>
                        <a:cs typeface="Aptos Display" charset="0"/>
                      </a:endParaRPr>
                    </a:p>
                  </a:txBody>
                  <a:tcPr marL="91440" marR="91440" marT="91440" marB="91440"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0F6CBD"/>
                    </a:solidFill>
                  </a:tcPr>
                </a:tc>
                <a:tc>
                  <a:txBody>
                    <a:bodyPr/>
                    <a:lstStyle/>
                    <a:p>
                      <a:pPr indent="0" marL="0">
                        <a:buNone/>
                      </a:pPr>
                      <a:r>
                        <a:rPr lang="en-US" sz="1500" b="1" dirty="0">
                          <a:solidFill>
                            <a:srgbClr val="FFFFFF"/>
                          </a:solidFill>
                          <a:latin typeface="Aptos Display" pitchFamily="34" charset="0"/>
                          <a:ea typeface="Aptos Display" pitchFamily="34" charset="-122"/>
                          <a:cs typeface="Aptos Display" pitchFamily="34" charset="-120"/>
                        </a:rPr>
                        <a:t>Report type</a:t>
                      </a:r>
                      <a:endParaRPr lang="en-US" sz="1500" dirty="0">
                        <a:latin typeface="Aptos Display" charset="0"/>
                        <a:ea typeface="Aptos Display" charset="0"/>
                        <a:cs typeface="Aptos Display" charset="0"/>
                      </a:endParaRPr>
                    </a:p>
                  </a:txBody>
                  <a:tcPr marL="91440" marR="91440" marT="91440" marB="91440"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0F6CBD"/>
                    </a:solidFill>
                  </a:tcPr>
                </a:tc>
                <a:tc>
                  <a:txBody>
                    <a:bodyPr/>
                    <a:lstStyle/>
                    <a:p>
                      <a:pPr indent="0" marL="0">
                        <a:buNone/>
                      </a:pPr>
                      <a:r>
                        <a:rPr lang="en-US" sz="1500" b="1" dirty="0">
                          <a:solidFill>
                            <a:srgbClr val="FFFFFF"/>
                          </a:solidFill>
                          <a:latin typeface="Aptos Display" pitchFamily="34" charset="0"/>
                          <a:ea typeface="Aptos Display" pitchFamily="34" charset="-122"/>
                          <a:cs typeface="Aptos Display" pitchFamily="34" charset="-120"/>
                        </a:rPr>
                        <a:t>Investec systems support example</a:t>
                      </a:r>
                      <a:endParaRPr lang="en-US" sz="1500" dirty="0">
                        <a:latin typeface="Aptos Display" charset="0"/>
                        <a:ea typeface="Aptos Display" charset="0"/>
                        <a:cs typeface="Aptos Display" charset="0"/>
                      </a:endParaRPr>
                    </a:p>
                  </a:txBody>
                  <a:tcPr marL="91440" marR="91440" marT="91440" marB="91440"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0F6CBD"/>
                    </a:solidFill>
                  </a:tcPr>
                </a:tc>
              </a:tr>
              <a:tr h="566928">
                <a:tc>
                  <a:txBody>
                    <a:bodyPr/>
                    <a:lstStyle/>
                    <a:p>
                      <a:pPr indent="0" marL="0">
                        <a:buNone/>
                      </a:pPr>
                      <a:r>
                        <a:rPr lang="en-US" sz="1500" dirty="0">
                          <a:solidFill>
                            <a:srgbClr val="002050"/>
                          </a:solidFill>
                          <a:latin typeface="Aptos" pitchFamily="34" charset="0"/>
                          <a:ea typeface="Aptos" pitchFamily="34" charset="-122"/>
                          <a:cs typeface="Aptos" pitchFamily="34" charset="-120"/>
                        </a:rPr>
                        <a:t>1</a:t>
                      </a:r>
                      <a:endParaRPr lang="en-US" sz="1500" dirty="0">
                        <a:latin typeface="Aptos" charset="0"/>
                        <a:ea typeface="Aptos" charset="0"/>
                        <a:cs typeface="Aptos" charset="0"/>
                      </a:endParaRPr>
                    </a:p>
                  </a:txBody>
                  <a:tcPr marL="91440" marR="91440" marT="91440" marB="91440"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FFFFFF"/>
                    </a:solidFill>
                  </a:tcPr>
                </a:tc>
                <a:tc>
                  <a:txBody>
                    <a:bodyPr/>
                    <a:lstStyle/>
                    <a:p>
                      <a:pPr indent="0" marL="0">
                        <a:buNone/>
                      </a:pPr>
                      <a:r>
                        <a:rPr lang="en-US" sz="1500" dirty="0">
                          <a:solidFill>
                            <a:srgbClr val="002050"/>
                          </a:solidFill>
                          <a:latin typeface="Aptos" pitchFamily="34" charset="0"/>
                          <a:ea typeface="Aptos" pitchFamily="34" charset="-122"/>
                          <a:cs typeface="Aptos" pitchFamily="34" charset="-120"/>
                        </a:rPr>
                        <a:t>Incident</a:t>
                      </a:r>
                      <a:endParaRPr lang="en-US" sz="1500" dirty="0">
                        <a:latin typeface="Aptos" charset="0"/>
                        <a:ea typeface="Aptos" charset="0"/>
                        <a:cs typeface="Aptos" charset="0"/>
                      </a:endParaRPr>
                    </a:p>
                  </a:txBody>
                  <a:tcPr marL="91440" marR="91440" marT="91440" marB="91440"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FFFFFF"/>
                    </a:solidFill>
                  </a:tcPr>
                </a:tc>
                <a:tc>
                  <a:txBody>
                    <a:bodyPr/>
                    <a:lstStyle/>
                    <a:p>
                      <a:pPr indent="0" marL="0">
                        <a:buNone/>
                      </a:pPr>
                      <a:r>
                        <a:rPr lang="en-US" sz="1500" dirty="0">
                          <a:solidFill>
                            <a:srgbClr val="002050"/>
                          </a:solidFill>
                          <a:latin typeface="Aptos" pitchFamily="34" charset="0"/>
                          <a:ea typeface="Aptos" pitchFamily="34" charset="-122"/>
                          <a:cs typeface="Aptos" pitchFamily="34" charset="-120"/>
                        </a:rPr>
                        <a:t>Online Banking login outage — immediate facts, impact, action taken and escalation</a:t>
                      </a:r>
                      <a:endParaRPr lang="en-US" sz="1500" dirty="0">
                        <a:latin typeface="Aptos" charset="0"/>
                        <a:ea typeface="Aptos" charset="0"/>
                        <a:cs typeface="Aptos" charset="0"/>
                      </a:endParaRPr>
                    </a:p>
                  </a:txBody>
                  <a:tcPr marL="91440" marR="91440" marT="91440" marB="91440"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FFFFFF"/>
                    </a:solidFill>
                  </a:tcPr>
                </a:tc>
              </a:tr>
              <a:tr h="566928">
                <a:tc>
                  <a:txBody>
                    <a:bodyPr/>
                    <a:lstStyle/>
                    <a:p>
                      <a:pPr indent="0" marL="0">
                        <a:buNone/>
                      </a:pPr>
                      <a:r>
                        <a:rPr lang="en-US" sz="1500" dirty="0">
                          <a:solidFill>
                            <a:srgbClr val="002050"/>
                          </a:solidFill>
                          <a:latin typeface="Aptos" pitchFamily="34" charset="0"/>
                          <a:ea typeface="Aptos" pitchFamily="34" charset="-122"/>
                          <a:cs typeface="Aptos" pitchFamily="34" charset="-120"/>
                        </a:rPr>
                        <a:t>2</a:t>
                      </a:r>
                      <a:endParaRPr lang="en-US" sz="1500" dirty="0">
                        <a:latin typeface="Aptos" charset="0"/>
                        <a:ea typeface="Aptos" charset="0"/>
                        <a:cs typeface="Aptos" charset="0"/>
                      </a:endParaRPr>
                    </a:p>
                  </a:txBody>
                  <a:tcPr marL="91440" marR="91440" marT="91440" marB="91440"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EAF4FF"/>
                    </a:solidFill>
                  </a:tcPr>
                </a:tc>
                <a:tc>
                  <a:txBody>
                    <a:bodyPr/>
                    <a:lstStyle/>
                    <a:p>
                      <a:pPr indent="0" marL="0">
                        <a:buNone/>
                      </a:pPr>
                      <a:r>
                        <a:rPr lang="en-US" sz="1500" dirty="0">
                          <a:solidFill>
                            <a:srgbClr val="002050"/>
                          </a:solidFill>
                          <a:latin typeface="Aptos" pitchFamily="34" charset="0"/>
                          <a:ea typeface="Aptos" pitchFamily="34" charset="-122"/>
                          <a:cs typeface="Aptos" pitchFamily="34" charset="-120"/>
                        </a:rPr>
                        <a:t>Incident</a:t>
                      </a:r>
                      <a:endParaRPr lang="en-US" sz="1500" dirty="0">
                        <a:latin typeface="Aptos" charset="0"/>
                        <a:ea typeface="Aptos" charset="0"/>
                        <a:cs typeface="Aptos" charset="0"/>
                      </a:endParaRPr>
                    </a:p>
                  </a:txBody>
                  <a:tcPr marL="91440" marR="91440" marT="91440" marB="91440"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EAF4FF"/>
                    </a:solidFill>
                  </a:tcPr>
                </a:tc>
                <a:tc>
                  <a:txBody>
                    <a:bodyPr/>
                    <a:lstStyle/>
                    <a:p>
                      <a:pPr indent="0" marL="0">
                        <a:buNone/>
                      </a:pPr>
                      <a:r>
                        <a:rPr lang="en-US" sz="1500" dirty="0">
                          <a:solidFill>
                            <a:srgbClr val="002050"/>
                          </a:solidFill>
                          <a:latin typeface="Aptos" pitchFamily="34" charset="0"/>
                          <a:ea typeface="Aptos" pitchFamily="34" charset="-122"/>
                          <a:cs typeface="Aptos" pitchFamily="34" charset="-120"/>
                        </a:rPr>
                        <a:t>Lost corporate laptop — data risk, containment and compliance notification</a:t>
                      </a:r>
                      <a:endParaRPr lang="en-US" sz="1500" dirty="0">
                        <a:latin typeface="Aptos" charset="0"/>
                        <a:ea typeface="Aptos" charset="0"/>
                        <a:cs typeface="Aptos" charset="0"/>
                      </a:endParaRPr>
                    </a:p>
                  </a:txBody>
                  <a:tcPr marL="91440" marR="91440" marT="91440" marB="91440"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EAF4FF"/>
                    </a:solidFill>
                  </a:tcPr>
                </a:tc>
              </a:tr>
              <a:tr h="566928">
                <a:tc>
                  <a:txBody>
                    <a:bodyPr/>
                    <a:lstStyle/>
                    <a:p>
                      <a:pPr indent="0" marL="0">
                        <a:buNone/>
                      </a:pPr>
                      <a:r>
                        <a:rPr lang="en-US" sz="1500" dirty="0">
                          <a:solidFill>
                            <a:srgbClr val="002050"/>
                          </a:solidFill>
                          <a:latin typeface="Aptos" pitchFamily="34" charset="0"/>
                          <a:ea typeface="Aptos" pitchFamily="34" charset="-122"/>
                          <a:cs typeface="Aptos" pitchFamily="34" charset="-120"/>
                        </a:rPr>
                        <a:t>3</a:t>
                      </a:r>
                      <a:endParaRPr lang="en-US" sz="1500" dirty="0">
                        <a:latin typeface="Aptos" charset="0"/>
                        <a:ea typeface="Aptos" charset="0"/>
                        <a:cs typeface="Aptos" charset="0"/>
                      </a:endParaRPr>
                    </a:p>
                  </a:txBody>
                  <a:tcPr marL="91440" marR="91440" marT="91440" marB="91440"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FFFFFF"/>
                    </a:solidFill>
                  </a:tcPr>
                </a:tc>
                <a:tc>
                  <a:txBody>
                    <a:bodyPr/>
                    <a:lstStyle/>
                    <a:p>
                      <a:pPr indent="0" marL="0">
                        <a:buNone/>
                      </a:pPr>
                      <a:r>
                        <a:rPr lang="en-US" sz="1500" dirty="0">
                          <a:solidFill>
                            <a:srgbClr val="002050"/>
                          </a:solidFill>
                          <a:latin typeface="Aptos" pitchFamily="34" charset="0"/>
                          <a:ea typeface="Aptos" pitchFamily="34" charset="-122"/>
                          <a:cs typeface="Aptos" pitchFamily="34" charset="-120"/>
                        </a:rPr>
                        <a:t>Investigation</a:t>
                      </a:r>
                      <a:endParaRPr lang="en-US" sz="1500" dirty="0">
                        <a:latin typeface="Aptos" charset="0"/>
                        <a:ea typeface="Aptos" charset="0"/>
                        <a:cs typeface="Aptos" charset="0"/>
                      </a:endParaRPr>
                    </a:p>
                  </a:txBody>
                  <a:tcPr marL="91440" marR="91440" marT="91440" marB="91440"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FFFFFF"/>
                    </a:solidFill>
                  </a:tcPr>
                </a:tc>
                <a:tc>
                  <a:txBody>
                    <a:bodyPr/>
                    <a:lstStyle/>
                    <a:p>
                      <a:pPr indent="0" marL="0">
                        <a:buNone/>
                      </a:pPr>
                      <a:r>
                        <a:rPr lang="en-US" sz="1500" dirty="0">
                          <a:solidFill>
                            <a:srgbClr val="002050"/>
                          </a:solidFill>
                          <a:latin typeface="Aptos" pitchFamily="34" charset="0"/>
                          <a:ea typeface="Aptos" pitchFamily="34" charset="-122"/>
                          <a:cs typeface="Aptos" pitchFamily="34" charset="-120"/>
                        </a:rPr>
                        <a:t>Repeated VPN disconnections — evidence, root cause and conclusion</a:t>
                      </a:r>
                      <a:endParaRPr lang="en-US" sz="1500" dirty="0">
                        <a:latin typeface="Aptos" charset="0"/>
                        <a:ea typeface="Aptos" charset="0"/>
                        <a:cs typeface="Aptos" charset="0"/>
                      </a:endParaRPr>
                    </a:p>
                  </a:txBody>
                  <a:tcPr marL="91440" marR="91440" marT="91440" marB="91440"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FFFFFF"/>
                    </a:solidFill>
                  </a:tcPr>
                </a:tc>
              </a:tr>
              <a:tr h="566928">
                <a:tc>
                  <a:txBody>
                    <a:bodyPr/>
                    <a:lstStyle/>
                    <a:p>
                      <a:pPr indent="0" marL="0">
                        <a:buNone/>
                      </a:pPr>
                      <a:r>
                        <a:rPr lang="en-US" sz="1500" dirty="0">
                          <a:solidFill>
                            <a:srgbClr val="002050"/>
                          </a:solidFill>
                          <a:latin typeface="Aptos" pitchFamily="34" charset="0"/>
                          <a:ea typeface="Aptos" pitchFamily="34" charset="-122"/>
                          <a:cs typeface="Aptos" pitchFamily="34" charset="-120"/>
                        </a:rPr>
                        <a:t>4</a:t>
                      </a:r>
                      <a:endParaRPr lang="en-US" sz="1500" dirty="0">
                        <a:latin typeface="Aptos" charset="0"/>
                        <a:ea typeface="Aptos" charset="0"/>
                        <a:cs typeface="Aptos" charset="0"/>
                      </a:endParaRPr>
                    </a:p>
                  </a:txBody>
                  <a:tcPr marL="91440" marR="91440" marT="91440" marB="91440"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EAF4FF"/>
                    </a:solidFill>
                  </a:tcPr>
                </a:tc>
                <a:tc>
                  <a:txBody>
                    <a:bodyPr/>
                    <a:lstStyle/>
                    <a:p>
                      <a:pPr indent="0" marL="0">
                        <a:buNone/>
                      </a:pPr>
                      <a:r>
                        <a:rPr lang="en-US" sz="1500" dirty="0">
                          <a:solidFill>
                            <a:srgbClr val="002050"/>
                          </a:solidFill>
                          <a:latin typeface="Aptos" pitchFamily="34" charset="0"/>
                          <a:ea typeface="Aptos" pitchFamily="34" charset="-122"/>
                          <a:cs typeface="Aptos" pitchFamily="34" charset="-120"/>
                        </a:rPr>
                        <a:t>Investigation</a:t>
                      </a:r>
                      <a:endParaRPr lang="en-US" sz="1500" dirty="0">
                        <a:latin typeface="Aptos" charset="0"/>
                        <a:ea typeface="Aptos" charset="0"/>
                        <a:cs typeface="Aptos" charset="0"/>
                      </a:endParaRPr>
                    </a:p>
                  </a:txBody>
                  <a:tcPr marL="91440" marR="91440" marT="91440" marB="91440"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EAF4FF"/>
                    </a:solidFill>
                  </a:tcPr>
                </a:tc>
                <a:tc>
                  <a:txBody>
                    <a:bodyPr/>
                    <a:lstStyle/>
                    <a:p>
                      <a:pPr indent="0" marL="0">
                        <a:buNone/>
                      </a:pPr>
                      <a:r>
                        <a:rPr lang="en-US" sz="1500" dirty="0">
                          <a:solidFill>
                            <a:srgbClr val="002050"/>
                          </a:solidFill>
                          <a:latin typeface="Aptos" pitchFamily="34" charset="0"/>
                          <a:ea typeface="Aptos" pitchFamily="34" charset="-122"/>
                          <a:cs typeface="Aptos" pitchFamily="34" charset="-120"/>
                        </a:rPr>
                        <a:t>Print-cost increase — data analysis, findings and controls</a:t>
                      </a:r>
                      <a:endParaRPr lang="en-US" sz="1500" dirty="0">
                        <a:latin typeface="Aptos" charset="0"/>
                        <a:ea typeface="Aptos" charset="0"/>
                        <a:cs typeface="Aptos" charset="0"/>
                      </a:endParaRPr>
                    </a:p>
                  </a:txBody>
                  <a:tcPr marL="91440" marR="91440" marT="91440" marB="91440"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EAF4FF"/>
                    </a:solidFill>
                  </a:tcPr>
                </a:tc>
              </a:tr>
              <a:tr h="566928">
                <a:tc>
                  <a:txBody>
                    <a:bodyPr/>
                    <a:lstStyle/>
                    <a:p>
                      <a:pPr indent="0" marL="0">
                        <a:buNone/>
                      </a:pPr>
                      <a:r>
                        <a:rPr lang="en-US" sz="1500" dirty="0">
                          <a:solidFill>
                            <a:srgbClr val="002050"/>
                          </a:solidFill>
                          <a:latin typeface="Aptos" pitchFamily="34" charset="0"/>
                          <a:ea typeface="Aptos" pitchFamily="34" charset="-122"/>
                          <a:cs typeface="Aptos" pitchFamily="34" charset="-120"/>
                        </a:rPr>
                        <a:t>5</a:t>
                      </a:r>
                      <a:endParaRPr lang="en-US" sz="1500" dirty="0">
                        <a:latin typeface="Aptos" charset="0"/>
                        <a:ea typeface="Aptos" charset="0"/>
                        <a:cs typeface="Aptos" charset="0"/>
                      </a:endParaRPr>
                    </a:p>
                  </a:txBody>
                  <a:tcPr marL="91440" marR="91440" marT="91440" marB="91440"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FFFFFF"/>
                    </a:solidFill>
                  </a:tcPr>
                </a:tc>
                <a:tc>
                  <a:txBody>
                    <a:bodyPr/>
                    <a:lstStyle/>
                    <a:p>
                      <a:pPr indent="0" marL="0">
                        <a:buNone/>
                      </a:pPr>
                      <a:r>
                        <a:rPr lang="en-US" sz="1500" dirty="0">
                          <a:solidFill>
                            <a:srgbClr val="002050"/>
                          </a:solidFill>
                          <a:latin typeface="Aptos" pitchFamily="34" charset="0"/>
                          <a:ea typeface="Aptos" pitchFamily="34" charset="-122"/>
                          <a:cs typeface="Aptos" pitchFamily="34" charset="-120"/>
                        </a:rPr>
                        <a:t>Project status</a:t>
                      </a:r>
                      <a:endParaRPr lang="en-US" sz="1500" dirty="0">
                        <a:latin typeface="Aptos" charset="0"/>
                        <a:ea typeface="Aptos" charset="0"/>
                        <a:cs typeface="Aptos" charset="0"/>
                      </a:endParaRPr>
                    </a:p>
                  </a:txBody>
                  <a:tcPr marL="91440" marR="91440" marT="91440" marB="91440"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FFFFFF"/>
                    </a:solidFill>
                  </a:tcPr>
                </a:tc>
                <a:tc>
                  <a:txBody>
                    <a:bodyPr/>
                    <a:lstStyle/>
                    <a:p>
                      <a:pPr indent="0" marL="0">
                        <a:buNone/>
                      </a:pPr>
                      <a:r>
                        <a:rPr lang="en-US" sz="1500" dirty="0">
                          <a:solidFill>
                            <a:srgbClr val="002050"/>
                          </a:solidFill>
                          <a:latin typeface="Aptos" pitchFamily="34" charset="0"/>
                          <a:ea typeface="Aptos" pitchFamily="34" charset="-122"/>
                          <a:cs typeface="Aptos" pitchFamily="34" charset="-120"/>
                        </a:rPr>
                        <a:t>Windows 11 pilot rollout — progress, risks, issues and next steps</a:t>
                      </a:r>
                      <a:endParaRPr lang="en-US" sz="1500" dirty="0">
                        <a:latin typeface="Aptos" charset="0"/>
                        <a:ea typeface="Aptos" charset="0"/>
                        <a:cs typeface="Aptos" charset="0"/>
                      </a:endParaRPr>
                    </a:p>
                  </a:txBody>
                  <a:tcPr marL="91440" marR="91440" marT="91440" marB="91440"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FFFFFF"/>
                    </a:solidFill>
                  </a:tcPr>
                </a:tc>
              </a:tr>
              <a:tr h="566928">
                <a:tc>
                  <a:txBody>
                    <a:bodyPr/>
                    <a:lstStyle/>
                    <a:p>
                      <a:pPr indent="0" marL="0">
                        <a:buNone/>
                      </a:pPr>
                      <a:r>
                        <a:rPr lang="en-US" sz="1500" dirty="0">
                          <a:solidFill>
                            <a:srgbClr val="002050"/>
                          </a:solidFill>
                          <a:latin typeface="Aptos" pitchFamily="34" charset="0"/>
                          <a:ea typeface="Aptos" pitchFamily="34" charset="-122"/>
                          <a:cs typeface="Aptos" pitchFamily="34" charset="-120"/>
                        </a:rPr>
                        <a:t>6</a:t>
                      </a:r>
                      <a:endParaRPr lang="en-US" sz="1500" dirty="0">
                        <a:latin typeface="Aptos" charset="0"/>
                        <a:ea typeface="Aptos" charset="0"/>
                        <a:cs typeface="Aptos" charset="0"/>
                      </a:endParaRPr>
                    </a:p>
                  </a:txBody>
                  <a:tcPr marL="91440" marR="91440" marT="91440" marB="91440"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EAF4FF"/>
                    </a:solidFill>
                  </a:tcPr>
                </a:tc>
                <a:tc>
                  <a:txBody>
                    <a:bodyPr/>
                    <a:lstStyle/>
                    <a:p>
                      <a:pPr indent="0" marL="0">
                        <a:buNone/>
                      </a:pPr>
                      <a:r>
                        <a:rPr lang="en-US" sz="1500" dirty="0">
                          <a:solidFill>
                            <a:srgbClr val="002050"/>
                          </a:solidFill>
                          <a:latin typeface="Aptos" pitchFamily="34" charset="0"/>
                          <a:ea typeface="Aptos" pitchFamily="34" charset="-122"/>
                          <a:cs typeface="Aptos" pitchFamily="34" charset="-120"/>
                        </a:rPr>
                        <a:t>Project status</a:t>
                      </a:r>
                      <a:endParaRPr lang="en-US" sz="1500" dirty="0">
                        <a:latin typeface="Aptos" charset="0"/>
                        <a:ea typeface="Aptos" charset="0"/>
                        <a:cs typeface="Aptos" charset="0"/>
                      </a:endParaRPr>
                    </a:p>
                  </a:txBody>
                  <a:tcPr marL="91440" marR="91440" marT="91440" marB="91440"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EAF4FF"/>
                    </a:solidFill>
                  </a:tcPr>
                </a:tc>
                <a:tc>
                  <a:txBody>
                    <a:bodyPr/>
                    <a:lstStyle/>
                    <a:p>
                      <a:pPr indent="0" marL="0">
                        <a:buNone/>
                      </a:pPr>
                      <a:r>
                        <a:rPr lang="en-US" sz="1500" dirty="0">
                          <a:solidFill>
                            <a:srgbClr val="002050"/>
                          </a:solidFill>
                          <a:latin typeface="Aptos" pitchFamily="34" charset="0"/>
                          <a:ea typeface="Aptos" pitchFamily="34" charset="-122"/>
                          <a:cs typeface="Aptos" pitchFamily="34" charset="-120"/>
                        </a:rPr>
                        <a:t>Branch Wi-Fi upgrade — milestone status and blockers</a:t>
                      </a:r>
                      <a:endParaRPr lang="en-US" sz="1500" dirty="0">
                        <a:latin typeface="Aptos" charset="0"/>
                        <a:ea typeface="Aptos" charset="0"/>
                        <a:cs typeface="Aptos" charset="0"/>
                      </a:endParaRPr>
                    </a:p>
                  </a:txBody>
                  <a:tcPr marL="91440" marR="91440" marT="91440" marB="91440"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EAF4FF"/>
                    </a:solidFill>
                  </a:tcPr>
                </a:tc>
              </a:tr>
              <a:tr h="566928">
                <a:tc>
                  <a:txBody>
                    <a:bodyPr/>
                    <a:lstStyle/>
                    <a:p>
                      <a:pPr indent="0" marL="0">
                        <a:buNone/>
                      </a:pPr>
                      <a:r>
                        <a:rPr lang="en-US" sz="1500" dirty="0">
                          <a:solidFill>
                            <a:srgbClr val="002050"/>
                          </a:solidFill>
                          <a:latin typeface="Aptos" pitchFamily="34" charset="0"/>
                          <a:ea typeface="Aptos" pitchFamily="34" charset="-122"/>
                          <a:cs typeface="Aptos" pitchFamily="34" charset="-120"/>
                        </a:rPr>
                        <a:t>7</a:t>
                      </a:r>
                      <a:endParaRPr lang="en-US" sz="1500" dirty="0">
                        <a:latin typeface="Aptos" charset="0"/>
                        <a:ea typeface="Aptos" charset="0"/>
                        <a:cs typeface="Aptos" charset="0"/>
                      </a:endParaRPr>
                    </a:p>
                  </a:txBody>
                  <a:tcPr marL="91440" marR="91440" marT="91440" marB="91440"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FFFFFF"/>
                    </a:solidFill>
                  </a:tcPr>
                </a:tc>
                <a:tc>
                  <a:txBody>
                    <a:bodyPr/>
                    <a:lstStyle/>
                    <a:p>
                      <a:pPr indent="0" marL="0">
                        <a:buNone/>
                      </a:pPr>
                      <a:r>
                        <a:rPr lang="en-US" sz="1500" dirty="0">
                          <a:solidFill>
                            <a:srgbClr val="002050"/>
                          </a:solidFill>
                          <a:latin typeface="Aptos" pitchFamily="34" charset="0"/>
                          <a:ea typeface="Aptos" pitchFamily="34" charset="-122"/>
                          <a:cs typeface="Aptos" pitchFamily="34" charset="-120"/>
                        </a:rPr>
                        <a:t>Recommendation</a:t>
                      </a:r>
                      <a:endParaRPr lang="en-US" sz="1500" dirty="0">
                        <a:latin typeface="Aptos" charset="0"/>
                        <a:ea typeface="Aptos" charset="0"/>
                        <a:cs typeface="Aptos" charset="0"/>
                      </a:endParaRPr>
                    </a:p>
                  </a:txBody>
                  <a:tcPr marL="91440" marR="91440" marT="91440" marB="91440"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FFFFFF"/>
                    </a:solidFill>
                  </a:tcPr>
                </a:tc>
                <a:tc>
                  <a:txBody>
                    <a:bodyPr/>
                    <a:lstStyle/>
                    <a:p>
                      <a:pPr indent="0" marL="0">
                        <a:buNone/>
                      </a:pPr>
                      <a:r>
                        <a:rPr lang="en-US" sz="1500" dirty="0">
                          <a:solidFill>
                            <a:srgbClr val="002050"/>
                          </a:solidFill>
                          <a:latin typeface="Aptos" pitchFamily="34" charset="0"/>
                          <a:ea typeface="Aptos" pitchFamily="34" charset="-122"/>
                          <a:cs typeface="Aptos" pitchFamily="34" charset="-120"/>
                        </a:rPr>
                        <a:t>Service desk knowledge base — proposed solution, cost and decision needed</a:t>
                      </a:r>
                      <a:endParaRPr lang="en-US" sz="1500" dirty="0">
                        <a:latin typeface="Aptos" charset="0"/>
                        <a:ea typeface="Aptos" charset="0"/>
                        <a:cs typeface="Aptos" charset="0"/>
                      </a:endParaRPr>
                    </a:p>
                  </a:txBody>
                  <a:tcPr marL="91440" marR="91440" marT="91440" marB="91440"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6473952"/>
            <a:ext cx="10268712" cy="274320"/>
          </a:xfrm>
          <a:prstGeom prst="rect">
            <a:avLst/>
          </a:prstGeom>
          <a:noFill/>
          <a:ln/>
        </p:spPr>
        <p:txBody>
          <a:bodyPr wrap="square" rtlCol="0" anchor="ctr"/>
          <a:lstStyle/>
          <a:p>
            <a:pPr indent="0" marL="0">
              <a:buNone/>
            </a:pPr>
            <a:r>
              <a:rPr lang="en-US" sz="1000" dirty="0">
                <a:solidFill>
                  <a:srgbClr val="6B7280"/>
                </a:solidFill>
                <a:latin typeface="Aptos" pitchFamily="34" charset="0"/>
                <a:ea typeface="Aptos" pitchFamily="34" charset="-122"/>
                <a:cs typeface="Aptos" pitchFamily="34" charset="-120"/>
              </a:rPr>
              <a:t>Unit Standard 8252 — Writing Business Reports   ·   Investec IT Systems Support NQF 5</a:t>
            </a:r>
            <a:endParaRPr lang="en-US" sz="1000" dirty="0"/>
          </a:p>
        </p:txBody>
      </p:sp>
      <p:sp>
        <p:nvSpPr>
          <p:cNvPr id="3" name="Text 1"/>
          <p:cNvSpPr/>
          <p:nvPr/>
        </p:nvSpPr>
        <p:spPr>
          <a:xfrm>
            <a:off x="11137392" y="6473952"/>
            <a:ext cx="548640" cy="274320"/>
          </a:xfrm>
          <a:prstGeom prst="rect">
            <a:avLst/>
          </a:prstGeom>
          <a:noFill/>
          <a:ln/>
        </p:spPr>
        <p:txBody>
          <a:bodyPr wrap="square" rtlCol="0" anchor="ctr"/>
          <a:lstStyle/>
          <a:p>
            <a:pPr algn="r" indent="0" marL="0">
              <a:buNone/>
            </a:pPr>
            <a:r>
              <a:rPr lang="en-US" sz="1000" dirty="0">
                <a:solidFill>
                  <a:srgbClr val="6B7280"/>
                </a:solidFill>
                <a:latin typeface="Aptos" pitchFamily="34" charset="0"/>
                <a:ea typeface="Aptos" pitchFamily="34" charset="-122"/>
                <a:cs typeface="Aptos" pitchFamily="34" charset="-120"/>
              </a:rPr>
              <a:t>24</a:t>
            </a:r>
            <a:endParaRPr lang="en-US" sz="1000" dirty="0"/>
          </a:p>
        </p:txBody>
      </p:sp>
      <p:sp>
        <p:nvSpPr>
          <p:cNvPr id="4" name="Shape 2"/>
          <p:cNvSpPr/>
          <p:nvPr/>
        </p:nvSpPr>
        <p:spPr>
          <a:xfrm>
            <a:off x="0" y="0"/>
            <a:ext cx="12188952" cy="82296"/>
          </a:xfrm>
          <a:prstGeom prst="rect">
            <a:avLst/>
          </a:prstGeom>
          <a:solidFill>
            <a:srgbClr val="0F6CBD"/>
          </a:solidFill>
          <a:ln/>
        </p:spPr>
      </p:sp>
      <p:sp>
        <p:nvSpPr>
          <p:cNvPr id="5" name="Text 3"/>
          <p:cNvSpPr/>
          <p:nvPr/>
        </p:nvSpPr>
        <p:spPr>
          <a:xfrm>
            <a:off x="502920" y="256032"/>
            <a:ext cx="11183112" cy="347472"/>
          </a:xfrm>
          <a:prstGeom prst="rect">
            <a:avLst/>
          </a:prstGeom>
          <a:noFill/>
          <a:ln/>
        </p:spPr>
        <p:txBody>
          <a:bodyPr wrap="square" rtlCol="0" anchor="ctr"/>
          <a:lstStyle/>
          <a:p>
            <a:pPr indent="0" marL="0">
              <a:buNone/>
            </a:pPr>
            <a:r>
              <a:rPr lang="en-US" sz="1400" b="1" spc="200" kern="0" dirty="0">
                <a:solidFill>
                  <a:srgbClr val="0F6CBD"/>
                </a:solidFill>
                <a:latin typeface="Aptos" pitchFamily="34" charset="0"/>
                <a:ea typeface="Aptos" pitchFamily="34" charset="-122"/>
                <a:cs typeface="Aptos" pitchFamily="34" charset="-120"/>
              </a:rPr>
              <a:t>WORKED EXAMPLES · INCIDENT</a:t>
            </a:r>
            <a:endParaRPr lang="en-US" sz="1400" dirty="0"/>
          </a:p>
        </p:txBody>
      </p:sp>
      <p:sp>
        <p:nvSpPr>
          <p:cNvPr id="6" name="Text 4"/>
          <p:cNvSpPr/>
          <p:nvPr/>
        </p:nvSpPr>
        <p:spPr>
          <a:xfrm>
            <a:off x="502920" y="585216"/>
            <a:ext cx="11183112" cy="786384"/>
          </a:xfrm>
          <a:prstGeom prst="rect">
            <a:avLst/>
          </a:prstGeom>
          <a:noFill/>
          <a:ln/>
        </p:spPr>
        <p:txBody>
          <a:bodyPr wrap="square" rtlCol="0" anchor="ctr"/>
          <a:lstStyle/>
          <a:p>
            <a:pPr indent="0" marL="0">
              <a:buNone/>
            </a:pPr>
            <a:r>
              <a:rPr lang="en-US" sz="3400" b="1" dirty="0">
                <a:solidFill>
                  <a:srgbClr val="002050"/>
                </a:solidFill>
                <a:latin typeface="Aptos Display" pitchFamily="34" charset="0"/>
                <a:ea typeface="Aptos Display" pitchFamily="34" charset="-122"/>
                <a:cs typeface="Aptos Display" pitchFamily="34" charset="-120"/>
              </a:rPr>
              <a:t>Sample Incident Reports</a:t>
            </a:r>
            <a:endParaRPr lang="en-US" sz="3400" dirty="0"/>
          </a:p>
        </p:txBody>
      </p:sp>
      <p:sp>
        <p:nvSpPr>
          <p:cNvPr id="7" name="Text 5"/>
          <p:cNvSpPr/>
          <p:nvPr/>
        </p:nvSpPr>
        <p:spPr>
          <a:xfrm>
            <a:off x="502920" y="1417320"/>
            <a:ext cx="11183112" cy="411480"/>
          </a:xfrm>
          <a:prstGeom prst="rect">
            <a:avLst/>
          </a:prstGeom>
          <a:noFill/>
          <a:ln/>
        </p:spPr>
        <p:txBody>
          <a:bodyPr wrap="square" rtlCol="0" anchor="ctr"/>
          <a:lstStyle/>
          <a:p>
            <a:pPr indent="0" marL="0">
              <a:buNone/>
            </a:pPr>
            <a:r>
              <a:rPr lang="en-US" sz="1650" dirty="0">
                <a:solidFill>
                  <a:srgbClr val="6B7280"/>
                </a:solidFill>
                <a:latin typeface="Aptos" pitchFamily="34" charset="0"/>
                <a:ea typeface="Aptos" pitchFamily="34" charset="-122"/>
                <a:cs typeface="Aptos" pitchFamily="34" charset="-120"/>
              </a:rPr>
              <a:t>Incident reports answer: What happened, who was affected, what immediate action was taken and what must happen next?</a:t>
            </a:r>
            <a:endParaRPr lang="en-US" sz="1650" dirty="0"/>
          </a:p>
        </p:txBody>
      </p:sp>
      <p:sp>
        <p:nvSpPr>
          <p:cNvPr id="8" name="Shape 6"/>
          <p:cNvSpPr/>
          <p:nvPr/>
        </p:nvSpPr>
        <p:spPr>
          <a:xfrm>
            <a:off x="502920" y="1965960"/>
            <a:ext cx="11183112" cy="2011680"/>
          </a:xfrm>
          <a:prstGeom prst="roundRect">
            <a:avLst>
              <a:gd name="adj" fmla="val 4091"/>
            </a:avLst>
          </a:prstGeom>
          <a:solidFill>
            <a:srgbClr val="FFFFFF"/>
          </a:solidFill>
          <a:ln w="12700">
            <a:solidFill>
              <a:srgbClr val="D5E3F2"/>
            </a:solidFill>
            <a:prstDash val="solid"/>
          </a:ln>
          <a:effectLst>
            <a:outerShdw sx="100000" sy="100000" kx="0" ky="0" algn="bl" rotWithShape="0" blurRad="88900" dist="25400" dir="5400000">
              <a:srgbClr val="9AB4CC">
                <a:alpha val="30000"/>
              </a:srgbClr>
            </a:outerShdw>
          </a:effectLst>
        </p:spPr>
      </p:sp>
      <p:sp>
        <p:nvSpPr>
          <p:cNvPr id="9" name="Shape 7"/>
          <p:cNvSpPr/>
          <p:nvPr/>
        </p:nvSpPr>
        <p:spPr>
          <a:xfrm>
            <a:off x="502920" y="1965960"/>
            <a:ext cx="82296" cy="2011680"/>
          </a:xfrm>
          <a:prstGeom prst="rect">
            <a:avLst/>
          </a:prstGeom>
          <a:solidFill>
            <a:srgbClr val="0F6CBD"/>
          </a:solidFill>
          <a:ln/>
        </p:spPr>
      </p:sp>
      <p:pic>
        <p:nvPicPr>
          <p:cNvPr id="10"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58952" y="2167128"/>
            <a:ext cx="384048" cy="384048"/>
          </a:xfrm>
          <a:prstGeom prst="rect">
            <a:avLst/>
          </a:prstGeom>
        </p:spPr>
      </p:pic>
      <p:sp>
        <p:nvSpPr>
          <p:cNvPr id="11" name="Text 8"/>
          <p:cNvSpPr/>
          <p:nvPr/>
        </p:nvSpPr>
        <p:spPr>
          <a:xfrm>
            <a:off x="1325880" y="2093976"/>
            <a:ext cx="10085832" cy="1783080"/>
          </a:xfrm>
          <a:prstGeom prst="rect">
            <a:avLst/>
          </a:prstGeom>
          <a:noFill/>
          <a:ln/>
        </p:spPr>
        <p:txBody>
          <a:bodyPr wrap="square" rtlCol="0" anchor="t"/>
          <a:lstStyle/>
          <a:p>
            <a:pPr indent="0" marL="0">
              <a:lnSpc>
                <a:spcPct val="110000"/>
              </a:lnSpc>
              <a:buNone/>
            </a:pPr>
            <a:r>
              <a:rPr lang="en-US" sz="1900" b="1" dirty="0">
                <a:solidFill>
                  <a:srgbClr val="002050"/>
                </a:solidFill>
                <a:latin typeface="Aptos Display" pitchFamily="34" charset="0"/>
                <a:ea typeface="Aptos Display" pitchFamily="34" charset="-122"/>
                <a:cs typeface="Aptos Display" pitchFamily="34" charset="-120"/>
              </a:rPr>
              <a:t>Online Banking login outage
</a:t>
            </a:r>
            <a:pPr indent="0" marL="0">
              <a:lnSpc>
                <a:spcPct val="110000"/>
              </a:lnSpc>
              <a:buNone/>
            </a:pPr>
            <a:r>
              <a:rPr lang="en-US" sz="1550" dirty="0">
                <a:solidFill>
                  <a:srgbClr val="002050"/>
                </a:solidFill>
                <a:latin typeface="Aptos" pitchFamily="34" charset="0"/>
                <a:ea typeface="Aptos" pitchFamily="34" charset="-122"/>
                <a:cs typeface="Aptos" pitchFamily="34" charset="-120"/>
              </a:rPr>
              <a:t>At 09:12 on 6 August 2026, monitoring reported elevated login failures. About 18% of attempted logins failed until 09:47 and the Service Desk logged 43 related calls. Action: escalate to Digital Channels Support, publish an internal advisory and monitor recovery after the authentication node restart.</a:t>
            </a:r>
            <a:endParaRPr lang="en-US" sz="1900" dirty="0"/>
          </a:p>
        </p:txBody>
      </p:sp>
      <p:sp>
        <p:nvSpPr>
          <p:cNvPr id="12" name="Shape 9"/>
          <p:cNvSpPr/>
          <p:nvPr/>
        </p:nvSpPr>
        <p:spPr>
          <a:xfrm>
            <a:off x="502920" y="4160520"/>
            <a:ext cx="11183112" cy="2011680"/>
          </a:xfrm>
          <a:prstGeom prst="roundRect">
            <a:avLst>
              <a:gd name="adj" fmla="val 4091"/>
            </a:avLst>
          </a:prstGeom>
          <a:solidFill>
            <a:srgbClr val="EAF4FF"/>
          </a:solidFill>
          <a:ln w="12700">
            <a:solidFill>
              <a:srgbClr val="D5E3F2"/>
            </a:solidFill>
            <a:prstDash val="solid"/>
          </a:ln>
          <a:effectLst>
            <a:outerShdw sx="100000" sy="100000" kx="0" ky="0" algn="bl" rotWithShape="0" blurRad="88900" dist="25400" dir="5400000">
              <a:srgbClr val="9AB4CC">
                <a:alpha val="30000"/>
              </a:srgbClr>
            </a:outerShdw>
          </a:effectLst>
        </p:spPr>
      </p:sp>
      <p:sp>
        <p:nvSpPr>
          <p:cNvPr id="13" name="Shape 10"/>
          <p:cNvSpPr/>
          <p:nvPr/>
        </p:nvSpPr>
        <p:spPr>
          <a:xfrm>
            <a:off x="502920" y="4160520"/>
            <a:ext cx="82296" cy="2011680"/>
          </a:xfrm>
          <a:prstGeom prst="rect">
            <a:avLst/>
          </a:prstGeom>
          <a:solidFill>
            <a:srgbClr val="0F6CBD"/>
          </a:solidFill>
          <a:ln/>
        </p:spPr>
      </p:sp>
      <p:pic>
        <p:nvPicPr>
          <p:cNvPr id="14"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58952" y="4361688"/>
            <a:ext cx="384048" cy="384048"/>
          </a:xfrm>
          <a:prstGeom prst="rect">
            <a:avLst/>
          </a:prstGeom>
        </p:spPr>
      </p:pic>
      <p:sp>
        <p:nvSpPr>
          <p:cNvPr id="15" name="Text 11"/>
          <p:cNvSpPr/>
          <p:nvPr/>
        </p:nvSpPr>
        <p:spPr>
          <a:xfrm>
            <a:off x="1325880" y="4288536"/>
            <a:ext cx="10085832" cy="1783080"/>
          </a:xfrm>
          <a:prstGeom prst="rect">
            <a:avLst/>
          </a:prstGeom>
          <a:noFill/>
          <a:ln/>
        </p:spPr>
        <p:txBody>
          <a:bodyPr wrap="square" rtlCol="0" anchor="t"/>
          <a:lstStyle/>
          <a:p>
            <a:pPr indent="0" marL="0">
              <a:lnSpc>
                <a:spcPct val="110000"/>
              </a:lnSpc>
              <a:buNone/>
            </a:pPr>
            <a:r>
              <a:rPr lang="en-US" sz="1900" b="1" dirty="0">
                <a:solidFill>
                  <a:srgbClr val="002050"/>
                </a:solidFill>
                <a:latin typeface="Aptos Display" pitchFamily="34" charset="0"/>
                <a:ea typeface="Aptos Display" pitchFamily="34" charset="-122"/>
                <a:cs typeface="Aptos Display" pitchFamily="34" charset="-120"/>
              </a:rPr>
              <a:t>Lost corporate laptop
</a:t>
            </a:r>
            <a:pPr indent="0" marL="0">
              <a:lnSpc>
                <a:spcPct val="110000"/>
              </a:lnSpc>
              <a:buNone/>
            </a:pPr>
            <a:r>
              <a:rPr lang="en-US" sz="1550" dirty="0">
                <a:solidFill>
                  <a:srgbClr val="002050"/>
                </a:solidFill>
                <a:latin typeface="Aptos" pitchFamily="34" charset="0"/>
                <a:ea typeface="Aptos" pitchFamily="34" charset="-122"/>
                <a:cs typeface="Aptos" pitchFamily="34" charset="-120"/>
              </a:rPr>
              <a:t>A Relationship Manager reported a lost encrypted laptop at 17:40 on 12 August 2026. IT Security initiated remote lock and wipe, disabled cached sessions and opened a compliance notification ticket. Follow-up: manager sign-off, replacement device and travel security refresher.</a:t>
            </a:r>
            <a:endParaRPr lang="en-US" sz="1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6473952"/>
            <a:ext cx="10268712" cy="274320"/>
          </a:xfrm>
          <a:prstGeom prst="rect">
            <a:avLst/>
          </a:prstGeom>
          <a:noFill/>
          <a:ln/>
        </p:spPr>
        <p:txBody>
          <a:bodyPr wrap="square" rtlCol="0" anchor="ctr"/>
          <a:lstStyle/>
          <a:p>
            <a:pPr indent="0" marL="0">
              <a:buNone/>
            </a:pPr>
            <a:r>
              <a:rPr lang="en-US" sz="1000" dirty="0">
                <a:solidFill>
                  <a:srgbClr val="6B7280"/>
                </a:solidFill>
                <a:latin typeface="Aptos" pitchFamily="34" charset="0"/>
                <a:ea typeface="Aptos" pitchFamily="34" charset="-122"/>
                <a:cs typeface="Aptos" pitchFamily="34" charset="-120"/>
              </a:rPr>
              <a:t>Unit Standard 8252 — Writing Business Reports   ·   Investec IT Systems Support NQF 5</a:t>
            </a:r>
            <a:endParaRPr lang="en-US" sz="1000" dirty="0"/>
          </a:p>
        </p:txBody>
      </p:sp>
      <p:sp>
        <p:nvSpPr>
          <p:cNvPr id="3" name="Text 1"/>
          <p:cNvSpPr/>
          <p:nvPr/>
        </p:nvSpPr>
        <p:spPr>
          <a:xfrm>
            <a:off x="11137392" y="6473952"/>
            <a:ext cx="548640" cy="274320"/>
          </a:xfrm>
          <a:prstGeom prst="rect">
            <a:avLst/>
          </a:prstGeom>
          <a:noFill/>
          <a:ln/>
        </p:spPr>
        <p:txBody>
          <a:bodyPr wrap="square" rtlCol="0" anchor="ctr"/>
          <a:lstStyle/>
          <a:p>
            <a:pPr algn="r" indent="0" marL="0">
              <a:buNone/>
            </a:pPr>
            <a:r>
              <a:rPr lang="en-US" sz="1000" dirty="0">
                <a:solidFill>
                  <a:srgbClr val="6B7280"/>
                </a:solidFill>
                <a:latin typeface="Aptos" pitchFamily="34" charset="0"/>
                <a:ea typeface="Aptos" pitchFamily="34" charset="-122"/>
                <a:cs typeface="Aptos" pitchFamily="34" charset="-120"/>
              </a:rPr>
              <a:t>25</a:t>
            </a:r>
            <a:endParaRPr lang="en-US" sz="1000" dirty="0"/>
          </a:p>
        </p:txBody>
      </p:sp>
      <p:sp>
        <p:nvSpPr>
          <p:cNvPr id="4" name="Shape 2"/>
          <p:cNvSpPr/>
          <p:nvPr/>
        </p:nvSpPr>
        <p:spPr>
          <a:xfrm>
            <a:off x="0" y="0"/>
            <a:ext cx="12188952" cy="82296"/>
          </a:xfrm>
          <a:prstGeom prst="rect">
            <a:avLst/>
          </a:prstGeom>
          <a:solidFill>
            <a:srgbClr val="0F6CBD"/>
          </a:solidFill>
          <a:ln/>
        </p:spPr>
      </p:sp>
      <p:sp>
        <p:nvSpPr>
          <p:cNvPr id="5" name="Text 3"/>
          <p:cNvSpPr/>
          <p:nvPr/>
        </p:nvSpPr>
        <p:spPr>
          <a:xfrm>
            <a:off x="502920" y="256032"/>
            <a:ext cx="11183112" cy="347472"/>
          </a:xfrm>
          <a:prstGeom prst="rect">
            <a:avLst/>
          </a:prstGeom>
          <a:noFill/>
          <a:ln/>
        </p:spPr>
        <p:txBody>
          <a:bodyPr wrap="square" rtlCol="0" anchor="ctr"/>
          <a:lstStyle/>
          <a:p>
            <a:pPr indent="0" marL="0">
              <a:buNone/>
            </a:pPr>
            <a:r>
              <a:rPr lang="en-US" sz="1400" b="1" spc="200" kern="0" dirty="0">
                <a:solidFill>
                  <a:srgbClr val="0F6CBD"/>
                </a:solidFill>
                <a:latin typeface="Aptos" pitchFamily="34" charset="0"/>
                <a:ea typeface="Aptos" pitchFamily="34" charset="-122"/>
                <a:cs typeface="Aptos" pitchFamily="34" charset="-120"/>
              </a:rPr>
              <a:t>WORKED EXAMPLES · INVESTIGATION</a:t>
            </a:r>
            <a:endParaRPr lang="en-US" sz="1400" dirty="0"/>
          </a:p>
        </p:txBody>
      </p:sp>
      <p:sp>
        <p:nvSpPr>
          <p:cNvPr id="6" name="Text 4"/>
          <p:cNvSpPr/>
          <p:nvPr/>
        </p:nvSpPr>
        <p:spPr>
          <a:xfrm>
            <a:off x="502920" y="585216"/>
            <a:ext cx="11183112" cy="786384"/>
          </a:xfrm>
          <a:prstGeom prst="rect">
            <a:avLst/>
          </a:prstGeom>
          <a:noFill/>
          <a:ln/>
        </p:spPr>
        <p:txBody>
          <a:bodyPr wrap="square" rtlCol="0" anchor="ctr"/>
          <a:lstStyle/>
          <a:p>
            <a:pPr indent="0" marL="0">
              <a:buNone/>
            </a:pPr>
            <a:r>
              <a:rPr lang="en-US" sz="3400" b="1" dirty="0">
                <a:solidFill>
                  <a:srgbClr val="002050"/>
                </a:solidFill>
                <a:latin typeface="Aptos Display" pitchFamily="34" charset="0"/>
                <a:ea typeface="Aptos Display" pitchFamily="34" charset="-122"/>
                <a:cs typeface="Aptos Display" pitchFamily="34" charset="-120"/>
              </a:rPr>
              <a:t>Sample Investigation Reports</a:t>
            </a:r>
            <a:endParaRPr lang="en-US" sz="3400" dirty="0"/>
          </a:p>
        </p:txBody>
      </p:sp>
      <p:sp>
        <p:nvSpPr>
          <p:cNvPr id="7" name="Text 5"/>
          <p:cNvSpPr/>
          <p:nvPr/>
        </p:nvSpPr>
        <p:spPr>
          <a:xfrm>
            <a:off x="502920" y="1417320"/>
            <a:ext cx="11183112" cy="411480"/>
          </a:xfrm>
          <a:prstGeom prst="rect">
            <a:avLst/>
          </a:prstGeom>
          <a:noFill/>
          <a:ln/>
        </p:spPr>
        <p:txBody>
          <a:bodyPr wrap="square" rtlCol="0" anchor="ctr"/>
          <a:lstStyle/>
          <a:p>
            <a:pPr indent="0" marL="0">
              <a:buNone/>
            </a:pPr>
            <a:r>
              <a:rPr lang="en-US" sz="1650" dirty="0">
                <a:solidFill>
                  <a:srgbClr val="6B7280"/>
                </a:solidFill>
                <a:latin typeface="Aptos" pitchFamily="34" charset="0"/>
                <a:ea typeface="Aptos" pitchFamily="34" charset="-122"/>
                <a:cs typeface="Aptos" pitchFamily="34" charset="-120"/>
              </a:rPr>
              <a:t>Investigation reports answer: What evidence was gathered, what caused the problem and what conclusion is supported by the facts?</a:t>
            </a:r>
            <a:endParaRPr lang="en-US" sz="1650" dirty="0"/>
          </a:p>
        </p:txBody>
      </p:sp>
      <p:sp>
        <p:nvSpPr>
          <p:cNvPr id="8" name="Shape 6"/>
          <p:cNvSpPr/>
          <p:nvPr/>
        </p:nvSpPr>
        <p:spPr>
          <a:xfrm>
            <a:off x="502920" y="1965960"/>
            <a:ext cx="11183112" cy="2011680"/>
          </a:xfrm>
          <a:prstGeom prst="roundRect">
            <a:avLst>
              <a:gd name="adj" fmla="val 4091"/>
            </a:avLst>
          </a:prstGeom>
          <a:solidFill>
            <a:srgbClr val="FFFFFF"/>
          </a:solidFill>
          <a:ln w="12700">
            <a:solidFill>
              <a:srgbClr val="D5E3F2"/>
            </a:solidFill>
            <a:prstDash val="solid"/>
          </a:ln>
          <a:effectLst>
            <a:outerShdw sx="100000" sy="100000" kx="0" ky="0" algn="bl" rotWithShape="0" blurRad="88900" dist="25400" dir="5400000">
              <a:srgbClr val="9AB4CC">
                <a:alpha val="30000"/>
              </a:srgbClr>
            </a:outerShdw>
          </a:effectLst>
        </p:spPr>
      </p:sp>
      <p:sp>
        <p:nvSpPr>
          <p:cNvPr id="9" name="Shape 7"/>
          <p:cNvSpPr/>
          <p:nvPr/>
        </p:nvSpPr>
        <p:spPr>
          <a:xfrm>
            <a:off x="502920" y="1965960"/>
            <a:ext cx="82296" cy="2011680"/>
          </a:xfrm>
          <a:prstGeom prst="rect">
            <a:avLst/>
          </a:prstGeom>
          <a:solidFill>
            <a:srgbClr val="0F6CBD"/>
          </a:solidFill>
          <a:ln/>
        </p:spPr>
      </p:sp>
      <p:pic>
        <p:nvPicPr>
          <p:cNvPr id="10"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58952" y="2167128"/>
            <a:ext cx="384048" cy="384048"/>
          </a:xfrm>
          <a:prstGeom prst="rect">
            <a:avLst/>
          </a:prstGeom>
        </p:spPr>
      </p:pic>
      <p:sp>
        <p:nvSpPr>
          <p:cNvPr id="11" name="Text 8"/>
          <p:cNvSpPr/>
          <p:nvPr/>
        </p:nvSpPr>
        <p:spPr>
          <a:xfrm>
            <a:off x="1325880" y="2093976"/>
            <a:ext cx="10085832" cy="1783080"/>
          </a:xfrm>
          <a:prstGeom prst="rect">
            <a:avLst/>
          </a:prstGeom>
          <a:noFill/>
          <a:ln/>
        </p:spPr>
        <p:txBody>
          <a:bodyPr wrap="square" rtlCol="0" anchor="t"/>
          <a:lstStyle/>
          <a:p>
            <a:pPr indent="0" marL="0">
              <a:lnSpc>
                <a:spcPct val="110000"/>
              </a:lnSpc>
              <a:buNone/>
            </a:pPr>
            <a:r>
              <a:rPr lang="en-US" sz="1900" b="1" dirty="0">
                <a:solidFill>
                  <a:srgbClr val="002050"/>
                </a:solidFill>
                <a:latin typeface="Aptos Display" pitchFamily="34" charset="0"/>
                <a:ea typeface="Aptos Display" pitchFamily="34" charset="-122"/>
                <a:cs typeface="Aptos Display" pitchFamily="34" charset="-120"/>
              </a:rPr>
              <a:t>Repeated VPN disconnections
</a:t>
            </a:r>
            <a:pPr indent="0" marL="0">
              <a:lnSpc>
                <a:spcPct val="110000"/>
              </a:lnSpc>
              <a:buNone/>
            </a:pPr>
            <a:r>
              <a:rPr lang="en-US" sz="1550" dirty="0">
                <a:solidFill>
                  <a:srgbClr val="002050"/>
                </a:solidFill>
                <a:latin typeface="Aptos" pitchFamily="34" charset="0"/>
                <a:ea typeface="Aptos" pitchFamily="34" charset="-122"/>
                <a:cs typeface="Aptos" pitchFamily="34" charset="-120"/>
              </a:rPr>
              <a:t>Review of 28 VPN tickets, firewall logs, endpoint versions and interviews showed that affected laptops were running an outdated VPN client after a staged update failed on one device group. Conclusion: the root cause was incomplete deployment validation.</a:t>
            </a:r>
            <a:endParaRPr lang="en-US" sz="1900" dirty="0"/>
          </a:p>
        </p:txBody>
      </p:sp>
      <p:sp>
        <p:nvSpPr>
          <p:cNvPr id="12" name="Shape 9"/>
          <p:cNvSpPr/>
          <p:nvPr/>
        </p:nvSpPr>
        <p:spPr>
          <a:xfrm>
            <a:off x="502920" y="4160520"/>
            <a:ext cx="11183112" cy="2011680"/>
          </a:xfrm>
          <a:prstGeom prst="roundRect">
            <a:avLst>
              <a:gd name="adj" fmla="val 4091"/>
            </a:avLst>
          </a:prstGeom>
          <a:solidFill>
            <a:srgbClr val="EAF4FF"/>
          </a:solidFill>
          <a:ln w="12700">
            <a:solidFill>
              <a:srgbClr val="D5E3F2"/>
            </a:solidFill>
            <a:prstDash val="solid"/>
          </a:ln>
          <a:effectLst>
            <a:outerShdw sx="100000" sy="100000" kx="0" ky="0" algn="bl" rotWithShape="0" blurRad="88900" dist="25400" dir="5400000">
              <a:srgbClr val="9AB4CC">
                <a:alpha val="30000"/>
              </a:srgbClr>
            </a:outerShdw>
          </a:effectLst>
        </p:spPr>
      </p:sp>
      <p:sp>
        <p:nvSpPr>
          <p:cNvPr id="13" name="Shape 10"/>
          <p:cNvSpPr/>
          <p:nvPr/>
        </p:nvSpPr>
        <p:spPr>
          <a:xfrm>
            <a:off x="502920" y="4160520"/>
            <a:ext cx="82296" cy="2011680"/>
          </a:xfrm>
          <a:prstGeom prst="rect">
            <a:avLst/>
          </a:prstGeom>
          <a:solidFill>
            <a:srgbClr val="0F6CBD"/>
          </a:solidFill>
          <a:ln/>
        </p:spPr>
      </p:sp>
      <p:pic>
        <p:nvPicPr>
          <p:cNvPr id="14"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58952" y="4361688"/>
            <a:ext cx="384048" cy="384048"/>
          </a:xfrm>
          <a:prstGeom prst="rect">
            <a:avLst/>
          </a:prstGeom>
        </p:spPr>
      </p:pic>
      <p:sp>
        <p:nvSpPr>
          <p:cNvPr id="15" name="Text 11"/>
          <p:cNvSpPr/>
          <p:nvPr/>
        </p:nvSpPr>
        <p:spPr>
          <a:xfrm>
            <a:off x="1325880" y="4288536"/>
            <a:ext cx="10085832" cy="1783080"/>
          </a:xfrm>
          <a:prstGeom prst="rect">
            <a:avLst/>
          </a:prstGeom>
          <a:noFill/>
          <a:ln/>
        </p:spPr>
        <p:txBody>
          <a:bodyPr wrap="square" rtlCol="0" anchor="t"/>
          <a:lstStyle/>
          <a:p>
            <a:pPr indent="0" marL="0">
              <a:lnSpc>
                <a:spcPct val="110000"/>
              </a:lnSpc>
              <a:buNone/>
            </a:pPr>
            <a:r>
              <a:rPr lang="en-US" sz="1900" b="1" dirty="0">
                <a:solidFill>
                  <a:srgbClr val="002050"/>
                </a:solidFill>
                <a:latin typeface="Aptos Display" pitchFamily="34" charset="0"/>
                <a:ea typeface="Aptos Display" pitchFamily="34" charset="-122"/>
                <a:cs typeface="Aptos Display" pitchFamily="34" charset="-120"/>
              </a:rPr>
              <a:t>Print-cost increase
</a:t>
            </a:r>
            <a:pPr indent="0" marL="0">
              <a:lnSpc>
                <a:spcPct val="110000"/>
              </a:lnSpc>
              <a:buNone/>
            </a:pPr>
            <a:r>
              <a:rPr lang="en-US" sz="1550" dirty="0">
                <a:solidFill>
                  <a:srgbClr val="002050"/>
                </a:solidFill>
                <a:latin typeface="Aptos" pitchFamily="34" charset="0"/>
                <a:ea typeface="Aptos" pitchFamily="34" charset="-122"/>
                <a:cs typeface="Aptos" pitchFamily="34" charset="-120"/>
              </a:rPr>
              <a:t>Print management data showed a 32% cost increase on Sandton 5th-floor devices. Findings showed default colour printing was enabled after a driver update and secure-release settings were missing on two devices. Conclusion: print policy controls were removed during the update.</a:t>
            </a:r>
            <a:endParaRPr lang="en-US" sz="1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6473952"/>
            <a:ext cx="10268712" cy="274320"/>
          </a:xfrm>
          <a:prstGeom prst="rect">
            <a:avLst/>
          </a:prstGeom>
          <a:noFill/>
          <a:ln/>
        </p:spPr>
        <p:txBody>
          <a:bodyPr wrap="square" rtlCol="0" anchor="ctr"/>
          <a:lstStyle/>
          <a:p>
            <a:pPr indent="0" marL="0">
              <a:buNone/>
            </a:pPr>
            <a:r>
              <a:rPr lang="en-US" sz="1000" dirty="0">
                <a:solidFill>
                  <a:srgbClr val="6B7280"/>
                </a:solidFill>
                <a:latin typeface="Aptos" pitchFamily="34" charset="0"/>
                <a:ea typeface="Aptos" pitchFamily="34" charset="-122"/>
                <a:cs typeface="Aptos" pitchFamily="34" charset="-120"/>
              </a:rPr>
              <a:t>Unit Standard 8252 — Writing Business Reports   ·   Investec IT Systems Support NQF 5</a:t>
            </a:r>
            <a:endParaRPr lang="en-US" sz="1000" dirty="0"/>
          </a:p>
        </p:txBody>
      </p:sp>
      <p:sp>
        <p:nvSpPr>
          <p:cNvPr id="3" name="Text 1"/>
          <p:cNvSpPr/>
          <p:nvPr/>
        </p:nvSpPr>
        <p:spPr>
          <a:xfrm>
            <a:off x="11137392" y="6473952"/>
            <a:ext cx="548640" cy="274320"/>
          </a:xfrm>
          <a:prstGeom prst="rect">
            <a:avLst/>
          </a:prstGeom>
          <a:noFill/>
          <a:ln/>
        </p:spPr>
        <p:txBody>
          <a:bodyPr wrap="square" rtlCol="0" anchor="ctr"/>
          <a:lstStyle/>
          <a:p>
            <a:pPr algn="r" indent="0" marL="0">
              <a:buNone/>
            </a:pPr>
            <a:r>
              <a:rPr lang="en-US" sz="1000" dirty="0">
                <a:solidFill>
                  <a:srgbClr val="6B7280"/>
                </a:solidFill>
                <a:latin typeface="Aptos" pitchFamily="34" charset="0"/>
                <a:ea typeface="Aptos" pitchFamily="34" charset="-122"/>
                <a:cs typeface="Aptos" pitchFamily="34" charset="-120"/>
              </a:rPr>
              <a:t>26</a:t>
            </a:r>
            <a:endParaRPr lang="en-US" sz="1000" dirty="0"/>
          </a:p>
        </p:txBody>
      </p:sp>
      <p:sp>
        <p:nvSpPr>
          <p:cNvPr id="4" name="Shape 2"/>
          <p:cNvSpPr/>
          <p:nvPr/>
        </p:nvSpPr>
        <p:spPr>
          <a:xfrm>
            <a:off x="0" y="0"/>
            <a:ext cx="12188952" cy="82296"/>
          </a:xfrm>
          <a:prstGeom prst="rect">
            <a:avLst/>
          </a:prstGeom>
          <a:solidFill>
            <a:srgbClr val="0F6CBD"/>
          </a:solidFill>
          <a:ln/>
        </p:spPr>
      </p:sp>
      <p:sp>
        <p:nvSpPr>
          <p:cNvPr id="5" name="Text 3"/>
          <p:cNvSpPr/>
          <p:nvPr/>
        </p:nvSpPr>
        <p:spPr>
          <a:xfrm>
            <a:off x="502920" y="256032"/>
            <a:ext cx="11183112" cy="347472"/>
          </a:xfrm>
          <a:prstGeom prst="rect">
            <a:avLst/>
          </a:prstGeom>
          <a:noFill/>
          <a:ln/>
        </p:spPr>
        <p:txBody>
          <a:bodyPr wrap="square" rtlCol="0" anchor="ctr"/>
          <a:lstStyle/>
          <a:p>
            <a:pPr indent="0" marL="0">
              <a:buNone/>
            </a:pPr>
            <a:r>
              <a:rPr lang="en-US" sz="1400" b="1" spc="200" kern="0" dirty="0">
                <a:solidFill>
                  <a:srgbClr val="0F6CBD"/>
                </a:solidFill>
                <a:latin typeface="Aptos" pitchFamily="34" charset="0"/>
                <a:ea typeface="Aptos" pitchFamily="34" charset="-122"/>
                <a:cs typeface="Aptos" pitchFamily="34" charset="-120"/>
              </a:rPr>
              <a:t>WORKED EXAMPLES · PROJECT STATUS</a:t>
            </a:r>
            <a:endParaRPr lang="en-US" sz="1400" dirty="0"/>
          </a:p>
        </p:txBody>
      </p:sp>
      <p:sp>
        <p:nvSpPr>
          <p:cNvPr id="6" name="Text 4"/>
          <p:cNvSpPr/>
          <p:nvPr/>
        </p:nvSpPr>
        <p:spPr>
          <a:xfrm>
            <a:off x="502920" y="585216"/>
            <a:ext cx="11183112" cy="786384"/>
          </a:xfrm>
          <a:prstGeom prst="rect">
            <a:avLst/>
          </a:prstGeom>
          <a:noFill/>
          <a:ln/>
        </p:spPr>
        <p:txBody>
          <a:bodyPr wrap="square" rtlCol="0" anchor="ctr"/>
          <a:lstStyle/>
          <a:p>
            <a:pPr indent="0" marL="0">
              <a:buNone/>
            </a:pPr>
            <a:r>
              <a:rPr lang="en-US" sz="3400" b="1" dirty="0">
                <a:solidFill>
                  <a:srgbClr val="002050"/>
                </a:solidFill>
                <a:latin typeface="Aptos Display" pitchFamily="34" charset="0"/>
                <a:ea typeface="Aptos Display" pitchFamily="34" charset="-122"/>
                <a:cs typeface="Aptos Display" pitchFamily="34" charset="-120"/>
              </a:rPr>
              <a:t>Sample Project Status Reports</a:t>
            </a:r>
            <a:endParaRPr lang="en-US" sz="3400" dirty="0"/>
          </a:p>
        </p:txBody>
      </p:sp>
      <p:sp>
        <p:nvSpPr>
          <p:cNvPr id="7" name="Text 5"/>
          <p:cNvSpPr/>
          <p:nvPr/>
        </p:nvSpPr>
        <p:spPr>
          <a:xfrm>
            <a:off x="502920" y="1417320"/>
            <a:ext cx="11183112" cy="411480"/>
          </a:xfrm>
          <a:prstGeom prst="rect">
            <a:avLst/>
          </a:prstGeom>
          <a:noFill/>
          <a:ln/>
        </p:spPr>
        <p:txBody>
          <a:bodyPr wrap="square" rtlCol="0" anchor="ctr"/>
          <a:lstStyle/>
          <a:p>
            <a:pPr indent="0" marL="0">
              <a:buNone/>
            </a:pPr>
            <a:r>
              <a:rPr lang="en-US" sz="1650" dirty="0">
                <a:solidFill>
                  <a:srgbClr val="6B7280"/>
                </a:solidFill>
                <a:latin typeface="Aptos" pitchFamily="34" charset="0"/>
                <a:ea typeface="Aptos" pitchFamily="34" charset="-122"/>
                <a:cs typeface="Aptos" pitchFamily="34" charset="-120"/>
              </a:rPr>
              <a:t>Project status reports answer: Is the project on track against scope, time, cost, quality, risks and next milestones?</a:t>
            </a:r>
            <a:endParaRPr lang="en-US" sz="1650" dirty="0"/>
          </a:p>
        </p:txBody>
      </p:sp>
      <p:sp>
        <p:nvSpPr>
          <p:cNvPr id="8" name="Shape 6"/>
          <p:cNvSpPr/>
          <p:nvPr/>
        </p:nvSpPr>
        <p:spPr>
          <a:xfrm>
            <a:off x="502920" y="1965960"/>
            <a:ext cx="11183112" cy="2011680"/>
          </a:xfrm>
          <a:prstGeom prst="roundRect">
            <a:avLst>
              <a:gd name="adj" fmla="val 4091"/>
            </a:avLst>
          </a:prstGeom>
          <a:solidFill>
            <a:srgbClr val="FFFFFF"/>
          </a:solidFill>
          <a:ln w="12700">
            <a:solidFill>
              <a:srgbClr val="D5E3F2"/>
            </a:solidFill>
            <a:prstDash val="solid"/>
          </a:ln>
          <a:effectLst>
            <a:outerShdw sx="100000" sy="100000" kx="0" ky="0" algn="bl" rotWithShape="0" blurRad="88900" dist="25400" dir="5400000">
              <a:srgbClr val="9AB4CC">
                <a:alpha val="30000"/>
              </a:srgbClr>
            </a:outerShdw>
          </a:effectLst>
        </p:spPr>
      </p:sp>
      <p:sp>
        <p:nvSpPr>
          <p:cNvPr id="9" name="Shape 7"/>
          <p:cNvSpPr/>
          <p:nvPr/>
        </p:nvSpPr>
        <p:spPr>
          <a:xfrm>
            <a:off x="502920" y="1965960"/>
            <a:ext cx="82296" cy="2011680"/>
          </a:xfrm>
          <a:prstGeom prst="rect">
            <a:avLst/>
          </a:prstGeom>
          <a:solidFill>
            <a:srgbClr val="0F6CBD"/>
          </a:solidFill>
          <a:ln/>
        </p:spPr>
      </p:sp>
      <p:pic>
        <p:nvPicPr>
          <p:cNvPr id="10"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58952" y="2167128"/>
            <a:ext cx="384048" cy="384048"/>
          </a:xfrm>
          <a:prstGeom prst="rect">
            <a:avLst/>
          </a:prstGeom>
        </p:spPr>
      </p:pic>
      <p:sp>
        <p:nvSpPr>
          <p:cNvPr id="11" name="Text 8"/>
          <p:cNvSpPr/>
          <p:nvPr/>
        </p:nvSpPr>
        <p:spPr>
          <a:xfrm>
            <a:off x="1325880" y="2093976"/>
            <a:ext cx="10085832" cy="1783080"/>
          </a:xfrm>
          <a:prstGeom prst="rect">
            <a:avLst/>
          </a:prstGeom>
          <a:noFill/>
          <a:ln/>
        </p:spPr>
        <p:txBody>
          <a:bodyPr wrap="square" rtlCol="0" anchor="t"/>
          <a:lstStyle/>
          <a:p>
            <a:pPr indent="0" marL="0">
              <a:lnSpc>
                <a:spcPct val="110000"/>
              </a:lnSpc>
              <a:buNone/>
            </a:pPr>
            <a:r>
              <a:rPr lang="en-US" sz="1900" b="1" dirty="0">
                <a:solidFill>
                  <a:srgbClr val="002050"/>
                </a:solidFill>
                <a:latin typeface="Aptos Display" pitchFamily="34" charset="0"/>
                <a:ea typeface="Aptos Display" pitchFamily="34" charset="-122"/>
                <a:cs typeface="Aptos Display" pitchFamily="34" charset="-120"/>
              </a:rPr>
              <a:t>Windows 11 pilot rollout
</a:t>
            </a:r>
            <a:pPr indent="0" marL="0">
              <a:lnSpc>
                <a:spcPct val="110000"/>
              </a:lnSpc>
              <a:buNone/>
            </a:pPr>
            <a:r>
              <a:rPr lang="en-US" sz="1550" dirty="0">
                <a:solidFill>
                  <a:srgbClr val="002050"/>
                </a:solidFill>
                <a:latin typeface="Aptos" pitchFamily="34" charset="0"/>
                <a:ea typeface="Aptos" pitchFamily="34" charset="-122"/>
                <a:cs typeface="Aptos" pitchFamily="34" charset="-120"/>
              </a:rPr>
              <a:t>Overall status amber. Planned: 40 pilot laptops. Completed: 34 upgraded, 3 deferred for application compatibility and 3 awaiting user availability. Main risk: the treasury spreadsheet add-in is not yet certified. Next step: submit the phase 2 go/no-go recommendation.</a:t>
            </a:r>
            <a:endParaRPr lang="en-US" sz="1900" dirty="0"/>
          </a:p>
        </p:txBody>
      </p:sp>
      <p:sp>
        <p:nvSpPr>
          <p:cNvPr id="12" name="Shape 9"/>
          <p:cNvSpPr/>
          <p:nvPr/>
        </p:nvSpPr>
        <p:spPr>
          <a:xfrm>
            <a:off x="502920" y="4160520"/>
            <a:ext cx="11183112" cy="2011680"/>
          </a:xfrm>
          <a:prstGeom prst="roundRect">
            <a:avLst>
              <a:gd name="adj" fmla="val 4091"/>
            </a:avLst>
          </a:prstGeom>
          <a:solidFill>
            <a:srgbClr val="EAF4FF"/>
          </a:solidFill>
          <a:ln w="12700">
            <a:solidFill>
              <a:srgbClr val="D5E3F2"/>
            </a:solidFill>
            <a:prstDash val="solid"/>
          </a:ln>
          <a:effectLst>
            <a:outerShdw sx="100000" sy="100000" kx="0" ky="0" algn="bl" rotWithShape="0" blurRad="88900" dist="25400" dir="5400000">
              <a:srgbClr val="9AB4CC">
                <a:alpha val="30000"/>
              </a:srgbClr>
            </a:outerShdw>
          </a:effectLst>
        </p:spPr>
      </p:sp>
      <p:sp>
        <p:nvSpPr>
          <p:cNvPr id="13" name="Shape 10"/>
          <p:cNvSpPr/>
          <p:nvPr/>
        </p:nvSpPr>
        <p:spPr>
          <a:xfrm>
            <a:off x="502920" y="4160520"/>
            <a:ext cx="82296" cy="2011680"/>
          </a:xfrm>
          <a:prstGeom prst="rect">
            <a:avLst/>
          </a:prstGeom>
          <a:solidFill>
            <a:srgbClr val="0F6CBD"/>
          </a:solidFill>
          <a:ln/>
        </p:spPr>
      </p:sp>
      <p:pic>
        <p:nvPicPr>
          <p:cNvPr id="14"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58952" y="4361688"/>
            <a:ext cx="384048" cy="384048"/>
          </a:xfrm>
          <a:prstGeom prst="rect">
            <a:avLst/>
          </a:prstGeom>
        </p:spPr>
      </p:pic>
      <p:sp>
        <p:nvSpPr>
          <p:cNvPr id="15" name="Text 11"/>
          <p:cNvSpPr/>
          <p:nvPr/>
        </p:nvSpPr>
        <p:spPr>
          <a:xfrm>
            <a:off x="1325880" y="4288536"/>
            <a:ext cx="10085832" cy="1783080"/>
          </a:xfrm>
          <a:prstGeom prst="rect">
            <a:avLst/>
          </a:prstGeom>
          <a:noFill/>
          <a:ln/>
        </p:spPr>
        <p:txBody>
          <a:bodyPr wrap="square" rtlCol="0" anchor="t"/>
          <a:lstStyle/>
          <a:p>
            <a:pPr indent="0" marL="0">
              <a:lnSpc>
                <a:spcPct val="110000"/>
              </a:lnSpc>
              <a:buNone/>
            </a:pPr>
            <a:r>
              <a:rPr lang="en-US" sz="1900" b="1" dirty="0">
                <a:solidFill>
                  <a:srgbClr val="002050"/>
                </a:solidFill>
                <a:latin typeface="Aptos Display" pitchFamily="34" charset="0"/>
                <a:ea typeface="Aptos Display" pitchFamily="34" charset="-122"/>
                <a:cs typeface="Aptos Display" pitchFamily="34" charset="-120"/>
              </a:rPr>
              <a:t>Branch Wi-Fi upgrade
</a:t>
            </a:r>
            <a:pPr indent="0" marL="0">
              <a:lnSpc>
                <a:spcPct val="110000"/>
              </a:lnSpc>
              <a:buNone/>
            </a:pPr>
            <a:r>
              <a:rPr lang="en-US" sz="1550" dirty="0">
                <a:solidFill>
                  <a:srgbClr val="002050"/>
                </a:solidFill>
                <a:latin typeface="Aptos" pitchFamily="34" charset="0"/>
                <a:ea typeface="Aptos" pitchFamily="34" charset="-122"/>
                <a:cs typeface="Aptos" pitchFamily="34" charset="-120"/>
              </a:rPr>
              <a:t>Overall status green. Access points installed at 5 of 6 planned branches; the remaining branch is delayed by landlord access approval. Budget used: 71% against planned 75%. Next step: coverage tests and branch manager sign-off.</a:t>
            </a:r>
            <a:endParaRPr lang="en-US" sz="1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6473952"/>
            <a:ext cx="10268712" cy="274320"/>
          </a:xfrm>
          <a:prstGeom prst="rect">
            <a:avLst/>
          </a:prstGeom>
          <a:noFill/>
          <a:ln/>
        </p:spPr>
        <p:txBody>
          <a:bodyPr wrap="square" rtlCol="0" anchor="ctr"/>
          <a:lstStyle/>
          <a:p>
            <a:pPr indent="0" marL="0">
              <a:buNone/>
            </a:pPr>
            <a:r>
              <a:rPr lang="en-US" sz="1000" dirty="0">
                <a:solidFill>
                  <a:srgbClr val="6B7280"/>
                </a:solidFill>
                <a:latin typeface="Aptos" pitchFamily="34" charset="0"/>
                <a:ea typeface="Aptos" pitchFamily="34" charset="-122"/>
                <a:cs typeface="Aptos" pitchFamily="34" charset="-120"/>
              </a:rPr>
              <a:t>Unit Standard 8252 — Writing Business Reports   ·   Investec IT Systems Support NQF 5</a:t>
            </a:r>
            <a:endParaRPr lang="en-US" sz="1000" dirty="0"/>
          </a:p>
        </p:txBody>
      </p:sp>
      <p:sp>
        <p:nvSpPr>
          <p:cNvPr id="3" name="Text 1"/>
          <p:cNvSpPr/>
          <p:nvPr/>
        </p:nvSpPr>
        <p:spPr>
          <a:xfrm>
            <a:off x="11137392" y="6473952"/>
            <a:ext cx="548640" cy="274320"/>
          </a:xfrm>
          <a:prstGeom prst="rect">
            <a:avLst/>
          </a:prstGeom>
          <a:noFill/>
          <a:ln/>
        </p:spPr>
        <p:txBody>
          <a:bodyPr wrap="square" rtlCol="0" anchor="ctr"/>
          <a:lstStyle/>
          <a:p>
            <a:pPr algn="r" indent="0" marL="0">
              <a:buNone/>
            </a:pPr>
            <a:r>
              <a:rPr lang="en-US" sz="1000" dirty="0">
                <a:solidFill>
                  <a:srgbClr val="6B7280"/>
                </a:solidFill>
                <a:latin typeface="Aptos" pitchFamily="34" charset="0"/>
                <a:ea typeface="Aptos" pitchFamily="34" charset="-122"/>
                <a:cs typeface="Aptos" pitchFamily="34" charset="-120"/>
              </a:rPr>
              <a:t>27</a:t>
            </a:r>
            <a:endParaRPr lang="en-US" sz="1000" dirty="0"/>
          </a:p>
        </p:txBody>
      </p:sp>
      <p:sp>
        <p:nvSpPr>
          <p:cNvPr id="4" name="Shape 2"/>
          <p:cNvSpPr/>
          <p:nvPr/>
        </p:nvSpPr>
        <p:spPr>
          <a:xfrm>
            <a:off x="0" y="0"/>
            <a:ext cx="12188952" cy="82296"/>
          </a:xfrm>
          <a:prstGeom prst="rect">
            <a:avLst/>
          </a:prstGeom>
          <a:solidFill>
            <a:srgbClr val="0F6CBD"/>
          </a:solidFill>
          <a:ln/>
        </p:spPr>
      </p:sp>
      <p:sp>
        <p:nvSpPr>
          <p:cNvPr id="5" name="Text 3"/>
          <p:cNvSpPr/>
          <p:nvPr/>
        </p:nvSpPr>
        <p:spPr>
          <a:xfrm>
            <a:off x="502920" y="256032"/>
            <a:ext cx="11183112" cy="347472"/>
          </a:xfrm>
          <a:prstGeom prst="rect">
            <a:avLst/>
          </a:prstGeom>
          <a:noFill/>
          <a:ln/>
        </p:spPr>
        <p:txBody>
          <a:bodyPr wrap="square" rtlCol="0" anchor="ctr"/>
          <a:lstStyle/>
          <a:p>
            <a:pPr indent="0" marL="0">
              <a:buNone/>
            </a:pPr>
            <a:r>
              <a:rPr lang="en-US" sz="1400" b="1" spc="200" kern="0" dirty="0">
                <a:solidFill>
                  <a:srgbClr val="0F6CBD"/>
                </a:solidFill>
                <a:latin typeface="Aptos" pitchFamily="34" charset="0"/>
                <a:ea typeface="Aptos" pitchFamily="34" charset="-122"/>
                <a:cs typeface="Aptos" pitchFamily="34" charset="-120"/>
              </a:rPr>
              <a:t>WORKED EXAMPLES · RECOMMENDATION</a:t>
            </a:r>
            <a:endParaRPr lang="en-US" sz="1400" dirty="0"/>
          </a:p>
        </p:txBody>
      </p:sp>
      <p:sp>
        <p:nvSpPr>
          <p:cNvPr id="6" name="Text 4"/>
          <p:cNvSpPr/>
          <p:nvPr/>
        </p:nvSpPr>
        <p:spPr>
          <a:xfrm>
            <a:off x="502920" y="585216"/>
            <a:ext cx="11183112" cy="786384"/>
          </a:xfrm>
          <a:prstGeom prst="rect">
            <a:avLst/>
          </a:prstGeom>
          <a:noFill/>
          <a:ln/>
        </p:spPr>
        <p:txBody>
          <a:bodyPr wrap="square" rtlCol="0" anchor="ctr"/>
          <a:lstStyle/>
          <a:p>
            <a:pPr indent="0" marL="0">
              <a:buNone/>
            </a:pPr>
            <a:r>
              <a:rPr lang="en-US" sz="3400" b="1" dirty="0">
                <a:solidFill>
                  <a:srgbClr val="002050"/>
                </a:solidFill>
                <a:latin typeface="Aptos Display" pitchFamily="34" charset="0"/>
                <a:ea typeface="Aptos Display" pitchFamily="34" charset="-122"/>
                <a:cs typeface="Aptos Display" pitchFamily="34" charset="-120"/>
              </a:rPr>
              <a:t>Sample Recommendation Report</a:t>
            </a:r>
            <a:endParaRPr lang="en-US" sz="3400" dirty="0"/>
          </a:p>
        </p:txBody>
      </p:sp>
      <p:sp>
        <p:nvSpPr>
          <p:cNvPr id="7" name="Text 5"/>
          <p:cNvSpPr/>
          <p:nvPr/>
        </p:nvSpPr>
        <p:spPr>
          <a:xfrm>
            <a:off x="502920" y="1417320"/>
            <a:ext cx="11183112" cy="411480"/>
          </a:xfrm>
          <a:prstGeom prst="rect">
            <a:avLst/>
          </a:prstGeom>
          <a:noFill/>
          <a:ln/>
        </p:spPr>
        <p:txBody>
          <a:bodyPr wrap="square" rtlCol="0" anchor="ctr"/>
          <a:lstStyle/>
          <a:p>
            <a:pPr indent="0" marL="0">
              <a:buNone/>
            </a:pPr>
            <a:r>
              <a:rPr lang="en-US" sz="1650" dirty="0">
                <a:solidFill>
                  <a:srgbClr val="6B7280"/>
                </a:solidFill>
                <a:latin typeface="Aptos" pitchFamily="34" charset="0"/>
                <a:ea typeface="Aptos" pitchFamily="34" charset="-122"/>
                <a:cs typeface="Aptos" pitchFamily="34" charset="-120"/>
              </a:rPr>
              <a:t>Recommendation reports answer: Which option should management approve, why, by when, and at what cost or risk?</a:t>
            </a:r>
            <a:endParaRPr lang="en-US" sz="1650" dirty="0"/>
          </a:p>
        </p:txBody>
      </p:sp>
      <p:sp>
        <p:nvSpPr>
          <p:cNvPr id="8" name="Shape 6"/>
          <p:cNvSpPr/>
          <p:nvPr/>
        </p:nvSpPr>
        <p:spPr>
          <a:xfrm>
            <a:off x="502920" y="1965960"/>
            <a:ext cx="11183112" cy="914400"/>
          </a:xfrm>
          <a:prstGeom prst="roundRect">
            <a:avLst>
              <a:gd name="adj" fmla="val 9000"/>
            </a:avLst>
          </a:prstGeom>
          <a:solidFill>
            <a:srgbClr val="EAF4FF"/>
          </a:solidFill>
          <a:ln w="12700">
            <a:solidFill>
              <a:srgbClr val="D5E3F2"/>
            </a:solidFill>
            <a:prstDash val="solid"/>
          </a:ln>
          <a:effectLst>
            <a:outerShdw sx="100000" sy="100000" kx="0" ky="0" algn="bl" rotWithShape="0" blurRad="88900" dist="25400" dir="5400000">
              <a:srgbClr val="9AB4CC">
                <a:alpha val="30000"/>
              </a:srgbClr>
            </a:outerShdw>
          </a:effectLst>
        </p:spPr>
      </p:sp>
      <p:sp>
        <p:nvSpPr>
          <p:cNvPr id="9" name="Shape 7"/>
          <p:cNvSpPr/>
          <p:nvPr/>
        </p:nvSpPr>
        <p:spPr>
          <a:xfrm>
            <a:off x="502920" y="1965960"/>
            <a:ext cx="82296" cy="914400"/>
          </a:xfrm>
          <a:prstGeom prst="rect">
            <a:avLst/>
          </a:prstGeom>
          <a:solidFill>
            <a:srgbClr val="0F6CBD"/>
          </a:solidFill>
          <a:ln/>
        </p:spPr>
      </p:sp>
      <p:sp>
        <p:nvSpPr>
          <p:cNvPr id="10" name="Text 8"/>
          <p:cNvSpPr/>
          <p:nvPr/>
        </p:nvSpPr>
        <p:spPr>
          <a:xfrm>
            <a:off x="777240" y="1965960"/>
            <a:ext cx="10652760" cy="914400"/>
          </a:xfrm>
          <a:prstGeom prst="rect">
            <a:avLst/>
          </a:prstGeom>
          <a:noFill/>
          <a:ln/>
        </p:spPr>
        <p:txBody>
          <a:bodyPr wrap="square" rtlCol="0" anchor="ctr"/>
          <a:lstStyle/>
          <a:p>
            <a:pPr indent="0" marL="0">
              <a:lnSpc>
                <a:spcPct val="108000"/>
              </a:lnSpc>
              <a:buNone/>
            </a:pPr>
            <a:r>
              <a:rPr lang="en-US" sz="1800" b="1" dirty="0">
                <a:solidFill>
                  <a:srgbClr val="002050"/>
                </a:solidFill>
                <a:latin typeface="Aptos Display" pitchFamily="34" charset="0"/>
                <a:ea typeface="Aptos Display" pitchFamily="34" charset="-122"/>
                <a:cs typeface="Aptos Display" pitchFamily="34" charset="-120"/>
              </a:rPr>
              <a:t>Service desk knowledge base:  </a:t>
            </a:r>
            <a:pPr indent="0" marL="0">
              <a:lnSpc>
                <a:spcPct val="108000"/>
              </a:lnSpc>
              <a:buNone/>
            </a:pPr>
            <a:r>
              <a:rPr lang="en-US" sz="1700" dirty="0">
                <a:solidFill>
                  <a:srgbClr val="002050"/>
                </a:solidFill>
                <a:latin typeface="Aptos" pitchFamily="34" charset="0"/>
                <a:ea typeface="Aptos" pitchFamily="34" charset="-122"/>
                <a:cs typeface="Aptos" pitchFamily="34" charset="-120"/>
              </a:rPr>
              <a:t>Implement a searchable knowledge base for recurring support issues by 30 November 2026.</a:t>
            </a:r>
            <a:endParaRPr lang="en-US" sz="1800" dirty="0"/>
          </a:p>
        </p:txBody>
      </p:sp>
      <p:sp>
        <p:nvSpPr>
          <p:cNvPr id="11" name="Shape 9"/>
          <p:cNvSpPr/>
          <p:nvPr/>
        </p:nvSpPr>
        <p:spPr>
          <a:xfrm>
            <a:off x="502920" y="3108960"/>
            <a:ext cx="11183112" cy="871728"/>
          </a:xfrm>
          <a:prstGeom prst="roundRect">
            <a:avLst>
              <a:gd name="adj" fmla="val 9441"/>
            </a:avLst>
          </a:prstGeom>
          <a:solidFill>
            <a:srgbClr val="FFFFFF"/>
          </a:solidFill>
          <a:ln w="12700">
            <a:solidFill>
              <a:srgbClr val="D5E3F2"/>
            </a:solidFill>
            <a:prstDash val="solid"/>
          </a:ln>
          <a:effectLst>
            <a:outerShdw sx="100000" sy="100000" kx="0" ky="0" algn="bl" rotWithShape="0" blurRad="88900" dist="25400" dir="5400000">
              <a:srgbClr val="9AB4CC">
                <a:alpha val="30000"/>
              </a:srgbClr>
            </a:outerShdw>
          </a:effectLst>
        </p:spPr>
      </p:sp>
      <p:sp>
        <p:nvSpPr>
          <p:cNvPr id="12" name="Shape 10"/>
          <p:cNvSpPr/>
          <p:nvPr/>
        </p:nvSpPr>
        <p:spPr>
          <a:xfrm>
            <a:off x="502920" y="3108960"/>
            <a:ext cx="82296" cy="871728"/>
          </a:xfrm>
          <a:prstGeom prst="rect">
            <a:avLst/>
          </a:prstGeom>
          <a:solidFill>
            <a:srgbClr val="0F6CBD"/>
          </a:solidFill>
          <a:ln/>
        </p:spPr>
      </p:sp>
      <p:pic>
        <p:nvPicPr>
          <p:cNvPr id="13"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58952" y="3273552"/>
            <a:ext cx="365760" cy="365760"/>
          </a:xfrm>
          <a:prstGeom prst="rect">
            <a:avLst/>
          </a:prstGeom>
        </p:spPr>
      </p:pic>
      <p:sp>
        <p:nvSpPr>
          <p:cNvPr id="14" name="Text 11"/>
          <p:cNvSpPr/>
          <p:nvPr/>
        </p:nvSpPr>
        <p:spPr>
          <a:xfrm>
            <a:off x="1280160" y="3218688"/>
            <a:ext cx="10131552" cy="652272"/>
          </a:xfrm>
          <a:prstGeom prst="rect">
            <a:avLst/>
          </a:prstGeom>
          <a:noFill/>
          <a:ln/>
        </p:spPr>
        <p:txBody>
          <a:bodyPr wrap="square" rtlCol="0" anchor="ctr"/>
          <a:lstStyle/>
          <a:p>
            <a:pPr indent="0" marL="0">
              <a:lnSpc>
                <a:spcPct val="108000"/>
              </a:lnSpc>
              <a:buNone/>
            </a:pPr>
            <a:r>
              <a:rPr lang="en-US" sz="1900" b="1" dirty="0">
                <a:solidFill>
                  <a:srgbClr val="002050"/>
                </a:solidFill>
                <a:latin typeface="Aptos Display" pitchFamily="34" charset="0"/>
                <a:ea typeface="Aptos Display" pitchFamily="34" charset="-122"/>
                <a:cs typeface="Aptos Display" pitchFamily="34" charset="-120"/>
              </a:rPr>
              <a:t>Evidence
</a:t>
            </a:r>
            <a:pPr indent="0" marL="0">
              <a:lnSpc>
                <a:spcPct val="108000"/>
              </a:lnSpc>
              <a:buNone/>
            </a:pPr>
            <a:r>
              <a:rPr lang="en-US" sz="1550" dirty="0">
                <a:solidFill>
                  <a:srgbClr val="002050"/>
                </a:solidFill>
                <a:latin typeface="Aptos" pitchFamily="34" charset="0"/>
                <a:ea typeface="Aptos" pitchFamily="34" charset="-122"/>
                <a:cs typeface="Aptos" pitchFamily="34" charset="-120"/>
              </a:rPr>
              <a:t>Password resets, VPN setup, printer mapping and Teams audio issues account for 41% of first-line requests.</a:t>
            </a:r>
            <a:endParaRPr lang="en-US" sz="1900" dirty="0"/>
          </a:p>
        </p:txBody>
      </p:sp>
      <p:sp>
        <p:nvSpPr>
          <p:cNvPr id="15" name="Shape 12"/>
          <p:cNvSpPr/>
          <p:nvPr/>
        </p:nvSpPr>
        <p:spPr>
          <a:xfrm>
            <a:off x="502920" y="4181856"/>
            <a:ext cx="11183112" cy="871728"/>
          </a:xfrm>
          <a:prstGeom prst="roundRect">
            <a:avLst>
              <a:gd name="adj" fmla="val 9441"/>
            </a:avLst>
          </a:prstGeom>
          <a:solidFill>
            <a:srgbClr val="EAF4FF"/>
          </a:solidFill>
          <a:ln w="12700">
            <a:solidFill>
              <a:srgbClr val="D5E3F2"/>
            </a:solidFill>
            <a:prstDash val="solid"/>
          </a:ln>
          <a:effectLst>
            <a:outerShdw sx="100000" sy="100000" kx="0" ky="0" algn="bl" rotWithShape="0" blurRad="88900" dist="25400" dir="5400000">
              <a:srgbClr val="9AB4CC">
                <a:alpha val="30000"/>
              </a:srgbClr>
            </a:outerShdw>
          </a:effectLst>
        </p:spPr>
      </p:sp>
      <p:sp>
        <p:nvSpPr>
          <p:cNvPr id="16" name="Shape 13"/>
          <p:cNvSpPr/>
          <p:nvPr/>
        </p:nvSpPr>
        <p:spPr>
          <a:xfrm>
            <a:off x="502920" y="4181856"/>
            <a:ext cx="82296" cy="871728"/>
          </a:xfrm>
          <a:prstGeom prst="rect">
            <a:avLst/>
          </a:prstGeom>
          <a:solidFill>
            <a:srgbClr val="0F6CBD"/>
          </a:solidFill>
          <a:ln/>
        </p:spPr>
      </p:sp>
      <p:pic>
        <p:nvPicPr>
          <p:cNvPr id="17"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58952" y="4346448"/>
            <a:ext cx="365760" cy="365760"/>
          </a:xfrm>
          <a:prstGeom prst="rect">
            <a:avLst/>
          </a:prstGeom>
        </p:spPr>
      </p:pic>
      <p:sp>
        <p:nvSpPr>
          <p:cNvPr id="18" name="Text 14"/>
          <p:cNvSpPr/>
          <p:nvPr/>
        </p:nvSpPr>
        <p:spPr>
          <a:xfrm>
            <a:off x="1280160" y="4291584"/>
            <a:ext cx="10131552" cy="652272"/>
          </a:xfrm>
          <a:prstGeom prst="rect">
            <a:avLst/>
          </a:prstGeom>
          <a:noFill/>
          <a:ln/>
        </p:spPr>
        <p:txBody>
          <a:bodyPr wrap="square" rtlCol="0" anchor="ctr"/>
          <a:lstStyle/>
          <a:p>
            <a:pPr indent="0" marL="0">
              <a:lnSpc>
                <a:spcPct val="108000"/>
              </a:lnSpc>
              <a:buNone/>
            </a:pPr>
            <a:r>
              <a:rPr lang="en-US" sz="1900" b="1" dirty="0">
                <a:solidFill>
                  <a:srgbClr val="002050"/>
                </a:solidFill>
                <a:latin typeface="Aptos Display" pitchFamily="34" charset="0"/>
                <a:ea typeface="Aptos Display" pitchFamily="34" charset="-122"/>
                <a:cs typeface="Aptos Display" pitchFamily="34" charset="-120"/>
              </a:rPr>
              <a:t>Recommended option
</a:t>
            </a:r>
            <a:pPr indent="0" marL="0">
              <a:lnSpc>
                <a:spcPct val="108000"/>
              </a:lnSpc>
              <a:buNone/>
            </a:pPr>
            <a:r>
              <a:rPr lang="en-US" sz="1550" dirty="0">
                <a:solidFill>
                  <a:srgbClr val="002050"/>
                </a:solidFill>
                <a:latin typeface="Aptos" pitchFamily="34" charset="0"/>
                <a:ea typeface="Aptos" pitchFamily="34" charset="-122"/>
                <a:cs typeface="Aptos" pitchFamily="34" charset="-120"/>
              </a:rPr>
              <a:t>Use the existing ITSM knowledge module because it avoids new licensing costs, supports approval workflows and links articles directly to tickets.</a:t>
            </a:r>
            <a:endParaRPr lang="en-US" sz="1900" dirty="0"/>
          </a:p>
        </p:txBody>
      </p:sp>
      <p:sp>
        <p:nvSpPr>
          <p:cNvPr id="19" name="Shape 15"/>
          <p:cNvSpPr/>
          <p:nvPr/>
        </p:nvSpPr>
        <p:spPr>
          <a:xfrm>
            <a:off x="502920" y="5254752"/>
            <a:ext cx="11183112" cy="871728"/>
          </a:xfrm>
          <a:prstGeom prst="roundRect">
            <a:avLst>
              <a:gd name="adj" fmla="val 9441"/>
            </a:avLst>
          </a:prstGeom>
          <a:solidFill>
            <a:srgbClr val="FFFFFF"/>
          </a:solidFill>
          <a:ln w="12700">
            <a:solidFill>
              <a:srgbClr val="D5E3F2"/>
            </a:solidFill>
            <a:prstDash val="solid"/>
          </a:ln>
          <a:effectLst>
            <a:outerShdw sx="100000" sy="100000" kx="0" ky="0" algn="bl" rotWithShape="0" blurRad="88900" dist="25400" dir="5400000">
              <a:srgbClr val="9AB4CC">
                <a:alpha val="30000"/>
              </a:srgbClr>
            </a:outerShdw>
          </a:effectLst>
        </p:spPr>
      </p:sp>
      <p:sp>
        <p:nvSpPr>
          <p:cNvPr id="20" name="Shape 16"/>
          <p:cNvSpPr/>
          <p:nvPr/>
        </p:nvSpPr>
        <p:spPr>
          <a:xfrm>
            <a:off x="502920" y="5254752"/>
            <a:ext cx="82296" cy="871728"/>
          </a:xfrm>
          <a:prstGeom prst="rect">
            <a:avLst/>
          </a:prstGeom>
          <a:solidFill>
            <a:srgbClr val="0F6CBD"/>
          </a:solidFill>
          <a:ln/>
        </p:spPr>
      </p:sp>
      <p:pic>
        <p:nvPicPr>
          <p:cNvPr id="21"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58952" y="5419344"/>
            <a:ext cx="365760" cy="365760"/>
          </a:xfrm>
          <a:prstGeom prst="rect">
            <a:avLst/>
          </a:prstGeom>
        </p:spPr>
      </p:pic>
      <p:sp>
        <p:nvSpPr>
          <p:cNvPr id="22" name="Text 17"/>
          <p:cNvSpPr/>
          <p:nvPr/>
        </p:nvSpPr>
        <p:spPr>
          <a:xfrm>
            <a:off x="1280160" y="5364480"/>
            <a:ext cx="10131552" cy="652272"/>
          </a:xfrm>
          <a:prstGeom prst="rect">
            <a:avLst/>
          </a:prstGeom>
          <a:noFill/>
          <a:ln/>
        </p:spPr>
        <p:txBody>
          <a:bodyPr wrap="square" rtlCol="0" anchor="ctr"/>
          <a:lstStyle/>
          <a:p>
            <a:pPr indent="0" marL="0">
              <a:lnSpc>
                <a:spcPct val="108000"/>
              </a:lnSpc>
              <a:buNone/>
            </a:pPr>
            <a:r>
              <a:rPr lang="en-US" sz="1900" b="1" dirty="0">
                <a:solidFill>
                  <a:srgbClr val="002050"/>
                </a:solidFill>
                <a:latin typeface="Aptos Display" pitchFamily="34" charset="0"/>
                <a:ea typeface="Aptos Display" pitchFamily="34" charset="-122"/>
                <a:cs typeface="Aptos Display" pitchFamily="34" charset="-120"/>
              </a:rPr>
              <a:t>Approval requested
</a:t>
            </a:r>
            <a:pPr indent="0" marL="0">
              <a:lnSpc>
                <a:spcPct val="108000"/>
              </a:lnSpc>
              <a:buNone/>
            </a:pPr>
            <a:r>
              <a:rPr lang="en-US" sz="1550" dirty="0">
                <a:solidFill>
                  <a:srgbClr val="002050"/>
                </a:solidFill>
                <a:latin typeface="Aptos" pitchFamily="34" charset="0"/>
                <a:ea typeface="Aptos" pitchFamily="34" charset="-122"/>
                <a:cs typeface="Aptos" pitchFamily="34" charset="-120"/>
              </a:rPr>
              <a:t>Assign two analysts for article creation and require monthly review by team leads.</a:t>
            </a:r>
            <a:endParaRPr lang="en-US" sz="1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6473952"/>
            <a:ext cx="10268712" cy="274320"/>
          </a:xfrm>
          <a:prstGeom prst="rect">
            <a:avLst/>
          </a:prstGeom>
          <a:noFill/>
          <a:ln/>
        </p:spPr>
        <p:txBody>
          <a:bodyPr wrap="square" rtlCol="0" anchor="ctr"/>
          <a:lstStyle/>
          <a:p>
            <a:pPr indent="0" marL="0">
              <a:buNone/>
            </a:pPr>
            <a:r>
              <a:rPr lang="en-US" sz="1000" dirty="0">
                <a:solidFill>
                  <a:srgbClr val="6B7280"/>
                </a:solidFill>
                <a:latin typeface="Aptos" pitchFamily="34" charset="0"/>
                <a:ea typeface="Aptos" pitchFamily="34" charset="-122"/>
                <a:cs typeface="Aptos" pitchFamily="34" charset="-120"/>
              </a:rPr>
              <a:t>Unit Standard 8252 — Writing Business Reports   ·   Investec IT Systems Support NQF 5</a:t>
            </a:r>
            <a:endParaRPr lang="en-US" sz="1000" dirty="0"/>
          </a:p>
        </p:txBody>
      </p:sp>
      <p:sp>
        <p:nvSpPr>
          <p:cNvPr id="3" name="Text 1"/>
          <p:cNvSpPr/>
          <p:nvPr/>
        </p:nvSpPr>
        <p:spPr>
          <a:xfrm>
            <a:off x="11137392" y="6473952"/>
            <a:ext cx="548640" cy="274320"/>
          </a:xfrm>
          <a:prstGeom prst="rect">
            <a:avLst/>
          </a:prstGeom>
          <a:noFill/>
          <a:ln/>
        </p:spPr>
        <p:txBody>
          <a:bodyPr wrap="square" rtlCol="0" anchor="ctr"/>
          <a:lstStyle/>
          <a:p>
            <a:pPr algn="r" indent="0" marL="0">
              <a:buNone/>
            </a:pPr>
            <a:r>
              <a:rPr lang="en-US" sz="1000" dirty="0">
                <a:solidFill>
                  <a:srgbClr val="6B7280"/>
                </a:solidFill>
                <a:latin typeface="Aptos" pitchFamily="34" charset="0"/>
                <a:ea typeface="Aptos" pitchFamily="34" charset="-122"/>
                <a:cs typeface="Aptos" pitchFamily="34" charset="-120"/>
              </a:rPr>
              <a:t>28</a:t>
            </a:r>
            <a:endParaRPr lang="en-US" sz="1000" dirty="0"/>
          </a:p>
        </p:txBody>
      </p:sp>
      <p:sp>
        <p:nvSpPr>
          <p:cNvPr id="4" name="Shape 2"/>
          <p:cNvSpPr/>
          <p:nvPr/>
        </p:nvSpPr>
        <p:spPr>
          <a:xfrm>
            <a:off x="0" y="0"/>
            <a:ext cx="12188952" cy="82296"/>
          </a:xfrm>
          <a:prstGeom prst="rect">
            <a:avLst/>
          </a:prstGeom>
          <a:solidFill>
            <a:srgbClr val="0F6CBD"/>
          </a:solidFill>
          <a:ln/>
        </p:spPr>
      </p:sp>
      <p:sp>
        <p:nvSpPr>
          <p:cNvPr id="5" name="Text 3"/>
          <p:cNvSpPr/>
          <p:nvPr/>
        </p:nvSpPr>
        <p:spPr>
          <a:xfrm>
            <a:off x="502920" y="256032"/>
            <a:ext cx="11183112" cy="347472"/>
          </a:xfrm>
          <a:prstGeom prst="rect">
            <a:avLst/>
          </a:prstGeom>
          <a:noFill/>
          <a:ln/>
        </p:spPr>
        <p:txBody>
          <a:bodyPr wrap="square" rtlCol="0" anchor="ctr"/>
          <a:lstStyle/>
          <a:p>
            <a:pPr indent="0" marL="0">
              <a:buNone/>
            </a:pPr>
            <a:r>
              <a:rPr lang="en-US" sz="1400" b="1" spc="200" kern="0" dirty="0">
                <a:solidFill>
                  <a:srgbClr val="0F6CBD"/>
                </a:solidFill>
                <a:latin typeface="Aptos" pitchFamily="34" charset="0"/>
                <a:ea typeface="Aptos" pitchFamily="34" charset="-122"/>
                <a:cs typeface="Aptos" pitchFamily="34" charset="-120"/>
              </a:rPr>
              <a:t>OBTAINING &amp; DISTRIBUTING INFORMATION</a:t>
            </a:r>
            <a:endParaRPr lang="en-US" sz="1400" dirty="0"/>
          </a:p>
        </p:txBody>
      </p:sp>
      <p:sp>
        <p:nvSpPr>
          <p:cNvPr id="6" name="Text 4"/>
          <p:cNvSpPr/>
          <p:nvPr/>
        </p:nvSpPr>
        <p:spPr>
          <a:xfrm>
            <a:off x="502920" y="585216"/>
            <a:ext cx="11183112" cy="786384"/>
          </a:xfrm>
          <a:prstGeom prst="rect">
            <a:avLst/>
          </a:prstGeom>
          <a:noFill/>
          <a:ln/>
        </p:spPr>
        <p:txBody>
          <a:bodyPr wrap="square" rtlCol="0" anchor="ctr"/>
          <a:lstStyle/>
          <a:p>
            <a:pPr indent="0" marL="0">
              <a:buNone/>
            </a:pPr>
            <a:r>
              <a:rPr lang="en-US" sz="3400" b="1" dirty="0">
                <a:solidFill>
                  <a:srgbClr val="002050"/>
                </a:solidFill>
                <a:latin typeface="Aptos Display" pitchFamily="34" charset="0"/>
                <a:ea typeface="Aptos Display" pitchFamily="34" charset="-122"/>
                <a:cs typeface="Aptos Display" pitchFamily="34" charset="-120"/>
              </a:rPr>
              <a:t>Resources for Getting Information</a:t>
            </a:r>
            <a:endParaRPr lang="en-US" sz="3400" dirty="0"/>
          </a:p>
        </p:txBody>
      </p:sp>
      <p:sp>
        <p:nvSpPr>
          <p:cNvPr id="7" name="Text 5"/>
          <p:cNvSpPr/>
          <p:nvPr/>
        </p:nvSpPr>
        <p:spPr>
          <a:xfrm>
            <a:off x="502920" y="1828800"/>
            <a:ext cx="11183112" cy="4663440"/>
          </a:xfrm>
          <a:prstGeom prst="rect">
            <a:avLst/>
          </a:prstGeom>
          <a:noFill/>
          <a:ln/>
        </p:spPr>
        <p:txBody>
          <a:bodyPr wrap="square" rtlCol="0" anchor="t"/>
          <a:lstStyle/>
          <a:p>
            <a:pPr indent="0" marL="0">
              <a:lnSpc>
                <a:spcPct val="112000"/>
              </a:lnSpc>
              <a:spcAft>
                <a:spcPts val="1200"/>
              </a:spcAft>
              <a:buNone/>
            </a:pPr>
            <a:r>
              <a:rPr lang="en-US" sz="1900" dirty="0">
                <a:solidFill>
                  <a:srgbClr val="002050"/>
                </a:solidFill>
                <a:latin typeface="Aptos" pitchFamily="34" charset="0"/>
                <a:ea typeface="Aptos" pitchFamily="34" charset="-122"/>
                <a:cs typeface="Aptos" pitchFamily="34" charset="-120"/>
              </a:rPr>
              <a:t>Firstly, all information which is available in the organisation must always be seen as confidential information. When information is made available to competitors, they may gain the upper hand and copy concepts and ideas from the organisation — which could lead to serious financial implications.
</a:t>
            </a:r>
            <a:endParaRPr lang="en-US" sz="1900" dirty="0"/>
          </a:p>
          <a:p>
            <a:pPr indent="0" marL="0">
              <a:lnSpc>
                <a:spcPct val="112000"/>
              </a:lnSpc>
              <a:spcAft>
                <a:spcPts val="1200"/>
              </a:spcAft>
              <a:buNone/>
            </a:pPr>
            <a:r>
              <a:rPr lang="en-US" sz="1900" dirty="0">
                <a:solidFill>
                  <a:srgbClr val="002050"/>
                </a:solidFill>
                <a:latin typeface="Aptos" pitchFamily="34" charset="0"/>
                <a:ea typeface="Aptos" pitchFamily="34" charset="-122"/>
                <a:cs typeface="Aptos" pitchFamily="34" charset="-120"/>
              </a:rPr>
              <a:t>Information centres in the organisation — such as operations, finance, research and development, and human resources — will have information about the organisation and will be able to give an authorised individual all the information they may need.</a:t>
            </a:r>
            <a:endParaRPr lang="en-US" sz="1900" dirty="0"/>
          </a:p>
        </p:txBody>
      </p:sp>
      <p:pic>
        <p:nvPicPr>
          <p:cNvPr id="8"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5637276" y="4663440"/>
            <a:ext cx="914400" cy="914400"/>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6473952"/>
            <a:ext cx="10268712" cy="274320"/>
          </a:xfrm>
          <a:prstGeom prst="rect">
            <a:avLst/>
          </a:prstGeom>
          <a:noFill/>
          <a:ln/>
        </p:spPr>
        <p:txBody>
          <a:bodyPr wrap="square" rtlCol="0" anchor="ctr"/>
          <a:lstStyle/>
          <a:p>
            <a:pPr indent="0" marL="0">
              <a:buNone/>
            </a:pPr>
            <a:r>
              <a:rPr lang="en-US" sz="1000" dirty="0">
                <a:solidFill>
                  <a:srgbClr val="6B7280"/>
                </a:solidFill>
                <a:latin typeface="Aptos" pitchFamily="34" charset="0"/>
                <a:ea typeface="Aptos" pitchFamily="34" charset="-122"/>
                <a:cs typeface="Aptos" pitchFamily="34" charset="-120"/>
              </a:rPr>
              <a:t>Unit Standard 8252 — Writing Business Reports   ·   Investec IT Systems Support NQF 5</a:t>
            </a:r>
            <a:endParaRPr lang="en-US" sz="1000" dirty="0"/>
          </a:p>
        </p:txBody>
      </p:sp>
      <p:sp>
        <p:nvSpPr>
          <p:cNvPr id="3" name="Text 1"/>
          <p:cNvSpPr/>
          <p:nvPr/>
        </p:nvSpPr>
        <p:spPr>
          <a:xfrm>
            <a:off x="11137392" y="6473952"/>
            <a:ext cx="548640" cy="274320"/>
          </a:xfrm>
          <a:prstGeom prst="rect">
            <a:avLst/>
          </a:prstGeom>
          <a:noFill/>
          <a:ln/>
        </p:spPr>
        <p:txBody>
          <a:bodyPr wrap="square" rtlCol="0" anchor="ctr"/>
          <a:lstStyle/>
          <a:p>
            <a:pPr algn="r" indent="0" marL="0">
              <a:buNone/>
            </a:pPr>
            <a:r>
              <a:rPr lang="en-US" sz="1000" dirty="0">
                <a:solidFill>
                  <a:srgbClr val="6B7280"/>
                </a:solidFill>
                <a:latin typeface="Aptos" pitchFamily="34" charset="0"/>
                <a:ea typeface="Aptos" pitchFamily="34" charset="-122"/>
                <a:cs typeface="Aptos" pitchFamily="34" charset="-120"/>
              </a:rPr>
              <a:t>29</a:t>
            </a:r>
            <a:endParaRPr lang="en-US" sz="1000" dirty="0"/>
          </a:p>
        </p:txBody>
      </p:sp>
      <p:sp>
        <p:nvSpPr>
          <p:cNvPr id="4" name="Shape 2"/>
          <p:cNvSpPr/>
          <p:nvPr/>
        </p:nvSpPr>
        <p:spPr>
          <a:xfrm>
            <a:off x="0" y="0"/>
            <a:ext cx="12188952" cy="82296"/>
          </a:xfrm>
          <a:prstGeom prst="rect">
            <a:avLst/>
          </a:prstGeom>
          <a:solidFill>
            <a:srgbClr val="0F6CBD"/>
          </a:solidFill>
          <a:ln/>
        </p:spPr>
      </p:sp>
      <p:sp>
        <p:nvSpPr>
          <p:cNvPr id="5" name="Text 3"/>
          <p:cNvSpPr/>
          <p:nvPr/>
        </p:nvSpPr>
        <p:spPr>
          <a:xfrm>
            <a:off x="502920" y="256032"/>
            <a:ext cx="11183112" cy="347472"/>
          </a:xfrm>
          <a:prstGeom prst="rect">
            <a:avLst/>
          </a:prstGeom>
          <a:noFill/>
          <a:ln/>
        </p:spPr>
        <p:txBody>
          <a:bodyPr wrap="square" rtlCol="0" anchor="ctr"/>
          <a:lstStyle/>
          <a:p>
            <a:pPr indent="0" marL="0">
              <a:buNone/>
            </a:pPr>
            <a:r>
              <a:rPr lang="en-US" sz="1400" b="1" spc="200" kern="0" dirty="0">
                <a:solidFill>
                  <a:srgbClr val="0F6CBD"/>
                </a:solidFill>
                <a:latin typeface="Aptos" pitchFamily="34" charset="0"/>
                <a:ea typeface="Aptos" pitchFamily="34" charset="-122"/>
                <a:cs typeface="Aptos" pitchFamily="34" charset="-120"/>
              </a:rPr>
              <a:t>OBTAINING &amp; DISTRIBUTING INFORMATION</a:t>
            </a:r>
            <a:endParaRPr lang="en-US" sz="1400" dirty="0"/>
          </a:p>
        </p:txBody>
      </p:sp>
      <p:sp>
        <p:nvSpPr>
          <p:cNvPr id="6" name="Text 4"/>
          <p:cNvSpPr/>
          <p:nvPr/>
        </p:nvSpPr>
        <p:spPr>
          <a:xfrm>
            <a:off x="502920" y="585216"/>
            <a:ext cx="11183112" cy="786384"/>
          </a:xfrm>
          <a:prstGeom prst="rect">
            <a:avLst/>
          </a:prstGeom>
          <a:noFill/>
          <a:ln/>
        </p:spPr>
        <p:txBody>
          <a:bodyPr wrap="square" rtlCol="0" anchor="ctr"/>
          <a:lstStyle/>
          <a:p>
            <a:pPr indent="0" marL="0">
              <a:buNone/>
            </a:pPr>
            <a:r>
              <a:rPr lang="en-US" sz="3400" b="1" dirty="0">
                <a:solidFill>
                  <a:srgbClr val="002050"/>
                </a:solidFill>
                <a:latin typeface="Aptos Display" pitchFamily="34" charset="0"/>
                <a:ea typeface="Aptos Display" pitchFamily="34" charset="-122"/>
                <a:cs typeface="Aptos Display" pitchFamily="34" charset="-120"/>
              </a:rPr>
              <a:t>Information Sourced From the Organisation</a:t>
            </a:r>
            <a:endParaRPr lang="en-US" sz="3400" dirty="0"/>
          </a:p>
        </p:txBody>
      </p:sp>
      <p:sp>
        <p:nvSpPr>
          <p:cNvPr id="7" name="Text 5"/>
          <p:cNvSpPr/>
          <p:nvPr/>
        </p:nvSpPr>
        <p:spPr>
          <a:xfrm>
            <a:off x="502920" y="1600200"/>
            <a:ext cx="11183112" cy="411480"/>
          </a:xfrm>
          <a:prstGeom prst="rect">
            <a:avLst/>
          </a:prstGeom>
          <a:noFill/>
          <a:ln/>
        </p:spPr>
        <p:txBody>
          <a:bodyPr wrap="square" rtlCol="0" anchor="ctr"/>
          <a:lstStyle/>
          <a:p>
            <a:pPr indent="0" marL="0">
              <a:buNone/>
            </a:pPr>
            <a:r>
              <a:rPr lang="en-US" sz="1750" dirty="0">
                <a:solidFill>
                  <a:srgbClr val="6B7280"/>
                </a:solidFill>
                <a:latin typeface="Aptos" pitchFamily="34" charset="0"/>
                <a:ea typeface="Aptos" pitchFamily="34" charset="-122"/>
                <a:cs typeface="Aptos" pitchFamily="34" charset="-120"/>
              </a:rPr>
              <a:t>Information can include, but is not limited to:</a:t>
            </a:r>
            <a:endParaRPr lang="en-US" sz="1750" dirty="0"/>
          </a:p>
        </p:txBody>
      </p:sp>
      <p:pic>
        <p:nvPicPr>
          <p:cNvPr id="8"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548640" y="2249424"/>
            <a:ext cx="365760" cy="365760"/>
          </a:xfrm>
          <a:prstGeom prst="rect">
            <a:avLst/>
          </a:prstGeom>
        </p:spPr>
      </p:pic>
      <p:sp>
        <p:nvSpPr>
          <p:cNvPr id="9" name="Text 6"/>
          <p:cNvSpPr/>
          <p:nvPr/>
        </p:nvSpPr>
        <p:spPr>
          <a:xfrm>
            <a:off x="1124712" y="2121408"/>
            <a:ext cx="10360152" cy="749808"/>
          </a:xfrm>
          <a:prstGeom prst="rect">
            <a:avLst/>
          </a:prstGeom>
          <a:noFill/>
          <a:ln/>
        </p:spPr>
        <p:txBody>
          <a:bodyPr wrap="square" rtlCol="0" anchor="ctr"/>
          <a:lstStyle/>
          <a:p>
            <a:pPr indent="0" marL="0">
              <a:lnSpc>
                <a:spcPct val="106000"/>
              </a:lnSpc>
              <a:buNone/>
            </a:pPr>
            <a:r>
              <a:rPr lang="en-US" sz="1750" dirty="0">
                <a:solidFill>
                  <a:srgbClr val="002050"/>
                </a:solidFill>
                <a:latin typeface="Aptos" pitchFamily="34" charset="0"/>
                <a:ea typeface="Aptos" pitchFamily="34" charset="-122"/>
                <a:cs typeface="Aptos" pitchFamily="34" charset="-120"/>
              </a:rPr>
              <a:t>Financial statements / reports</a:t>
            </a:r>
            <a:endParaRPr lang="en-US" sz="1750" dirty="0"/>
          </a:p>
        </p:txBody>
      </p:sp>
      <p:pic>
        <p:nvPicPr>
          <p:cNvPr id="10"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48640" y="2907792"/>
            <a:ext cx="365760" cy="365760"/>
          </a:xfrm>
          <a:prstGeom prst="rect">
            <a:avLst/>
          </a:prstGeom>
        </p:spPr>
      </p:pic>
      <p:sp>
        <p:nvSpPr>
          <p:cNvPr id="11" name="Text 7"/>
          <p:cNvSpPr/>
          <p:nvPr/>
        </p:nvSpPr>
        <p:spPr>
          <a:xfrm>
            <a:off x="1124712" y="2779776"/>
            <a:ext cx="10360152" cy="749808"/>
          </a:xfrm>
          <a:prstGeom prst="rect">
            <a:avLst/>
          </a:prstGeom>
          <a:noFill/>
          <a:ln/>
        </p:spPr>
        <p:txBody>
          <a:bodyPr wrap="square" rtlCol="0" anchor="ctr"/>
          <a:lstStyle/>
          <a:p>
            <a:pPr indent="0" marL="0">
              <a:lnSpc>
                <a:spcPct val="106000"/>
              </a:lnSpc>
              <a:buNone/>
            </a:pPr>
            <a:r>
              <a:rPr lang="en-US" sz="1750" dirty="0">
                <a:solidFill>
                  <a:srgbClr val="002050"/>
                </a:solidFill>
                <a:latin typeface="Aptos" pitchFamily="34" charset="0"/>
                <a:ea typeface="Aptos" pitchFamily="34" charset="-122"/>
                <a:cs typeface="Aptos" pitchFamily="34" charset="-120"/>
              </a:rPr>
              <a:t>Research and development activities</a:t>
            </a:r>
            <a:endParaRPr lang="en-US" sz="1750" dirty="0"/>
          </a:p>
        </p:txBody>
      </p:sp>
      <p:pic>
        <p:nvPicPr>
          <p:cNvPr id="12"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48640" y="3566160"/>
            <a:ext cx="365760" cy="365760"/>
          </a:xfrm>
          <a:prstGeom prst="rect">
            <a:avLst/>
          </a:prstGeom>
        </p:spPr>
      </p:pic>
      <p:sp>
        <p:nvSpPr>
          <p:cNvPr id="13" name="Text 8"/>
          <p:cNvSpPr/>
          <p:nvPr/>
        </p:nvSpPr>
        <p:spPr>
          <a:xfrm>
            <a:off x="1124712" y="3438144"/>
            <a:ext cx="10360152" cy="749808"/>
          </a:xfrm>
          <a:prstGeom prst="rect">
            <a:avLst/>
          </a:prstGeom>
          <a:noFill/>
          <a:ln/>
        </p:spPr>
        <p:txBody>
          <a:bodyPr wrap="square" rtlCol="0" anchor="ctr"/>
          <a:lstStyle/>
          <a:p>
            <a:pPr indent="0" marL="0">
              <a:lnSpc>
                <a:spcPct val="106000"/>
              </a:lnSpc>
              <a:buNone/>
            </a:pPr>
            <a:r>
              <a:rPr lang="en-US" sz="1750" dirty="0">
                <a:solidFill>
                  <a:srgbClr val="002050"/>
                </a:solidFill>
                <a:latin typeface="Aptos" pitchFamily="34" charset="0"/>
                <a:ea typeface="Aptos" pitchFamily="34" charset="-122"/>
                <a:cs typeface="Aptos" pitchFamily="34" charset="-120"/>
              </a:rPr>
              <a:t>Marketing and advertising strategies</a:t>
            </a:r>
            <a:endParaRPr lang="en-US" sz="1750" dirty="0"/>
          </a:p>
        </p:txBody>
      </p:sp>
      <p:pic>
        <p:nvPicPr>
          <p:cNvPr id="14"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548640" y="4224528"/>
            <a:ext cx="365760" cy="365760"/>
          </a:xfrm>
          <a:prstGeom prst="rect">
            <a:avLst/>
          </a:prstGeom>
        </p:spPr>
      </p:pic>
      <p:sp>
        <p:nvSpPr>
          <p:cNvPr id="15" name="Text 9"/>
          <p:cNvSpPr/>
          <p:nvPr/>
        </p:nvSpPr>
        <p:spPr>
          <a:xfrm>
            <a:off x="1124712" y="4096512"/>
            <a:ext cx="10360152" cy="749808"/>
          </a:xfrm>
          <a:prstGeom prst="rect">
            <a:avLst/>
          </a:prstGeom>
          <a:noFill/>
          <a:ln/>
        </p:spPr>
        <p:txBody>
          <a:bodyPr wrap="square" rtlCol="0" anchor="ctr"/>
          <a:lstStyle/>
          <a:p>
            <a:pPr indent="0" marL="0">
              <a:lnSpc>
                <a:spcPct val="106000"/>
              </a:lnSpc>
              <a:buNone/>
            </a:pPr>
            <a:r>
              <a:rPr lang="en-US" sz="1750" dirty="0">
                <a:solidFill>
                  <a:srgbClr val="002050"/>
                </a:solidFill>
                <a:latin typeface="Aptos" pitchFamily="34" charset="0"/>
                <a:ea typeface="Aptos" pitchFamily="34" charset="-122"/>
                <a:cs typeface="Aptos" pitchFamily="34" charset="-120"/>
              </a:rPr>
              <a:t>Human resource needs / expectations</a:t>
            </a:r>
            <a:endParaRPr lang="en-US" sz="1750" dirty="0"/>
          </a:p>
        </p:txBody>
      </p:sp>
      <p:pic>
        <p:nvPicPr>
          <p:cNvPr id="16" name="Image 4" descr="preencoded.png">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548640" y="4882896"/>
            <a:ext cx="365760" cy="365760"/>
          </a:xfrm>
          <a:prstGeom prst="rect">
            <a:avLst/>
          </a:prstGeom>
        </p:spPr>
      </p:pic>
      <p:sp>
        <p:nvSpPr>
          <p:cNvPr id="17" name="Text 10"/>
          <p:cNvSpPr/>
          <p:nvPr/>
        </p:nvSpPr>
        <p:spPr>
          <a:xfrm>
            <a:off x="1124712" y="4754880"/>
            <a:ext cx="10360152" cy="749808"/>
          </a:xfrm>
          <a:prstGeom prst="rect">
            <a:avLst/>
          </a:prstGeom>
          <a:noFill/>
          <a:ln/>
        </p:spPr>
        <p:txBody>
          <a:bodyPr wrap="square" rtlCol="0" anchor="ctr"/>
          <a:lstStyle/>
          <a:p>
            <a:pPr indent="0" marL="0">
              <a:lnSpc>
                <a:spcPct val="106000"/>
              </a:lnSpc>
              <a:buNone/>
            </a:pPr>
            <a:r>
              <a:rPr lang="en-US" sz="1750" dirty="0">
                <a:solidFill>
                  <a:srgbClr val="002050"/>
                </a:solidFill>
                <a:latin typeface="Aptos" pitchFamily="34" charset="0"/>
                <a:ea typeface="Aptos" pitchFamily="34" charset="-122"/>
                <a:cs typeface="Aptos" pitchFamily="34" charset="-120"/>
              </a:rPr>
              <a:t>Company vision regarding the long-term expectations and future of the organisation</a:t>
            </a:r>
            <a:endParaRPr lang="en-US" sz="1750" dirty="0"/>
          </a:p>
        </p:txBody>
      </p:sp>
      <p:pic>
        <p:nvPicPr>
          <p:cNvPr id="18" name="Image 5" descr="preencoded.png">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548640" y="5541264"/>
            <a:ext cx="365760" cy="365760"/>
          </a:xfrm>
          <a:prstGeom prst="rect">
            <a:avLst/>
          </a:prstGeom>
        </p:spPr>
      </p:pic>
      <p:sp>
        <p:nvSpPr>
          <p:cNvPr id="19" name="Text 11"/>
          <p:cNvSpPr/>
          <p:nvPr/>
        </p:nvSpPr>
        <p:spPr>
          <a:xfrm>
            <a:off x="1124712" y="5413248"/>
            <a:ext cx="10360152" cy="749808"/>
          </a:xfrm>
          <a:prstGeom prst="rect">
            <a:avLst/>
          </a:prstGeom>
          <a:noFill/>
          <a:ln/>
        </p:spPr>
        <p:txBody>
          <a:bodyPr wrap="square" rtlCol="0" anchor="ctr"/>
          <a:lstStyle/>
          <a:p>
            <a:pPr indent="0" marL="0">
              <a:lnSpc>
                <a:spcPct val="106000"/>
              </a:lnSpc>
              <a:buNone/>
            </a:pPr>
            <a:r>
              <a:rPr lang="en-US" sz="1750" dirty="0">
                <a:solidFill>
                  <a:srgbClr val="002050"/>
                </a:solidFill>
                <a:latin typeface="Aptos" pitchFamily="34" charset="0"/>
                <a:ea typeface="Aptos" pitchFamily="34" charset="-122"/>
                <a:cs typeface="Aptos" pitchFamily="34" charset="-120"/>
              </a:rPr>
              <a:t>Project-specific information of certain aspects of projects undertaken by the organisation</a:t>
            </a:r>
            <a:endParaRPr lang="en-US" sz="17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6473952"/>
            <a:ext cx="10268712" cy="274320"/>
          </a:xfrm>
          <a:prstGeom prst="rect">
            <a:avLst/>
          </a:prstGeom>
          <a:noFill/>
          <a:ln/>
        </p:spPr>
        <p:txBody>
          <a:bodyPr wrap="square" rtlCol="0" anchor="ctr"/>
          <a:lstStyle/>
          <a:p>
            <a:pPr indent="0" marL="0">
              <a:buNone/>
            </a:pPr>
            <a:r>
              <a:rPr lang="en-US" sz="1000" dirty="0">
                <a:solidFill>
                  <a:srgbClr val="6B7280"/>
                </a:solidFill>
                <a:latin typeface="Aptos" pitchFamily="34" charset="0"/>
                <a:ea typeface="Aptos" pitchFamily="34" charset="-122"/>
                <a:cs typeface="Aptos" pitchFamily="34" charset="-120"/>
              </a:rPr>
              <a:t>Unit Standard 8252 — Writing Business Reports   ·   Investec IT Systems Support NQF 5</a:t>
            </a:r>
            <a:endParaRPr lang="en-US" sz="1000" dirty="0"/>
          </a:p>
        </p:txBody>
      </p:sp>
      <p:sp>
        <p:nvSpPr>
          <p:cNvPr id="3" name="Text 1"/>
          <p:cNvSpPr/>
          <p:nvPr/>
        </p:nvSpPr>
        <p:spPr>
          <a:xfrm>
            <a:off x="11137392" y="6473952"/>
            <a:ext cx="548640" cy="274320"/>
          </a:xfrm>
          <a:prstGeom prst="rect">
            <a:avLst/>
          </a:prstGeom>
          <a:noFill/>
          <a:ln/>
        </p:spPr>
        <p:txBody>
          <a:bodyPr wrap="square" rtlCol="0" anchor="ctr"/>
          <a:lstStyle/>
          <a:p>
            <a:pPr algn="r" indent="0" marL="0">
              <a:buNone/>
            </a:pPr>
            <a:r>
              <a:rPr lang="en-US" sz="1000" dirty="0">
                <a:solidFill>
                  <a:srgbClr val="6B7280"/>
                </a:solidFill>
                <a:latin typeface="Aptos" pitchFamily="34" charset="0"/>
                <a:ea typeface="Aptos" pitchFamily="34" charset="-122"/>
                <a:cs typeface="Aptos" pitchFamily="34" charset="-120"/>
              </a:rPr>
              <a:t>30</a:t>
            </a:r>
            <a:endParaRPr lang="en-US" sz="1000" dirty="0"/>
          </a:p>
        </p:txBody>
      </p:sp>
      <p:sp>
        <p:nvSpPr>
          <p:cNvPr id="4" name="Shape 2"/>
          <p:cNvSpPr/>
          <p:nvPr/>
        </p:nvSpPr>
        <p:spPr>
          <a:xfrm>
            <a:off x="0" y="0"/>
            <a:ext cx="12188952" cy="82296"/>
          </a:xfrm>
          <a:prstGeom prst="rect">
            <a:avLst/>
          </a:prstGeom>
          <a:solidFill>
            <a:srgbClr val="0F6CBD"/>
          </a:solidFill>
          <a:ln/>
        </p:spPr>
      </p:sp>
      <p:sp>
        <p:nvSpPr>
          <p:cNvPr id="5" name="Text 3"/>
          <p:cNvSpPr/>
          <p:nvPr/>
        </p:nvSpPr>
        <p:spPr>
          <a:xfrm>
            <a:off x="502920" y="256032"/>
            <a:ext cx="11183112" cy="347472"/>
          </a:xfrm>
          <a:prstGeom prst="rect">
            <a:avLst/>
          </a:prstGeom>
          <a:noFill/>
          <a:ln/>
        </p:spPr>
        <p:txBody>
          <a:bodyPr wrap="square" rtlCol="0" anchor="ctr"/>
          <a:lstStyle/>
          <a:p>
            <a:pPr indent="0" marL="0">
              <a:buNone/>
            </a:pPr>
            <a:r>
              <a:rPr lang="en-US" sz="1400" b="1" spc="200" kern="0" dirty="0">
                <a:solidFill>
                  <a:srgbClr val="0F6CBD"/>
                </a:solidFill>
                <a:latin typeface="Aptos" pitchFamily="34" charset="0"/>
                <a:ea typeface="Aptos" pitchFamily="34" charset="-122"/>
                <a:cs typeface="Aptos" pitchFamily="34" charset="-120"/>
              </a:rPr>
              <a:t>OBTAINING &amp; DISTRIBUTING INFORMATION</a:t>
            </a:r>
            <a:endParaRPr lang="en-US" sz="1400" dirty="0"/>
          </a:p>
        </p:txBody>
      </p:sp>
      <p:sp>
        <p:nvSpPr>
          <p:cNvPr id="6" name="Text 4"/>
          <p:cNvSpPr/>
          <p:nvPr/>
        </p:nvSpPr>
        <p:spPr>
          <a:xfrm>
            <a:off x="502920" y="585216"/>
            <a:ext cx="11183112" cy="786384"/>
          </a:xfrm>
          <a:prstGeom prst="rect">
            <a:avLst/>
          </a:prstGeom>
          <a:noFill/>
          <a:ln/>
        </p:spPr>
        <p:txBody>
          <a:bodyPr wrap="square" rtlCol="0" anchor="ctr"/>
          <a:lstStyle/>
          <a:p>
            <a:pPr indent="0" marL="0">
              <a:buNone/>
            </a:pPr>
            <a:r>
              <a:rPr lang="en-US" sz="3400" b="1" dirty="0">
                <a:solidFill>
                  <a:srgbClr val="002050"/>
                </a:solidFill>
                <a:latin typeface="Aptos Display" pitchFamily="34" charset="0"/>
                <a:ea typeface="Aptos Display" pitchFamily="34" charset="-122"/>
                <a:cs typeface="Aptos Display" pitchFamily="34" charset="-120"/>
              </a:rPr>
              <a:t>Procedures for Distributing Information</a:t>
            </a:r>
            <a:endParaRPr lang="en-US" sz="3400" dirty="0"/>
          </a:p>
        </p:txBody>
      </p:sp>
      <p:sp>
        <p:nvSpPr>
          <p:cNvPr id="7" name="Text 5"/>
          <p:cNvSpPr/>
          <p:nvPr/>
        </p:nvSpPr>
        <p:spPr>
          <a:xfrm>
            <a:off x="502920" y="1600200"/>
            <a:ext cx="11183112" cy="1737360"/>
          </a:xfrm>
          <a:prstGeom prst="rect">
            <a:avLst/>
          </a:prstGeom>
          <a:noFill/>
          <a:ln/>
        </p:spPr>
        <p:txBody>
          <a:bodyPr wrap="square" rtlCol="0" anchor="t"/>
          <a:lstStyle/>
          <a:p>
            <a:pPr indent="0" marL="0">
              <a:lnSpc>
                <a:spcPct val="112000"/>
              </a:lnSpc>
              <a:spcAft>
                <a:spcPts val="1200"/>
              </a:spcAft>
              <a:buNone/>
            </a:pPr>
            <a:r>
              <a:rPr lang="en-US" sz="1650" dirty="0">
                <a:solidFill>
                  <a:srgbClr val="002050"/>
                </a:solidFill>
                <a:latin typeface="Aptos" pitchFamily="34" charset="0"/>
                <a:ea typeface="Aptos" pitchFamily="34" charset="-122"/>
                <a:cs typeface="Aptos" pitchFamily="34" charset="-120"/>
              </a:rPr>
              <a:t>Distributing information about the organisation must be handled in a very delicate manner and the recipients of such information must be selected carefully.
</a:t>
            </a:r>
            <a:endParaRPr lang="en-US" sz="1650" dirty="0"/>
          </a:p>
          <a:p>
            <a:pPr indent="0" marL="0">
              <a:lnSpc>
                <a:spcPct val="112000"/>
              </a:lnSpc>
              <a:spcAft>
                <a:spcPts val="1200"/>
              </a:spcAft>
              <a:buNone/>
            </a:pPr>
            <a:r>
              <a:rPr lang="en-US" sz="1650" dirty="0">
                <a:solidFill>
                  <a:srgbClr val="002050"/>
                </a:solidFill>
                <a:latin typeface="Aptos" pitchFamily="34" charset="0"/>
                <a:ea typeface="Aptos" pitchFamily="34" charset="-122"/>
                <a:cs typeface="Aptos" pitchFamily="34" charset="-120"/>
              </a:rPr>
              <a:t>Depending on the severity of the information and the level of security and/or risk attached to it, recipients should be graded on whether or not they are liable to obtain such information.</a:t>
            </a:r>
            <a:endParaRPr lang="en-US" sz="1650" dirty="0"/>
          </a:p>
        </p:txBody>
      </p:sp>
      <p:sp>
        <p:nvSpPr>
          <p:cNvPr id="8" name="Shape 6"/>
          <p:cNvSpPr/>
          <p:nvPr/>
        </p:nvSpPr>
        <p:spPr>
          <a:xfrm>
            <a:off x="502920" y="3429000"/>
            <a:ext cx="11183112" cy="795528"/>
          </a:xfrm>
          <a:prstGeom prst="roundRect">
            <a:avLst>
              <a:gd name="adj" fmla="val 10345"/>
            </a:avLst>
          </a:prstGeom>
          <a:solidFill>
            <a:srgbClr val="FFFFFF"/>
          </a:solidFill>
          <a:ln w="12700">
            <a:solidFill>
              <a:srgbClr val="D5E3F2"/>
            </a:solidFill>
            <a:prstDash val="solid"/>
          </a:ln>
          <a:effectLst>
            <a:outerShdw sx="100000" sy="100000" kx="0" ky="0" algn="bl" rotWithShape="0" blurRad="88900" dist="25400" dir="5400000">
              <a:srgbClr val="9AB4CC">
                <a:alpha val="30000"/>
              </a:srgbClr>
            </a:outerShdw>
          </a:effectLst>
        </p:spPr>
      </p:sp>
      <p:sp>
        <p:nvSpPr>
          <p:cNvPr id="9" name="Shape 7"/>
          <p:cNvSpPr/>
          <p:nvPr/>
        </p:nvSpPr>
        <p:spPr>
          <a:xfrm>
            <a:off x="502920" y="3429000"/>
            <a:ext cx="82296" cy="795528"/>
          </a:xfrm>
          <a:prstGeom prst="rect">
            <a:avLst/>
          </a:prstGeom>
          <a:solidFill>
            <a:srgbClr val="0F6CBD"/>
          </a:solidFill>
          <a:ln/>
        </p:spPr>
      </p:sp>
      <p:pic>
        <p:nvPicPr>
          <p:cNvPr id="10"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58952" y="3593592"/>
            <a:ext cx="365760" cy="365760"/>
          </a:xfrm>
          <a:prstGeom prst="rect">
            <a:avLst/>
          </a:prstGeom>
        </p:spPr>
      </p:pic>
      <p:sp>
        <p:nvSpPr>
          <p:cNvPr id="11" name="Text 8"/>
          <p:cNvSpPr/>
          <p:nvPr/>
        </p:nvSpPr>
        <p:spPr>
          <a:xfrm>
            <a:off x="1280160" y="3538728"/>
            <a:ext cx="10131552" cy="576072"/>
          </a:xfrm>
          <a:prstGeom prst="rect">
            <a:avLst/>
          </a:prstGeom>
          <a:noFill/>
          <a:ln/>
        </p:spPr>
        <p:txBody>
          <a:bodyPr wrap="square" rtlCol="0" anchor="ctr"/>
          <a:lstStyle/>
          <a:p>
            <a:pPr indent="0" marL="0">
              <a:lnSpc>
                <a:spcPct val="108000"/>
              </a:lnSpc>
              <a:buNone/>
            </a:pPr>
            <a:r>
              <a:rPr lang="en-US" sz="1800" b="1" dirty="0">
                <a:solidFill>
                  <a:srgbClr val="002050"/>
                </a:solidFill>
                <a:latin typeface="Aptos Display" pitchFamily="34" charset="0"/>
                <a:ea typeface="Aptos Display" pitchFamily="34" charset="-122"/>
                <a:cs typeface="Aptos Display" pitchFamily="34" charset="-120"/>
              </a:rPr>
              <a:t>Be careful with sharing
</a:t>
            </a:r>
            <a:pPr indent="0" marL="0">
              <a:lnSpc>
                <a:spcPct val="108000"/>
              </a:lnSpc>
              <a:buNone/>
            </a:pPr>
            <a:r>
              <a:rPr lang="en-US" sz="1450" dirty="0">
                <a:solidFill>
                  <a:srgbClr val="002050"/>
                </a:solidFill>
                <a:latin typeface="Aptos" pitchFamily="34" charset="0"/>
                <a:ea typeface="Aptos" pitchFamily="34" charset="-122"/>
                <a:cs typeface="Aptos" pitchFamily="34" charset="-120"/>
              </a:rPr>
              <a:t>You must handle company information delicately and be very picky about who you send it to.</a:t>
            </a:r>
            <a:endParaRPr lang="en-US" sz="1800" dirty="0"/>
          </a:p>
        </p:txBody>
      </p:sp>
      <p:sp>
        <p:nvSpPr>
          <p:cNvPr id="12" name="Shape 9"/>
          <p:cNvSpPr/>
          <p:nvPr/>
        </p:nvSpPr>
        <p:spPr>
          <a:xfrm>
            <a:off x="502920" y="4425696"/>
            <a:ext cx="11183112" cy="795528"/>
          </a:xfrm>
          <a:prstGeom prst="roundRect">
            <a:avLst>
              <a:gd name="adj" fmla="val 10345"/>
            </a:avLst>
          </a:prstGeom>
          <a:solidFill>
            <a:srgbClr val="EAF4FF"/>
          </a:solidFill>
          <a:ln w="12700">
            <a:solidFill>
              <a:srgbClr val="D5E3F2"/>
            </a:solidFill>
            <a:prstDash val="solid"/>
          </a:ln>
          <a:effectLst>
            <a:outerShdw sx="100000" sy="100000" kx="0" ky="0" algn="bl" rotWithShape="0" blurRad="88900" dist="25400" dir="5400000">
              <a:srgbClr val="9AB4CC">
                <a:alpha val="30000"/>
              </a:srgbClr>
            </a:outerShdw>
          </a:effectLst>
        </p:spPr>
      </p:sp>
      <p:sp>
        <p:nvSpPr>
          <p:cNvPr id="13" name="Shape 10"/>
          <p:cNvSpPr/>
          <p:nvPr/>
        </p:nvSpPr>
        <p:spPr>
          <a:xfrm>
            <a:off x="502920" y="4425696"/>
            <a:ext cx="82296" cy="795528"/>
          </a:xfrm>
          <a:prstGeom prst="rect">
            <a:avLst/>
          </a:prstGeom>
          <a:solidFill>
            <a:srgbClr val="0F6CBD"/>
          </a:solidFill>
          <a:ln/>
        </p:spPr>
      </p:sp>
      <p:pic>
        <p:nvPicPr>
          <p:cNvPr id="14"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58952" y="4590288"/>
            <a:ext cx="365760" cy="365760"/>
          </a:xfrm>
          <a:prstGeom prst="rect">
            <a:avLst/>
          </a:prstGeom>
        </p:spPr>
      </p:pic>
      <p:sp>
        <p:nvSpPr>
          <p:cNvPr id="15" name="Text 11"/>
          <p:cNvSpPr/>
          <p:nvPr/>
        </p:nvSpPr>
        <p:spPr>
          <a:xfrm>
            <a:off x="1280160" y="4535424"/>
            <a:ext cx="10131552" cy="576072"/>
          </a:xfrm>
          <a:prstGeom prst="rect">
            <a:avLst/>
          </a:prstGeom>
          <a:noFill/>
          <a:ln/>
        </p:spPr>
        <p:txBody>
          <a:bodyPr wrap="square" rtlCol="0" anchor="ctr"/>
          <a:lstStyle/>
          <a:p>
            <a:pPr indent="0" marL="0">
              <a:lnSpc>
                <a:spcPct val="108000"/>
              </a:lnSpc>
              <a:buNone/>
            </a:pPr>
            <a:r>
              <a:rPr lang="en-US" sz="1800" b="1" dirty="0">
                <a:solidFill>
                  <a:srgbClr val="002050"/>
                </a:solidFill>
                <a:latin typeface="Aptos Display" pitchFamily="34" charset="0"/>
                <a:ea typeface="Aptos Display" pitchFamily="34" charset="-122"/>
                <a:cs typeface="Aptos Display" pitchFamily="34" charset="-120"/>
              </a:rPr>
              <a:t>Check permission levels
</a:t>
            </a:r>
            <a:pPr indent="0" marL="0">
              <a:lnSpc>
                <a:spcPct val="108000"/>
              </a:lnSpc>
              <a:buNone/>
            </a:pPr>
            <a:r>
              <a:rPr lang="en-US" sz="1450" dirty="0">
                <a:solidFill>
                  <a:srgbClr val="002050"/>
                </a:solidFill>
                <a:latin typeface="Aptos" pitchFamily="34" charset="0"/>
                <a:ea typeface="Aptos" pitchFamily="34" charset="-122"/>
                <a:cs typeface="Aptos" pitchFamily="34" charset="-120"/>
              </a:rPr>
              <a:t>Before sharing anything sensitive or risky, check if the person has the right clearance or permission level to see it.</a:t>
            </a:r>
            <a:endParaRPr lang="en-US" sz="1800" dirty="0"/>
          </a:p>
        </p:txBody>
      </p:sp>
      <p:sp>
        <p:nvSpPr>
          <p:cNvPr id="16" name="Shape 12"/>
          <p:cNvSpPr/>
          <p:nvPr/>
        </p:nvSpPr>
        <p:spPr>
          <a:xfrm>
            <a:off x="502920" y="5422392"/>
            <a:ext cx="11183112" cy="795528"/>
          </a:xfrm>
          <a:prstGeom prst="roundRect">
            <a:avLst>
              <a:gd name="adj" fmla="val 10345"/>
            </a:avLst>
          </a:prstGeom>
          <a:solidFill>
            <a:srgbClr val="FFFFFF"/>
          </a:solidFill>
          <a:ln w="12700">
            <a:solidFill>
              <a:srgbClr val="D5E3F2"/>
            </a:solidFill>
            <a:prstDash val="solid"/>
          </a:ln>
          <a:effectLst>
            <a:outerShdw sx="100000" sy="100000" kx="0" ky="0" algn="bl" rotWithShape="0" blurRad="88900" dist="25400" dir="5400000">
              <a:srgbClr val="9AB4CC">
                <a:alpha val="30000"/>
              </a:srgbClr>
            </a:outerShdw>
          </a:effectLst>
        </p:spPr>
      </p:sp>
      <p:sp>
        <p:nvSpPr>
          <p:cNvPr id="17" name="Shape 13"/>
          <p:cNvSpPr/>
          <p:nvPr/>
        </p:nvSpPr>
        <p:spPr>
          <a:xfrm>
            <a:off x="502920" y="5422392"/>
            <a:ext cx="82296" cy="795528"/>
          </a:xfrm>
          <a:prstGeom prst="rect">
            <a:avLst/>
          </a:prstGeom>
          <a:solidFill>
            <a:srgbClr val="0F6CBD"/>
          </a:solidFill>
          <a:ln/>
        </p:spPr>
      </p:sp>
      <p:pic>
        <p:nvPicPr>
          <p:cNvPr id="18"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58952" y="5586984"/>
            <a:ext cx="365760" cy="365760"/>
          </a:xfrm>
          <a:prstGeom prst="rect">
            <a:avLst/>
          </a:prstGeom>
        </p:spPr>
      </p:pic>
      <p:sp>
        <p:nvSpPr>
          <p:cNvPr id="19" name="Text 14"/>
          <p:cNvSpPr/>
          <p:nvPr/>
        </p:nvSpPr>
        <p:spPr>
          <a:xfrm>
            <a:off x="1280160" y="5532120"/>
            <a:ext cx="10131552" cy="576072"/>
          </a:xfrm>
          <a:prstGeom prst="rect">
            <a:avLst/>
          </a:prstGeom>
          <a:noFill/>
          <a:ln/>
        </p:spPr>
        <p:txBody>
          <a:bodyPr wrap="square" rtlCol="0" anchor="ctr"/>
          <a:lstStyle/>
          <a:p>
            <a:pPr indent="0" marL="0">
              <a:lnSpc>
                <a:spcPct val="108000"/>
              </a:lnSpc>
              <a:buNone/>
            </a:pPr>
            <a:r>
              <a:rPr lang="en-US" sz="1800" b="1" dirty="0">
                <a:solidFill>
                  <a:srgbClr val="002050"/>
                </a:solidFill>
                <a:latin typeface="Aptos Display" pitchFamily="34" charset="0"/>
                <a:ea typeface="Aptos Display" pitchFamily="34" charset="-122"/>
                <a:cs typeface="Aptos Display" pitchFamily="34" charset="-120"/>
              </a:rPr>
              <a:t>Share only what is needed
</a:t>
            </a:r>
            <a:pPr indent="0" marL="0">
              <a:lnSpc>
                <a:spcPct val="108000"/>
              </a:lnSpc>
              <a:buNone/>
            </a:pPr>
            <a:r>
              <a:rPr lang="en-US" sz="1450" dirty="0">
                <a:solidFill>
                  <a:srgbClr val="002050"/>
                </a:solidFill>
                <a:latin typeface="Aptos" pitchFamily="34" charset="0"/>
                <a:ea typeface="Aptos" pitchFamily="34" charset="-122"/>
                <a:cs typeface="Aptos" pitchFamily="34" charset="-120"/>
              </a:rPr>
              <a:t>Employees should only get information that they actually need to do their specific job.</a:t>
            </a:r>
            <a:endParaRPr lang="en-US" sz="18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6473952"/>
            <a:ext cx="10268712" cy="274320"/>
          </a:xfrm>
          <a:prstGeom prst="rect">
            <a:avLst/>
          </a:prstGeom>
          <a:noFill/>
          <a:ln/>
        </p:spPr>
        <p:txBody>
          <a:bodyPr wrap="square" rtlCol="0" anchor="ctr"/>
          <a:lstStyle/>
          <a:p>
            <a:pPr indent="0" marL="0">
              <a:buNone/>
            </a:pPr>
            <a:r>
              <a:rPr lang="en-US" sz="1000" dirty="0">
                <a:solidFill>
                  <a:srgbClr val="6B7280"/>
                </a:solidFill>
                <a:latin typeface="Aptos" pitchFamily="34" charset="0"/>
                <a:ea typeface="Aptos" pitchFamily="34" charset="-122"/>
                <a:cs typeface="Aptos" pitchFamily="34" charset="-120"/>
              </a:rPr>
              <a:t>Unit Standard 8252 — Writing Business Reports   ·   Investec IT Systems Support NQF 5</a:t>
            </a:r>
            <a:endParaRPr lang="en-US" sz="1000" dirty="0"/>
          </a:p>
        </p:txBody>
      </p:sp>
      <p:sp>
        <p:nvSpPr>
          <p:cNvPr id="3" name="Text 1"/>
          <p:cNvSpPr/>
          <p:nvPr/>
        </p:nvSpPr>
        <p:spPr>
          <a:xfrm>
            <a:off x="11137392" y="6473952"/>
            <a:ext cx="548640" cy="274320"/>
          </a:xfrm>
          <a:prstGeom prst="rect">
            <a:avLst/>
          </a:prstGeom>
          <a:noFill/>
          <a:ln/>
        </p:spPr>
        <p:txBody>
          <a:bodyPr wrap="square" rtlCol="0" anchor="ctr"/>
          <a:lstStyle/>
          <a:p>
            <a:pPr algn="r" indent="0" marL="0">
              <a:buNone/>
            </a:pPr>
            <a:r>
              <a:rPr lang="en-US" sz="1000" dirty="0">
                <a:solidFill>
                  <a:srgbClr val="6B7280"/>
                </a:solidFill>
                <a:latin typeface="Aptos" pitchFamily="34" charset="0"/>
                <a:ea typeface="Aptos" pitchFamily="34" charset="-122"/>
                <a:cs typeface="Aptos" pitchFamily="34" charset="-120"/>
              </a:rPr>
              <a:t>31</a:t>
            </a:r>
            <a:endParaRPr lang="en-US" sz="1000" dirty="0"/>
          </a:p>
        </p:txBody>
      </p:sp>
      <p:sp>
        <p:nvSpPr>
          <p:cNvPr id="4" name="Shape 2"/>
          <p:cNvSpPr/>
          <p:nvPr/>
        </p:nvSpPr>
        <p:spPr>
          <a:xfrm>
            <a:off x="0" y="0"/>
            <a:ext cx="12188952" cy="82296"/>
          </a:xfrm>
          <a:prstGeom prst="rect">
            <a:avLst/>
          </a:prstGeom>
          <a:solidFill>
            <a:srgbClr val="0F6CBD"/>
          </a:solidFill>
          <a:ln/>
        </p:spPr>
      </p:sp>
      <p:sp>
        <p:nvSpPr>
          <p:cNvPr id="5" name="Text 3"/>
          <p:cNvSpPr/>
          <p:nvPr/>
        </p:nvSpPr>
        <p:spPr>
          <a:xfrm>
            <a:off x="502920" y="256032"/>
            <a:ext cx="11183112" cy="347472"/>
          </a:xfrm>
          <a:prstGeom prst="rect">
            <a:avLst/>
          </a:prstGeom>
          <a:noFill/>
          <a:ln/>
        </p:spPr>
        <p:txBody>
          <a:bodyPr wrap="square" rtlCol="0" anchor="ctr"/>
          <a:lstStyle/>
          <a:p>
            <a:pPr indent="0" marL="0">
              <a:buNone/>
            </a:pPr>
            <a:r>
              <a:rPr lang="en-US" sz="1400" b="1" spc="200" kern="0" dirty="0">
                <a:solidFill>
                  <a:srgbClr val="0F6CBD"/>
                </a:solidFill>
                <a:latin typeface="Aptos" pitchFamily="34" charset="0"/>
                <a:ea typeface="Aptos" pitchFamily="34" charset="-122"/>
                <a:cs typeface="Aptos" pitchFamily="34" charset="-120"/>
              </a:rPr>
              <a:t>OBTAINING &amp; DISTRIBUTING INFORMATION</a:t>
            </a:r>
            <a:endParaRPr lang="en-US" sz="1400" dirty="0"/>
          </a:p>
        </p:txBody>
      </p:sp>
      <p:sp>
        <p:nvSpPr>
          <p:cNvPr id="6" name="Text 4"/>
          <p:cNvSpPr/>
          <p:nvPr/>
        </p:nvSpPr>
        <p:spPr>
          <a:xfrm>
            <a:off x="502920" y="585216"/>
            <a:ext cx="11183112" cy="786384"/>
          </a:xfrm>
          <a:prstGeom prst="rect">
            <a:avLst/>
          </a:prstGeom>
          <a:noFill/>
          <a:ln/>
        </p:spPr>
        <p:txBody>
          <a:bodyPr wrap="square" rtlCol="0" anchor="ctr"/>
          <a:lstStyle/>
          <a:p>
            <a:pPr indent="0" marL="0">
              <a:buNone/>
            </a:pPr>
            <a:r>
              <a:rPr lang="en-US" sz="3400" b="1" dirty="0">
                <a:solidFill>
                  <a:srgbClr val="002050"/>
                </a:solidFill>
                <a:latin typeface="Aptos Display" pitchFamily="34" charset="0"/>
                <a:ea typeface="Aptos Display" pitchFamily="34" charset="-122"/>
                <a:cs typeface="Aptos Display" pitchFamily="34" charset="-120"/>
              </a:rPr>
              <a:t>✖ What NOT to Do (Examples of Mistakes)</a:t>
            </a:r>
            <a:endParaRPr lang="en-US" sz="3400" dirty="0"/>
          </a:p>
        </p:txBody>
      </p:sp>
      <p:sp>
        <p:nvSpPr>
          <p:cNvPr id="7" name="Shape 5"/>
          <p:cNvSpPr/>
          <p:nvPr/>
        </p:nvSpPr>
        <p:spPr>
          <a:xfrm>
            <a:off x="502920" y="1691640"/>
            <a:ext cx="11183112" cy="1298448"/>
          </a:xfrm>
          <a:prstGeom prst="roundRect">
            <a:avLst>
              <a:gd name="adj" fmla="val 6338"/>
            </a:avLst>
          </a:prstGeom>
          <a:solidFill>
            <a:srgbClr val="FFFFFF"/>
          </a:solidFill>
          <a:ln w="12700">
            <a:solidFill>
              <a:srgbClr val="D5E3F2"/>
            </a:solidFill>
            <a:prstDash val="solid"/>
          </a:ln>
          <a:effectLst>
            <a:outerShdw sx="100000" sy="100000" kx="0" ky="0" algn="bl" rotWithShape="0" blurRad="88900" dist="25400" dir="5400000">
              <a:srgbClr val="9AB4CC">
                <a:alpha val="30000"/>
              </a:srgbClr>
            </a:outerShdw>
          </a:effectLst>
        </p:spPr>
      </p:sp>
      <p:sp>
        <p:nvSpPr>
          <p:cNvPr id="8" name="Shape 6"/>
          <p:cNvSpPr/>
          <p:nvPr/>
        </p:nvSpPr>
        <p:spPr>
          <a:xfrm>
            <a:off x="502920" y="1691640"/>
            <a:ext cx="82296" cy="1298448"/>
          </a:xfrm>
          <a:prstGeom prst="rect">
            <a:avLst/>
          </a:prstGeom>
          <a:solidFill>
            <a:srgbClr val="0F6CBD"/>
          </a:solidFill>
          <a:ln/>
        </p:spPr>
      </p:sp>
      <p:pic>
        <p:nvPicPr>
          <p:cNvPr id="9"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58952" y="1856232"/>
            <a:ext cx="365760" cy="365760"/>
          </a:xfrm>
          <a:prstGeom prst="rect">
            <a:avLst/>
          </a:prstGeom>
        </p:spPr>
      </p:pic>
      <p:sp>
        <p:nvSpPr>
          <p:cNvPr id="10" name="Text 7"/>
          <p:cNvSpPr/>
          <p:nvPr/>
        </p:nvSpPr>
        <p:spPr>
          <a:xfrm>
            <a:off x="1280160" y="1801368"/>
            <a:ext cx="10131552" cy="1078992"/>
          </a:xfrm>
          <a:prstGeom prst="rect">
            <a:avLst/>
          </a:prstGeom>
          <a:noFill/>
          <a:ln/>
        </p:spPr>
        <p:txBody>
          <a:bodyPr wrap="square" rtlCol="0" anchor="ctr"/>
          <a:lstStyle/>
          <a:p>
            <a:pPr indent="0" marL="0">
              <a:lnSpc>
                <a:spcPct val="108000"/>
              </a:lnSpc>
              <a:buNone/>
            </a:pPr>
            <a:r>
              <a:rPr lang="en-US" sz="1950" b="1" dirty="0">
                <a:solidFill>
                  <a:srgbClr val="002050"/>
                </a:solidFill>
                <a:latin typeface="Aptos Display" pitchFamily="34" charset="0"/>
                <a:ea typeface="Aptos Display" pitchFamily="34" charset="-122"/>
                <a:cs typeface="Aptos Display" pitchFamily="34" charset="-120"/>
              </a:rPr>
              <a:t>Do not send to everyone
</a:t>
            </a:r>
            <a:pPr indent="0" marL="0">
              <a:lnSpc>
                <a:spcPct val="108000"/>
              </a:lnSpc>
              <a:buNone/>
            </a:pPr>
            <a:r>
              <a:rPr lang="en-US" sz="1600" dirty="0">
                <a:solidFill>
                  <a:srgbClr val="002050"/>
                </a:solidFill>
                <a:latin typeface="Aptos" pitchFamily="34" charset="0"/>
                <a:ea typeface="Aptos" pitchFamily="34" charset="-122"/>
                <a:cs typeface="Aptos" pitchFamily="34" charset="-120"/>
              </a:rPr>
              <a:t>Never blast a company-wide email containing private client data or financial reports.</a:t>
            </a:r>
            <a:endParaRPr lang="en-US" sz="1950" dirty="0"/>
          </a:p>
        </p:txBody>
      </p:sp>
      <p:sp>
        <p:nvSpPr>
          <p:cNvPr id="11" name="Shape 8"/>
          <p:cNvSpPr/>
          <p:nvPr/>
        </p:nvSpPr>
        <p:spPr>
          <a:xfrm>
            <a:off x="502920" y="3191256"/>
            <a:ext cx="11183112" cy="1298448"/>
          </a:xfrm>
          <a:prstGeom prst="roundRect">
            <a:avLst>
              <a:gd name="adj" fmla="val 6338"/>
            </a:avLst>
          </a:prstGeom>
          <a:solidFill>
            <a:srgbClr val="EAF4FF"/>
          </a:solidFill>
          <a:ln w="12700">
            <a:solidFill>
              <a:srgbClr val="D5E3F2"/>
            </a:solidFill>
            <a:prstDash val="solid"/>
          </a:ln>
          <a:effectLst>
            <a:outerShdw sx="100000" sy="100000" kx="0" ky="0" algn="bl" rotWithShape="0" blurRad="88900" dist="25400" dir="5400000">
              <a:srgbClr val="9AB4CC">
                <a:alpha val="30000"/>
              </a:srgbClr>
            </a:outerShdw>
          </a:effectLst>
        </p:spPr>
      </p:sp>
      <p:sp>
        <p:nvSpPr>
          <p:cNvPr id="12" name="Shape 9"/>
          <p:cNvSpPr/>
          <p:nvPr/>
        </p:nvSpPr>
        <p:spPr>
          <a:xfrm>
            <a:off x="502920" y="3191256"/>
            <a:ext cx="82296" cy="1298448"/>
          </a:xfrm>
          <a:prstGeom prst="rect">
            <a:avLst/>
          </a:prstGeom>
          <a:solidFill>
            <a:srgbClr val="0F6CBD"/>
          </a:solidFill>
          <a:ln/>
        </p:spPr>
      </p:sp>
      <p:pic>
        <p:nvPicPr>
          <p:cNvPr id="13"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58952" y="3355848"/>
            <a:ext cx="365760" cy="365760"/>
          </a:xfrm>
          <a:prstGeom prst="rect">
            <a:avLst/>
          </a:prstGeom>
        </p:spPr>
      </p:pic>
      <p:sp>
        <p:nvSpPr>
          <p:cNvPr id="14" name="Text 10"/>
          <p:cNvSpPr/>
          <p:nvPr/>
        </p:nvSpPr>
        <p:spPr>
          <a:xfrm>
            <a:off x="1280160" y="3300984"/>
            <a:ext cx="10131552" cy="1078992"/>
          </a:xfrm>
          <a:prstGeom prst="rect">
            <a:avLst/>
          </a:prstGeom>
          <a:noFill/>
          <a:ln/>
        </p:spPr>
        <p:txBody>
          <a:bodyPr wrap="square" rtlCol="0" anchor="ctr"/>
          <a:lstStyle/>
          <a:p>
            <a:pPr indent="0" marL="0">
              <a:lnSpc>
                <a:spcPct val="108000"/>
              </a:lnSpc>
              <a:buNone/>
            </a:pPr>
            <a:r>
              <a:rPr lang="en-US" sz="1950" b="1" dirty="0">
                <a:solidFill>
                  <a:srgbClr val="002050"/>
                </a:solidFill>
                <a:latin typeface="Aptos Display" pitchFamily="34" charset="0"/>
                <a:ea typeface="Aptos Display" pitchFamily="34" charset="-122"/>
                <a:cs typeface="Aptos Display" pitchFamily="34" charset="-120"/>
              </a:rPr>
              <a:t>Do not bypass security tiers
</a:t>
            </a:r>
            <a:pPr indent="0" marL="0">
              <a:lnSpc>
                <a:spcPct val="108000"/>
              </a:lnSpc>
              <a:buNone/>
            </a:pPr>
            <a:r>
              <a:rPr lang="en-US" sz="1600" dirty="0">
                <a:solidFill>
                  <a:srgbClr val="002050"/>
                </a:solidFill>
                <a:latin typeface="Aptos" pitchFamily="34" charset="0"/>
                <a:ea typeface="Aptos" pitchFamily="34" charset="-122"/>
                <a:cs typeface="Aptos" pitchFamily="34" charset="-120"/>
              </a:rPr>
              <a:t>Never give a junior staff member access to restricted server folders without official permission.</a:t>
            </a:r>
            <a:endParaRPr lang="en-US" sz="1950" dirty="0"/>
          </a:p>
        </p:txBody>
      </p:sp>
      <p:sp>
        <p:nvSpPr>
          <p:cNvPr id="15" name="Shape 11"/>
          <p:cNvSpPr/>
          <p:nvPr/>
        </p:nvSpPr>
        <p:spPr>
          <a:xfrm>
            <a:off x="502920" y="4690872"/>
            <a:ext cx="11183112" cy="1298448"/>
          </a:xfrm>
          <a:prstGeom prst="roundRect">
            <a:avLst>
              <a:gd name="adj" fmla="val 6338"/>
            </a:avLst>
          </a:prstGeom>
          <a:solidFill>
            <a:srgbClr val="FFFFFF"/>
          </a:solidFill>
          <a:ln w="12700">
            <a:solidFill>
              <a:srgbClr val="D5E3F2"/>
            </a:solidFill>
            <a:prstDash val="solid"/>
          </a:ln>
          <a:effectLst>
            <a:outerShdw sx="100000" sy="100000" kx="0" ky="0" algn="bl" rotWithShape="0" blurRad="88900" dist="25400" dir="5400000">
              <a:srgbClr val="9AB4CC">
                <a:alpha val="30000"/>
              </a:srgbClr>
            </a:outerShdw>
          </a:effectLst>
        </p:spPr>
      </p:sp>
      <p:sp>
        <p:nvSpPr>
          <p:cNvPr id="16" name="Shape 12"/>
          <p:cNvSpPr/>
          <p:nvPr/>
        </p:nvSpPr>
        <p:spPr>
          <a:xfrm>
            <a:off x="502920" y="4690872"/>
            <a:ext cx="82296" cy="1298448"/>
          </a:xfrm>
          <a:prstGeom prst="rect">
            <a:avLst/>
          </a:prstGeom>
          <a:solidFill>
            <a:srgbClr val="0F6CBD"/>
          </a:solidFill>
          <a:ln/>
        </p:spPr>
      </p:sp>
      <p:pic>
        <p:nvPicPr>
          <p:cNvPr id="17"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58952" y="4855464"/>
            <a:ext cx="365760" cy="365760"/>
          </a:xfrm>
          <a:prstGeom prst="rect">
            <a:avLst/>
          </a:prstGeom>
        </p:spPr>
      </p:pic>
      <p:sp>
        <p:nvSpPr>
          <p:cNvPr id="18" name="Text 13"/>
          <p:cNvSpPr/>
          <p:nvPr/>
        </p:nvSpPr>
        <p:spPr>
          <a:xfrm>
            <a:off x="1280160" y="4800600"/>
            <a:ext cx="10131552" cy="1078992"/>
          </a:xfrm>
          <a:prstGeom prst="rect">
            <a:avLst/>
          </a:prstGeom>
          <a:noFill/>
          <a:ln/>
        </p:spPr>
        <p:txBody>
          <a:bodyPr wrap="square" rtlCol="0" anchor="ctr"/>
          <a:lstStyle/>
          <a:p>
            <a:pPr indent="0" marL="0">
              <a:lnSpc>
                <a:spcPct val="108000"/>
              </a:lnSpc>
              <a:buNone/>
            </a:pPr>
            <a:r>
              <a:rPr lang="en-US" sz="1950" b="1" dirty="0">
                <a:solidFill>
                  <a:srgbClr val="002050"/>
                </a:solidFill>
                <a:latin typeface="Aptos Display" pitchFamily="34" charset="0"/>
                <a:ea typeface="Aptos Display" pitchFamily="34" charset="-122"/>
                <a:cs typeface="Aptos Display" pitchFamily="34" charset="-120"/>
              </a:rPr>
              <a:t>Do not share irrelevant data
</a:t>
            </a:r>
            <a:pPr indent="0" marL="0">
              <a:lnSpc>
                <a:spcPct val="108000"/>
              </a:lnSpc>
              <a:buNone/>
            </a:pPr>
            <a:r>
              <a:rPr lang="en-US" sz="1600" dirty="0">
                <a:solidFill>
                  <a:srgbClr val="002050"/>
                </a:solidFill>
                <a:latin typeface="Aptos" pitchFamily="34" charset="0"/>
                <a:ea typeface="Aptos" pitchFamily="34" charset="-122"/>
                <a:cs typeface="Aptos" pitchFamily="34" charset="-120"/>
              </a:rPr>
              <a:t>Never send a software developer a file full of HR medical records just because they asked for a “sample file”.</a:t>
            </a:r>
            <a:endParaRPr lang="en-US" sz="19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6473952"/>
            <a:ext cx="10268712" cy="274320"/>
          </a:xfrm>
          <a:prstGeom prst="rect">
            <a:avLst/>
          </a:prstGeom>
          <a:noFill/>
          <a:ln/>
        </p:spPr>
        <p:txBody>
          <a:bodyPr wrap="square" rtlCol="0" anchor="ctr"/>
          <a:lstStyle/>
          <a:p>
            <a:pPr indent="0" marL="0">
              <a:buNone/>
            </a:pPr>
            <a:r>
              <a:rPr lang="en-US" sz="1000" dirty="0">
                <a:solidFill>
                  <a:srgbClr val="6B7280"/>
                </a:solidFill>
                <a:latin typeface="Aptos" pitchFamily="34" charset="0"/>
                <a:ea typeface="Aptos" pitchFamily="34" charset="-122"/>
                <a:cs typeface="Aptos" pitchFamily="34" charset="-120"/>
              </a:rPr>
              <a:t>Unit Standard 8252 — Writing Business Reports   ·   Investec IT Systems Support NQF 5</a:t>
            </a:r>
            <a:endParaRPr lang="en-US" sz="1000" dirty="0"/>
          </a:p>
        </p:txBody>
      </p:sp>
      <p:sp>
        <p:nvSpPr>
          <p:cNvPr id="3" name="Text 1"/>
          <p:cNvSpPr/>
          <p:nvPr/>
        </p:nvSpPr>
        <p:spPr>
          <a:xfrm>
            <a:off x="11137392" y="6473952"/>
            <a:ext cx="548640" cy="274320"/>
          </a:xfrm>
          <a:prstGeom prst="rect">
            <a:avLst/>
          </a:prstGeom>
          <a:noFill/>
          <a:ln/>
        </p:spPr>
        <p:txBody>
          <a:bodyPr wrap="square" rtlCol="0" anchor="ctr"/>
          <a:lstStyle/>
          <a:p>
            <a:pPr algn="r" indent="0" marL="0">
              <a:buNone/>
            </a:pPr>
            <a:r>
              <a:rPr lang="en-US" sz="1000" dirty="0">
                <a:solidFill>
                  <a:srgbClr val="6B7280"/>
                </a:solidFill>
                <a:latin typeface="Aptos" pitchFamily="34" charset="0"/>
                <a:ea typeface="Aptos" pitchFamily="34" charset="-122"/>
                <a:cs typeface="Aptos" pitchFamily="34" charset="-120"/>
              </a:rPr>
              <a:t>32</a:t>
            </a:r>
            <a:endParaRPr lang="en-US" sz="1000" dirty="0"/>
          </a:p>
        </p:txBody>
      </p:sp>
      <p:sp>
        <p:nvSpPr>
          <p:cNvPr id="4" name="Shape 2"/>
          <p:cNvSpPr/>
          <p:nvPr/>
        </p:nvSpPr>
        <p:spPr>
          <a:xfrm>
            <a:off x="0" y="0"/>
            <a:ext cx="12188952" cy="82296"/>
          </a:xfrm>
          <a:prstGeom prst="rect">
            <a:avLst/>
          </a:prstGeom>
          <a:solidFill>
            <a:srgbClr val="0F6CBD"/>
          </a:solidFill>
          <a:ln/>
        </p:spPr>
      </p:sp>
      <p:sp>
        <p:nvSpPr>
          <p:cNvPr id="5" name="Text 3"/>
          <p:cNvSpPr/>
          <p:nvPr/>
        </p:nvSpPr>
        <p:spPr>
          <a:xfrm>
            <a:off x="502920" y="256032"/>
            <a:ext cx="11183112" cy="347472"/>
          </a:xfrm>
          <a:prstGeom prst="rect">
            <a:avLst/>
          </a:prstGeom>
          <a:noFill/>
          <a:ln/>
        </p:spPr>
        <p:txBody>
          <a:bodyPr wrap="square" rtlCol="0" anchor="ctr"/>
          <a:lstStyle/>
          <a:p>
            <a:pPr indent="0" marL="0">
              <a:buNone/>
            </a:pPr>
            <a:r>
              <a:rPr lang="en-US" sz="1400" b="1" spc="200" kern="0" dirty="0">
                <a:solidFill>
                  <a:srgbClr val="0F6CBD"/>
                </a:solidFill>
                <a:latin typeface="Aptos" pitchFamily="34" charset="0"/>
                <a:ea typeface="Aptos" pitchFamily="34" charset="-122"/>
                <a:cs typeface="Aptos" pitchFamily="34" charset="-120"/>
              </a:rPr>
              <a:t>OBTAINING &amp; DISTRIBUTING INFORMATION</a:t>
            </a:r>
            <a:endParaRPr lang="en-US" sz="1400" dirty="0"/>
          </a:p>
        </p:txBody>
      </p:sp>
      <p:sp>
        <p:nvSpPr>
          <p:cNvPr id="6" name="Text 4"/>
          <p:cNvSpPr/>
          <p:nvPr/>
        </p:nvSpPr>
        <p:spPr>
          <a:xfrm>
            <a:off x="502920" y="585216"/>
            <a:ext cx="11183112" cy="786384"/>
          </a:xfrm>
          <a:prstGeom prst="rect">
            <a:avLst/>
          </a:prstGeom>
          <a:noFill/>
          <a:ln/>
        </p:spPr>
        <p:txBody>
          <a:bodyPr wrap="square" rtlCol="0" anchor="ctr"/>
          <a:lstStyle/>
          <a:p>
            <a:pPr indent="0" marL="0">
              <a:buNone/>
            </a:pPr>
            <a:r>
              <a:rPr lang="en-US" sz="3400" b="1" dirty="0">
                <a:solidFill>
                  <a:srgbClr val="002050"/>
                </a:solidFill>
                <a:latin typeface="Aptos Display" pitchFamily="34" charset="0"/>
                <a:ea typeface="Aptos Display" pitchFamily="34" charset="-122"/>
                <a:cs typeface="Aptos Display" pitchFamily="34" charset="-120"/>
              </a:rPr>
              <a:t>Security Practice — Avoid vs Use</a:t>
            </a:r>
            <a:endParaRPr lang="en-US" sz="3400" dirty="0"/>
          </a:p>
        </p:txBody>
      </p:sp>
      <p:graphicFrame>
        <p:nvGraphicFramePr>
          <p:cNvPr id="33" name="Table 0"/>
          <p:cNvGraphicFramePr>
            <a:graphicFrameLocks noGrp="1"/>
          </p:cNvGraphicFramePr>
          <p:nvPr>
            <p:extLst>
              <p:ext uri="{D42A27DB-BD31-4B8C-83A1-F6EECF244321}">
                <p14:modId xmlns:p14="http://schemas.microsoft.com/office/powerpoint/2010/main" val="1579011935"/>
              </p:ext>
            </p:extLst>
          </p:nvPr>
        </p:nvGraphicFramePr>
        <p:xfrm>
          <a:off x="502920" y="1828800"/>
          <a:ext cx="11183112" cy="914400"/>
        </p:xfrm>
        <a:graphic>
          <a:graphicData uri="http://schemas.openxmlformats.org/drawingml/2006/table">
            <a:tbl>
              <a:tblPr/>
              <a:tblGrid>
                <a:gridCol w="3749040"/>
                <a:gridCol w="4023360"/>
                <a:gridCol w="3410712"/>
              </a:tblGrid>
              <a:tr h="1005840">
                <a:tc>
                  <a:txBody>
                    <a:bodyPr/>
                    <a:lstStyle/>
                    <a:p>
                      <a:pPr indent="0" marL="0">
                        <a:buNone/>
                      </a:pPr>
                      <a:r>
                        <a:rPr lang="en-US" sz="1450" b="1" dirty="0">
                          <a:solidFill>
                            <a:srgbClr val="FFFFFF"/>
                          </a:solidFill>
                          <a:latin typeface="Aptos Display" pitchFamily="34" charset="0"/>
                          <a:ea typeface="Aptos Display" pitchFamily="34" charset="-122"/>
                          <a:cs typeface="Aptos Display" pitchFamily="34" charset="-120"/>
                        </a:rPr>
                        <a:t>Poor Security Practice (Avoid)</a:t>
                      </a:r>
                      <a:endParaRPr lang="en-US" sz="1450" dirty="0">
                        <a:latin typeface="Aptos Display" charset="0"/>
                        <a:ea typeface="Aptos Display" charset="0"/>
                        <a:cs typeface="Aptos Display" charset="0"/>
                      </a:endParaRPr>
                    </a:p>
                  </a:txBody>
                  <a:tcPr marL="91440" marR="91440" marT="91440" marB="91440"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0F6CBD"/>
                    </a:solidFill>
                  </a:tcPr>
                </a:tc>
                <a:tc>
                  <a:txBody>
                    <a:bodyPr/>
                    <a:lstStyle/>
                    <a:p>
                      <a:pPr indent="0" marL="0">
                        <a:buNone/>
                      </a:pPr>
                      <a:r>
                        <a:rPr lang="en-US" sz="1450" b="1" dirty="0">
                          <a:solidFill>
                            <a:srgbClr val="FFFFFF"/>
                          </a:solidFill>
                          <a:latin typeface="Aptos Display" pitchFamily="34" charset="0"/>
                          <a:ea typeface="Aptos Display" pitchFamily="34" charset="-122"/>
                          <a:cs typeface="Aptos Display" pitchFamily="34" charset="-120"/>
                        </a:rPr>
                        <a:t>Correct Security Practice (Use)</a:t>
                      </a:r>
                      <a:endParaRPr lang="en-US" sz="1450" dirty="0">
                        <a:latin typeface="Aptos Display" charset="0"/>
                        <a:ea typeface="Aptos Display" charset="0"/>
                        <a:cs typeface="Aptos Display" charset="0"/>
                      </a:endParaRPr>
                    </a:p>
                  </a:txBody>
                  <a:tcPr marL="91440" marR="91440" marT="91440" marB="91440"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0F6CBD"/>
                    </a:solidFill>
                  </a:tcPr>
                </a:tc>
                <a:tc>
                  <a:txBody>
                    <a:bodyPr/>
                    <a:lstStyle/>
                    <a:p>
                      <a:pPr indent="0" marL="0">
                        <a:buNone/>
                      </a:pPr>
                      <a:r>
                        <a:rPr lang="en-US" sz="1450" b="1" dirty="0">
                          <a:solidFill>
                            <a:srgbClr val="FFFFFF"/>
                          </a:solidFill>
                          <a:latin typeface="Aptos Display" pitchFamily="34" charset="0"/>
                          <a:ea typeface="Aptos Display" pitchFamily="34" charset="-122"/>
                          <a:cs typeface="Aptos Display" pitchFamily="34" charset="-120"/>
                        </a:rPr>
                        <a:t>Why the Correct Way Matters</a:t>
                      </a:r>
                      <a:endParaRPr lang="en-US" sz="1450" dirty="0">
                        <a:latin typeface="Aptos Display" charset="0"/>
                        <a:ea typeface="Aptos Display" charset="0"/>
                        <a:cs typeface="Aptos Display" charset="0"/>
                      </a:endParaRPr>
                    </a:p>
                  </a:txBody>
                  <a:tcPr marL="91440" marR="91440" marT="91440" marB="91440"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0F6CBD"/>
                    </a:solidFill>
                  </a:tcPr>
                </a:tc>
              </a:tr>
              <a:tr h="1005840">
                <a:tc>
                  <a:txBody>
                    <a:bodyPr/>
                    <a:lstStyle/>
                    <a:p>
                      <a:pPr indent="0" marL="0">
                        <a:buNone/>
                      </a:pPr>
                      <a:r>
                        <a:rPr lang="en-US" sz="1450" dirty="0">
                          <a:solidFill>
                            <a:srgbClr val="002050"/>
                          </a:solidFill>
                          <a:latin typeface="Aptos" pitchFamily="34" charset="0"/>
                          <a:ea typeface="Aptos" pitchFamily="34" charset="-122"/>
                          <a:cs typeface="Aptos" pitchFamily="34" charset="-120"/>
                        </a:rPr>
                        <a:t>Emailing a database password to a teammate over unsecure chat.</a:t>
                      </a:r>
                      <a:endParaRPr lang="en-US" sz="1450" dirty="0">
                        <a:latin typeface="Aptos" charset="0"/>
                        <a:ea typeface="Aptos" charset="0"/>
                        <a:cs typeface="Aptos" charset="0"/>
                      </a:endParaRPr>
                    </a:p>
                  </a:txBody>
                  <a:tcPr marL="91440" marR="91440" marT="91440" marB="91440"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FFFFFF"/>
                    </a:solidFill>
                  </a:tcPr>
                </a:tc>
                <a:tc>
                  <a:txBody>
                    <a:bodyPr/>
                    <a:lstStyle/>
                    <a:p>
                      <a:pPr indent="0" marL="0">
                        <a:buNone/>
                      </a:pPr>
                      <a:r>
                        <a:rPr lang="en-US" sz="1450" dirty="0">
                          <a:solidFill>
                            <a:srgbClr val="002050"/>
                          </a:solidFill>
                          <a:latin typeface="Aptos" pitchFamily="34" charset="0"/>
                          <a:ea typeface="Aptos" pitchFamily="34" charset="-122"/>
                          <a:cs typeface="Aptos" pitchFamily="34" charset="-120"/>
                        </a:rPr>
                        <a:t>Storing the password in an encrypted vault with restricted access.</a:t>
                      </a:r>
                      <a:endParaRPr lang="en-US" sz="1450" dirty="0">
                        <a:latin typeface="Aptos" charset="0"/>
                        <a:ea typeface="Aptos" charset="0"/>
                        <a:cs typeface="Aptos" charset="0"/>
                      </a:endParaRPr>
                    </a:p>
                  </a:txBody>
                  <a:tcPr marL="91440" marR="91440" marT="91440" marB="91440"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FFFFFF"/>
                    </a:solidFill>
                  </a:tcPr>
                </a:tc>
                <a:tc>
                  <a:txBody>
                    <a:bodyPr/>
                    <a:lstStyle/>
                    <a:p>
                      <a:pPr indent="0" marL="0">
                        <a:buNone/>
                      </a:pPr>
                      <a:r>
                        <a:rPr lang="en-US" sz="1450" dirty="0">
                          <a:solidFill>
                            <a:srgbClr val="002050"/>
                          </a:solidFill>
                          <a:latin typeface="Aptos" pitchFamily="34" charset="0"/>
                          <a:ea typeface="Aptos" pitchFamily="34" charset="-122"/>
                          <a:cs typeface="Aptos" pitchFamily="34" charset="-120"/>
                        </a:rPr>
                        <a:t>Keeps data safe and limits who can view it.</a:t>
                      </a:r>
                      <a:endParaRPr lang="en-US" sz="1450" dirty="0">
                        <a:latin typeface="Aptos" charset="0"/>
                        <a:ea typeface="Aptos" charset="0"/>
                        <a:cs typeface="Aptos" charset="0"/>
                      </a:endParaRPr>
                    </a:p>
                  </a:txBody>
                  <a:tcPr marL="91440" marR="91440" marT="91440" marB="91440"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FFFFFF"/>
                    </a:solidFill>
                  </a:tcPr>
                </a:tc>
              </a:tr>
              <a:tr h="1005840">
                <a:tc>
                  <a:txBody>
                    <a:bodyPr/>
                    <a:lstStyle/>
                    <a:p>
                      <a:pPr indent="0" marL="0">
                        <a:buNone/>
                      </a:pPr>
                      <a:r>
                        <a:rPr lang="en-US" sz="1450" dirty="0">
                          <a:solidFill>
                            <a:srgbClr val="002050"/>
                          </a:solidFill>
                          <a:latin typeface="Aptos" pitchFamily="34" charset="0"/>
                          <a:ea typeface="Aptos" pitchFamily="34" charset="-122"/>
                          <a:cs typeface="Aptos" pitchFamily="34" charset="-120"/>
                        </a:rPr>
                        <a:t>Giving all employees admin rights to the entire network.</a:t>
                      </a:r>
                      <a:endParaRPr lang="en-US" sz="1450" dirty="0">
                        <a:latin typeface="Aptos" charset="0"/>
                        <a:ea typeface="Aptos" charset="0"/>
                        <a:cs typeface="Aptos" charset="0"/>
                      </a:endParaRPr>
                    </a:p>
                  </a:txBody>
                  <a:tcPr marL="91440" marR="91440" marT="91440" marB="91440"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EAF4FF"/>
                    </a:solidFill>
                  </a:tcPr>
                </a:tc>
                <a:tc>
                  <a:txBody>
                    <a:bodyPr/>
                    <a:lstStyle/>
                    <a:p>
                      <a:pPr indent="0" marL="0">
                        <a:buNone/>
                      </a:pPr>
                      <a:r>
                        <a:rPr lang="en-US" sz="1450" dirty="0">
                          <a:solidFill>
                            <a:srgbClr val="002050"/>
                          </a:solidFill>
                          <a:latin typeface="Aptos" pitchFamily="34" charset="0"/>
                          <a:ea typeface="Aptos" pitchFamily="34" charset="-122"/>
                          <a:cs typeface="Aptos" pitchFamily="34" charset="-120"/>
                        </a:rPr>
                        <a:t>Using the “Principle of Least Privilege” (giving only required access).</a:t>
                      </a:r>
                      <a:endParaRPr lang="en-US" sz="1450" dirty="0">
                        <a:latin typeface="Aptos" charset="0"/>
                        <a:ea typeface="Aptos" charset="0"/>
                        <a:cs typeface="Aptos" charset="0"/>
                      </a:endParaRPr>
                    </a:p>
                  </a:txBody>
                  <a:tcPr marL="91440" marR="91440" marT="91440" marB="91440"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EAF4FF"/>
                    </a:solidFill>
                  </a:tcPr>
                </a:tc>
                <a:tc>
                  <a:txBody>
                    <a:bodyPr/>
                    <a:lstStyle/>
                    <a:p>
                      <a:pPr indent="0" marL="0">
                        <a:buNone/>
                      </a:pPr>
                      <a:r>
                        <a:rPr lang="en-US" sz="1450" dirty="0">
                          <a:solidFill>
                            <a:srgbClr val="002050"/>
                          </a:solidFill>
                          <a:latin typeface="Aptos" pitchFamily="34" charset="0"/>
                          <a:ea typeface="Aptos" pitchFamily="34" charset="-122"/>
                          <a:cs typeface="Aptos" pitchFamily="34" charset="-120"/>
                        </a:rPr>
                        <a:t>Prevents accidental data leaks or virus spreads.</a:t>
                      </a:r>
                      <a:endParaRPr lang="en-US" sz="1450" dirty="0">
                        <a:latin typeface="Aptos" charset="0"/>
                        <a:ea typeface="Aptos" charset="0"/>
                        <a:cs typeface="Aptos" charset="0"/>
                      </a:endParaRPr>
                    </a:p>
                  </a:txBody>
                  <a:tcPr marL="91440" marR="91440" marT="91440" marB="91440"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EAF4FF"/>
                    </a:solidFill>
                  </a:tcPr>
                </a:tc>
              </a:tr>
              <a:tr h="1005840">
                <a:tc>
                  <a:txBody>
                    <a:bodyPr/>
                    <a:lstStyle/>
                    <a:p>
                      <a:pPr indent="0" marL="0">
                        <a:buNone/>
                      </a:pPr>
                      <a:r>
                        <a:rPr lang="en-US" sz="1450" dirty="0">
                          <a:solidFill>
                            <a:srgbClr val="002050"/>
                          </a:solidFill>
                          <a:latin typeface="Aptos" pitchFamily="34" charset="0"/>
                          <a:ea typeface="Aptos" pitchFamily="34" charset="-122"/>
                          <a:cs typeface="Aptos" pitchFamily="34" charset="-120"/>
                        </a:rPr>
                        <a:t>Sharing full client profiles with a third-party vendor.</a:t>
                      </a:r>
                      <a:endParaRPr lang="en-US" sz="1450" dirty="0">
                        <a:latin typeface="Aptos" charset="0"/>
                        <a:ea typeface="Aptos" charset="0"/>
                        <a:cs typeface="Aptos" charset="0"/>
                      </a:endParaRPr>
                    </a:p>
                  </a:txBody>
                  <a:tcPr marL="91440" marR="91440" marT="91440" marB="91440"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FFFFFF"/>
                    </a:solidFill>
                  </a:tcPr>
                </a:tc>
                <a:tc>
                  <a:txBody>
                    <a:bodyPr/>
                    <a:lstStyle/>
                    <a:p>
                      <a:pPr indent="0" marL="0">
                        <a:buNone/>
                      </a:pPr>
                      <a:r>
                        <a:rPr lang="en-US" sz="1450" dirty="0">
                          <a:solidFill>
                            <a:srgbClr val="002050"/>
                          </a:solidFill>
                          <a:latin typeface="Aptos" pitchFamily="34" charset="0"/>
                          <a:ea typeface="Aptos" pitchFamily="34" charset="-122"/>
                          <a:cs typeface="Aptos" pitchFamily="34" charset="-120"/>
                        </a:rPr>
                        <a:t>Sending only the specific, anonymized data needed for the project.</a:t>
                      </a:r>
                      <a:endParaRPr lang="en-US" sz="1450" dirty="0">
                        <a:latin typeface="Aptos" charset="0"/>
                        <a:ea typeface="Aptos" charset="0"/>
                        <a:cs typeface="Aptos" charset="0"/>
                      </a:endParaRPr>
                    </a:p>
                  </a:txBody>
                  <a:tcPr marL="91440" marR="91440" marT="91440" marB="91440"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FFFFFF"/>
                    </a:solidFill>
                  </a:tcPr>
                </a:tc>
                <a:tc>
                  <a:txBody>
                    <a:bodyPr/>
                    <a:lstStyle/>
                    <a:p>
                      <a:pPr indent="0" marL="0">
                        <a:buNone/>
                      </a:pPr>
                      <a:r>
                        <a:rPr lang="en-US" sz="1450" dirty="0">
                          <a:solidFill>
                            <a:srgbClr val="002050"/>
                          </a:solidFill>
                          <a:latin typeface="Aptos" pitchFamily="34" charset="0"/>
                          <a:ea typeface="Aptos" pitchFamily="34" charset="-122"/>
                          <a:cs typeface="Aptos" pitchFamily="34" charset="-120"/>
                        </a:rPr>
                        <a:t>Protects privacy and follows strict security laws.</a:t>
                      </a:r>
                      <a:endParaRPr lang="en-US" sz="1450" dirty="0">
                        <a:latin typeface="Aptos" charset="0"/>
                        <a:ea typeface="Aptos" charset="0"/>
                        <a:cs typeface="Aptos" charset="0"/>
                      </a:endParaRPr>
                    </a:p>
                  </a:txBody>
                  <a:tcPr marL="91440" marR="91440" marT="91440" marB="91440"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6473952"/>
            <a:ext cx="10268712" cy="274320"/>
          </a:xfrm>
          <a:prstGeom prst="rect">
            <a:avLst/>
          </a:prstGeom>
          <a:noFill/>
          <a:ln/>
        </p:spPr>
        <p:txBody>
          <a:bodyPr wrap="square" rtlCol="0" anchor="ctr"/>
          <a:lstStyle/>
          <a:p>
            <a:pPr indent="0" marL="0">
              <a:buNone/>
            </a:pPr>
            <a:r>
              <a:rPr lang="en-US" sz="1000" dirty="0">
                <a:solidFill>
                  <a:srgbClr val="6B7280"/>
                </a:solidFill>
                <a:latin typeface="Aptos" pitchFamily="34" charset="0"/>
                <a:ea typeface="Aptos" pitchFamily="34" charset="-122"/>
                <a:cs typeface="Aptos" pitchFamily="34" charset="-120"/>
              </a:rPr>
              <a:t>Unit Standard 8252 — Writing Business Reports   ·   Investec IT Systems Support NQF 5</a:t>
            </a:r>
            <a:endParaRPr lang="en-US" sz="1000" dirty="0"/>
          </a:p>
        </p:txBody>
      </p:sp>
      <p:sp>
        <p:nvSpPr>
          <p:cNvPr id="3" name="Text 1"/>
          <p:cNvSpPr/>
          <p:nvPr/>
        </p:nvSpPr>
        <p:spPr>
          <a:xfrm>
            <a:off x="11137392" y="6473952"/>
            <a:ext cx="548640" cy="274320"/>
          </a:xfrm>
          <a:prstGeom prst="rect">
            <a:avLst/>
          </a:prstGeom>
          <a:noFill/>
          <a:ln/>
        </p:spPr>
        <p:txBody>
          <a:bodyPr wrap="square" rtlCol="0" anchor="ctr"/>
          <a:lstStyle/>
          <a:p>
            <a:pPr algn="r" indent="0" marL="0">
              <a:buNone/>
            </a:pPr>
            <a:r>
              <a:rPr lang="en-US" sz="1000" dirty="0">
                <a:solidFill>
                  <a:srgbClr val="6B7280"/>
                </a:solidFill>
                <a:latin typeface="Aptos" pitchFamily="34" charset="0"/>
                <a:ea typeface="Aptos" pitchFamily="34" charset="-122"/>
                <a:cs typeface="Aptos" pitchFamily="34" charset="-120"/>
              </a:rPr>
              <a:t>33</a:t>
            </a:r>
            <a:endParaRPr lang="en-US" sz="1000" dirty="0"/>
          </a:p>
        </p:txBody>
      </p:sp>
      <p:sp>
        <p:nvSpPr>
          <p:cNvPr id="4" name="Shape 2"/>
          <p:cNvSpPr/>
          <p:nvPr/>
        </p:nvSpPr>
        <p:spPr>
          <a:xfrm>
            <a:off x="0" y="0"/>
            <a:ext cx="12188952" cy="82296"/>
          </a:xfrm>
          <a:prstGeom prst="rect">
            <a:avLst/>
          </a:prstGeom>
          <a:solidFill>
            <a:srgbClr val="0F6CBD"/>
          </a:solidFill>
          <a:ln/>
        </p:spPr>
      </p:sp>
      <p:sp>
        <p:nvSpPr>
          <p:cNvPr id="5" name="Text 3"/>
          <p:cNvSpPr/>
          <p:nvPr/>
        </p:nvSpPr>
        <p:spPr>
          <a:xfrm>
            <a:off x="502920" y="256032"/>
            <a:ext cx="11183112" cy="347472"/>
          </a:xfrm>
          <a:prstGeom prst="rect">
            <a:avLst/>
          </a:prstGeom>
          <a:noFill/>
          <a:ln/>
        </p:spPr>
        <p:txBody>
          <a:bodyPr wrap="square" rtlCol="0" anchor="ctr"/>
          <a:lstStyle/>
          <a:p>
            <a:pPr indent="0" marL="0">
              <a:buNone/>
            </a:pPr>
            <a:r>
              <a:rPr lang="en-US" sz="1400" b="1" spc="200" kern="0" dirty="0">
                <a:solidFill>
                  <a:srgbClr val="0F6CBD"/>
                </a:solidFill>
                <a:latin typeface="Aptos" pitchFamily="34" charset="0"/>
                <a:ea typeface="Aptos" pitchFamily="34" charset="-122"/>
                <a:cs typeface="Aptos" pitchFamily="34" charset="-120"/>
              </a:rPr>
              <a:t>VERIFYING REPORTED INFORMATION</a:t>
            </a:r>
            <a:endParaRPr lang="en-US" sz="1400" dirty="0"/>
          </a:p>
        </p:txBody>
      </p:sp>
      <p:sp>
        <p:nvSpPr>
          <p:cNvPr id="6" name="Text 4"/>
          <p:cNvSpPr/>
          <p:nvPr/>
        </p:nvSpPr>
        <p:spPr>
          <a:xfrm>
            <a:off x="502920" y="585216"/>
            <a:ext cx="11183112" cy="786384"/>
          </a:xfrm>
          <a:prstGeom prst="rect">
            <a:avLst/>
          </a:prstGeom>
          <a:noFill/>
          <a:ln/>
        </p:spPr>
        <p:txBody>
          <a:bodyPr wrap="square" rtlCol="0" anchor="ctr"/>
          <a:lstStyle/>
          <a:p>
            <a:pPr indent="0" marL="0">
              <a:buNone/>
            </a:pPr>
            <a:r>
              <a:rPr lang="en-US" sz="3400" b="1" dirty="0">
                <a:solidFill>
                  <a:srgbClr val="002050"/>
                </a:solidFill>
                <a:latin typeface="Aptos Display" pitchFamily="34" charset="0"/>
                <a:ea typeface="Aptos Display" pitchFamily="34" charset="-122"/>
                <a:cs typeface="Aptos Display" pitchFamily="34" charset="-120"/>
              </a:rPr>
              <a:t>Verifying Reported Information</a:t>
            </a:r>
            <a:endParaRPr lang="en-US" sz="3400" dirty="0"/>
          </a:p>
        </p:txBody>
      </p:sp>
      <p:sp>
        <p:nvSpPr>
          <p:cNvPr id="7" name="Text 5"/>
          <p:cNvSpPr/>
          <p:nvPr/>
        </p:nvSpPr>
        <p:spPr>
          <a:xfrm>
            <a:off x="502920" y="1600200"/>
            <a:ext cx="11183112" cy="1051560"/>
          </a:xfrm>
          <a:prstGeom prst="rect">
            <a:avLst/>
          </a:prstGeom>
          <a:noFill/>
          <a:ln/>
        </p:spPr>
        <p:txBody>
          <a:bodyPr wrap="square" rtlCol="0" anchor="t"/>
          <a:lstStyle/>
          <a:p>
            <a:pPr indent="0" marL="0">
              <a:lnSpc>
                <a:spcPct val="112000"/>
              </a:lnSpc>
              <a:spcAft>
                <a:spcPts val="1200"/>
              </a:spcAft>
              <a:buNone/>
            </a:pPr>
            <a:r>
              <a:rPr lang="en-US" sz="1550" dirty="0">
                <a:solidFill>
                  <a:srgbClr val="002050"/>
                </a:solidFill>
                <a:latin typeface="Aptos" pitchFamily="34" charset="0"/>
                <a:ea typeface="Aptos" pitchFamily="34" charset="-122"/>
                <a:cs typeface="Aptos" pitchFamily="34" charset="-120"/>
              </a:rPr>
              <a:t>Before any report is sent to a person who will proof it and ensure it is correct, the originator is required to double-check that all the information given in the report is in line with the stipulated requirements of both the target audience and the required outcomes of the report.</a:t>
            </a:r>
            <a:endParaRPr lang="en-US" sz="1550" dirty="0"/>
          </a:p>
        </p:txBody>
      </p:sp>
      <p:sp>
        <p:nvSpPr>
          <p:cNvPr id="8" name="Shape 6"/>
          <p:cNvSpPr/>
          <p:nvPr/>
        </p:nvSpPr>
        <p:spPr>
          <a:xfrm>
            <a:off x="502920" y="2743200"/>
            <a:ext cx="11183112" cy="729234"/>
          </a:xfrm>
          <a:prstGeom prst="roundRect">
            <a:avLst>
              <a:gd name="adj" fmla="val 11285"/>
            </a:avLst>
          </a:prstGeom>
          <a:solidFill>
            <a:srgbClr val="FFFFFF"/>
          </a:solidFill>
          <a:ln w="12700">
            <a:solidFill>
              <a:srgbClr val="D5E3F2"/>
            </a:solidFill>
            <a:prstDash val="solid"/>
          </a:ln>
          <a:effectLst>
            <a:outerShdw sx="100000" sy="100000" kx="0" ky="0" algn="bl" rotWithShape="0" blurRad="88900" dist="25400" dir="5400000">
              <a:srgbClr val="9AB4CC">
                <a:alpha val="30000"/>
              </a:srgbClr>
            </a:outerShdw>
          </a:effectLst>
        </p:spPr>
      </p:sp>
      <p:sp>
        <p:nvSpPr>
          <p:cNvPr id="9" name="Shape 7"/>
          <p:cNvSpPr/>
          <p:nvPr/>
        </p:nvSpPr>
        <p:spPr>
          <a:xfrm>
            <a:off x="502920" y="2743200"/>
            <a:ext cx="82296" cy="729234"/>
          </a:xfrm>
          <a:prstGeom prst="rect">
            <a:avLst/>
          </a:prstGeom>
          <a:solidFill>
            <a:srgbClr val="0F6CBD"/>
          </a:solidFill>
          <a:ln/>
        </p:spPr>
      </p:sp>
      <p:pic>
        <p:nvPicPr>
          <p:cNvPr id="10"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58952" y="2907792"/>
            <a:ext cx="365760" cy="365760"/>
          </a:xfrm>
          <a:prstGeom prst="rect">
            <a:avLst/>
          </a:prstGeom>
        </p:spPr>
      </p:pic>
      <p:sp>
        <p:nvSpPr>
          <p:cNvPr id="11" name="Text 8"/>
          <p:cNvSpPr/>
          <p:nvPr/>
        </p:nvSpPr>
        <p:spPr>
          <a:xfrm>
            <a:off x="1280160" y="2852928"/>
            <a:ext cx="10131552" cy="509778"/>
          </a:xfrm>
          <a:prstGeom prst="rect">
            <a:avLst/>
          </a:prstGeom>
          <a:noFill/>
          <a:ln/>
        </p:spPr>
        <p:txBody>
          <a:bodyPr wrap="square" rtlCol="0" anchor="ctr"/>
          <a:lstStyle/>
          <a:p>
            <a:pPr indent="0" marL="0">
              <a:lnSpc>
                <a:spcPct val="108000"/>
              </a:lnSpc>
              <a:buNone/>
            </a:pPr>
            <a:r>
              <a:rPr lang="en-US" sz="1750" b="1" dirty="0">
                <a:solidFill>
                  <a:srgbClr val="002050"/>
                </a:solidFill>
                <a:latin typeface="Aptos Display" pitchFamily="34" charset="0"/>
                <a:ea typeface="Aptos Display" pitchFamily="34" charset="-122"/>
                <a:cs typeface="Aptos Display" pitchFamily="34" charset="-120"/>
              </a:rPr>
              <a:t>Double-check your work first
</a:t>
            </a:r>
            <a:pPr indent="0" marL="0">
              <a:lnSpc>
                <a:spcPct val="108000"/>
              </a:lnSpc>
              <a:buNone/>
            </a:pPr>
            <a:r>
              <a:rPr lang="en-US" sz="1400" dirty="0">
                <a:solidFill>
                  <a:srgbClr val="002050"/>
                </a:solidFill>
                <a:latin typeface="Aptos" pitchFamily="34" charset="0"/>
                <a:ea typeface="Aptos" pitchFamily="34" charset="-122"/>
                <a:cs typeface="Aptos" pitchFamily="34" charset="-120"/>
              </a:rPr>
              <a:t>Before you hand your report to anyone else, you must verify that it matches what the audience wants and hits the main goals.</a:t>
            </a:r>
            <a:endParaRPr lang="en-US" sz="1750" dirty="0"/>
          </a:p>
        </p:txBody>
      </p:sp>
      <p:sp>
        <p:nvSpPr>
          <p:cNvPr id="12" name="Shape 9"/>
          <p:cNvSpPr/>
          <p:nvPr/>
        </p:nvSpPr>
        <p:spPr>
          <a:xfrm>
            <a:off x="502920" y="3673602"/>
            <a:ext cx="11183112" cy="729234"/>
          </a:xfrm>
          <a:prstGeom prst="roundRect">
            <a:avLst>
              <a:gd name="adj" fmla="val 11285"/>
            </a:avLst>
          </a:prstGeom>
          <a:solidFill>
            <a:srgbClr val="EAF4FF"/>
          </a:solidFill>
          <a:ln w="12700">
            <a:solidFill>
              <a:srgbClr val="D5E3F2"/>
            </a:solidFill>
            <a:prstDash val="solid"/>
          </a:ln>
          <a:effectLst>
            <a:outerShdw sx="100000" sy="100000" kx="0" ky="0" algn="bl" rotWithShape="0" blurRad="88900" dist="25400" dir="5400000">
              <a:srgbClr val="9AB4CC">
                <a:alpha val="30000"/>
              </a:srgbClr>
            </a:outerShdw>
          </a:effectLst>
        </p:spPr>
      </p:sp>
      <p:sp>
        <p:nvSpPr>
          <p:cNvPr id="13" name="Shape 10"/>
          <p:cNvSpPr/>
          <p:nvPr/>
        </p:nvSpPr>
        <p:spPr>
          <a:xfrm>
            <a:off x="502920" y="3673602"/>
            <a:ext cx="82296" cy="729234"/>
          </a:xfrm>
          <a:prstGeom prst="rect">
            <a:avLst/>
          </a:prstGeom>
          <a:solidFill>
            <a:srgbClr val="0F6CBD"/>
          </a:solidFill>
          <a:ln/>
        </p:spPr>
      </p:sp>
      <p:pic>
        <p:nvPicPr>
          <p:cNvPr id="14"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58952" y="3838194"/>
            <a:ext cx="365760" cy="365760"/>
          </a:xfrm>
          <a:prstGeom prst="rect">
            <a:avLst/>
          </a:prstGeom>
        </p:spPr>
      </p:pic>
      <p:sp>
        <p:nvSpPr>
          <p:cNvPr id="15" name="Text 11"/>
          <p:cNvSpPr/>
          <p:nvPr/>
        </p:nvSpPr>
        <p:spPr>
          <a:xfrm>
            <a:off x="1280160" y="3783330"/>
            <a:ext cx="10131552" cy="509778"/>
          </a:xfrm>
          <a:prstGeom prst="rect">
            <a:avLst/>
          </a:prstGeom>
          <a:noFill/>
          <a:ln/>
        </p:spPr>
        <p:txBody>
          <a:bodyPr wrap="square" rtlCol="0" anchor="ctr"/>
          <a:lstStyle/>
          <a:p>
            <a:pPr indent="0" marL="0">
              <a:lnSpc>
                <a:spcPct val="108000"/>
              </a:lnSpc>
              <a:buNone/>
            </a:pPr>
            <a:r>
              <a:rPr lang="en-US" sz="1750" b="1" dirty="0">
                <a:solidFill>
                  <a:srgbClr val="002050"/>
                </a:solidFill>
                <a:latin typeface="Aptos Display" pitchFamily="34" charset="0"/>
                <a:ea typeface="Aptos Display" pitchFamily="34" charset="-122"/>
                <a:cs typeface="Aptos Display" pitchFamily="34" charset="-120"/>
              </a:rPr>
              <a:t>Get a coworker to check it
</a:t>
            </a:r>
            <a:pPr indent="0" marL="0">
              <a:lnSpc>
                <a:spcPct val="108000"/>
              </a:lnSpc>
              <a:buNone/>
            </a:pPr>
            <a:r>
              <a:rPr lang="en-US" sz="1400" dirty="0">
                <a:solidFill>
                  <a:srgbClr val="002050"/>
                </a:solidFill>
                <a:latin typeface="Aptos" pitchFamily="34" charset="0"/>
                <a:ea typeface="Aptos" pitchFamily="34" charset="-122"/>
                <a:cs typeface="Aptos" pitchFamily="34" charset="-120"/>
              </a:rPr>
              <a:t>Have another person read your report using the project checklist to find mistakes, missing facts, or unfair opinions.</a:t>
            </a:r>
            <a:endParaRPr lang="en-US" sz="1750" dirty="0"/>
          </a:p>
        </p:txBody>
      </p:sp>
      <p:sp>
        <p:nvSpPr>
          <p:cNvPr id="16" name="Shape 12"/>
          <p:cNvSpPr/>
          <p:nvPr/>
        </p:nvSpPr>
        <p:spPr>
          <a:xfrm>
            <a:off x="502920" y="4604004"/>
            <a:ext cx="11183112" cy="729234"/>
          </a:xfrm>
          <a:prstGeom prst="roundRect">
            <a:avLst>
              <a:gd name="adj" fmla="val 11285"/>
            </a:avLst>
          </a:prstGeom>
          <a:solidFill>
            <a:srgbClr val="FFFFFF"/>
          </a:solidFill>
          <a:ln w="12700">
            <a:solidFill>
              <a:srgbClr val="D5E3F2"/>
            </a:solidFill>
            <a:prstDash val="solid"/>
          </a:ln>
          <a:effectLst>
            <a:outerShdw sx="100000" sy="100000" kx="0" ky="0" algn="bl" rotWithShape="0" blurRad="88900" dist="25400" dir="5400000">
              <a:srgbClr val="9AB4CC">
                <a:alpha val="30000"/>
              </a:srgbClr>
            </a:outerShdw>
          </a:effectLst>
        </p:spPr>
      </p:sp>
      <p:sp>
        <p:nvSpPr>
          <p:cNvPr id="17" name="Shape 13"/>
          <p:cNvSpPr/>
          <p:nvPr/>
        </p:nvSpPr>
        <p:spPr>
          <a:xfrm>
            <a:off x="502920" y="4604004"/>
            <a:ext cx="82296" cy="729234"/>
          </a:xfrm>
          <a:prstGeom prst="rect">
            <a:avLst/>
          </a:prstGeom>
          <a:solidFill>
            <a:srgbClr val="0F6CBD"/>
          </a:solidFill>
          <a:ln/>
        </p:spPr>
      </p:sp>
      <p:pic>
        <p:nvPicPr>
          <p:cNvPr id="18"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58952" y="4768596"/>
            <a:ext cx="365760" cy="365760"/>
          </a:xfrm>
          <a:prstGeom prst="rect">
            <a:avLst/>
          </a:prstGeom>
        </p:spPr>
      </p:pic>
      <p:sp>
        <p:nvSpPr>
          <p:cNvPr id="19" name="Text 14"/>
          <p:cNvSpPr/>
          <p:nvPr/>
        </p:nvSpPr>
        <p:spPr>
          <a:xfrm>
            <a:off x="1280160" y="4713732"/>
            <a:ext cx="10131552" cy="509778"/>
          </a:xfrm>
          <a:prstGeom prst="rect">
            <a:avLst/>
          </a:prstGeom>
          <a:noFill/>
          <a:ln/>
        </p:spPr>
        <p:txBody>
          <a:bodyPr wrap="square" rtlCol="0" anchor="ctr"/>
          <a:lstStyle/>
          <a:p>
            <a:pPr indent="0" marL="0">
              <a:lnSpc>
                <a:spcPct val="108000"/>
              </a:lnSpc>
              <a:buNone/>
            </a:pPr>
            <a:r>
              <a:rPr lang="en-US" sz="1750" b="1" dirty="0">
                <a:solidFill>
                  <a:srgbClr val="002050"/>
                </a:solidFill>
                <a:latin typeface="Aptos Display" pitchFamily="34" charset="0"/>
                <a:ea typeface="Aptos Display" pitchFamily="34" charset="-122"/>
                <a:cs typeface="Aptos Display" pitchFamily="34" charset="-120"/>
              </a:rPr>
              <a:t>Send it to your boss early
</a:t>
            </a:r>
            <a:pPr indent="0" marL="0">
              <a:lnSpc>
                <a:spcPct val="108000"/>
              </a:lnSpc>
              <a:buNone/>
            </a:pPr>
            <a:r>
              <a:rPr lang="en-US" sz="1400" dirty="0">
                <a:solidFill>
                  <a:srgbClr val="002050"/>
                </a:solidFill>
                <a:latin typeface="Aptos" pitchFamily="34" charset="0"/>
                <a:ea typeface="Aptos" pitchFamily="34" charset="-122"/>
                <a:cs typeface="Aptos" pitchFamily="34" charset="-120"/>
              </a:rPr>
              <a:t>Give the report to your department head for final approval at least one week early so they have time to give feedback.</a:t>
            </a:r>
            <a:endParaRPr lang="en-US" sz="1750" dirty="0"/>
          </a:p>
        </p:txBody>
      </p:sp>
      <p:sp>
        <p:nvSpPr>
          <p:cNvPr id="20" name="Shape 15"/>
          <p:cNvSpPr/>
          <p:nvPr/>
        </p:nvSpPr>
        <p:spPr>
          <a:xfrm>
            <a:off x="502920" y="5534406"/>
            <a:ext cx="11183112" cy="729234"/>
          </a:xfrm>
          <a:prstGeom prst="roundRect">
            <a:avLst>
              <a:gd name="adj" fmla="val 11285"/>
            </a:avLst>
          </a:prstGeom>
          <a:solidFill>
            <a:srgbClr val="EAF4FF"/>
          </a:solidFill>
          <a:ln w="12700">
            <a:solidFill>
              <a:srgbClr val="D5E3F2"/>
            </a:solidFill>
            <a:prstDash val="solid"/>
          </a:ln>
          <a:effectLst>
            <a:outerShdw sx="100000" sy="100000" kx="0" ky="0" algn="bl" rotWithShape="0" blurRad="88900" dist="25400" dir="5400000">
              <a:srgbClr val="9AB4CC">
                <a:alpha val="30000"/>
              </a:srgbClr>
            </a:outerShdw>
          </a:effectLst>
        </p:spPr>
      </p:sp>
      <p:sp>
        <p:nvSpPr>
          <p:cNvPr id="21" name="Shape 16"/>
          <p:cNvSpPr/>
          <p:nvPr/>
        </p:nvSpPr>
        <p:spPr>
          <a:xfrm>
            <a:off x="502920" y="5534406"/>
            <a:ext cx="82296" cy="729234"/>
          </a:xfrm>
          <a:prstGeom prst="rect">
            <a:avLst/>
          </a:prstGeom>
          <a:solidFill>
            <a:srgbClr val="0F6CBD"/>
          </a:solidFill>
          <a:ln/>
        </p:spPr>
      </p:sp>
      <p:pic>
        <p:nvPicPr>
          <p:cNvPr id="22"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758952" y="5698998"/>
            <a:ext cx="365760" cy="365760"/>
          </a:xfrm>
          <a:prstGeom prst="rect">
            <a:avLst/>
          </a:prstGeom>
        </p:spPr>
      </p:pic>
      <p:sp>
        <p:nvSpPr>
          <p:cNvPr id="23" name="Text 17"/>
          <p:cNvSpPr/>
          <p:nvPr/>
        </p:nvSpPr>
        <p:spPr>
          <a:xfrm>
            <a:off x="1280160" y="5644134"/>
            <a:ext cx="10131552" cy="509778"/>
          </a:xfrm>
          <a:prstGeom prst="rect">
            <a:avLst/>
          </a:prstGeom>
          <a:noFill/>
          <a:ln/>
        </p:spPr>
        <p:txBody>
          <a:bodyPr wrap="square" rtlCol="0" anchor="ctr"/>
          <a:lstStyle/>
          <a:p>
            <a:pPr indent="0" marL="0">
              <a:lnSpc>
                <a:spcPct val="108000"/>
              </a:lnSpc>
              <a:buNone/>
            </a:pPr>
            <a:r>
              <a:rPr lang="en-US" sz="1750" b="1" dirty="0">
                <a:solidFill>
                  <a:srgbClr val="002050"/>
                </a:solidFill>
                <a:latin typeface="Aptos Display" pitchFamily="34" charset="0"/>
                <a:ea typeface="Aptos Display" pitchFamily="34" charset="-122"/>
                <a:cs typeface="Aptos Display" pitchFamily="34" charset="-120"/>
              </a:rPr>
              <a:t>Follow company rules
</a:t>
            </a:r>
            <a:pPr indent="0" marL="0">
              <a:lnSpc>
                <a:spcPct val="108000"/>
              </a:lnSpc>
              <a:buNone/>
            </a:pPr>
            <a:r>
              <a:rPr lang="en-US" sz="1400" dirty="0">
                <a:solidFill>
                  <a:srgbClr val="002050"/>
                </a:solidFill>
                <a:latin typeface="Aptos" pitchFamily="34" charset="0"/>
                <a:ea typeface="Aptos" pitchFamily="34" charset="-122"/>
                <a:cs typeface="Aptos" pitchFamily="34" charset="-120"/>
              </a:rPr>
              <a:t>Stick to the official company steps for gathering and sharing data so your report has just the right amount of information.</a:t>
            </a:r>
            <a:endParaRPr lang="en-US" sz="17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6473952"/>
            <a:ext cx="10268712" cy="274320"/>
          </a:xfrm>
          <a:prstGeom prst="rect">
            <a:avLst/>
          </a:prstGeom>
          <a:noFill/>
          <a:ln/>
        </p:spPr>
        <p:txBody>
          <a:bodyPr wrap="square" rtlCol="0" anchor="ctr"/>
          <a:lstStyle/>
          <a:p>
            <a:pPr indent="0" marL="0">
              <a:buNone/>
            </a:pPr>
            <a:r>
              <a:rPr lang="en-US" sz="1000" dirty="0">
                <a:solidFill>
                  <a:srgbClr val="6B7280"/>
                </a:solidFill>
                <a:latin typeface="Aptos" pitchFamily="34" charset="0"/>
                <a:ea typeface="Aptos" pitchFamily="34" charset="-122"/>
                <a:cs typeface="Aptos" pitchFamily="34" charset="-120"/>
              </a:rPr>
              <a:t>Unit Standard 8252 — Writing Business Reports   ·   Investec IT Systems Support NQF 5</a:t>
            </a:r>
            <a:endParaRPr lang="en-US" sz="1000" dirty="0"/>
          </a:p>
        </p:txBody>
      </p:sp>
      <p:sp>
        <p:nvSpPr>
          <p:cNvPr id="3" name="Text 1"/>
          <p:cNvSpPr/>
          <p:nvPr/>
        </p:nvSpPr>
        <p:spPr>
          <a:xfrm>
            <a:off x="11137392" y="6473952"/>
            <a:ext cx="548640" cy="274320"/>
          </a:xfrm>
          <a:prstGeom prst="rect">
            <a:avLst/>
          </a:prstGeom>
          <a:noFill/>
          <a:ln/>
        </p:spPr>
        <p:txBody>
          <a:bodyPr wrap="square" rtlCol="0" anchor="ctr"/>
          <a:lstStyle/>
          <a:p>
            <a:pPr algn="r" indent="0" marL="0">
              <a:buNone/>
            </a:pPr>
            <a:r>
              <a:rPr lang="en-US" sz="1000" dirty="0">
                <a:solidFill>
                  <a:srgbClr val="6B7280"/>
                </a:solidFill>
                <a:latin typeface="Aptos" pitchFamily="34" charset="0"/>
                <a:ea typeface="Aptos" pitchFamily="34" charset="-122"/>
                <a:cs typeface="Aptos" pitchFamily="34" charset="-120"/>
              </a:rPr>
              <a:t>34</a:t>
            </a:r>
            <a:endParaRPr lang="en-US" sz="1000" dirty="0"/>
          </a:p>
        </p:txBody>
      </p:sp>
      <p:sp>
        <p:nvSpPr>
          <p:cNvPr id="4" name="Shape 2"/>
          <p:cNvSpPr/>
          <p:nvPr/>
        </p:nvSpPr>
        <p:spPr>
          <a:xfrm>
            <a:off x="0" y="0"/>
            <a:ext cx="12188952" cy="82296"/>
          </a:xfrm>
          <a:prstGeom prst="rect">
            <a:avLst/>
          </a:prstGeom>
          <a:solidFill>
            <a:srgbClr val="0F6CBD"/>
          </a:solidFill>
          <a:ln/>
        </p:spPr>
      </p:sp>
      <p:sp>
        <p:nvSpPr>
          <p:cNvPr id="5" name="Text 3"/>
          <p:cNvSpPr/>
          <p:nvPr/>
        </p:nvSpPr>
        <p:spPr>
          <a:xfrm>
            <a:off x="502920" y="256032"/>
            <a:ext cx="11183112" cy="347472"/>
          </a:xfrm>
          <a:prstGeom prst="rect">
            <a:avLst/>
          </a:prstGeom>
          <a:noFill/>
          <a:ln/>
        </p:spPr>
        <p:txBody>
          <a:bodyPr wrap="square" rtlCol="0" anchor="ctr"/>
          <a:lstStyle/>
          <a:p>
            <a:pPr indent="0" marL="0">
              <a:buNone/>
            </a:pPr>
            <a:r>
              <a:rPr lang="en-US" sz="1400" b="1" spc="200" kern="0" dirty="0">
                <a:solidFill>
                  <a:srgbClr val="0F6CBD"/>
                </a:solidFill>
                <a:latin typeface="Aptos" pitchFamily="34" charset="0"/>
                <a:ea typeface="Aptos" pitchFamily="34" charset="-122"/>
                <a:cs typeface="Aptos" pitchFamily="34" charset="-120"/>
              </a:rPr>
              <a:t>VERIFYING REPORTED INFORMATION</a:t>
            </a:r>
            <a:endParaRPr lang="en-US" sz="1400" dirty="0"/>
          </a:p>
        </p:txBody>
      </p:sp>
      <p:sp>
        <p:nvSpPr>
          <p:cNvPr id="6" name="Text 4"/>
          <p:cNvSpPr/>
          <p:nvPr/>
        </p:nvSpPr>
        <p:spPr>
          <a:xfrm>
            <a:off x="502920" y="585216"/>
            <a:ext cx="11183112" cy="786384"/>
          </a:xfrm>
          <a:prstGeom prst="rect">
            <a:avLst/>
          </a:prstGeom>
          <a:noFill/>
          <a:ln/>
        </p:spPr>
        <p:txBody>
          <a:bodyPr wrap="square" rtlCol="0" anchor="ctr"/>
          <a:lstStyle/>
          <a:p>
            <a:pPr indent="0" marL="0">
              <a:buNone/>
            </a:pPr>
            <a:r>
              <a:rPr lang="en-US" sz="3400" b="1" dirty="0">
                <a:solidFill>
                  <a:srgbClr val="002050"/>
                </a:solidFill>
                <a:latin typeface="Aptos Display" pitchFamily="34" charset="0"/>
                <a:ea typeface="Aptos Display" pitchFamily="34" charset="-122"/>
                <a:cs typeface="Aptos Display" pitchFamily="34" charset="-120"/>
              </a:rPr>
              <a:t>✖ What NOT to Do (Examples of Mistakes)</a:t>
            </a:r>
            <a:endParaRPr lang="en-US" sz="3400" dirty="0"/>
          </a:p>
        </p:txBody>
      </p:sp>
      <p:sp>
        <p:nvSpPr>
          <p:cNvPr id="7" name="Shape 5"/>
          <p:cNvSpPr/>
          <p:nvPr/>
        </p:nvSpPr>
        <p:spPr>
          <a:xfrm>
            <a:off x="502920" y="1691640"/>
            <a:ext cx="11183112" cy="957834"/>
          </a:xfrm>
          <a:prstGeom prst="roundRect">
            <a:avLst>
              <a:gd name="adj" fmla="val 8592"/>
            </a:avLst>
          </a:prstGeom>
          <a:solidFill>
            <a:srgbClr val="FFFFFF"/>
          </a:solidFill>
          <a:ln w="12700">
            <a:solidFill>
              <a:srgbClr val="D5E3F2"/>
            </a:solidFill>
            <a:prstDash val="solid"/>
          </a:ln>
          <a:effectLst>
            <a:outerShdw sx="100000" sy="100000" kx="0" ky="0" algn="bl" rotWithShape="0" blurRad="88900" dist="25400" dir="5400000">
              <a:srgbClr val="9AB4CC">
                <a:alpha val="30000"/>
              </a:srgbClr>
            </a:outerShdw>
          </a:effectLst>
        </p:spPr>
      </p:sp>
      <p:sp>
        <p:nvSpPr>
          <p:cNvPr id="8" name="Shape 6"/>
          <p:cNvSpPr/>
          <p:nvPr/>
        </p:nvSpPr>
        <p:spPr>
          <a:xfrm>
            <a:off x="502920" y="1691640"/>
            <a:ext cx="82296" cy="957834"/>
          </a:xfrm>
          <a:prstGeom prst="rect">
            <a:avLst/>
          </a:prstGeom>
          <a:solidFill>
            <a:srgbClr val="0F6CBD"/>
          </a:solidFill>
          <a:ln/>
        </p:spPr>
      </p:sp>
      <p:pic>
        <p:nvPicPr>
          <p:cNvPr id="9"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58952" y="1856232"/>
            <a:ext cx="365760" cy="365760"/>
          </a:xfrm>
          <a:prstGeom prst="rect">
            <a:avLst/>
          </a:prstGeom>
        </p:spPr>
      </p:pic>
      <p:sp>
        <p:nvSpPr>
          <p:cNvPr id="10" name="Text 7"/>
          <p:cNvSpPr/>
          <p:nvPr/>
        </p:nvSpPr>
        <p:spPr>
          <a:xfrm>
            <a:off x="1280160" y="1801368"/>
            <a:ext cx="10131552" cy="738378"/>
          </a:xfrm>
          <a:prstGeom prst="rect">
            <a:avLst/>
          </a:prstGeom>
          <a:noFill/>
          <a:ln/>
        </p:spPr>
        <p:txBody>
          <a:bodyPr wrap="square" rtlCol="0" anchor="ctr"/>
          <a:lstStyle/>
          <a:p>
            <a:pPr indent="0" marL="0">
              <a:lnSpc>
                <a:spcPct val="108000"/>
              </a:lnSpc>
              <a:buNone/>
            </a:pPr>
            <a:r>
              <a:rPr lang="en-US" sz="1850" b="1" dirty="0">
                <a:solidFill>
                  <a:srgbClr val="002050"/>
                </a:solidFill>
                <a:latin typeface="Aptos Display" pitchFamily="34" charset="0"/>
                <a:ea typeface="Aptos Display" pitchFamily="34" charset="-122"/>
                <a:cs typeface="Aptos Display" pitchFamily="34" charset="-120"/>
              </a:rPr>
              <a:t>Do not skip your own review
</a:t>
            </a:r>
            <a:pPr indent="0" marL="0">
              <a:lnSpc>
                <a:spcPct val="108000"/>
              </a:lnSpc>
              <a:buNone/>
            </a:pPr>
            <a:r>
              <a:rPr lang="en-US" sz="1500" dirty="0">
                <a:solidFill>
                  <a:srgbClr val="002050"/>
                </a:solidFill>
                <a:latin typeface="Aptos" pitchFamily="34" charset="0"/>
                <a:ea typeface="Aptos" pitchFamily="34" charset="-122"/>
                <a:cs typeface="Aptos" pitchFamily="34" charset="-120"/>
              </a:rPr>
              <a:t>Never write a report and hand it over immediately without reading through it yourself first.</a:t>
            </a:r>
            <a:endParaRPr lang="en-US" sz="1850" dirty="0"/>
          </a:p>
        </p:txBody>
      </p:sp>
      <p:sp>
        <p:nvSpPr>
          <p:cNvPr id="11" name="Shape 8"/>
          <p:cNvSpPr/>
          <p:nvPr/>
        </p:nvSpPr>
        <p:spPr>
          <a:xfrm>
            <a:off x="502920" y="2850642"/>
            <a:ext cx="11183112" cy="957834"/>
          </a:xfrm>
          <a:prstGeom prst="roundRect">
            <a:avLst>
              <a:gd name="adj" fmla="val 8592"/>
            </a:avLst>
          </a:prstGeom>
          <a:solidFill>
            <a:srgbClr val="EAF4FF"/>
          </a:solidFill>
          <a:ln w="12700">
            <a:solidFill>
              <a:srgbClr val="D5E3F2"/>
            </a:solidFill>
            <a:prstDash val="solid"/>
          </a:ln>
          <a:effectLst>
            <a:outerShdw sx="100000" sy="100000" kx="0" ky="0" algn="bl" rotWithShape="0" blurRad="88900" dist="25400" dir="5400000">
              <a:srgbClr val="9AB4CC">
                <a:alpha val="30000"/>
              </a:srgbClr>
            </a:outerShdw>
          </a:effectLst>
        </p:spPr>
      </p:sp>
      <p:sp>
        <p:nvSpPr>
          <p:cNvPr id="12" name="Shape 9"/>
          <p:cNvSpPr/>
          <p:nvPr/>
        </p:nvSpPr>
        <p:spPr>
          <a:xfrm>
            <a:off x="502920" y="2850642"/>
            <a:ext cx="82296" cy="957834"/>
          </a:xfrm>
          <a:prstGeom prst="rect">
            <a:avLst/>
          </a:prstGeom>
          <a:solidFill>
            <a:srgbClr val="0F6CBD"/>
          </a:solidFill>
          <a:ln/>
        </p:spPr>
      </p:sp>
      <p:pic>
        <p:nvPicPr>
          <p:cNvPr id="13"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58952" y="3015234"/>
            <a:ext cx="365760" cy="365760"/>
          </a:xfrm>
          <a:prstGeom prst="rect">
            <a:avLst/>
          </a:prstGeom>
        </p:spPr>
      </p:pic>
      <p:sp>
        <p:nvSpPr>
          <p:cNvPr id="14" name="Text 10"/>
          <p:cNvSpPr/>
          <p:nvPr/>
        </p:nvSpPr>
        <p:spPr>
          <a:xfrm>
            <a:off x="1280160" y="2960370"/>
            <a:ext cx="10131552" cy="738378"/>
          </a:xfrm>
          <a:prstGeom prst="rect">
            <a:avLst/>
          </a:prstGeom>
          <a:noFill/>
          <a:ln/>
        </p:spPr>
        <p:txBody>
          <a:bodyPr wrap="square" rtlCol="0" anchor="ctr"/>
          <a:lstStyle/>
          <a:p>
            <a:pPr indent="0" marL="0">
              <a:lnSpc>
                <a:spcPct val="108000"/>
              </a:lnSpc>
              <a:buNone/>
            </a:pPr>
            <a:r>
              <a:rPr lang="en-US" sz="1850" b="1" dirty="0">
                <a:solidFill>
                  <a:srgbClr val="002050"/>
                </a:solidFill>
                <a:latin typeface="Aptos Display" pitchFamily="34" charset="0"/>
                <a:ea typeface="Aptos Display" pitchFamily="34" charset="-122"/>
                <a:cs typeface="Aptos Display" pitchFamily="34" charset="-120"/>
              </a:rPr>
              <a:t>Do not ask for a blind review
</a:t>
            </a:r>
            <a:pPr indent="0" marL="0">
              <a:lnSpc>
                <a:spcPct val="108000"/>
              </a:lnSpc>
              <a:buNone/>
            </a:pPr>
            <a:r>
              <a:rPr lang="en-US" sz="1500" dirty="0">
                <a:solidFill>
                  <a:srgbClr val="002050"/>
                </a:solidFill>
                <a:latin typeface="Aptos" pitchFamily="34" charset="0"/>
                <a:ea typeface="Aptos" pitchFamily="34" charset="-122"/>
                <a:cs typeface="Aptos" pitchFamily="34" charset="-120"/>
              </a:rPr>
              <a:t>Never give a report to a teammate without giving them the project guidelines or checklist to compare it against.</a:t>
            </a:r>
            <a:endParaRPr lang="en-US" sz="1850" dirty="0"/>
          </a:p>
        </p:txBody>
      </p:sp>
      <p:sp>
        <p:nvSpPr>
          <p:cNvPr id="15" name="Shape 11"/>
          <p:cNvSpPr/>
          <p:nvPr/>
        </p:nvSpPr>
        <p:spPr>
          <a:xfrm>
            <a:off x="502920" y="4009644"/>
            <a:ext cx="11183112" cy="957834"/>
          </a:xfrm>
          <a:prstGeom prst="roundRect">
            <a:avLst>
              <a:gd name="adj" fmla="val 8592"/>
            </a:avLst>
          </a:prstGeom>
          <a:solidFill>
            <a:srgbClr val="FFFFFF"/>
          </a:solidFill>
          <a:ln w="12700">
            <a:solidFill>
              <a:srgbClr val="D5E3F2"/>
            </a:solidFill>
            <a:prstDash val="solid"/>
          </a:ln>
          <a:effectLst>
            <a:outerShdw sx="100000" sy="100000" kx="0" ky="0" algn="bl" rotWithShape="0" blurRad="88900" dist="25400" dir="5400000">
              <a:srgbClr val="9AB4CC">
                <a:alpha val="30000"/>
              </a:srgbClr>
            </a:outerShdw>
          </a:effectLst>
        </p:spPr>
      </p:sp>
      <p:sp>
        <p:nvSpPr>
          <p:cNvPr id="16" name="Shape 12"/>
          <p:cNvSpPr/>
          <p:nvPr/>
        </p:nvSpPr>
        <p:spPr>
          <a:xfrm>
            <a:off x="502920" y="4009644"/>
            <a:ext cx="82296" cy="957834"/>
          </a:xfrm>
          <a:prstGeom prst="rect">
            <a:avLst/>
          </a:prstGeom>
          <a:solidFill>
            <a:srgbClr val="0F6CBD"/>
          </a:solidFill>
          <a:ln/>
        </p:spPr>
      </p:sp>
      <p:pic>
        <p:nvPicPr>
          <p:cNvPr id="17"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58952" y="4174236"/>
            <a:ext cx="365760" cy="365760"/>
          </a:xfrm>
          <a:prstGeom prst="rect">
            <a:avLst/>
          </a:prstGeom>
        </p:spPr>
      </p:pic>
      <p:sp>
        <p:nvSpPr>
          <p:cNvPr id="18" name="Text 13"/>
          <p:cNvSpPr/>
          <p:nvPr/>
        </p:nvSpPr>
        <p:spPr>
          <a:xfrm>
            <a:off x="1280160" y="4119372"/>
            <a:ext cx="10131552" cy="738378"/>
          </a:xfrm>
          <a:prstGeom prst="rect">
            <a:avLst/>
          </a:prstGeom>
          <a:noFill/>
          <a:ln/>
        </p:spPr>
        <p:txBody>
          <a:bodyPr wrap="square" rtlCol="0" anchor="ctr"/>
          <a:lstStyle/>
          <a:p>
            <a:pPr indent="0" marL="0">
              <a:lnSpc>
                <a:spcPct val="108000"/>
              </a:lnSpc>
              <a:buNone/>
            </a:pPr>
            <a:r>
              <a:rPr lang="en-US" sz="1850" b="1" dirty="0">
                <a:solidFill>
                  <a:srgbClr val="002050"/>
                </a:solidFill>
                <a:latin typeface="Aptos Display" pitchFamily="34" charset="0"/>
                <a:ea typeface="Aptos Display" pitchFamily="34" charset="-122"/>
                <a:cs typeface="Aptos Display" pitchFamily="34" charset="-120"/>
              </a:rPr>
              <a:t>Do not submit at the last minute
</a:t>
            </a:r>
            <a:pPr indent="0" marL="0">
              <a:lnSpc>
                <a:spcPct val="108000"/>
              </a:lnSpc>
              <a:buNone/>
            </a:pPr>
            <a:r>
              <a:rPr lang="en-US" sz="1500" dirty="0">
                <a:solidFill>
                  <a:srgbClr val="002050"/>
                </a:solidFill>
                <a:latin typeface="Aptos" pitchFamily="34" charset="0"/>
                <a:ea typeface="Aptos" pitchFamily="34" charset="-122"/>
                <a:cs typeface="Aptos" pitchFamily="34" charset="-120"/>
              </a:rPr>
              <a:t>Never send a report to your manager the night before it is due, leaving them no time to review or fix it.</a:t>
            </a:r>
            <a:endParaRPr lang="en-US" sz="1850" dirty="0"/>
          </a:p>
        </p:txBody>
      </p:sp>
      <p:sp>
        <p:nvSpPr>
          <p:cNvPr id="19" name="Shape 14"/>
          <p:cNvSpPr/>
          <p:nvPr/>
        </p:nvSpPr>
        <p:spPr>
          <a:xfrm>
            <a:off x="502920" y="5168646"/>
            <a:ext cx="11183112" cy="957834"/>
          </a:xfrm>
          <a:prstGeom prst="roundRect">
            <a:avLst>
              <a:gd name="adj" fmla="val 8592"/>
            </a:avLst>
          </a:prstGeom>
          <a:solidFill>
            <a:srgbClr val="EAF4FF"/>
          </a:solidFill>
          <a:ln w="12700">
            <a:solidFill>
              <a:srgbClr val="D5E3F2"/>
            </a:solidFill>
            <a:prstDash val="solid"/>
          </a:ln>
          <a:effectLst>
            <a:outerShdw sx="100000" sy="100000" kx="0" ky="0" algn="bl" rotWithShape="0" blurRad="88900" dist="25400" dir="5400000">
              <a:srgbClr val="9AB4CC">
                <a:alpha val="30000"/>
              </a:srgbClr>
            </a:outerShdw>
          </a:effectLst>
        </p:spPr>
      </p:sp>
      <p:sp>
        <p:nvSpPr>
          <p:cNvPr id="20" name="Shape 15"/>
          <p:cNvSpPr/>
          <p:nvPr/>
        </p:nvSpPr>
        <p:spPr>
          <a:xfrm>
            <a:off x="502920" y="5168646"/>
            <a:ext cx="82296" cy="957834"/>
          </a:xfrm>
          <a:prstGeom prst="rect">
            <a:avLst/>
          </a:prstGeom>
          <a:solidFill>
            <a:srgbClr val="0F6CBD"/>
          </a:solidFill>
          <a:ln/>
        </p:spPr>
      </p:sp>
      <p:pic>
        <p:nvPicPr>
          <p:cNvPr id="21"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758952" y="5333238"/>
            <a:ext cx="365760" cy="365760"/>
          </a:xfrm>
          <a:prstGeom prst="rect">
            <a:avLst/>
          </a:prstGeom>
        </p:spPr>
      </p:pic>
      <p:sp>
        <p:nvSpPr>
          <p:cNvPr id="22" name="Text 16"/>
          <p:cNvSpPr/>
          <p:nvPr/>
        </p:nvSpPr>
        <p:spPr>
          <a:xfrm>
            <a:off x="1280160" y="5278374"/>
            <a:ext cx="10131552" cy="738378"/>
          </a:xfrm>
          <a:prstGeom prst="rect">
            <a:avLst/>
          </a:prstGeom>
          <a:noFill/>
          <a:ln/>
        </p:spPr>
        <p:txBody>
          <a:bodyPr wrap="square" rtlCol="0" anchor="ctr"/>
          <a:lstStyle/>
          <a:p>
            <a:pPr indent="0" marL="0">
              <a:lnSpc>
                <a:spcPct val="108000"/>
              </a:lnSpc>
              <a:buNone/>
            </a:pPr>
            <a:r>
              <a:rPr lang="en-US" sz="1850" b="1" dirty="0">
                <a:solidFill>
                  <a:srgbClr val="002050"/>
                </a:solidFill>
                <a:latin typeface="Aptos Display" pitchFamily="34" charset="0"/>
                <a:ea typeface="Aptos Display" pitchFamily="34" charset="-122"/>
                <a:cs typeface="Aptos Display" pitchFamily="34" charset="-120"/>
              </a:rPr>
              <a:t>Do not make up your own process
</a:t>
            </a:r>
            <a:pPr indent="0" marL="0">
              <a:lnSpc>
                <a:spcPct val="108000"/>
              </a:lnSpc>
              <a:buNone/>
            </a:pPr>
            <a:r>
              <a:rPr lang="en-US" sz="1500" dirty="0">
                <a:solidFill>
                  <a:srgbClr val="002050"/>
                </a:solidFill>
                <a:latin typeface="Aptos" pitchFamily="34" charset="0"/>
                <a:ea typeface="Aptos" pitchFamily="34" charset="-122"/>
                <a:cs typeface="Aptos" pitchFamily="34" charset="-120"/>
              </a:rPr>
              <a:t>Never use unverified channels or unapproved formats to collect your data.</a:t>
            </a:r>
            <a:endParaRPr lang="en-US" sz="18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6473952"/>
            <a:ext cx="10268712" cy="274320"/>
          </a:xfrm>
          <a:prstGeom prst="rect">
            <a:avLst/>
          </a:prstGeom>
          <a:noFill/>
          <a:ln/>
        </p:spPr>
        <p:txBody>
          <a:bodyPr wrap="square" rtlCol="0" anchor="ctr"/>
          <a:lstStyle/>
          <a:p>
            <a:pPr indent="0" marL="0">
              <a:buNone/>
            </a:pPr>
            <a:r>
              <a:rPr lang="en-US" sz="1000" dirty="0">
                <a:solidFill>
                  <a:srgbClr val="6B7280"/>
                </a:solidFill>
                <a:latin typeface="Aptos" pitchFamily="34" charset="0"/>
                <a:ea typeface="Aptos" pitchFamily="34" charset="-122"/>
                <a:cs typeface="Aptos" pitchFamily="34" charset="-120"/>
              </a:rPr>
              <a:t>Unit Standard 8252 — Writing Business Reports   ·   Investec IT Systems Support NQF 5</a:t>
            </a:r>
            <a:endParaRPr lang="en-US" sz="1000" dirty="0"/>
          </a:p>
        </p:txBody>
      </p:sp>
      <p:sp>
        <p:nvSpPr>
          <p:cNvPr id="3" name="Text 1"/>
          <p:cNvSpPr/>
          <p:nvPr/>
        </p:nvSpPr>
        <p:spPr>
          <a:xfrm>
            <a:off x="11137392" y="6473952"/>
            <a:ext cx="548640" cy="274320"/>
          </a:xfrm>
          <a:prstGeom prst="rect">
            <a:avLst/>
          </a:prstGeom>
          <a:noFill/>
          <a:ln/>
        </p:spPr>
        <p:txBody>
          <a:bodyPr wrap="square" rtlCol="0" anchor="ctr"/>
          <a:lstStyle/>
          <a:p>
            <a:pPr algn="r" indent="0" marL="0">
              <a:buNone/>
            </a:pPr>
            <a:r>
              <a:rPr lang="en-US" sz="1000" dirty="0">
                <a:solidFill>
                  <a:srgbClr val="6B7280"/>
                </a:solidFill>
                <a:latin typeface="Aptos" pitchFamily="34" charset="0"/>
                <a:ea typeface="Aptos" pitchFamily="34" charset="-122"/>
                <a:cs typeface="Aptos" pitchFamily="34" charset="-120"/>
              </a:rPr>
              <a:t>35</a:t>
            </a:r>
            <a:endParaRPr lang="en-US" sz="1000" dirty="0"/>
          </a:p>
        </p:txBody>
      </p:sp>
      <p:sp>
        <p:nvSpPr>
          <p:cNvPr id="4" name="Shape 2"/>
          <p:cNvSpPr/>
          <p:nvPr/>
        </p:nvSpPr>
        <p:spPr>
          <a:xfrm>
            <a:off x="0" y="0"/>
            <a:ext cx="12188952" cy="82296"/>
          </a:xfrm>
          <a:prstGeom prst="rect">
            <a:avLst/>
          </a:prstGeom>
          <a:solidFill>
            <a:srgbClr val="0F6CBD"/>
          </a:solidFill>
          <a:ln/>
        </p:spPr>
      </p:sp>
      <p:sp>
        <p:nvSpPr>
          <p:cNvPr id="5" name="Text 3"/>
          <p:cNvSpPr/>
          <p:nvPr/>
        </p:nvSpPr>
        <p:spPr>
          <a:xfrm>
            <a:off x="502920" y="256032"/>
            <a:ext cx="11183112" cy="347472"/>
          </a:xfrm>
          <a:prstGeom prst="rect">
            <a:avLst/>
          </a:prstGeom>
          <a:noFill/>
          <a:ln/>
        </p:spPr>
        <p:txBody>
          <a:bodyPr wrap="square" rtlCol="0" anchor="ctr"/>
          <a:lstStyle/>
          <a:p>
            <a:pPr indent="0" marL="0">
              <a:buNone/>
            </a:pPr>
            <a:r>
              <a:rPr lang="en-US" sz="1400" b="1" spc="200" kern="0" dirty="0">
                <a:solidFill>
                  <a:srgbClr val="0F6CBD"/>
                </a:solidFill>
                <a:latin typeface="Aptos" pitchFamily="34" charset="0"/>
                <a:ea typeface="Aptos" pitchFamily="34" charset="-122"/>
                <a:cs typeface="Aptos" pitchFamily="34" charset="-120"/>
              </a:rPr>
              <a:t>VERIFYING REPORTED INFORMATION</a:t>
            </a:r>
            <a:endParaRPr lang="en-US" sz="1400" dirty="0"/>
          </a:p>
        </p:txBody>
      </p:sp>
      <p:sp>
        <p:nvSpPr>
          <p:cNvPr id="6" name="Text 4"/>
          <p:cNvSpPr/>
          <p:nvPr/>
        </p:nvSpPr>
        <p:spPr>
          <a:xfrm>
            <a:off x="502920" y="585216"/>
            <a:ext cx="11183112" cy="786384"/>
          </a:xfrm>
          <a:prstGeom prst="rect">
            <a:avLst/>
          </a:prstGeom>
          <a:noFill/>
          <a:ln/>
        </p:spPr>
        <p:txBody>
          <a:bodyPr wrap="square" rtlCol="0" anchor="ctr"/>
          <a:lstStyle/>
          <a:p>
            <a:pPr indent="0" marL="0">
              <a:buNone/>
            </a:pPr>
            <a:r>
              <a:rPr lang="en-US" sz="3400" b="1" dirty="0">
                <a:solidFill>
                  <a:srgbClr val="002050"/>
                </a:solidFill>
                <a:latin typeface="Aptos Display" pitchFamily="34" charset="0"/>
                <a:ea typeface="Aptos Display" pitchFamily="34" charset="-122"/>
                <a:cs typeface="Aptos Display" pitchFamily="34" charset="-120"/>
              </a:rPr>
              <a:t>Review Workflow — Avoid vs Use</a:t>
            </a:r>
            <a:endParaRPr lang="en-US" sz="3400" dirty="0"/>
          </a:p>
        </p:txBody>
      </p:sp>
      <p:graphicFrame>
        <p:nvGraphicFramePr>
          <p:cNvPr id="36" name="Table 0"/>
          <p:cNvGraphicFramePr>
            <a:graphicFrameLocks noGrp="1"/>
          </p:cNvGraphicFramePr>
          <p:nvPr>
            <p:extLst>
              <p:ext uri="{D42A27DB-BD31-4B8C-83A1-F6EECF244321}">
                <p14:modId xmlns:p14="http://schemas.microsoft.com/office/powerpoint/2010/main" val="1579011935"/>
              </p:ext>
            </p:extLst>
          </p:nvPr>
        </p:nvGraphicFramePr>
        <p:xfrm>
          <a:off x="502920" y="1828800"/>
          <a:ext cx="11183112" cy="914400"/>
        </p:xfrm>
        <a:graphic>
          <a:graphicData uri="http://schemas.openxmlformats.org/drawingml/2006/table">
            <a:tbl>
              <a:tblPr/>
              <a:tblGrid>
                <a:gridCol w="3749040"/>
                <a:gridCol w="4023360"/>
                <a:gridCol w="3410712"/>
              </a:tblGrid>
              <a:tr h="1143000">
                <a:tc>
                  <a:txBody>
                    <a:bodyPr/>
                    <a:lstStyle/>
                    <a:p>
                      <a:pPr indent="0" marL="0">
                        <a:buNone/>
                      </a:pPr>
                      <a:r>
                        <a:rPr lang="en-US" sz="1400" b="1" dirty="0">
                          <a:solidFill>
                            <a:srgbClr val="FFFFFF"/>
                          </a:solidFill>
                          <a:latin typeface="Aptos Display" pitchFamily="34" charset="0"/>
                          <a:ea typeface="Aptos Display" pitchFamily="34" charset="-122"/>
                          <a:cs typeface="Aptos Display" pitchFamily="34" charset="-120"/>
                        </a:rPr>
                        <a:t>Bad Workflow Practice (Avoid)</a:t>
                      </a:r>
                      <a:endParaRPr lang="en-US" sz="1400" dirty="0">
                        <a:latin typeface="Aptos Display" charset="0"/>
                        <a:ea typeface="Aptos Display" charset="0"/>
                        <a:cs typeface="Aptos Display" charset="0"/>
                      </a:endParaRPr>
                    </a:p>
                  </a:txBody>
                  <a:tcPr marL="91440" marR="91440" marT="91440" marB="91440"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0F6CBD"/>
                    </a:solidFill>
                  </a:tcPr>
                </a:tc>
                <a:tc>
                  <a:txBody>
                    <a:bodyPr/>
                    <a:lstStyle/>
                    <a:p>
                      <a:pPr indent="0" marL="0">
                        <a:buNone/>
                      </a:pPr>
                      <a:r>
                        <a:rPr lang="en-US" sz="1400" b="1" dirty="0">
                          <a:solidFill>
                            <a:srgbClr val="FFFFFF"/>
                          </a:solidFill>
                          <a:latin typeface="Aptos Display" pitchFamily="34" charset="0"/>
                          <a:ea typeface="Aptos Display" pitchFamily="34" charset="-122"/>
                          <a:cs typeface="Aptos Display" pitchFamily="34" charset="-120"/>
                        </a:rPr>
                        <a:t>Correct Review Practice (Use)</a:t>
                      </a:r>
                      <a:endParaRPr lang="en-US" sz="1400" dirty="0">
                        <a:latin typeface="Aptos Display" charset="0"/>
                        <a:ea typeface="Aptos Display" charset="0"/>
                        <a:cs typeface="Aptos Display" charset="0"/>
                      </a:endParaRPr>
                    </a:p>
                  </a:txBody>
                  <a:tcPr marL="91440" marR="91440" marT="91440" marB="91440"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0F6CBD"/>
                    </a:solidFill>
                  </a:tcPr>
                </a:tc>
                <a:tc>
                  <a:txBody>
                    <a:bodyPr/>
                    <a:lstStyle/>
                    <a:p>
                      <a:pPr indent="0" marL="0">
                        <a:buNone/>
                      </a:pPr>
                      <a:r>
                        <a:rPr lang="en-US" sz="1400" b="1" dirty="0">
                          <a:solidFill>
                            <a:srgbClr val="FFFFFF"/>
                          </a:solidFill>
                          <a:latin typeface="Aptos Display" pitchFamily="34" charset="0"/>
                          <a:ea typeface="Aptos Display" pitchFamily="34" charset="-122"/>
                          <a:cs typeface="Aptos Display" pitchFamily="34" charset="-120"/>
                        </a:rPr>
                        <a:t>Why the Correct Way Matters</a:t>
                      </a:r>
                      <a:endParaRPr lang="en-US" sz="1400" dirty="0">
                        <a:latin typeface="Aptos Display" charset="0"/>
                        <a:ea typeface="Aptos Display" charset="0"/>
                        <a:cs typeface="Aptos Display" charset="0"/>
                      </a:endParaRPr>
                    </a:p>
                  </a:txBody>
                  <a:tcPr marL="91440" marR="91440" marT="91440" marB="91440"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0F6CBD"/>
                    </a:solidFill>
                  </a:tcPr>
                </a:tc>
              </a:tr>
              <a:tr h="1143000">
                <a:tc>
                  <a:txBody>
                    <a:bodyPr/>
                    <a:lstStyle/>
                    <a:p>
                      <a:pPr indent="0" marL="0">
                        <a:buNone/>
                      </a:pPr>
                      <a:r>
                        <a:rPr lang="en-US" sz="1400" dirty="0">
                          <a:solidFill>
                            <a:srgbClr val="002050"/>
                          </a:solidFill>
                          <a:latin typeface="Aptos" pitchFamily="34" charset="0"/>
                          <a:ea typeface="Aptos" pitchFamily="34" charset="-122"/>
                          <a:cs typeface="Aptos" pitchFamily="34" charset="-120"/>
                        </a:rPr>
                        <a:t>Sending an incident report directly to a bank client immediately after typing it.</a:t>
                      </a:r>
                      <a:endParaRPr lang="en-US" sz="1400" dirty="0">
                        <a:latin typeface="Aptos" charset="0"/>
                        <a:ea typeface="Aptos" charset="0"/>
                        <a:cs typeface="Aptos" charset="0"/>
                      </a:endParaRPr>
                    </a:p>
                  </a:txBody>
                  <a:tcPr marL="91440" marR="91440" marT="91440" marB="91440"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FFFFFF"/>
                    </a:solidFill>
                  </a:tcPr>
                </a:tc>
                <a:tc>
                  <a:txBody>
                    <a:bodyPr/>
                    <a:lstStyle/>
                    <a:p>
                      <a:pPr indent="0" marL="0">
                        <a:buNone/>
                      </a:pPr>
                      <a:r>
                        <a:rPr lang="en-US" sz="1400" dirty="0">
                          <a:solidFill>
                            <a:srgbClr val="002050"/>
                          </a:solidFill>
                          <a:latin typeface="Aptos" pitchFamily="34" charset="0"/>
                          <a:ea typeface="Aptos" pitchFamily="34" charset="-122"/>
                          <a:cs typeface="Aptos" pitchFamily="34" charset="-120"/>
                        </a:rPr>
                        <a:t>Having a senior engineer peer-review the technical logs and facts first.</a:t>
                      </a:r>
                      <a:endParaRPr lang="en-US" sz="1400" dirty="0">
                        <a:latin typeface="Aptos" charset="0"/>
                        <a:ea typeface="Aptos" charset="0"/>
                        <a:cs typeface="Aptos" charset="0"/>
                      </a:endParaRPr>
                    </a:p>
                  </a:txBody>
                  <a:tcPr marL="91440" marR="91440" marT="91440" marB="91440"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FFFFFF"/>
                    </a:solidFill>
                  </a:tcPr>
                </a:tc>
                <a:tc>
                  <a:txBody>
                    <a:bodyPr/>
                    <a:lstStyle/>
                    <a:p>
                      <a:pPr indent="0" marL="0">
                        <a:buNone/>
                      </a:pPr>
                      <a:r>
                        <a:rPr lang="en-US" sz="1400" dirty="0">
                          <a:solidFill>
                            <a:srgbClr val="002050"/>
                          </a:solidFill>
                          <a:latin typeface="Aptos" pitchFamily="34" charset="0"/>
                          <a:ea typeface="Aptos" pitchFamily="34" charset="-122"/>
                          <a:cs typeface="Aptos" pitchFamily="34" charset="-120"/>
                        </a:rPr>
                        <a:t>Catches wrong technical details before the client sees them.</a:t>
                      </a:r>
                      <a:endParaRPr lang="en-US" sz="1400" dirty="0">
                        <a:latin typeface="Aptos" charset="0"/>
                        <a:ea typeface="Aptos" charset="0"/>
                        <a:cs typeface="Aptos" charset="0"/>
                      </a:endParaRPr>
                    </a:p>
                  </a:txBody>
                  <a:tcPr marL="91440" marR="91440" marT="91440" marB="91440"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FFFFFF"/>
                    </a:solidFill>
                  </a:tcPr>
                </a:tc>
              </a:tr>
              <a:tr h="1143000">
                <a:tc>
                  <a:txBody>
                    <a:bodyPr/>
                    <a:lstStyle/>
                    <a:p>
                      <a:pPr indent="0" marL="0">
                        <a:buNone/>
                      </a:pPr>
                      <a:r>
                        <a:rPr lang="en-US" sz="1400" dirty="0">
                          <a:solidFill>
                            <a:srgbClr val="002050"/>
                          </a:solidFill>
                          <a:latin typeface="Aptos" pitchFamily="34" charset="0"/>
                          <a:ea typeface="Aptos" pitchFamily="34" charset="-122"/>
                          <a:cs typeface="Aptos" pitchFamily="34" charset="-120"/>
                        </a:rPr>
                        <a:t>Emailing a budget request to the executive board without checking it against the quarterly goals.</a:t>
                      </a:r>
                      <a:endParaRPr lang="en-US" sz="1400" dirty="0">
                        <a:latin typeface="Aptos" charset="0"/>
                        <a:ea typeface="Aptos" charset="0"/>
                        <a:cs typeface="Aptos" charset="0"/>
                      </a:endParaRPr>
                    </a:p>
                  </a:txBody>
                  <a:tcPr marL="91440" marR="91440" marT="91440" marB="91440"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EAF4FF"/>
                    </a:solidFill>
                  </a:tcPr>
                </a:tc>
                <a:tc>
                  <a:txBody>
                    <a:bodyPr/>
                    <a:lstStyle/>
                    <a:p>
                      <a:pPr indent="0" marL="0">
                        <a:buNone/>
                      </a:pPr>
                      <a:r>
                        <a:rPr lang="en-US" sz="1400" dirty="0">
                          <a:solidFill>
                            <a:srgbClr val="002050"/>
                          </a:solidFill>
                          <a:latin typeface="Aptos" pitchFamily="34" charset="0"/>
                          <a:ea typeface="Aptos" pitchFamily="34" charset="-122"/>
                          <a:cs typeface="Aptos" pitchFamily="34" charset="-120"/>
                        </a:rPr>
                        <a:t>Double-checking that the requested software licenses align perfectly with the target audience's project requirements.</a:t>
                      </a:r>
                      <a:endParaRPr lang="en-US" sz="1400" dirty="0">
                        <a:latin typeface="Aptos" charset="0"/>
                        <a:ea typeface="Aptos" charset="0"/>
                        <a:cs typeface="Aptos" charset="0"/>
                      </a:endParaRPr>
                    </a:p>
                  </a:txBody>
                  <a:tcPr marL="91440" marR="91440" marT="91440" marB="91440"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EAF4FF"/>
                    </a:solidFill>
                  </a:tcPr>
                </a:tc>
                <a:tc>
                  <a:txBody>
                    <a:bodyPr/>
                    <a:lstStyle/>
                    <a:p>
                      <a:pPr indent="0" marL="0">
                        <a:buNone/>
                      </a:pPr>
                      <a:r>
                        <a:rPr lang="en-US" sz="1400" dirty="0">
                          <a:solidFill>
                            <a:srgbClr val="002050"/>
                          </a:solidFill>
                          <a:latin typeface="Aptos" pitchFamily="34" charset="0"/>
                          <a:ea typeface="Aptos" pitchFamily="34" charset="-122"/>
                          <a:cs typeface="Aptos" pitchFamily="34" charset="-120"/>
                        </a:rPr>
                        <a:t>Ensures the proposal meets the exact business needs.</a:t>
                      </a:r>
                      <a:endParaRPr lang="en-US" sz="1400" dirty="0">
                        <a:latin typeface="Aptos" charset="0"/>
                        <a:ea typeface="Aptos" charset="0"/>
                        <a:cs typeface="Aptos" charset="0"/>
                      </a:endParaRPr>
                    </a:p>
                  </a:txBody>
                  <a:tcPr marL="91440" marR="91440" marT="91440" marB="91440"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EAF4FF"/>
                    </a:solidFill>
                  </a:tcPr>
                </a:tc>
              </a:tr>
              <a:tr h="1143000">
                <a:tc>
                  <a:txBody>
                    <a:bodyPr/>
                    <a:lstStyle/>
                    <a:p>
                      <a:pPr indent="0" marL="0">
                        <a:buNone/>
                      </a:pPr>
                      <a:r>
                        <a:rPr lang="en-US" sz="1400" dirty="0">
                          <a:solidFill>
                            <a:srgbClr val="002050"/>
                          </a:solidFill>
                          <a:latin typeface="Aptos" pitchFamily="34" charset="0"/>
                          <a:ea typeface="Aptos" pitchFamily="34" charset="-122"/>
                          <a:cs typeface="Aptos" pitchFamily="34" charset="-120"/>
                        </a:rPr>
                        <a:t>Asking your department head to sign off on a system migration plan 10 minutes before deployment.</a:t>
                      </a:r>
                      <a:endParaRPr lang="en-US" sz="1400" dirty="0">
                        <a:latin typeface="Aptos" charset="0"/>
                        <a:ea typeface="Aptos" charset="0"/>
                        <a:cs typeface="Aptos" charset="0"/>
                      </a:endParaRPr>
                    </a:p>
                  </a:txBody>
                  <a:tcPr marL="91440" marR="91440" marT="91440" marB="91440"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FFFFFF"/>
                    </a:solidFill>
                  </a:tcPr>
                </a:tc>
                <a:tc>
                  <a:txBody>
                    <a:bodyPr/>
                    <a:lstStyle/>
                    <a:p>
                      <a:pPr indent="0" marL="0">
                        <a:buNone/>
                      </a:pPr>
                      <a:r>
                        <a:rPr lang="en-US" sz="1400" dirty="0">
                          <a:solidFill>
                            <a:srgbClr val="002050"/>
                          </a:solidFill>
                          <a:latin typeface="Aptos" pitchFamily="34" charset="0"/>
                          <a:ea typeface="Aptos" pitchFamily="34" charset="-122"/>
                          <a:cs typeface="Aptos" pitchFamily="34" charset="-120"/>
                        </a:rPr>
                        <a:t>Submitting the migration document to the department head 7 days before the change window.</a:t>
                      </a:r>
                      <a:endParaRPr lang="en-US" sz="1400" dirty="0">
                        <a:latin typeface="Aptos" charset="0"/>
                        <a:ea typeface="Aptos" charset="0"/>
                        <a:cs typeface="Aptos" charset="0"/>
                      </a:endParaRPr>
                    </a:p>
                  </a:txBody>
                  <a:tcPr marL="91440" marR="91440" marT="91440" marB="91440"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FFFFFF"/>
                    </a:solidFill>
                  </a:tcPr>
                </a:tc>
                <a:tc>
                  <a:txBody>
                    <a:bodyPr/>
                    <a:lstStyle/>
                    <a:p>
                      <a:pPr indent="0" marL="0">
                        <a:buNone/>
                      </a:pPr>
                      <a:r>
                        <a:rPr lang="en-US" sz="1400" dirty="0">
                          <a:solidFill>
                            <a:srgbClr val="002050"/>
                          </a:solidFill>
                          <a:latin typeface="Aptos" pitchFamily="34" charset="0"/>
                          <a:ea typeface="Aptos" pitchFamily="34" charset="-122"/>
                          <a:cs typeface="Aptos" pitchFamily="34" charset="-120"/>
                        </a:rPr>
                        <a:t>Allows time to add missing steps or make critical adjustments.</a:t>
                      </a:r>
                      <a:endParaRPr lang="en-US" sz="1400" dirty="0">
                        <a:latin typeface="Aptos" charset="0"/>
                        <a:ea typeface="Aptos" charset="0"/>
                        <a:cs typeface="Aptos" charset="0"/>
                      </a:endParaRPr>
                    </a:p>
                  </a:txBody>
                  <a:tcPr marL="91440" marR="91440" marT="91440" marB="91440"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6473952"/>
            <a:ext cx="10268712" cy="274320"/>
          </a:xfrm>
          <a:prstGeom prst="rect">
            <a:avLst/>
          </a:prstGeom>
          <a:noFill/>
          <a:ln/>
        </p:spPr>
        <p:txBody>
          <a:bodyPr wrap="square" rtlCol="0" anchor="ctr"/>
          <a:lstStyle/>
          <a:p>
            <a:pPr indent="0" marL="0">
              <a:buNone/>
            </a:pPr>
            <a:r>
              <a:rPr lang="en-US" sz="1000" dirty="0">
                <a:solidFill>
                  <a:srgbClr val="6B7280"/>
                </a:solidFill>
                <a:latin typeface="Aptos" pitchFamily="34" charset="0"/>
                <a:ea typeface="Aptos" pitchFamily="34" charset="-122"/>
                <a:cs typeface="Aptos" pitchFamily="34" charset="-120"/>
              </a:rPr>
              <a:t>Unit Standard 8252 — Writing Business Reports   ·   Investec IT Systems Support NQF 5</a:t>
            </a:r>
            <a:endParaRPr lang="en-US" sz="1000" dirty="0"/>
          </a:p>
        </p:txBody>
      </p:sp>
      <p:sp>
        <p:nvSpPr>
          <p:cNvPr id="3" name="Text 1"/>
          <p:cNvSpPr/>
          <p:nvPr/>
        </p:nvSpPr>
        <p:spPr>
          <a:xfrm>
            <a:off x="11137392" y="6473952"/>
            <a:ext cx="548640" cy="274320"/>
          </a:xfrm>
          <a:prstGeom prst="rect">
            <a:avLst/>
          </a:prstGeom>
          <a:noFill/>
          <a:ln/>
        </p:spPr>
        <p:txBody>
          <a:bodyPr wrap="square" rtlCol="0" anchor="ctr"/>
          <a:lstStyle/>
          <a:p>
            <a:pPr algn="r" indent="0" marL="0">
              <a:buNone/>
            </a:pPr>
            <a:r>
              <a:rPr lang="en-US" sz="1000" dirty="0">
                <a:solidFill>
                  <a:srgbClr val="6B7280"/>
                </a:solidFill>
                <a:latin typeface="Aptos" pitchFamily="34" charset="0"/>
                <a:ea typeface="Aptos" pitchFamily="34" charset="-122"/>
                <a:cs typeface="Aptos" pitchFamily="34" charset="-120"/>
              </a:rPr>
              <a:t>36</a:t>
            </a:r>
            <a:endParaRPr lang="en-US" sz="1000" dirty="0"/>
          </a:p>
        </p:txBody>
      </p:sp>
      <p:sp>
        <p:nvSpPr>
          <p:cNvPr id="4" name="Shape 2"/>
          <p:cNvSpPr/>
          <p:nvPr/>
        </p:nvSpPr>
        <p:spPr>
          <a:xfrm>
            <a:off x="0" y="0"/>
            <a:ext cx="12188952" cy="82296"/>
          </a:xfrm>
          <a:prstGeom prst="rect">
            <a:avLst/>
          </a:prstGeom>
          <a:solidFill>
            <a:srgbClr val="0F6CBD"/>
          </a:solidFill>
          <a:ln/>
        </p:spPr>
      </p:sp>
      <p:sp>
        <p:nvSpPr>
          <p:cNvPr id="5" name="Text 3"/>
          <p:cNvSpPr/>
          <p:nvPr/>
        </p:nvSpPr>
        <p:spPr>
          <a:xfrm>
            <a:off x="502920" y="256032"/>
            <a:ext cx="11183112" cy="347472"/>
          </a:xfrm>
          <a:prstGeom prst="rect">
            <a:avLst/>
          </a:prstGeom>
          <a:noFill/>
          <a:ln/>
        </p:spPr>
        <p:txBody>
          <a:bodyPr wrap="square" rtlCol="0" anchor="ctr"/>
          <a:lstStyle/>
          <a:p>
            <a:pPr indent="0" marL="0">
              <a:buNone/>
            </a:pPr>
            <a:r>
              <a:rPr lang="en-US" sz="1400" b="1" spc="200" kern="0" dirty="0">
                <a:solidFill>
                  <a:srgbClr val="0F6CBD"/>
                </a:solidFill>
                <a:latin typeface="Aptos" pitchFamily="34" charset="0"/>
                <a:ea typeface="Aptos" pitchFamily="34" charset="-122"/>
                <a:cs typeface="Aptos" pitchFamily="34" charset="-120"/>
              </a:rPr>
              <a:t>QUESTION SESSION 1</a:t>
            </a:r>
            <a:endParaRPr lang="en-US" sz="1400" dirty="0"/>
          </a:p>
        </p:txBody>
      </p:sp>
      <p:sp>
        <p:nvSpPr>
          <p:cNvPr id="6" name="Text 4"/>
          <p:cNvSpPr/>
          <p:nvPr/>
        </p:nvSpPr>
        <p:spPr>
          <a:xfrm>
            <a:off x="502920" y="585216"/>
            <a:ext cx="11183112" cy="786384"/>
          </a:xfrm>
          <a:prstGeom prst="rect">
            <a:avLst/>
          </a:prstGeom>
          <a:noFill/>
          <a:ln/>
        </p:spPr>
        <p:txBody>
          <a:bodyPr wrap="square" rtlCol="0" anchor="ctr"/>
          <a:lstStyle/>
          <a:p>
            <a:pPr indent="0" marL="0">
              <a:buNone/>
            </a:pPr>
            <a:r>
              <a:rPr lang="en-US" sz="3400" b="1" dirty="0">
                <a:solidFill>
                  <a:srgbClr val="002050"/>
                </a:solidFill>
                <a:latin typeface="Aptos Display" pitchFamily="34" charset="0"/>
                <a:ea typeface="Aptos Display" pitchFamily="34" charset="-122"/>
                <a:cs typeface="Aptos Display" pitchFamily="34" charset="-120"/>
              </a:rPr>
              <a:t>Activity — Apply Your Knowledge</a:t>
            </a:r>
            <a:endParaRPr lang="en-US" sz="3400" dirty="0"/>
          </a:p>
        </p:txBody>
      </p:sp>
      <p:sp>
        <p:nvSpPr>
          <p:cNvPr id="7" name="Shape 5"/>
          <p:cNvSpPr/>
          <p:nvPr/>
        </p:nvSpPr>
        <p:spPr>
          <a:xfrm>
            <a:off x="502920" y="1645920"/>
            <a:ext cx="457200" cy="457200"/>
          </a:xfrm>
          <a:prstGeom prst="ellipse">
            <a:avLst/>
          </a:prstGeom>
          <a:solidFill>
            <a:srgbClr val="0F6CBD"/>
          </a:solidFill>
          <a:ln/>
        </p:spPr>
      </p:sp>
      <p:sp>
        <p:nvSpPr>
          <p:cNvPr id="8" name="Text 6"/>
          <p:cNvSpPr/>
          <p:nvPr/>
        </p:nvSpPr>
        <p:spPr>
          <a:xfrm>
            <a:off x="502920" y="1645920"/>
            <a:ext cx="457200" cy="457200"/>
          </a:xfrm>
          <a:prstGeom prst="rect">
            <a:avLst/>
          </a:prstGeom>
          <a:noFill/>
          <a:ln/>
        </p:spPr>
        <p:txBody>
          <a:bodyPr wrap="square" rtlCol="0" anchor="ctr"/>
          <a:lstStyle/>
          <a:p>
            <a:pPr algn="ctr" indent="0" marL="0">
              <a:buNone/>
            </a:pPr>
            <a:r>
              <a:rPr lang="en-US" sz="1800" b="1" dirty="0">
                <a:solidFill>
                  <a:srgbClr val="FFFFFF"/>
                </a:solidFill>
                <a:latin typeface="Aptos Display" pitchFamily="34" charset="0"/>
                <a:ea typeface="Aptos Display" pitchFamily="34" charset="-122"/>
                <a:cs typeface="Aptos Display" pitchFamily="34" charset="-120"/>
              </a:rPr>
              <a:t>1</a:t>
            </a:r>
            <a:endParaRPr lang="en-US" sz="1800" dirty="0"/>
          </a:p>
        </p:txBody>
      </p:sp>
      <p:sp>
        <p:nvSpPr>
          <p:cNvPr id="9" name="Text 7"/>
          <p:cNvSpPr/>
          <p:nvPr/>
        </p:nvSpPr>
        <p:spPr>
          <a:xfrm>
            <a:off x="1161288" y="1600200"/>
            <a:ext cx="10360152" cy="566928"/>
          </a:xfrm>
          <a:prstGeom prst="rect">
            <a:avLst/>
          </a:prstGeom>
          <a:noFill/>
          <a:ln/>
        </p:spPr>
        <p:txBody>
          <a:bodyPr wrap="square" rtlCol="0" anchor="ctr"/>
          <a:lstStyle/>
          <a:p>
            <a:pPr indent="0" marL="0">
              <a:buNone/>
            </a:pPr>
            <a:r>
              <a:rPr lang="en-US" sz="1750" dirty="0">
                <a:solidFill>
                  <a:srgbClr val="002050"/>
                </a:solidFill>
                <a:latin typeface="Aptos" pitchFamily="34" charset="0"/>
                <a:ea typeface="Aptos" pitchFamily="34" charset="-122"/>
                <a:cs typeface="Aptos" pitchFamily="34" charset="-120"/>
              </a:rPr>
              <a:t>Give examples of different types of reports that are produced in organisations</a:t>
            </a:r>
            <a:endParaRPr lang="en-US" sz="1750" dirty="0"/>
          </a:p>
        </p:txBody>
      </p:sp>
      <p:sp>
        <p:nvSpPr>
          <p:cNvPr id="10" name="Shape 8"/>
          <p:cNvSpPr/>
          <p:nvPr/>
        </p:nvSpPr>
        <p:spPr>
          <a:xfrm>
            <a:off x="502920" y="2395728"/>
            <a:ext cx="457200" cy="457200"/>
          </a:xfrm>
          <a:prstGeom prst="ellipse">
            <a:avLst/>
          </a:prstGeom>
          <a:solidFill>
            <a:srgbClr val="0F6CBD"/>
          </a:solidFill>
          <a:ln/>
        </p:spPr>
      </p:sp>
      <p:sp>
        <p:nvSpPr>
          <p:cNvPr id="11" name="Text 9"/>
          <p:cNvSpPr/>
          <p:nvPr/>
        </p:nvSpPr>
        <p:spPr>
          <a:xfrm>
            <a:off x="502920" y="2395728"/>
            <a:ext cx="457200" cy="457200"/>
          </a:xfrm>
          <a:prstGeom prst="rect">
            <a:avLst/>
          </a:prstGeom>
          <a:noFill/>
          <a:ln/>
        </p:spPr>
        <p:txBody>
          <a:bodyPr wrap="square" rtlCol="0" anchor="ctr"/>
          <a:lstStyle/>
          <a:p>
            <a:pPr algn="ctr" indent="0" marL="0">
              <a:buNone/>
            </a:pPr>
            <a:r>
              <a:rPr lang="en-US" sz="1800" b="1" dirty="0">
                <a:solidFill>
                  <a:srgbClr val="FFFFFF"/>
                </a:solidFill>
                <a:latin typeface="Aptos Display" pitchFamily="34" charset="0"/>
                <a:ea typeface="Aptos Display" pitchFamily="34" charset="-122"/>
                <a:cs typeface="Aptos Display" pitchFamily="34" charset="-120"/>
              </a:rPr>
              <a:t>2</a:t>
            </a:r>
            <a:endParaRPr lang="en-US" sz="1800" dirty="0"/>
          </a:p>
        </p:txBody>
      </p:sp>
      <p:sp>
        <p:nvSpPr>
          <p:cNvPr id="12" name="Text 10"/>
          <p:cNvSpPr/>
          <p:nvPr/>
        </p:nvSpPr>
        <p:spPr>
          <a:xfrm>
            <a:off x="1161288" y="2350008"/>
            <a:ext cx="10360152" cy="566928"/>
          </a:xfrm>
          <a:prstGeom prst="rect">
            <a:avLst/>
          </a:prstGeom>
          <a:noFill/>
          <a:ln/>
        </p:spPr>
        <p:txBody>
          <a:bodyPr wrap="square" rtlCol="0" anchor="ctr"/>
          <a:lstStyle/>
          <a:p>
            <a:pPr indent="0" marL="0">
              <a:buNone/>
            </a:pPr>
            <a:r>
              <a:rPr lang="en-US" sz="1750" dirty="0">
                <a:solidFill>
                  <a:srgbClr val="002050"/>
                </a:solidFill>
                <a:latin typeface="Aptos" pitchFamily="34" charset="0"/>
                <a:ea typeface="Aptos" pitchFamily="34" charset="-122"/>
                <a:cs typeface="Aptos" pitchFamily="34" charset="-120"/>
              </a:rPr>
              <a:t>Explain the information that will be relayed in each of the reports you have mentioned above</a:t>
            </a:r>
            <a:endParaRPr lang="en-US" sz="1750" dirty="0"/>
          </a:p>
        </p:txBody>
      </p:sp>
      <p:sp>
        <p:nvSpPr>
          <p:cNvPr id="13" name="Shape 11"/>
          <p:cNvSpPr/>
          <p:nvPr/>
        </p:nvSpPr>
        <p:spPr>
          <a:xfrm>
            <a:off x="502920" y="3145536"/>
            <a:ext cx="457200" cy="457200"/>
          </a:xfrm>
          <a:prstGeom prst="ellipse">
            <a:avLst/>
          </a:prstGeom>
          <a:solidFill>
            <a:srgbClr val="0F6CBD"/>
          </a:solidFill>
          <a:ln/>
        </p:spPr>
      </p:sp>
      <p:sp>
        <p:nvSpPr>
          <p:cNvPr id="14" name="Text 12"/>
          <p:cNvSpPr/>
          <p:nvPr/>
        </p:nvSpPr>
        <p:spPr>
          <a:xfrm>
            <a:off x="502920" y="3145536"/>
            <a:ext cx="457200" cy="457200"/>
          </a:xfrm>
          <a:prstGeom prst="rect">
            <a:avLst/>
          </a:prstGeom>
          <a:noFill/>
          <a:ln/>
        </p:spPr>
        <p:txBody>
          <a:bodyPr wrap="square" rtlCol="0" anchor="ctr"/>
          <a:lstStyle/>
          <a:p>
            <a:pPr algn="ctr" indent="0" marL="0">
              <a:buNone/>
            </a:pPr>
            <a:r>
              <a:rPr lang="en-US" sz="1800" b="1" dirty="0">
                <a:solidFill>
                  <a:srgbClr val="FFFFFF"/>
                </a:solidFill>
                <a:latin typeface="Aptos Display" pitchFamily="34" charset="0"/>
                <a:ea typeface="Aptos Display" pitchFamily="34" charset="-122"/>
                <a:cs typeface="Aptos Display" pitchFamily="34" charset="-120"/>
              </a:rPr>
              <a:t>3</a:t>
            </a:r>
            <a:endParaRPr lang="en-US" sz="1800" dirty="0"/>
          </a:p>
        </p:txBody>
      </p:sp>
      <p:sp>
        <p:nvSpPr>
          <p:cNvPr id="15" name="Text 13"/>
          <p:cNvSpPr/>
          <p:nvPr/>
        </p:nvSpPr>
        <p:spPr>
          <a:xfrm>
            <a:off x="1161288" y="3099816"/>
            <a:ext cx="10360152" cy="566928"/>
          </a:xfrm>
          <a:prstGeom prst="rect">
            <a:avLst/>
          </a:prstGeom>
          <a:noFill/>
          <a:ln/>
        </p:spPr>
        <p:txBody>
          <a:bodyPr wrap="square" rtlCol="0" anchor="ctr"/>
          <a:lstStyle/>
          <a:p>
            <a:pPr indent="0" marL="0">
              <a:buNone/>
            </a:pPr>
            <a:r>
              <a:rPr lang="en-US" sz="1750" dirty="0">
                <a:solidFill>
                  <a:srgbClr val="002050"/>
                </a:solidFill>
                <a:latin typeface="Aptos" pitchFamily="34" charset="0"/>
                <a:ea typeface="Aptos" pitchFamily="34" charset="-122"/>
                <a:cs typeface="Aptos" pitchFamily="34" charset="-120"/>
              </a:rPr>
              <a:t>Explain your organisational procedures for obtaining and distributing sensitive company information</a:t>
            </a:r>
            <a:endParaRPr lang="en-US" sz="1750" dirty="0"/>
          </a:p>
        </p:txBody>
      </p:sp>
      <p:sp>
        <p:nvSpPr>
          <p:cNvPr id="16" name="Shape 14"/>
          <p:cNvSpPr/>
          <p:nvPr/>
        </p:nvSpPr>
        <p:spPr>
          <a:xfrm>
            <a:off x="502920" y="3895344"/>
            <a:ext cx="457200" cy="457200"/>
          </a:xfrm>
          <a:prstGeom prst="ellipse">
            <a:avLst/>
          </a:prstGeom>
          <a:solidFill>
            <a:srgbClr val="0F6CBD"/>
          </a:solidFill>
          <a:ln/>
        </p:spPr>
      </p:sp>
      <p:sp>
        <p:nvSpPr>
          <p:cNvPr id="17" name="Text 15"/>
          <p:cNvSpPr/>
          <p:nvPr/>
        </p:nvSpPr>
        <p:spPr>
          <a:xfrm>
            <a:off x="502920" y="3895344"/>
            <a:ext cx="457200" cy="457200"/>
          </a:xfrm>
          <a:prstGeom prst="rect">
            <a:avLst/>
          </a:prstGeom>
          <a:noFill/>
          <a:ln/>
        </p:spPr>
        <p:txBody>
          <a:bodyPr wrap="square" rtlCol="0" anchor="ctr"/>
          <a:lstStyle/>
          <a:p>
            <a:pPr algn="ctr" indent="0" marL="0">
              <a:buNone/>
            </a:pPr>
            <a:r>
              <a:rPr lang="en-US" sz="1800" b="1" dirty="0">
                <a:solidFill>
                  <a:srgbClr val="FFFFFF"/>
                </a:solidFill>
                <a:latin typeface="Aptos Display" pitchFamily="34" charset="0"/>
                <a:ea typeface="Aptos Display" pitchFamily="34" charset="-122"/>
                <a:cs typeface="Aptos Display" pitchFamily="34" charset="-120"/>
              </a:rPr>
              <a:t>4</a:t>
            </a:r>
            <a:endParaRPr lang="en-US" sz="1800" dirty="0"/>
          </a:p>
        </p:txBody>
      </p:sp>
      <p:sp>
        <p:nvSpPr>
          <p:cNvPr id="18" name="Text 16"/>
          <p:cNvSpPr/>
          <p:nvPr/>
        </p:nvSpPr>
        <p:spPr>
          <a:xfrm>
            <a:off x="1161288" y="3849624"/>
            <a:ext cx="10360152" cy="566928"/>
          </a:xfrm>
          <a:prstGeom prst="rect">
            <a:avLst/>
          </a:prstGeom>
          <a:noFill/>
          <a:ln/>
        </p:spPr>
        <p:txBody>
          <a:bodyPr wrap="square" rtlCol="0" anchor="ctr"/>
          <a:lstStyle/>
          <a:p>
            <a:pPr indent="0" marL="0">
              <a:buNone/>
            </a:pPr>
            <a:r>
              <a:rPr lang="en-US" sz="1750" dirty="0">
                <a:solidFill>
                  <a:srgbClr val="002050"/>
                </a:solidFill>
                <a:latin typeface="Aptos" pitchFamily="34" charset="0"/>
                <a:ea typeface="Aptos" pitchFamily="34" charset="-122"/>
                <a:cs typeface="Aptos" pitchFamily="34" charset="-120"/>
              </a:rPr>
              <a:t>Explain your organisational procedures for obtaining sensitive company information</a:t>
            </a:r>
            <a:endParaRPr lang="en-US" sz="1750" dirty="0"/>
          </a:p>
        </p:txBody>
      </p:sp>
      <p:sp>
        <p:nvSpPr>
          <p:cNvPr id="19" name="Shape 17"/>
          <p:cNvSpPr/>
          <p:nvPr/>
        </p:nvSpPr>
        <p:spPr>
          <a:xfrm>
            <a:off x="502920" y="4645152"/>
            <a:ext cx="457200" cy="457200"/>
          </a:xfrm>
          <a:prstGeom prst="ellipse">
            <a:avLst/>
          </a:prstGeom>
          <a:solidFill>
            <a:srgbClr val="0F6CBD"/>
          </a:solidFill>
          <a:ln/>
        </p:spPr>
      </p:sp>
      <p:sp>
        <p:nvSpPr>
          <p:cNvPr id="20" name="Text 18"/>
          <p:cNvSpPr/>
          <p:nvPr/>
        </p:nvSpPr>
        <p:spPr>
          <a:xfrm>
            <a:off x="502920" y="4645152"/>
            <a:ext cx="457200" cy="457200"/>
          </a:xfrm>
          <a:prstGeom prst="rect">
            <a:avLst/>
          </a:prstGeom>
          <a:noFill/>
          <a:ln/>
        </p:spPr>
        <p:txBody>
          <a:bodyPr wrap="square" rtlCol="0" anchor="ctr"/>
          <a:lstStyle/>
          <a:p>
            <a:pPr algn="ctr" indent="0" marL="0">
              <a:buNone/>
            </a:pPr>
            <a:r>
              <a:rPr lang="en-US" sz="1800" b="1" dirty="0">
                <a:solidFill>
                  <a:srgbClr val="FFFFFF"/>
                </a:solidFill>
                <a:latin typeface="Aptos Display" pitchFamily="34" charset="0"/>
                <a:ea typeface="Aptos Display" pitchFamily="34" charset="-122"/>
                <a:cs typeface="Aptos Display" pitchFamily="34" charset="-120"/>
              </a:rPr>
              <a:t>5</a:t>
            </a:r>
            <a:endParaRPr lang="en-US" sz="1800" dirty="0"/>
          </a:p>
        </p:txBody>
      </p:sp>
      <p:sp>
        <p:nvSpPr>
          <p:cNvPr id="21" name="Text 19"/>
          <p:cNvSpPr/>
          <p:nvPr/>
        </p:nvSpPr>
        <p:spPr>
          <a:xfrm>
            <a:off x="1161288" y="4599432"/>
            <a:ext cx="10360152" cy="566928"/>
          </a:xfrm>
          <a:prstGeom prst="rect">
            <a:avLst/>
          </a:prstGeom>
          <a:noFill/>
          <a:ln/>
        </p:spPr>
        <p:txBody>
          <a:bodyPr wrap="square" rtlCol="0" anchor="ctr"/>
          <a:lstStyle/>
          <a:p>
            <a:pPr indent="0" marL="0">
              <a:buNone/>
            </a:pPr>
            <a:r>
              <a:rPr lang="en-US" sz="1750" dirty="0">
                <a:solidFill>
                  <a:srgbClr val="002050"/>
                </a:solidFill>
                <a:latin typeface="Aptos" pitchFamily="34" charset="0"/>
                <a:ea typeface="Aptos" pitchFamily="34" charset="-122"/>
                <a:cs typeface="Aptos" pitchFamily="34" charset="-120"/>
              </a:rPr>
              <a:t>Identify and explain the steps that are used for compiling reports</a:t>
            </a:r>
            <a:endParaRPr lang="en-US" sz="1750" dirty="0"/>
          </a:p>
        </p:txBody>
      </p:sp>
      <p:sp>
        <p:nvSpPr>
          <p:cNvPr id="22" name="Shape 20"/>
          <p:cNvSpPr/>
          <p:nvPr/>
        </p:nvSpPr>
        <p:spPr>
          <a:xfrm>
            <a:off x="502920" y="5394960"/>
            <a:ext cx="457200" cy="457200"/>
          </a:xfrm>
          <a:prstGeom prst="ellipse">
            <a:avLst/>
          </a:prstGeom>
          <a:solidFill>
            <a:srgbClr val="0F6CBD"/>
          </a:solidFill>
          <a:ln/>
        </p:spPr>
      </p:sp>
      <p:sp>
        <p:nvSpPr>
          <p:cNvPr id="23" name="Text 21"/>
          <p:cNvSpPr/>
          <p:nvPr/>
        </p:nvSpPr>
        <p:spPr>
          <a:xfrm>
            <a:off x="502920" y="5394960"/>
            <a:ext cx="457200" cy="457200"/>
          </a:xfrm>
          <a:prstGeom prst="rect">
            <a:avLst/>
          </a:prstGeom>
          <a:noFill/>
          <a:ln/>
        </p:spPr>
        <p:txBody>
          <a:bodyPr wrap="square" rtlCol="0" anchor="ctr"/>
          <a:lstStyle/>
          <a:p>
            <a:pPr algn="ctr" indent="0" marL="0">
              <a:buNone/>
            </a:pPr>
            <a:r>
              <a:rPr lang="en-US" sz="1800" b="1" dirty="0">
                <a:solidFill>
                  <a:srgbClr val="FFFFFF"/>
                </a:solidFill>
                <a:latin typeface="Aptos Display" pitchFamily="34" charset="0"/>
                <a:ea typeface="Aptos Display" pitchFamily="34" charset="-122"/>
                <a:cs typeface="Aptos Display" pitchFamily="34" charset="-120"/>
              </a:rPr>
              <a:t>6</a:t>
            </a:r>
            <a:endParaRPr lang="en-US" sz="1800" dirty="0"/>
          </a:p>
        </p:txBody>
      </p:sp>
      <p:sp>
        <p:nvSpPr>
          <p:cNvPr id="24" name="Text 22"/>
          <p:cNvSpPr/>
          <p:nvPr/>
        </p:nvSpPr>
        <p:spPr>
          <a:xfrm>
            <a:off x="1161288" y="5349240"/>
            <a:ext cx="10360152" cy="566928"/>
          </a:xfrm>
          <a:prstGeom prst="rect">
            <a:avLst/>
          </a:prstGeom>
          <a:noFill/>
          <a:ln/>
        </p:spPr>
        <p:txBody>
          <a:bodyPr wrap="square" rtlCol="0" anchor="ctr"/>
          <a:lstStyle/>
          <a:p>
            <a:pPr indent="0" marL="0">
              <a:buNone/>
            </a:pPr>
            <a:r>
              <a:rPr lang="en-US" sz="1750" dirty="0">
                <a:solidFill>
                  <a:srgbClr val="002050"/>
                </a:solidFill>
                <a:latin typeface="Aptos" pitchFamily="34" charset="0"/>
                <a:ea typeface="Aptos" pitchFamily="34" charset="-122"/>
                <a:cs typeface="Aptos" pitchFamily="34" charset="-120"/>
              </a:rPr>
              <a:t>Explain how to ensure that the reported information is in accordance with the requirements of the report</a:t>
            </a:r>
            <a:endParaRPr lang="en-US" sz="17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6473952"/>
            <a:ext cx="10268712" cy="274320"/>
          </a:xfrm>
          <a:prstGeom prst="rect">
            <a:avLst/>
          </a:prstGeom>
          <a:noFill/>
          <a:ln/>
        </p:spPr>
        <p:txBody>
          <a:bodyPr wrap="square" rtlCol="0" anchor="ctr"/>
          <a:lstStyle/>
          <a:p>
            <a:pPr indent="0" marL="0">
              <a:buNone/>
            </a:pPr>
            <a:r>
              <a:rPr lang="en-US" sz="1000" dirty="0">
                <a:solidFill>
                  <a:srgbClr val="6B7280"/>
                </a:solidFill>
                <a:latin typeface="Aptos" pitchFamily="34" charset="0"/>
                <a:ea typeface="Aptos" pitchFamily="34" charset="-122"/>
                <a:cs typeface="Aptos" pitchFamily="34" charset="-120"/>
              </a:rPr>
              <a:t>Unit Standard 8252 — Writing Business Reports   ·   Investec IT Systems Support NQF 5</a:t>
            </a:r>
            <a:endParaRPr lang="en-US" sz="1000" dirty="0"/>
          </a:p>
        </p:txBody>
      </p:sp>
      <p:sp>
        <p:nvSpPr>
          <p:cNvPr id="3" name="Text 1"/>
          <p:cNvSpPr/>
          <p:nvPr/>
        </p:nvSpPr>
        <p:spPr>
          <a:xfrm>
            <a:off x="11137392" y="6473952"/>
            <a:ext cx="548640" cy="274320"/>
          </a:xfrm>
          <a:prstGeom prst="rect">
            <a:avLst/>
          </a:prstGeom>
          <a:noFill/>
          <a:ln/>
        </p:spPr>
        <p:txBody>
          <a:bodyPr wrap="square" rtlCol="0" anchor="ctr"/>
          <a:lstStyle/>
          <a:p>
            <a:pPr algn="r" indent="0" marL="0">
              <a:buNone/>
            </a:pPr>
            <a:r>
              <a:rPr lang="en-US" sz="1000" dirty="0">
                <a:solidFill>
                  <a:srgbClr val="6B7280"/>
                </a:solidFill>
                <a:latin typeface="Aptos" pitchFamily="34" charset="0"/>
                <a:ea typeface="Aptos" pitchFamily="34" charset="-122"/>
                <a:cs typeface="Aptos" pitchFamily="34" charset="-120"/>
              </a:rPr>
              <a:t>37</a:t>
            </a:r>
            <a:endParaRPr lang="en-US" sz="1000" dirty="0"/>
          </a:p>
        </p:txBody>
      </p:sp>
      <p:sp>
        <p:nvSpPr>
          <p:cNvPr id="4" name="Shape 2"/>
          <p:cNvSpPr/>
          <p:nvPr/>
        </p:nvSpPr>
        <p:spPr>
          <a:xfrm>
            <a:off x="0" y="0"/>
            <a:ext cx="12188952" cy="82296"/>
          </a:xfrm>
          <a:prstGeom prst="rect">
            <a:avLst/>
          </a:prstGeom>
          <a:solidFill>
            <a:srgbClr val="0F6CBD"/>
          </a:solidFill>
          <a:ln/>
        </p:spPr>
      </p:sp>
      <p:sp>
        <p:nvSpPr>
          <p:cNvPr id="5" name="Text 3"/>
          <p:cNvSpPr/>
          <p:nvPr/>
        </p:nvSpPr>
        <p:spPr>
          <a:xfrm>
            <a:off x="502920" y="256032"/>
            <a:ext cx="11183112" cy="347472"/>
          </a:xfrm>
          <a:prstGeom prst="rect">
            <a:avLst/>
          </a:prstGeom>
          <a:noFill/>
          <a:ln/>
        </p:spPr>
        <p:txBody>
          <a:bodyPr wrap="square" rtlCol="0" anchor="ctr"/>
          <a:lstStyle/>
          <a:p>
            <a:pPr indent="0" marL="0">
              <a:buNone/>
            </a:pPr>
            <a:r>
              <a:rPr lang="en-US" sz="1400" b="1" spc="200" kern="0" dirty="0">
                <a:solidFill>
                  <a:srgbClr val="0F6CBD"/>
                </a:solidFill>
                <a:latin typeface="Aptos" pitchFamily="34" charset="0"/>
                <a:ea typeface="Aptos" pitchFamily="34" charset="-122"/>
                <a:cs typeface="Aptos" pitchFamily="34" charset="-120"/>
              </a:rPr>
              <a:t>SELF-ASSESSMENT</a:t>
            </a:r>
            <a:endParaRPr lang="en-US" sz="1400" dirty="0"/>
          </a:p>
        </p:txBody>
      </p:sp>
      <p:sp>
        <p:nvSpPr>
          <p:cNvPr id="6" name="Text 4"/>
          <p:cNvSpPr/>
          <p:nvPr/>
        </p:nvSpPr>
        <p:spPr>
          <a:xfrm>
            <a:off x="502920" y="585216"/>
            <a:ext cx="11183112" cy="786384"/>
          </a:xfrm>
          <a:prstGeom prst="rect">
            <a:avLst/>
          </a:prstGeom>
          <a:noFill/>
          <a:ln/>
        </p:spPr>
        <p:txBody>
          <a:bodyPr wrap="square" rtlCol="0" anchor="ctr"/>
          <a:lstStyle/>
          <a:p>
            <a:pPr indent="0" marL="0">
              <a:buNone/>
            </a:pPr>
            <a:r>
              <a:rPr lang="en-US" sz="3400" b="1" dirty="0">
                <a:solidFill>
                  <a:srgbClr val="002050"/>
                </a:solidFill>
                <a:latin typeface="Aptos Display" pitchFamily="34" charset="0"/>
                <a:ea typeface="Aptos Display" pitchFamily="34" charset="-122"/>
                <a:cs typeface="Aptos Display" pitchFamily="34" charset="-120"/>
              </a:rPr>
              <a:t>Self-Assessment — Be Honest With Yourself</a:t>
            </a:r>
            <a:endParaRPr lang="en-US" sz="3400" dirty="0"/>
          </a:p>
        </p:txBody>
      </p:sp>
      <p:sp>
        <p:nvSpPr>
          <p:cNvPr id="7" name="Text 5"/>
          <p:cNvSpPr/>
          <p:nvPr/>
        </p:nvSpPr>
        <p:spPr>
          <a:xfrm>
            <a:off x="502920" y="1417320"/>
            <a:ext cx="11183112" cy="365760"/>
          </a:xfrm>
          <a:prstGeom prst="rect">
            <a:avLst/>
          </a:prstGeom>
          <a:noFill/>
          <a:ln/>
        </p:spPr>
        <p:txBody>
          <a:bodyPr wrap="square" rtlCol="0" anchor="ctr"/>
          <a:lstStyle/>
          <a:p>
            <a:pPr indent="0" marL="0">
              <a:buNone/>
            </a:pPr>
            <a:r>
              <a:rPr lang="en-US" sz="1600" dirty="0">
                <a:solidFill>
                  <a:srgbClr val="6B7280"/>
                </a:solidFill>
                <a:latin typeface="Aptos" pitchFamily="34" charset="0"/>
                <a:ea typeface="Aptos" pitchFamily="34" charset="-122"/>
                <a:cs typeface="Aptos" pitchFamily="34" charset="-120"/>
              </a:rPr>
              <a:t>Tick the box with a ✓ or an ✗ to indicate your response.</a:t>
            </a:r>
            <a:endParaRPr lang="en-US" sz="1600" dirty="0"/>
          </a:p>
        </p:txBody>
      </p:sp>
      <p:sp>
        <p:nvSpPr>
          <p:cNvPr id="8" name="Shape 6"/>
          <p:cNvSpPr/>
          <p:nvPr/>
        </p:nvSpPr>
        <p:spPr>
          <a:xfrm>
            <a:off x="502920" y="1975104"/>
            <a:ext cx="384048" cy="384048"/>
          </a:xfrm>
          <a:prstGeom prst="roundRect">
            <a:avLst>
              <a:gd name="adj" fmla="val 16667"/>
            </a:avLst>
          </a:prstGeom>
          <a:solidFill>
            <a:srgbClr val="FFFFFF"/>
          </a:solidFill>
          <a:ln w="19050">
            <a:solidFill>
              <a:srgbClr val="0F6CBD"/>
            </a:solidFill>
            <a:prstDash val="solid"/>
          </a:ln>
        </p:spPr>
      </p:sp>
      <p:sp>
        <p:nvSpPr>
          <p:cNvPr id="9" name="Text 7"/>
          <p:cNvSpPr/>
          <p:nvPr/>
        </p:nvSpPr>
        <p:spPr>
          <a:xfrm>
            <a:off x="1106424" y="1892808"/>
            <a:ext cx="10360152" cy="566928"/>
          </a:xfrm>
          <a:prstGeom prst="rect">
            <a:avLst/>
          </a:prstGeom>
          <a:noFill/>
          <a:ln/>
        </p:spPr>
        <p:txBody>
          <a:bodyPr wrap="square" rtlCol="0" anchor="ctr"/>
          <a:lstStyle/>
          <a:p>
            <a:pPr indent="0" marL="0">
              <a:buNone/>
            </a:pPr>
            <a:r>
              <a:rPr lang="en-US" sz="1650" dirty="0">
                <a:solidFill>
                  <a:srgbClr val="002050"/>
                </a:solidFill>
                <a:latin typeface="Aptos" pitchFamily="34" charset="0"/>
                <a:ea typeface="Aptos" pitchFamily="34" charset="-122"/>
                <a:cs typeface="Aptos" pitchFamily="34" charset="-120"/>
              </a:rPr>
              <a:t>I am able to identify and explain different types of reports used in organisations</a:t>
            </a:r>
            <a:endParaRPr lang="en-US" sz="1650" dirty="0"/>
          </a:p>
        </p:txBody>
      </p:sp>
      <p:sp>
        <p:nvSpPr>
          <p:cNvPr id="10" name="Shape 8"/>
          <p:cNvSpPr/>
          <p:nvPr/>
        </p:nvSpPr>
        <p:spPr>
          <a:xfrm>
            <a:off x="502920" y="2633472"/>
            <a:ext cx="384048" cy="384048"/>
          </a:xfrm>
          <a:prstGeom prst="roundRect">
            <a:avLst>
              <a:gd name="adj" fmla="val 16667"/>
            </a:avLst>
          </a:prstGeom>
          <a:solidFill>
            <a:srgbClr val="FFFFFF"/>
          </a:solidFill>
          <a:ln w="19050">
            <a:solidFill>
              <a:srgbClr val="0F6CBD"/>
            </a:solidFill>
            <a:prstDash val="solid"/>
          </a:ln>
        </p:spPr>
      </p:sp>
      <p:sp>
        <p:nvSpPr>
          <p:cNvPr id="11" name="Text 9"/>
          <p:cNvSpPr/>
          <p:nvPr/>
        </p:nvSpPr>
        <p:spPr>
          <a:xfrm>
            <a:off x="1106424" y="2551176"/>
            <a:ext cx="10360152" cy="566928"/>
          </a:xfrm>
          <a:prstGeom prst="rect">
            <a:avLst/>
          </a:prstGeom>
          <a:noFill/>
          <a:ln/>
        </p:spPr>
        <p:txBody>
          <a:bodyPr wrap="square" rtlCol="0" anchor="ctr"/>
          <a:lstStyle/>
          <a:p>
            <a:pPr indent="0" marL="0">
              <a:buNone/>
            </a:pPr>
            <a:r>
              <a:rPr lang="en-US" sz="1650" dirty="0">
                <a:solidFill>
                  <a:srgbClr val="002050"/>
                </a:solidFill>
                <a:latin typeface="Aptos" pitchFamily="34" charset="0"/>
                <a:ea typeface="Aptos" pitchFamily="34" charset="-122"/>
                <a:cs typeface="Aptos" pitchFamily="34" charset="-120"/>
              </a:rPr>
              <a:t>I am able to explain the use of the different types of reports</a:t>
            </a:r>
            <a:endParaRPr lang="en-US" sz="1650" dirty="0"/>
          </a:p>
        </p:txBody>
      </p:sp>
      <p:sp>
        <p:nvSpPr>
          <p:cNvPr id="12" name="Shape 10"/>
          <p:cNvSpPr/>
          <p:nvPr/>
        </p:nvSpPr>
        <p:spPr>
          <a:xfrm>
            <a:off x="502920" y="3291840"/>
            <a:ext cx="384048" cy="384048"/>
          </a:xfrm>
          <a:prstGeom prst="roundRect">
            <a:avLst>
              <a:gd name="adj" fmla="val 16667"/>
            </a:avLst>
          </a:prstGeom>
          <a:solidFill>
            <a:srgbClr val="FFFFFF"/>
          </a:solidFill>
          <a:ln w="19050">
            <a:solidFill>
              <a:srgbClr val="0F6CBD"/>
            </a:solidFill>
            <a:prstDash val="solid"/>
          </a:ln>
        </p:spPr>
      </p:sp>
      <p:sp>
        <p:nvSpPr>
          <p:cNvPr id="13" name="Text 11"/>
          <p:cNvSpPr/>
          <p:nvPr/>
        </p:nvSpPr>
        <p:spPr>
          <a:xfrm>
            <a:off x="1106424" y="3209544"/>
            <a:ext cx="10360152" cy="566928"/>
          </a:xfrm>
          <a:prstGeom prst="rect">
            <a:avLst/>
          </a:prstGeom>
          <a:noFill/>
          <a:ln/>
        </p:spPr>
        <p:txBody>
          <a:bodyPr wrap="square" rtlCol="0" anchor="ctr"/>
          <a:lstStyle/>
          <a:p>
            <a:pPr indent="0" marL="0">
              <a:buNone/>
            </a:pPr>
            <a:r>
              <a:rPr lang="en-US" sz="1650" dirty="0">
                <a:solidFill>
                  <a:srgbClr val="002050"/>
                </a:solidFill>
                <a:latin typeface="Aptos" pitchFamily="34" charset="0"/>
                <a:ea typeface="Aptos" pitchFamily="34" charset="-122"/>
                <a:cs typeface="Aptos" pitchFamily="34" charset="-120"/>
              </a:rPr>
              <a:t>I am able to identify and explain the reasons for handling confidential information confidentially</a:t>
            </a:r>
            <a:endParaRPr lang="en-US" sz="1650" dirty="0"/>
          </a:p>
        </p:txBody>
      </p:sp>
      <p:sp>
        <p:nvSpPr>
          <p:cNvPr id="14" name="Shape 12"/>
          <p:cNvSpPr/>
          <p:nvPr/>
        </p:nvSpPr>
        <p:spPr>
          <a:xfrm>
            <a:off x="502920" y="3950208"/>
            <a:ext cx="384048" cy="384048"/>
          </a:xfrm>
          <a:prstGeom prst="roundRect">
            <a:avLst>
              <a:gd name="adj" fmla="val 16667"/>
            </a:avLst>
          </a:prstGeom>
          <a:solidFill>
            <a:srgbClr val="FFFFFF"/>
          </a:solidFill>
          <a:ln w="19050">
            <a:solidFill>
              <a:srgbClr val="0F6CBD"/>
            </a:solidFill>
            <a:prstDash val="solid"/>
          </a:ln>
        </p:spPr>
      </p:sp>
      <p:sp>
        <p:nvSpPr>
          <p:cNvPr id="15" name="Text 13"/>
          <p:cNvSpPr/>
          <p:nvPr/>
        </p:nvSpPr>
        <p:spPr>
          <a:xfrm>
            <a:off x="1106424" y="3867912"/>
            <a:ext cx="10360152" cy="566928"/>
          </a:xfrm>
          <a:prstGeom prst="rect">
            <a:avLst/>
          </a:prstGeom>
          <a:noFill/>
          <a:ln/>
        </p:spPr>
        <p:txBody>
          <a:bodyPr wrap="square" rtlCol="0" anchor="ctr"/>
          <a:lstStyle/>
          <a:p>
            <a:pPr indent="0" marL="0">
              <a:buNone/>
            </a:pPr>
            <a:r>
              <a:rPr lang="en-US" sz="1650" dirty="0">
                <a:solidFill>
                  <a:srgbClr val="002050"/>
                </a:solidFill>
                <a:latin typeface="Aptos" pitchFamily="34" charset="0"/>
                <a:ea typeface="Aptos" pitchFamily="34" charset="-122"/>
                <a:cs typeface="Aptos" pitchFamily="34" charset="-120"/>
              </a:rPr>
              <a:t>I am able to explain a range of techniques for compiling reports</a:t>
            </a:r>
            <a:endParaRPr lang="en-US" sz="1650" dirty="0"/>
          </a:p>
        </p:txBody>
      </p:sp>
      <p:sp>
        <p:nvSpPr>
          <p:cNvPr id="16" name="Shape 14"/>
          <p:cNvSpPr/>
          <p:nvPr/>
        </p:nvSpPr>
        <p:spPr>
          <a:xfrm>
            <a:off x="502920" y="4608576"/>
            <a:ext cx="384048" cy="384048"/>
          </a:xfrm>
          <a:prstGeom prst="roundRect">
            <a:avLst>
              <a:gd name="adj" fmla="val 16667"/>
            </a:avLst>
          </a:prstGeom>
          <a:solidFill>
            <a:srgbClr val="FFFFFF"/>
          </a:solidFill>
          <a:ln w="19050">
            <a:solidFill>
              <a:srgbClr val="0F6CBD"/>
            </a:solidFill>
            <a:prstDash val="solid"/>
          </a:ln>
        </p:spPr>
      </p:sp>
      <p:sp>
        <p:nvSpPr>
          <p:cNvPr id="17" name="Text 15"/>
          <p:cNvSpPr/>
          <p:nvPr/>
        </p:nvSpPr>
        <p:spPr>
          <a:xfrm>
            <a:off x="1106424" y="4526280"/>
            <a:ext cx="10360152" cy="566928"/>
          </a:xfrm>
          <a:prstGeom prst="rect">
            <a:avLst/>
          </a:prstGeom>
          <a:noFill/>
          <a:ln/>
        </p:spPr>
        <p:txBody>
          <a:bodyPr wrap="square" rtlCol="0" anchor="ctr"/>
          <a:lstStyle/>
          <a:p>
            <a:pPr indent="0" marL="0">
              <a:buNone/>
            </a:pPr>
            <a:r>
              <a:rPr lang="en-US" sz="1650" dirty="0">
                <a:solidFill>
                  <a:srgbClr val="002050"/>
                </a:solidFill>
                <a:latin typeface="Aptos" pitchFamily="34" charset="0"/>
                <a:ea typeface="Aptos" pitchFamily="34" charset="-122"/>
                <a:cs typeface="Aptos" pitchFamily="34" charset="-120"/>
              </a:rPr>
              <a:t>I am able to explain how the reported information is checked for appropriateness and then distributed according to the intended audience of the report</a:t>
            </a:r>
            <a:endParaRPr lang="en-US" sz="1650" dirty="0"/>
          </a:p>
        </p:txBody>
      </p:sp>
      <p:sp>
        <p:nvSpPr>
          <p:cNvPr id="18" name="Shape 16"/>
          <p:cNvSpPr/>
          <p:nvPr/>
        </p:nvSpPr>
        <p:spPr>
          <a:xfrm>
            <a:off x="502920" y="5394960"/>
            <a:ext cx="11183112" cy="914400"/>
          </a:xfrm>
          <a:prstGeom prst="roundRect">
            <a:avLst>
              <a:gd name="adj" fmla="val 9000"/>
            </a:avLst>
          </a:prstGeom>
          <a:solidFill>
            <a:srgbClr val="EAF4FF"/>
          </a:solidFill>
          <a:ln w="12700">
            <a:solidFill>
              <a:srgbClr val="D5E3F2"/>
            </a:solidFill>
            <a:prstDash val="solid"/>
          </a:ln>
          <a:effectLst>
            <a:outerShdw sx="100000" sy="100000" kx="0" ky="0" algn="bl" rotWithShape="0" blurRad="88900" dist="25400" dir="5400000">
              <a:srgbClr val="9AB4CC">
                <a:alpha val="30000"/>
              </a:srgbClr>
            </a:outerShdw>
          </a:effectLst>
        </p:spPr>
      </p:sp>
      <p:pic>
        <p:nvPicPr>
          <p:cNvPr id="19"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31520" y="5623560"/>
            <a:ext cx="329184" cy="329184"/>
          </a:xfrm>
          <a:prstGeom prst="rect">
            <a:avLst/>
          </a:prstGeom>
        </p:spPr>
      </p:pic>
      <p:sp>
        <p:nvSpPr>
          <p:cNvPr id="20" name="Text 17"/>
          <p:cNvSpPr/>
          <p:nvPr/>
        </p:nvSpPr>
        <p:spPr>
          <a:xfrm>
            <a:off x="1188720" y="5486400"/>
            <a:ext cx="10222992" cy="731520"/>
          </a:xfrm>
          <a:prstGeom prst="rect">
            <a:avLst/>
          </a:prstGeom>
          <a:noFill/>
          <a:ln/>
        </p:spPr>
        <p:txBody>
          <a:bodyPr wrap="square" rtlCol="0" anchor="ctr"/>
          <a:lstStyle/>
          <a:p>
            <a:pPr indent="0" marL="0">
              <a:lnSpc>
                <a:spcPct val="110000"/>
              </a:lnSpc>
              <a:buNone/>
            </a:pPr>
            <a:r>
              <a:rPr lang="en-US" sz="1600" dirty="0">
                <a:solidFill>
                  <a:srgbClr val="002050"/>
                </a:solidFill>
                <a:latin typeface="Aptos" pitchFamily="34" charset="0"/>
                <a:ea typeface="Aptos" pitchFamily="34" charset="-122"/>
                <a:cs typeface="Aptos" pitchFamily="34" charset="-120"/>
              </a:rPr>
              <a:t>Think about any point you could not tick. Write it down as a goal, decide on a plan of action to achieve it, and review your goals regularly.</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37</Slides>
  <Notes>37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37</vt:i4>
      </vt:variant>
    </vt:vector>
  </HeadingPairs>
  <TitlesOfParts>
    <vt:vector size="4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vector>
  </TitlesOfParts>
  <Company>Investec — Corporate Banking Technology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US 8252 — Writing Business Reports (Learner Manual)</dc:title>
  <dc:subject>PptxGenJS Presentation</dc:subject>
  <dc:creator>Andre Snell</dc:creator>
  <cp:lastModifiedBy>Andre Snell</cp:lastModifiedBy>
  <cp:revision>1</cp:revision>
  <dcterms:created xsi:type="dcterms:W3CDTF">2026-08-23T00:10:47Z</dcterms:created>
  <dcterms:modified xsi:type="dcterms:W3CDTF">2026-08-23T00:10:47Z</dcterms:modified>
</cp:coreProperties>
</file>