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image" Target="../media/image-6-5.png"/><Relationship Id="rId6" Type="http://schemas.openxmlformats.org/officeDocument/2006/relationships/image" Target="../media/image-6-6.sv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image" Target="../media/image-10-9.png"/><Relationship Id="rId10" Type="http://schemas.openxmlformats.org/officeDocument/2006/relationships/image" Target="../media/image-10-10.sv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image" Target="../media/image-16-7.png"/><Relationship Id="rId8" Type="http://schemas.openxmlformats.org/officeDocument/2006/relationships/image" Target="../media/image-16-8.svg"/><Relationship Id="rId9" Type="http://schemas.openxmlformats.org/officeDocument/2006/relationships/image" Target="../media/image-16-9.png"/><Relationship Id="rId10" Type="http://schemas.openxmlformats.org/officeDocument/2006/relationships/image" Target="../media/image-16-10.sv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image" Target="../media/image-22-3.png"/><Relationship Id="rId4" Type="http://schemas.openxmlformats.org/officeDocument/2006/relationships/image" Target="../media/image-22-4.svg"/><Relationship Id="rId5" Type="http://schemas.openxmlformats.org/officeDocument/2006/relationships/image" Target="../media/image-22-5.png"/><Relationship Id="rId6" Type="http://schemas.openxmlformats.org/officeDocument/2006/relationships/image" Target="../media/image-22-6.svg"/><Relationship Id="rId7" Type="http://schemas.openxmlformats.org/officeDocument/2006/relationships/image" Target="../media/image-22-7.png"/><Relationship Id="rId8" Type="http://schemas.openxmlformats.org/officeDocument/2006/relationships/image" Target="../media/image-22-8.svg"/><Relationship Id="rId9" Type="http://schemas.openxmlformats.org/officeDocument/2006/relationships/image" Target="../media/image-22-9.png"/><Relationship Id="rId10" Type="http://schemas.openxmlformats.org/officeDocument/2006/relationships/image" Target="../media/image-22-10.svg"/><Relationship Id="rId11" Type="http://schemas.openxmlformats.org/officeDocument/2006/relationships/image" Target="../media/image-22-11.png"/><Relationship Id="rId12" Type="http://schemas.openxmlformats.org/officeDocument/2006/relationships/image" Target="../media/image-22-12.svg"/><Relationship Id="rId13" Type="http://schemas.openxmlformats.org/officeDocument/2006/relationships/image" Target="../media/image-22-13.png"/><Relationship Id="rId14" Type="http://schemas.openxmlformats.org/officeDocument/2006/relationships/image" Target="../media/image-22-14.svg"/><Relationship Id="rId15" Type="http://schemas.openxmlformats.org/officeDocument/2006/relationships/image" Target="../media/image-22-15.png"/><Relationship Id="rId16" Type="http://schemas.openxmlformats.org/officeDocument/2006/relationships/image" Target="../media/image-22-16.svg"/><Relationship Id="rId17" Type="http://schemas.openxmlformats.org/officeDocument/2006/relationships/image" Target="../media/image-22-17.png"/><Relationship Id="rId18" Type="http://schemas.openxmlformats.org/officeDocument/2006/relationships/image" Target="../media/image-22-18.svg"/><Relationship Id="rId19" Type="http://schemas.openxmlformats.org/officeDocument/2006/relationships/slideLayout" Target="../slideLayouts/slideLayout1.xml"/><Relationship Id="rId2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image" Target="../media/image-25-3.png"/><Relationship Id="rId4" Type="http://schemas.openxmlformats.org/officeDocument/2006/relationships/image" Target="../media/image-25-4.sv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image" Target="../media/image-27-3.png"/><Relationship Id="rId4" Type="http://schemas.openxmlformats.org/officeDocument/2006/relationships/image" Target="../media/image-27-4.svg"/><Relationship Id="rId5" Type="http://schemas.openxmlformats.org/officeDocument/2006/relationships/image" Target="../media/image-27-5.png"/><Relationship Id="rId6" Type="http://schemas.openxmlformats.org/officeDocument/2006/relationships/image" Target="../media/image-27-6.sv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image" Target="../media/image-29-3.png"/><Relationship Id="rId4" Type="http://schemas.openxmlformats.org/officeDocument/2006/relationships/image" Target="../media/image-29-4.svg"/><Relationship Id="rId5" Type="http://schemas.openxmlformats.org/officeDocument/2006/relationships/image" Target="../media/image-29-5.png"/><Relationship Id="rId6" Type="http://schemas.openxmlformats.org/officeDocument/2006/relationships/image" Target="../media/image-29-6.svg"/><Relationship Id="rId7" Type="http://schemas.openxmlformats.org/officeDocument/2006/relationships/image" Target="../media/image-29-7.png"/><Relationship Id="rId8" Type="http://schemas.openxmlformats.org/officeDocument/2006/relationships/image" Target="../media/image-29-8.svg"/><Relationship Id="rId9" Type="http://schemas.openxmlformats.org/officeDocument/2006/relationships/image" Target="../media/image-29-9.png"/><Relationship Id="rId10" Type="http://schemas.openxmlformats.org/officeDocument/2006/relationships/image" Target="../media/image-29-10.svg"/><Relationship Id="rId11" Type="http://schemas.openxmlformats.org/officeDocument/2006/relationships/image" Target="../media/image-29-11.png"/><Relationship Id="rId12" Type="http://schemas.openxmlformats.org/officeDocument/2006/relationships/image" Target="../media/image-29-12.sv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image" Target="../media/image-30-5.png"/><Relationship Id="rId6" Type="http://schemas.openxmlformats.org/officeDocument/2006/relationships/image" Target="../media/image-30-6.sv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image" Target="../media/image-31-5.png"/><Relationship Id="rId6" Type="http://schemas.openxmlformats.org/officeDocument/2006/relationships/image" Target="../media/image-31-6.sv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image" Target="../media/image-33-3.png"/><Relationship Id="rId4" Type="http://schemas.openxmlformats.org/officeDocument/2006/relationships/image" Target="../media/image-33-4.svg"/><Relationship Id="rId5" Type="http://schemas.openxmlformats.org/officeDocument/2006/relationships/image" Target="../media/image-33-5.png"/><Relationship Id="rId6" Type="http://schemas.openxmlformats.org/officeDocument/2006/relationships/image" Target="../media/image-33-6.svg"/><Relationship Id="rId7" Type="http://schemas.openxmlformats.org/officeDocument/2006/relationships/image" Target="../media/image-33-7.png"/><Relationship Id="rId8" Type="http://schemas.openxmlformats.org/officeDocument/2006/relationships/image" Target="../media/image-33-8.sv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image" Target="../media/image-34-5.png"/><Relationship Id="rId6" Type="http://schemas.openxmlformats.org/officeDocument/2006/relationships/image" Target="../media/image-34-6.svg"/><Relationship Id="rId7" Type="http://schemas.openxmlformats.org/officeDocument/2006/relationships/image" Target="../media/image-34-7.png"/><Relationship Id="rId8" Type="http://schemas.openxmlformats.org/officeDocument/2006/relationships/image" Target="../media/image-34-8.svg"/><Relationship Id="rId9" Type="http://schemas.openxmlformats.org/officeDocument/2006/relationships/slideLayout" Target="../slideLayouts/slideLayout1.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291840" cy="512064"/>
          </a:xfrm>
          <a:prstGeom prst="roundRect">
            <a:avLst>
              <a:gd name="adj" fmla="val 50000"/>
            </a:avLst>
          </a:prstGeom>
          <a:solidFill>
            <a:srgbClr val="0F6CBD"/>
          </a:solidFill>
          <a:ln/>
        </p:spPr>
      </p:sp>
      <p:sp>
        <p:nvSpPr>
          <p:cNvPr id="4" name="Text 2"/>
          <p:cNvSpPr/>
          <p:nvPr/>
        </p:nvSpPr>
        <p:spPr>
          <a:xfrm>
            <a:off x="502920" y="1188720"/>
            <a:ext cx="329184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8252 · NQF 5 · 6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Writing Business Reports</a:t>
            </a:r>
            <a:endParaRPr lang="en-US" sz="5200" dirty="0"/>
          </a:p>
        </p:txBody>
      </p:sp>
      <p:sp>
        <p:nvSpPr>
          <p:cNvPr id="6" name="Text 4"/>
          <p:cNvSpPr/>
          <p:nvPr/>
        </p:nvSpPr>
        <p:spPr>
          <a:xfrm>
            <a:off x="502920" y="3246120"/>
            <a:ext cx="9601200" cy="50292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Writing business reports in Retail/Wholesale practices</a:t>
            </a:r>
            <a:endParaRPr lang="en-US" sz="2100" dirty="0"/>
          </a:p>
        </p:txBody>
      </p:sp>
      <p:sp>
        <p:nvSpPr>
          <p:cNvPr id="7" name="Text 5"/>
          <p:cNvSpPr/>
          <p:nvPr/>
        </p:nvSpPr>
        <p:spPr>
          <a:xfrm>
            <a:off x="502920" y="379476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70916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Competence Requirements</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6949440"/>
                <a:gridCol w="941832"/>
              </a:tblGrid>
              <a:tr h="713232">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Section</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What it covers</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Page</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Alignment index</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different outcomes you must prove competent in to complete US 8252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3</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Purpose &amp; content of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various types of reports, their purposes and the range of information in them</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4</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Obtaining &amp; distributing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resources used to obtain information and the methods for distributing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8</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Verifying reported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How report information is checked against requirements and approved for distribution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9</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Question Session 1</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Your knowledge of this section is assessed with the questions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10</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Self-assessment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SPECIFIC OUTCOMES AND RELATED ASSESSMENT CRITERIA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Alignment Index — Specific Outcomes</a:t>
            </a:r>
            <a:endParaRPr lang="en-US" sz="3400" dirty="0"/>
          </a:p>
        </p:txBody>
      </p:sp>
      <p:sp>
        <p:nvSpPr>
          <p:cNvPr id="7" name="Shape 5"/>
          <p:cNvSpPr/>
          <p:nvPr/>
        </p:nvSpPr>
        <p:spPr>
          <a:xfrm>
            <a:off x="502920" y="1572768"/>
            <a:ext cx="11183112" cy="603504"/>
          </a:xfrm>
          <a:prstGeom prst="roundRect">
            <a:avLst>
              <a:gd name="adj" fmla="val 13636"/>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Text 6"/>
          <p:cNvSpPr/>
          <p:nvPr/>
        </p:nvSpPr>
        <p:spPr>
          <a:xfrm>
            <a:off x="731520" y="1572768"/>
            <a:ext cx="10725912" cy="603504"/>
          </a:xfrm>
          <a:prstGeom prst="rect">
            <a:avLst/>
          </a:prstGeom>
          <a:noFill/>
          <a:ln/>
        </p:spPr>
        <p:txBody>
          <a:bodyPr wrap="square" rtlCol="0" anchor="ctr"/>
          <a:lstStyle/>
          <a:p>
            <a:pPr indent="0" marL="0">
              <a:buNone/>
            </a:pPr>
            <a:r>
              <a:rPr lang="en-US" sz="1700" b="1" dirty="0">
                <a:solidFill>
                  <a:srgbClr val="0F6CBD"/>
                </a:solidFill>
                <a:latin typeface="Aptos Display" pitchFamily="34" charset="0"/>
                <a:ea typeface="Aptos Display" pitchFamily="34" charset="-122"/>
                <a:cs typeface="Aptos Display" pitchFamily="34" charset="-120"/>
              </a:rPr>
              <a:t>SO 1   </a:t>
            </a:r>
            <a:pPr indent="0" marL="0">
              <a:buNone/>
            </a:pPr>
            <a:r>
              <a:rPr lang="en-US" sz="1650" dirty="0">
                <a:solidFill>
                  <a:srgbClr val="002050"/>
                </a:solidFill>
                <a:latin typeface="Aptos" pitchFamily="34" charset="0"/>
                <a:ea typeface="Aptos" pitchFamily="34" charset="-122"/>
                <a:cs typeface="Aptos" pitchFamily="34" charset="-120"/>
              </a:rPr>
              <a:t>The demonstrated ability to make decisions and consider options when:   </a:t>
            </a:r>
            <a:pPr indent="0" marL="0">
              <a:buNone/>
            </a:pPr>
            <a:r>
              <a:rPr lang="en-US" sz="1400" b="1" dirty="0">
                <a:solidFill>
                  <a:srgbClr val="0F6CBD"/>
                </a:solidFill>
                <a:latin typeface="Aptos" pitchFamily="34" charset="0"/>
                <a:ea typeface="Aptos" pitchFamily="34" charset="-122"/>
                <a:cs typeface="Aptos" pitchFamily="34" charset="-120"/>
              </a:rPr>
              <a:t>AC 1 — as for SO 1</a:t>
            </a:r>
            <a:endParaRPr lang="en-US" sz="1700" dirty="0"/>
          </a:p>
        </p:txBody>
      </p:sp>
      <p:sp>
        <p:nvSpPr>
          <p:cNvPr id="9" name="Text 7"/>
          <p:cNvSpPr/>
          <p:nvPr/>
        </p:nvSpPr>
        <p:spPr>
          <a:xfrm>
            <a:off x="502920" y="2331720"/>
            <a:ext cx="11183112" cy="41148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The criterion tests your ability to create, share, and verify workplace reports. It is broken down into four main tasks:</a:t>
            </a:r>
            <a:endParaRPr lang="en-US" sz="1600" dirty="0"/>
          </a:p>
        </p:txBody>
      </p:sp>
      <p:sp>
        <p:nvSpPr>
          <p:cNvPr id="10" name="Shape 8"/>
          <p:cNvSpPr/>
          <p:nvPr/>
        </p:nvSpPr>
        <p:spPr>
          <a:xfrm>
            <a:off x="502920" y="2834640"/>
            <a:ext cx="11183112" cy="694944"/>
          </a:xfrm>
          <a:prstGeom prst="roundRect">
            <a:avLst>
              <a:gd name="adj" fmla="val 11842"/>
            </a:avLst>
          </a:prstGeom>
          <a:solidFill>
            <a:srgbClr val="FFFF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sp>
        <p:nvSpPr>
          <p:cNvPr id="11" name="Shape 9"/>
          <p:cNvSpPr/>
          <p:nvPr/>
        </p:nvSpPr>
        <p:spPr>
          <a:xfrm>
            <a:off x="502920" y="2834640"/>
            <a:ext cx="82296" cy="694944"/>
          </a:xfrm>
          <a:prstGeom prst="rect">
            <a:avLst/>
          </a:prstGeom>
          <a:solidFill>
            <a:srgbClr val="0F6CBD"/>
          </a:solidFill>
          <a:ln/>
        </p:spPr>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999232"/>
            <a:ext cx="365760" cy="365760"/>
          </a:xfrm>
          <a:prstGeom prst="rect">
            <a:avLst/>
          </a:prstGeom>
        </p:spPr>
      </p:pic>
      <p:sp>
        <p:nvSpPr>
          <p:cNvPr id="13" name="Text 10"/>
          <p:cNvSpPr/>
          <p:nvPr/>
        </p:nvSpPr>
        <p:spPr>
          <a:xfrm>
            <a:off x="1280160" y="2944368"/>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Matching reports to business needs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Ensuring the type and contents of the report match what management or stakeholders actually need to see.</a:t>
            </a:r>
            <a:endParaRPr lang="en-US" sz="1800" dirty="0"/>
          </a:p>
        </p:txBody>
      </p:sp>
      <p:sp>
        <p:nvSpPr>
          <p:cNvPr id="14" name="Shape 11"/>
          <p:cNvSpPr/>
          <p:nvPr/>
        </p:nvSpPr>
        <p:spPr>
          <a:xfrm>
            <a:off x="502920" y="3730752"/>
            <a:ext cx="11183112" cy="694944"/>
          </a:xfrm>
          <a:prstGeom prst="roundRect">
            <a:avLst>
              <a:gd name="adj" fmla="val 11842"/>
            </a:avLst>
          </a:prstGeom>
          <a:solidFill>
            <a:srgbClr val="EAF4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15" name="Shape 12"/>
          <p:cNvSpPr/>
          <p:nvPr/>
        </p:nvSpPr>
        <p:spPr>
          <a:xfrm>
            <a:off x="502920" y="3730752"/>
            <a:ext cx="82296" cy="694944"/>
          </a:xfrm>
          <a:prstGeom prst="rect">
            <a:avLst/>
          </a:prstGeom>
          <a:solidFill>
            <a:srgbClr val="0F6CBD"/>
          </a:solidFill>
          <a:ln/>
        </p:spPr>
      </p:sp>
      <p:pic>
        <p:nvPicPr>
          <p:cNvPr id="16"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95344"/>
            <a:ext cx="365760" cy="365760"/>
          </a:xfrm>
          <a:prstGeom prst="rect">
            <a:avLst/>
          </a:prstGeom>
        </p:spPr>
      </p:pic>
      <p:sp>
        <p:nvSpPr>
          <p:cNvPr id="17" name="Text 13"/>
          <p:cNvSpPr/>
          <p:nvPr/>
        </p:nvSpPr>
        <p:spPr>
          <a:xfrm>
            <a:off x="1280160" y="3840480"/>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Handling private information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Knowing where to find company data and following the correct rules for sharing sensitive or confidential details.</a:t>
            </a:r>
            <a:endParaRPr lang="en-US" sz="1800" dirty="0"/>
          </a:p>
        </p:txBody>
      </p:sp>
      <p:sp>
        <p:nvSpPr>
          <p:cNvPr id="18" name="Shape 14"/>
          <p:cNvSpPr/>
          <p:nvPr/>
        </p:nvSpPr>
        <p:spPr>
          <a:xfrm>
            <a:off x="502920" y="4626864"/>
            <a:ext cx="11183112" cy="694944"/>
          </a:xfrm>
          <a:prstGeom prst="roundRect">
            <a:avLst>
              <a:gd name="adj" fmla="val 11842"/>
            </a:avLst>
          </a:prstGeom>
          <a:solidFill>
            <a:srgbClr val="FFFF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9" name="Shape 15"/>
          <p:cNvSpPr/>
          <p:nvPr/>
        </p:nvSpPr>
        <p:spPr>
          <a:xfrm>
            <a:off x="502920" y="4626864"/>
            <a:ext cx="82296" cy="694944"/>
          </a:xfrm>
          <a:prstGeom prst="rect">
            <a:avLst/>
          </a:prstGeom>
          <a:solidFill>
            <a:srgbClr val="0F6CBD"/>
          </a:solidFill>
          <a:ln/>
        </p:spPr>
      </p:sp>
      <p:pic>
        <p:nvPicPr>
          <p:cNvPr id="2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791456"/>
            <a:ext cx="365760" cy="365760"/>
          </a:xfrm>
          <a:prstGeom prst="rect">
            <a:avLst/>
          </a:prstGeom>
        </p:spPr>
      </p:pic>
      <p:sp>
        <p:nvSpPr>
          <p:cNvPr id="21" name="Text 16"/>
          <p:cNvSpPr/>
          <p:nvPr/>
        </p:nvSpPr>
        <p:spPr>
          <a:xfrm>
            <a:off x="1280160" y="4736592"/>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Writing and meeting deadlines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Using proper techniques to write reports so they look professional, contain the right information, and are submitted on time.</a:t>
            </a:r>
            <a:endParaRPr lang="en-US" sz="1800" dirty="0"/>
          </a:p>
        </p:txBody>
      </p:sp>
      <p:sp>
        <p:nvSpPr>
          <p:cNvPr id="22" name="Shape 17"/>
          <p:cNvSpPr/>
          <p:nvPr/>
        </p:nvSpPr>
        <p:spPr>
          <a:xfrm>
            <a:off x="502920" y="5522976"/>
            <a:ext cx="11183112" cy="694944"/>
          </a:xfrm>
          <a:prstGeom prst="roundRect">
            <a:avLst>
              <a:gd name="adj" fmla="val 11842"/>
            </a:avLst>
          </a:prstGeom>
          <a:solidFill>
            <a:srgbClr val="EAF4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23" name="Shape 18"/>
          <p:cNvSpPr/>
          <p:nvPr/>
        </p:nvSpPr>
        <p:spPr>
          <a:xfrm>
            <a:off x="502920" y="5522976"/>
            <a:ext cx="82296" cy="694944"/>
          </a:xfrm>
          <a:prstGeom prst="rect">
            <a:avLst/>
          </a:prstGeom>
          <a:solidFill>
            <a:srgbClr val="0F6CBD"/>
          </a:solidFill>
          <a:ln/>
        </p:spPr>
      </p:sp>
      <p:pic>
        <p:nvPicPr>
          <p:cNvPr id="2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687568"/>
            <a:ext cx="365760" cy="365760"/>
          </a:xfrm>
          <a:prstGeom prst="rect">
            <a:avLst/>
          </a:prstGeom>
        </p:spPr>
      </p:pic>
      <p:sp>
        <p:nvSpPr>
          <p:cNvPr id="25" name="Text 19"/>
          <p:cNvSpPr/>
          <p:nvPr/>
        </p:nvSpPr>
        <p:spPr>
          <a:xfrm>
            <a:off x="1280160" y="5632704"/>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Teamwork and fact-checking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Checking with your colleagues to make sure your data is correct, and adding any extra notes or explanations if they are needed.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Introduction</a:t>
            </a:r>
            <a:endParaRPr lang="en-US" sz="3400" dirty="0"/>
          </a:p>
        </p:txBody>
      </p:sp>
      <p:sp>
        <p:nvSpPr>
          <p:cNvPr id="7" name="Text 5"/>
          <p:cNvSpPr/>
          <p:nvPr/>
        </p:nvSpPr>
        <p:spPr>
          <a:xfrm>
            <a:off x="502920" y="1600200"/>
            <a:ext cx="11183112" cy="1097280"/>
          </a:xfrm>
          <a:prstGeom prst="rect">
            <a:avLst/>
          </a:prstGeom>
          <a:noFill/>
          <a:ln/>
        </p:spPr>
        <p:txBody>
          <a:bodyPr wrap="square" rtlCol="0" anchor="t"/>
          <a:lstStyle/>
          <a:p>
            <a:pPr indent="0" marL="0">
              <a:lnSpc>
                <a:spcPct val="112000"/>
              </a:lnSpc>
              <a:spcAft>
                <a:spcPts val="1200"/>
              </a:spcAft>
              <a:buNone/>
            </a:pPr>
            <a:r>
              <a:rPr lang="en-US" sz="1750" dirty="0">
                <a:solidFill>
                  <a:srgbClr val="002050"/>
                </a:solidFill>
                <a:latin typeface="Aptos" pitchFamily="34" charset="0"/>
                <a:ea typeface="Aptos" pitchFamily="34" charset="-122"/>
                <a:cs typeface="Aptos" pitchFamily="34" charset="-120"/>
              </a:rPr>
              <a:t>There are a few general rules about report writing. A report should be a formal document and should be in the past tense as far as possible, as well as avoiding the use of first or second person pronouns.</a:t>
            </a:r>
            <a:endParaRPr lang="en-US" sz="1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11183112" cy="914400"/>
        </p:xfrm>
        <a:graphic>
          <a:graphicData uri="http://schemas.openxmlformats.org/drawingml/2006/table">
            <a:tbl>
              <a:tblPr/>
              <a:tblGrid>
                <a:gridCol w="2926080"/>
                <a:gridCol w="4389120"/>
                <a:gridCol w="3867912"/>
              </a:tblGrid>
              <a:tr h="777240">
                <a:tc>
                  <a:txBody>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Person</a:t>
                      </a:r>
                      <a:endParaRPr lang="en-US" sz="17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Who it refers to</a:t>
                      </a:r>
                      <a:endParaRPr lang="en-US" sz="17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Common Examples</a:t>
                      </a:r>
                      <a:endParaRPr lang="en-US" sz="17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77240">
                <a:tc>
                  <a:txBody>
                    <a:bodyPr/>
                    <a:lstStyle/>
                    <a:p>
                      <a:pPr indent="0" marL="0">
                        <a:buNone/>
                      </a:pPr>
                      <a:r>
                        <a:rPr lang="en-US" sz="1700" dirty="0">
                          <a:solidFill>
                            <a:srgbClr val="002050"/>
                          </a:solidFill>
                          <a:latin typeface="Aptos" pitchFamily="34" charset="0"/>
                          <a:ea typeface="Aptos" pitchFamily="34" charset="-122"/>
                          <a:cs typeface="Aptos" pitchFamily="34" charset="-120"/>
                        </a:rPr>
                        <a:t>First Person</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The person speaking</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I, me, we, us, my, our</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77240">
                <a:tc>
                  <a:txBody>
                    <a:bodyPr/>
                    <a:lstStyle/>
                    <a:p>
                      <a:pPr indent="0" marL="0">
                        <a:buNone/>
                      </a:pPr>
                      <a:r>
                        <a:rPr lang="en-US" sz="1700" dirty="0">
                          <a:solidFill>
                            <a:srgbClr val="002050"/>
                          </a:solidFill>
                          <a:latin typeface="Aptos" pitchFamily="34" charset="0"/>
                          <a:ea typeface="Aptos" pitchFamily="34" charset="-122"/>
                          <a:cs typeface="Aptos" pitchFamily="34" charset="-120"/>
                        </a:rPr>
                        <a:t>Second Person</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The person being spoken to</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You, your, yours</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Write Without “You” — Passive Voice</a:t>
            </a:r>
            <a:endParaRPr lang="en-US" sz="3400" dirty="0"/>
          </a:p>
        </p:txBody>
      </p:sp>
      <p:sp>
        <p:nvSpPr>
          <p:cNvPr id="7" name="Shape 5"/>
          <p:cNvSpPr/>
          <p:nvPr/>
        </p:nvSpPr>
        <p:spPr>
          <a:xfrm>
            <a:off x="502920" y="155448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737360"/>
            <a:ext cx="365760" cy="365760"/>
          </a:xfrm>
          <a:prstGeom prst="rect">
            <a:avLst/>
          </a:prstGeom>
        </p:spPr>
      </p:pic>
      <p:sp>
        <p:nvSpPr>
          <p:cNvPr id="9" name="Text 6"/>
          <p:cNvSpPr/>
          <p:nvPr/>
        </p:nvSpPr>
        <p:spPr>
          <a:xfrm>
            <a:off x="1280160" y="1664208"/>
            <a:ext cx="10131552" cy="1024128"/>
          </a:xfrm>
          <a:prstGeom prst="rect">
            <a:avLst/>
          </a:prstGeom>
          <a:noFill/>
          <a:ln/>
        </p:spPr>
        <p:txBody>
          <a:bodyPr wrap="square" rtlCol="0" anchor="ctr"/>
          <a:lstStyle/>
          <a:p>
            <a:pPr indent="0" marL="0">
              <a:lnSpc>
                <a:spcPct val="106000"/>
              </a:lnSpc>
              <a:buNone/>
            </a:pPr>
            <a:r>
              <a:rPr lang="en-US" sz="1250" b="1" spc="150" kern="0" dirty="0">
                <a:solidFill>
                  <a:srgbClr val="0F6CBD"/>
                </a:solidFill>
                <a:latin typeface="Aptos" pitchFamily="34" charset="0"/>
                <a:ea typeface="Aptos" pitchFamily="34" charset="-122"/>
                <a:cs typeface="Aptos" pitchFamily="34" charset="-120"/>
              </a:rPr>
              <a:t>IT EXAMPLE
</a:t>
            </a:r>
            <a:pPr indent="0" marL="0">
              <a:lnSpc>
                <a:spcPct val="106000"/>
              </a:lnSpc>
              <a:buNone/>
            </a:pPr>
            <a:r>
              <a:rPr lang="en-US" sz="1450" dirty="0">
                <a:solidFill>
                  <a:srgbClr val="002050"/>
                </a:solidFill>
                <a:latin typeface="Aptos" pitchFamily="34" charset="0"/>
                <a:ea typeface="Aptos" pitchFamily="34" charset="-122"/>
                <a:cs typeface="Aptos" pitchFamily="34" charset="-120"/>
              </a:rPr>
              <a:t>“You need to reset your password before accessing the system.” — in professional IT documentation, system messages and banking support environments like Investec, the correct way to write this is to use passive voice or imperative (action-based) phrasing. This removes the word “You”, making the instructions sound objective, professional, and less accusatory.</a:t>
            </a:r>
            <a:endParaRPr lang="en-US" sz="1250" dirty="0"/>
          </a:p>
        </p:txBody>
      </p:sp>
      <p:sp>
        <p:nvSpPr>
          <p:cNvPr id="10" name="Text 7"/>
          <p:cNvSpPr/>
          <p:nvPr/>
        </p:nvSpPr>
        <p:spPr>
          <a:xfrm>
            <a:off x="502920" y="2971800"/>
            <a:ext cx="11183112" cy="10058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Passive voice is a way of writing a sentence where the focus is placed on the action or the object receiving the action, rather than the person or thing doing it. In IT and business writing, it is used to make statements sound neutral, objective, and professional.</a:t>
            </a:r>
            <a:endParaRPr lang="en-US" sz="155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069080"/>
            <a:ext cx="347472" cy="347472"/>
          </a:xfrm>
          <a:prstGeom prst="rect">
            <a:avLst/>
          </a:prstGeom>
        </p:spPr>
      </p:pic>
      <p:sp>
        <p:nvSpPr>
          <p:cNvPr id="12" name="Text 8"/>
          <p:cNvSpPr/>
          <p:nvPr/>
        </p:nvSpPr>
        <p:spPr>
          <a:xfrm>
            <a:off x="1005840" y="402336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The Core Difference</a:t>
            </a:r>
            <a:endParaRPr lang="en-US" sz="2000" dirty="0"/>
          </a:p>
        </p:txBody>
      </p:sp>
      <p:sp>
        <p:nvSpPr>
          <p:cNvPr id="13" name="Shape 9"/>
          <p:cNvSpPr/>
          <p:nvPr/>
        </p:nvSpPr>
        <p:spPr>
          <a:xfrm>
            <a:off x="502920" y="4526280"/>
            <a:ext cx="5454396" cy="1554480"/>
          </a:xfrm>
          <a:prstGeom prst="roundRect">
            <a:avLst>
              <a:gd name="adj" fmla="val 5294"/>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14" name="Text 10"/>
          <p:cNvSpPr/>
          <p:nvPr/>
        </p:nvSpPr>
        <p:spPr>
          <a:xfrm>
            <a:off x="731520" y="4663440"/>
            <a:ext cx="4997196" cy="1280160"/>
          </a:xfrm>
          <a:prstGeom prst="rect">
            <a:avLst/>
          </a:prstGeom>
          <a:noFill/>
          <a:ln/>
        </p:spPr>
        <p:txBody>
          <a:bodyPr wrap="square" rtlCol="0" anchor="ctr"/>
          <a:lstStyle/>
          <a:p>
            <a:pPr indent="0" marL="0">
              <a:lnSpc>
                <a:spcPct val="112000"/>
              </a:lnSpc>
              <a:buNone/>
            </a:pPr>
            <a:r>
              <a:rPr lang="en-US" sz="1550" b="1" dirty="0">
                <a:solidFill>
                  <a:srgbClr val="002050"/>
                </a:solidFill>
                <a:latin typeface="Aptos" pitchFamily="34" charset="0"/>
                <a:ea typeface="Aptos" pitchFamily="34" charset="-122"/>
                <a:cs typeface="Aptos" pitchFamily="34" charset="-120"/>
              </a:rPr>
              <a:t>Active Voice:  </a:t>
            </a:r>
            <a:pPr indent="0" marL="0">
              <a:lnSpc>
                <a:spcPct val="112000"/>
              </a:lnSpc>
              <a:buNone/>
            </a:pPr>
            <a:r>
              <a:rPr lang="en-US" sz="1550" dirty="0">
                <a:solidFill>
                  <a:srgbClr val="002050"/>
                </a:solidFill>
                <a:latin typeface="Aptos" pitchFamily="34" charset="0"/>
                <a:ea typeface="Aptos" pitchFamily="34" charset="-122"/>
                <a:cs typeface="Aptos" pitchFamily="34" charset="-120"/>
              </a:rPr>
              <a:t>The subject does the action. (Focus is on who did it).
</a:t>
            </a:r>
            <a:pPr indent="0" marL="0">
              <a:lnSpc>
                <a:spcPct val="112000"/>
              </a:lnSpc>
              <a:buNone/>
            </a:pPr>
            <a:r>
              <a:rPr lang="en-US" sz="1550" i="1" dirty="0">
                <a:solidFill>
                  <a:srgbClr val="6B7280"/>
                </a:solidFill>
                <a:latin typeface="Aptos" pitchFamily="34" charset="0"/>
                <a:ea typeface="Aptos" pitchFamily="34" charset="-122"/>
                <a:cs typeface="Aptos" pitchFamily="34" charset="-120"/>
              </a:rPr>
              <a:t>“John updated the database.”</a:t>
            </a:r>
            <a:endParaRPr lang="en-US" sz="1550" dirty="0"/>
          </a:p>
        </p:txBody>
      </p:sp>
      <p:sp>
        <p:nvSpPr>
          <p:cNvPr id="15" name="Shape 11"/>
          <p:cNvSpPr/>
          <p:nvPr/>
        </p:nvSpPr>
        <p:spPr>
          <a:xfrm>
            <a:off x="6231636" y="4526280"/>
            <a:ext cx="5454396"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sp>
        <p:nvSpPr>
          <p:cNvPr id="16" name="Text 12"/>
          <p:cNvSpPr/>
          <p:nvPr/>
        </p:nvSpPr>
        <p:spPr>
          <a:xfrm>
            <a:off x="6460236" y="4663440"/>
            <a:ext cx="4997196" cy="1280160"/>
          </a:xfrm>
          <a:prstGeom prst="rect">
            <a:avLst/>
          </a:prstGeom>
          <a:noFill/>
          <a:ln/>
        </p:spPr>
        <p:txBody>
          <a:bodyPr wrap="square" rtlCol="0" anchor="ctr"/>
          <a:lstStyle/>
          <a:p>
            <a:pPr indent="0" marL="0">
              <a:lnSpc>
                <a:spcPct val="112000"/>
              </a:lnSpc>
              <a:buNone/>
            </a:pPr>
            <a:r>
              <a:rPr lang="en-US" sz="1550" b="1" dirty="0">
                <a:solidFill>
                  <a:srgbClr val="0F6CBD"/>
                </a:solidFill>
                <a:latin typeface="Aptos" pitchFamily="34" charset="0"/>
                <a:ea typeface="Aptos" pitchFamily="34" charset="-122"/>
                <a:cs typeface="Aptos" pitchFamily="34" charset="-120"/>
              </a:rPr>
              <a:t>Passive Voice:  </a:t>
            </a:r>
            <a:pPr indent="0" marL="0">
              <a:lnSpc>
                <a:spcPct val="112000"/>
              </a:lnSpc>
              <a:buNone/>
            </a:pPr>
            <a:r>
              <a:rPr lang="en-US" sz="1550" dirty="0">
                <a:solidFill>
                  <a:srgbClr val="002050"/>
                </a:solidFill>
                <a:latin typeface="Aptos" pitchFamily="34" charset="0"/>
                <a:ea typeface="Aptos" pitchFamily="34" charset="-122"/>
                <a:cs typeface="Aptos" pitchFamily="34" charset="-120"/>
              </a:rPr>
              <a:t>The subject receives the action. (Focus is on what happened).
</a:t>
            </a:r>
            <a:pPr indent="0" marL="0">
              <a:lnSpc>
                <a:spcPct val="112000"/>
              </a:lnSpc>
              <a:buNone/>
            </a:pPr>
            <a:r>
              <a:rPr lang="en-US" sz="1550" i="1" dirty="0">
                <a:solidFill>
                  <a:srgbClr val="6B7280"/>
                </a:solidFill>
                <a:latin typeface="Aptos" pitchFamily="34" charset="0"/>
                <a:ea typeface="Aptos" pitchFamily="34" charset="-122"/>
                <a:cs typeface="Aptos" pitchFamily="34" charset="-120"/>
              </a:rPr>
              <a:t>“The database was updated.”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Imperative-Based Phrasing</a:t>
            </a:r>
            <a:endParaRPr lang="en-US" sz="3400" dirty="0"/>
          </a:p>
        </p:txBody>
      </p:sp>
      <p:sp>
        <p:nvSpPr>
          <p:cNvPr id="7" name="Text 5"/>
          <p:cNvSpPr/>
          <p:nvPr/>
        </p:nvSpPr>
        <p:spPr>
          <a:xfrm>
            <a:off x="502920" y="1600200"/>
            <a:ext cx="11183112" cy="1737360"/>
          </a:xfrm>
          <a:prstGeom prst="rect">
            <a:avLst/>
          </a:prstGeom>
          <a:noFill/>
          <a:ln/>
        </p:spPr>
        <p:txBody>
          <a:bodyPr wrap="square" rtlCol="0" anchor="t"/>
          <a:lstStyle/>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Imperative-based phrasing is a style of writing that gives a direct command or instruction.
</a:t>
            </a:r>
            <a:endParaRPr lang="en-US" sz="1650" dirty="0"/>
          </a:p>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It removes unnecessary fluff and personal pronouns (like “you”), starting the sentence with a strong action verb instead. In IT and software systems, it is the primary way to write clear, actionable documentation, error resolutions, and user interface buttons.</a:t>
            </a:r>
            <a:endParaRPr lang="en-US" sz="16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3383280"/>
            <a:ext cx="347472" cy="347472"/>
          </a:xfrm>
          <a:prstGeom prst="rect">
            <a:avLst/>
          </a:prstGeom>
        </p:spPr>
      </p:pic>
      <p:sp>
        <p:nvSpPr>
          <p:cNvPr id="9" name="Text 6"/>
          <p:cNvSpPr/>
          <p:nvPr/>
        </p:nvSpPr>
        <p:spPr>
          <a:xfrm>
            <a:off x="1005840" y="333756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The Core Formula</a:t>
            </a:r>
            <a:endParaRPr lang="en-US" sz="2000" dirty="0"/>
          </a:p>
        </p:txBody>
      </p:sp>
      <p:sp>
        <p:nvSpPr>
          <p:cNvPr id="10" name="Text 7"/>
          <p:cNvSpPr/>
          <p:nvPr/>
        </p:nvSpPr>
        <p:spPr>
          <a:xfrm>
            <a:off x="502920" y="3794760"/>
            <a:ext cx="11183112" cy="411480"/>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Instead of explaining a situation or telling someone what they need to do, you tell them exactly what action to execute.</a:t>
            </a:r>
            <a:endParaRPr lang="en-US" sz="1550" dirty="0"/>
          </a:p>
        </p:txBody>
      </p:sp>
      <p:sp>
        <p:nvSpPr>
          <p:cNvPr id="11" name="Shape 8"/>
          <p:cNvSpPr/>
          <p:nvPr/>
        </p:nvSpPr>
        <p:spPr>
          <a:xfrm>
            <a:off x="502920" y="4343400"/>
            <a:ext cx="5454396" cy="1600200"/>
          </a:xfrm>
          <a:prstGeom prst="roundRect">
            <a:avLst>
              <a:gd name="adj" fmla="val 5143"/>
            </a:avLst>
          </a:prstGeom>
          <a:solidFill>
            <a:srgbClr val="F4F5F7"/>
          </a:solidFill>
          <a:ln w="12700">
            <a:solidFill>
              <a:srgbClr val="DADDE2"/>
            </a:solidFill>
            <a:prstDash val="solid"/>
          </a:ln>
          <a:effectLst>
            <a:outerShdw sx="100000" sy="100000" kx="0" ky="0" algn="bl" rotWithShape="0" blurRad="6.016328324026578e+37" dist="1.7189509497218795e+37" dir="9.069926400000001e+44">
              <a:srgbClr val="9AB4CC">
                <a:alpha val="3e+4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507992"/>
            <a:ext cx="292608" cy="292608"/>
          </a:xfrm>
          <a:prstGeom prst="rect">
            <a:avLst/>
          </a:prstGeom>
        </p:spPr>
      </p:pic>
      <p:sp>
        <p:nvSpPr>
          <p:cNvPr id="13" name="Text 9"/>
          <p:cNvSpPr/>
          <p:nvPr/>
        </p:nvSpPr>
        <p:spPr>
          <a:xfrm>
            <a:off x="731520" y="4846320"/>
            <a:ext cx="4997196" cy="1005840"/>
          </a:xfrm>
          <a:prstGeom prst="rect">
            <a:avLst/>
          </a:prstGeom>
          <a:noFill/>
          <a:ln/>
        </p:spPr>
        <p:txBody>
          <a:bodyPr wrap="square" rtlCol="0" anchor="t"/>
          <a:lstStyle/>
          <a:p>
            <a:pPr indent="0" marL="0">
              <a:lnSpc>
                <a:spcPct val="110000"/>
              </a:lnSpc>
              <a:buNone/>
            </a:pPr>
            <a:r>
              <a:rPr lang="en-US" sz="1200" b="1" spc="150" kern="0" dirty="0">
                <a:solidFill>
                  <a:srgbClr val="6B7280"/>
                </a:solidFill>
                <a:latin typeface="Aptos" pitchFamily="34" charset="0"/>
                <a:ea typeface="Aptos" pitchFamily="34" charset="-122"/>
                <a:cs typeface="Aptos" pitchFamily="34" charset="-120"/>
              </a:rPr>
              <a:t>WORDY / EXPLANATORY
</a:t>
            </a:r>
            <a:pPr indent="0" marL="0">
              <a:lnSpc>
                <a:spcPct val="110000"/>
              </a:lnSpc>
              <a:buNone/>
            </a:pPr>
            <a:r>
              <a:rPr lang="en-US" sz="1600" i="1" dirty="0">
                <a:solidFill>
                  <a:srgbClr val="002050"/>
                </a:solidFill>
                <a:latin typeface="Aptos" pitchFamily="34" charset="0"/>
                <a:ea typeface="Aptos" pitchFamily="34" charset="-122"/>
                <a:cs typeface="Aptos" pitchFamily="34" charset="-120"/>
              </a:rPr>
              <a:t>“You will need to click on the save button to keep your data.”</a:t>
            </a:r>
            <a:endParaRPr lang="en-US" sz="1200" dirty="0"/>
          </a:p>
        </p:txBody>
      </p:sp>
      <p:sp>
        <p:nvSpPr>
          <p:cNvPr id="14" name="Shape 10"/>
          <p:cNvSpPr/>
          <p:nvPr/>
        </p:nvSpPr>
        <p:spPr>
          <a:xfrm>
            <a:off x="6231636" y="4343400"/>
            <a:ext cx="5454396" cy="1600200"/>
          </a:xfrm>
          <a:prstGeom prst="roundRect">
            <a:avLst>
              <a:gd name="adj" fmla="val 5143"/>
            </a:avLst>
          </a:prstGeom>
          <a:solidFill>
            <a:srgbClr val="EAF4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0236" y="4507992"/>
            <a:ext cx="292608" cy="292608"/>
          </a:xfrm>
          <a:prstGeom prst="rect">
            <a:avLst/>
          </a:prstGeom>
        </p:spPr>
      </p:pic>
      <p:sp>
        <p:nvSpPr>
          <p:cNvPr id="16" name="Text 11"/>
          <p:cNvSpPr/>
          <p:nvPr/>
        </p:nvSpPr>
        <p:spPr>
          <a:xfrm>
            <a:off x="6460236" y="4846320"/>
            <a:ext cx="4997196" cy="1005840"/>
          </a:xfrm>
          <a:prstGeom prst="rect">
            <a:avLst/>
          </a:prstGeom>
          <a:noFill/>
          <a:ln/>
        </p:spPr>
        <p:txBody>
          <a:bodyPr wrap="square" rtlCol="0" anchor="t"/>
          <a:lstStyle/>
          <a:p>
            <a:pPr indent="0" marL="0">
              <a:lnSpc>
                <a:spcPct val="110000"/>
              </a:lnSpc>
              <a:buNone/>
            </a:pPr>
            <a:r>
              <a:rPr lang="en-US" sz="1200" b="1" spc="150" kern="0" dirty="0">
                <a:solidFill>
                  <a:srgbClr val="0F6CBD"/>
                </a:solidFill>
                <a:latin typeface="Aptos" pitchFamily="34" charset="0"/>
                <a:ea typeface="Aptos" pitchFamily="34" charset="-122"/>
                <a:cs typeface="Aptos" pitchFamily="34" charset="-120"/>
              </a:rPr>
              <a:t>IMPERATIVE (ACTION-BASED)
</a:t>
            </a:r>
            <a:pPr indent="0" marL="0">
              <a:lnSpc>
                <a:spcPct val="110000"/>
              </a:lnSpc>
              <a:buNone/>
            </a:pPr>
            <a:r>
              <a:rPr lang="en-US" sz="2000" b="1" i="1" dirty="0">
                <a:solidFill>
                  <a:srgbClr val="002050"/>
                </a:solidFill>
                <a:latin typeface="Aptos" pitchFamily="34" charset="0"/>
                <a:ea typeface="Aptos" pitchFamily="34" charset="-122"/>
                <a:cs typeface="Aptos" pitchFamily="34" charset="-120"/>
              </a:rPr>
              <a:t>“Click Save.”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Imperative Phrasing in Practice</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3112" cy="914400"/>
        </p:xfrm>
        <a:graphic>
          <a:graphicData uri="http://schemas.openxmlformats.org/drawingml/2006/table">
            <a:tbl>
              <a:tblPr/>
              <a:tblGrid>
                <a:gridCol w="4663440"/>
                <a:gridCol w="4206240"/>
                <a:gridCol w="2313432"/>
              </a:tblGrid>
              <a:tr h="65836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Non-Imperative Phrasing (Avoid)</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Imperative Phrasing (Use)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Primary Action Verb</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“You need to restart your device now.”</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“Restart the device.”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Restart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“Please download the software update.”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“Download the update.”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Download</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“You should enter your username here.”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“Enter your username.”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Enter</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“Make sure to backup your files first.”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“Backup all data prior to installation.”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Backup</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Why Use Imperative Phrasing in IT?</a:t>
            </a:r>
            <a:endParaRPr lang="en-US" sz="3400" dirty="0"/>
          </a:p>
        </p:txBody>
      </p:sp>
      <p:sp>
        <p:nvSpPr>
          <p:cNvPr id="7" name="Shape 5"/>
          <p:cNvSpPr/>
          <p:nvPr/>
        </p:nvSpPr>
        <p:spPr>
          <a:xfrm>
            <a:off x="502920" y="1691640"/>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8" name="Shape 6"/>
          <p:cNvSpPr/>
          <p:nvPr/>
        </p:nvSpPr>
        <p:spPr>
          <a:xfrm>
            <a:off x="502920" y="1691640"/>
            <a:ext cx="82296" cy="1298448"/>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Saves Time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Users scan technical text quickly; commands tell them what to do instantly.</a:t>
            </a:r>
            <a:endParaRPr lang="en-US" sz="1950" dirty="0"/>
          </a:p>
        </p:txBody>
      </p:sp>
      <p:sp>
        <p:nvSpPr>
          <p:cNvPr id="11" name="Shape 8"/>
          <p:cNvSpPr/>
          <p:nvPr/>
        </p:nvSpPr>
        <p:spPr>
          <a:xfrm>
            <a:off x="502920" y="3191256"/>
            <a:ext cx="11183112" cy="1298448"/>
          </a:xfrm>
          <a:prstGeom prst="roundRect">
            <a:avLst>
              <a:gd name="adj" fmla="val 6338"/>
            </a:avLst>
          </a:prstGeom>
          <a:solidFill>
            <a:srgbClr val="EAF4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12" name="Shape 9"/>
          <p:cNvSpPr/>
          <p:nvPr/>
        </p:nvSpPr>
        <p:spPr>
          <a:xfrm>
            <a:off x="502920" y="3191256"/>
            <a:ext cx="82296" cy="1298448"/>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355848"/>
            <a:ext cx="365760" cy="365760"/>
          </a:xfrm>
          <a:prstGeom prst="rect">
            <a:avLst/>
          </a:prstGeom>
        </p:spPr>
      </p:pic>
      <p:sp>
        <p:nvSpPr>
          <p:cNvPr id="14" name="Text 10"/>
          <p:cNvSpPr/>
          <p:nvPr/>
        </p:nvSpPr>
        <p:spPr>
          <a:xfrm>
            <a:off x="1280160" y="3300984"/>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Saves Screen Space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It is perfect for system dialog boxes, mobile alerts, and buttons.</a:t>
            </a:r>
            <a:endParaRPr lang="en-US" sz="1950" dirty="0"/>
          </a:p>
        </p:txBody>
      </p:sp>
      <p:sp>
        <p:nvSpPr>
          <p:cNvPr id="15" name="Shape 11"/>
          <p:cNvSpPr/>
          <p:nvPr/>
        </p:nvSpPr>
        <p:spPr>
          <a:xfrm>
            <a:off x="502920" y="4690872"/>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sp>
        <p:nvSpPr>
          <p:cNvPr id="16" name="Shape 12"/>
          <p:cNvSpPr/>
          <p:nvPr/>
        </p:nvSpPr>
        <p:spPr>
          <a:xfrm>
            <a:off x="502920" y="4690872"/>
            <a:ext cx="82296" cy="1298448"/>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855464"/>
            <a:ext cx="365760" cy="365760"/>
          </a:xfrm>
          <a:prstGeom prst="rect">
            <a:avLst/>
          </a:prstGeom>
        </p:spPr>
      </p:pic>
      <p:sp>
        <p:nvSpPr>
          <p:cNvPr id="18" name="Text 13"/>
          <p:cNvSpPr/>
          <p:nvPr/>
        </p:nvSpPr>
        <p:spPr>
          <a:xfrm>
            <a:off x="1280160" y="4800600"/>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Removes Blame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Like passive voice, it avoids using “you”, keeping the language strictly professional.</a:t>
            </a:r>
            <a:endParaRPr lang="en-US" sz="1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Know the Purpose Before You Write</a:t>
            </a:r>
            <a:endParaRPr lang="en-US" sz="3400" dirty="0"/>
          </a:p>
        </p:txBody>
      </p:sp>
      <p:sp>
        <p:nvSpPr>
          <p:cNvPr id="7" name="Text 5"/>
          <p:cNvSpPr/>
          <p:nvPr/>
        </p:nvSpPr>
        <p:spPr>
          <a:xfrm>
            <a:off x="502920" y="1828800"/>
            <a:ext cx="11183112" cy="466344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Before we start writing reports in business, we need to understand what the purpose of the report is — i.e. the outcome, or required outcome thereof — as well as the manner (style) in which the report must be written.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Writing a report in a style which is not suited to its audience or readers will not be professional. Therefore, we must understand what we need to put into the report and phrase it appropriately so that the readers understand the information being given to them.</a:t>
            </a:r>
            <a:endParaRPr lang="en-US" sz="19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754880"/>
            <a:ext cx="914400" cy="914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HOW TO WRITE A REPORT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How to Write a Report — Style</a:t>
            </a:r>
            <a:endParaRPr lang="en-US" sz="3400" dirty="0"/>
          </a:p>
        </p:txBody>
      </p:sp>
      <p:sp>
        <p:nvSpPr>
          <p:cNvPr id="7" name="Text 5"/>
          <p:cNvSpPr/>
          <p:nvPr/>
        </p:nvSpPr>
        <p:spPr>
          <a:xfrm>
            <a:off x="502920" y="1554480"/>
            <a:ext cx="11183112" cy="45720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To make sure a recommendation report works perfectly, the persons for whom the report is intended must be able to do four things:</a:t>
            </a:r>
            <a:endParaRPr lang="en-US" sz="1650" dirty="0"/>
          </a:p>
        </p:txBody>
      </p:sp>
      <p:sp>
        <p:nvSpPr>
          <p:cNvPr id="8" name="Shape 6"/>
          <p:cNvSpPr/>
          <p:nvPr/>
        </p:nvSpPr>
        <p:spPr>
          <a:xfrm>
            <a:off x="502920" y="2103120"/>
            <a:ext cx="11183112" cy="626364"/>
          </a:xfrm>
          <a:prstGeom prst="roundRect">
            <a:avLst>
              <a:gd name="adj" fmla="val 13139"/>
            </a:avLst>
          </a:prstGeom>
          <a:solidFill>
            <a:srgbClr val="FFFF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9" name="Shape 7"/>
          <p:cNvSpPr/>
          <p:nvPr/>
        </p:nvSpPr>
        <p:spPr>
          <a:xfrm>
            <a:off x="502920" y="2103120"/>
            <a:ext cx="82296" cy="62636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Read it quickly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can read the report without wasting any time.</a:t>
            </a:r>
            <a:endParaRPr lang="en-US" sz="1800" dirty="0"/>
          </a:p>
        </p:txBody>
      </p:sp>
      <p:sp>
        <p:nvSpPr>
          <p:cNvPr id="12" name="Shape 9"/>
          <p:cNvSpPr/>
          <p:nvPr/>
        </p:nvSpPr>
        <p:spPr>
          <a:xfrm>
            <a:off x="502920" y="2930652"/>
            <a:ext cx="11183112" cy="626364"/>
          </a:xfrm>
          <a:prstGeom prst="roundRect">
            <a:avLst>
              <a:gd name="adj" fmla="val 13139"/>
            </a:avLst>
          </a:prstGeom>
          <a:solidFill>
            <a:srgbClr val="EAF4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13" name="Shape 10"/>
          <p:cNvSpPr/>
          <p:nvPr/>
        </p:nvSpPr>
        <p:spPr>
          <a:xfrm>
            <a:off x="502920" y="2930652"/>
            <a:ext cx="82296" cy="62636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095244"/>
            <a:ext cx="365760" cy="365760"/>
          </a:xfrm>
          <a:prstGeom prst="rect">
            <a:avLst/>
          </a:prstGeom>
        </p:spPr>
      </p:pic>
      <p:sp>
        <p:nvSpPr>
          <p:cNvPr id="15" name="Text 11"/>
          <p:cNvSpPr/>
          <p:nvPr/>
        </p:nvSpPr>
        <p:spPr>
          <a:xfrm>
            <a:off x="1280160" y="3040380"/>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Understand it easily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can grasp everything in the report without struggling.</a:t>
            </a:r>
            <a:endParaRPr lang="en-US" sz="1800" dirty="0"/>
          </a:p>
        </p:txBody>
      </p:sp>
      <p:sp>
        <p:nvSpPr>
          <p:cNvPr id="16" name="Shape 12"/>
          <p:cNvSpPr/>
          <p:nvPr/>
        </p:nvSpPr>
        <p:spPr>
          <a:xfrm>
            <a:off x="502920" y="3758184"/>
            <a:ext cx="11183112" cy="626364"/>
          </a:xfrm>
          <a:prstGeom prst="roundRect">
            <a:avLst>
              <a:gd name="adj" fmla="val 13139"/>
            </a:avLst>
          </a:prstGeom>
          <a:solidFill>
            <a:srgbClr val="FFFF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17" name="Shape 13"/>
          <p:cNvSpPr/>
          <p:nvPr/>
        </p:nvSpPr>
        <p:spPr>
          <a:xfrm>
            <a:off x="502920" y="3758184"/>
            <a:ext cx="82296" cy="62636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922776"/>
            <a:ext cx="365760" cy="365760"/>
          </a:xfrm>
          <a:prstGeom prst="rect">
            <a:avLst/>
          </a:prstGeom>
        </p:spPr>
      </p:pic>
      <p:sp>
        <p:nvSpPr>
          <p:cNvPr id="19" name="Text 14"/>
          <p:cNvSpPr/>
          <p:nvPr/>
        </p:nvSpPr>
        <p:spPr>
          <a:xfrm>
            <a:off x="1280160" y="3867912"/>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Trust the information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agree with and believe your facts, results, and ideas.</a:t>
            </a:r>
            <a:endParaRPr lang="en-US" sz="1800" dirty="0"/>
          </a:p>
        </p:txBody>
      </p:sp>
      <p:sp>
        <p:nvSpPr>
          <p:cNvPr id="20" name="Shape 15"/>
          <p:cNvSpPr/>
          <p:nvPr/>
        </p:nvSpPr>
        <p:spPr>
          <a:xfrm>
            <a:off x="502920" y="4585716"/>
            <a:ext cx="11183112" cy="626364"/>
          </a:xfrm>
          <a:prstGeom prst="roundRect">
            <a:avLst>
              <a:gd name="adj" fmla="val 13139"/>
            </a:avLst>
          </a:prstGeom>
          <a:solidFill>
            <a:srgbClr val="EAF4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21" name="Shape 16"/>
          <p:cNvSpPr/>
          <p:nvPr/>
        </p:nvSpPr>
        <p:spPr>
          <a:xfrm>
            <a:off x="502920" y="4585716"/>
            <a:ext cx="82296" cy="62636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750308"/>
            <a:ext cx="365760" cy="365760"/>
          </a:xfrm>
          <a:prstGeom prst="rect">
            <a:avLst/>
          </a:prstGeom>
        </p:spPr>
      </p:pic>
      <p:sp>
        <p:nvSpPr>
          <p:cNvPr id="23" name="Text 17"/>
          <p:cNvSpPr/>
          <p:nvPr/>
        </p:nvSpPr>
        <p:spPr>
          <a:xfrm>
            <a:off x="1280160" y="4695444"/>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Take action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choose to follow your advice and do what you suggest.</a:t>
            </a:r>
            <a:endParaRPr lang="en-US" sz="1800" dirty="0"/>
          </a:p>
        </p:txBody>
      </p:sp>
      <p:sp>
        <p:nvSpPr>
          <p:cNvPr id="24" name="Shape 18"/>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31520" y="5623560"/>
            <a:ext cx="329184" cy="329184"/>
          </a:xfrm>
          <a:prstGeom prst="rect">
            <a:avLst/>
          </a:prstGeom>
        </p:spPr>
      </p:pic>
      <p:sp>
        <p:nvSpPr>
          <p:cNvPr id="26" name="Text 19"/>
          <p:cNvSpPr/>
          <p:nvPr/>
        </p:nvSpPr>
        <p:spPr>
          <a:xfrm>
            <a:off x="1188720" y="5486400"/>
            <a:ext cx="10222992" cy="731520"/>
          </a:xfrm>
          <a:prstGeom prst="rect">
            <a:avLst/>
          </a:prstGeom>
          <a:noFill/>
          <a:ln/>
        </p:spPr>
        <p:txBody>
          <a:bodyPr wrap="square" rtlCol="0" anchor="ctr"/>
          <a:lstStyle/>
          <a:p>
            <a:pPr indent="0" marL="0">
              <a:lnSpc>
                <a:spcPct val="108000"/>
              </a:lnSpc>
              <a:buNone/>
            </a:pPr>
            <a:r>
              <a:rPr lang="en-US" sz="1500" dirty="0">
                <a:solidFill>
                  <a:srgbClr val="002050"/>
                </a:solidFill>
                <a:latin typeface="Aptos" pitchFamily="34" charset="0"/>
                <a:ea typeface="Aptos" pitchFamily="34" charset="-122"/>
                <a:cs typeface="Aptos" pitchFamily="34" charset="-120"/>
              </a:rPr>
              <a:t>Achieving this demands more of you than merely presenting relevant facts accurately. It also demands that you communicate in a way that is both acceptable and intelligible to the readers.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Selectivity</a:t>
            </a:r>
            <a:endParaRPr lang="en-US" sz="3400" dirty="0"/>
          </a:p>
        </p:txBody>
      </p:sp>
      <p:sp>
        <p:nvSpPr>
          <p:cNvPr id="7" name="Text 5"/>
          <p:cNvSpPr/>
          <p:nvPr/>
        </p:nvSpPr>
        <p:spPr>
          <a:xfrm>
            <a:off x="502920" y="155448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Careful choice of words can enable you to convey many subtleties of meaning.</a:t>
            </a:r>
            <a:endParaRPr lang="en-US" sz="16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057400"/>
          <a:ext cx="11183112" cy="914400"/>
        </p:xfrm>
        <a:graphic>
          <a:graphicData uri="http://schemas.openxmlformats.org/drawingml/2006/table">
            <a:tbl>
              <a:tblPr/>
              <a:tblGrid>
                <a:gridCol w="3108960"/>
                <a:gridCol w="3749040"/>
                <a:gridCol w="4325112"/>
              </a:tblGrid>
              <a:tr h="868680">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Vague / Soft Phrasing</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Precise IT Phrasing</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Impact of the Change</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“The server went down.”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“The server experienced an unscheduled outage.”</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Clarifies that the downtime was unplanned and requires investigation.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“We need to fix the software.”</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“We must patch the vulnerability.”</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Identifies the exact action (patching) and the specific issue (security risk).</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“The app is slow.”</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“Latencies exceeded the 200ms threshold.”</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Provides measurable data instead of a subjective opinion.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“Users can't login.”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“Authentication requests are timing out.”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Pinpoints the exact technical failure point in the login process.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Accuracy</a:t>
            </a:r>
            <a:endParaRPr lang="en-US" sz="3400" dirty="0"/>
          </a:p>
        </p:txBody>
      </p:sp>
      <p:sp>
        <p:nvSpPr>
          <p:cNvPr id="7" name="Text 5"/>
          <p:cNvSpPr/>
          <p:nvPr/>
        </p:nvSpPr>
        <p:spPr>
          <a:xfrm>
            <a:off x="502920" y="1600200"/>
            <a:ext cx="11183112" cy="1234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Check that everything you write is factually accurate and capable of being verified. Arguments should be soundly based and your reasoning logical. Do not write anything that will misinform, mislead or unfairly persuade your readers — accurate information is essential for effective communication and decision making.</a:t>
            </a:r>
            <a:endParaRPr lang="en-US" sz="15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880360"/>
            <a:ext cx="347472" cy="347472"/>
          </a:xfrm>
          <a:prstGeom prst="rect">
            <a:avLst/>
          </a:prstGeom>
        </p:spPr>
      </p:pic>
      <p:sp>
        <p:nvSpPr>
          <p:cNvPr id="9" name="Text 6"/>
          <p:cNvSpPr/>
          <p:nvPr/>
        </p:nvSpPr>
        <p:spPr>
          <a:xfrm>
            <a:off x="1005840" y="283464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What the Text Means</a:t>
            </a:r>
            <a:endParaRPr lang="en-US" sz="20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3483864"/>
            <a:ext cx="365760" cy="365760"/>
          </a:xfrm>
          <a:prstGeom prst="rect">
            <a:avLst/>
          </a:prstGeom>
        </p:spPr>
      </p:pic>
      <p:sp>
        <p:nvSpPr>
          <p:cNvPr id="11" name="Text 7"/>
          <p:cNvSpPr/>
          <p:nvPr/>
        </p:nvSpPr>
        <p:spPr>
          <a:xfrm>
            <a:off x="1124712" y="3355848"/>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Tell the truth: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Everything you write must be 100% correct.</a:t>
            </a:r>
            <a:endParaRPr lang="en-US" sz="165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4197096"/>
            <a:ext cx="365760" cy="365760"/>
          </a:xfrm>
          <a:prstGeom prst="rect">
            <a:avLst/>
          </a:prstGeom>
        </p:spPr>
      </p:pic>
      <p:sp>
        <p:nvSpPr>
          <p:cNvPr id="13" name="Text 8"/>
          <p:cNvSpPr/>
          <p:nvPr/>
        </p:nvSpPr>
        <p:spPr>
          <a:xfrm>
            <a:off x="1124712" y="4069080"/>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Prove it: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You must be able to back up your claims with real facts or evidence.</a:t>
            </a:r>
            <a:endParaRPr lang="en-US" sz="165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910328"/>
            <a:ext cx="365760" cy="365760"/>
          </a:xfrm>
          <a:prstGeom prst="rect">
            <a:avLst/>
          </a:prstGeom>
        </p:spPr>
      </p:pic>
      <p:sp>
        <p:nvSpPr>
          <p:cNvPr id="15" name="Text 9"/>
          <p:cNvSpPr/>
          <p:nvPr/>
        </p:nvSpPr>
        <p:spPr>
          <a:xfrm>
            <a:off x="1124712" y="4782312"/>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Be logical: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Your ideas must make sense and follow a clear line of reasoning.</a:t>
            </a:r>
            <a:endParaRPr lang="en-US" sz="16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5623560"/>
            <a:ext cx="365760" cy="365760"/>
          </a:xfrm>
          <a:prstGeom prst="rect">
            <a:avLst/>
          </a:prstGeom>
        </p:spPr>
      </p:pic>
      <p:sp>
        <p:nvSpPr>
          <p:cNvPr id="17" name="Text 10"/>
          <p:cNvSpPr/>
          <p:nvPr/>
        </p:nvSpPr>
        <p:spPr>
          <a:xfrm>
            <a:off x="1124712" y="5495544"/>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Do not trick people: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Do not leave out important facts to force someone to agree with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ACCURACY IN PRACTICE · 1 OF 3</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1. Do Not Guess or Assume (Verifiable Facts)</a:t>
            </a:r>
            <a:endParaRPr lang="en-US" sz="3400" dirty="0"/>
          </a:p>
        </p:txBody>
      </p:sp>
      <p:sp>
        <p:nvSpPr>
          <p:cNvPr id="7" name="Shape 5"/>
          <p:cNvSpPr/>
          <p:nvPr/>
        </p:nvSpPr>
        <p:spPr>
          <a:xfrm>
            <a:off x="502920" y="1645920"/>
            <a:ext cx="11183112" cy="1417320"/>
          </a:xfrm>
          <a:prstGeom prst="roundRect">
            <a:avLst>
              <a:gd name="adj" fmla="val 5806"/>
            </a:avLst>
          </a:prstGeom>
          <a:solidFill>
            <a:srgbClr val="FCEDEE"/>
          </a:solidFill>
          <a:ln w="12700">
            <a:solidFill>
              <a:srgbClr val="F2C7CB"/>
            </a:solidFill>
            <a:prstDash val="solid"/>
          </a:ln>
          <a:effectLst>
            <a:outerShdw sx="100000" sy="100000" kx="0" ky="0" algn="bl" rotWithShape="0" blurRad="6.567026036879325e+78" dist="1.8762931533940924e+78" dir="5.484237660094465e+92">
              <a:srgbClr val="9AB4CC">
                <a:alpha val="2.9999999999999997e+94"/>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28800"/>
            <a:ext cx="365760" cy="365760"/>
          </a:xfrm>
          <a:prstGeom prst="rect">
            <a:avLst/>
          </a:prstGeom>
        </p:spPr>
      </p:pic>
      <p:sp>
        <p:nvSpPr>
          <p:cNvPr id="9" name="Text 6"/>
          <p:cNvSpPr/>
          <p:nvPr/>
        </p:nvSpPr>
        <p:spPr>
          <a:xfrm>
            <a:off x="1280160" y="175564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C50F1F"/>
                </a:solidFill>
                <a:latin typeface="Aptos" pitchFamily="34" charset="0"/>
                <a:ea typeface="Aptos" pitchFamily="34" charset="-122"/>
                <a:cs typeface="Aptos" pitchFamily="34" charset="-120"/>
              </a:rPr>
              <a:t>WHAT NOT TO DO
</a:t>
            </a:r>
            <a:pPr indent="0" marL="0">
              <a:lnSpc>
                <a:spcPct val="108000"/>
              </a:lnSpc>
              <a:buNone/>
            </a:pPr>
            <a:r>
              <a:rPr lang="en-US" sz="1550" i="1" dirty="0">
                <a:solidFill>
                  <a:srgbClr val="002050"/>
                </a:solidFill>
                <a:latin typeface="Aptos" pitchFamily="34" charset="0"/>
                <a:ea typeface="Aptos" pitchFamily="34" charset="-122"/>
                <a:cs typeface="Aptos" pitchFamily="34" charset="-120"/>
              </a:rPr>
              <a:t>Writing in an incident report: “The server crashed because the network team messed up the configuration update last night.”</a:t>
            </a:r>
            <a:endParaRPr lang="en-US" sz="1250" dirty="0"/>
          </a:p>
        </p:txBody>
      </p:sp>
      <p:sp>
        <p:nvSpPr>
          <p:cNvPr id="10" name="Shape 7"/>
          <p:cNvSpPr/>
          <p:nvPr/>
        </p:nvSpPr>
        <p:spPr>
          <a:xfrm>
            <a:off x="502920" y="3246120"/>
            <a:ext cx="11183112" cy="1143000"/>
          </a:xfrm>
          <a:prstGeom prst="roundRect">
            <a:avLst>
              <a:gd name="adj" fmla="val 7200"/>
            </a:avLst>
          </a:prstGeom>
          <a:solidFill>
            <a:srgbClr val="FFFF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3520440"/>
            <a:ext cx="365760" cy="365760"/>
          </a:xfrm>
          <a:prstGeom prst="rect">
            <a:avLst/>
          </a:prstGeom>
        </p:spPr>
      </p:pic>
      <p:sp>
        <p:nvSpPr>
          <p:cNvPr id="12" name="Text 8"/>
          <p:cNvSpPr/>
          <p:nvPr/>
        </p:nvSpPr>
        <p:spPr>
          <a:xfrm>
            <a:off x="1280160" y="3337560"/>
            <a:ext cx="10131552" cy="960120"/>
          </a:xfrm>
          <a:prstGeom prst="rect">
            <a:avLst/>
          </a:prstGeom>
          <a:noFill/>
          <a:ln/>
        </p:spPr>
        <p:txBody>
          <a:bodyPr wrap="square" rtlCol="0" anchor="ctr"/>
          <a:lstStyle/>
          <a:p>
            <a:pPr indent="0" marL="0">
              <a:lnSpc>
                <a:spcPct val="108000"/>
              </a:lnSpc>
              <a:buNone/>
            </a:pPr>
            <a:r>
              <a:rPr lang="en-US" sz="1250" b="1" spc="150" kern="0" dirty="0">
                <a:solidFill>
                  <a:srgbClr val="6B7280"/>
                </a:solidFill>
                <a:latin typeface="Aptos" pitchFamily="34" charset="0"/>
                <a:ea typeface="Aptos" pitchFamily="34" charset="-122"/>
                <a:cs typeface="Aptos" pitchFamily="34" charset="-120"/>
              </a:rPr>
              <a:t>WHY IT BREAKS THE RULE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You are blaming another team without proof or log evidence.</a:t>
            </a:r>
            <a:endParaRPr lang="en-US" sz="1250" dirty="0"/>
          </a:p>
        </p:txBody>
      </p:sp>
      <p:sp>
        <p:nvSpPr>
          <p:cNvPr id="13" name="Shape 9"/>
          <p:cNvSpPr/>
          <p:nvPr/>
        </p:nvSpPr>
        <p:spPr>
          <a:xfrm>
            <a:off x="502920" y="4572000"/>
            <a:ext cx="11183112" cy="1417320"/>
          </a:xfrm>
          <a:prstGeom prst="roundRect">
            <a:avLst>
              <a:gd name="adj" fmla="val 5806"/>
            </a:avLst>
          </a:prstGeom>
          <a:solidFill>
            <a:srgbClr val="E7F4E7"/>
          </a:solidFill>
          <a:ln w="12700">
            <a:solidFill>
              <a:srgbClr val="BFE0BF"/>
            </a:solidFill>
            <a:prstDash val="solid"/>
          </a:ln>
          <a:effectLst>
            <a:outerShdw sx="100000" sy="100000" kx="0" ky="0" algn="bl" rotWithShape="0" blurRad="1.0591956294882662e+87" dist="3.0262732271093317e+86" dir="1.9743255576340073e+102">
              <a:srgbClr val="9AB4CC">
                <a:alpha val="3e+104"/>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4773168"/>
            <a:ext cx="365760" cy="365760"/>
          </a:xfrm>
          <a:prstGeom prst="rect">
            <a:avLst/>
          </a:prstGeom>
        </p:spPr>
      </p:pic>
      <p:sp>
        <p:nvSpPr>
          <p:cNvPr id="15" name="Text 10"/>
          <p:cNvSpPr/>
          <p:nvPr/>
        </p:nvSpPr>
        <p:spPr>
          <a:xfrm>
            <a:off x="1280160" y="468172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0E700E"/>
                </a:solidFill>
                <a:latin typeface="Aptos" pitchFamily="34" charset="0"/>
                <a:ea typeface="Aptos" pitchFamily="34" charset="-122"/>
                <a:cs typeface="Aptos" pitchFamily="34" charset="-120"/>
              </a:rPr>
              <a:t>THE ACCURATE WAY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server went offline at 02:14 AM due to a 100% CPU spike. Logs are being reviewed to find the root cause.”</a:t>
            </a:r>
            <a:endParaRPr lang="en-US" sz="1250" dirty="0"/>
          </a:p>
        </p:txBody>
      </p:sp>
      <p:sp>
        <p:nvSpPr>
          <p:cNvPr id="16" name="Text 11"/>
          <p:cNvSpPr/>
          <p:nvPr/>
        </p:nvSpPr>
        <p:spPr>
          <a:xfrm>
            <a:off x="502920" y="6108192"/>
            <a:ext cx="11183112" cy="27432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Accuracy — check that everything you write is factually accurate and capable of being verified.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ACCURACY IN PRACTICE · 2 OF 3</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2. Do Not Hide the Full Truth (Misleading)</a:t>
            </a:r>
            <a:endParaRPr lang="en-US" sz="3400" dirty="0"/>
          </a:p>
        </p:txBody>
      </p:sp>
      <p:sp>
        <p:nvSpPr>
          <p:cNvPr id="7" name="Shape 5"/>
          <p:cNvSpPr/>
          <p:nvPr/>
        </p:nvSpPr>
        <p:spPr>
          <a:xfrm>
            <a:off x="502920" y="1645920"/>
            <a:ext cx="11183112" cy="1417320"/>
          </a:xfrm>
          <a:prstGeom prst="roundRect">
            <a:avLst>
              <a:gd name="adj" fmla="val 5806"/>
            </a:avLst>
          </a:prstGeom>
          <a:solidFill>
            <a:srgbClr val="FCEDEE"/>
          </a:solidFill>
          <a:ln w="12700">
            <a:solidFill>
              <a:srgbClr val="F2C7CB"/>
            </a:solidFill>
            <a:prstDash val="solid"/>
          </a:ln>
          <a:effectLst>
            <a:outerShdw sx="100000" sy="100000" kx="0" ky="0" algn="bl" rotWithShape="0" blurRad="1.3451784494500981e+91" dist="3.8433669984288512e+90" dir="1.1845953345804043e+107">
              <a:srgbClr val="9AB4CC">
                <a:alpha val="2.9999999999999997e+109"/>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28800"/>
            <a:ext cx="365760" cy="365760"/>
          </a:xfrm>
          <a:prstGeom prst="rect">
            <a:avLst/>
          </a:prstGeom>
        </p:spPr>
      </p:pic>
      <p:sp>
        <p:nvSpPr>
          <p:cNvPr id="9" name="Text 6"/>
          <p:cNvSpPr/>
          <p:nvPr/>
        </p:nvSpPr>
        <p:spPr>
          <a:xfrm>
            <a:off x="1280160" y="175564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C50F1F"/>
                </a:solidFill>
                <a:latin typeface="Aptos" pitchFamily="34" charset="0"/>
                <a:ea typeface="Aptos" pitchFamily="34" charset="-122"/>
                <a:cs typeface="Aptos" pitchFamily="34" charset="-120"/>
              </a:rPr>
              <a:t>WHAT NOT TO DO
</a:t>
            </a:r>
            <a:pPr indent="0" marL="0">
              <a:lnSpc>
                <a:spcPct val="108000"/>
              </a:lnSpc>
              <a:buNone/>
            </a:pPr>
            <a:r>
              <a:rPr lang="en-US" sz="1550" i="1" dirty="0">
                <a:solidFill>
                  <a:srgbClr val="002050"/>
                </a:solidFill>
                <a:latin typeface="Aptos" pitchFamily="34" charset="0"/>
                <a:ea typeface="Aptos" pitchFamily="34" charset="-122"/>
                <a:cs typeface="Aptos" pitchFamily="34" charset="-120"/>
              </a:rPr>
              <a:t>Telling a client: “The new software update is 100% finished and ready for deployment tomorrow.”</a:t>
            </a:r>
            <a:endParaRPr lang="en-US" sz="1250" dirty="0"/>
          </a:p>
        </p:txBody>
      </p:sp>
      <p:sp>
        <p:nvSpPr>
          <p:cNvPr id="10" name="Shape 7"/>
          <p:cNvSpPr/>
          <p:nvPr/>
        </p:nvSpPr>
        <p:spPr>
          <a:xfrm>
            <a:off x="502920" y="3246120"/>
            <a:ext cx="11183112" cy="1143000"/>
          </a:xfrm>
          <a:prstGeom prst="roundRect">
            <a:avLst>
              <a:gd name="adj" fmla="val 7200"/>
            </a:avLst>
          </a:prstGeom>
          <a:solidFill>
            <a:srgbClr val="FFFF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3520440"/>
            <a:ext cx="365760" cy="365760"/>
          </a:xfrm>
          <a:prstGeom prst="rect">
            <a:avLst/>
          </a:prstGeom>
        </p:spPr>
      </p:pic>
      <p:sp>
        <p:nvSpPr>
          <p:cNvPr id="12" name="Text 8"/>
          <p:cNvSpPr/>
          <p:nvPr/>
        </p:nvSpPr>
        <p:spPr>
          <a:xfrm>
            <a:off x="1280160" y="3337560"/>
            <a:ext cx="10131552" cy="960120"/>
          </a:xfrm>
          <a:prstGeom prst="rect">
            <a:avLst/>
          </a:prstGeom>
          <a:noFill/>
          <a:ln/>
        </p:spPr>
        <p:txBody>
          <a:bodyPr wrap="square" rtlCol="0" anchor="ctr"/>
          <a:lstStyle/>
          <a:p>
            <a:pPr indent="0" marL="0">
              <a:lnSpc>
                <a:spcPct val="108000"/>
              </a:lnSpc>
              <a:buNone/>
            </a:pPr>
            <a:r>
              <a:rPr lang="en-US" sz="1250" b="1" spc="150" kern="0" dirty="0">
                <a:solidFill>
                  <a:srgbClr val="6B7280"/>
                </a:solidFill>
                <a:latin typeface="Aptos" pitchFamily="34" charset="0"/>
                <a:ea typeface="Aptos" pitchFamily="34" charset="-122"/>
                <a:cs typeface="Aptos" pitchFamily="34" charset="-120"/>
              </a:rPr>
              <a:t>WHY IT BREAKS THE RULE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code is done, but you intentionally left out the fact that it completely failed security testing.</a:t>
            </a:r>
            <a:endParaRPr lang="en-US" sz="1250" dirty="0"/>
          </a:p>
        </p:txBody>
      </p:sp>
      <p:sp>
        <p:nvSpPr>
          <p:cNvPr id="13" name="Shape 9"/>
          <p:cNvSpPr/>
          <p:nvPr/>
        </p:nvSpPr>
        <p:spPr>
          <a:xfrm>
            <a:off x="502920" y="4572000"/>
            <a:ext cx="11183112" cy="1417320"/>
          </a:xfrm>
          <a:prstGeom prst="roundRect">
            <a:avLst>
              <a:gd name="adj" fmla="val 5806"/>
            </a:avLst>
          </a:prstGeom>
          <a:solidFill>
            <a:srgbClr val="E7F4E7"/>
          </a:solidFill>
          <a:ln w="12700">
            <a:solidFill>
              <a:srgbClr val="BFE0BF"/>
            </a:solidFill>
            <a:prstDash val="solid"/>
          </a:ln>
          <a:effectLst>
            <a:outerShdw sx="100000" sy="100000" kx="0" ky="0" algn="bl" rotWithShape="0" blurRad="2.1696383211180632e+99" dist="6.198966631765894e+98" dir="4.2645432044894554e+116">
              <a:srgbClr val="9AB4CC">
                <a:alpha val="2.9999999999999997e+119"/>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4773168"/>
            <a:ext cx="365760" cy="365760"/>
          </a:xfrm>
          <a:prstGeom prst="rect">
            <a:avLst/>
          </a:prstGeom>
        </p:spPr>
      </p:pic>
      <p:sp>
        <p:nvSpPr>
          <p:cNvPr id="15" name="Text 10"/>
          <p:cNvSpPr/>
          <p:nvPr/>
        </p:nvSpPr>
        <p:spPr>
          <a:xfrm>
            <a:off x="1280160" y="468172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0E700E"/>
                </a:solidFill>
                <a:latin typeface="Aptos" pitchFamily="34" charset="0"/>
                <a:ea typeface="Aptos" pitchFamily="34" charset="-122"/>
                <a:cs typeface="Aptos" pitchFamily="34" charset="-120"/>
              </a:rPr>
              <a:t>THE ACCURATE WAY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software development phase is complete, but deployment is on hold until it passes final security validation.”</a:t>
            </a:r>
            <a:endParaRPr lang="en-US" sz="1250" dirty="0"/>
          </a:p>
        </p:txBody>
      </p:sp>
      <p:sp>
        <p:nvSpPr>
          <p:cNvPr id="16" name="Text 11"/>
          <p:cNvSpPr/>
          <p:nvPr/>
        </p:nvSpPr>
        <p:spPr>
          <a:xfrm>
            <a:off x="502920" y="6108192"/>
            <a:ext cx="11183112" cy="27432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Accuracy — check that everything you write is factually accurate and capable of being verified.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ACCURACY IN PRACTICE · 3 OF 3</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3. Do Not Exaggerate (Sound Reasoning)</a:t>
            </a:r>
            <a:endParaRPr lang="en-US" sz="3400" dirty="0"/>
          </a:p>
        </p:txBody>
      </p:sp>
      <p:sp>
        <p:nvSpPr>
          <p:cNvPr id="7" name="Shape 5"/>
          <p:cNvSpPr/>
          <p:nvPr/>
        </p:nvSpPr>
        <p:spPr>
          <a:xfrm>
            <a:off x="502920" y="1645920"/>
            <a:ext cx="11183112" cy="1417320"/>
          </a:xfrm>
          <a:prstGeom prst="roundRect">
            <a:avLst>
              <a:gd name="adj" fmla="val 5806"/>
            </a:avLst>
          </a:prstGeom>
          <a:solidFill>
            <a:srgbClr val="FCEDEE"/>
          </a:solidFill>
          <a:ln w="12700">
            <a:solidFill>
              <a:srgbClr val="F2C7CB"/>
            </a:solidFill>
            <a:prstDash val="solid"/>
          </a:ln>
          <a:effectLst>
            <a:outerShdw sx="100000" sy="100000" kx="0" ky="0" algn="bl" rotWithShape="0" blurRad="2.7554406678199403e+103" dist="7.872687622342685e+102" dir="2.5587259226936733e+121">
              <a:srgbClr val="9AB4CC">
                <a:alpha val="2.9999999999999995e+124"/>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28800"/>
            <a:ext cx="365760" cy="365760"/>
          </a:xfrm>
          <a:prstGeom prst="rect">
            <a:avLst/>
          </a:prstGeom>
        </p:spPr>
      </p:pic>
      <p:sp>
        <p:nvSpPr>
          <p:cNvPr id="9" name="Text 6"/>
          <p:cNvSpPr/>
          <p:nvPr/>
        </p:nvSpPr>
        <p:spPr>
          <a:xfrm>
            <a:off x="1280160" y="175564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C50F1F"/>
                </a:solidFill>
                <a:latin typeface="Aptos" pitchFamily="34" charset="0"/>
                <a:ea typeface="Aptos" pitchFamily="34" charset="-122"/>
                <a:cs typeface="Aptos" pitchFamily="34" charset="-120"/>
              </a:rPr>
              <a:t>WHAT NOT TO DO
</a:t>
            </a:r>
            <a:pPr indent="0" marL="0">
              <a:lnSpc>
                <a:spcPct val="108000"/>
              </a:lnSpc>
              <a:buNone/>
            </a:pPr>
            <a:r>
              <a:rPr lang="en-US" sz="1550" i="1" dirty="0">
                <a:solidFill>
                  <a:srgbClr val="002050"/>
                </a:solidFill>
                <a:latin typeface="Aptos" pitchFamily="34" charset="0"/>
                <a:ea typeface="Aptos" pitchFamily="34" charset="-122"/>
                <a:cs typeface="Aptos" pitchFamily="34" charset="-120"/>
              </a:rPr>
              <a:t>Writing to management: “The entire bank network is completely down and the whole company is paralyzed!”</a:t>
            </a:r>
            <a:endParaRPr lang="en-US" sz="1250" dirty="0"/>
          </a:p>
        </p:txBody>
      </p:sp>
      <p:sp>
        <p:nvSpPr>
          <p:cNvPr id="10" name="Shape 7"/>
          <p:cNvSpPr/>
          <p:nvPr/>
        </p:nvSpPr>
        <p:spPr>
          <a:xfrm>
            <a:off x="502920" y="3246120"/>
            <a:ext cx="11183112" cy="1143000"/>
          </a:xfrm>
          <a:prstGeom prst="roundRect">
            <a:avLst>
              <a:gd name="adj" fmla="val 7200"/>
            </a:avLst>
          </a:prstGeom>
          <a:solidFill>
            <a:srgbClr val="FFFFFF"/>
          </a:solidFill>
          <a:ln w="12700">
            <a:solidFill>
              <a:srgbClr val="D5E3F2"/>
            </a:solidFill>
            <a:prstDash val="solid"/>
          </a:ln>
          <a:effectLst>
            <a:outerShdw sx="100000" sy="100000" kx="0" ky="0" algn="bl" rotWithShape="0" blurRad="3.499409648131324e+107" dist="9.998313280375211e+106" dir="1.535235553616204e+126">
              <a:srgbClr val="9AB4CC">
                <a:alpha val="2.9999999999999997e+129"/>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3520440"/>
            <a:ext cx="365760" cy="365760"/>
          </a:xfrm>
          <a:prstGeom prst="rect">
            <a:avLst/>
          </a:prstGeom>
        </p:spPr>
      </p:pic>
      <p:sp>
        <p:nvSpPr>
          <p:cNvPr id="12" name="Text 8"/>
          <p:cNvSpPr/>
          <p:nvPr/>
        </p:nvSpPr>
        <p:spPr>
          <a:xfrm>
            <a:off x="1280160" y="3337560"/>
            <a:ext cx="10131552" cy="960120"/>
          </a:xfrm>
          <a:prstGeom prst="rect">
            <a:avLst/>
          </a:prstGeom>
          <a:noFill/>
          <a:ln/>
        </p:spPr>
        <p:txBody>
          <a:bodyPr wrap="square" rtlCol="0" anchor="ctr"/>
          <a:lstStyle/>
          <a:p>
            <a:pPr indent="0" marL="0">
              <a:lnSpc>
                <a:spcPct val="108000"/>
              </a:lnSpc>
              <a:buNone/>
            </a:pPr>
            <a:r>
              <a:rPr lang="en-US" sz="1250" b="1" spc="150" kern="0" dirty="0">
                <a:solidFill>
                  <a:srgbClr val="6B7280"/>
                </a:solidFill>
                <a:latin typeface="Aptos" pitchFamily="34" charset="0"/>
                <a:ea typeface="Aptos" pitchFamily="34" charset="-122"/>
                <a:cs typeface="Aptos" pitchFamily="34" charset="-120"/>
              </a:rPr>
              <a:t>WHY IT BREAKS THE RULE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It is an emotional overstatement. Only one localized branch office is experiencing a slow internet connection.</a:t>
            </a:r>
            <a:endParaRPr lang="en-US" sz="1250" dirty="0"/>
          </a:p>
        </p:txBody>
      </p:sp>
      <p:sp>
        <p:nvSpPr>
          <p:cNvPr id="13" name="Shape 9"/>
          <p:cNvSpPr/>
          <p:nvPr/>
        </p:nvSpPr>
        <p:spPr>
          <a:xfrm>
            <a:off x="502920" y="4572000"/>
            <a:ext cx="11183112" cy="1417320"/>
          </a:xfrm>
          <a:prstGeom prst="roundRect">
            <a:avLst>
              <a:gd name="adj" fmla="val 5806"/>
            </a:avLst>
          </a:prstGeom>
          <a:solidFill>
            <a:srgbClr val="E7F4E7"/>
          </a:solidFill>
          <a:ln w="12700">
            <a:solidFill>
              <a:srgbClr val="BFE0BF"/>
            </a:solidFill>
            <a:prstDash val="solid"/>
          </a:ln>
          <a:effectLst>
            <a:outerShdw sx="100000" sy="100000" kx="0" ky="0" algn="bl" rotWithShape="0" blurRad="4.4442502531267815e+111" dist="1.2697857866076517e+111" dir="9.211413321697224e+130">
              <a:srgbClr val="9AB4CC">
                <a:alpha val="2.9999999999999996e+134"/>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4773168"/>
            <a:ext cx="365760" cy="365760"/>
          </a:xfrm>
          <a:prstGeom prst="rect">
            <a:avLst/>
          </a:prstGeom>
        </p:spPr>
      </p:pic>
      <p:sp>
        <p:nvSpPr>
          <p:cNvPr id="15" name="Text 10"/>
          <p:cNvSpPr/>
          <p:nvPr/>
        </p:nvSpPr>
        <p:spPr>
          <a:xfrm>
            <a:off x="1280160" y="468172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0E700E"/>
                </a:solidFill>
                <a:latin typeface="Aptos" pitchFamily="34" charset="0"/>
                <a:ea typeface="Aptos" pitchFamily="34" charset="-122"/>
                <a:cs typeface="Aptos" pitchFamily="34" charset="-120"/>
              </a:rPr>
              <a:t>THE ACCURATE WAY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Sandton branch office is currently experiencing high network latency, impacting 15 users.”</a:t>
            </a:r>
            <a:endParaRPr lang="en-US" sz="1250" dirty="0"/>
          </a:p>
        </p:txBody>
      </p:sp>
      <p:sp>
        <p:nvSpPr>
          <p:cNvPr id="16" name="Text 11"/>
          <p:cNvSpPr/>
          <p:nvPr/>
        </p:nvSpPr>
        <p:spPr>
          <a:xfrm>
            <a:off x="502920" y="6108192"/>
            <a:ext cx="11183112" cy="27432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Accuracy — check that everything you write is factually accurate and capable of being verified.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Objectivity</a:t>
            </a:r>
            <a:endParaRPr lang="en-US" sz="3400" dirty="0"/>
          </a:p>
        </p:txBody>
      </p:sp>
      <p:sp>
        <p:nvSpPr>
          <p:cNvPr id="7" name="Text 5"/>
          <p:cNvSpPr/>
          <p:nvPr/>
        </p:nvSpPr>
        <p:spPr>
          <a:xfrm>
            <a:off x="502920" y="1600200"/>
            <a:ext cx="11183112" cy="128016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report should not be an essay reflecting personal emotions and opinions. Look at all sides of a problem with an open mind before stating conclusions. Showing an open mind makes your conclusions and recommendations more acceptable — the emphasis is on the factual material and conclusions drawn, not on personal beliefs, biases or prejudices.</a:t>
            </a:r>
            <a:endParaRPr lang="en-US" sz="15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926080"/>
            <a:ext cx="347472" cy="347472"/>
          </a:xfrm>
          <a:prstGeom prst="rect">
            <a:avLst/>
          </a:prstGeom>
        </p:spPr>
      </p:pic>
      <p:sp>
        <p:nvSpPr>
          <p:cNvPr id="9" name="Text 6"/>
          <p:cNvSpPr/>
          <p:nvPr/>
        </p:nvSpPr>
        <p:spPr>
          <a:xfrm>
            <a:off x="1005840" y="288036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How to Apply This to an IT Report</a:t>
            </a:r>
            <a:endParaRPr lang="en-US" sz="20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3529584"/>
            <a:ext cx="365760" cy="365760"/>
          </a:xfrm>
          <a:prstGeom prst="rect">
            <a:avLst/>
          </a:prstGeom>
        </p:spPr>
      </p:pic>
      <p:sp>
        <p:nvSpPr>
          <p:cNvPr id="11" name="Text 7"/>
          <p:cNvSpPr/>
          <p:nvPr/>
        </p:nvSpPr>
        <p:spPr>
          <a:xfrm>
            <a:off x="1124712" y="3401568"/>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fast to read: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Use bullet points and clear headers so the reader gets the point instantly.</a:t>
            </a:r>
            <a:endParaRPr lang="en-US" sz="165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4242816"/>
            <a:ext cx="365760" cy="365760"/>
          </a:xfrm>
          <a:prstGeom prst="rect">
            <a:avLst/>
          </a:prstGeom>
        </p:spPr>
      </p:pic>
      <p:sp>
        <p:nvSpPr>
          <p:cNvPr id="13" name="Text 8"/>
          <p:cNvSpPr/>
          <p:nvPr/>
        </p:nvSpPr>
        <p:spPr>
          <a:xfrm>
            <a:off x="1124712" y="4114800"/>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easy to understand: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Use plain language instead of dense technical jargon.</a:t>
            </a:r>
            <a:endParaRPr lang="en-US" sz="165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956048"/>
            <a:ext cx="365760" cy="365760"/>
          </a:xfrm>
          <a:prstGeom prst="rect">
            <a:avLst/>
          </a:prstGeom>
        </p:spPr>
      </p:pic>
      <p:sp>
        <p:nvSpPr>
          <p:cNvPr id="15" name="Text 9"/>
          <p:cNvSpPr/>
          <p:nvPr/>
        </p:nvSpPr>
        <p:spPr>
          <a:xfrm>
            <a:off x="1124712" y="4828032"/>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believable: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Support your conclusions with hard data, system logs, or metrics.</a:t>
            </a:r>
            <a:endParaRPr lang="en-US" sz="16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5669280"/>
            <a:ext cx="365760" cy="365760"/>
          </a:xfrm>
          <a:prstGeom prst="rect">
            <a:avLst/>
          </a:prstGeom>
        </p:spPr>
      </p:pic>
      <p:sp>
        <p:nvSpPr>
          <p:cNvPr id="17" name="Text 10"/>
          <p:cNvSpPr/>
          <p:nvPr/>
        </p:nvSpPr>
        <p:spPr>
          <a:xfrm>
            <a:off x="1124712" y="5541264"/>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actionable: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End the report with a clear, step-by-step instruction on what to do next.</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 What NOT to Do (IT Examples)</a:t>
            </a:r>
            <a:endParaRPr lang="en-US" sz="3400" dirty="0"/>
          </a:p>
        </p:txBody>
      </p:sp>
      <p:sp>
        <p:nvSpPr>
          <p:cNvPr id="7" name="Shape 5"/>
          <p:cNvSpPr/>
          <p:nvPr/>
        </p:nvSpPr>
        <p:spPr>
          <a:xfrm>
            <a:off x="502920" y="1691640"/>
            <a:ext cx="11183112" cy="2057400"/>
          </a:xfrm>
          <a:prstGeom prst="roundRect">
            <a:avLst>
              <a:gd name="adj" fmla="val 4000"/>
            </a:avLst>
          </a:prstGeom>
          <a:solidFill>
            <a:srgbClr val="FCEDEE"/>
          </a:solidFill>
          <a:ln w="12700">
            <a:solidFill>
              <a:srgbClr val="F2C7CB"/>
            </a:solidFill>
            <a:prstDash val="solid"/>
          </a:ln>
          <a:effectLst>
            <a:outerShdw sx="100000" sy="100000" kx="0" ky="0" algn="bl" rotWithShape="0" blurRad="5.644197821471012e+115" dist="1.6126279489917177e+115" dir="5.526847993018334e+135">
              <a:srgbClr val="9AB4CC">
                <a:alpha val="2.9999999999999994e+139"/>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74520"/>
            <a:ext cx="365760" cy="365760"/>
          </a:xfrm>
          <a:prstGeom prst="rect">
            <a:avLst/>
          </a:prstGeom>
        </p:spPr>
      </p:pic>
      <p:sp>
        <p:nvSpPr>
          <p:cNvPr id="9" name="Text 6"/>
          <p:cNvSpPr/>
          <p:nvPr/>
        </p:nvSpPr>
        <p:spPr>
          <a:xfrm>
            <a:off x="1280160" y="1828800"/>
            <a:ext cx="10131552" cy="1828800"/>
          </a:xfrm>
          <a:prstGeom prst="rect">
            <a:avLst/>
          </a:prstGeom>
          <a:noFill/>
          <a:ln/>
        </p:spPr>
        <p:txBody>
          <a:bodyPr wrap="square" rtlCol="0" anchor="ctr"/>
          <a:lstStyle/>
          <a:p>
            <a:pPr indent="0" marL="0">
              <a:lnSpc>
                <a:spcPct val="112000"/>
              </a:lnSpc>
              <a:buNone/>
            </a:pPr>
            <a:r>
              <a:rPr lang="en-US" sz="1250" b="1" spc="150" kern="0" dirty="0">
                <a:solidFill>
                  <a:srgbClr val="C50F1F"/>
                </a:solidFill>
                <a:latin typeface="Aptos" pitchFamily="34" charset="0"/>
                <a:ea typeface="Aptos" pitchFamily="34" charset="-122"/>
                <a:cs typeface="Aptos" pitchFamily="34" charset="-120"/>
              </a:rPr>
              <a:t>DO NOT DELAY THE READER (WORDY)
</a:t>
            </a:r>
            <a:pPr indent="0" marL="0">
              <a:lnSpc>
                <a:spcPct val="112000"/>
              </a:lnSpc>
              <a:buNone/>
            </a:pPr>
            <a:r>
              <a:rPr lang="en-US" sz="1550" i="1" dirty="0">
                <a:solidFill>
                  <a:srgbClr val="002050"/>
                </a:solidFill>
                <a:latin typeface="Aptos" pitchFamily="34" charset="0"/>
                <a:ea typeface="Aptos" pitchFamily="34" charset="-122"/>
                <a:cs typeface="Aptos" pitchFamily="34" charset="-120"/>
              </a:rPr>
              <a:t>“It has come to our attention via various diagnostic methodologies that the database is encountering latency constraints due to a variety of interconnected factors.”
</a:t>
            </a:r>
            <a:pPr indent="0" marL="0">
              <a:lnSpc>
                <a:spcPct val="112000"/>
              </a:lnSpc>
              <a:buNone/>
            </a:pPr>
            <a:r>
              <a:rPr lang="en-US" sz="1450" b="1" dirty="0">
                <a:solidFill>
                  <a:srgbClr val="002050"/>
                </a:solidFill>
                <a:latin typeface="Aptos" pitchFamily="34" charset="0"/>
                <a:ea typeface="Aptos" pitchFamily="34" charset="-122"/>
                <a:cs typeface="Aptos" pitchFamily="34" charset="-120"/>
              </a:rPr>
              <a:t>Why it fails: It wastes the reader's time with empty filler words.</a:t>
            </a:r>
            <a:endParaRPr lang="en-US" sz="1250" dirty="0"/>
          </a:p>
        </p:txBody>
      </p:sp>
      <p:sp>
        <p:nvSpPr>
          <p:cNvPr id="10" name="Shape 7"/>
          <p:cNvSpPr/>
          <p:nvPr/>
        </p:nvSpPr>
        <p:spPr>
          <a:xfrm>
            <a:off x="502920" y="3977640"/>
            <a:ext cx="11183112" cy="2057400"/>
          </a:xfrm>
          <a:prstGeom prst="roundRect">
            <a:avLst>
              <a:gd name="adj" fmla="val 4000"/>
            </a:avLst>
          </a:prstGeom>
          <a:solidFill>
            <a:srgbClr val="FCEDEE"/>
          </a:solidFill>
          <a:ln w="12700">
            <a:solidFill>
              <a:srgbClr val="F2C7CB"/>
            </a:solidFill>
            <a:prstDash val="solid"/>
          </a:ln>
          <a:effectLst>
            <a:outerShdw sx="100000" sy="100000" kx="0" ky="0" algn="bl" rotWithShape="0" blurRad="7.168131233268186e+119" dist="2.0480374952194813e+119" dir="3.3161087958110005e+140">
              <a:srgbClr val="9AB4CC">
                <a:alpha val="2.9999999999999996e+144"/>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0520"/>
            <a:ext cx="365760" cy="365760"/>
          </a:xfrm>
          <a:prstGeom prst="rect">
            <a:avLst/>
          </a:prstGeom>
        </p:spPr>
      </p:pic>
      <p:sp>
        <p:nvSpPr>
          <p:cNvPr id="12" name="Text 8"/>
          <p:cNvSpPr/>
          <p:nvPr/>
        </p:nvSpPr>
        <p:spPr>
          <a:xfrm>
            <a:off x="1280160" y="4114800"/>
            <a:ext cx="10131552" cy="1828800"/>
          </a:xfrm>
          <a:prstGeom prst="rect">
            <a:avLst/>
          </a:prstGeom>
          <a:noFill/>
          <a:ln/>
        </p:spPr>
        <p:txBody>
          <a:bodyPr wrap="square" rtlCol="0" anchor="ctr"/>
          <a:lstStyle/>
          <a:p>
            <a:pPr indent="0" marL="0">
              <a:lnSpc>
                <a:spcPct val="112000"/>
              </a:lnSpc>
              <a:buNone/>
            </a:pPr>
            <a:r>
              <a:rPr lang="en-US" sz="1250" b="1" spc="150" kern="0" dirty="0">
                <a:solidFill>
                  <a:srgbClr val="C50F1F"/>
                </a:solidFill>
                <a:latin typeface="Aptos" pitchFamily="34" charset="0"/>
                <a:ea typeface="Aptos" pitchFamily="34" charset="-122"/>
                <a:cs typeface="Aptos" pitchFamily="34" charset="-120"/>
              </a:rPr>
              <a:t>DO NOT MAKE IT HARD TO UNDERSTAND (TOO MUCH JARGON)
</a:t>
            </a:r>
            <a:pPr indent="0" marL="0">
              <a:lnSpc>
                <a:spcPct val="112000"/>
              </a:lnSpc>
              <a:buNone/>
            </a:pPr>
            <a:r>
              <a:rPr lang="en-US" sz="1550" i="1" dirty="0">
                <a:solidFill>
                  <a:srgbClr val="002050"/>
                </a:solidFill>
                <a:latin typeface="Aptos" pitchFamily="34" charset="0"/>
                <a:ea typeface="Aptos" pitchFamily="34" charset="-122"/>
                <a:cs typeface="Aptos" pitchFamily="34" charset="-120"/>
              </a:rPr>
              <a:t>“Execute a hard provisioning cycle on the hypervisor virtual switch infrastructure to mitigate packet drops.”
</a:t>
            </a:r>
            <a:pPr indent="0" marL="0">
              <a:lnSpc>
                <a:spcPct val="112000"/>
              </a:lnSpc>
              <a:buNone/>
            </a:pPr>
            <a:r>
              <a:rPr lang="en-US" sz="1450" b="1" dirty="0">
                <a:solidFill>
                  <a:srgbClr val="002050"/>
                </a:solidFill>
                <a:latin typeface="Aptos" pitchFamily="34" charset="0"/>
                <a:ea typeface="Aptos" pitchFamily="34" charset="-122"/>
                <a:cs typeface="Aptos" pitchFamily="34" charset="-120"/>
              </a:rPr>
              <a:t>Why it fails: A non-technical manager will struggle to understand what this means.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2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4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sp>
        <p:nvSpPr>
          <p:cNvPr id="8" name="Shape 6"/>
          <p:cNvSpPr/>
          <p:nvPr/>
        </p:nvSpPr>
        <p:spPr>
          <a:xfrm>
            <a:off x="502920" y="1645920"/>
            <a:ext cx="82296" cy="1374648"/>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10512"/>
            <a:ext cx="365760" cy="365760"/>
          </a:xfrm>
          <a:prstGeom prst="rect">
            <a:avLst/>
          </a:prstGeom>
        </p:spPr>
      </p:pic>
      <p:sp>
        <p:nvSpPr>
          <p:cNvPr id="10" name="Text 7"/>
          <p:cNvSpPr/>
          <p:nvPr/>
        </p:nvSpPr>
        <p:spPr>
          <a:xfrm>
            <a:off x="1280160" y="1755648"/>
            <a:ext cx="10131552" cy="11551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Conciseness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'Veni, Vidi, Vici' (I came, I saw, I conquered) — that is how Julius Caesar reported his visit. While your reports won't be this short, aim to keep them concise. Do not mistake brevity for conciseness: a brief report may omit important information; a concise report is short but keeps all essential details.</a:t>
            </a:r>
            <a:endParaRPr lang="en-US" sz="1800" dirty="0"/>
          </a:p>
        </p:txBody>
      </p:sp>
      <p:sp>
        <p:nvSpPr>
          <p:cNvPr id="11"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sp>
        <p:nvSpPr>
          <p:cNvPr id="12" name="Shape 9"/>
          <p:cNvSpPr/>
          <p:nvPr/>
        </p:nvSpPr>
        <p:spPr>
          <a:xfrm>
            <a:off x="502920" y="3221736"/>
            <a:ext cx="82296" cy="1374648"/>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386328"/>
            <a:ext cx="365760" cy="365760"/>
          </a:xfrm>
          <a:prstGeom prst="rect">
            <a:avLst/>
          </a:prstGeom>
        </p:spPr>
      </p:pic>
      <p:sp>
        <p:nvSpPr>
          <p:cNvPr id="14" name="Text 10"/>
          <p:cNvSpPr/>
          <p:nvPr/>
        </p:nvSpPr>
        <p:spPr>
          <a:xfrm>
            <a:off x="1280160" y="3331464"/>
            <a:ext cx="10131552" cy="11551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Clarity &amp; Consistency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 best way to achieve clarity is to allow time between the first draft and its revision — over a weekend, or at least overnight. If under pressure, at least leave it over a lunch or coffee break. A period of time thinking of other things lets you return with objectivity.</a:t>
            </a:r>
            <a:endParaRPr lang="en-US" sz="1800" dirty="0"/>
          </a:p>
        </p:txBody>
      </p:sp>
      <p:sp>
        <p:nvSpPr>
          <p:cNvPr id="15"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sp>
        <p:nvSpPr>
          <p:cNvPr id="16" name="Shape 12"/>
          <p:cNvSpPr/>
          <p:nvPr/>
        </p:nvSpPr>
        <p:spPr>
          <a:xfrm>
            <a:off x="502920" y="4797552"/>
            <a:ext cx="82296" cy="1374648"/>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62144"/>
            <a:ext cx="365760" cy="365760"/>
          </a:xfrm>
          <a:prstGeom prst="rect">
            <a:avLst/>
          </a:prstGeom>
        </p:spPr>
      </p:pic>
      <p:sp>
        <p:nvSpPr>
          <p:cNvPr id="18" name="Text 13"/>
          <p:cNvSpPr/>
          <p:nvPr/>
        </p:nvSpPr>
        <p:spPr>
          <a:xfrm>
            <a:off x="1280160" y="4907280"/>
            <a:ext cx="10131552" cy="11551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Simplicity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If your writing is selective, accurate, objective, concise, clear and consistent, it will also be as simple as it can be. Guard against over-simplifying to the point of leaving out information the reader needs. Keep the reader in mind and ask whether they can follow the logic of your presentation.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WRITING TIPS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Avoid Pointless Words</a:t>
            </a:r>
            <a:endParaRPr lang="en-US" sz="3400" dirty="0"/>
          </a:p>
        </p:txBody>
      </p:sp>
      <p:sp>
        <p:nvSpPr>
          <p:cNvPr id="7" name="Text 5"/>
          <p:cNvSpPr/>
          <p:nvPr/>
        </p:nvSpPr>
        <p:spPr>
          <a:xfrm>
            <a:off x="502920" y="1737360"/>
            <a:ext cx="11183112" cy="466344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Some words and phrases — like 'basically', 'actually', 'undoubtedly', 'each and every one' and 'during the course of our investigation' — keep cropping up in reports. Yet they add nothing to the message and often can be removed without changing the meaning or the tone.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Try leaving them out of your writing. You will find your sentences survive, succeed and may even flourish without them.</a:t>
            </a:r>
            <a:endParaRPr lang="en-US" sz="1900" dirty="0"/>
          </a:p>
        </p:txBody>
      </p:sp>
      <p:sp>
        <p:nvSpPr>
          <p:cNvPr id="8" name="Shape 6"/>
          <p:cNvSpPr/>
          <p:nvPr/>
        </p:nvSpPr>
        <p:spPr>
          <a:xfrm>
            <a:off x="502920" y="4023360"/>
            <a:ext cx="11183112"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1.8647509263194394e+136" dist="5.327859789484111e+135" dir="4.297676999371057e+159">
              <a:srgbClr val="9AB4CC">
                <a:alpha val="3e+164"/>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51960"/>
            <a:ext cx="329184" cy="329184"/>
          </a:xfrm>
          <a:prstGeom prst="rect">
            <a:avLst/>
          </a:prstGeom>
        </p:spPr>
      </p:pic>
      <p:sp>
        <p:nvSpPr>
          <p:cNvPr id="10" name="Text 7"/>
          <p:cNvSpPr/>
          <p:nvPr/>
        </p:nvSpPr>
        <p:spPr>
          <a:xfrm>
            <a:off x="1188720" y="4160520"/>
            <a:ext cx="10222992" cy="1280160"/>
          </a:xfrm>
          <a:prstGeom prst="rect">
            <a:avLst/>
          </a:prstGeom>
          <a:noFill/>
          <a:ln/>
        </p:spPr>
        <p:txBody>
          <a:bodyPr wrap="square" rtlCol="0" anchor="ctr"/>
          <a:lstStyle/>
          <a:p>
            <a:pPr indent="0" marL="0">
              <a:lnSpc>
                <a:spcPct val="110000"/>
              </a:lnSpc>
              <a:buNone/>
            </a:pPr>
            <a:r>
              <a:rPr lang="en-US" sz="1350" b="1" spc="150" kern="0" dirty="0">
                <a:solidFill>
                  <a:srgbClr val="0F6CBD"/>
                </a:solidFill>
                <a:latin typeface="Aptos" pitchFamily="34" charset="0"/>
                <a:ea typeface="Aptos" pitchFamily="34" charset="-122"/>
                <a:cs typeface="Aptos" pitchFamily="34" charset="-120"/>
              </a:rPr>
              <a:t>TRY THIS   </a:t>
            </a:r>
            <a:pPr indent="0" marL="0">
              <a:lnSpc>
                <a:spcPct val="110000"/>
              </a:lnSpc>
              <a:buNone/>
            </a:pPr>
            <a:r>
              <a:rPr lang="en-US" sz="1700" dirty="0">
                <a:solidFill>
                  <a:srgbClr val="002050"/>
                </a:solidFill>
                <a:latin typeface="Aptos" pitchFamily="34" charset="0"/>
                <a:ea typeface="Aptos" pitchFamily="34" charset="-122"/>
                <a:cs typeface="Aptos" pitchFamily="34" charset="-120"/>
              </a:rPr>
              <a:t>Take a paragraph you wrote this week and strike out every filler word. Read it again — the meaning stays, the message gets stronger.</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What is the Basic Structure of a Report?</a:t>
            </a:r>
            <a:endParaRPr lang="en-US" sz="3400" dirty="0"/>
          </a:p>
        </p:txBody>
      </p:sp>
      <p:sp>
        <p:nvSpPr>
          <p:cNvPr id="7" name="Text 5"/>
          <p:cNvSpPr/>
          <p:nvPr/>
        </p:nvSpPr>
        <p:spPr>
          <a:xfrm>
            <a:off x="502920" y="1828800"/>
            <a:ext cx="11183112" cy="4663440"/>
          </a:xfrm>
          <a:prstGeom prst="rect">
            <a:avLst/>
          </a:prstGeom>
          <a:noFill/>
          <a:ln/>
        </p:spPr>
        <p:txBody>
          <a:bodyPr wrap="square" rtlCol="0" anchor="t"/>
          <a:lstStyle/>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Types of reports can vary greatly; they can range from an experimental report to an environmental impact statement. There is, however, a basic structure common to most reports, irrespective of their type.
</a:t>
            </a:r>
            <a:endParaRPr lang="en-US" sz="2000" dirty="0"/>
          </a:p>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The major components of a general report are shown on the next slide — from the title page through to the appendices.</a:t>
            </a:r>
            <a:endParaRPr lang="en-US" sz="2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206240"/>
            <a:ext cx="914400" cy="9144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Major Components of a General Report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2651760"/>
                <a:gridCol w="8531352"/>
              </a:tblGrid>
              <a:tr h="512064">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Component</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What it contains</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Title Page</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The report title, and identifying details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Abstract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 less than 200 words: what was the problem, how was it investigated, what did you find out and what do your findings mean?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Table of Contents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the major and minor sections of your report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Introduction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Set the scene; give background about the topic; state the aim/purpose of the investigation; outline the body sections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Main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Organise sections in a logical sequence: what you investigated, what you found, what interpretations and judgments you made. Use short informative headings and subheadings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has been achieved and the significance of your findings and discussion? Have your aims been successful or not?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Recommendations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do you recommend as a course of action following your 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References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all the sources you used</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Appendices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Any information (graphs, charts, tables or other data) used but not included in the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There Are Various Types of Reports</a:t>
            </a:r>
            <a:endParaRPr lang="en-US" sz="34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 sports match</a:t>
            </a:r>
            <a:endParaRPr lang="en-US" sz="16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12848"/>
            <a:ext cx="310896" cy="310896"/>
          </a:xfrm>
          <a:prstGeom prst="rect">
            <a:avLst/>
          </a:prstGeom>
        </p:spPr>
      </p:pic>
      <p:sp>
        <p:nvSpPr>
          <p:cNvPr id="10" name="Text 6"/>
          <p:cNvSpPr/>
          <p:nvPr/>
        </p:nvSpPr>
        <p:spPr>
          <a:xfrm>
            <a:off x="1124712" y="2084832"/>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an accident to the Police or an insurance company</a:t>
            </a:r>
            <a:endParaRPr lang="en-US" sz="16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724912"/>
            <a:ext cx="310896" cy="310896"/>
          </a:xfrm>
          <a:prstGeom prst="rect">
            <a:avLst/>
          </a:prstGeom>
        </p:spPr>
      </p:pic>
      <p:sp>
        <p:nvSpPr>
          <p:cNvPr id="12" name="Text 7"/>
          <p:cNvSpPr/>
          <p:nvPr/>
        </p:nvSpPr>
        <p:spPr>
          <a:xfrm>
            <a:off x="1124712" y="2596896"/>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 social function, such as a wedding</a:t>
            </a:r>
            <a:endParaRPr lang="en-US" sz="16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236976"/>
            <a:ext cx="310896" cy="310896"/>
          </a:xfrm>
          <a:prstGeom prst="rect">
            <a:avLst/>
          </a:prstGeom>
        </p:spPr>
      </p:pic>
      <p:sp>
        <p:nvSpPr>
          <p:cNvPr id="14" name="Text 8"/>
          <p:cNvSpPr/>
          <p:nvPr/>
        </p:nvSpPr>
        <p:spPr>
          <a:xfrm>
            <a:off x="1124712" y="3108960"/>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news report about an accident, meeting or noteworthy incident</a:t>
            </a:r>
            <a:endParaRPr lang="en-US" sz="16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749040"/>
            <a:ext cx="310896" cy="310896"/>
          </a:xfrm>
          <a:prstGeom prst="rect">
            <a:avLst/>
          </a:prstGeom>
        </p:spPr>
      </p:pic>
      <p:sp>
        <p:nvSpPr>
          <p:cNvPr id="16" name="Text 9"/>
          <p:cNvSpPr/>
          <p:nvPr/>
        </p:nvSpPr>
        <p:spPr>
          <a:xfrm>
            <a:off x="1124712" y="3621024"/>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 commission of enquiry</a:t>
            </a:r>
            <a:endParaRPr lang="en-US" sz="16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261104"/>
            <a:ext cx="310896" cy="310896"/>
          </a:xfrm>
          <a:prstGeom prst="rect">
            <a:avLst/>
          </a:prstGeom>
        </p:spPr>
      </p:pic>
      <p:sp>
        <p:nvSpPr>
          <p:cNvPr id="18" name="Text 10"/>
          <p:cNvSpPr/>
          <p:nvPr/>
        </p:nvSpPr>
        <p:spPr>
          <a:xfrm>
            <a:off x="1124712" y="4133088"/>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trade report</a:t>
            </a:r>
            <a:endParaRPr lang="en-US" sz="16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4773168"/>
            <a:ext cx="310896" cy="310896"/>
          </a:xfrm>
          <a:prstGeom prst="rect">
            <a:avLst/>
          </a:prstGeom>
        </p:spPr>
      </p:pic>
      <p:sp>
        <p:nvSpPr>
          <p:cNvPr id="20" name="Text 11"/>
          <p:cNvSpPr/>
          <p:nvPr/>
        </p:nvSpPr>
        <p:spPr>
          <a:xfrm>
            <a:off x="1124712" y="4645152"/>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company report or a Company Accident Report</a:t>
            </a:r>
            <a:endParaRPr lang="en-US" sz="16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285232"/>
            <a:ext cx="310896" cy="310896"/>
          </a:xfrm>
          <a:prstGeom prst="rect">
            <a:avLst/>
          </a:prstGeom>
        </p:spPr>
      </p:pic>
      <p:sp>
        <p:nvSpPr>
          <p:cNvPr id="22" name="Text 12"/>
          <p:cNvSpPr/>
          <p:nvPr/>
        </p:nvSpPr>
        <p:spPr>
          <a:xfrm>
            <a:off x="1124712" y="5157216"/>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An Annual Report by a Chairman or a Treasurer</a:t>
            </a:r>
            <a:endParaRPr lang="en-US" sz="1600" dirty="0"/>
          </a:p>
        </p:txBody>
      </p:sp>
      <p:pic>
        <p:nvPicPr>
          <p:cNvPr id="23"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48640" y="5797296"/>
            <a:ext cx="310896" cy="310896"/>
          </a:xfrm>
          <a:prstGeom prst="rect">
            <a:avLst/>
          </a:prstGeom>
        </p:spPr>
      </p:pic>
      <p:sp>
        <p:nvSpPr>
          <p:cNvPr id="24" name="Text 13"/>
          <p:cNvSpPr/>
          <p:nvPr/>
        </p:nvSpPr>
        <p:spPr>
          <a:xfrm>
            <a:off x="1124712" y="5669280"/>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An internal report on a business related matter following an investigation or collection of data</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Investec Sample Reports — 7 Worked Models</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Use these models to practise matching report type, purpose, audience and recommended action.</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777240"/>
                <a:gridCol w="2286000"/>
                <a:gridCol w="8119872"/>
              </a:tblGrid>
              <a:tr h="56692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No.</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Report type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Investec systems support example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1</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Online Banking login outage — immediate facts, impact, action taken and escalation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2</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Lost corporate laptop — data risk, containment and compliance notification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3</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Repeated VPN disconnections — evidence, root cause and conclusion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4</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Print-cost increase — data analysis, findings and controls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5</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Windows 11 pilot rollout — progress, risks, issues and next steps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6</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Branch Wi-Fi upgrade — milestone status and blockers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7</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Recommendation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Service desk knowledge base — proposed solution, cost and decision needed</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INCIDENT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Incident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Incident reports answer: What happened, who was affected, what immediate action was taken and what must happen next?</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sp>
        <p:nvSpPr>
          <p:cNvPr id="9" name="Shape 7"/>
          <p:cNvSpPr/>
          <p:nvPr/>
        </p:nvSpPr>
        <p:spPr>
          <a:xfrm>
            <a:off x="502920" y="1965960"/>
            <a:ext cx="82296" cy="2011680"/>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67128"/>
            <a:ext cx="384048" cy="384048"/>
          </a:xfrm>
          <a:prstGeom prst="rect">
            <a:avLst/>
          </a:prstGeom>
        </p:spPr>
      </p:pic>
      <p:sp>
        <p:nvSpPr>
          <p:cNvPr id="11" name="Text 8"/>
          <p:cNvSpPr/>
          <p:nvPr/>
        </p:nvSpPr>
        <p:spPr>
          <a:xfrm>
            <a:off x="1325880" y="209397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Online Banking login outage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At 09:12 on 6 August 2026, monitoring reported elevated login failures. About 18% of attempted logins failed until 09:47 and the Service Desk logged 43 related calls. Action: escalate to Digital Channels Support, publish an internal advisory and monitor recovery after the authentication node restart.</a:t>
            </a:r>
            <a:endParaRPr lang="en-US" sz="1900" dirty="0"/>
          </a:p>
        </p:txBody>
      </p:sp>
      <p:sp>
        <p:nvSpPr>
          <p:cNvPr id="12"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3.0076567690606238e+144" dist="8.593305054458923e+143" dir="1.5471637197735807e+169">
              <a:srgbClr val="9AB4CC">
                <a:alpha val="3e+174"/>
              </a:srgbClr>
            </a:outerShdw>
          </a:effectLst>
        </p:spPr>
      </p:sp>
      <p:sp>
        <p:nvSpPr>
          <p:cNvPr id="13" name="Shape 10"/>
          <p:cNvSpPr/>
          <p:nvPr/>
        </p:nvSpPr>
        <p:spPr>
          <a:xfrm>
            <a:off x="502920" y="4160520"/>
            <a:ext cx="82296" cy="2011680"/>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61688"/>
            <a:ext cx="384048" cy="384048"/>
          </a:xfrm>
          <a:prstGeom prst="rect">
            <a:avLst/>
          </a:prstGeom>
        </p:spPr>
      </p:pic>
      <p:sp>
        <p:nvSpPr>
          <p:cNvPr id="15" name="Text 11"/>
          <p:cNvSpPr/>
          <p:nvPr/>
        </p:nvSpPr>
        <p:spPr>
          <a:xfrm>
            <a:off x="1325880" y="428853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Lost corporate laptop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 Relationship Manager reported a lost encrypted laptop at 17:40 on 12 August 2026. IT Security initiated remote lock and wipe, disabled cached sessions and opened a compliance notification ticket. Follow-up: manager sign-off, replacement device and travel security refresher.</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INVESTIGATION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Investigation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Investigation reports answer: What evidence was gathered, what caused the problem and what conclusion is supported by the facts?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3.819724096706992e+148" dist="1.0913497419162833e+148" dir="9.282982318641485e+173">
              <a:srgbClr val="9AB4CC">
                <a:alpha val="3e+179"/>
              </a:srgbClr>
            </a:outerShdw>
          </a:effectLst>
        </p:spPr>
      </p:sp>
      <p:sp>
        <p:nvSpPr>
          <p:cNvPr id="9" name="Shape 7"/>
          <p:cNvSpPr/>
          <p:nvPr/>
        </p:nvSpPr>
        <p:spPr>
          <a:xfrm>
            <a:off x="502920" y="1965960"/>
            <a:ext cx="82296" cy="2011680"/>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67128"/>
            <a:ext cx="384048" cy="384048"/>
          </a:xfrm>
          <a:prstGeom prst="rect">
            <a:avLst/>
          </a:prstGeom>
        </p:spPr>
      </p:pic>
      <p:sp>
        <p:nvSpPr>
          <p:cNvPr id="11" name="Text 8"/>
          <p:cNvSpPr/>
          <p:nvPr/>
        </p:nvSpPr>
        <p:spPr>
          <a:xfrm>
            <a:off x="1325880" y="209397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Repeated VPN disconnections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Review of 28 VPN tickets, firewall logs, endpoint versions and interviews showed that affected laptops were running an outdated VPN client after a staged update failed on one device group. Conclusion: the root cause was incomplete deployment validation.</a:t>
            </a:r>
            <a:endParaRPr lang="en-US" sz="1900" dirty="0"/>
          </a:p>
        </p:txBody>
      </p:sp>
      <p:sp>
        <p:nvSpPr>
          <p:cNvPr id="12"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4.85104960281788e+152" dist="1.38601417223368e+152" dir="5.569789391184891e+178">
              <a:srgbClr val="9AB4CC">
                <a:alpha val="3e+184"/>
              </a:srgbClr>
            </a:outerShdw>
          </a:effectLst>
        </p:spPr>
      </p:sp>
      <p:sp>
        <p:nvSpPr>
          <p:cNvPr id="13" name="Shape 10"/>
          <p:cNvSpPr/>
          <p:nvPr/>
        </p:nvSpPr>
        <p:spPr>
          <a:xfrm>
            <a:off x="502920" y="4160520"/>
            <a:ext cx="82296" cy="2011680"/>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61688"/>
            <a:ext cx="384048" cy="384048"/>
          </a:xfrm>
          <a:prstGeom prst="rect">
            <a:avLst/>
          </a:prstGeom>
        </p:spPr>
      </p:pic>
      <p:sp>
        <p:nvSpPr>
          <p:cNvPr id="15" name="Text 11"/>
          <p:cNvSpPr/>
          <p:nvPr/>
        </p:nvSpPr>
        <p:spPr>
          <a:xfrm>
            <a:off x="1325880" y="428853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Print-cost increase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Print management data showed a 32% cost increase on Sandton 5th-floor devices. Findings showed default colour printing was enabled after a driver update and secure-release settings were missing on two devices. Conclusion: print policy controls were removed during the update.</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PROJECT STATUS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Project Status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Project status reports answer: Is the project on track against scope, time, cost, quality, risks and next milestones?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6.160832995578707e+156" dist="1.7602379987367734e+156" dir="3.3418736347109347e+183">
              <a:srgbClr val="9AB4CC">
                <a:alpha val="3e+189"/>
              </a:srgbClr>
            </a:outerShdw>
          </a:effectLst>
        </p:spPr>
      </p:sp>
      <p:sp>
        <p:nvSpPr>
          <p:cNvPr id="9" name="Shape 7"/>
          <p:cNvSpPr/>
          <p:nvPr/>
        </p:nvSpPr>
        <p:spPr>
          <a:xfrm>
            <a:off x="502920" y="1965960"/>
            <a:ext cx="82296" cy="2011680"/>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67128"/>
            <a:ext cx="384048" cy="384048"/>
          </a:xfrm>
          <a:prstGeom prst="rect">
            <a:avLst/>
          </a:prstGeom>
        </p:spPr>
      </p:pic>
      <p:sp>
        <p:nvSpPr>
          <p:cNvPr id="11" name="Text 8"/>
          <p:cNvSpPr/>
          <p:nvPr/>
        </p:nvSpPr>
        <p:spPr>
          <a:xfrm>
            <a:off x="1325880" y="209397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Windows 11 pilot rollout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amber. Planned: 40 pilot laptops. Completed: 34 upgraded, 3 deferred for application compatibility and 3 awaiting user availability. Main risk: the treasury spreadsheet add-in is not yet certified. Next step: submit the phase 2 go/no-go recommendation.</a:t>
            </a:r>
            <a:endParaRPr lang="en-US" sz="1900" dirty="0"/>
          </a:p>
        </p:txBody>
      </p:sp>
      <p:sp>
        <p:nvSpPr>
          <p:cNvPr id="12"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7.824257904384958e+160" dist="2.235502258395702e+160" dir="2.0051241808265608e+188">
              <a:srgbClr val="9AB4CC">
                <a:alpha val="2.9999999999999997e+194"/>
              </a:srgbClr>
            </a:outerShdw>
          </a:effectLst>
        </p:spPr>
      </p:sp>
      <p:sp>
        <p:nvSpPr>
          <p:cNvPr id="13" name="Shape 10"/>
          <p:cNvSpPr/>
          <p:nvPr/>
        </p:nvSpPr>
        <p:spPr>
          <a:xfrm>
            <a:off x="502920" y="4160520"/>
            <a:ext cx="82296" cy="2011680"/>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61688"/>
            <a:ext cx="384048" cy="384048"/>
          </a:xfrm>
          <a:prstGeom prst="rect">
            <a:avLst/>
          </a:prstGeom>
        </p:spPr>
      </p:pic>
      <p:sp>
        <p:nvSpPr>
          <p:cNvPr id="15" name="Text 11"/>
          <p:cNvSpPr/>
          <p:nvPr/>
        </p:nvSpPr>
        <p:spPr>
          <a:xfrm>
            <a:off x="1325880" y="428853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Branch Wi-Fi upgrade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green. Access points installed at 5 of 6 planned branches; the remaining branch is delayed by landlord access approval. Budget used: 71% against planned 75%. Next step: coverage tests and branch manager sign-off.</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RECOMMENDATION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Recommendation Report</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Recommendation reports answer: Which option should management approve, why, by when, and at what cost or risk?</a:t>
            </a:r>
            <a:endParaRPr lang="en-US" sz="1650" dirty="0"/>
          </a:p>
        </p:txBody>
      </p:sp>
      <p:sp>
        <p:nvSpPr>
          <p:cNvPr id="8" name="Shape 6"/>
          <p:cNvSpPr/>
          <p:nvPr/>
        </p:nvSpPr>
        <p:spPr>
          <a:xfrm>
            <a:off x="502920" y="1965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9.936807538568897e+164" dist="2.8390878681625417e+164" dir="1.2030745084959364e+193">
              <a:srgbClr val="9AB4CC">
                <a:alpha val="2.9999999999999997e+199"/>
              </a:srgbClr>
            </a:outerShdw>
          </a:effectLst>
        </p:spPr>
      </p:sp>
      <p:sp>
        <p:nvSpPr>
          <p:cNvPr id="9" name="Shape 7"/>
          <p:cNvSpPr/>
          <p:nvPr/>
        </p:nvSpPr>
        <p:spPr>
          <a:xfrm>
            <a:off x="502920" y="1965960"/>
            <a:ext cx="82296" cy="914400"/>
          </a:xfrm>
          <a:prstGeom prst="rect">
            <a:avLst/>
          </a:prstGeom>
          <a:solidFill>
            <a:srgbClr val="0F6CBD"/>
          </a:solidFill>
          <a:ln/>
        </p:spPr>
      </p:sp>
      <p:sp>
        <p:nvSpPr>
          <p:cNvPr id="10" name="Text 8"/>
          <p:cNvSpPr/>
          <p:nvPr/>
        </p:nvSpPr>
        <p:spPr>
          <a:xfrm>
            <a:off x="777240" y="1965960"/>
            <a:ext cx="10652760" cy="914400"/>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Service desk knowledge base:  </a:t>
            </a:r>
            <a:pPr indent="0" marL="0">
              <a:lnSpc>
                <a:spcPct val="108000"/>
              </a:lnSpc>
              <a:buNone/>
            </a:pPr>
            <a:r>
              <a:rPr lang="en-US" sz="1700" dirty="0">
                <a:solidFill>
                  <a:srgbClr val="002050"/>
                </a:solidFill>
                <a:latin typeface="Aptos" pitchFamily="34" charset="0"/>
                <a:ea typeface="Aptos" pitchFamily="34" charset="-122"/>
                <a:cs typeface="Aptos" pitchFamily="34" charset="-120"/>
              </a:rPr>
              <a:t>Implement a searchable knowledge base for recurring support issues by 30 November 2026.</a:t>
            </a:r>
            <a:endParaRPr lang="en-US" sz="1800" dirty="0"/>
          </a:p>
        </p:txBody>
      </p:sp>
      <p:sp>
        <p:nvSpPr>
          <p:cNvPr id="11" name="Shape 9"/>
          <p:cNvSpPr/>
          <p:nvPr/>
        </p:nvSpPr>
        <p:spPr>
          <a:xfrm>
            <a:off x="502920" y="3108960"/>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1.26197455739825e+169" dist="3.605641592566428e+168" dir="7.218447050975619e+197">
              <a:srgbClr val="9AB4CC">
                <a:alpha val="3e+204"/>
              </a:srgbClr>
            </a:outerShdw>
          </a:effectLst>
        </p:spPr>
      </p:sp>
      <p:sp>
        <p:nvSpPr>
          <p:cNvPr id="12" name="Shape 10"/>
          <p:cNvSpPr/>
          <p:nvPr/>
        </p:nvSpPr>
        <p:spPr>
          <a:xfrm>
            <a:off x="502920" y="3108960"/>
            <a:ext cx="82296" cy="871728"/>
          </a:xfrm>
          <a:prstGeom prst="rect">
            <a:avLst/>
          </a:prstGeom>
          <a:solidFill>
            <a:srgbClr val="0F6CBD"/>
          </a:solidFill>
          <a:ln/>
        </p:spPr>
      </p:sp>
      <p:pic>
        <p:nvPicPr>
          <p:cNvPr id="1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273552"/>
            <a:ext cx="365760" cy="365760"/>
          </a:xfrm>
          <a:prstGeom prst="rect">
            <a:avLst/>
          </a:prstGeom>
        </p:spPr>
      </p:pic>
      <p:sp>
        <p:nvSpPr>
          <p:cNvPr id="14" name="Text 11"/>
          <p:cNvSpPr/>
          <p:nvPr/>
        </p:nvSpPr>
        <p:spPr>
          <a:xfrm>
            <a:off x="1280160" y="3218688"/>
            <a:ext cx="1013155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Evidence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Password resets, VPN setup, printer mapping and Teams audio issues account for 41% of first-line requests.</a:t>
            </a:r>
            <a:endParaRPr lang="en-US" sz="1900" dirty="0"/>
          </a:p>
        </p:txBody>
      </p:sp>
      <p:sp>
        <p:nvSpPr>
          <p:cNvPr id="15" name="Shape 12"/>
          <p:cNvSpPr/>
          <p:nvPr/>
        </p:nvSpPr>
        <p:spPr>
          <a:xfrm>
            <a:off x="502920" y="4181856"/>
            <a:ext cx="11183112" cy="871728"/>
          </a:xfrm>
          <a:prstGeom prst="roundRect">
            <a:avLst>
              <a:gd name="adj" fmla="val 9441"/>
            </a:avLst>
          </a:prstGeom>
          <a:solidFill>
            <a:srgbClr val="EAF4FF"/>
          </a:solidFill>
          <a:ln w="12700">
            <a:solidFill>
              <a:srgbClr val="D5E3F2"/>
            </a:solidFill>
            <a:prstDash val="solid"/>
          </a:ln>
          <a:effectLst>
            <a:outerShdw sx="100000" sy="100000" kx="0" ky="0" algn="bl" rotWithShape="0" blurRad="1.6027076878957775e+173" dist="4.579164822559364e+172" dir="4.3310682305853715e+202">
              <a:srgbClr val="9AB4CC">
                <a:alpha val="3e+209"/>
              </a:srgbClr>
            </a:outerShdw>
          </a:effectLst>
        </p:spPr>
      </p:sp>
      <p:sp>
        <p:nvSpPr>
          <p:cNvPr id="16" name="Shape 13"/>
          <p:cNvSpPr/>
          <p:nvPr/>
        </p:nvSpPr>
        <p:spPr>
          <a:xfrm>
            <a:off x="502920" y="4181856"/>
            <a:ext cx="82296" cy="871728"/>
          </a:xfrm>
          <a:prstGeom prst="rect">
            <a:avLst/>
          </a:prstGeom>
          <a:solidFill>
            <a:srgbClr val="0F6CBD"/>
          </a:solidFill>
          <a:ln/>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46448"/>
            <a:ext cx="365760" cy="365760"/>
          </a:xfrm>
          <a:prstGeom prst="rect">
            <a:avLst/>
          </a:prstGeom>
        </p:spPr>
      </p:pic>
      <p:sp>
        <p:nvSpPr>
          <p:cNvPr id="18" name="Text 14"/>
          <p:cNvSpPr/>
          <p:nvPr/>
        </p:nvSpPr>
        <p:spPr>
          <a:xfrm>
            <a:off x="1280160" y="4291584"/>
            <a:ext cx="1013155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Recommended option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Use the existing ITSM knowledge module because it avoids new licensing costs, supports approval workflows and links articles directly to tickets.</a:t>
            </a:r>
            <a:endParaRPr lang="en-US" sz="1900" dirty="0"/>
          </a:p>
        </p:txBody>
      </p:sp>
      <p:sp>
        <p:nvSpPr>
          <p:cNvPr id="19" name="Shape 15"/>
          <p:cNvSpPr/>
          <p:nvPr/>
        </p:nvSpPr>
        <p:spPr>
          <a:xfrm>
            <a:off x="502920" y="5254752"/>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2.0354387636276376e+177" dist="5.815539324650392e+176" dir="2.598640938351223e+207">
              <a:srgbClr val="9AB4CC">
                <a:alpha val="2.9999999999999996e+214"/>
              </a:srgbClr>
            </a:outerShdw>
          </a:effectLst>
        </p:spPr>
      </p:sp>
      <p:sp>
        <p:nvSpPr>
          <p:cNvPr id="20" name="Shape 16"/>
          <p:cNvSpPr/>
          <p:nvPr/>
        </p:nvSpPr>
        <p:spPr>
          <a:xfrm>
            <a:off x="502920" y="5254752"/>
            <a:ext cx="82296" cy="871728"/>
          </a:xfrm>
          <a:prstGeom prst="rect">
            <a:avLst/>
          </a:prstGeom>
          <a:solidFill>
            <a:srgbClr val="0F6CBD"/>
          </a:solidFill>
          <a:ln/>
        </p:spPr>
      </p:sp>
      <p:pic>
        <p:nvPicPr>
          <p:cNvPr id="2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419344"/>
            <a:ext cx="365760" cy="365760"/>
          </a:xfrm>
          <a:prstGeom prst="rect">
            <a:avLst/>
          </a:prstGeom>
        </p:spPr>
      </p:pic>
      <p:sp>
        <p:nvSpPr>
          <p:cNvPr id="22" name="Text 17"/>
          <p:cNvSpPr/>
          <p:nvPr/>
        </p:nvSpPr>
        <p:spPr>
          <a:xfrm>
            <a:off x="1280160" y="5364480"/>
            <a:ext cx="1013155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Approval requested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Assign two analysts for article creation and require monthly review by team leads.</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Resources for Getting Information</a:t>
            </a:r>
            <a:endParaRPr lang="en-US" sz="3400" dirty="0"/>
          </a:p>
        </p:txBody>
      </p:sp>
      <p:sp>
        <p:nvSpPr>
          <p:cNvPr id="7" name="Text 5"/>
          <p:cNvSpPr/>
          <p:nvPr/>
        </p:nvSpPr>
        <p:spPr>
          <a:xfrm>
            <a:off x="502920" y="1828800"/>
            <a:ext cx="11183112" cy="466344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Firstly, all information which is available in the organisation must always be seen as confidential information. When information is made available to competitors, they may gain the upper hand and copy concepts and ideas from the organisation — which could lead to serious financial implications.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Information centres in the organisation — such as operations, finance, research and development, and human resources — will have information about the organisation and will be able to give an authorised individual all the information they may need.</a:t>
            </a:r>
            <a:endParaRPr lang="en-US" sz="19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663440"/>
            <a:ext cx="914400" cy="9144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Information Sourced From the Organisation</a:t>
            </a:r>
            <a:endParaRPr lang="en-US" sz="3400" dirty="0"/>
          </a:p>
        </p:txBody>
      </p:sp>
      <p:sp>
        <p:nvSpPr>
          <p:cNvPr id="7" name="Text 5"/>
          <p:cNvSpPr/>
          <p:nvPr/>
        </p:nvSpPr>
        <p:spPr>
          <a:xfrm>
            <a:off x="502920" y="1600200"/>
            <a:ext cx="11183112" cy="411480"/>
          </a:xfrm>
          <a:prstGeom prst="rect">
            <a:avLst/>
          </a:prstGeom>
          <a:noFill/>
          <a:ln/>
        </p:spPr>
        <p:txBody>
          <a:bodyPr wrap="square" rtlCol="0" anchor="ctr"/>
          <a:lstStyle/>
          <a:p>
            <a:pPr indent="0" marL="0">
              <a:buNone/>
            </a:pPr>
            <a:r>
              <a:rPr lang="en-US" sz="1750" dirty="0">
                <a:solidFill>
                  <a:srgbClr val="6B7280"/>
                </a:solidFill>
                <a:latin typeface="Aptos" pitchFamily="34" charset="0"/>
                <a:ea typeface="Aptos" pitchFamily="34" charset="-122"/>
                <a:cs typeface="Aptos" pitchFamily="34" charset="-120"/>
              </a:rPr>
              <a:t>Information can include, but is not limited to:</a:t>
            </a:r>
            <a:endParaRPr lang="en-US" sz="17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49424"/>
            <a:ext cx="365760" cy="365760"/>
          </a:xfrm>
          <a:prstGeom prst="rect">
            <a:avLst/>
          </a:prstGeom>
        </p:spPr>
      </p:pic>
      <p:sp>
        <p:nvSpPr>
          <p:cNvPr id="9" name="Text 6"/>
          <p:cNvSpPr/>
          <p:nvPr/>
        </p:nvSpPr>
        <p:spPr>
          <a:xfrm>
            <a:off x="1124712" y="2121408"/>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Financial statements / reports</a:t>
            </a:r>
            <a:endParaRPr lang="en-US" sz="175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907792"/>
            <a:ext cx="365760" cy="365760"/>
          </a:xfrm>
          <a:prstGeom prst="rect">
            <a:avLst/>
          </a:prstGeom>
        </p:spPr>
      </p:pic>
      <p:sp>
        <p:nvSpPr>
          <p:cNvPr id="11" name="Text 7"/>
          <p:cNvSpPr/>
          <p:nvPr/>
        </p:nvSpPr>
        <p:spPr>
          <a:xfrm>
            <a:off x="1124712" y="2779776"/>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Research and development activities</a:t>
            </a:r>
            <a:endParaRPr lang="en-US" sz="175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66160"/>
            <a:ext cx="365760" cy="365760"/>
          </a:xfrm>
          <a:prstGeom prst="rect">
            <a:avLst/>
          </a:prstGeom>
        </p:spPr>
      </p:pic>
      <p:sp>
        <p:nvSpPr>
          <p:cNvPr id="13" name="Text 8"/>
          <p:cNvSpPr/>
          <p:nvPr/>
        </p:nvSpPr>
        <p:spPr>
          <a:xfrm>
            <a:off x="1124712" y="3438144"/>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Marketing and advertising strategies</a:t>
            </a:r>
            <a:endParaRPr lang="en-US" sz="175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224528"/>
            <a:ext cx="365760" cy="365760"/>
          </a:xfrm>
          <a:prstGeom prst="rect">
            <a:avLst/>
          </a:prstGeom>
        </p:spPr>
      </p:pic>
      <p:sp>
        <p:nvSpPr>
          <p:cNvPr id="15" name="Text 9"/>
          <p:cNvSpPr/>
          <p:nvPr/>
        </p:nvSpPr>
        <p:spPr>
          <a:xfrm>
            <a:off x="1124712" y="4096512"/>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Human resource needs / expectations</a:t>
            </a:r>
            <a:endParaRPr lang="en-US" sz="17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82896"/>
            <a:ext cx="365760" cy="365760"/>
          </a:xfrm>
          <a:prstGeom prst="rect">
            <a:avLst/>
          </a:prstGeom>
        </p:spPr>
      </p:pic>
      <p:sp>
        <p:nvSpPr>
          <p:cNvPr id="17" name="Text 10"/>
          <p:cNvSpPr/>
          <p:nvPr/>
        </p:nvSpPr>
        <p:spPr>
          <a:xfrm>
            <a:off x="1124712" y="4754880"/>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Company vision regarding the long-term expectations and future of the organisation</a:t>
            </a:r>
            <a:endParaRPr lang="en-US" sz="175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541264"/>
            <a:ext cx="365760" cy="365760"/>
          </a:xfrm>
          <a:prstGeom prst="rect">
            <a:avLst/>
          </a:prstGeom>
        </p:spPr>
      </p:pic>
      <p:sp>
        <p:nvSpPr>
          <p:cNvPr id="19" name="Text 11"/>
          <p:cNvSpPr/>
          <p:nvPr/>
        </p:nvSpPr>
        <p:spPr>
          <a:xfrm>
            <a:off x="1124712" y="5413248"/>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Project-specific information of certain aspects of projects undertaken by the organisation</a:t>
            </a:r>
            <a:endParaRPr lang="en-US" sz="1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Procedures for Distributing Information</a:t>
            </a:r>
            <a:endParaRPr lang="en-US" sz="3400" dirty="0"/>
          </a:p>
        </p:txBody>
      </p:sp>
      <p:sp>
        <p:nvSpPr>
          <p:cNvPr id="7" name="Text 5"/>
          <p:cNvSpPr/>
          <p:nvPr/>
        </p:nvSpPr>
        <p:spPr>
          <a:xfrm>
            <a:off x="502920" y="1600200"/>
            <a:ext cx="11183112" cy="1737360"/>
          </a:xfrm>
          <a:prstGeom prst="rect">
            <a:avLst/>
          </a:prstGeom>
          <a:noFill/>
          <a:ln/>
        </p:spPr>
        <p:txBody>
          <a:bodyPr wrap="square" rtlCol="0" anchor="t"/>
          <a:lstStyle/>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Distributing information about the organisation must be handled in a very delicate manner and the recipients of such information must be selected carefully.
</a:t>
            </a:r>
            <a:endParaRPr lang="en-US" sz="1650" dirty="0"/>
          </a:p>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Depending on the severity of the information and the level of security and/or risk attached to it, recipients should be graded on whether or not they are liable to obtain such information.</a:t>
            </a:r>
            <a:endParaRPr lang="en-US" sz="1650" dirty="0"/>
          </a:p>
        </p:txBody>
      </p:sp>
      <p:sp>
        <p:nvSpPr>
          <p:cNvPr id="8" name="Shape 6"/>
          <p:cNvSpPr/>
          <p:nvPr/>
        </p:nvSpPr>
        <p:spPr>
          <a:xfrm>
            <a:off x="502920" y="3429000"/>
            <a:ext cx="11183112" cy="795528"/>
          </a:xfrm>
          <a:prstGeom prst="roundRect">
            <a:avLst>
              <a:gd name="adj" fmla="val 10345"/>
            </a:avLst>
          </a:prstGeom>
          <a:solidFill>
            <a:srgbClr val="FFFFFF"/>
          </a:solidFill>
          <a:ln w="12700">
            <a:solidFill>
              <a:srgbClr val="D5E3F2"/>
            </a:solidFill>
            <a:prstDash val="solid"/>
          </a:ln>
          <a:effectLst>
            <a:outerShdw sx="100000" sy="100000" kx="0" ky="0" algn="bl" rotWithShape="0" blurRad="2.5850072298071e+181" dist="7.385734942305998e+180" dir="1.5591845630107338e+212">
              <a:srgbClr val="9AB4CC">
                <a:alpha val="3e+219"/>
              </a:srgbClr>
            </a:outerShdw>
          </a:effectLst>
        </p:spPr>
      </p:sp>
      <p:sp>
        <p:nvSpPr>
          <p:cNvPr id="9" name="Shape 7"/>
          <p:cNvSpPr/>
          <p:nvPr/>
        </p:nvSpPr>
        <p:spPr>
          <a:xfrm>
            <a:off x="502920" y="3429000"/>
            <a:ext cx="82296" cy="79552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593592"/>
            <a:ext cx="365760" cy="365760"/>
          </a:xfrm>
          <a:prstGeom prst="rect">
            <a:avLst/>
          </a:prstGeom>
        </p:spPr>
      </p:pic>
      <p:sp>
        <p:nvSpPr>
          <p:cNvPr id="11" name="Text 8"/>
          <p:cNvSpPr/>
          <p:nvPr/>
        </p:nvSpPr>
        <p:spPr>
          <a:xfrm>
            <a:off x="1280160" y="3538728"/>
            <a:ext cx="10131552" cy="57607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Be careful with sharing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You must handle company information delicately and be very picky about who you send it to.</a:t>
            </a:r>
            <a:endParaRPr lang="en-US" sz="1800" dirty="0"/>
          </a:p>
        </p:txBody>
      </p:sp>
      <p:sp>
        <p:nvSpPr>
          <p:cNvPr id="12" name="Shape 9"/>
          <p:cNvSpPr/>
          <p:nvPr/>
        </p:nvSpPr>
        <p:spPr>
          <a:xfrm>
            <a:off x="502920" y="4425696"/>
            <a:ext cx="11183112" cy="795528"/>
          </a:xfrm>
          <a:prstGeom prst="roundRect">
            <a:avLst>
              <a:gd name="adj" fmla="val 10345"/>
            </a:avLst>
          </a:prstGeom>
          <a:solidFill>
            <a:srgbClr val="EAF4FF"/>
          </a:solidFill>
          <a:ln w="12700">
            <a:solidFill>
              <a:srgbClr val="D5E3F2"/>
            </a:solidFill>
            <a:prstDash val="solid"/>
          </a:ln>
          <a:effectLst>
            <a:outerShdw sx="100000" sy="100000" kx="0" ky="0" algn="bl" rotWithShape="0" blurRad="3.282959181855017e+185" dist="9.379883376728618e+184" dir="9.355107378064403e+216">
              <a:srgbClr val="9AB4CC">
                <a:alpha val="2.9999999999999997e+224"/>
              </a:srgbClr>
            </a:outerShdw>
          </a:effectLst>
        </p:spPr>
      </p:sp>
      <p:sp>
        <p:nvSpPr>
          <p:cNvPr id="13" name="Shape 10"/>
          <p:cNvSpPr/>
          <p:nvPr/>
        </p:nvSpPr>
        <p:spPr>
          <a:xfrm>
            <a:off x="502920" y="4425696"/>
            <a:ext cx="82296" cy="79552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590288"/>
            <a:ext cx="365760" cy="365760"/>
          </a:xfrm>
          <a:prstGeom prst="rect">
            <a:avLst/>
          </a:prstGeom>
        </p:spPr>
      </p:pic>
      <p:sp>
        <p:nvSpPr>
          <p:cNvPr id="15" name="Text 11"/>
          <p:cNvSpPr/>
          <p:nvPr/>
        </p:nvSpPr>
        <p:spPr>
          <a:xfrm>
            <a:off x="1280160" y="4535424"/>
            <a:ext cx="10131552" cy="57607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Check permission levels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Before sharing anything sensitive or risky, check if the person has the right clearance or permission level to see it.</a:t>
            </a:r>
            <a:endParaRPr lang="en-US" sz="1800" dirty="0"/>
          </a:p>
        </p:txBody>
      </p:sp>
      <p:sp>
        <p:nvSpPr>
          <p:cNvPr id="16" name="Shape 12"/>
          <p:cNvSpPr/>
          <p:nvPr/>
        </p:nvSpPr>
        <p:spPr>
          <a:xfrm>
            <a:off x="502920" y="5422392"/>
            <a:ext cx="11183112" cy="795528"/>
          </a:xfrm>
          <a:prstGeom prst="roundRect">
            <a:avLst>
              <a:gd name="adj" fmla="val 10345"/>
            </a:avLst>
          </a:prstGeom>
          <a:solidFill>
            <a:srgbClr val="FFFFFF"/>
          </a:solidFill>
          <a:ln w="12700">
            <a:solidFill>
              <a:srgbClr val="D5E3F2"/>
            </a:solidFill>
            <a:prstDash val="solid"/>
          </a:ln>
          <a:effectLst>
            <a:outerShdw sx="100000" sy="100000" kx="0" ky="0" algn="bl" rotWithShape="0" blurRad="4.1693581609558713e+189" dist="1.1912451888445345e+189" dir="5.613064426838642e+221">
              <a:srgbClr val="9AB4CC">
                <a:alpha val="2.9999999999999994e+229"/>
              </a:srgbClr>
            </a:outerShdw>
          </a:effectLst>
        </p:spPr>
      </p:sp>
      <p:sp>
        <p:nvSpPr>
          <p:cNvPr id="17" name="Shape 13"/>
          <p:cNvSpPr/>
          <p:nvPr/>
        </p:nvSpPr>
        <p:spPr>
          <a:xfrm>
            <a:off x="502920" y="5422392"/>
            <a:ext cx="82296" cy="79552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586984"/>
            <a:ext cx="365760" cy="365760"/>
          </a:xfrm>
          <a:prstGeom prst="rect">
            <a:avLst/>
          </a:prstGeom>
        </p:spPr>
      </p:pic>
      <p:sp>
        <p:nvSpPr>
          <p:cNvPr id="19" name="Text 14"/>
          <p:cNvSpPr/>
          <p:nvPr/>
        </p:nvSpPr>
        <p:spPr>
          <a:xfrm>
            <a:off x="1280160" y="5532120"/>
            <a:ext cx="10131552" cy="57607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Share only what is needed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Employees should only get information that they actually need to do their specific job.</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 What NOT to Do (Examples of Mistakes)</a:t>
            </a:r>
            <a:endParaRPr lang="en-US" sz="3400" dirty="0"/>
          </a:p>
        </p:txBody>
      </p:sp>
      <p:sp>
        <p:nvSpPr>
          <p:cNvPr id="7" name="Shape 5"/>
          <p:cNvSpPr/>
          <p:nvPr/>
        </p:nvSpPr>
        <p:spPr>
          <a:xfrm>
            <a:off x="502920" y="1691640"/>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5.295084864413956e+193" dist="1.5128813898325588e+193" dir="3.367838656103185e+226">
              <a:srgbClr val="9AB4CC">
                <a:alpha val="2.9999999999999995e+234"/>
              </a:srgbClr>
            </a:outerShdw>
          </a:effectLst>
        </p:spPr>
      </p:sp>
      <p:sp>
        <p:nvSpPr>
          <p:cNvPr id="8" name="Shape 6"/>
          <p:cNvSpPr/>
          <p:nvPr/>
        </p:nvSpPr>
        <p:spPr>
          <a:xfrm>
            <a:off x="502920" y="1691640"/>
            <a:ext cx="82296" cy="1298448"/>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Do not send to everyone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Never blast a company-wide email containing private client data or financial reports.</a:t>
            </a:r>
            <a:endParaRPr lang="en-US" sz="1950" dirty="0"/>
          </a:p>
        </p:txBody>
      </p:sp>
      <p:sp>
        <p:nvSpPr>
          <p:cNvPr id="11" name="Shape 8"/>
          <p:cNvSpPr/>
          <p:nvPr/>
        </p:nvSpPr>
        <p:spPr>
          <a:xfrm>
            <a:off x="502920" y="3191256"/>
            <a:ext cx="11183112" cy="1298448"/>
          </a:xfrm>
          <a:prstGeom prst="roundRect">
            <a:avLst>
              <a:gd name="adj" fmla="val 6338"/>
            </a:avLst>
          </a:prstGeom>
          <a:solidFill>
            <a:srgbClr val="EAF4FF"/>
          </a:solidFill>
          <a:ln w="12700">
            <a:solidFill>
              <a:srgbClr val="D5E3F2"/>
            </a:solidFill>
            <a:prstDash val="solid"/>
          </a:ln>
          <a:effectLst>
            <a:outerShdw sx="100000" sy="100000" kx="0" ky="0" algn="bl" rotWithShape="0" blurRad="6.724757777805725e+197" dist="1.9213593650873497e+197" dir="2.020703193661911e+231">
              <a:srgbClr val="9AB4CC">
                <a:alpha val="2.9999999999999994e+239"/>
              </a:srgbClr>
            </a:outerShdw>
          </a:effectLst>
        </p:spPr>
      </p:sp>
      <p:sp>
        <p:nvSpPr>
          <p:cNvPr id="12" name="Shape 9"/>
          <p:cNvSpPr/>
          <p:nvPr/>
        </p:nvSpPr>
        <p:spPr>
          <a:xfrm>
            <a:off x="502920" y="3191256"/>
            <a:ext cx="82296" cy="1298448"/>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355848"/>
            <a:ext cx="365760" cy="365760"/>
          </a:xfrm>
          <a:prstGeom prst="rect">
            <a:avLst/>
          </a:prstGeom>
        </p:spPr>
      </p:pic>
      <p:sp>
        <p:nvSpPr>
          <p:cNvPr id="14" name="Text 10"/>
          <p:cNvSpPr/>
          <p:nvPr/>
        </p:nvSpPr>
        <p:spPr>
          <a:xfrm>
            <a:off x="1280160" y="3300984"/>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Do not bypass security tiers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Never give a junior staff member access to restricted server folders without official permission.</a:t>
            </a:r>
            <a:endParaRPr lang="en-US" sz="1950" dirty="0"/>
          </a:p>
        </p:txBody>
      </p:sp>
      <p:sp>
        <p:nvSpPr>
          <p:cNvPr id="15" name="Shape 11"/>
          <p:cNvSpPr/>
          <p:nvPr/>
        </p:nvSpPr>
        <p:spPr>
          <a:xfrm>
            <a:off x="502920" y="4690872"/>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8.54044237781327e+201" dist="2.440126393660934e+201" dir="1.2124219161971466e+236">
              <a:srgbClr val="9AB4CC">
                <a:alpha val="2.999999999999999e+244"/>
              </a:srgbClr>
            </a:outerShdw>
          </a:effectLst>
        </p:spPr>
      </p:sp>
      <p:sp>
        <p:nvSpPr>
          <p:cNvPr id="16" name="Shape 12"/>
          <p:cNvSpPr/>
          <p:nvPr/>
        </p:nvSpPr>
        <p:spPr>
          <a:xfrm>
            <a:off x="502920" y="4690872"/>
            <a:ext cx="82296" cy="1298448"/>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855464"/>
            <a:ext cx="365760" cy="365760"/>
          </a:xfrm>
          <a:prstGeom prst="rect">
            <a:avLst/>
          </a:prstGeom>
        </p:spPr>
      </p:pic>
      <p:sp>
        <p:nvSpPr>
          <p:cNvPr id="18" name="Text 13"/>
          <p:cNvSpPr/>
          <p:nvPr/>
        </p:nvSpPr>
        <p:spPr>
          <a:xfrm>
            <a:off x="1280160" y="4800600"/>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Do not share irrelevant data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Never send a software developer a file full of HR medical records just because they asked for a “sample file”.</a:t>
            </a:r>
            <a:endParaRPr lang="en-US" sz="1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Security Practice — Avoid vs Use</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83112" cy="914400"/>
        </p:xfrm>
        <a:graphic>
          <a:graphicData uri="http://schemas.openxmlformats.org/drawingml/2006/table">
            <a:tbl>
              <a:tblPr/>
              <a:tblGrid>
                <a:gridCol w="3749040"/>
                <a:gridCol w="4023360"/>
                <a:gridCol w="3410712"/>
              </a:tblGrid>
              <a:tr h="1005840">
                <a:tc>
                  <a:txBody>
                    <a:bodyPr/>
                    <a:lstStyle/>
                    <a:p>
                      <a:pPr indent="0" marL="0">
                        <a:buNone/>
                      </a:pPr>
                      <a:r>
                        <a:rPr lang="en-US" sz="1450" b="1" dirty="0">
                          <a:solidFill>
                            <a:srgbClr val="FFFFFF"/>
                          </a:solidFill>
                          <a:latin typeface="Aptos Display" pitchFamily="34" charset="0"/>
                          <a:ea typeface="Aptos Display" pitchFamily="34" charset="-122"/>
                          <a:cs typeface="Aptos Display" pitchFamily="34" charset="-120"/>
                        </a:rPr>
                        <a:t>Poor Security Practice (Avoid)</a:t>
                      </a:r>
                      <a:endParaRPr lang="en-US" sz="14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50" b="1" dirty="0">
                          <a:solidFill>
                            <a:srgbClr val="FFFFFF"/>
                          </a:solidFill>
                          <a:latin typeface="Aptos Display" pitchFamily="34" charset="0"/>
                          <a:ea typeface="Aptos Display" pitchFamily="34" charset="-122"/>
                          <a:cs typeface="Aptos Display" pitchFamily="34" charset="-120"/>
                        </a:rPr>
                        <a:t>Correct Security Practice (Use)</a:t>
                      </a:r>
                      <a:endParaRPr lang="en-US" sz="14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50" b="1" dirty="0">
                          <a:solidFill>
                            <a:srgbClr val="FFFFFF"/>
                          </a:solidFill>
                          <a:latin typeface="Aptos Display" pitchFamily="34" charset="0"/>
                          <a:ea typeface="Aptos Display" pitchFamily="34" charset="-122"/>
                          <a:cs typeface="Aptos Display" pitchFamily="34" charset="-120"/>
                        </a:rPr>
                        <a:t>Why the Correct Way Matters</a:t>
                      </a:r>
                      <a:endParaRPr lang="en-US" sz="14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05840">
                <a:tc>
                  <a:txBody>
                    <a:bodyPr/>
                    <a:lstStyle/>
                    <a:p>
                      <a:pPr indent="0" marL="0">
                        <a:buNone/>
                      </a:pPr>
                      <a:r>
                        <a:rPr lang="en-US" sz="1450" dirty="0">
                          <a:solidFill>
                            <a:srgbClr val="002050"/>
                          </a:solidFill>
                          <a:latin typeface="Aptos" pitchFamily="34" charset="0"/>
                          <a:ea typeface="Aptos" pitchFamily="34" charset="-122"/>
                          <a:cs typeface="Aptos" pitchFamily="34" charset="-120"/>
                        </a:rPr>
                        <a:t>Emailing a database password to a teammate over unsecure chat.</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Storing the password in an encrypted vault with restricted access.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Keeps data safe and limits who can view it.</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05840">
                <a:tc>
                  <a:txBody>
                    <a:bodyPr/>
                    <a:lstStyle/>
                    <a:p>
                      <a:pPr indent="0" marL="0">
                        <a:buNone/>
                      </a:pPr>
                      <a:r>
                        <a:rPr lang="en-US" sz="1450" dirty="0">
                          <a:solidFill>
                            <a:srgbClr val="002050"/>
                          </a:solidFill>
                          <a:latin typeface="Aptos" pitchFamily="34" charset="0"/>
                          <a:ea typeface="Aptos" pitchFamily="34" charset="-122"/>
                          <a:cs typeface="Aptos" pitchFamily="34" charset="-120"/>
                        </a:rPr>
                        <a:t>Giving all employees admin rights to the entire network.</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Using the “Principle of Least Privilege” (giving only required access).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Prevents accidental data leaks or virus spreads.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05840">
                <a:tc>
                  <a:txBody>
                    <a:bodyPr/>
                    <a:lstStyle/>
                    <a:p>
                      <a:pPr indent="0" marL="0">
                        <a:buNone/>
                      </a:pPr>
                      <a:r>
                        <a:rPr lang="en-US" sz="1450" dirty="0">
                          <a:solidFill>
                            <a:srgbClr val="002050"/>
                          </a:solidFill>
                          <a:latin typeface="Aptos" pitchFamily="34" charset="0"/>
                          <a:ea typeface="Aptos" pitchFamily="34" charset="-122"/>
                          <a:cs typeface="Aptos" pitchFamily="34" charset="-120"/>
                        </a:rPr>
                        <a:t>Sharing full client profiles with a third-party vendor.</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Sending only the specific, anonymized data needed for the project.</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Protects privacy and follows strict security laws.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Verifying Reported Information</a:t>
            </a:r>
            <a:endParaRPr lang="en-US" sz="3400" dirty="0"/>
          </a:p>
        </p:txBody>
      </p:sp>
      <p:sp>
        <p:nvSpPr>
          <p:cNvPr id="7" name="Text 5"/>
          <p:cNvSpPr/>
          <p:nvPr/>
        </p:nvSpPr>
        <p:spPr>
          <a:xfrm>
            <a:off x="502920" y="1600200"/>
            <a:ext cx="11183112" cy="105156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Before any report is sent to a person who will proof it and ensure it is correct, the originator is required to double-check that all the information given in the report is in line with the stipulated requirements of both the target audience and the required outcomes of the report.</a:t>
            </a:r>
            <a:endParaRPr lang="en-US" sz="1550" dirty="0"/>
          </a:p>
        </p:txBody>
      </p:sp>
      <p:sp>
        <p:nvSpPr>
          <p:cNvPr id="8" name="Shape 6"/>
          <p:cNvSpPr/>
          <p:nvPr/>
        </p:nvSpPr>
        <p:spPr>
          <a:xfrm>
            <a:off x="502920" y="2743200"/>
            <a:ext cx="11183112" cy="729234"/>
          </a:xfrm>
          <a:prstGeom prst="roundRect">
            <a:avLst>
              <a:gd name="adj" fmla="val 11285"/>
            </a:avLst>
          </a:prstGeom>
          <a:solidFill>
            <a:srgbClr val="FFFFFF"/>
          </a:solidFill>
          <a:ln w="12700">
            <a:solidFill>
              <a:srgbClr val="D5E3F2"/>
            </a:solidFill>
            <a:prstDash val="solid"/>
          </a:ln>
          <a:effectLst>
            <a:outerShdw sx="100000" sy="100000" kx="0" ky="0" algn="bl" rotWithShape="0" blurRad="1.0846361819822852e+206" dist="3.0989605199493864e+205" dir="7.27453149718288e+240">
              <a:srgbClr val="9AB4CC">
                <a:alpha val="2.999999999999999e+249"/>
              </a:srgbClr>
            </a:outerShdw>
          </a:effectLst>
        </p:spPr>
      </p:sp>
      <p:sp>
        <p:nvSpPr>
          <p:cNvPr id="9" name="Shape 7"/>
          <p:cNvSpPr/>
          <p:nvPr/>
        </p:nvSpPr>
        <p:spPr>
          <a:xfrm>
            <a:off x="502920" y="2743200"/>
            <a:ext cx="82296" cy="72923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907792"/>
            <a:ext cx="365760" cy="365760"/>
          </a:xfrm>
          <a:prstGeom prst="rect">
            <a:avLst/>
          </a:prstGeom>
        </p:spPr>
      </p:pic>
      <p:sp>
        <p:nvSpPr>
          <p:cNvPr id="11" name="Text 8"/>
          <p:cNvSpPr/>
          <p:nvPr/>
        </p:nvSpPr>
        <p:spPr>
          <a:xfrm>
            <a:off x="1280160" y="2852928"/>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Double-check your work first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Before you hand your report to anyone else, you must verify that it matches what the audience wants and hits the main goals.</a:t>
            </a:r>
            <a:endParaRPr lang="en-US" sz="1750" dirty="0"/>
          </a:p>
        </p:txBody>
      </p:sp>
      <p:sp>
        <p:nvSpPr>
          <p:cNvPr id="12" name="Shape 9"/>
          <p:cNvSpPr/>
          <p:nvPr/>
        </p:nvSpPr>
        <p:spPr>
          <a:xfrm>
            <a:off x="502920" y="3673602"/>
            <a:ext cx="11183112" cy="729234"/>
          </a:xfrm>
          <a:prstGeom prst="roundRect">
            <a:avLst>
              <a:gd name="adj" fmla="val 11285"/>
            </a:avLst>
          </a:prstGeom>
          <a:solidFill>
            <a:srgbClr val="EAF4FF"/>
          </a:solidFill>
          <a:ln w="12700">
            <a:solidFill>
              <a:srgbClr val="D5E3F2"/>
            </a:solidFill>
            <a:prstDash val="solid"/>
          </a:ln>
          <a:effectLst>
            <a:outerShdw sx="100000" sy="100000" kx="0" ky="0" algn="bl" rotWithShape="0" blurRad="1.3774879511175023e+210" dist="3.9356798603357206e+209" dir="4.364718898309728e+245">
              <a:srgbClr val="9AB4CC">
                <a:alpha val="2.999999999999999e+254"/>
              </a:srgbClr>
            </a:outerShdw>
          </a:effectLst>
        </p:spPr>
      </p:sp>
      <p:sp>
        <p:nvSpPr>
          <p:cNvPr id="13" name="Shape 10"/>
          <p:cNvSpPr/>
          <p:nvPr/>
        </p:nvSpPr>
        <p:spPr>
          <a:xfrm>
            <a:off x="502920" y="3673602"/>
            <a:ext cx="82296" cy="72923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38194"/>
            <a:ext cx="365760" cy="365760"/>
          </a:xfrm>
          <a:prstGeom prst="rect">
            <a:avLst/>
          </a:prstGeom>
        </p:spPr>
      </p:pic>
      <p:sp>
        <p:nvSpPr>
          <p:cNvPr id="15" name="Text 11"/>
          <p:cNvSpPr/>
          <p:nvPr/>
        </p:nvSpPr>
        <p:spPr>
          <a:xfrm>
            <a:off x="1280160" y="3783330"/>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Get a coworker to check it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Have another person read your report using the project checklist to find mistakes, missing facts, or unfair opinions.</a:t>
            </a:r>
            <a:endParaRPr lang="en-US" sz="1750" dirty="0"/>
          </a:p>
        </p:txBody>
      </p:sp>
      <p:sp>
        <p:nvSpPr>
          <p:cNvPr id="16" name="Shape 12"/>
          <p:cNvSpPr/>
          <p:nvPr/>
        </p:nvSpPr>
        <p:spPr>
          <a:xfrm>
            <a:off x="502920" y="4604004"/>
            <a:ext cx="11183112" cy="729234"/>
          </a:xfrm>
          <a:prstGeom prst="roundRect">
            <a:avLst>
              <a:gd name="adj" fmla="val 11285"/>
            </a:avLst>
          </a:prstGeom>
          <a:solidFill>
            <a:srgbClr val="FFFFFF"/>
          </a:solidFill>
          <a:ln w="12700">
            <a:solidFill>
              <a:srgbClr val="D5E3F2"/>
            </a:solidFill>
            <a:prstDash val="solid"/>
          </a:ln>
          <a:effectLst>
            <a:outerShdw sx="100000" sy="100000" kx="0" ky="0" algn="bl" rotWithShape="0" blurRad="1.7494096979192279e+214" dist="4.9983134226263654e+213" dir="2.6188313389858368e+250">
              <a:srgbClr val="9AB4CC">
                <a:alpha val="2.999999999999999e+259"/>
              </a:srgbClr>
            </a:outerShdw>
          </a:effectLst>
        </p:spPr>
      </p:sp>
      <p:sp>
        <p:nvSpPr>
          <p:cNvPr id="17" name="Shape 13"/>
          <p:cNvSpPr/>
          <p:nvPr/>
        </p:nvSpPr>
        <p:spPr>
          <a:xfrm>
            <a:off x="502920" y="4604004"/>
            <a:ext cx="82296" cy="72923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768596"/>
            <a:ext cx="365760" cy="365760"/>
          </a:xfrm>
          <a:prstGeom prst="rect">
            <a:avLst/>
          </a:prstGeom>
        </p:spPr>
      </p:pic>
      <p:sp>
        <p:nvSpPr>
          <p:cNvPr id="19" name="Text 14"/>
          <p:cNvSpPr/>
          <p:nvPr/>
        </p:nvSpPr>
        <p:spPr>
          <a:xfrm>
            <a:off x="1280160" y="4713732"/>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Send it to your boss early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Give the report to your department head for final approval at least one week early so they have time to give feedback.</a:t>
            </a:r>
            <a:endParaRPr lang="en-US" sz="1750" dirty="0"/>
          </a:p>
        </p:txBody>
      </p:sp>
      <p:sp>
        <p:nvSpPr>
          <p:cNvPr id="20" name="Shape 15"/>
          <p:cNvSpPr/>
          <p:nvPr/>
        </p:nvSpPr>
        <p:spPr>
          <a:xfrm>
            <a:off x="502920" y="5534406"/>
            <a:ext cx="11183112" cy="729234"/>
          </a:xfrm>
          <a:prstGeom prst="roundRect">
            <a:avLst>
              <a:gd name="adj" fmla="val 11285"/>
            </a:avLst>
          </a:prstGeom>
          <a:solidFill>
            <a:srgbClr val="EAF4FF"/>
          </a:solidFill>
          <a:ln w="12700">
            <a:solidFill>
              <a:srgbClr val="D5E3F2"/>
            </a:solidFill>
            <a:prstDash val="solid"/>
          </a:ln>
          <a:effectLst>
            <a:outerShdw sx="100000" sy="100000" kx="0" ky="0" algn="bl" rotWithShape="0" blurRad="2.2217503163574194e+218" dist="6.347858046735484e+217" dir="1.571298803391502e+255">
              <a:srgbClr val="9AB4CC">
                <a:alpha val="2.999999999999999e+264"/>
              </a:srgbClr>
            </a:outerShdw>
          </a:effectLst>
        </p:spPr>
      </p:sp>
      <p:sp>
        <p:nvSpPr>
          <p:cNvPr id="21" name="Shape 16"/>
          <p:cNvSpPr/>
          <p:nvPr/>
        </p:nvSpPr>
        <p:spPr>
          <a:xfrm>
            <a:off x="502920" y="5534406"/>
            <a:ext cx="82296" cy="72923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698998"/>
            <a:ext cx="365760" cy="365760"/>
          </a:xfrm>
          <a:prstGeom prst="rect">
            <a:avLst/>
          </a:prstGeom>
        </p:spPr>
      </p:pic>
      <p:sp>
        <p:nvSpPr>
          <p:cNvPr id="23" name="Text 17"/>
          <p:cNvSpPr/>
          <p:nvPr/>
        </p:nvSpPr>
        <p:spPr>
          <a:xfrm>
            <a:off x="1280160" y="5644134"/>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Follow company rules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Stick to the official company steps for gathering and sharing data so your report has just the right amount of information.</a:t>
            </a:r>
            <a:endParaRPr lang="en-US" sz="1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 What NOT to Do (Examples of Mistakes)</a:t>
            </a:r>
            <a:endParaRPr lang="en-US" sz="3400" dirty="0"/>
          </a:p>
        </p:txBody>
      </p:sp>
      <p:sp>
        <p:nvSpPr>
          <p:cNvPr id="7" name="Shape 5"/>
          <p:cNvSpPr/>
          <p:nvPr/>
        </p:nvSpPr>
        <p:spPr>
          <a:xfrm>
            <a:off x="502920" y="1691640"/>
            <a:ext cx="11183112" cy="957834"/>
          </a:xfrm>
          <a:prstGeom prst="roundRect">
            <a:avLst>
              <a:gd name="adj" fmla="val 8592"/>
            </a:avLst>
          </a:prstGeom>
          <a:solidFill>
            <a:srgbClr val="FFFFFF"/>
          </a:solidFill>
          <a:ln w="12700">
            <a:solidFill>
              <a:srgbClr val="D5E3F2"/>
            </a:solidFill>
            <a:prstDash val="solid"/>
          </a:ln>
          <a:effectLst>
            <a:outerShdw sx="100000" sy="100000" kx="0" ky="0" algn="bl" rotWithShape="0" blurRad="2.8216229017739227e+222" dist="8.061779719354066e+221" dir="9.427792820349012e+259">
              <a:srgbClr val="9AB4CC">
                <a:alpha val="2.999999999999999e+269"/>
              </a:srgbClr>
            </a:outerShdw>
          </a:effectLst>
        </p:spPr>
      </p:sp>
      <p:sp>
        <p:nvSpPr>
          <p:cNvPr id="8" name="Shape 6"/>
          <p:cNvSpPr/>
          <p:nvPr/>
        </p:nvSpPr>
        <p:spPr>
          <a:xfrm>
            <a:off x="502920" y="1691640"/>
            <a:ext cx="82296" cy="957834"/>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skip your own review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write a report and hand it over immediately without reading through it yourself first.</a:t>
            </a:r>
            <a:endParaRPr lang="en-US" sz="1850" dirty="0"/>
          </a:p>
        </p:txBody>
      </p:sp>
      <p:sp>
        <p:nvSpPr>
          <p:cNvPr id="11" name="Shape 8"/>
          <p:cNvSpPr/>
          <p:nvPr/>
        </p:nvSpPr>
        <p:spPr>
          <a:xfrm>
            <a:off x="502920" y="2850642"/>
            <a:ext cx="11183112" cy="957834"/>
          </a:xfrm>
          <a:prstGeom prst="roundRect">
            <a:avLst>
              <a:gd name="adj" fmla="val 8592"/>
            </a:avLst>
          </a:prstGeom>
          <a:solidFill>
            <a:srgbClr val="EAF4FF"/>
          </a:solidFill>
          <a:ln w="12700">
            <a:solidFill>
              <a:srgbClr val="D5E3F2"/>
            </a:solidFill>
            <a:prstDash val="solid"/>
          </a:ln>
          <a:effectLst>
            <a:outerShdw sx="100000" sy="100000" kx="0" ky="0" algn="bl" rotWithShape="0" blurRad="3.5834610852528816e+226" dist="1.0238460243579663e+226" dir="5.656675692209407e+264">
              <a:srgbClr val="9AB4CC">
                <a:alpha val="2.9999999999999988e+274"/>
              </a:srgbClr>
            </a:outerShdw>
          </a:effectLst>
        </p:spPr>
      </p:sp>
      <p:sp>
        <p:nvSpPr>
          <p:cNvPr id="12" name="Shape 9"/>
          <p:cNvSpPr/>
          <p:nvPr/>
        </p:nvSpPr>
        <p:spPr>
          <a:xfrm>
            <a:off x="502920" y="2850642"/>
            <a:ext cx="82296" cy="957834"/>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015234"/>
            <a:ext cx="365760" cy="365760"/>
          </a:xfrm>
          <a:prstGeom prst="rect">
            <a:avLst/>
          </a:prstGeom>
        </p:spPr>
      </p:pic>
      <p:sp>
        <p:nvSpPr>
          <p:cNvPr id="14" name="Text 10"/>
          <p:cNvSpPr/>
          <p:nvPr/>
        </p:nvSpPr>
        <p:spPr>
          <a:xfrm>
            <a:off x="1280160" y="2960370"/>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ask for a blind review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give a report to a teammate without giving them the project guidelines or checklist to compare it against.</a:t>
            </a:r>
            <a:endParaRPr lang="en-US" sz="1850" dirty="0"/>
          </a:p>
        </p:txBody>
      </p:sp>
      <p:sp>
        <p:nvSpPr>
          <p:cNvPr id="15" name="Shape 11"/>
          <p:cNvSpPr/>
          <p:nvPr/>
        </p:nvSpPr>
        <p:spPr>
          <a:xfrm>
            <a:off x="502920" y="4009644"/>
            <a:ext cx="11183112" cy="957834"/>
          </a:xfrm>
          <a:prstGeom prst="roundRect">
            <a:avLst>
              <a:gd name="adj" fmla="val 8592"/>
            </a:avLst>
          </a:prstGeom>
          <a:solidFill>
            <a:srgbClr val="FFFFFF"/>
          </a:solidFill>
          <a:ln w="12700">
            <a:solidFill>
              <a:srgbClr val="D5E3F2"/>
            </a:solidFill>
            <a:prstDash val="solid"/>
          </a:ln>
          <a:effectLst>
            <a:outerShdw sx="100000" sy="100000" kx="0" ky="0" algn="bl" rotWithShape="0" blurRad="4.550995578271159e+230" dist="1.3002844509346172e+230" dir="3.3940054153256444e+269">
              <a:srgbClr val="9AB4CC">
                <a:alpha val="2.999999999999999e+279"/>
              </a:srgbClr>
            </a:outerShdw>
          </a:effectLst>
        </p:spPr>
      </p:sp>
      <p:sp>
        <p:nvSpPr>
          <p:cNvPr id="16" name="Shape 12"/>
          <p:cNvSpPr/>
          <p:nvPr/>
        </p:nvSpPr>
        <p:spPr>
          <a:xfrm>
            <a:off x="502920" y="4009644"/>
            <a:ext cx="82296" cy="957834"/>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174236"/>
            <a:ext cx="365760" cy="365760"/>
          </a:xfrm>
          <a:prstGeom prst="rect">
            <a:avLst/>
          </a:prstGeom>
        </p:spPr>
      </p:pic>
      <p:sp>
        <p:nvSpPr>
          <p:cNvPr id="18" name="Text 13"/>
          <p:cNvSpPr/>
          <p:nvPr/>
        </p:nvSpPr>
        <p:spPr>
          <a:xfrm>
            <a:off x="1280160" y="4119372"/>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submit at the last minute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send a report to your manager the night before it is due, leaving them no time to review or fix it.</a:t>
            </a:r>
            <a:endParaRPr lang="en-US" sz="1850" dirty="0"/>
          </a:p>
        </p:txBody>
      </p:sp>
      <p:sp>
        <p:nvSpPr>
          <p:cNvPr id="19" name="Shape 14"/>
          <p:cNvSpPr/>
          <p:nvPr/>
        </p:nvSpPr>
        <p:spPr>
          <a:xfrm>
            <a:off x="502920" y="5168646"/>
            <a:ext cx="11183112" cy="957834"/>
          </a:xfrm>
          <a:prstGeom prst="roundRect">
            <a:avLst>
              <a:gd name="adj" fmla="val 8592"/>
            </a:avLst>
          </a:prstGeom>
          <a:solidFill>
            <a:srgbClr val="EAF4FF"/>
          </a:solidFill>
          <a:ln w="12700">
            <a:solidFill>
              <a:srgbClr val="D5E3F2"/>
            </a:solidFill>
            <a:prstDash val="solid"/>
          </a:ln>
          <a:effectLst>
            <a:outerShdw sx="100000" sy="100000" kx="0" ky="0" algn="bl" rotWithShape="0" blurRad="5.7797643844043726e+234" dist="1.6513612526869638e+234" dir="2.0364032491953868e+274">
              <a:srgbClr val="9AB4CC">
                <a:alpha val="2.999999999999999e+284"/>
              </a:srgbClr>
            </a:outerShdw>
          </a:effectLst>
        </p:spPr>
      </p:sp>
      <p:sp>
        <p:nvSpPr>
          <p:cNvPr id="20" name="Shape 15"/>
          <p:cNvSpPr/>
          <p:nvPr/>
        </p:nvSpPr>
        <p:spPr>
          <a:xfrm>
            <a:off x="502920" y="5168646"/>
            <a:ext cx="82296" cy="957834"/>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2" name="Text 16"/>
          <p:cNvSpPr/>
          <p:nvPr/>
        </p:nvSpPr>
        <p:spPr>
          <a:xfrm>
            <a:off x="1280160" y="5278374"/>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make up your own process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use unverified channels or unapproved formats to collect your data.</a:t>
            </a:r>
            <a:endParaRPr lang="en-US" sz="1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Review Workflow — Avoid vs Use</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83112" cy="914400"/>
        </p:xfrm>
        <a:graphic>
          <a:graphicData uri="http://schemas.openxmlformats.org/drawingml/2006/table">
            <a:tbl>
              <a:tblPr/>
              <a:tblGrid>
                <a:gridCol w="3749040"/>
                <a:gridCol w="4023360"/>
                <a:gridCol w="3410712"/>
              </a:tblGrid>
              <a:tr h="1143000">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Bad Workflow Practice (Avoid)</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Correct Review Practice (Use)</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Why the Correct Way Matters</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143000">
                <a:tc>
                  <a:txBody>
                    <a:bodyPr/>
                    <a:lstStyle/>
                    <a:p>
                      <a:pPr indent="0" marL="0">
                        <a:buNone/>
                      </a:pPr>
                      <a:r>
                        <a:rPr lang="en-US" sz="1400" dirty="0">
                          <a:solidFill>
                            <a:srgbClr val="002050"/>
                          </a:solidFill>
                          <a:latin typeface="Aptos" pitchFamily="34" charset="0"/>
                          <a:ea typeface="Aptos" pitchFamily="34" charset="-122"/>
                          <a:cs typeface="Aptos" pitchFamily="34" charset="-120"/>
                        </a:rPr>
                        <a:t>Sending an incident report directly to a bank client immediately after typing it.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Having a senior engineer peer-review the technical logs and facts first.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Catches wrong technical details before the client sees them.</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143000">
                <a:tc>
                  <a:txBody>
                    <a:bodyPr/>
                    <a:lstStyle/>
                    <a:p>
                      <a:pPr indent="0" marL="0">
                        <a:buNone/>
                      </a:pPr>
                      <a:r>
                        <a:rPr lang="en-US" sz="1400" dirty="0">
                          <a:solidFill>
                            <a:srgbClr val="002050"/>
                          </a:solidFill>
                          <a:latin typeface="Aptos" pitchFamily="34" charset="0"/>
                          <a:ea typeface="Aptos" pitchFamily="34" charset="-122"/>
                          <a:cs typeface="Aptos" pitchFamily="34" charset="-120"/>
                        </a:rPr>
                        <a:t>Emailing a budget request to the executive board without checking it against the quarterly goals.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Double-checking that the requested software licenses align perfectly with the target audience's project requirements.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Ensures the proposal meets the exact business needs.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143000">
                <a:tc>
                  <a:txBody>
                    <a:bodyPr/>
                    <a:lstStyle/>
                    <a:p>
                      <a:pPr indent="0" marL="0">
                        <a:buNone/>
                      </a:pPr>
                      <a:r>
                        <a:rPr lang="en-US" sz="1400" dirty="0">
                          <a:solidFill>
                            <a:srgbClr val="002050"/>
                          </a:solidFill>
                          <a:latin typeface="Aptos" pitchFamily="34" charset="0"/>
                          <a:ea typeface="Aptos" pitchFamily="34" charset="-122"/>
                          <a:cs typeface="Aptos" pitchFamily="34" charset="-120"/>
                        </a:rPr>
                        <a:t>Asking your department head to sign off on a system migration plan 10 minutes before deployment.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Submitting the migration document to the department head 7 days before the change window.</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Allows time to add missing steps or make critical adjustments.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Activity — Apply Your Knowledge</a:t>
            </a:r>
            <a:endParaRPr lang="en-US" sz="3400" dirty="0"/>
          </a:p>
        </p:txBody>
      </p:sp>
      <p:sp>
        <p:nvSpPr>
          <p:cNvPr id="7" name="Shape 5"/>
          <p:cNvSpPr/>
          <p:nvPr/>
        </p:nvSpPr>
        <p:spPr>
          <a:xfrm>
            <a:off x="502920" y="1645920"/>
            <a:ext cx="457200" cy="457200"/>
          </a:xfrm>
          <a:prstGeom prst="ellipse">
            <a:avLst/>
          </a:prstGeom>
          <a:solidFill>
            <a:srgbClr val="0F6CBD"/>
          </a:solidFill>
          <a:ln/>
        </p:spPr>
      </p:sp>
      <p:sp>
        <p:nvSpPr>
          <p:cNvPr id="8" name="Text 6"/>
          <p:cNvSpPr/>
          <p:nvPr/>
        </p:nvSpPr>
        <p:spPr>
          <a:xfrm>
            <a:off x="502920" y="16459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0020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Give examples of different types of reports that are produced in organisations</a:t>
            </a:r>
            <a:endParaRPr lang="en-US" sz="1750" dirty="0"/>
          </a:p>
        </p:txBody>
      </p:sp>
      <p:sp>
        <p:nvSpPr>
          <p:cNvPr id="10" name="Shape 8"/>
          <p:cNvSpPr/>
          <p:nvPr/>
        </p:nvSpPr>
        <p:spPr>
          <a:xfrm>
            <a:off x="502920" y="2395728"/>
            <a:ext cx="457200" cy="457200"/>
          </a:xfrm>
          <a:prstGeom prst="ellipse">
            <a:avLst/>
          </a:prstGeom>
          <a:solidFill>
            <a:srgbClr val="0F6CBD"/>
          </a:solidFill>
          <a:ln/>
        </p:spPr>
      </p:sp>
      <p:sp>
        <p:nvSpPr>
          <p:cNvPr id="11" name="Text 9"/>
          <p:cNvSpPr/>
          <p:nvPr/>
        </p:nvSpPr>
        <p:spPr>
          <a:xfrm>
            <a:off x="502920" y="239572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50008"/>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the information that will be relayed in each of the reports you have mentioned above</a:t>
            </a:r>
            <a:endParaRPr lang="en-US" sz="1750" dirty="0"/>
          </a:p>
        </p:txBody>
      </p:sp>
      <p:sp>
        <p:nvSpPr>
          <p:cNvPr id="13" name="Shape 11"/>
          <p:cNvSpPr/>
          <p:nvPr/>
        </p:nvSpPr>
        <p:spPr>
          <a:xfrm>
            <a:off x="502920" y="3145536"/>
            <a:ext cx="457200" cy="457200"/>
          </a:xfrm>
          <a:prstGeom prst="ellipse">
            <a:avLst/>
          </a:prstGeom>
          <a:solidFill>
            <a:srgbClr val="0F6CBD"/>
          </a:solidFill>
          <a:ln/>
        </p:spPr>
      </p:sp>
      <p:sp>
        <p:nvSpPr>
          <p:cNvPr id="14" name="Text 12"/>
          <p:cNvSpPr/>
          <p:nvPr/>
        </p:nvSpPr>
        <p:spPr>
          <a:xfrm>
            <a:off x="502920" y="314553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099816"/>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and distributing sensitive company information</a:t>
            </a:r>
            <a:endParaRPr lang="en-US" sz="1750" dirty="0"/>
          </a:p>
        </p:txBody>
      </p:sp>
      <p:sp>
        <p:nvSpPr>
          <p:cNvPr id="16" name="Shape 14"/>
          <p:cNvSpPr/>
          <p:nvPr/>
        </p:nvSpPr>
        <p:spPr>
          <a:xfrm>
            <a:off x="502920" y="3895344"/>
            <a:ext cx="457200" cy="457200"/>
          </a:xfrm>
          <a:prstGeom prst="ellipse">
            <a:avLst/>
          </a:prstGeom>
          <a:solidFill>
            <a:srgbClr val="0F6CBD"/>
          </a:solidFill>
          <a:ln/>
        </p:spPr>
      </p:sp>
      <p:sp>
        <p:nvSpPr>
          <p:cNvPr id="17" name="Text 15"/>
          <p:cNvSpPr/>
          <p:nvPr/>
        </p:nvSpPr>
        <p:spPr>
          <a:xfrm>
            <a:off x="502920" y="389534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9624"/>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sensitive company information</a:t>
            </a:r>
            <a:endParaRPr lang="en-US" sz="1750" dirty="0"/>
          </a:p>
        </p:txBody>
      </p:sp>
      <p:sp>
        <p:nvSpPr>
          <p:cNvPr id="19" name="Shape 17"/>
          <p:cNvSpPr/>
          <p:nvPr/>
        </p:nvSpPr>
        <p:spPr>
          <a:xfrm>
            <a:off x="502920" y="4645152"/>
            <a:ext cx="457200" cy="457200"/>
          </a:xfrm>
          <a:prstGeom prst="ellipse">
            <a:avLst/>
          </a:prstGeom>
          <a:solidFill>
            <a:srgbClr val="0F6CBD"/>
          </a:solidFill>
          <a:ln/>
        </p:spPr>
      </p:sp>
      <p:sp>
        <p:nvSpPr>
          <p:cNvPr id="20" name="Text 18"/>
          <p:cNvSpPr/>
          <p:nvPr/>
        </p:nvSpPr>
        <p:spPr>
          <a:xfrm>
            <a:off x="502920" y="464515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99432"/>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Identify and explain the steps that are used for compiling reports</a:t>
            </a:r>
            <a:endParaRPr lang="en-US" sz="1750" dirty="0"/>
          </a:p>
        </p:txBody>
      </p:sp>
      <p:sp>
        <p:nvSpPr>
          <p:cNvPr id="22" name="Shape 20"/>
          <p:cNvSpPr/>
          <p:nvPr/>
        </p:nvSpPr>
        <p:spPr>
          <a:xfrm>
            <a:off x="502920" y="5394960"/>
            <a:ext cx="457200" cy="457200"/>
          </a:xfrm>
          <a:prstGeom prst="ellipse">
            <a:avLst/>
          </a:prstGeom>
          <a:solidFill>
            <a:srgbClr val="0F6CBD"/>
          </a:solidFill>
          <a:ln/>
        </p:spPr>
      </p:sp>
      <p:sp>
        <p:nvSpPr>
          <p:cNvPr id="23" name="Text 21"/>
          <p:cNvSpPr/>
          <p:nvPr/>
        </p:nvSpPr>
        <p:spPr>
          <a:xfrm>
            <a:off x="502920" y="53949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4924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how to ensure that the reported information is in accordance with the requirements of the report</a:t>
            </a:r>
            <a:endParaRPr lang="en-US" sz="1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197510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1892808"/>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different types of reports used in organisations</a:t>
            </a:r>
            <a:endParaRPr lang="en-US" sz="1650" dirty="0"/>
          </a:p>
        </p:txBody>
      </p:sp>
      <p:sp>
        <p:nvSpPr>
          <p:cNvPr id="10" name="Shape 8"/>
          <p:cNvSpPr/>
          <p:nvPr/>
        </p:nvSpPr>
        <p:spPr>
          <a:xfrm>
            <a:off x="502920" y="2633472"/>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551176"/>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the use of the different types of reports</a:t>
            </a:r>
            <a:endParaRPr lang="en-US" sz="1650" dirty="0"/>
          </a:p>
        </p:txBody>
      </p:sp>
      <p:sp>
        <p:nvSpPr>
          <p:cNvPr id="12" name="Shape 10"/>
          <p:cNvSpPr/>
          <p:nvPr/>
        </p:nvSpPr>
        <p:spPr>
          <a:xfrm>
            <a:off x="502920" y="3291840"/>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209544"/>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the reasons for handling confidential information confidentially</a:t>
            </a:r>
            <a:endParaRPr lang="en-US" sz="1650" dirty="0"/>
          </a:p>
        </p:txBody>
      </p:sp>
      <p:sp>
        <p:nvSpPr>
          <p:cNvPr id="14" name="Shape 12"/>
          <p:cNvSpPr/>
          <p:nvPr/>
        </p:nvSpPr>
        <p:spPr>
          <a:xfrm>
            <a:off x="502920" y="3950208"/>
            <a:ext cx="384048" cy="384048"/>
          </a:xfrm>
          <a:prstGeom prst="roundRect">
            <a:avLst>
              <a:gd name="adj" fmla="val 16667"/>
            </a:avLst>
          </a:prstGeom>
          <a:solidFill>
            <a:srgbClr val="FFFFFF"/>
          </a:solidFill>
          <a:ln w="19050">
            <a:solidFill>
              <a:srgbClr val="0F6CBD"/>
            </a:solidFill>
            <a:prstDash val="solid"/>
          </a:ln>
        </p:spPr>
      </p:sp>
      <p:sp>
        <p:nvSpPr>
          <p:cNvPr id="15" name="Text 13"/>
          <p:cNvSpPr/>
          <p:nvPr/>
        </p:nvSpPr>
        <p:spPr>
          <a:xfrm>
            <a:off x="1106424" y="3867912"/>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a range of techniques for compiling reports</a:t>
            </a:r>
            <a:endParaRPr lang="en-US" sz="1650" dirty="0"/>
          </a:p>
        </p:txBody>
      </p:sp>
      <p:sp>
        <p:nvSpPr>
          <p:cNvPr id="16" name="Shape 14"/>
          <p:cNvSpPr/>
          <p:nvPr/>
        </p:nvSpPr>
        <p:spPr>
          <a:xfrm>
            <a:off x="502920" y="4608576"/>
            <a:ext cx="384048" cy="384048"/>
          </a:xfrm>
          <a:prstGeom prst="roundRect">
            <a:avLst>
              <a:gd name="adj" fmla="val 16667"/>
            </a:avLst>
          </a:prstGeom>
          <a:solidFill>
            <a:srgbClr val="FFFFFF"/>
          </a:solidFill>
          <a:ln w="19050">
            <a:solidFill>
              <a:srgbClr val="0F6CBD"/>
            </a:solidFill>
            <a:prstDash val="solid"/>
          </a:ln>
        </p:spPr>
      </p:sp>
      <p:sp>
        <p:nvSpPr>
          <p:cNvPr id="17" name="Text 15"/>
          <p:cNvSpPr/>
          <p:nvPr/>
        </p:nvSpPr>
        <p:spPr>
          <a:xfrm>
            <a:off x="1106424" y="4526280"/>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how the reported information is checked for appropriateness and then distributed according to the intended audience of the report</a:t>
            </a:r>
            <a:endParaRPr lang="en-US" sz="1650" dirty="0"/>
          </a:p>
        </p:txBody>
      </p:sp>
      <p:sp>
        <p:nvSpPr>
          <p:cNvPr id="18" name="Shape 16"/>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7.340300768193554e+238" dist="2.097228790912444e+238" dir="1.221841949517232e+279">
              <a:srgbClr val="9AB4CC">
                <a:alpha val="2.999999999999999e+289"/>
              </a:srgbClr>
            </a:outerShdw>
          </a:effectLst>
        </p:spPr>
      </p:sp>
      <p:pic>
        <p:nvPicPr>
          <p:cNvPr id="1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623560"/>
            <a:ext cx="329184" cy="329184"/>
          </a:xfrm>
          <a:prstGeom prst="rect">
            <a:avLst/>
          </a:prstGeom>
        </p:spPr>
      </p:pic>
      <p:sp>
        <p:nvSpPr>
          <p:cNvPr id="20" name="Text 17"/>
          <p:cNvSpPr/>
          <p:nvPr/>
        </p:nvSpPr>
        <p:spPr>
          <a:xfrm>
            <a:off x="1188720" y="5486400"/>
            <a:ext cx="10222992" cy="731520"/>
          </a:xfrm>
          <a:prstGeom prst="rect">
            <a:avLst/>
          </a:prstGeom>
          <a:noFill/>
          <a:ln/>
        </p:spPr>
        <p:txBody>
          <a:bodyPr wrap="square" rtlCol="0" anchor="ctr"/>
          <a:lstStyle/>
          <a:p>
            <a:pPr indent="0" marL="0">
              <a:lnSpc>
                <a:spcPct val="110000"/>
              </a:lnSpc>
              <a:buNone/>
            </a:pPr>
            <a:r>
              <a:rPr lang="en-US" sz="160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Writing Business Reports (Learner Manual)</dc:title>
  <dc:subject>PptxGenJS Presentation</dc:subject>
  <dc:creator>Andre Snell</dc:creator>
  <cp:lastModifiedBy>Andre Snell</cp:lastModifiedBy>
  <cp:revision>1</cp:revision>
  <dcterms:created xsi:type="dcterms:W3CDTF">2026-07-16T23:15:36Z</dcterms:created>
  <dcterms:modified xsi:type="dcterms:W3CDTF">2026-07-16T23:15:36Z</dcterms:modified>
</cp:coreProperties>
</file>