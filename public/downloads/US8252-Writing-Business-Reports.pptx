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sv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sv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sv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sv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2050"/>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0F6CBD"/>
          </a:solidFill>
          <a:ln/>
        </p:spPr>
      </p:sp>
      <p:sp>
        <p:nvSpPr>
          <p:cNvPr id="3" name="Shape 1"/>
          <p:cNvSpPr/>
          <p:nvPr/>
        </p:nvSpPr>
        <p:spPr>
          <a:xfrm>
            <a:off x="502920" y="1188720"/>
            <a:ext cx="3291840" cy="512064"/>
          </a:xfrm>
          <a:prstGeom prst="roundRect">
            <a:avLst>
              <a:gd name="adj" fmla="val 50000"/>
            </a:avLst>
          </a:prstGeom>
          <a:solidFill>
            <a:srgbClr val="0F6CBD"/>
          </a:solidFill>
          <a:ln/>
        </p:spPr>
      </p:sp>
      <p:sp>
        <p:nvSpPr>
          <p:cNvPr id="4" name="Text 2"/>
          <p:cNvSpPr/>
          <p:nvPr/>
        </p:nvSpPr>
        <p:spPr>
          <a:xfrm>
            <a:off x="502920" y="1188720"/>
            <a:ext cx="3291840" cy="512064"/>
          </a:xfrm>
          <a:prstGeom prst="rect">
            <a:avLst/>
          </a:prstGeom>
          <a:noFill/>
          <a:ln/>
        </p:spPr>
        <p:txBody>
          <a:bodyPr wrap="square" rtlCol="0" anchor="ctr"/>
          <a:lstStyle/>
          <a:p>
            <a:pPr algn="ctr" indent="0" marL="0">
              <a:buNone/>
            </a:pPr>
            <a:r>
              <a:rPr lang="en-US" sz="1250" b="1" spc="100" kern="0" dirty="0">
                <a:solidFill>
                  <a:srgbClr val="FFFFFF"/>
                </a:solidFill>
                <a:latin typeface="Aptos" pitchFamily="34" charset="0"/>
                <a:ea typeface="Aptos" pitchFamily="34" charset="-122"/>
                <a:cs typeface="Aptos" pitchFamily="34" charset="-120"/>
              </a:rPr>
              <a:t>UNIT STANDARD 8252 · NQF 5 · 6 CREDITS</a:t>
            </a:r>
            <a:endParaRPr lang="en-US" sz="1250" dirty="0"/>
          </a:p>
        </p:txBody>
      </p:sp>
      <p:sp>
        <p:nvSpPr>
          <p:cNvPr id="5" name="Text 3"/>
          <p:cNvSpPr/>
          <p:nvPr/>
        </p:nvSpPr>
        <p:spPr>
          <a:xfrm>
            <a:off x="502920" y="1920240"/>
            <a:ext cx="11183112" cy="1371600"/>
          </a:xfrm>
          <a:prstGeom prst="rect">
            <a:avLst/>
          </a:prstGeom>
          <a:noFill/>
          <a:ln/>
        </p:spPr>
        <p:txBody>
          <a:bodyPr wrap="square" rtlCol="0" anchor="ctr"/>
          <a:lstStyle/>
          <a:p>
            <a:pPr indent="0" marL="0">
              <a:buNone/>
            </a:pPr>
            <a:r>
              <a:rPr lang="en-US" sz="5200" b="1" dirty="0">
                <a:solidFill>
                  <a:srgbClr val="FFFFFF"/>
                </a:solidFill>
                <a:latin typeface="Aptos Display" pitchFamily="34" charset="0"/>
                <a:ea typeface="Aptos Display" pitchFamily="34" charset="-122"/>
                <a:cs typeface="Aptos Display" pitchFamily="34" charset="-120"/>
              </a:rPr>
              <a:t>Writing Business Reports</a:t>
            </a:r>
            <a:endParaRPr lang="en-US" sz="5200" dirty="0"/>
          </a:p>
        </p:txBody>
      </p:sp>
      <p:sp>
        <p:nvSpPr>
          <p:cNvPr id="6" name="Text 4"/>
          <p:cNvSpPr/>
          <p:nvPr/>
        </p:nvSpPr>
        <p:spPr>
          <a:xfrm>
            <a:off x="502920" y="3246120"/>
            <a:ext cx="9601200" cy="502920"/>
          </a:xfrm>
          <a:prstGeom prst="rect">
            <a:avLst/>
          </a:prstGeom>
          <a:noFill/>
          <a:ln/>
        </p:spPr>
        <p:txBody>
          <a:bodyPr wrap="square" rtlCol="0" anchor="ctr"/>
          <a:lstStyle/>
          <a:p>
            <a:pPr indent="0" marL="0">
              <a:buNone/>
            </a:pPr>
            <a:r>
              <a:rPr lang="en-US" sz="2100" dirty="0">
                <a:solidFill>
                  <a:srgbClr val="B9D6F2"/>
                </a:solidFill>
                <a:latin typeface="Aptos" pitchFamily="34" charset="0"/>
                <a:ea typeface="Aptos" pitchFamily="34" charset="-122"/>
                <a:cs typeface="Aptos" pitchFamily="34" charset="-120"/>
              </a:rPr>
              <a:t>Writing business reports in Retail/Wholesale practices</a:t>
            </a:r>
            <a:endParaRPr lang="en-US" sz="2100" dirty="0"/>
          </a:p>
        </p:txBody>
      </p:sp>
      <p:sp>
        <p:nvSpPr>
          <p:cNvPr id="7" name="Text 5"/>
          <p:cNvSpPr/>
          <p:nvPr/>
        </p:nvSpPr>
        <p:spPr>
          <a:xfrm>
            <a:off x="502920" y="3794760"/>
            <a:ext cx="9601200" cy="457200"/>
          </a:xfrm>
          <a:prstGeom prst="rect">
            <a:avLst/>
          </a:prstGeom>
          <a:noFill/>
          <a:ln/>
        </p:spPr>
        <p:txBody>
          <a:bodyPr wrap="square" rtlCol="0" anchor="ctr"/>
          <a:lstStyle/>
          <a:p>
            <a:pPr indent="0" marL="0">
              <a:buNone/>
            </a:pPr>
            <a:r>
              <a:rPr lang="en-US" sz="1600" dirty="0">
                <a:solidFill>
                  <a:srgbClr val="8CC2F0"/>
                </a:solidFill>
                <a:latin typeface="Aptos" pitchFamily="34" charset="0"/>
                <a:ea typeface="Aptos" pitchFamily="34" charset="-122"/>
                <a:cs typeface="Aptos" pitchFamily="34" charset="-120"/>
              </a:rPr>
              <a:t>Official learner guide — Investec Systems Support (NQF Level 5) Learnership</a:t>
            </a:r>
            <a:endParaRPr lang="en-US" sz="1600" dirty="0"/>
          </a:p>
        </p:txBody>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829800" y="1325880"/>
            <a:ext cx="1737360" cy="1737360"/>
          </a:xfrm>
          <a:prstGeom prst="rect">
            <a:avLst/>
          </a:prstGeom>
        </p:spPr>
      </p:pic>
      <p:sp>
        <p:nvSpPr>
          <p:cNvPr id="9" name="Shape 6"/>
          <p:cNvSpPr/>
          <p:nvPr/>
        </p:nvSpPr>
        <p:spPr>
          <a:xfrm>
            <a:off x="502920" y="4709160"/>
            <a:ext cx="11183112" cy="0"/>
          </a:xfrm>
          <a:prstGeom prst="line">
            <a:avLst/>
          </a:prstGeom>
          <a:noFill/>
          <a:ln w="12700">
            <a:solidFill>
              <a:srgbClr val="1B4272"/>
            </a:solidFill>
            <a:prstDash val="solid"/>
          </a:ln>
        </p:spPr>
      </p:sp>
      <p:sp>
        <p:nvSpPr>
          <p:cNvPr id="10" name="Text 7"/>
          <p:cNvSpPr/>
          <p:nvPr/>
        </p:nvSpPr>
        <p:spPr>
          <a:xfrm>
            <a:off x="502920" y="6309360"/>
            <a:ext cx="11183112" cy="320040"/>
          </a:xfrm>
          <a:prstGeom prst="rect">
            <a:avLst/>
          </a:prstGeom>
          <a:noFill/>
          <a:ln/>
        </p:spPr>
        <p:txBody>
          <a:bodyPr wrap="square" rtlCol="0" anchor="ctr"/>
          <a:lstStyle/>
          <a:p>
            <a:pPr indent="0" marL="0">
              <a:buNone/>
            </a:pPr>
            <a:r>
              <a:rPr lang="en-US" sz="1150" dirty="0">
                <a:solidFill>
                  <a:srgbClr val="6E93BC"/>
                </a:solidFill>
                <a:latin typeface="Aptos" pitchFamily="34" charset="0"/>
                <a:ea typeface="Aptos" pitchFamily="34" charset="-122"/>
                <a:cs typeface="Aptos" pitchFamily="34" charset="-120"/>
              </a:rPr>
              <a:t>Investec · Corporate Banking Technology · IT Systems Support NQF Level 5 (SAQA ID 48573)</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indent="0" marL="0">
              <a:buNone/>
            </a:pPr>
            <a:r>
              <a:rPr lang="en-US" sz="1000" dirty="0">
                <a:solidFill>
                  <a:srgbClr val="6B7280"/>
                </a:solidFill>
                <a:latin typeface="Aptos" pitchFamily="34" charset="0"/>
                <a:ea typeface="Aptos" pitchFamily="34" charset="-122"/>
                <a:cs typeface="Aptos" pitchFamily="34" charset="-120"/>
              </a:rPr>
              <a:t>Unit Standard 8252 — Writing Business Reports   ·   Investec IT Systems Support NQF 5</a:t>
            </a:r>
            <a:endParaRPr lang="en-US" sz="10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1000" dirty="0">
                <a:solidFill>
                  <a:srgbClr val="6B7280"/>
                </a:solidFill>
                <a:latin typeface="Aptos" pitchFamily="34" charset="0"/>
                <a:ea typeface="Aptos" pitchFamily="34" charset="-122"/>
                <a:cs typeface="Aptos" pitchFamily="34" charset="-120"/>
              </a:rPr>
              <a:t>2</a:t>
            </a:r>
            <a:endParaRPr lang="en-US" sz="10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56032"/>
            <a:ext cx="11183112" cy="347472"/>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LEARNER GUIDE CONTENTS</a:t>
            </a:r>
            <a:endParaRPr lang="en-US" sz="1400" dirty="0"/>
          </a:p>
        </p:txBody>
      </p:sp>
      <p:sp>
        <p:nvSpPr>
          <p:cNvPr id="6" name="Text 4"/>
          <p:cNvSpPr/>
          <p:nvPr/>
        </p:nvSpPr>
        <p:spPr>
          <a:xfrm>
            <a:off x="502920" y="585216"/>
            <a:ext cx="11183112" cy="786384"/>
          </a:xfrm>
          <a:prstGeom prst="rect">
            <a:avLst/>
          </a:prstGeom>
          <a:noFill/>
          <a:ln/>
        </p:spPr>
        <p:txBody>
          <a:bodyPr wrap="square" rtlCol="0" anchor="ctr"/>
          <a:lstStyle/>
          <a:p>
            <a:pPr indent="0" marL="0">
              <a:buNone/>
            </a:pPr>
            <a:r>
              <a:rPr lang="en-US" sz="3400" b="1" dirty="0">
                <a:solidFill>
                  <a:srgbClr val="002050"/>
                </a:solidFill>
                <a:latin typeface="Aptos Display" pitchFamily="34" charset="0"/>
                <a:ea typeface="Aptos Display" pitchFamily="34" charset="-122"/>
                <a:cs typeface="Aptos Display" pitchFamily="34" charset="-120"/>
              </a:rPr>
              <a:t>Competence Requirements</a:t>
            </a:r>
            <a:endParaRPr lang="en-US" sz="34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02920" y="1691640"/>
          <a:ext cx="11183112" cy="914400"/>
        </p:xfrm>
        <a:graphic>
          <a:graphicData uri="http://schemas.openxmlformats.org/drawingml/2006/table">
            <a:tbl>
              <a:tblPr/>
              <a:tblGrid>
                <a:gridCol w="3291840"/>
                <a:gridCol w="6949440"/>
                <a:gridCol w="941832"/>
              </a:tblGrid>
              <a:tr h="713232">
                <a:tc>
                  <a:txBody>
                    <a:bodyPr/>
                    <a:lstStyle/>
                    <a:p>
                      <a:pPr indent="0" marL="0">
                        <a:buNone/>
                      </a:pPr>
                      <a:r>
                        <a:rPr lang="en-US" sz="1650" b="1" dirty="0">
                          <a:solidFill>
                            <a:srgbClr val="FFFFFF"/>
                          </a:solidFill>
                          <a:latin typeface="Aptos Display" pitchFamily="34" charset="0"/>
                          <a:ea typeface="Aptos Display" pitchFamily="34" charset="-122"/>
                          <a:cs typeface="Aptos Display" pitchFamily="34" charset="-120"/>
                        </a:rPr>
                        <a:t>Section</a:t>
                      </a:r>
                      <a:endParaRPr lang="en-US" sz="1650" dirty="0">
                        <a:latin typeface="Aptos Display" charset="0"/>
                        <a:ea typeface="Aptos Display" charset="0"/>
                        <a:cs typeface="Aptos Display"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0F6CBD"/>
                    </a:solidFill>
                  </a:tcPr>
                </a:tc>
                <a:tc>
                  <a:txBody>
                    <a:bodyPr/>
                    <a:lstStyle/>
                    <a:p>
                      <a:pPr indent="0" marL="0">
                        <a:buNone/>
                      </a:pPr>
                      <a:r>
                        <a:rPr lang="en-US" sz="1650" b="1" dirty="0">
                          <a:solidFill>
                            <a:srgbClr val="FFFFFF"/>
                          </a:solidFill>
                          <a:latin typeface="Aptos Display" pitchFamily="34" charset="0"/>
                          <a:ea typeface="Aptos Display" pitchFamily="34" charset="-122"/>
                          <a:cs typeface="Aptos Display" pitchFamily="34" charset="-120"/>
                        </a:rPr>
                        <a:t>What it covers</a:t>
                      </a:r>
                      <a:endParaRPr lang="en-US" sz="1650" dirty="0">
                        <a:latin typeface="Aptos Display" charset="0"/>
                        <a:ea typeface="Aptos Display" charset="0"/>
                        <a:cs typeface="Aptos Display"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0F6CBD"/>
                    </a:solidFill>
                  </a:tcPr>
                </a:tc>
                <a:tc>
                  <a:txBody>
                    <a:bodyPr/>
                    <a:lstStyle/>
                    <a:p>
                      <a:pPr indent="0" marL="0">
                        <a:buNone/>
                      </a:pPr>
                      <a:r>
                        <a:rPr lang="en-US" sz="1650" b="1" dirty="0">
                          <a:solidFill>
                            <a:srgbClr val="FFFFFF"/>
                          </a:solidFill>
                          <a:latin typeface="Aptos Display" pitchFamily="34" charset="0"/>
                          <a:ea typeface="Aptos Display" pitchFamily="34" charset="-122"/>
                          <a:cs typeface="Aptos Display" pitchFamily="34" charset="-120"/>
                        </a:rPr>
                        <a:t>Page</a:t>
                      </a:r>
                      <a:endParaRPr lang="en-US" sz="1650" dirty="0">
                        <a:latin typeface="Aptos Display" charset="0"/>
                        <a:ea typeface="Aptos Display" charset="0"/>
                        <a:cs typeface="Aptos Display"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0F6CBD"/>
                    </a:solidFill>
                  </a:tcPr>
                </a:tc>
              </a:tr>
              <a:tr h="713232">
                <a:tc>
                  <a:txBody>
                    <a:bodyPr/>
                    <a:lstStyle/>
                    <a:p>
                      <a:pPr indent="0" marL="0">
                        <a:buNone/>
                      </a:pPr>
                      <a:r>
                        <a:rPr lang="en-US" sz="1650" dirty="0">
                          <a:solidFill>
                            <a:srgbClr val="002050"/>
                          </a:solidFill>
                          <a:latin typeface="Aptos" pitchFamily="34" charset="0"/>
                          <a:ea typeface="Aptos" pitchFamily="34" charset="-122"/>
                          <a:cs typeface="Aptos" pitchFamily="34" charset="-120"/>
                        </a:rPr>
                        <a:t>Alignment index</a:t>
                      </a:r>
                      <a:endParaRPr lang="en-US" sz="165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650" dirty="0">
                          <a:solidFill>
                            <a:srgbClr val="002050"/>
                          </a:solidFill>
                          <a:latin typeface="Aptos" pitchFamily="34" charset="0"/>
                          <a:ea typeface="Aptos" pitchFamily="34" charset="-122"/>
                          <a:cs typeface="Aptos" pitchFamily="34" charset="-120"/>
                        </a:rPr>
                        <a:t>The different outcomes you must prove competent in to complete US 8252</a:t>
                      </a:r>
                      <a:endParaRPr lang="en-US" sz="165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650" dirty="0">
                          <a:solidFill>
                            <a:srgbClr val="002050"/>
                          </a:solidFill>
                          <a:latin typeface="Aptos" pitchFamily="34" charset="0"/>
                          <a:ea typeface="Aptos" pitchFamily="34" charset="-122"/>
                          <a:cs typeface="Aptos" pitchFamily="34" charset="-120"/>
                        </a:rPr>
                        <a:t>3</a:t>
                      </a:r>
                      <a:endParaRPr lang="en-US" sz="165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r>
              <a:tr h="713232">
                <a:tc>
                  <a:txBody>
                    <a:bodyPr/>
                    <a:lstStyle/>
                    <a:p>
                      <a:pPr indent="0" marL="0">
                        <a:buNone/>
                      </a:pPr>
                      <a:r>
                        <a:rPr lang="en-US" sz="1650" dirty="0">
                          <a:solidFill>
                            <a:srgbClr val="002050"/>
                          </a:solidFill>
                          <a:latin typeface="Aptos" pitchFamily="34" charset="0"/>
                          <a:ea typeface="Aptos" pitchFamily="34" charset="-122"/>
                          <a:cs typeface="Aptos" pitchFamily="34" charset="-120"/>
                        </a:rPr>
                        <a:t>Purpose &amp; content of reports</a:t>
                      </a:r>
                      <a:endParaRPr lang="en-US" sz="165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650" dirty="0">
                          <a:solidFill>
                            <a:srgbClr val="002050"/>
                          </a:solidFill>
                          <a:latin typeface="Aptos" pitchFamily="34" charset="0"/>
                          <a:ea typeface="Aptos" pitchFamily="34" charset="-122"/>
                          <a:cs typeface="Aptos" pitchFamily="34" charset="-120"/>
                        </a:rPr>
                        <a:t>The various types of reports, their purposes and the range of information in them</a:t>
                      </a:r>
                      <a:endParaRPr lang="en-US" sz="165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650" dirty="0">
                          <a:solidFill>
                            <a:srgbClr val="002050"/>
                          </a:solidFill>
                          <a:latin typeface="Aptos" pitchFamily="34" charset="0"/>
                          <a:ea typeface="Aptos" pitchFamily="34" charset="-122"/>
                          <a:cs typeface="Aptos" pitchFamily="34" charset="-120"/>
                        </a:rPr>
                        <a:t>4</a:t>
                      </a:r>
                      <a:endParaRPr lang="en-US" sz="165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r>
              <a:tr h="713232">
                <a:tc>
                  <a:txBody>
                    <a:bodyPr/>
                    <a:lstStyle/>
                    <a:p>
                      <a:pPr indent="0" marL="0">
                        <a:buNone/>
                      </a:pPr>
                      <a:r>
                        <a:rPr lang="en-US" sz="1650" dirty="0">
                          <a:solidFill>
                            <a:srgbClr val="002050"/>
                          </a:solidFill>
                          <a:latin typeface="Aptos" pitchFamily="34" charset="0"/>
                          <a:ea typeface="Aptos" pitchFamily="34" charset="-122"/>
                          <a:cs typeface="Aptos" pitchFamily="34" charset="-120"/>
                        </a:rPr>
                        <a:t>Obtaining &amp; distributing information</a:t>
                      </a:r>
                      <a:endParaRPr lang="en-US" sz="165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650" dirty="0">
                          <a:solidFill>
                            <a:srgbClr val="002050"/>
                          </a:solidFill>
                          <a:latin typeface="Aptos" pitchFamily="34" charset="0"/>
                          <a:ea typeface="Aptos" pitchFamily="34" charset="-122"/>
                          <a:cs typeface="Aptos" pitchFamily="34" charset="-120"/>
                        </a:rPr>
                        <a:t>The resources used to obtain information and the methods for distributing reports</a:t>
                      </a:r>
                      <a:endParaRPr lang="en-US" sz="165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650" dirty="0">
                          <a:solidFill>
                            <a:srgbClr val="002050"/>
                          </a:solidFill>
                          <a:latin typeface="Aptos" pitchFamily="34" charset="0"/>
                          <a:ea typeface="Aptos" pitchFamily="34" charset="-122"/>
                          <a:cs typeface="Aptos" pitchFamily="34" charset="-120"/>
                        </a:rPr>
                        <a:t>8</a:t>
                      </a:r>
                      <a:endParaRPr lang="en-US" sz="165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r>
              <a:tr h="713232">
                <a:tc>
                  <a:txBody>
                    <a:bodyPr/>
                    <a:lstStyle/>
                    <a:p>
                      <a:pPr indent="0" marL="0">
                        <a:buNone/>
                      </a:pPr>
                      <a:r>
                        <a:rPr lang="en-US" sz="1650" dirty="0">
                          <a:solidFill>
                            <a:srgbClr val="002050"/>
                          </a:solidFill>
                          <a:latin typeface="Aptos" pitchFamily="34" charset="0"/>
                          <a:ea typeface="Aptos" pitchFamily="34" charset="-122"/>
                          <a:cs typeface="Aptos" pitchFamily="34" charset="-120"/>
                        </a:rPr>
                        <a:t>Verifying reported information</a:t>
                      </a:r>
                      <a:endParaRPr lang="en-US" sz="165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650" dirty="0">
                          <a:solidFill>
                            <a:srgbClr val="002050"/>
                          </a:solidFill>
                          <a:latin typeface="Aptos" pitchFamily="34" charset="0"/>
                          <a:ea typeface="Aptos" pitchFamily="34" charset="-122"/>
                          <a:cs typeface="Aptos" pitchFamily="34" charset="-120"/>
                        </a:rPr>
                        <a:t>How report information is checked against requirements and approved for distribution</a:t>
                      </a:r>
                      <a:endParaRPr lang="en-US" sz="165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650" dirty="0">
                          <a:solidFill>
                            <a:srgbClr val="002050"/>
                          </a:solidFill>
                          <a:latin typeface="Aptos" pitchFamily="34" charset="0"/>
                          <a:ea typeface="Aptos" pitchFamily="34" charset="-122"/>
                          <a:cs typeface="Aptos" pitchFamily="34" charset="-120"/>
                        </a:rPr>
                        <a:t>9</a:t>
                      </a:r>
                      <a:endParaRPr lang="en-US" sz="165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r>
              <a:tr h="713232">
                <a:tc>
                  <a:txBody>
                    <a:bodyPr/>
                    <a:lstStyle/>
                    <a:p>
                      <a:pPr indent="0" marL="0">
                        <a:buNone/>
                      </a:pPr>
                      <a:r>
                        <a:rPr lang="en-US" sz="1650" dirty="0">
                          <a:solidFill>
                            <a:srgbClr val="002050"/>
                          </a:solidFill>
                          <a:latin typeface="Aptos" pitchFamily="34" charset="0"/>
                          <a:ea typeface="Aptos" pitchFamily="34" charset="-122"/>
                          <a:cs typeface="Aptos" pitchFamily="34" charset="-120"/>
                        </a:rPr>
                        <a:t>Question Session 1</a:t>
                      </a:r>
                      <a:endParaRPr lang="en-US" sz="165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650" dirty="0">
                          <a:solidFill>
                            <a:srgbClr val="002050"/>
                          </a:solidFill>
                          <a:latin typeface="Aptos" pitchFamily="34" charset="0"/>
                          <a:ea typeface="Aptos" pitchFamily="34" charset="-122"/>
                          <a:cs typeface="Aptos" pitchFamily="34" charset="-120"/>
                        </a:rPr>
                        <a:t>Your knowledge of this section is assessed with the questions</a:t>
                      </a:r>
                      <a:endParaRPr lang="en-US" sz="165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650" dirty="0">
                          <a:solidFill>
                            <a:srgbClr val="002050"/>
                          </a:solidFill>
                          <a:latin typeface="Aptos" pitchFamily="34" charset="0"/>
                          <a:ea typeface="Aptos" pitchFamily="34" charset="-122"/>
                          <a:cs typeface="Aptos" pitchFamily="34" charset="-120"/>
                        </a:rPr>
                        <a:t>10</a:t>
                      </a:r>
                      <a:endParaRPr lang="en-US" sz="165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r>
              <a:tr h="713232">
                <a:tc>
                  <a:txBody>
                    <a:bodyPr/>
                    <a:lstStyle/>
                    <a:p>
                      <a:pPr indent="0" marL="0">
                        <a:buNone/>
                      </a:pPr>
                      <a:r>
                        <a:rPr lang="en-US" sz="1650" dirty="0">
                          <a:solidFill>
                            <a:srgbClr val="002050"/>
                          </a:solidFill>
                          <a:latin typeface="Aptos" pitchFamily="34" charset="0"/>
                          <a:ea typeface="Aptos" pitchFamily="34" charset="-122"/>
                          <a:cs typeface="Aptos" pitchFamily="34" charset="-120"/>
                        </a:rPr>
                        <a:t>Self-assessment</a:t>
                      </a:r>
                      <a:endParaRPr lang="en-US" sz="165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650" dirty="0">
                          <a:solidFill>
                            <a:srgbClr val="002050"/>
                          </a:solidFill>
                          <a:latin typeface="Aptos" pitchFamily="34" charset="0"/>
                          <a:ea typeface="Aptos" pitchFamily="34" charset="-122"/>
                          <a:cs typeface="Aptos" pitchFamily="34" charset="-120"/>
                        </a:rPr>
                        <a:t>Check the progress you have made and arrange support to become competent</a:t>
                      </a:r>
                      <a:endParaRPr lang="en-US" sz="165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650" dirty="0">
                          <a:solidFill>
                            <a:srgbClr val="002050"/>
                          </a:solidFill>
                          <a:latin typeface="Aptos" pitchFamily="34" charset="0"/>
                          <a:ea typeface="Aptos" pitchFamily="34" charset="-122"/>
                          <a:cs typeface="Aptos" pitchFamily="34" charset="-120"/>
                        </a:rPr>
                        <a:t>12</a:t>
                      </a:r>
                      <a:endParaRPr lang="en-US" sz="165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indent="0" marL="0">
              <a:buNone/>
            </a:pPr>
            <a:r>
              <a:rPr lang="en-US" sz="1000" dirty="0">
                <a:solidFill>
                  <a:srgbClr val="6B7280"/>
                </a:solidFill>
                <a:latin typeface="Aptos" pitchFamily="34" charset="0"/>
                <a:ea typeface="Aptos" pitchFamily="34" charset="-122"/>
                <a:cs typeface="Aptos" pitchFamily="34" charset="-120"/>
              </a:rPr>
              <a:t>Unit Standard 8252 — Writing Business Reports   ·   Investec IT Systems Support NQF 5</a:t>
            </a:r>
            <a:endParaRPr lang="en-US" sz="10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1000" dirty="0">
                <a:solidFill>
                  <a:srgbClr val="6B7280"/>
                </a:solidFill>
                <a:latin typeface="Aptos" pitchFamily="34" charset="0"/>
                <a:ea typeface="Aptos" pitchFamily="34" charset="-122"/>
                <a:cs typeface="Aptos" pitchFamily="34" charset="-120"/>
              </a:rPr>
              <a:t>3</a:t>
            </a:r>
            <a:endParaRPr lang="en-US" sz="10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56032"/>
            <a:ext cx="11183112" cy="347472"/>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SPECIFIC OUTCOMES AND RELATED ASSESSMENT CRITERIA</a:t>
            </a:r>
            <a:endParaRPr lang="en-US" sz="1400" dirty="0"/>
          </a:p>
        </p:txBody>
      </p:sp>
      <p:sp>
        <p:nvSpPr>
          <p:cNvPr id="6" name="Text 4"/>
          <p:cNvSpPr/>
          <p:nvPr/>
        </p:nvSpPr>
        <p:spPr>
          <a:xfrm>
            <a:off x="502920" y="585216"/>
            <a:ext cx="11183112" cy="786384"/>
          </a:xfrm>
          <a:prstGeom prst="rect">
            <a:avLst/>
          </a:prstGeom>
          <a:noFill/>
          <a:ln/>
        </p:spPr>
        <p:txBody>
          <a:bodyPr wrap="square" rtlCol="0" anchor="ctr"/>
          <a:lstStyle/>
          <a:p>
            <a:pPr indent="0" marL="0">
              <a:buNone/>
            </a:pPr>
            <a:r>
              <a:rPr lang="en-US" sz="3400" b="1" dirty="0">
                <a:solidFill>
                  <a:srgbClr val="002050"/>
                </a:solidFill>
                <a:latin typeface="Aptos Display" pitchFamily="34" charset="0"/>
                <a:ea typeface="Aptos Display" pitchFamily="34" charset="-122"/>
                <a:cs typeface="Aptos Display" pitchFamily="34" charset="-120"/>
              </a:rPr>
              <a:t>Alignment Index — Specific Outcomes</a:t>
            </a:r>
            <a:endParaRPr lang="en-US" sz="3400" dirty="0"/>
          </a:p>
        </p:txBody>
      </p:sp>
      <p:sp>
        <p:nvSpPr>
          <p:cNvPr id="7" name="Shape 5"/>
          <p:cNvSpPr/>
          <p:nvPr/>
        </p:nvSpPr>
        <p:spPr>
          <a:xfrm>
            <a:off x="502920" y="1645920"/>
            <a:ext cx="11183112" cy="658368"/>
          </a:xfrm>
          <a:prstGeom prst="roundRect">
            <a:avLst>
              <a:gd name="adj" fmla="val 12500"/>
            </a:avLst>
          </a:prstGeom>
          <a:solidFill>
            <a:srgbClr val="EAF4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8" name="Text 6"/>
          <p:cNvSpPr/>
          <p:nvPr/>
        </p:nvSpPr>
        <p:spPr>
          <a:xfrm>
            <a:off x="731520" y="1645920"/>
            <a:ext cx="10725912" cy="658368"/>
          </a:xfrm>
          <a:prstGeom prst="rect">
            <a:avLst/>
          </a:prstGeom>
          <a:noFill/>
          <a:ln/>
        </p:spPr>
        <p:txBody>
          <a:bodyPr wrap="square" rtlCol="0" anchor="ctr"/>
          <a:lstStyle/>
          <a:p>
            <a:pPr indent="0" marL="0">
              <a:buNone/>
            </a:pPr>
            <a:r>
              <a:rPr lang="en-US" sz="1800" b="1" dirty="0">
                <a:solidFill>
                  <a:srgbClr val="0F6CBD"/>
                </a:solidFill>
                <a:latin typeface="Aptos Display" pitchFamily="34" charset="0"/>
                <a:ea typeface="Aptos Display" pitchFamily="34" charset="-122"/>
                <a:cs typeface="Aptos Display" pitchFamily="34" charset="-120"/>
              </a:rPr>
              <a:t>SO 1   </a:t>
            </a:r>
            <a:pPr indent="0" marL="0">
              <a:buNone/>
            </a:pPr>
            <a:r>
              <a:rPr lang="en-US" sz="1800" dirty="0">
                <a:solidFill>
                  <a:srgbClr val="002050"/>
                </a:solidFill>
                <a:latin typeface="Aptos" pitchFamily="34" charset="0"/>
                <a:ea typeface="Aptos" pitchFamily="34" charset="-122"/>
                <a:cs typeface="Aptos" pitchFamily="34" charset="-120"/>
              </a:rPr>
              <a:t>The demonstrated ability to make decisions and consider options when:</a:t>
            </a:r>
            <a:endParaRPr lang="en-US" sz="1800" dirty="0"/>
          </a:p>
        </p:txBody>
      </p:sp>
      <p:sp>
        <p:nvSpPr>
          <p:cNvPr id="9" name="Text 7"/>
          <p:cNvSpPr/>
          <p:nvPr/>
        </p:nvSpPr>
        <p:spPr>
          <a:xfrm>
            <a:off x="502920" y="2514600"/>
            <a:ext cx="11183112" cy="3063240"/>
          </a:xfrm>
          <a:prstGeom prst="rect">
            <a:avLst/>
          </a:prstGeom>
          <a:noFill/>
          <a:ln/>
        </p:spPr>
        <p:txBody>
          <a:bodyPr wrap="square" rtlCol="0" anchor="t"/>
          <a:lstStyle/>
          <a:p>
            <a:pPr marL="228600" indent="-228600">
              <a:lnSpc>
                <a:spcPct val="110000"/>
              </a:lnSpc>
              <a:spcAft>
                <a:spcPts val="1000"/>
              </a:spcAft>
              <a:buSzPct val="100000"/>
              <a:buChar char="•"/>
            </a:pPr>
            <a:r>
              <a:rPr lang="en-US" sz="1700" dirty="0">
                <a:solidFill>
                  <a:srgbClr val="002050"/>
                </a:solidFill>
                <a:latin typeface="Aptos" pitchFamily="34" charset="0"/>
                <a:ea typeface="Aptos" pitchFamily="34" charset="-122"/>
                <a:cs typeface="Aptos" pitchFamily="34" charset="-120"/>
              </a:rPr>
              <a:t>Relating the purpose and content of a range of reports to the information needs of business</a:t>
            </a:r>
            <a:endParaRPr lang="en-US" sz="1700" dirty="0"/>
          </a:p>
          <a:p>
            <a:pPr marL="228600" indent="-228600">
              <a:lnSpc>
                <a:spcPct val="110000"/>
              </a:lnSpc>
              <a:spcAft>
                <a:spcPts val="1000"/>
              </a:spcAft>
              <a:buSzPct val="100000"/>
              <a:buChar char="•"/>
            </a:pPr>
            <a:r>
              <a:rPr lang="en-US" sz="1700" dirty="0">
                <a:solidFill>
                  <a:srgbClr val="002050"/>
                </a:solidFill>
                <a:latin typeface="Aptos" pitchFamily="34" charset="0"/>
                <a:ea typeface="Aptos" pitchFamily="34" charset="-122"/>
                <a:cs typeface="Aptos" pitchFamily="34" charset="-120"/>
              </a:rPr>
              <a:t>Recognising appropriate information resources and organisational procedures for obtaining and distributing confidential information</a:t>
            </a:r>
            <a:endParaRPr lang="en-US" sz="1700" dirty="0"/>
          </a:p>
          <a:p>
            <a:pPr marL="228600" indent="-228600">
              <a:lnSpc>
                <a:spcPct val="110000"/>
              </a:lnSpc>
              <a:spcAft>
                <a:spcPts val="1000"/>
              </a:spcAft>
              <a:buSzPct val="100000"/>
              <a:buChar char="•"/>
            </a:pPr>
            <a:r>
              <a:rPr lang="en-US" sz="1700" dirty="0">
                <a:solidFill>
                  <a:srgbClr val="002050"/>
                </a:solidFill>
                <a:latin typeface="Aptos" pitchFamily="34" charset="0"/>
                <a:ea typeface="Aptos" pitchFamily="34" charset="-122"/>
                <a:cs typeface="Aptos" pitchFamily="34" charset="-120"/>
              </a:rPr>
              <a:t>Applying a range of techniques for compiling reports, ensuring content and format are appropriate to information requirements and that reporting deadlines are met</a:t>
            </a:r>
            <a:endParaRPr lang="en-US" sz="1700" dirty="0"/>
          </a:p>
          <a:p>
            <a:pPr marL="228600" indent="-228600">
              <a:lnSpc>
                <a:spcPct val="110000"/>
              </a:lnSpc>
              <a:spcAft>
                <a:spcPts val="1000"/>
              </a:spcAft>
              <a:buSzPct val="100000"/>
              <a:buChar char="•"/>
            </a:pPr>
            <a:r>
              <a:rPr lang="en-US" sz="1700" dirty="0">
                <a:solidFill>
                  <a:srgbClr val="002050"/>
                </a:solidFill>
                <a:latin typeface="Aptos" pitchFamily="34" charset="0"/>
                <a:ea typeface="Aptos" pitchFamily="34" charset="-122"/>
                <a:cs typeface="Aptos" pitchFamily="34" charset="-120"/>
              </a:rPr>
              <a:t>Liaising with relevant parties and verifying reported information is in accordance with requirements, compiling and distributing additional commentary/information where required</a:t>
            </a:r>
            <a:endParaRPr lang="en-US" sz="1700" dirty="0"/>
          </a:p>
        </p:txBody>
      </p:sp>
      <p:sp>
        <p:nvSpPr>
          <p:cNvPr id="10" name="Shape 8"/>
          <p:cNvSpPr/>
          <p:nvPr/>
        </p:nvSpPr>
        <p:spPr>
          <a:xfrm>
            <a:off x="502920" y="5806440"/>
            <a:ext cx="2286000" cy="512064"/>
          </a:xfrm>
          <a:prstGeom prst="roundRect">
            <a:avLst>
              <a:gd name="adj" fmla="val 50000"/>
            </a:avLst>
          </a:prstGeom>
          <a:solidFill>
            <a:srgbClr val="002050"/>
          </a:solidFill>
          <a:ln/>
        </p:spPr>
      </p:sp>
      <p:sp>
        <p:nvSpPr>
          <p:cNvPr id="11" name="Text 9"/>
          <p:cNvSpPr/>
          <p:nvPr/>
        </p:nvSpPr>
        <p:spPr>
          <a:xfrm>
            <a:off x="502920" y="5806440"/>
            <a:ext cx="2286000" cy="512064"/>
          </a:xfrm>
          <a:prstGeom prst="rect">
            <a:avLst/>
          </a:prstGeom>
          <a:noFill/>
          <a:ln/>
        </p:spPr>
        <p:txBody>
          <a:bodyPr wrap="square" rtlCol="0" anchor="ctr"/>
          <a:lstStyle/>
          <a:p>
            <a:pPr algn="ctr" indent="0" marL="0">
              <a:buNone/>
            </a:pPr>
            <a:r>
              <a:rPr lang="en-US" sz="1400" b="1" dirty="0">
                <a:solidFill>
                  <a:srgbClr val="FFFFFF"/>
                </a:solidFill>
                <a:latin typeface="Aptos" pitchFamily="34" charset="0"/>
                <a:ea typeface="Aptos" pitchFamily="34" charset="-122"/>
                <a:cs typeface="Aptos" pitchFamily="34" charset="-120"/>
              </a:rPr>
              <a:t>AC 1 — as for SO 1</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indent="0" marL="0">
              <a:buNone/>
            </a:pPr>
            <a:r>
              <a:rPr lang="en-US" sz="1000" dirty="0">
                <a:solidFill>
                  <a:srgbClr val="6B7280"/>
                </a:solidFill>
                <a:latin typeface="Aptos" pitchFamily="34" charset="0"/>
                <a:ea typeface="Aptos" pitchFamily="34" charset="-122"/>
                <a:cs typeface="Aptos" pitchFamily="34" charset="-120"/>
              </a:rPr>
              <a:t>Unit Standard 8252 — Writing Business Reports   ·   Investec IT Systems Support NQF 5</a:t>
            </a:r>
            <a:endParaRPr lang="en-US" sz="10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1000" dirty="0">
                <a:solidFill>
                  <a:srgbClr val="6B7280"/>
                </a:solidFill>
                <a:latin typeface="Aptos" pitchFamily="34" charset="0"/>
                <a:ea typeface="Aptos" pitchFamily="34" charset="-122"/>
                <a:cs typeface="Aptos" pitchFamily="34" charset="-120"/>
              </a:rPr>
              <a:t>4</a:t>
            </a:r>
            <a:endParaRPr lang="en-US" sz="10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56032"/>
            <a:ext cx="11183112" cy="347472"/>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CRITICAL CROSS-FIELD OUTCOMES</a:t>
            </a:r>
            <a:endParaRPr lang="en-US" sz="1400" dirty="0"/>
          </a:p>
        </p:txBody>
      </p:sp>
      <p:sp>
        <p:nvSpPr>
          <p:cNvPr id="6" name="Text 4"/>
          <p:cNvSpPr/>
          <p:nvPr/>
        </p:nvSpPr>
        <p:spPr>
          <a:xfrm>
            <a:off x="502920" y="585216"/>
            <a:ext cx="11183112" cy="786384"/>
          </a:xfrm>
          <a:prstGeom prst="rect">
            <a:avLst/>
          </a:prstGeom>
          <a:noFill/>
          <a:ln/>
        </p:spPr>
        <p:txBody>
          <a:bodyPr wrap="square" rtlCol="0" anchor="ctr"/>
          <a:lstStyle/>
          <a:p>
            <a:pPr indent="0" marL="0">
              <a:buNone/>
            </a:pPr>
            <a:r>
              <a:rPr lang="en-US" sz="3400" b="1" dirty="0">
                <a:solidFill>
                  <a:srgbClr val="002050"/>
                </a:solidFill>
                <a:latin typeface="Aptos Display" pitchFamily="34" charset="0"/>
                <a:ea typeface="Aptos Display" pitchFamily="34" charset="-122"/>
                <a:cs typeface="Aptos Display" pitchFamily="34" charset="-120"/>
              </a:rPr>
              <a:t>Critical Cross-Field Outcomes</a:t>
            </a:r>
            <a:endParaRPr lang="en-US" sz="3400" dirty="0"/>
          </a:p>
        </p:txBody>
      </p:sp>
      <p:sp>
        <p:nvSpPr>
          <p:cNvPr id="7" name="Shape 5"/>
          <p:cNvSpPr/>
          <p:nvPr/>
        </p:nvSpPr>
        <p:spPr>
          <a:xfrm>
            <a:off x="502920" y="1645920"/>
            <a:ext cx="5454396" cy="2148840"/>
          </a:xfrm>
          <a:prstGeom prst="roundRect">
            <a:avLst>
              <a:gd name="adj" fmla="val 3830"/>
            </a:avLst>
          </a:prstGeom>
          <a:solidFill>
            <a:srgbClr val="EAF4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8" name="Shape 6"/>
          <p:cNvSpPr/>
          <p:nvPr/>
        </p:nvSpPr>
        <p:spPr>
          <a:xfrm>
            <a:off x="502920" y="1645920"/>
            <a:ext cx="82296" cy="2148840"/>
          </a:xfrm>
          <a:prstGeom prst="rect">
            <a:avLst/>
          </a:prstGeom>
          <a:solidFill>
            <a:srgbClr val="0F6CBD"/>
          </a:solidFill>
          <a:ln/>
        </p:spPr>
      </p:sp>
      <p:sp>
        <p:nvSpPr>
          <p:cNvPr id="9" name="Text 7"/>
          <p:cNvSpPr/>
          <p:nvPr/>
        </p:nvSpPr>
        <p:spPr>
          <a:xfrm>
            <a:off x="777240" y="1783080"/>
            <a:ext cx="4951476" cy="1874520"/>
          </a:xfrm>
          <a:prstGeom prst="rect">
            <a:avLst/>
          </a:prstGeom>
          <a:noFill/>
          <a:ln/>
        </p:spPr>
        <p:txBody>
          <a:bodyPr wrap="square" rtlCol="0" anchor="t"/>
          <a:lstStyle/>
          <a:p>
            <a:pPr indent="0" marL="0">
              <a:lnSpc>
                <a:spcPct val="110000"/>
              </a:lnSpc>
              <a:buNone/>
            </a:pPr>
            <a:r>
              <a:rPr lang="en-US" sz="2000" b="1" dirty="0">
                <a:solidFill>
                  <a:srgbClr val="002050"/>
                </a:solidFill>
                <a:latin typeface="Aptos Display" pitchFamily="34" charset="0"/>
                <a:ea typeface="Aptos Display" pitchFamily="34" charset="-122"/>
                <a:cs typeface="Aptos Display" pitchFamily="34" charset="-120"/>
              </a:rPr>
              <a:t>CCFO — Working
</a:t>
            </a:r>
            <a:pPr indent="0" marL="0">
              <a:lnSpc>
                <a:spcPct val="110000"/>
              </a:lnSpc>
              <a:buNone/>
            </a:pPr>
            <a:r>
              <a:rPr lang="en-US" sz="1600" dirty="0">
                <a:solidFill>
                  <a:srgbClr val="002050"/>
                </a:solidFill>
                <a:latin typeface="Aptos" pitchFamily="34" charset="0"/>
                <a:ea typeface="Aptos" pitchFamily="34" charset="-122"/>
                <a:cs typeface="Aptos" pitchFamily="34" charset="-120"/>
              </a:rPr>
              <a:t>Demonstrate an understanding of the world as a set of related systems where follow-up actions are vital to ensuring that confidential information is received and verified by authorised recipients.</a:t>
            </a:r>
            <a:endParaRPr lang="en-US" sz="2000" dirty="0"/>
          </a:p>
        </p:txBody>
      </p:sp>
      <p:sp>
        <p:nvSpPr>
          <p:cNvPr id="10" name="Shape 8"/>
          <p:cNvSpPr/>
          <p:nvPr/>
        </p:nvSpPr>
        <p:spPr>
          <a:xfrm>
            <a:off x="6231636" y="1645920"/>
            <a:ext cx="5454396" cy="2148840"/>
          </a:xfrm>
          <a:prstGeom prst="roundRect">
            <a:avLst>
              <a:gd name="adj" fmla="val 3830"/>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11" name="Shape 9"/>
          <p:cNvSpPr/>
          <p:nvPr/>
        </p:nvSpPr>
        <p:spPr>
          <a:xfrm>
            <a:off x="6231636" y="1645920"/>
            <a:ext cx="82296" cy="2148840"/>
          </a:xfrm>
          <a:prstGeom prst="rect">
            <a:avLst/>
          </a:prstGeom>
          <a:solidFill>
            <a:srgbClr val="0F6CBD"/>
          </a:solidFill>
          <a:ln/>
        </p:spPr>
      </p:sp>
      <p:sp>
        <p:nvSpPr>
          <p:cNvPr id="12" name="Text 10"/>
          <p:cNvSpPr/>
          <p:nvPr/>
        </p:nvSpPr>
        <p:spPr>
          <a:xfrm>
            <a:off x="6505956" y="1783080"/>
            <a:ext cx="4951476" cy="1874520"/>
          </a:xfrm>
          <a:prstGeom prst="rect">
            <a:avLst/>
          </a:prstGeom>
          <a:noFill/>
          <a:ln/>
        </p:spPr>
        <p:txBody>
          <a:bodyPr wrap="square" rtlCol="0" anchor="t"/>
          <a:lstStyle/>
          <a:p>
            <a:pPr indent="0" marL="0">
              <a:lnSpc>
                <a:spcPct val="110000"/>
              </a:lnSpc>
              <a:buNone/>
            </a:pPr>
            <a:r>
              <a:rPr lang="en-US" sz="2000" b="1" dirty="0">
                <a:solidFill>
                  <a:srgbClr val="002050"/>
                </a:solidFill>
                <a:latin typeface="Aptos Display" pitchFamily="34" charset="0"/>
                <a:ea typeface="Aptos Display" pitchFamily="34" charset="-122"/>
                <a:cs typeface="Aptos Display" pitchFamily="34" charset="-120"/>
              </a:rPr>
              <a:t>CCFO — Organising
</a:t>
            </a:r>
            <a:pPr indent="0" marL="0">
              <a:lnSpc>
                <a:spcPct val="110000"/>
              </a:lnSpc>
              <a:buNone/>
            </a:pPr>
            <a:r>
              <a:rPr lang="en-US" sz="1600" dirty="0">
                <a:solidFill>
                  <a:srgbClr val="002050"/>
                </a:solidFill>
                <a:latin typeface="Aptos" pitchFamily="34" charset="0"/>
                <a:ea typeface="Aptos" pitchFamily="34" charset="-122"/>
                <a:cs typeface="Aptos" pitchFamily="34" charset="-120"/>
              </a:rPr>
              <a:t>Organise oneself and one's activities when compiling reports so that sufficient time is set aside to check comprehensiveness and accuracy of information reported.</a:t>
            </a:r>
            <a:endParaRPr lang="en-US" sz="2000" dirty="0"/>
          </a:p>
        </p:txBody>
      </p:sp>
      <p:sp>
        <p:nvSpPr>
          <p:cNvPr id="13" name="Shape 11"/>
          <p:cNvSpPr/>
          <p:nvPr/>
        </p:nvSpPr>
        <p:spPr>
          <a:xfrm>
            <a:off x="502920" y="4023360"/>
            <a:ext cx="5454396" cy="2148840"/>
          </a:xfrm>
          <a:prstGeom prst="roundRect">
            <a:avLst>
              <a:gd name="adj" fmla="val 3830"/>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14" name="Shape 12"/>
          <p:cNvSpPr/>
          <p:nvPr/>
        </p:nvSpPr>
        <p:spPr>
          <a:xfrm>
            <a:off x="502920" y="4023360"/>
            <a:ext cx="82296" cy="2148840"/>
          </a:xfrm>
          <a:prstGeom prst="rect">
            <a:avLst/>
          </a:prstGeom>
          <a:solidFill>
            <a:srgbClr val="0F6CBD"/>
          </a:solidFill>
          <a:ln/>
        </p:spPr>
      </p:sp>
      <p:sp>
        <p:nvSpPr>
          <p:cNvPr id="15" name="Text 13"/>
          <p:cNvSpPr/>
          <p:nvPr/>
        </p:nvSpPr>
        <p:spPr>
          <a:xfrm>
            <a:off x="777240" y="4160520"/>
            <a:ext cx="4951476" cy="1874520"/>
          </a:xfrm>
          <a:prstGeom prst="rect">
            <a:avLst/>
          </a:prstGeom>
          <a:noFill/>
          <a:ln/>
        </p:spPr>
        <p:txBody>
          <a:bodyPr wrap="square" rtlCol="0" anchor="t"/>
          <a:lstStyle/>
          <a:p>
            <a:pPr indent="0" marL="0">
              <a:lnSpc>
                <a:spcPct val="110000"/>
              </a:lnSpc>
              <a:buNone/>
            </a:pPr>
            <a:r>
              <a:rPr lang="en-US" sz="2000" b="1" dirty="0">
                <a:solidFill>
                  <a:srgbClr val="002050"/>
                </a:solidFill>
                <a:latin typeface="Aptos Display" pitchFamily="34" charset="0"/>
                <a:ea typeface="Aptos Display" pitchFamily="34" charset="-122"/>
                <a:cs typeface="Aptos Display" pitchFamily="34" charset="-120"/>
              </a:rPr>
              <a:t>CCFO — Collecting
</a:t>
            </a:r>
            <a:pPr indent="0" marL="0">
              <a:lnSpc>
                <a:spcPct val="110000"/>
              </a:lnSpc>
              <a:buNone/>
            </a:pPr>
            <a:r>
              <a:rPr lang="en-US" sz="1600" dirty="0">
                <a:solidFill>
                  <a:srgbClr val="002050"/>
                </a:solidFill>
                <a:latin typeface="Aptos" pitchFamily="34" charset="0"/>
                <a:ea typeface="Aptos" pitchFamily="34" charset="-122"/>
                <a:cs typeface="Aptos" pitchFamily="34" charset="-120"/>
              </a:rPr>
              <a:t>Collect, organise, analyse and critically evaluate information when compiling reports so that information reflected is appropriate to business needs.</a:t>
            </a:r>
            <a:endParaRPr lang="en-US" sz="2000" dirty="0"/>
          </a:p>
        </p:txBody>
      </p:sp>
      <p:sp>
        <p:nvSpPr>
          <p:cNvPr id="16" name="Shape 14"/>
          <p:cNvSpPr/>
          <p:nvPr/>
        </p:nvSpPr>
        <p:spPr>
          <a:xfrm>
            <a:off x="6231636" y="4023360"/>
            <a:ext cx="5454396" cy="2148840"/>
          </a:xfrm>
          <a:prstGeom prst="roundRect">
            <a:avLst>
              <a:gd name="adj" fmla="val 3830"/>
            </a:avLst>
          </a:prstGeom>
          <a:solidFill>
            <a:srgbClr val="EAF4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17" name="Shape 15"/>
          <p:cNvSpPr/>
          <p:nvPr/>
        </p:nvSpPr>
        <p:spPr>
          <a:xfrm>
            <a:off x="6231636" y="4023360"/>
            <a:ext cx="82296" cy="2148840"/>
          </a:xfrm>
          <a:prstGeom prst="rect">
            <a:avLst/>
          </a:prstGeom>
          <a:solidFill>
            <a:srgbClr val="0F6CBD"/>
          </a:solidFill>
          <a:ln/>
        </p:spPr>
      </p:sp>
      <p:sp>
        <p:nvSpPr>
          <p:cNvPr id="18" name="Text 16"/>
          <p:cNvSpPr/>
          <p:nvPr/>
        </p:nvSpPr>
        <p:spPr>
          <a:xfrm>
            <a:off x="6505956" y="4160520"/>
            <a:ext cx="4951476" cy="1874520"/>
          </a:xfrm>
          <a:prstGeom prst="rect">
            <a:avLst/>
          </a:prstGeom>
          <a:noFill/>
          <a:ln/>
        </p:spPr>
        <p:txBody>
          <a:bodyPr wrap="square" rtlCol="0" anchor="t"/>
          <a:lstStyle/>
          <a:p>
            <a:pPr indent="0" marL="0">
              <a:lnSpc>
                <a:spcPct val="110000"/>
              </a:lnSpc>
              <a:buNone/>
            </a:pPr>
            <a:r>
              <a:rPr lang="en-US" sz="2000" b="1" dirty="0">
                <a:solidFill>
                  <a:srgbClr val="002050"/>
                </a:solidFill>
                <a:latin typeface="Aptos Display" pitchFamily="34" charset="0"/>
                <a:ea typeface="Aptos Display" pitchFamily="34" charset="-122"/>
                <a:cs typeface="Aptos Display" pitchFamily="34" charset="-120"/>
              </a:rPr>
              <a:t>CCFO — Communicating
</a:t>
            </a:r>
            <a:pPr indent="0" marL="0">
              <a:lnSpc>
                <a:spcPct val="110000"/>
              </a:lnSpc>
              <a:buNone/>
            </a:pPr>
            <a:r>
              <a:rPr lang="en-US" sz="1600" dirty="0">
                <a:solidFill>
                  <a:srgbClr val="002050"/>
                </a:solidFill>
                <a:latin typeface="Aptos" pitchFamily="34" charset="0"/>
                <a:ea typeface="Aptos" pitchFamily="34" charset="-122"/>
                <a:cs typeface="Aptos" pitchFamily="34" charset="-120"/>
              </a:rPr>
              <a:t>Communicate effectively when compiling written reports by applying a style and format that facilitates clear interpretation of facts presented on the part of the recipient.</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indent="0" marL="0">
              <a:buNone/>
            </a:pPr>
            <a:r>
              <a:rPr lang="en-US" sz="1000" dirty="0">
                <a:solidFill>
                  <a:srgbClr val="6B7280"/>
                </a:solidFill>
                <a:latin typeface="Aptos" pitchFamily="34" charset="0"/>
                <a:ea typeface="Aptos" pitchFamily="34" charset="-122"/>
                <a:cs typeface="Aptos" pitchFamily="34" charset="-120"/>
              </a:rPr>
              <a:t>Unit Standard 8252 — Writing Business Reports   ·   Investec IT Systems Support NQF 5</a:t>
            </a:r>
            <a:endParaRPr lang="en-US" sz="10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1000" dirty="0">
                <a:solidFill>
                  <a:srgbClr val="6B7280"/>
                </a:solidFill>
                <a:latin typeface="Aptos" pitchFamily="34" charset="0"/>
                <a:ea typeface="Aptos" pitchFamily="34" charset="-122"/>
                <a:cs typeface="Aptos" pitchFamily="34" charset="-120"/>
              </a:rPr>
              <a:t>5</a:t>
            </a:r>
            <a:endParaRPr lang="en-US" sz="10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56032"/>
            <a:ext cx="11183112" cy="347472"/>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PURPOSE &amp; CONTENT OF REPORTS</a:t>
            </a:r>
            <a:endParaRPr lang="en-US" sz="1400" dirty="0"/>
          </a:p>
        </p:txBody>
      </p:sp>
      <p:sp>
        <p:nvSpPr>
          <p:cNvPr id="6" name="Text 4"/>
          <p:cNvSpPr/>
          <p:nvPr/>
        </p:nvSpPr>
        <p:spPr>
          <a:xfrm>
            <a:off x="502920" y="585216"/>
            <a:ext cx="11183112" cy="786384"/>
          </a:xfrm>
          <a:prstGeom prst="rect">
            <a:avLst/>
          </a:prstGeom>
          <a:noFill/>
          <a:ln/>
        </p:spPr>
        <p:txBody>
          <a:bodyPr wrap="square" rtlCol="0" anchor="ctr"/>
          <a:lstStyle/>
          <a:p>
            <a:pPr indent="0" marL="0">
              <a:buNone/>
            </a:pPr>
            <a:r>
              <a:rPr lang="en-US" sz="3400" b="1" dirty="0">
                <a:solidFill>
                  <a:srgbClr val="002050"/>
                </a:solidFill>
                <a:latin typeface="Aptos Display" pitchFamily="34" charset="0"/>
                <a:ea typeface="Aptos Display" pitchFamily="34" charset="-122"/>
                <a:cs typeface="Aptos Display" pitchFamily="34" charset="-120"/>
              </a:rPr>
              <a:t>Introduction</a:t>
            </a:r>
            <a:endParaRPr lang="en-US" sz="3400" dirty="0"/>
          </a:p>
        </p:txBody>
      </p:sp>
      <p:sp>
        <p:nvSpPr>
          <p:cNvPr id="7" name="Text 5"/>
          <p:cNvSpPr/>
          <p:nvPr/>
        </p:nvSpPr>
        <p:spPr>
          <a:xfrm>
            <a:off x="502920" y="1645920"/>
            <a:ext cx="11183112" cy="4709160"/>
          </a:xfrm>
          <a:prstGeom prst="rect">
            <a:avLst/>
          </a:prstGeom>
          <a:noFill/>
          <a:ln/>
        </p:spPr>
        <p:txBody>
          <a:bodyPr wrap="square" rtlCol="0" anchor="t"/>
          <a:lstStyle/>
          <a:p>
            <a:pPr indent="0" marL="0">
              <a:lnSpc>
                <a:spcPct val="112000"/>
              </a:lnSpc>
              <a:spcAft>
                <a:spcPts val="1200"/>
              </a:spcAft>
              <a:buNone/>
            </a:pPr>
            <a:r>
              <a:rPr lang="en-US" sz="1700" dirty="0">
                <a:solidFill>
                  <a:srgbClr val="002050"/>
                </a:solidFill>
                <a:latin typeface="Aptos" pitchFamily="34" charset="0"/>
                <a:ea typeface="Aptos" pitchFamily="34" charset="-122"/>
                <a:cs typeface="Aptos" pitchFamily="34" charset="-120"/>
              </a:rPr>
              <a:t>Because we are dealing with business communication, this section is based on business communication, but the remainder of the types of reports do not differ much from this type of report. By practising how to write an internal report on a business related matter, we will prepare you to learn the basics of report writing so that you may develop to writing more advanced and specific reports as you move up in your career.
</a:t>
            </a:r>
            <a:endParaRPr lang="en-US" sz="1700" dirty="0"/>
          </a:p>
          <a:p>
            <a:pPr indent="0" marL="0">
              <a:lnSpc>
                <a:spcPct val="112000"/>
              </a:lnSpc>
              <a:spcAft>
                <a:spcPts val="1200"/>
              </a:spcAft>
              <a:buNone/>
            </a:pPr>
            <a:r>
              <a:rPr lang="en-US" sz="1700" dirty="0">
                <a:solidFill>
                  <a:srgbClr val="002050"/>
                </a:solidFill>
                <a:latin typeface="Aptos" pitchFamily="34" charset="0"/>
                <a:ea typeface="Aptos" pitchFamily="34" charset="-122"/>
                <a:cs typeface="Aptos" pitchFamily="34" charset="-120"/>
              </a:rPr>
              <a:t>There are a few general rules about report writing. A report should be a formal document and should be in the past tense as far as possible, as well as avoiding the use of first or second person pronouns. There should be a simple numbering system with clear headings.
</a:t>
            </a:r>
            <a:endParaRPr lang="en-US" sz="1700" dirty="0"/>
          </a:p>
          <a:p>
            <a:pPr indent="0" marL="0">
              <a:lnSpc>
                <a:spcPct val="112000"/>
              </a:lnSpc>
              <a:spcAft>
                <a:spcPts val="1200"/>
              </a:spcAft>
              <a:buNone/>
            </a:pPr>
            <a:r>
              <a:rPr lang="en-US" sz="1700" dirty="0">
                <a:solidFill>
                  <a:srgbClr val="002050"/>
                </a:solidFill>
                <a:latin typeface="Aptos" pitchFamily="34" charset="0"/>
                <a:ea typeface="Aptos" pitchFamily="34" charset="-122"/>
                <a:cs typeface="Aptos" pitchFamily="34" charset="-120"/>
              </a:rPr>
              <a:t>Before we start writing reports in business, we need to understand what the purpose of the report is — i.e. the outcome, or required outcome thereof — as well as the manner (style) in which the report must be written. Writing a report in a style which is not suited to its audience or readers will not be professional. Therefore we must understand what we need to put into the report and phrase it appropriately so that the readers understand the information being given to them.</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indent="0" marL="0">
              <a:buNone/>
            </a:pPr>
            <a:r>
              <a:rPr lang="en-US" sz="1000" dirty="0">
                <a:solidFill>
                  <a:srgbClr val="6B7280"/>
                </a:solidFill>
                <a:latin typeface="Aptos" pitchFamily="34" charset="0"/>
                <a:ea typeface="Aptos" pitchFamily="34" charset="-122"/>
                <a:cs typeface="Aptos" pitchFamily="34" charset="-120"/>
              </a:rPr>
              <a:t>Unit Standard 8252 — Writing Business Reports   ·   Investec IT Systems Support NQF 5</a:t>
            </a:r>
            <a:endParaRPr lang="en-US" sz="10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1000" dirty="0">
                <a:solidFill>
                  <a:srgbClr val="6B7280"/>
                </a:solidFill>
                <a:latin typeface="Aptos" pitchFamily="34" charset="0"/>
                <a:ea typeface="Aptos" pitchFamily="34" charset="-122"/>
                <a:cs typeface="Aptos" pitchFamily="34" charset="-120"/>
              </a:rPr>
              <a:t>6</a:t>
            </a:r>
            <a:endParaRPr lang="en-US" sz="10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56032"/>
            <a:ext cx="11183112" cy="347472"/>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HOW TO WRITE A REPORT</a:t>
            </a:r>
            <a:endParaRPr lang="en-US" sz="1400" dirty="0"/>
          </a:p>
        </p:txBody>
      </p:sp>
      <p:sp>
        <p:nvSpPr>
          <p:cNvPr id="6" name="Text 4"/>
          <p:cNvSpPr/>
          <p:nvPr/>
        </p:nvSpPr>
        <p:spPr>
          <a:xfrm>
            <a:off x="502920" y="585216"/>
            <a:ext cx="11183112" cy="786384"/>
          </a:xfrm>
          <a:prstGeom prst="rect">
            <a:avLst/>
          </a:prstGeom>
          <a:noFill/>
          <a:ln/>
        </p:spPr>
        <p:txBody>
          <a:bodyPr wrap="square" rtlCol="0" anchor="ctr"/>
          <a:lstStyle/>
          <a:p>
            <a:pPr indent="0" marL="0">
              <a:buNone/>
            </a:pPr>
            <a:r>
              <a:rPr lang="en-US" sz="3400" b="1" dirty="0">
                <a:solidFill>
                  <a:srgbClr val="002050"/>
                </a:solidFill>
                <a:latin typeface="Aptos Display" pitchFamily="34" charset="0"/>
                <a:ea typeface="Aptos Display" pitchFamily="34" charset="-122"/>
                <a:cs typeface="Aptos Display" pitchFamily="34" charset="-120"/>
              </a:rPr>
              <a:t>How to Write a Report — Style</a:t>
            </a:r>
            <a:endParaRPr lang="en-US" sz="3400" dirty="0"/>
          </a:p>
        </p:txBody>
      </p:sp>
      <p:sp>
        <p:nvSpPr>
          <p:cNvPr id="7" name="Text 5"/>
          <p:cNvSpPr/>
          <p:nvPr/>
        </p:nvSpPr>
        <p:spPr>
          <a:xfrm>
            <a:off x="502920" y="1645920"/>
            <a:ext cx="11183112" cy="3017520"/>
          </a:xfrm>
          <a:prstGeom prst="rect">
            <a:avLst/>
          </a:prstGeom>
          <a:noFill/>
          <a:ln/>
        </p:spPr>
        <p:txBody>
          <a:bodyPr wrap="square" rtlCol="0" anchor="t"/>
          <a:lstStyle/>
          <a:p>
            <a:pPr indent="0" marL="0">
              <a:lnSpc>
                <a:spcPct val="110000"/>
              </a:lnSpc>
              <a:spcAft>
                <a:spcPts val="1200"/>
              </a:spcAft>
              <a:buNone/>
            </a:pPr>
            <a:r>
              <a:rPr lang="en-US" sz="1900" dirty="0">
                <a:solidFill>
                  <a:srgbClr val="002050"/>
                </a:solidFill>
                <a:latin typeface="Aptos" pitchFamily="34" charset="0"/>
                <a:ea typeface="Aptos" pitchFamily="34" charset="-122"/>
                <a:cs typeface="Aptos" pitchFamily="34" charset="-120"/>
              </a:rPr>
              <a:t>To be completely successful, a report which makes recommendations must ensure that the persons for whom the report is intended:
</a:t>
            </a:r>
            <a:endParaRPr lang="en-US" sz="1900" dirty="0"/>
          </a:p>
          <a:p>
            <a:pPr marL="228600" indent="-228600">
              <a:lnSpc>
                <a:spcPct val="110000"/>
              </a:lnSpc>
              <a:spcAft>
                <a:spcPts val="1000"/>
              </a:spcAft>
              <a:buSzPct val="100000"/>
              <a:buChar char="•"/>
            </a:pPr>
            <a:r>
              <a:rPr lang="en-US" sz="1900" dirty="0">
                <a:solidFill>
                  <a:srgbClr val="002050"/>
                </a:solidFill>
                <a:latin typeface="Aptos" pitchFamily="34" charset="0"/>
                <a:ea typeface="Aptos" pitchFamily="34" charset="-122"/>
                <a:cs typeface="Aptos" pitchFamily="34" charset="-120"/>
              </a:rPr>
              <a:t>Read it without unnecessary delay</a:t>
            </a:r>
            <a:endParaRPr lang="en-US" sz="1900" dirty="0"/>
          </a:p>
          <a:p>
            <a:pPr marL="228600" indent="-228600">
              <a:lnSpc>
                <a:spcPct val="110000"/>
              </a:lnSpc>
              <a:spcAft>
                <a:spcPts val="1000"/>
              </a:spcAft>
              <a:buSzPct val="100000"/>
              <a:buChar char="•"/>
            </a:pPr>
            <a:r>
              <a:rPr lang="en-US" sz="1900" dirty="0">
                <a:solidFill>
                  <a:srgbClr val="002050"/>
                </a:solidFill>
                <a:latin typeface="Aptos" pitchFamily="34" charset="0"/>
                <a:ea typeface="Aptos" pitchFamily="34" charset="-122"/>
                <a:cs typeface="Aptos" pitchFamily="34" charset="-120"/>
              </a:rPr>
              <a:t>Understand everything in it without undue effort</a:t>
            </a:r>
            <a:endParaRPr lang="en-US" sz="1900" dirty="0"/>
          </a:p>
          <a:p>
            <a:pPr marL="228600" indent="-228600">
              <a:lnSpc>
                <a:spcPct val="110000"/>
              </a:lnSpc>
              <a:spcAft>
                <a:spcPts val="1000"/>
              </a:spcAft>
              <a:buSzPct val="100000"/>
              <a:buChar char="•"/>
            </a:pPr>
            <a:r>
              <a:rPr lang="en-US" sz="1900" dirty="0">
                <a:solidFill>
                  <a:srgbClr val="002050"/>
                </a:solidFill>
                <a:latin typeface="Aptos" pitchFamily="34" charset="0"/>
                <a:ea typeface="Aptos" pitchFamily="34" charset="-122"/>
                <a:cs typeface="Aptos" pitchFamily="34" charset="-120"/>
              </a:rPr>
              <a:t>Accept the facts, findings, conclusions and recommendations</a:t>
            </a:r>
            <a:endParaRPr lang="en-US" sz="1900" dirty="0"/>
          </a:p>
          <a:p>
            <a:pPr marL="228600" indent="-228600">
              <a:lnSpc>
                <a:spcPct val="110000"/>
              </a:lnSpc>
              <a:spcAft>
                <a:spcPts val="1000"/>
              </a:spcAft>
              <a:buSzPct val="100000"/>
              <a:buChar char="•"/>
            </a:pPr>
            <a:r>
              <a:rPr lang="en-US" sz="1900" dirty="0">
                <a:solidFill>
                  <a:srgbClr val="002050"/>
                </a:solidFill>
                <a:latin typeface="Aptos" pitchFamily="34" charset="0"/>
                <a:ea typeface="Aptos" pitchFamily="34" charset="-122"/>
                <a:cs typeface="Aptos" pitchFamily="34" charset="-120"/>
              </a:rPr>
              <a:t>Decide to take the action recommended</a:t>
            </a:r>
            <a:endParaRPr lang="en-US" sz="1900" dirty="0"/>
          </a:p>
        </p:txBody>
      </p:sp>
      <p:sp>
        <p:nvSpPr>
          <p:cNvPr id="8" name="Shape 6"/>
          <p:cNvSpPr/>
          <p:nvPr/>
        </p:nvSpPr>
        <p:spPr>
          <a:xfrm>
            <a:off x="502920" y="4709160"/>
            <a:ext cx="11183112" cy="1371600"/>
          </a:xfrm>
          <a:prstGeom prst="roundRect">
            <a:avLst>
              <a:gd name="adj" fmla="val 6000"/>
            </a:avLst>
          </a:prstGeom>
          <a:solidFill>
            <a:srgbClr val="EAF4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31520" y="4937760"/>
            <a:ext cx="329184" cy="329184"/>
          </a:xfrm>
          <a:prstGeom prst="rect">
            <a:avLst/>
          </a:prstGeom>
        </p:spPr>
      </p:pic>
      <p:sp>
        <p:nvSpPr>
          <p:cNvPr id="10" name="Text 7"/>
          <p:cNvSpPr/>
          <p:nvPr/>
        </p:nvSpPr>
        <p:spPr>
          <a:xfrm>
            <a:off x="1188720" y="4846320"/>
            <a:ext cx="10222992" cy="1097280"/>
          </a:xfrm>
          <a:prstGeom prst="rect">
            <a:avLst/>
          </a:prstGeom>
          <a:noFill/>
          <a:ln/>
        </p:spPr>
        <p:txBody>
          <a:bodyPr wrap="square" rtlCol="0" anchor="ctr"/>
          <a:lstStyle/>
          <a:p>
            <a:pPr indent="0" marL="0">
              <a:lnSpc>
                <a:spcPct val="110000"/>
              </a:lnSpc>
              <a:buNone/>
            </a:pPr>
            <a:r>
              <a:rPr lang="en-US" sz="1700" dirty="0">
                <a:solidFill>
                  <a:srgbClr val="002050"/>
                </a:solidFill>
                <a:latin typeface="Aptos" pitchFamily="34" charset="0"/>
                <a:ea typeface="Aptos" pitchFamily="34" charset="-122"/>
                <a:cs typeface="Aptos" pitchFamily="34" charset="-120"/>
              </a:rPr>
              <a:t>Achieving this demands more of you than merely presenting relevant facts accurately. It also demands that you communicate in a way that is both acceptable and intelligible to the readers.</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indent="0" marL="0">
              <a:buNone/>
            </a:pPr>
            <a:r>
              <a:rPr lang="en-US" sz="1000" dirty="0">
                <a:solidFill>
                  <a:srgbClr val="6B7280"/>
                </a:solidFill>
                <a:latin typeface="Aptos" pitchFamily="34" charset="0"/>
                <a:ea typeface="Aptos" pitchFamily="34" charset="-122"/>
                <a:cs typeface="Aptos" pitchFamily="34" charset="-120"/>
              </a:rPr>
              <a:t>Unit Standard 8252 — Writing Business Reports   ·   Investec IT Systems Support NQF 5</a:t>
            </a:r>
            <a:endParaRPr lang="en-US" sz="10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1000" dirty="0">
                <a:solidFill>
                  <a:srgbClr val="6B7280"/>
                </a:solidFill>
                <a:latin typeface="Aptos" pitchFamily="34" charset="0"/>
                <a:ea typeface="Aptos" pitchFamily="34" charset="-122"/>
                <a:cs typeface="Aptos" pitchFamily="34" charset="-120"/>
              </a:rPr>
              <a:t>7</a:t>
            </a:r>
            <a:endParaRPr lang="en-US" sz="10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56032"/>
            <a:ext cx="11183112" cy="347472"/>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QUALITIES OF GOOD REPORT WRITING · 1 OF 2</a:t>
            </a:r>
            <a:endParaRPr lang="en-US" sz="1400" dirty="0"/>
          </a:p>
        </p:txBody>
      </p:sp>
      <p:sp>
        <p:nvSpPr>
          <p:cNvPr id="6" name="Text 4"/>
          <p:cNvSpPr/>
          <p:nvPr/>
        </p:nvSpPr>
        <p:spPr>
          <a:xfrm>
            <a:off x="502920" y="585216"/>
            <a:ext cx="11183112" cy="786384"/>
          </a:xfrm>
          <a:prstGeom prst="rect">
            <a:avLst/>
          </a:prstGeom>
          <a:noFill/>
          <a:ln/>
        </p:spPr>
        <p:txBody>
          <a:bodyPr wrap="square" rtlCol="0" anchor="ctr"/>
          <a:lstStyle/>
          <a:p>
            <a:pPr indent="0" marL="0">
              <a:buNone/>
            </a:pPr>
            <a:r>
              <a:rPr lang="en-US" sz="3400" b="1" dirty="0">
                <a:solidFill>
                  <a:srgbClr val="002050"/>
                </a:solidFill>
                <a:latin typeface="Aptos Display" pitchFamily="34" charset="0"/>
                <a:ea typeface="Aptos Display" pitchFamily="34" charset="-122"/>
                <a:cs typeface="Aptos Display" pitchFamily="34" charset="-120"/>
              </a:rPr>
              <a:t>The Qualities of Good Report Writing</a:t>
            </a:r>
            <a:endParaRPr lang="en-US" sz="3400" dirty="0"/>
          </a:p>
        </p:txBody>
      </p:sp>
      <p:sp>
        <p:nvSpPr>
          <p:cNvPr id="7" name="Shape 5"/>
          <p:cNvSpPr/>
          <p:nvPr/>
        </p:nvSpPr>
        <p:spPr>
          <a:xfrm>
            <a:off x="502920" y="1645920"/>
            <a:ext cx="11183112" cy="1374648"/>
          </a:xfrm>
          <a:prstGeom prst="roundRect">
            <a:avLst>
              <a:gd name="adj" fmla="val 5987"/>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8" name="Shape 6"/>
          <p:cNvSpPr/>
          <p:nvPr/>
        </p:nvSpPr>
        <p:spPr>
          <a:xfrm>
            <a:off x="502920" y="1645920"/>
            <a:ext cx="82296" cy="1374648"/>
          </a:xfrm>
          <a:prstGeom prst="rect">
            <a:avLst/>
          </a:prstGeom>
          <a:solidFill>
            <a:srgbClr val="0F6CBD"/>
          </a:solidFill>
          <a:ln/>
        </p:spPr>
      </p:sp>
      <p:sp>
        <p:nvSpPr>
          <p:cNvPr id="9" name="Text 7"/>
          <p:cNvSpPr/>
          <p:nvPr/>
        </p:nvSpPr>
        <p:spPr>
          <a:xfrm>
            <a:off x="795528" y="1755648"/>
            <a:ext cx="10634472" cy="1155192"/>
          </a:xfrm>
          <a:prstGeom prst="rect">
            <a:avLst/>
          </a:prstGeom>
          <a:noFill/>
          <a:ln/>
        </p:spPr>
        <p:txBody>
          <a:bodyPr wrap="square" rtlCol="0" anchor="ctr"/>
          <a:lstStyle/>
          <a:p>
            <a:pPr indent="0" marL="0">
              <a:lnSpc>
                <a:spcPct val="108000"/>
              </a:lnSpc>
              <a:buNone/>
            </a:pPr>
            <a:r>
              <a:rPr lang="en-US" sz="1850" b="1" dirty="0">
                <a:solidFill>
                  <a:srgbClr val="002050"/>
                </a:solidFill>
                <a:latin typeface="Aptos Display" pitchFamily="34" charset="0"/>
                <a:ea typeface="Aptos Display" pitchFamily="34" charset="-122"/>
                <a:cs typeface="Aptos Display" pitchFamily="34" charset="-120"/>
              </a:rPr>
              <a:t>Selectivity
</a:t>
            </a:r>
            <a:pPr indent="0" marL="0">
              <a:lnSpc>
                <a:spcPct val="108000"/>
              </a:lnSpc>
              <a:buNone/>
            </a:pPr>
            <a:r>
              <a:rPr lang="en-US" sz="1500" dirty="0">
                <a:solidFill>
                  <a:srgbClr val="002050"/>
                </a:solidFill>
                <a:latin typeface="Aptos" pitchFamily="34" charset="0"/>
                <a:ea typeface="Aptos" pitchFamily="34" charset="-122"/>
                <a:cs typeface="Aptos" pitchFamily="34" charset="-120"/>
              </a:rPr>
              <a:t>Careful choice of words can enable you to convey many subtleties of meaning.</a:t>
            </a:r>
            <a:endParaRPr lang="en-US" sz="1850" dirty="0"/>
          </a:p>
        </p:txBody>
      </p:sp>
      <p:sp>
        <p:nvSpPr>
          <p:cNvPr id="10" name="Shape 8"/>
          <p:cNvSpPr/>
          <p:nvPr/>
        </p:nvSpPr>
        <p:spPr>
          <a:xfrm>
            <a:off x="502920" y="3221736"/>
            <a:ext cx="11183112" cy="1374648"/>
          </a:xfrm>
          <a:prstGeom prst="roundRect">
            <a:avLst>
              <a:gd name="adj" fmla="val 5987"/>
            </a:avLst>
          </a:prstGeom>
          <a:solidFill>
            <a:srgbClr val="EAF4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11" name="Shape 9"/>
          <p:cNvSpPr/>
          <p:nvPr/>
        </p:nvSpPr>
        <p:spPr>
          <a:xfrm>
            <a:off x="502920" y="3221736"/>
            <a:ext cx="82296" cy="1374648"/>
          </a:xfrm>
          <a:prstGeom prst="rect">
            <a:avLst/>
          </a:prstGeom>
          <a:solidFill>
            <a:srgbClr val="0F6CBD"/>
          </a:solidFill>
          <a:ln/>
        </p:spPr>
      </p:sp>
      <p:sp>
        <p:nvSpPr>
          <p:cNvPr id="12" name="Text 10"/>
          <p:cNvSpPr/>
          <p:nvPr/>
        </p:nvSpPr>
        <p:spPr>
          <a:xfrm>
            <a:off x="795528" y="3331464"/>
            <a:ext cx="10634472" cy="1155192"/>
          </a:xfrm>
          <a:prstGeom prst="rect">
            <a:avLst/>
          </a:prstGeom>
          <a:noFill/>
          <a:ln/>
        </p:spPr>
        <p:txBody>
          <a:bodyPr wrap="square" rtlCol="0" anchor="ctr"/>
          <a:lstStyle/>
          <a:p>
            <a:pPr indent="0" marL="0">
              <a:lnSpc>
                <a:spcPct val="108000"/>
              </a:lnSpc>
              <a:buNone/>
            </a:pPr>
            <a:r>
              <a:rPr lang="en-US" sz="1850" b="1" dirty="0">
                <a:solidFill>
                  <a:srgbClr val="002050"/>
                </a:solidFill>
                <a:latin typeface="Aptos Display" pitchFamily="34" charset="0"/>
                <a:ea typeface="Aptos Display" pitchFamily="34" charset="-122"/>
                <a:cs typeface="Aptos Display" pitchFamily="34" charset="-120"/>
              </a:rPr>
              <a:t>Accuracy
</a:t>
            </a:r>
            <a:pPr indent="0" marL="0">
              <a:lnSpc>
                <a:spcPct val="108000"/>
              </a:lnSpc>
              <a:buNone/>
            </a:pPr>
            <a:r>
              <a:rPr lang="en-US" sz="1500" dirty="0">
                <a:solidFill>
                  <a:srgbClr val="002050"/>
                </a:solidFill>
                <a:latin typeface="Aptos" pitchFamily="34" charset="0"/>
                <a:ea typeface="Aptos" pitchFamily="34" charset="-122"/>
                <a:cs typeface="Aptos" pitchFamily="34" charset="-120"/>
              </a:rPr>
              <a:t>Check that everything you write is factually accurate and capable of being verified. Arguments should be soundly based and your reasoning logical. Do not write anything that will misinform, mislead or unfairly persuade your readers — accurate information is essential for effective communication and decision making.</a:t>
            </a:r>
            <a:endParaRPr lang="en-US" sz="1850" dirty="0"/>
          </a:p>
        </p:txBody>
      </p:sp>
      <p:sp>
        <p:nvSpPr>
          <p:cNvPr id="13" name="Shape 11"/>
          <p:cNvSpPr/>
          <p:nvPr/>
        </p:nvSpPr>
        <p:spPr>
          <a:xfrm>
            <a:off x="502920" y="4797552"/>
            <a:ext cx="11183112" cy="1374648"/>
          </a:xfrm>
          <a:prstGeom prst="roundRect">
            <a:avLst>
              <a:gd name="adj" fmla="val 5987"/>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14" name="Shape 12"/>
          <p:cNvSpPr/>
          <p:nvPr/>
        </p:nvSpPr>
        <p:spPr>
          <a:xfrm>
            <a:off x="502920" y="4797552"/>
            <a:ext cx="82296" cy="1374648"/>
          </a:xfrm>
          <a:prstGeom prst="rect">
            <a:avLst/>
          </a:prstGeom>
          <a:solidFill>
            <a:srgbClr val="0F6CBD"/>
          </a:solidFill>
          <a:ln/>
        </p:spPr>
      </p:sp>
      <p:sp>
        <p:nvSpPr>
          <p:cNvPr id="15" name="Text 13"/>
          <p:cNvSpPr/>
          <p:nvPr/>
        </p:nvSpPr>
        <p:spPr>
          <a:xfrm>
            <a:off x="795528" y="4907280"/>
            <a:ext cx="10634472" cy="1155192"/>
          </a:xfrm>
          <a:prstGeom prst="rect">
            <a:avLst/>
          </a:prstGeom>
          <a:noFill/>
          <a:ln/>
        </p:spPr>
        <p:txBody>
          <a:bodyPr wrap="square" rtlCol="0" anchor="ctr"/>
          <a:lstStyle/>
          <a:p>
            <a:pPr indent="0" marL="0">
              <a:lnSpc>
                <a:spcPct val="108000"/>
              </a:lnSpc>
              <a:buNone/>
            </a:pPr>
            <a:r>
              <a:rPr lang="en-US" sz="1850" b="1" dirty="0">
                <a:solidFill>
                  <a:srgbClr val="002050"/>
                </a:solidFill>
                <a:latin typeface="Aptos Display" pitchFamily="34" charset="0"/>
                <a:ea typeface="Aptos Display" pitchFamily="34" charset="-122"/>
                <a:cs typeface="Aptos Display" pitchFamily="34" charset="-120"/>
              </a:rPr>
              <a:t>Objectivity
</a:t>
            </a:r>
            <a:pPr indent="0" marL="0">
              <a:lnSpc>
                <a:spcPct val="108000"/>
              </a:lnSpc>
              <a:buNone/>
            </a:pPr>
            <a:r>
              <a:rPr lang="en-US" sz="1500" dirty="0">
                <a:solidFill>
                  <a:srgbClr val="002050"/>
                </a:solidFill>
                <a:latin typeface="Aptos" pitchFamily="34" charset="0"/>
                <a:ea typeface="Aptos" pitchFamily="34" charset="-122"/>
                <a:cs typeface="Aptos" pitchFamily="34" charset="-120"/>
              </a:rPr>
              <a:t>A report should not be an essay reflecting personal emotions and opinions. Look at all sides of a problem with an open mind before stating conclusions. Showing an open mind makes your conclusions and recommendations more acceptable — the emphasis is on the factual material and conclusions drawn, not on personal beliefs, biases or prejudices.</a:t>
            </a:r>
            <a:endParaRPr lang="en-US" sz="1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indent="0" marL="0">
              <a:buNone/>
            </a:pPr>
            <a:r>
              <a:rPr lang="en-US" sz="1000" dirty="0">
                <a:solidFill>
                  <a:srgbClr val="6B7280"/>
                </a:solidFill>
                <a:latin typeface="Aptos" pitchFamily="34" charset="0"/>
                <a:ea typeface="Aptos" pitchFamily="34" charset="-122"/>
                <a:cs typeface="Aptos" pitchFamily="34" charset="-120"/>
              </a:rPr>
              <a:t>Unit Standard 8252 — Writing Business Reports   ·   Investec IT Systems Support NQF 5</a:t>
            </a:r>
            <a:endParaRPr lang="en-US" sz="10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1000" dirty="0">
                <a:solidFill>
                  <a:srgbClr val="6B7280"/>
                </a:solidFill>
                <a:latin typeface="Aptos" pitchFamily="34" charset="0"/>
                <a:ea typeface="Aptos" pitchFamily="34" charset="-122"/>
                <a:cs typeface="Aptos" pitchFamily="34" charset="-120"/>
              </a:rPr>
              <a:t>8</a:t>
            </a:r>
            <a:endParaRPr lang="en-US" sz="10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56032"/>
            <a:ext cx="11183112" cy="347472"/>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QUALITIES OF GOOD REPORT WRITING · 2 OF 2</a:t>
            </a:r>
            <a:endParaRPr lang="en-US" sz="1400" dirty="0"/>
          </a:p>
        </p:txBody>
      </p:sp>
      <p:sp>
        <p:nvSpPr>
          <p:cNvPr id="6" name="Text 4"/>
          <p:cNvSpPr/>
          <p:nvPr/>
        </p:nvSpPr>
        <p:spPr>
          <a:xfrm>
            <a:off x="502920" y="585216"/>
            <a:ext cx="11183112" cy="786384"/>
          </a:xfrm>
          <a:prstGeom prst="rect">
            <a:avLst/>
          </a:prstGeom>
          <a:noFill/>
          <a:ln/>
        </p:spPr>
        <p:txBody>
          <a:bodyPr wrap="square" rtlCol="0" anchor="ctr"/>
          <a:lstStyle/>
          <a:p>
            <a:pPr indent="0" marL="0">
              <a:buNone/>
            </a:pPr>
            <a:r>
              <a:rPr lang="en-US" sz="3400" b="1" dirty="0">
                <a:solidFill>
                  <a:srgbClr val="002050"/>
                </a:solidFill>
                <a:latin typeface="Aptos Display" pitchFamily="34" charset="0"/>
                <a:ea typeface="Aptos Display" pitchFamily="34" charset="-122"/>
                <a:cs typeface="Aptos Display" pitchFamily="34" charset="-120"/>
              </a:rPr>
              <a:t>The Qualities of Good Report Writing</a:t>
            </a:r>
            <a:endParaRPr lang="en-US" sz="3400" dirty="0"/>
          </a:p>
        </p:txBody>
      </p:sp>
      <p:sp>
        <p:nvSpPr>
          <p:cNvPr id="7" name="Shape 5"/>
          <p:cNvSpPr/>
          <p:nvPr/>
        </p:nvSpPr>
        <p:spPr>
          <a:xfrm>
            <a:off x="502920" y="1645920"/>
            <a:ext cx="11183112" cy="1374648"/>
          </a:xfrm>
          <a:prstGeom prst="roundRect">
            <a:avLst>
              <a:gd name="adj" fmla="val 5987"/>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8" name="Shape 6"/>
          <p:cNvSpPr/>
          <p:nvPr/>
        </p:nvSpPr>
        <p:spPr>
          <a:xfrm>
            <a:off x="502920" y="1645920"/>
            <a:ext cx="82296" cy="1374648"/>
          </a:xfrm>
          <a:prstGeom prst="rect">
            <a:avLst/>
          </a:prstGeom>
          <a:solidFill>
            <a:srgbClr val="0F6CBD"/>
          </a:solidFill>
          <a:ln/>
        </p:spPr>
      </p:sp>
      <p:sp>
        <p:nvSpPr>
          <p:cNvPr id="9" name="Text 7"/>
          <p:cNvSpPr/>
          <p:nvPr/>
        </p:nvSpPr>
        <p:spPr>
          <a:xfrm>
            <a:off x="795528" y="1755648"/>
            <a:ext cx="10634472" cy="1155192"/>
          </a:xfrm>
          <a:prstGeom prst="rect">
            <a:avLst/>
          </a:prstGeom>
          <a:noFill/>
          <a:ln/>
        </p:spPr>
        <p:txBody>
          <a:bodyPr wrap="square" rtlCol="0" anchor="ctr"/>
          <a:lstStyle/>
          <a:p>
            <a:pPr indent="0" marL="0">
              <a:lnSpc>
                <a:spcPct val="108000"/>
              </a:lnSpc>
              <a:buNone/>
            </a:pPr>
            <a:r>
              <a:rPr lang="en-US" sz="1850" b="1" dirty="0">
                <a:solidFill>
                  <a:srgbClr val="002050"/>
                </a:solidFill>
                <a:latin typeface="Aptos Display" pitchFamily="34" charset="0"/>
                <a:ea typeface="Aptos Display" pitchFamily="34" charset="-122"/>
                <a:cs typeface="Aptos Display" pitchFamily="34" charset="-120"/>
              </a:rPr>
              <a:t>Conciseness
</a:t>
            </a:r>
            <a:pPr indent="0" marL="0">
              <a:lnSpc>
                <a:spcPct val="108000"/>
              </a:lnSpc>
              <a:buNone/>
            </a:pPr>
            <a:r>
              <a:rPr lang="en-US" sz="1500" dirty="0">
                <a:solidFill>
                  <a:srgbClr val="002050"/>
                </a:solidFill>
                <a:latin typeface="Aptos" pitchFamily="34" charset="0"/>
                <a:ea typeface="Aptos" pitchFamily="34" charset="-122"/>
                <a:cs typeface="Aptos" pitchFamily="34" charset="-120"/>
              </a:rPr>
              <a:t>'Veni, Vidi, Vici' (I came, I saw, I conquered) — that is how Julius Caesar reported his visit. While your reports won't be this short, aim to keep them concise. Do not mistake brevity for conciseness: a brief report may omit important information; a concise report is short but keeps all essential details.</a:t>
            </a:r>
            <a:endParaRPr lang="en-US" sz="1850" dirty="0"/>
          </a:p>
        </p:txBody>
      </p:sp>
      <p:sp>
        <p:nvSpPr>
          <p:cNvPr id="10" name="Shape 8"/>
          <p:cNvSpPr/>
          <p:nvPr/>
        </p:nvSpPr>
        <p:spPr>
          <a:xfrm>
            <a:off x="502920" y="3221736"/>
            <a:ext cx="11183112" cy="1374648"/>
          </a:xfrm>
          <a:prstGeom prst="roundRect">
            <a:avLst>
              <a:gd name="adj" fmla="val 5987"/>
            </a:avLst>
          </a:prstGeom>
          <a:solidFill>
            <a:srgbClr val="EAF4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11" name="Shape 9"/>
          <p:cNvSpPr/>
          <p:nvPr/>
        </p:nvSpPr>
        <p:spPr>
          <a:xfrm>
            <a:off x="502920" y="3221736"/>
            <a:ext cx="82296" cy="1374648"/>
          </a:xfrm>
          <a:prstGeom prst="rect">
            <a:avLst/>
          </a:prstGeom>
          <a:solidFill>
            <a:srgbClr val="0F6CBD"/>
          </a:solidFill>
          <a:ln/>
        </p:spPr>
      </p:sp>
      <p:sp>
        <p:nvSpPr>
          <p:cNvPr id="12" name="Text 10"/>
          <p:cNvSpPr/>
          <p:nvPr/>
        </p:nvSpPr>
        <p:spPr>
          <a:xfrm>
            <a:off x="795528" y="3331464"/>
            <a:ext cx="10634472" cy="1155192"/>
          </a:xfrm>
          <a:prstGeom prst="rect">
            <a:avLst/>
          </a:prstGeom>
          <a:noFill/>
          <a:ln/>
        </p:spPr>
        <p:txBody>
          <a:bodyPr wrap="square" rtlCol="0" anchor="ctr"/>
          <a:lstStyle/>
          <a:p>
            <a:pPr indent="0" marL="0">
              <a:lnSpc>
                <a:spcPct val="108000"/>
              </a:lnSpc>
              <a:buNone/>
            </a:pPr>
            <a:r>
              <a:rPr lang="en-US" sz="1850" b="1" dirty="0">
                <a:solidFill>
                  <a:srgbClr val="002050"/>
                </a:solidFill>
                <a:latin typeface="Aptos Display" pitchFamily="34" charset="0"/>
                <a:ea typeface="Aptos Display" pitchFamily="34" charset="-122"/>
                <a:cs typeface="Aptos Display" pitchFamily="34" charset="-120"/>
              </a:rPr>
              <a:t>Clarity &amp; Consistency
</a:t>
            </a:r>
            <a:pPr indent="0" marL="0">
              <a:lnSpc>
                <a:spcPct val="108000"/>
              </a:lnSpc>
              <a:buNone/>
            </a:pPr>
            <a:r>
              <a:rPr lang="en-US" sz="1500" dirty="0">
                <a:solidFill>
                  <a:srgbClr val="002050"/>
                </a:solidFill>
                <a:latin typeface="Aptos" pitchFamily="34" charset="0"/>
                <a:ea typeface="Aptos" pitchFamily="34" charset="-122"/>
                <a:cs typeface="Aptos" pitchFamily="34" charset="-120"/>
              </a:rPr>
              <a:t>The best way to achieve clarity is to allow time between the first draft and its revision — over a weekend, or at least overnight. If under pressure, at least leave it over a lunch or coffee break. A period of time thinking of other things lets you return with objectivity.</a:t>
            </a:r>
            <a:endParaRPr lang="en-US" sz="1850" dirty="0"/>
          </a:p>
        </p:txBody>
      </p:sp>
      <p:sp>
        <p:nvSpPr>
          <p:cNvPr id="13" name="Shape 11"/>
          <p:cNvSpPr/>
          <p:nvPr/>
        </p:nvSpPr>
        <p:spPr>
          <a:xfrm>
            <a:off x="502920" y="4797552"/>
            <a:ext cx="11183112" cy="1374648"/>
          </a:xfrm>
          <a:prstGeom prst="roundRect">
            <a:avLst>
              <a:gd name="adj" fmla="val 5987"/>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14" name="Shape 12"/>
          <p:cNvSpPr/>
          <p:nvPr/>
        </p:nvSpPr>
        <p:spPr>
          <a:xfrm>
            <a:off x="502920" y="4797552"/>
            <a:ext cx="82296" cy="1374648"/>
          </a:xfrm>
          <a:prstGeom prst="rect">
            <a:avLst/>
          </a:prstGeom>
          <a:solidFill>
            <a:srgbClr val="0F6CBD"/>
          </a:solidFill>
          <a:ln/>
        </p:spPr>
      </p:sp>
      <p:sp>
        <p:nvSpPr>
          <p:cNvPr id="15" name="Text 13"/>
          <p:cNvSpPr/>
          <p:nvPr/>
        </p:nvSpPr>
        <p:spPr>
          <a:xfrm>
            <a:off x="795528" y="4907280"/>
            <a:ext cx="10634472" cy="1155192"/>
          </a:xfrm>
          <a:prstGeom prst="rect">
            <a:avLst/>
          </a:prstGeom>
          <a:noFill/>
          <a:ln/>
        </p:spPr>
        <p:txBody>
          <a:bodyPr wrap="square" rtlCol="0" anchor="ctr"/>
          <a:lstStyle/>
          <a:p>
            <a:pPr indent="0" marL="0">
              <a:lnSpc>
                <a:spcPct val="108000"/>
              </a:lnSpc>
              <a:buNone/>
            </a:pPr>
            <a:r>
              <a:rPr lang="en-US" sz="1850" b="1" dirty="0">
                <a:solidFill>
                  <a:srgbClr val="002050"/>
                </a:solidFill>
                <a:latin typeface="Aptos Display" pitchFamily="34" charset="0"/>
                <a:ea typeface="Aptos Display" pitchFamily="34" charset="-122"/>
                <a:cs typeface="Aptos Display" pitchFamily="34" charset="-120"/>
              </a:rPr>
              <a:t>Simplicity
</a:t>
            </a:r>
            <a:pPr indent="0" marL="0">
              <a:lnSpc>
                <a:spcPct val="108000"/>
              </a:lnSpc>
              <a:buNone/>
            </a:pPr>
            <a:r>
              <a:rPr lang="en-US" sz="1500" dirty="0">
                <a:solidFill>
                  <a:srgbClr val="002050"/>
                </a:solidFill>
                <a:latin typeface="Aptos" pitchFamily="34" charset="0"/>
                <a:ea typeface="Aptos" pitchFamily="34" charset="-122"/>
                <a:cs typeface="Aptos" pitchFamily="34" charset="-120"/>
              </a:rPr>
              <a:t>If your writing is selective, accurate, objective, concise, clear and consistent, it will also be as simple as it can be. Guard against over-simplifying to the point of leaving out information the reader needs. Keep the reader in mind and ask whether they can follow the logic of your presentation.</a:t>
            </a:r>
            <a:endParaRPr lang="en-US" sz="1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indent="0" marL="0">
              <a:buNone/>
            </a:pPr>
            <a:r>
              <a:rPr lang="en-US" sz="1000" dirty="0">
                <a:solidFill>
                  <a:srgbClr val="6B7280"/>
                </a:solidFill>
                <a:latin typeface="Aptos" pitchFamily="34" charset="0"/>
                <a:ea typeface="Aptos" pitchFamily="34" charset="-122"/>
                <a:cs typeface="Aptos" pitchFamily="34" charset="-120"/>
              </a:rPr>
              <a:t>Unit Standard 8252 — Writing Business Reports   ·   Investec IT Systems Support NQF 5</a:t>
            </a:r>
            <a:endParaRPr lang="en-US" sz="10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1000" dirty="0">
                <a:solidFill>
                  <a:srgbClr val="6B7280"/>
                </a:solidFill>
                <a:latin typeface="Aptos" pitchFamily="34" charset="0"/>
                <a:ea typeface="Aptos" pitchFamily="34" charset="-122"/>
                <a:cs typeface="Aptos" pitchFamily="34" charset="-120"/>
              </a:rPr>
              <a:t>9</a:t>
            </a:r>
            <a:endParaRPr lang="en-US" sz="10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56032"/>
            <a:ext cx="11183112" cy="347472"/>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WRITING TIPS</a:t>
            </a:r>
            <a:endParaRPr lang="en-US" sz="1400" dirty="0"/>
          </a:p>
        </p:txBody>
      </p:sp>
      <p:sp>
        <p:nvSpPr>
          <p:cNvPr id="6" name="Text 4"/>
          <p:cNvSpPr/>
          <p:nvPr/>
        </p:nvSpPr>
        <p:spPr>
          <a:xfrm>
            <a:off x="502920" y="585216"/>
            <a:ext cx="11183112" cy="786384"/>
          </a:xfrm>
          <a:prstGeom prst="rect">
            <a:avLst/>
          </a:prstGeom>
          <a:noFill/>
          <a:ln/>
        </p:spPr>
        <p:txBody>
          <a:bodyPr wrap="square" rtlCol="0" anchor="ctr"/>
          <a:lstStyle/>
          <a:p>
            <a:pPr indent="0" marL="0">
              <a:buNone/>
            </a:pPr>
            <a:r>
              <a:rPr lang="en-US" sz="3400" b="1" dirty="0">
                <a:solidFill>
                  <a:srgbClr val="002050"/>
                </a:solidFill>
                <a:latin typeface="Aptos Display" pitchFamily="34" charset="0"/>
                <a:ea typeface="Aptos Display" pitchFamily="34" charset="-122"/>
                <a:cs typeface="Aptos Display" pitchFamily="34" charset="-120"/>
              </a:rPr>
              <a:t>Avoid Pointless Words</a:t>
            </a:r>
            <a:endParaRPr lang="en-US" sz="3400" dirty="0"/>
          </a:p>
        </p:txBody>
      </p:sp>
      <p:sp>
        <p:nvSpPr>
          <p:cNvPr id="7" name="Text 5"/>
          <p:cNvSpPr/>
          <p:nvPr/>
        </p:nvSpPr>
        <p:spPr>
          <a:xfrm>
            <a:off x="502920" y="1737360"/>
            <a:ext cx="11183112" cy="4709160"/>
          </a:xfrm>
          <a:prstGeom prst="rect">
            <a:avLst/>
          </a:prstGeom>
          <a:noFill/>
          <a:ln/>
        </p:spPr>
        <p:txBody>
          <a:bodyPr wrap="square" rtlCol="0" anchor="t"/>
          <a:lstStyle/>
          <a:p>
            <a:pPr indent="0" marL="0">
              <a:lnSpc>
                <a:spcPct val="112000"/>
              </a:lnSpc>
              <a:spcAft>
                <a:spcPts val="1200"/>
              </a:spcAft>
              <a:buNone/>
            </a:pPr>
            <a:r>
              <a:rPr lang="en-US" sz="1900" dirty="0">
                <a:solidFill>
                  <a:srgbClr val="002050"/>
                </a:solidFill>
                <a:latin typeface="Aptos" pitchFamily="34" charset="0"/>
                <a:ea typeface="Aptos" pitchFamily="34" charset="-122"/>
                <a:cs typeface="Aptos" pitchFamily="34" charset="-120"/>
              </a:rPr>
              <a:t>Some words and phrases — like 'basically', 'actually', 'undoubtedly', 'each and every one' and 'during the course of our investigation' — keep cropping up in reports. Yet they add nothing to the message and often can be removed without changing the meaning or the tone.
</a:t>
            </a:r>
            <a:endParaRPr lang="en-US" sz="1900" dirty="0"/>
          </a:p>
          <a:p>
            <a:pPr indent="0" marL="0">
              <a:lnSpc>
                <a:spcPct val="112000"/>
              </a:lnSpc>
              <a:spcAft>
                <a:spcPts val="1200"/>
              </a:spcAft>
              <a:buNone/>
            </a:pPr>
            <a:r>
              <a:rPr lang="en-US" sz="1900" dirty="0">
                <a:solidFill>
                  <a:srgbClr val="002050"/>
                </a:solidFill>
                <a:latin typeface="Aptos" pitchFamily="34" charset="0"/>
                <a:ea typeface="Aptos" pitchFamily="34" charset="-122"/>
                <a:cs typeface="Aptos" pitchFamily="34" charset="-120"/>
              </a:rPr>
              <a:t>Try leaving them out of your writing. You will find your sentences survive, succeed and may even flourish without them.</a:t>
            </a:r>
            <a:endParaRPr lang="en-US" sz="1900" dirty="0"/>
          </a:p>
        </p:txBody>
      </p:sp>
      <p:sp>
        <p:nvSpPr>
          <p:cNvPr id="8" name="Shape 6"/>
          <p:cNvSpPr/>
          <p:nvPr/>
        </p:nvSpPr>
        <p:spPr>
          <a:xfrm>
            <a:off x="502920" y="4023360"/>
            <a:ext cx="11183112" cy="1554480"/>
          </a:xfrm>
          <a:prstGeom prst="roundRect">
            <a:avLst>
              <a:gd name="adj" fmla="val 5294"/>
            </a:avLst>
          </a:prstGeom>
          <a:solidFill>
            <a:srgbClr val="EAF4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31520" y="4251960"/>
            <a:ext cx="329184" cy="329184"/>
          </a:xfrm>
          <a:prstGeom prst="rect">
            <a:avLst/>
          </a:prstGeom>
        </p:spPr>
      </p:pic>
      <p:sp>
        <p:nvSpPr>
          <p:cNvPr id="10" name="Text 7"/>
          <p:cNvSpPr/>
          <p:nvPr/>
        </p:nvSpPr>
        <p:spPr>
          <a:xfrm>
            <a:off x="1188720" y="4160520"/>
            <a:ext cx="10222992" cy="1280160"/>
          </a:xfrm>
          <a:prstGeom prst="rect">
            <a:avLst/>
          </a:prstGeom>
          <a:noFill/>
          <a:ln/>
        </p:spPr>
        <p:txBody>
          <a:bodyPr wrap="square" rtlCol="0" anchor="ctr"/>
          <a:lstStyle/>
          <a:p>
            <a:pPr indent="0" marL="0">
              <a:lnSpc>
                <a:spcPct val="110000"/>
              </a:lnSpc>
              <a:buNone/>
            </a:pPr>
            <a:r>
              <a:rPr lang="en-US" sz="1350" b="1" spc="150" kern="0" dirty="0">
                <a:solidFill>
                  <a:srgbClr val="0F6CBD"/>
                </a:solidFill>
                <a:latin typeface="Aptos" pitchFamily="34" charset="0"/>
                <a:ea typeface="Aptos" pitchFamily="34" charset="-122"/>
                <a:cs typeface="Aptos" pitchFamily="34" charset="-120"/>
              </a:rPr>
              <a:t>TRY THIS   </a:t>
            </a:r>
            <a:pPr indent="0" marL="0">
              <a:lnSpc>
                <a:spcPct val="110000"/>
              </a:lnSpc>
              <a:buNone/>
            </a:pPr>
            <a:r>
              <a:rPr lang="en-US" sz="1700" dirty="0">
                <a:solidFill>
                  <a:srgbClr val="002050"/>
                </a:solidFill>
                <a:latin typeface="Aptos" pitchFamily="34" charset="0"/>
                <a:ea typeface="Aptos" pitchFamily="34" charset="-122"/>
                <a:cs typeface="Aptos" pitchFamily="34" charset="-120"/>
              </a:rPr>
              <a:t>Take a paragraph you wrote this week and strike out every filler word. Read it again — the meaning stays, the message gets stronger.</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indent="0" marL="0">
              <a:buNone/>
            </a:pPr>
            <a:r>
              <a:rPr lang="en-US" sz="1000" dirty="0">
                <a:solidFill>
                  <a:srgbClr val="6B7280"/>
                </a:solidFill>
                <a:latin typeface="Aptos" pitchFamily="34" charset="0"/>
                <a:ea typeface="Aptos" pitchFamily="34" charset="-122"/>
                <a:cs typeface="Aptos" pitchFamily="34" charset="-120"/>
              </a:rPr>
              <a:t>Unit Standard 8252 — Writing Business Reports   ·   Investec IT Systems Support NQF 5</a:t>
            </a:r>
            <a:endParaRPr lang="en-US" sz="10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1000" dirty="0">
                <a:solidFill>
                  <a:srgbClr val="6B7280"/>
                </a:solidFill>
                <a:latin typeface="Aptos" pitchFamily="34" charset="0"/>
                <a:ea typeface="Aptos" pitchFamily="34" charset="-122"/>
                <a:cs typeface="Aptos" pitchFamily="34" charset="-120"/>
              </a:rPr>
              <a:t>10</a:t>
            </a:r>
            <a:endParaRPr lang="en-US" sz="10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56032"/>
            <a:ext cx="11183112" cy="347472"/>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REPORT STRUCTURE</a:t>
            </a:r>
            <a:endParaRPr lang="en-US" sz="1400" dirty="0"/>
          </a:p>
        </p:txBody>
      </p:sp>
      <p:sp>
        <p:nvSpPr>
          <p:cNvPr id="6" name="Text 4"/>
          <p:cNvSpPr/>
          <p:nvPr/>
        </p:nvSpPr>
        <p:spPr>
          <a:xfrm>
            <a:off x="502920" y="585216"/>
            <a:ext cx="11183112" cy="786384"/>
          </a:xfrm>
          <a:prstGeom prst="rect">
            <a:avLst/>
          </a:prstGeom>
          <a:noFill/>
          <a:ln/>
        </p:spPr>
        <p:txBody>
          <a:bodyPr wrap="square" rtlCol="0" anchor="ctr"/>
          <a:lstStyle/>
          <a:p>
            <a:pPr indent="0" marL="0">
              <a:buNone/>
            </a:pPr>
            <a:r>
              <a:rPr lang="en-US" sz="3400" b="1" dirty="0">
                <a:solidFill>
                  <a:srgbClr val="002050"/>
                </a:solidFill>
                <a:latin typeface="Aptos Display" pitchFamily="34" charset="0"/>
                <a:ea typeface="Aptos Display" pitchFamily="34" charset="-122"/>
                <a:cs typeface="Aptos Display" pitchFamily="34" charset="-120"/>
              </a:rPr>
              <a:t>What is the Basic Structure of a Report?</a:t>
            </a:r>
            <a:endParaRPr lang="en-US" sz="3400" dirty="0"/>
          </a:p>
        </p:txBody>
      </p:sp>
      <p:sp>
        <p:nvSpPr>
          <p:cNvPr id="7" name="Text 5"/>
          <p:cNvSpPr/>
          <p:nvPr/>
        </p:nvSpPr>
        <p:spPr>
          <a:xfrm>
            <a:off x="502920" y="1828800"/>
            <a:ext cx="11183112" cy="4709160"/>
          </a:xfrm>
          <a:prstGeom prst="rect">
            <a:avLst/>
          </a:prstGeom>
          <a:noFill/>
          <a:ln/>
        </p:spPr>
        <p:txBody>
          <a:bodyPr wrap="square" rtlCol="0" anchor="t"/>
          <a:lstStyle/>
          <a:p>
            <a:pPr indent="0" marL="0">
              <a:lnSpc>
                <a:spcPct val="112000"/>
              </a:lnSpc>
              <a:spcAft>
                <a:spcPts val="1200"/>
              </a:spcAft>
              <a:buNone/>
            </a:pPr>
            <a:r>
              <a:rPr lang="en-US" sz="2000" dirty="0">
                <a:solidFill>
                  <a:srgbClr val="002050"/>
                </a:solidFill>
                <a:latin typeface="Aptos" pitchFamily="34" charset="0"/>
                <a:ea typeface="Aptos" pitchFamily="34" charset="-122"/>
                <a:cs typeface="Aptos" pitchFamily="34" charset="-120"/>
              </a:rPr>
              <a:t>Types of reports can vary greatly; they can range from an experimental report to an environmental impact statement. There is, however, a basic structure common to most reports, irrespective of their type.
</a:t>
            </a:r>
            <a:endParaRPr lang="en-US" sz="2000" dirty="0"/>
          </a:p>
          <a:p>
            <a:pPr indent="0" marL="0">
              <a:lnSpc>
                <a:spcPct val="112000"/>
              </a:lnSpc>
              <a:spcAft>
                <a:spcPts val="1200"/>
              </a:spcAft>
              <a:buNone/>
            </a:pPr>
            <a:r>
              <a:rPr lang="en-US" sz="2000" dirty="0">
                <a:solidFill>
                  <a:srgbClr val="002050"/>
                </a:solidFill>
                <a:latin typeface="Aptos" pitchFamily="34" charset="0"/>
                <a:ea typeface="Aptos" pitchFamily="34" charset="-122"/>
                <a:cs typeface="Aptos" pitchFamily="34" charset="-120"/>
              </a:rPr>
              <a:t>The major components of a general report are shown on the next slide — from the title page through to the appendices.</a:t>
            </a:r>
            <a:endParaRPr lang="en-US" sz="2000" dirty="0"/>
          </a:p>
        </p:txBody>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637276" y="4206240"/>
            <a:ext cx="914400" cy="9144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indent="0" marL="0">
              <a:buNone/>
            </a:pPr>
            <a:r>
              <a:rPr lang="en-US" sz="1000" dirty="0">
                <a:solidFill>
                  <a:srgbClr val="6B7280"/>
                </a:solidFill>
                <a:latin typeface="Aptos" pitchFamily="34" charset="0"/>
                <a:ea typeface="Aptos" pitchFamily="34" charset="-122"/>
                <a:cs typeface="Aptos" pitchFamily="34" charset="-120"/>
              </a:rPr>
              <a:t>Unit Standard 8252 — Writing Business Reports   ·   Investec IT Systems Support NQF 5</a:t>
            </a:r>
            <a:endParaRPr lang="en-US" sz="10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1000" dirty="0">
                <a:solidFill>
                  <a:srgbClr val="6B7280"/>
                </a:solidFill>
                <a:latin typeface="Aptos" pitchFamily="34" charset="0"/>
                <a:ea typeface="Aptos" pitchFamily="34" charset="-122"/>
                <a:cs typeface="Aptos" pitchFamily="34" charset="-120"/>
              </a:rPr>
              <a:t>11</a:t>
            </a:r>
            <a:endParaRPr lang="en-US" sz="10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56032"/>
            <a:ext cx="11183112" cy="347472"/>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REPORT STRUCTURE</a:t>
            </a:r>
            <a:endParaRPr lang="en-US" sz="1400" dirty="0"/>
          </a:p>
        </p:txBody>
      </p:sp>
      <p:sp>
        <p:nvSpPr>
          <p:cNvPr id="6" name="Text 4"/>
          <p:cNvSpPr/>
          <p:nvPr/>
        </p:nvSpPr>
        <p:spPr>
          <a:xfrm>
            <a:off x="502920" y="585216"/>
            <a:ext cx="11183112" cy="786384"/>
          </a:xfrm>
          <a:prstGeom prst="rect">
            <a:avLst/>
          </a:prstGeom>
          <a:noFill/>
          <a:ln/>
        </p:spPr>
        <p:txBody>
          <a:bodyPr wrap="square" rtlCol="0" anchor="ctr"/>
          <a:lstStyle/>
          <a:p>
            <a:pPr indent="0" marL="0">
              <a:buNone/>
            </a:pPr>
            <a:r>
              <a:rPr lang="en-US" sz="3400" b="1" dirty="0">
                <a:solidFill>
                  <a:srgbClr val="002050"/>
                </a:solidFill>
                <a:latin typeface="Aptos Display" pitchFamily="34" charset="0"/>
                <a:ea typeface="Aptos Display" pitchFamily="34" charset="-122"/>
                <a:cs typeface="Aptos Display" pitchFamily="34" charset="-120"/>
              </a:rPr>
              <a:t>Major Components of a General Report</a:t>
            </a:r>
            <a:endParaRPr lang="en-US" sz="3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02920" y="1481328"/>
          <a:ext cx="11183112" cy="914400"/>
        </p:xfrm>
        <a:graphic>
          <a:graphicData uri="http://schemas.openxmlformats.org/drawingml/2006/table">
            <a:tbl>
              <a:tblPr/>
              <a:tblGrid>
                <a:gridCol w="2651760"/>
                <a:gridCol w="8531352"/>
              </a:tblGrid>
              <a:tr h="512064">
                <a:tc>
                  <a:txBody>
                    <a:bodyPr/>
                    <a:lstStyle/>
                    <a:p>
                      <a:pPr indent="0" marL="0">
                        <a:buNone/>
                      </a:pPr>
                      <a:r>
                        <a:rPr lang="en-US" sz="1350" b="1" dirty="0">
                          <a:solidFill>
                            <a:srgbClr val="FFFFFF"/>
                          </a:solidFill>
                          <a:latin typeface="Aptos Display" pitchFamily="34" charset="0"/>
                          <a:ea typeface="Aptos Display" pitchFamily="34" charset="-122"/>
                          <a:cs typeface="Aptos Display" pitchFamily="34" charset="-120"/>
                        </a:rPr>
                        <a:t>Component</a:t>
                      </a:r>
                      <a:endParaRPr lang="en-US" sz="1350" dirty="0">
                        <a:latin typeface="Aptos Display" charset="0"/>
                        <a:ea typeface="Aptos Display" charset="0"/>
                        <a:cs typeface="Aptos Display"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0F6CBD"/>
                    </a:solidFill>
                  </a:tcPr>
                </a:tc>
                <a:tc>
                  <a:txBody>
                    <a:bodyPr/>
                    <a:lstStyle/>
                    <a:p>
                      <a:pPr indent="0" marL="0">
                        <a:buNone/>
                      </a:pPr>
                      <a:r>
                        <a:rPr lang="en-US" sz="1350" b="1" dirty="0">
                          <a:solidFill>
                            <a:srgbClr val="FFFFFF"/>
                          </a:solidFill>
                          <a:latin typeface="Aptos Display" pitchFamily="34" charset="0"/>
                          <a:ea typeface="Aptos Display" pitchFamily="34" charset="-122"/>
                          <a:cs typeface="Aptos Display" pitchFamily="34" charset="-120"/>
                        </a:rPr>
                        <a:t>What it contains</a:t>
                      </a:r>
                      <a:endParaRPr lang="en-US" sz="1350" dirty="0">
                        <a:latin typeface="Aptos Display" charset="0"/>
                        <a:ea typeface="Aptos Display" charset="0"/>
                        <a:cs typeface="Aptos Display"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0F6CBD"/>
                    </a:solidFill>
                  </a:tcPr>
                </a:tc>
              </a:tr>
              <a:tr h="512064">
                <a:tc>
                  <a:txBody>
                    <a:bodyPr/>
                    <a:lstStyle/>
                    <a:p>
                      <a:pPr indent="0" marL="0">
                        <a:buNone/>
                      </a:pPr>
                      <a:r>
                        <a:rPr lang="en-US" sz="1350" dirty="0">
                          <a:solidFill>
                            <a:srgbClr val="002050"/>
                          </a:solidFill>
                          <a:latin typeface="Aptos" pitchFamily="34" charset="0"/>
                          <a:ea typeface="Aptos" pitchFamily="34" charset="-122"/>
                          <a:cs typeface="Aptos" pitchFamily="34" charset="-120"/>
                        </a:rPr>
                        <a:t>Title Page</a:t>
                      </a:r>
                      <a:endParaRPr lang="en-US" sz="135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350" dirty="0">
                          <a:solidFill>
                            <a:srgbClr val="002050"/>
                          </a:solidFill>
                          <a:latin typeface="Aptos" pitchFamily="34" charset="0"/>
                          <a:ea typeface="Aptos" pitchFamily="34" charset="-122"/>
                          <a:cs typeface="Aptos" pitchFamily="34" charset="-120"/>
                        </a:rPr>
                        <a:t>The report title, and identifying details</a:t>
                      </a:r>
                      <a:endParaRPr lang="en-US" sz="135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r>
              <a:tr h="512064">
                <a:tc>
                  <a:txBody>
                    <a:bodyPr/>
                    <a:lstStyle/>
                    <a:p>
                      <a:pPr indent="0" marL="0">
                        <a:buNone/>
                      </a:pPr>
                      <a:r>
                        <a:rPr lang="en-US" sz="1350" dirty="0">
                          <a:solidFill>
                            <a:srgbClr val="002050"/>
                          </a:solidFill>
                          <a:latin typeface="Aptos" pitchFamily="34" charset="0"/>
                          <a:ea typeface="Aptos" pitchFamily="34" charset="-122"/>
                          <a:cs typeface="Aptos" pitchFamily="34" charset="-120"/>
                        </a:rPr>
                        <a:t>Abstract</a:t>
                      </a:r>
                      <a:endParaRPr lang="en-US" sz="135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350" dirty="0">
                          <a:solidFill>
                            <a:srgbClr val="002050"/>
                          </a:solidFill>
                          <a:latin typeface="Aptos" pitchFamily="34" charset="0"/>
                          <a:ea typeface="Aptos" pitchFamily="34" charset="-122"/>
                          <a:cs typeface="Aptos" pitchFamily="34" charset="-120"/>
                        </a:rPr>
                        <a:t>In less than 200 words: what was the problem, how was it investigated, what did you find out and what do your findings mean?</a:t>
                      </a:r>
                      <a:endParaRPr lang="en-US" sz="135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r>
              <a:tr h="512064">
                <a:tc>
                  <a:txBody>
                    <a:bodyPr/>
                    <a:lstStyle/>
                    <a:p>
                      <a:pPr indent="0" marL="0">
                        <a:buNone/>
                      </a:pPr>
                      <a:r>
                        <a:rPr lang="en-US" sz="1350" dirty="0">
                          <a:solidFill>
                            <a:srgbClr val="002050"/>
                          </a:solidFill>
                          <a:latin typeface="Aptos" pitchFamily="34" charset="0"/>
                          <a:ea typeface="Aptos" pitchFamily="34" charset="-122"/>
                          <a:cs typeface="Aptos" pitchFamily="34" charset="-120"/>
                        </a:rPr>
                        <a:t>Table of Contents</a:t>
                      </a:r>
                      <a:endParaRPr lang="en-US" sz="135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350" dirty="0">
                          <a:solidFill>
                            <a:srgbClr val="002050"/>
                          </a:solidFill>
                          <a:latin typeface="Aptos" pitchFamily="34" charset="0"/>
                          <a:ea typeface="Aptos" pitchFamily="34" charset="-122"/>
                          <a:cs typeface="Aptos" pitchFamily="34" charset="-120"/>
                        </a:rPr>
                        <a:t>A list of the major and minor sections of your report</a:t>
                      </a:r>
                      <a:endParaRPr lang="en-US" sz="135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r>
              <a:tr h="512064">
                <a:tc>
                  <a:txBody>
                    <a:bodyPr/>
                    <a:lstStyle/>
                    <a:p>
                      <a:pPr indent="0" marL="0">
                        <a:buNone/>
                      </a:pPr>
                      <a:r>
                        <a:rPr lang="en-US" sz="1350" dirty="0">
                          <a:solidFill>
                            <a:srgbClr val="002050"/>
                          </a:solidFill>
                          <a:latin typeface="Aptos" pitchFamily="34" charset="0"/>
                          <a:ea typeface="Aptos" pitchFamily="34" charset="-122"/>
                          <a:cs typeface="Aptos" pitchFamily="34" charset="-120"/>
                        </a:rPr>
                        <a:t>Introduction</a:t>
                      </a:r>
                      <a:endParaRPr lang="en-US" sz="135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350" dirty="0">
                          <a:solidFill>
                            <a:srgbClr val="002050"/>
                          </a:solidFill>
                          <a:latin typeface="Aptos" pitchFamily="34" charset="0"/>
                          <a:ea typeface="Aptos" pitchFamily="34" charset="-122"/>
                          <a:cs typeface="Aptos" pitchFamily="34" charset="-120"/>
                        </a:rPr>
                        <a:t>Set the scene; give background about the topic; state the aim/purpose of the investigation; outline the body sections</a:t>
                      </a:r>
                      <a:endParaRPr lang="en-US" sz="135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r>
              <a:tr h="512064">
                <a:tc>
                  <a:txBody>
                    <a:bodyPr/>
                    <a:lstStyle/>
                    <a:p>
                      <a:pPr indent="0" marL="0">
                        <a:buNone/>
                      </a:pPr>
                      <a:r>
                        <a:rPr lang="en-US" sz="1350" dirty="0">
                          <a:solidFill>
                            <a:srgbClr val="002050"/>
                          </a:solidFill>
                          <a:latin typeface="Aptos" pitchFamily="34" charset="0"/>
                          <a:ea typeface="Aptos" pitchFamily="34" charset="-122"/>
                          <a:cs typeface="Aptos" pitchFamily="34" charset="-120"/>
                        </a:rPr>
                        <a:t>Main Body</a:t>
                      </a:r>
                      <a:endParaRPr lang="en-US" sz="135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350" dirty="0">
                          <a:solidFill>
                            <a:srgbClr val="002050"/>
                          </a:solidFill>
                          <a:latin typeface="Aptos" pitchFamily="34" charset="0"/>
                          <a:ea typeface="Aptos" pitchFamily="34" charset="-122"/>
                          <a:cs typeface="Aptos" pitchFamily="34" charset="-120"/>
                        </a:rPr>
                        <a:t>Organise sections in a logical sequence: what you investigated, what you found, what interpretations and judgments you made. Use short informative headings and subheadings</a:t>
                      </a:r>
                      <a:endParaRPr lang="en-US" sz="135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r>
              <a:tr h="512064">
                <a:tc>
                  <a:txBody>
                    <a:bodyPr/>
                    <a:lstStyle/>
                    <a:p>
                      <a:pPr indent="0" marL="0">
                        <a:buNone/>
                      </a:pPr>
                      <a:r>
                        <a:rPr lang="en-US" sz="1350" dirty="0">
                          <a:solidFill>
                            <a:srgbClr val="002050"/>
                          </a:solidFill>
                          <a:latin typeface="Aptos" pitchFamily="34" charset="0"/>
                          <a:ea typeface="Aptos" pitchFamily="34" charset="-122"/>
                          <a:cs typeface="Aptos" pitchFamily="34" charset="-120"/>
                        </a:rPr>
                        <a:t>Conclusion</a:t>
                      </a:r>
                      <a:endParaRPr lang="en-US" sz="135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350" dirty="0">
                          <a:solidFill>
                            <a:srgbClr val="002050"/>
                          </a:solidFill>
                          <a:latin typeface="Aptos" pitchFamily="34" charset="0"/>
                          <a:ea typeface="Aptos" pitchFamily="34" charset="-122"/>
                          <a:cs typeface="Aptos" pitchFamily="34" charset="-120"/>
                        </a:rPr>
                        <a:t>What has been achieved and the significance of your findings and discussion? Have your aims been successful or not?</a:t>
                      </a:r>
                      <a:endParaRPr lang="en-US" sz="135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r>
              <a:tr h="512064">
                <a:tc>
                  <a:txBody>
                    <a:bodyPr/>
                    <a:lstStyle/>
                    <a:p>
                      <a:pPr indent="0" marL="0">
                        <a:buNone/>
                      </a:pPr>
                      <a:r>
                        <a:rPr lang="en-US" sz="1350" dirty="0">
                          <a:solidFill>
                            <a:srgbClr val="002050"/>
                          </a:solidFill>
                          <a:latin typeface="Aptos" pitchFamily="34" charset="0"/>
                          <a:ea typeface="Aptos" pitchFamily="34" charset="-122"/>
                          <a:cs typeface="Aptos" pitchFamily="34" charset="-120"/>
                        </a:rPr>
                        <a:t>Recommendations</a:t>
                      </a:r>
                      <a:endParaRPr lang="en-US" sz="135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350" dirty="0">
                          <a:solidFill>
                            <a:srgbClr val="002050"/>
                          </a:solidFill>
                          <a:latin typeface="Aptos" pitchFamily="34" charset="0"/>
                          <a:ea typeface="Aptos" pitchFamily="34" charset="-122"/>
                          <a:cs typeface="Aptos" pitchFamily="34" charset="-120"/>
                        </a:rPr>
                        <a:t>What do you recommend as a course of action following your conclusion?</a:t>
                      </a:r>
                      <a:endParaRPr lang="en-US" sz="135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r>
              <a:tr h="512064">
                <a:tc>
                  <a:txBody>
                    <a:bodyPr/>
                    <a:lstStyle/>
                    <a:p>
                      <a:pPr indent="0" marL="0">
                        <a:buNone/>
                      </a:pPr>
                      <a:r>
                        <a:rPr lang="en-US" sz="1350" dirty="0">
                          <a:solidFill>
                            <a:srgbClr val="002050"/>
                          </a:solidFill>
                          <a:latin typeface="Aptos" pitchFamily="34" charset="0"/>
                          <a:ea typeface="Aptos" pitchFamily="34" charset="-122"/>
                          <a:cs typeface="Aptos" pitchFamily="34" charset="-120"/>
                        </a:rPr>
                        <a:t>References</a:t>
                      </a:r>
                      <a:endParaRPr lang="en-US" sz="135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350" dirty="0">
                          <a:solidFill>
                            <a:srgbClr val="002050"/>
                          </a:solidFill>
                          <a:latin typeface="Aptos" pitchFamily="34" charset="0"/>
                          <a:ea typeface="Aptos" pitchFamily="34" charset="-122"/>
                          <a:cs typeface="Aptos" pitchFamily="34" charset="-120"/>
                        </a:rPr>
                        <a:t>A list of all the sources you used</a:t>
                      </a:r>
                      <a:endParaRPr lang="en-US" sz="135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r>
              <a:tr h="512064">
                <a:tc>
                  <a:txBody>
                    <a:bodyPr/>
                    <a:lstStyle/>
                    <a:p>
                      <a:pPr indent="0" marL="0">
                        <a:buNone/>
                      </a:pPr>
                      <a:r>
                        <a:rPr lang="en-US" sz="1350" dirty="0">
                          <a:solidFill>
                            <a:srgbClr val="002050"/>
                          </a:solidFill>
                          <a:latin typeface="Aptos" pitchFamily="34" charset="0"/>
                          <a:ea typeface="Aptos" pitchFamily="34" charset="-122"/>
                          <a:cs typeface="Aptos" pitchFamily="34" charset="-120"/>
                        </a:rPr>
                        <a:t>Appendices</a:t>
                      </a:r>
                      <a:endParaRPr lang="en-US" sz="135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350" dirty="0">
                          <a:solidFill>
                            <a:srgbClr val="002050"/>
                          </a:solidFill>
                          <a:latin typeface="Aptos" pitchFamily="34" charset="0"/>
                          <a:ea typeface="Aptos" pitchFamily="34" charset="-122"/>
                          <a:cs typeface="Aptos" pitchFamily="34" charset="-120"/>
                        </a:rPr>
                        <a:t>Any information (graphs, charts, tables or other data) used but not included in the body</a:t>
                      </a:r>
                      <a:endParaRPr lang="en-US" sz="135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indent="0" marL="0">
              <a:buNone/>
            </a:pPr>
            <a:r>
              <a:rPr lang="en-US" sz="1000" dirty="0">
                <a:solidFill>
                  <a:srgbClr val="6B7280"/>
                </a:solidFill>
                <a:latin typeface="Aptos" pitchFamily="34" charset="0"/>
                <a:ea typeface="Aptos" pitchFamily="34" charset="-122"/>
                <a:cs typeface="Aptos" pitchFamily="34" charset="-120"/>
              </a:rPr>
              <a:t>Unit Standard 8252 — Writing Business Reports   ·   Investec IT Systems Support NQF 5</a:t>
            </a:r>
            <a:endParaRPr lang="en-US" sz="10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1000" dirty="0">
                <a:solidFill>
                  <a:srgbClr val="6B7280"/>
                </a:solidFill>
                <a:latin typeface="Aptos" pitchFamily="34" charset="0"/>
                <a:ea typeface="Aptos" pitchFamily="34" charset="-122"/>
                <a:cs typeface="Aptos" pitchFamily="34" charset="-120"/>
              </a:rPr>
              <a:t>12</a:t>
            </a:r>
            <a:endParaRPr lang="en-US" sz="10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56032"/>
            <a:ext cx="11183112" cy="347472"/>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PURPOSE &amp; CONTENT OF REPORTS</a:t>
            </a:r>
            <a:endParaRPr lang="en-US" sz="1400" dirty="0"/>
          </a:p>
        </p:txBody>
      </p:sp>
      <p:sp>
        <p:nvSpPr>
          <p:cNvPr id="6" name="Text 4"/>
          <p:cNvSpPr/>
          <p:nvPr/>
        </p:nvSpPr>
        <p:spPr>
          <a:xfrm>
            <a:off x="502920" y="585216"/>
            <a:ext cx="11183112" cy="786384"/>
          </a:xfrm>
          <a:prstGeom prst="rect">
            <a:avLst/>
          </a:prstGeom>
          <a:noFill/>
          <a:ln/>
        </p:spPr>
        <p:txBody>
          <a:bodyPr wrap="square" rtlCol="0" anchor="ctr"/>
          <a:lstStyle/>
          <a:p>
            <a:pPr indent="0" marL="0">
              <a:buNone/>
            </a:pPr>
            <a:r>
              <a:rPr lang="en-US" sz="3400" b="1" dirty="0">
                <a:solidFill>
                  <a:srgbClr val="002050"/>
                </a:solidFill>
                <a:latin typeface="Aptos Display" pitchFamily="34" charset="0"/>
                <a:ea typeface="Aptos Display" pitchFamily="34" charset="-122"/>
                <a:cs typeface="Aptos Display" pitchFamily="34" charset="-120"/>
              </a:rPr>
              <a:t>There Are Various Types of Reports</a:t>
            </a:r>
            <a:endParaRPr lang="en-US" sz="3400" dirty="0"/>
          </a:p>
        </p:txBody>
      </p:sp>
      <p:sp>
        <p:nvSpPr>
          <p:cNvPr id="7" name="Text 5"/>
          <p:cNvSpPr/>
          <p:nvPr/>
        </p:nvSpPr>
        <p:spPr>
          <a:xfrm>
            <a:off x="502920" y="1691640"/>
            <a:ext cx="11183112" cy="4663440"/>
          </a:xfrm>
          <a:prstGeom prst="rect">
            <a:avLst/>
          </a:prstGeom>
          <a:noFill/>
          <a:ln/>
        </p:spPr>
        <p:txBody>
          <a:bodyPr wrap="square" rtlCol="0" anchor="t"/>
          <a:lstStyle/>
          <a:p>
            <a:pPr marL="228600" indent="-228600">
              <a:lnSpc>
                <a:spcPct val="110000"/>
              </a:lnSpc>
              <a:spcAft>
                <a:spcPts val="1000"/>
              </a:spcAft>
              <a:buSzPct val="100000"/>
              <a:buChar char="•"/>
            </a:pPr>
            <a:r>
              <a:rPr lang="en-US" sz="1850" dirty="0">
                <a:solidFill>
                  <a:srgbClr val="002050"/>
                </a:solidFill>
                <a:latin typeface="Aptos" pitchFamily="34" charset="0"/>
                <a:ea typeface="Aptos" pitchFamily="34" charset="-122"/>
                <a:cs typeface="Aptos" pitchFamily="34" charset="-120"/>
              </a:rPr>
              <a:t>A report of a sports match</a:t>
            </a:r>
            <a:endParaRPr lang="en-US" sz="1850" dirty="0"/>
          </a:p>
          <a:p>
            <a:pPr marL="228600" indent="-228600">
              <a:lnSpc>
                <a:spcPct val="110000"/>
              </a:lnSpc>
              <a:spcAft>
                <a:spcPts val="1000"/>
              </a:spcAft>
              <a:buSzPct val="100000"/>
              <a:buChar char="•"/>
            </a:pPr>
            <a:r>
              <a:rPr lang="en-US" sz="1850" dirty="0">
                <a:solidFill>
                  <a:srgbClr val="002050"/>
                </a:solidFill>
                <a:latin typeface="Aptos" pitchFamily="34" charset="0"/>
                <a:ea typeface="Aptos" pitchFamily="34" charset="-122"/>
                <a:cs typeface="Aptos" pitchFamily="34" charset="-120"/>
              </a:rPr>
              <a:t>A report of an accident to the Police or an insurance company</a:t>
            </a:r>
            <a:endParaRPr lang="en-US" sz="1850" dirty="0"/>
          </a:p>
          <a:p>
            <a:pPr marL="228600" indent="-228600">
              <a:lnSpc>
                <a:spcPct val="110000"/>
              </a:lnSpc>
              <a:spcAft>
                <a:spcPts val="1000"/>
              </a:spcAft>
              <a:buSzPct val="100000"/>
              <a:buChar char="•"/>
            </a:pPr>
            <a:r>
              <a:rPr lang="en-US" sz="1850" dirty="0">
                <a:solidFill>
                  <a:srgbClr val="002050"/>
                </a:solidFill>
                <a:latin typeface="Aptos" pitchFamily="34" charset="0"/>
                <a:ea typeface="Aptos" pitchFamily="34" charset="-122"/>
                <a:cs typeface="Aptos" pitchFamily="34" charset="-120"/>
              </a:rPr>
              <a:t>A report of a social function, such as a wedding</a:t>
            </a:r>
            <a:endParaRPr lang="en-US" sz="1850" dirty="0"/>
          </a:p>
          <a:p>
            <a:pPr marL="228600" indent="-228600">
              <a:lnSpc>
                <a:spcPct val="110000"/>
              </a:lnSpc>
              <a:spcAft>
                <a:spcPts val="1000"/>
              </a:spcAft>
              <a:buSzPct val="100000"/>
              <a:buChar char="•"/>
            </a:pPr>
            <a:r>
              <a:rPr lang="en-US" sz="1850" dirty="0">
                <a:solidFill>
                  <a:srgbClr val="002050"/>
                </a:solidFill>
                <a:latin typeface="Aptos" pitchFamily="34" charset="0"/>
                <a:ea typeface="Aptos" pitchFamily="34" charset="-122"/>
                <a:cs typeface="Aptos" pitchFamily="34" charset="-120"/>
              </a:rPr>
              <a:t>A news report about an accident, meeting or noteworthy incident</a:t>
            </a:r>
            <a:endParaRPr lang="en-US" sz="1850" dirty="0"/>
          </a:p>
          <a:p>
            <a:pPr marL="228600" indent="-228600">
              <a:lnSpc>
                <a:spcPct val="110000"/>
              </a:lnSpc>
              <a:spcAft>
                <a:spcPts val="1000"/>
              </a:spcAft>
              <a:buSzPct val="100000"/>
              <a:buChar char="•"/>
            </a:pPr>
            <a:r>
              <a:rPr lang="en-US" sz="1850" dirty="0">
                <a:solidFill>
                  <a:srgbClr val="002050"/>
                </a:solidFill>
                <a:latin typeface="Aptos" pitchFamily="34" charset="0"/>
                <a:ea typeface="Aptos" pitchFamily="34" charset="-122"/>
                <a:cs typeface="Aptos" pitchFamily="34" charset="-120"/>
              </a:rPr>
              <a:t>A report of a commission of enquiry</a:t>
            </a:r>
            <a:endParaRPr lang="en-US" sz="1850" dirty="0"/>
          </a:p>
          <a:p>
            <a:pPr marL="228600" indent="-228600">
              <a:lnSpc>
                <a:spcPct val="110000"/>
              </a:lnSpc>
              <a:spcAft>
                <a:spcPts val="1000"/>
              </a:spcAft>
              <a:buSzPct val="100000"/>
              <a:buChar char="•"/>
            </a:pPr>
            <a:r>
              <a:rPr lang="en-US" sz="1850" dirty="0">
                <a:solidFill>
                  <a:srgbClr val="002050"/>
                </a:solidFill>
                <a:latin typeface="Aptos" pitchFamily="34" charset="0"/>
                <a:ea typeface="Aptos" pitchFamily="34" charset="-122"/>
                <a:cs typeface="Aptos" pitchFamily="34" charset="-120"/>
              </a:rPr>
              <a:t>A trade report</a:t>
            </a:r>
            <a:endParaRPr lang="en-US" sz="1850" dirty="0"/>
          </a:p>
          <a:p>
            <a:pPr marL="228600" indent="-228600">
              <a:lnSpc>
                <a:spcPct val="110000"/>
              </a:lnSpc>
              <a:spcAft>
                <a:spcPts val="1000"/>
              </a:spcAft>
              <a:buSzPct val="100000"/>
              <a:buChar char="•"/>
            </a:pPr>
            <a:r>
              <a:rPr lang="en-US" sz="1850" dirty="0">
                <a:solidFill>
                  <a:srgbClr val="002050"/>
                </a:solidFill>
                <a:latin typeface="Aptos" pitchFamily="34" charset="0"/>
                <a:ea typeface="Aptos" pitchFamily="34" charset="-122"/>
                <a:cs typeface="Aptos" pitchFamily="34" charset="-120"/>
              </a:rPr>
              <a:t>A company report or a Company Accident Report</a:t>
            </a:r>
            <a:endParaRPr lang="en-US" sz="1850" dirty="0"/>
          </a:p>
          <a:p>
            <a:pPr marL="228600" indent="-228600">
              <a:lnSpc>
                <a:spcPct val="110000"/>
              </a:lnSpc>
              <a:spcAft>
                <a:spcPts val="1000"/>
              </a:spcAft>
              <a:buSzPct val="100000"/>
              <a:buChar char="•"/>
            </a:pPr>
            <a:r>
              <a:rPr lang="en-US" sz="1850" dirty="0">
                <a:solidFill>
                  <a:srgbClr val="002050"/>
                </a:solidFill>
                <a:latin typeface="Aptos" pitchFamily="34" charset="0"/>
                <a:ea typeface="Aptos" pitchFamily="34" charset="-122"/>
                <a:cs typeface="Aptos" pitchFamily="34" charset="-120"/>
              </a:rPr>
              <a:t>An Annual Report by a Chairman or a Treasurer</a:t>
            </a:r>
            <a:endParaRPr lang="en-US" sz="1850" dirty="0"/>
          </a:p>
          <a:p>
            <a:pPr marL="228600" indent="-228600">
              <a:lnSpc>
                <a:spcPct val="110000"/>
              </a:lnSpc>
              <a:spcAft>
                <a:spcPts val="1000"/>
              </a:spcAft>
              <a:buSzPct val="100000"/>
              <a:buChar char="•"/>
            </a:pPr>
            <a:r>
              <a:rPr lang="en-US" sz="1850" dirty="0">
                <a:solidFill>
                  <a:srgbClr val="002050"/>
                </a:solidFill>
                <a:latin typeface="Aptos" pitchFamily="34" charset="0"/>
                <a:ea typeface="Aptos" pitchFamily="34" charset="-122"/>
                <a:cs typeface="Aptos" pitchFamily="34" charset="-120"/>
              </a:rPr>
              <a:t>An internal report on a business related matter following an investigation or collection of data</a:t>
            </a:r>
            <a:endParaRPr lang="en-US" sz="1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indent="0" marL="0">
              <a:buNone/>
            </a:pPr>
            <a:r>
              <a:rPr lang="en-US" sz="1000" dirty="0">
                <a:solidFill>
                  <a:srgbClr val="6B7280"/>
                </a:solidFill>
                <a:latin typeface="Aptos" pitchFamily="34" charset="0"/>
                <a:ea typeface="Aptos" pitchFamily="34" charset="-122"/>
                <a:cs typeface="Aptos" pitchFamily="34" charset="-120"/>
              </a:rPr>
              <a:t>Unit Standard 8252 — Writing Business Reports   ·   Investec IT Systems Support NQF 5</a:t>
            </a:r>
            <a:endParaRPr lang="en-US" sz="10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1000" dirty="0">
                <a:solidFill>
                  <a:srgbClr val="6B7280"/>
                </a:solidFill>
                <a:latin typeface="Aptos" pitchFamily="34" charset="0"/>
                <a:ea typeface="Aptos" pitchFamily="34" charset="-122"/>
                <a:cs typeface="Aptos" pitchFamily="34" charset="-120"/>
              </a:rPr>
              <a:t>13</a:t>
            </a:r>
            <a:endParaRPr lang="en-US" sz="10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56032"/>
            <a:ext cx="11183112" cy="347472"/>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WORKED EXAMPLES</a:t>
            </a:r>
            <a:endParaRPr lang="en-US" sz="1400" dirty="0"/>
          </a:p>
        </p:txBody>
      </p:sp>
      <p:sp>
        <p:nvSpPr>
          <p:cNvPr id="6" name="Text 4"/>
          <p:cNvSpPr/>
          <p:nvPr/>
        </p:nvSpPr>
        <p:spPr>
          <a:xfrm>
            <a:off x="502920" y="585216"/>
            <a:ext cx="11183112" cy="786384"/>
          </a:xfrm>
          <a:prstGeom prst="rect">
            <a:avLst/>
          </a:prstGeom>
          <a:noFill/>
          <a:ln/>
        </p:spPr>
        <p:txBody>
          <a:bodyPr wrap="square" rtlCol="0" anchor="ctr"/>
          <a:lstStyle/>
          <a:p>
            <a:pPr indent="0" marL="0">
              <a:buNone/>
            </a:pPr>
            <a:r>
              <a:rPr lang="en-US" sz="3400" b="1" dirty="0">
                <a:solidFill>
                  <a:srgbClr val="002050"/>
                </a:solidFill>
                <a:latin typeface="Aptos Display" pitchFamily="34" charset="0"/>
                <a:ea typeface="Aptos Display" pitchFamily="34" charset="-122"/>
                <a:cs typeface="Aptos Display" pitchFamily="34" charset="-120"/>
              </a:rPr>
              <a:t>Investec Sample Reports — 7 Worked Models</a:t>
            </a:r>
            <a:endParaRPr lang="en-US" sz="3400" dirty="0"/>
          </a:p>
        </p:txBody>
      </p:sp>
      <p:sp>
        <p:nvSpPr>
          <p:cNvPr id="7" name="Text 5"/>
          <p:cNvSpPr/>
          <p:nvPr/>
        </p:nvSpPr>
        <p:spPr>
          <a:xfrm>
            <a:off x="502920" y="1417320"/>
            <a:ext cx="11183112" cy="365760"/>
          </a:xfrm>
          <a:prstGeom prst="rect">
            <a:avLst/>
          </a:prstGeom>
          <a:noFill/>
          <a:ln/>
        </p:spPr>
        <p:txBody>
          <a:bodyPr wrap="square" rtlCol="0" anchor="ctr"/>
          <a:lstStyle/>
          <a:p>
            <a:pPr indent="0" marL="0">
              <a:buNone/>
            </a:pPr>
            <a:r>
              <a:rPr lang="en-US" sz="1600" dirty="0">
                <a:solidFill>
                  <a:srgbClr val="6B7280"/>
                </a:solidFill>
                <a:latin typeface="Aptos" pitchFamily="34" charset="0"/>
                <a:ea typeface="Aptos" pitchFamily="34" charset="-122"/>
                <a:cs typeface="Aptos" pitchFamily="34" charset="-120"/>
              </a:rPr>
              <a:t>Use these models to practise matching report type, purpose, audience and recommended action.</a:t>
            </a:r>
            <a:endParaRPr lang="en-US" sz="16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02920" y="1874520"/>
          <a:ext cx="11183112" cy="914400"/>
        </p:xfrm>
        <a:graphic>
          <a:graphicData uri="http://schemas.openxmlformats.org/drawingml/2006/table">
            <a:tbl>
              <a:tblPr/>
              <a:tblGrid>
                <a:gridCol w="777240"/>
                <a:gridCol w="2286000"/>
                <a:gridCol w="8119872"/>
              </a:tblGrid>
              <a:tr h="566928">
                <a:tc>
                  <a:txBody>
                    <a:bodyPr/>
                    <a:lstStyle/>
                    <a:p>
                      <a:pPr indent="0" marL="0">
                        <a:buNone/>
                      </a:pPr>
                      <a:r>
                        <a:rPr lang="en-US" sz="1500" b="1" dirty="0">
                          <a:solidFill>
                            <a:srgbClr val="FFFFFF"/>
                          </a:solidFill>
                          <a:latin typeface="Aptos Display" pitchFamily="34" charset="0"/>
                          <a:ea typeface="Aptos Display" pitchFamily="34" charset="-122"/>
                          <a:cs typeface="Aptos Display" pitchFamily="34" charset="-120"/>
                        </a:rPr>
                        <a:t>No.</a:t>
                      </a:r>
                      <a:endParaRPr lang="en-US" sz="1500" dirty="0">
                        <a:latin typeface="Aptos Display" charset="0"/>
                        <a:ea typeface="Aptos Display" charset="0"/>
                        <a:cs typeface="Aptos Display"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0F6CBD"/>
                    </a:solidFill>
                  </a:tcPr>
                </a:tc>
                <a:tc>
                  <a:txBody>
                    <a:bodyPr/>
                    <a:lstStyle/>
                    <a:p>
                      <a:pPr indent="0" marL="0">
                        <a:buNone/>
                      </a:pPr>
                      <a:r>
                        <a:rPr lang="en-US" sz="1500" b="1" dirty="0">
                          <a:solidFill>
                            <a:srgbClr val="FFFFFF"/>
                          </a:solidFill>
                          <a:latin typeface="Aptos Display" pitchFamily="34" charset="0"/>
                          <a:ea typeface="Aptos Display" pitchFamily="34" charset="-122"/>
                          <a:cs typeface="Aptos Display" pitchFamily="34" charset="-120"/>
                        </a:rPr>
                        <a:t>Report type</a:t>
                      </a:r>
                      <a:endParaRPr lang="en-US" sz="1500" dirty="0">
                        <a:latin typeface="Aptos Display" charset="0"/>
                        <a:ea typeface="Aptos Display" charset="0"/>
                        <a:cs typeface="Aptos Display"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0F6CBD"/>
                    </a:solidFill>
                  </a:tcPr>
                </a:tc>
                <a:tc>
                  <a:txBody>
                    <a:bodyPr/>
                    <a:lstStyle/>
                    <a:p>
                      <a:pPr indent="0" marL="0">
                        <a:buNone/>
                      </a:pPr>
                      <a:r>
                        <a:rPr lang="en-US" sz="1500" b="1" dirty="0">
                          <a:solidFill>
                            <a:srgbClr val="FFFFFF"/>
                          </a:solidFill>
                          <a:latin typeface="Aptos Display" pitchFamily="34" charset="0"/>
                          <a:ea typeface="Aptos Display" pitchFamily="34" charset="-122"/>
                          <a:cs typeface="Aptos Display" pitchFamily="34" charset="-120"/>
                        </a:rPr>
                        <a:t>Investec systems support example</a:t>
                      </a:r>
                      <a:endParaRPr lang="en-US" sz="1500" dirty="0">
                        <a:latin typeface="Aptos Display" charset="0"/>
                        <a:ea typeface="Aptos Display" charset="0"/>
                        <a:cs typeface="Aptos Display"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0F6CBD"/>
                    </a:solidFill>
                  </a:tcPr>
                </a:tc>
              </a:tr>
              <a:tr h="566928">
                <a:tc>
                  <a:txBody>
                    <a:bodyPr/>
                    <a:lstStyle/>
                    <a:p>
                      <a:pPr indent="0" marL="0">
                        <a:buNone/>
                      </a:pPr>
                      <a:r>
                        <a:rPr lang="en-US" sz="1500" dirty="0">
                          <a:solidFill>
                            <a:srgbClr val="002050"/>
                          </a:solidFill>
                          <a:latin typeface="Aptos" pitchFamily="34" charset="0"/>
                          <a:ea typeface="Aptos" pitchFamily="34" charset="-122"/>
                          <a:cs typeface="Aptos" pitchFamily="34" charset="-120"/>
                        </a:rPr>
                        <a:t>1</a:t>
                      </a:r>
                      <a:endParaRPr lang="en-US" sz="150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500" dirty="0">
                          <a:solidFill>
                            <a:srgbClr val="002050"/>
                          </a:solidFill>
                          <a:latin typeface="Aptos" pitchFamily="34" charset="0"/>
                          <a:ea typeface="Aptos" pitchFamily="34" charset="-122"/>
                          <a:cs typeface="Aptos" pitchFamily="34" charset="-120"/>
                        </a:rPr>
                        <a:t>Incident</a:t>
                      </a:r>
                      <a:endParaRPr lang="en-US" sz="150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500" dirty="0">
                          <a:solidFill>
                            <a:srgbClr val="002050"/>
                          </a:solidFill>
                          <a:latin typeface="Aptos" pitchFamily="34" charset="0"/>
                          <a:ea typeface="Aptos" pitchFamily="34" charset="-122"/>
                          <a:cs typeface="Aptos" pitchFamily="34" charset="-120"/>
                        </a:rPr>
                        <a:t>Online Banking login outage — immediate facts, impact, action taken and escalation</a:t>
                      </a:r>
                      <a:endParaRPr lang="en-US" sz="150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r>
              <a:tr h="566928">
                <a:tc>
                  <a:txBody>
                    <a:bodyPr/>
                    <a:lstStyle/>
                    <a:p>
                      <a:pPr indent="0" marL="0">
                        <a:buNone/>
                      </a:pPr>
                      <a:r>
                        <a:rPr lang="en-US" sz="1500" dirty="0">
                          <a:solidFill>
                            <a:srgbClr val="002050"/>
                          </a:solidFill>
                          <a:latin typeface="Aptos" pitchFamily="34" charset="0"/>
                          <a:ea typeface="Aptos" pitchFamily="34" charset="-122"/>
                          <a:cs typeface="Aptos" pitchFamily="34" charset="-120"/>
                        </a:rPr>
                        <a:t>2</a:t>
                      </a:r>
                      <a:endParaRPr lang="en-US" sz="150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500" dirty="0">
                          <a:solidFill>
                            <a:srgbClr val="002050"/>
                          </a:solidFill>
                          <a:latin typeface="Aptos" pitchFamily="34" charset="0"/>
                          <a:ea typeface="Aptos" pitchFamily="34" charset="-122"/>
                          <a:cs typeface="Aptos" pitchFamily="34" charset="-120"/>
                        </a:rPr>
                        <a:t>Incident</a:t>
                      </a:r>
                      <a:endParaRPr lang="en-US" sz="150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500" dirty="0">
                          <a:solidFill>
                            <a:srgbClr val="002050"/>
                          </a:solidFill>
                          <a:latin typeface="Aptos" pitchFamily="34" charset="0"/>
                          <a:ea typeface="Aptos" pitchFamily="34" charset="-122"/>
                          <a:cs typeface="Aptos" pitchFamily="34" charset="-120"/>
                        </a:rPr>
                        <a:t>Lost corporate laptop — data risk, containment and compliance notification</a:t>
                      </a:r>
                      <a:endParaRPr lang="en-US" sz="150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r>
              <a:tr h="566928">
                <a:tc>
                  <a:txBody>
                    <a:bodyPr/>
                    <a:lstStyle/>
                    <a:p>
                      <a:pPr indent="0" marL="0">
                        <a:buNone/>
                      </a:pPr>
                      <a:r>
                        <a:rPr lang="en-US" sz="1500" dirty="0">
                          <a:solidFill>
                            <a:srgbClr val="002050"/>
                          </a:solidFill>
                          <a:latin typeface="Aptos" pitchFamily="34" charset="0"/>
                          <a:ea typeface="Aptos" pitchFamily="34" charset="-122"/>
                          <a:cs typeface="Aptos" pitchFamily="34" charset="-120"/>
                        </a:rPr>
                        <a:t>3</a:t>
                      </a:r>
                      <a:endParaRPr lang="en-US" sz="150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500" dirty="0">
                          <a:solidFill>
                            <a:srgbClr val="002050"/>
                          </a:solidFill>
                          <a:latin typeface="Aptos" pitchFamily="34" charset="0"/>
                          <a:ea typeface="Aptos" pitchFamily="34" charset="-122"/>
                          <a:cs typeface="Aptos" pitchFamily="34" charset="-120"/>
                        </a:rPr>
                        <a:t>Investigation</a:t>
                      </a:r>
                      <a:endParaRPr lang="en-US" sz="150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500" dirty="0">
                          <a:solidFill>
                            <a:srgbClr val="002050"/>
                          </a:solidFill>
                          <a:latin typeface="Aptos" pitchFamily="34" charset="0"/>
                          <a:ea typeface="Aptos" pitchFamily="34" charset="-122"/>
                          <a:cs typeface="Aptos" pitchFamily="34" charset="-120"/>
                        </a:rPr>
                        <a:t>Repeated VPN disconnections — evidence, root cause and conclusion</a:t>
                      </a:r>
                      <a:endParaRPr lang="en-US" sz="150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r>
              <a:tr h="566928">
                <a:tc>
                  <a:txBody>
                    <a:bodyPr/>
                    <a:lstStyle/>
                    <a:p>
                      <a:pPr indent="0" marL="0">
                        <a:buNone/>
                      </a:pPr>
                      <a:r>
                        <a:rPr lang="en-US" sz="1500" dirty="0">
                          <a:solidFill>
                            <a:srgbClr val="002050"/>
                          </a:solidFill>
                          <a:latin typeface="Aptos" pitchFamily="34" charset="0"/>
                          <a:ea typeface="Aptos" pitchFamily="34" charset="-122"/>
                          <a:cs typeface="Aptos" pitchFamily="34" charset="-120"/>
                        </a:rPr>
                        <a:t>4</a:t>
                      </a:r>
                      <a:endParaRPr lang="en-US" sz="150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500" dirty="0">
                          <a:solidFill>
                            <a:srgbClr val="002050"/>
                          </a:solidFill>
                          <a:latin typeface="Aptos" pitchFamily="34" charset="0"/>
                          <a:ea typeface="Aptos" pitchFamily="34" charset="-122"/>
                          <a:cs typeface="Aptos" pitchFamily="34" charset="-120"/>
                        </a:rPr>
                        <a:t>Investigation</a:t>
                      </a:r>
                      <a:endParaRPr lang="en-US" sz="150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500" dirty="0">
                          <a:solidFill>
                            <a:srgbClr val="002050"/>
                          </a:solidFill>
                          <a:latin typeface="Aptos" pitchFamily="34" charset="0"/>
                          <a:ea typeface="Aptos" pitchFamily="34" charset="-122"/>
                          <a:cs typeface="Aptos" pitchFamily="34" charset="-120"/>
                        </a:rPr>
                        <a:t>Print-cost increase — data analysis, findings and controls</a:t>
                      </a:r>
                      <a:endParaRPr lang="en-US" sz="150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r>
              <a:tr h="566928">
                <a:tc>
                  <a:txBody>
                    <a:bodyPr/>
                    <a:lstStyle/>
                    <a:p>
                      <a:pPr indent="0" marL="0">
                        <a:buNone/>
                      </a:pPr>
                      <a:r>
                        <a:rPr lang="en-US" sz="1500" dirty="0">
                          <a:solidFill>
                            <a:srgbClr val="002050"/>
                          </a:solidFill>
                          <a:latin typeface="Aptos" pitchFamily="34" charset="0"/>
                          <a:ea typeface="Aptos" pitchFamily="34" charset="-122"/>
                          <a:cs typeface="Aptos" pitchFamily="34" charset="-120"/>
                        </a:rPr>
                        <a:t>5</a:t>
                      </a:r>
                      <a:endParaRPr lang="en-US" sz="150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500" dirty="0">
                          <a:solidFill>
                            <a:srgbClr val="002050"/>
                          </a:solidFill>
                          <a:latin typeface="Aptos" pitchFamily="34" charset="0"/>
                          <a:ea typeface="Aptos" pitchFamily="34" charset="-122"/>
                          <a:cs typeface="Aptos" pitchFamily="34" charset="-120"/>
                        </a:rPr>
                        <a:t>Project status</a:t>
                      </a:r>
                      <a:endParaRPr lang="en-US" sz="150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500" dirty="0">
                          <a:solidFill>
                            <a:srgbClr val="002050"/>
                          </a:solidFill>
                          <a:latin typeface="Aptos" pitchFamily="34" charset="0"/>
                          <a:ea typeface="Aptos" pitchFamily="34" charset="-122"/>
                          <a:cs typeface="Aptos" pitchFamily="34" charset="-120"/>
                        </a:rPr>
                        <a:t>Windows 11 pilot rollout — progress, risks, issues and next steps</a:t>
                      </a:r>
                      <a:endParaRPr lang="en-US" sz="150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r>
              <a:tr h="566928">
                <a:tc>
                  <a:txBody>
                    <a:bodyPr/>
                    <a:lstStyle/>
                    <a:p>
                      <a:pPr indent="0" marL="0">
                        <a:buNone/>
                      </a:pPr>
                      <a:r>
                        <a:rPr lang="en-US" sz="1500" dirty="0">
                          <a:solidFill>
                            <a:srgbClr val="002050"/>
                          </a:solidFill>
                          <a:latin typeface="Aptos" pitchFamily="34" charset="0"/>
                          <a:ea typeface="Aptos" pitchFamily="34" charset="-122"/>
                          <a:cs typeface="Aptos" pitchFamily="34" charset="-120"/>
                        </a:rPr>
                        <a:t>6</a:t>
                      </a:r>
                      <a:endParaRPr lang="en-US" sz="150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500" dirty="0">
                          <a:solidFill>
                            <a:srgbClr val="002050"/>
                          </a:solidFill>
                          <a:latin typeface="Aptos" pitchFamily="34" charset="0"/>
                          <a:ea typeface="Aptos" pitchFamily="34" charset="-122"/>
                          <a:cs typeface="Aptos" pitchFamily="34" charset="-120"/>
                        </a:rPr>
                        <a:t>Project status</a:t>
                      </a:r>
                      <a:endParaRPr lang="en-US" sz="150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500" dirty="0">
                          <a:solidFill>
                            <a:srgbClr val="002050"/>
                          </a:solidFill>
                          <a:latin typeface="Aptos" pitchFamily="34" charset="0"/>
                          <a:ea typeface="Aptos" pitchFamily="34" charset="-122"/>
                          <a:cs typeface="Aptos" pitchFamily="34" charset="-120"/>
                        </a:rPr>
                        <a:t>Branch Wi-Fi upgrade — milestone status and blockers</a:t>
                      </a:r>
                      <a:endParaRPr lang="en-US" sz="150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r>
              <a:tr h="566928">
                <a:tc>
                  <a:txBody>
                    <a:bodyPr/>
                    <a:lstStyle/>
                    <a:p>
                      <a:pPr indent="0" marL="0">
                        <a:buNone/>
                      </a:pPr>
                      <a:r>
                        <a:rPr lang="en-US" sz="1500" dirty="0">
                          <a:solidFill>
                            <a:srgbClr val="002050"/>
                          </a:solidFill>
                          <a:latin typeface="Aptos" pitchFamily="34" charset="0"/>
                          <a:ea typeface="Aptos" pitchFamily="34" charset="-122"/>
                          <a:cs typeface="Aptos" pitchFamily="34" charset="-120"/>
                        </a:rPr>
                        <a:t>7</a:t>
                      </a:r>
                      <a:endParaRPr lang="en-US" sz="150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500" dirty="0">
                          <a:solidFill>
                            <a:srgbClr val="002050"/>
                          </a:solidFill>
                          <a:latin typeface="Aptos" pitchFamily="34" charset="0"/>
                          <a:ea typeface="Aptos" pitchFamily="34" charset="-122"/>
                          <a:cs typeface="Aptos" pitchFamily="34" charset="-120"/>
                        </a:rPr>
                        <a:t>Recommendation</a:t>
                      </a:r>
                      <a:endParaRPr lang="en-US" sz="150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500" dirty="0">
                          <a:solidFill>
                            <a:srgbClr val="002050"/>
                          </a:solidFill>
                          <a:latin typeface="Aptos" pitchFamily="34" charset="0"/>
                          <a:ea typeface="Aptos" pitchFamily="34" charset="-122"/>
                          <a:cs typeface="Aptos" pitchFamily="34" charset="-120"/>
                        </a:rPr>
                        <a:t>Service desk knowledge base — proposed solution, cost and decision needed</a:t>
                      </a:r>
                      <a:endParaRPr lang="en-US" sz="150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indent="0" marL="0">
              <a:buNone/>
            </a:pPr>
            <a:r>
              <a:rPr lang="en-US" sz="1000" dirty="0">
                <a:solidFill>
                  <a:srgbClr val="6B7280"/>
                </a:solidFill>
                <a:latin typeface="Aptos" pitchFamily="34" charset="0"/>
                <a:ea typeface="Aptos" pitchFamily="34" charset="-122"/>
                <a:cs typeface="Aptos" pitchFamily="34" charset="-120"/>
              </a:rPr>
              <a:t>Unit Standard 8252 — Writing Business Reports   ·   Investec IT Systems Support NQF 5</a:t>
            </a:r>
            <a:endParaRPr lang="en-US" sz="10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1000" dirty="0">
                <a:solidFill>
                  <a:srgbClr val="6B7280"/>
                </a:solidFill>
                <a:latin typeface="Aptos" pitchFamily="34" charset="0"/>
                <a:ea typeface="Aptos" pitchFamily="34" charset="-122"/>
                <a:cs typeface="Aptos" pitchFamily="34" charset="-120"/>
              </a:rPr>
              <a:t>14</a:t>
            </a:r>
            <a:endParaRPr lang="en-US" sz="10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56032"/>
            <a:ext cx="11183112" cy="347472"/>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WORKED EXAMPLES · INCIDENT</a:t>
            </a:r>
            <a:endParaRPr lang="en-US" sz="1400" dirty="0"/>
          </a:p>
        </p:txBody>
      </p:sp>
      <p:sp>
        <p:nvSpPr>
          <p:cNvPr id="6" name="Text 4"/>
          <p:cNvSpPr/>
          <p:nvPr/>
        </p:nvSpPr>
        <p:spPr>
          <a:xfrm>
            <a:off x="502920" y="585216"/>
            <a:ext cx="11183112" cy="786384"/>
          </a:xfrm>
          <a:prstGeom prst="rect">
            <a:avLst/>
          </a:prstGeom>
          <a:noFill/>
          <a:ln/>
        </p:spPr>
        <p:txBody>
          <a:bodyPr wrap="square" rtlCol="0" anchor="ctr"/>
          <a:lstStyle/>
          <a:p>
            <a:pPr indent="0" marL="0">
              <a:buNone/>
            </a:pPr>
            <a:r>
              <a:rPr lang="en-US" sz="3400" b="1" dirty="0">
                <a:solidFill>
                  <a:srgbClr val="002050"/>
                </a:solidFill>
                <a:latin typeface="Aptos Display" pitchFamily="34" charset="0"/>
                <a:ea typeface="Aptos Display" pitchFamily="34" charset="-122"/>
                <a:cs typeface="Aptos Display" pitchFamily="34" charset="-120"/>
              </a:rPr>
              <a:t>Sample Incident Reports</a:t>
            </a:r>
            <a:endParaRPr lang="en-US" sz="3400" dirty="0"/>
          </a:p>
        </p:txBody>
      </p:sp>
      <p:sp>
        <p:nvSpPr>
          <p:cNvPr id="7" name="Text 5"/>
          <p:cNvSpPr/>
          <p:nvPr/>
        </p:nvSpPr>
        <p:spPr>
          <a:xfrm>
            <a:off x="502920" y="1417320"/>
            <a:ext cx="11183112" cy="411480"/>
          </a:xfrm>
          <a:prstGeom prst="rect">
            <a:avLst/>
          </a:prstGeom>
          <a:noFill/>
          <a:ln/>
        </p:spPr>
        <p:txBody>
          <a:bodyPr wrap="square" rtlCol="0" anchor="ctr"/>
          <a:lstStyle/>
          <a:p>
            <a:pPr indent="0" marL="0">
              <a:buNone/>
            </a:pPr>
            <a:r>
              <a:rPr lang="en-US" sz="1650" dirty="0">
                <a:solidFill>
                  <a:srgbClr val="6B7280"/>
                </a:solidFill>
                <a:latin typeface="Aptos" pitchFamily="34" charset="0"/>
                <a:ea typeface="Aptos" pitchFamily="34" charset="-122"/>
                <a:cs typeface="Aptos" pitchFamily="34" charset="-120"/>
              </a:rPr>
              <a:t>Incident reports answer: What happened, who was affected, what immediate action was taken and what must happen next?</a:t>
            </a:r>
            <a:endParaRPr lang="en-US" sz="1650" dirty="0"/>
          </a:p>
        </p:txBody>
      </p:sp>
      <p:sp>
        <p:nvSpPr>
          <p:cNvPr id="8" name="Shape 6"/>
          <p:cNvSpPr/>
          <p:nvPr/>
        </p:nvSpPr>
        <p:spPr>
          <a:xfrm>
            <a:off x="502920" y="1965960"/>
            <a:ext cx="11183112" cy="2011680"/>
          </a:xfrm>
          <a:prstGeom prst="roundRect">
            <a:avLst>
              <a:gd name="adj" fmla="val 4091"/>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9" name="Shape 7"/>
          <p:cNvSpPr/>
          <p:nvPr/>
        </p:nvSpPr>
        <p:spPr>
          <a:xfrm>
            <a:off x="502920" y="1965960"/>
            <a:ext cx="82296" cy="2011680"/>
          </a:xfrm>
          <a:prstGeom prst="rect">
            <a:avLst/>
          </a:prstGeom>
          <a:solidFill>
            <a:srgbClr val="0F6CBD"/>
          </a:solidFill>
          <a:ln/>
        </p:spPr>
      </p:sp>
      <p:sp>
        <p:nvSpPr>
          <p:cNvPr id="10" name="Text 8"/>
          <p:cNvSpPr/>
          <p:nvPr/>
        </p:nvSpPr>
        <p:spPr>
          <a:xfrm>
            <a:off x="777240" y="2093976"/>
            <a:ext cx="10652760" cy="1783080"/>
          </a:xfrm>
          <a:prstGeom prst="rect">
            <a:avLst/>
          </a:prstGeom>
          <a:noFill/>
          <a:ln/>
        </p:spPr>
        <p:txBody>
          <a:bodyPr wrap="square" rtlCol="0" anchor="t"/>
          <a:lstStyle/>
          <a:p>
            <a:pPr indent="0" marL="0">
              <a:lnSpc>
                <a:spcPct val="110000"/>
              </a:lnSpc>
              <a:buNone/>
            </a:pPr>
            <a:r>
              <a:rPr lang="en-US" sz="1900" b="1" dirty="0">
                <a:solidFill>
                  <a:srgbClr val="002050"/>
                </a:solidFill>
                <a:latin typeface="Aptos Display" pitchFamily="34" charset="0"/>
                <a:ea typeface="Aptos Display" pitchFamily="34" charset="-122"/>
                <a:cs typeface="Aptos Display" pitchFamily="34" charset="-120"/>
              </a:rPr>
              <a:t>Online Banking login outage
</a:t>
            </a:r>
            <a:pPr indent="0" marL="0">
              <a:lnSpc>
                <a:spcPct val="110000"/>
              </a:lnSpc>
              <a:buNone/>
            </a:pPr>
            <a:r>
              <a:rPr lang="en-US" sz="1550" dirty="0">
                <a:solidFill>
                  <a:srgbClr val="002050"/>
                </a:solidFill>
                <a:latin typeface="Aptos" pitchFamily="34" charset="0"/>
                <a:ea typeface="Aptos" pitchFamily="34" charset="-122"/>
                <a:cs typeface="Aptos" pitchFamily="34" charset="-120"/>
              </a:rPr>
              <a:t>At 09:12 on 6 August 2026, monitoring reported elevated login failures. About 18% of attempted logins failed until 09:47 and the Service Desk logged 43 related calls. Action: escalate to Digital Channels Support, publish an internal advisory and monitor recovery after the authentication node restart.</a:t>
            </a:r>
            <a:endParaRPr lang="en-US" sz="1900" dirty="0"/>
          </a:p>
        </p:txBody>
      </p:sp>
      <p:sp>
        <p:nvSpPr>
          <p:cNvPr id="11" name="Shape 9"/>
          <p:cNvSpPr/>
          <p:nvPr/>
        </p:nvSpPr>
        <p:spPr>
          <a:xfrm>
            <a:off x="502920" y="4160520"/>
            <a:ext cx="11183112" cy="2011680"/>
          </a:xfrm>
          <a:prstGeom prst="roundRect">
            <a:avLst>
              <a:gd name="adj" fmla="val 4091"/>
            </a:avLst>
          </a:prstGeom>
          <a:solidFill>
            <a:srgbClr val="EAF4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12" name="Shape 10"/>
          <p:cNvSpPr/>
          <p:nvPr/>
        </p:nvSpPr>
        <p:spPr>
          <a:xfrm>
            <a:off x="502920" y="4160520"/>
            <a:ext cx="82296" cy="2011680"/>
          </a:xfrm>
          <a:prstGeom prst="rect">
            <a:avLst/>
          </a:prstGeom>
          <a:solidFill>
            <a:srgbClr val="0F6CBD"/>
          </a:solidFill>
          <a:ln/>
        </p:spPr>
      </p:sp>
      <p:sp>
        <p:nvSpPr>
          <p:cNvPr id="13" name="Text 11"/>
          <p:cNvSpPr/>
          <p:nvPr/>
        </p:nvSpPr>
        <p:spPr>
          <a:xfrm>
            <a:off x="777240" y="4288536"/>
            <a:ext cx="10652760" cy="1783080"/>
          </a:xfrm>
          <a:prstGeom prst="rect">
            <a:avLst/>
          </a:prstGeom>
          <a:noFill/>
          <a:ln/>
        </p:spPr>
        <p:txBody>
          <a:bodyPr wrap="square" rtlCol="0" anchor="t"/>
          <a:lstStyle/>
          <a:p>
            <a:pPr indent="0" marL="0">
              <a:lnSpc>
                <a:spcPct val="110000"/>
              </a:lnSpc>
              <a:buNone/>
            </a:pPr>
            <a:r>
              <a:rPr lang="en-US" sz="1900" b="1" dirty="0">
                <a:solidFill>
                  <a:srgbClr val="002050"/>
                </a:solidFill>
                <a:latin typeface="Aptos Display" pitchFamily="34" charset="0"/>
                <a:ea typeface="Aptos Display" pitchFamily="34" charset="-122"/>
                <a:cs typeface="Aptos Display" pitchFamily="34" charset="-120"/>
              </a:rPr>
              <a:t>Lost corporate laptop
</a:t>
            </a:r>
            <a:pPr indent="0" marL="0">
              <a:lnSpc>
                <a:spcPct val="110000"/>
              </a:lnSpc>
              <a:buNone/>
            </a:pPr>
            <a:r>
              <a:rPr lang="en-US" sz="1550" dirty="0">
                <a:solidFill>
                  <a:srgbClr val="002050"/>
                </a:solidFill>
                <a:latin typeface="Aptos" pitchFamily="34" charset="0"/>
                <a:ea typeface="Aptos" pitchFamily="34" charset="-122"/>
                <a:cs typeface="Aptos" pitchFamily="34" charset="-120"/>
              </a:rPr>
              <a:t>A Relationship Manager reported a lost encrypted laptop at 17:40 on 12 August 2026. IT Security initiated remote lock and wipe, disabled cached sessions and opened a compliance notification ticket. Follow-up: manager sign-off, replacement device and travel security refresher.</a:t>
            </a:r>
            <a:endParaRPr lang="en-US" sz="1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indent="0" marL="0">
              <a:buNone/>
            </a:pPr>
            <a:r>
              <a:rPr lang="en-US" sz="1000" dirty="0">
                <a:solidFill>
                  <a:srgbClr val="6B7280"/>
                </a:solidFill>
                <a:latin typeface="Aptos" pitchFamily="34" charset="0"/>
                <a:ea typeface="Aptos" pitchFamily="34" charset="-122"/>
                <a:cs typeface="Aptos" pitchFamily="34" charset="-120"/>
              </a:rPr>
              <a:t>Unit Standard 8252 — Writing Business Reports   ·   Investec IT Systems Support NQF 5</a:t>
            </a:r>
            <a:endParaRPr lang="en-US" sz="10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1000" dirty="0">
                <a:solidFill>
                  <a:srgbClr val="6B7280"/>
                </a:solidFill>
                <a:latin typeface="Aptos" pitchFamily="34" charset="0"/>
                <a:ea typeface="Aptos" pitchFamily="34" charset="-122"/>
                <a:cs typeface="Aptos" pitchFamily="34" charset="-120"/>
              </a:rPr>
              <a:t>15</a:t>
            </a:r>
            <a:endParaRPr lang="en-US" sz="10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56032"/>
            <a:ext cx="11183112" cy="347472"/>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WORKED EXAMPLES · INVESTIGATION</a:t>
            </a:r>
            <a:endParaRPr lang="en-US" sz="1400" dirty="0"/>
          </a:p>
        </p:txBody>
      </p:sp>
      <p:sp>
        <p:nvSpPr>
          <p:cNvPr id="6" name="Text 4"/>
          <p:cNvSpPr/>
          <p:nvPr/>
        </p:nvSpPr>
        <p:spPr>
          <a:xfrm>
            <a:off x="502920" y="585216"/>
            <a:ext cx="11183112" cy="786384"/>
          </a:xfrm>
          <a:prstGeom prst="rect">
            <a:avLst/>
          </a:prstGeom>
          <a:noFill/>
          <a:ln/>
        </p:spPr>
        <p:txBody>
          <a:bodyPr wrap="square" rtlCol="0" anchor="ctr"/>
          <a:lstStyle/>
          <a:p>
            <a:pPr indent="0" marL="0">
              <a:buNone/>
            </a:pPr>
            <a:r>
              <a:rPr lang="en-US" sz="3400" b="1" dirty="0">
                <a:solidFill>
                  <a:srgbClr val="002050"/>
                </a:solidFill>
                <a:latin typeface="Aptos Display" pitchFamily="34" charset="0"/>
                <a:ea typeface="Aptos Display" pitchFamily="34" charset="-122"/>
                <a:cs typeface="Aptos Display" pitchFamily="34" charset="-120"/>
              </a:rPr>
              <a:t>Sample Investigation Reports</a:t>
            </a:r>
            <a:endParaRPr lang="en-US" sz="3400" dirty="0"/>
          </a:p>
        </p:txBody>
      </p:sp>
      <p:sp>
        <p:nvSpPr>
          <p:cNvPr id="7" name="Text 5"/>
          <p:cNvSpPr/>
          <p:nvPr/>
        </p:nvSpPr>
        <p:spPr>
          <a:xfrm>
            <a:off x="502920" y="1417320"/>
            <a:ext cx="11183112" cy="411480"/>
          </a:xfrm>
          <a:prstGeom prst="rect">
            <a:avLst/>
          </a:prstGeom>
          <a:noFill/>
          <a:ln/>
        </p:spPr>
        <p:txBody>
          <a:bodyPr wrap="square" rtlCol="0" anchor="ctr"/>
          <a:lstStyle/>
          <a:p>
            <a:pPr indent="0" marL="0">
              <a:buNone/>
            </a:pPr>
            <a:r>
              <a:rPr lang="en-US" sz="1650" dirty="0">
                <a:solidFill>
                  <a:srgbClr val="6B7280"/>
                </a:solidFill>
                <a:latin typeface="Aptos" pitchFamily="34" charset="0"/>
                <a:ea typeface="Aptos" pitchFamily="34" charset="-122"/>
                <a:cs typeface="Aptos" pitchFamily="34" charset="-120"/>
              </a:rPr>
              <a:t>Investigation reports answer: What evidence was gathered, what caused the problem and what conclusion is supported by the facts?</a:t>
            </a:r>
            <a:endParaRPr lang="en-US" sz="1650" dirty="0"/>
          </a:p>
        </p:txBody>
      </p:sp>
      <p:sp>
        <p:nvSpPr>
          <p:cNvPr id="8" name="Shape 6"/>
          <p:cNvSpPr/>
          <p:nvPr/>
        </p:nvSpPr>
        <p:spPr>
          <a:xfrm>
            <a:off x="502920" y="1965960"/>
            <a:ext cx="11183112" cy="2011680"/>
          </a:xfrm>
          <a:prstGeom prst="roundRect">
            <a:avLst>
              <a:gd name="adj" fmla="val 4091"/>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9" name="Shape 7"/>
          <p:cNvSpPr/>
          <p:nvPr/>
        </p:nvSpPr>
        <p:spPr>
          <a:xfrm>
            <a:off x="502920" y="1965960"/>
            <a:ext cx="82296" cy="2011680"/>
          </a:xfrm>
          <a:prstGeom prst="rect">
            <a:avLst/>
          </a:prstGeom>
          <a:solidFill>
            <a:srgbClr val="0F6CBD"/>
          </a:solidFill>
          <a:ln/>
        </p:spPr>
      </p:sp>
      <p:sp>
        <p:nvSpPr>
          <p:cNvPr id="10" name="Text 8"/>
          <p:cNvSpPr/>
          <p:nvPr/>
        </p:nvSpPr>
        <p:spPr>
          <a:xfrm>
            <a:off x="777240" y="2093976"/>
            <a:ext cx="10652760" cy="1783080"/>
          </a:xfrm>
          <a:prstGeom prst="rect">
            <a:avLst/>
          </a:prstGeom>
          <a:noFill/>
          <a:ln/>
        </p:spPr>
        <p:txBody>
          <a:bodyPr wrap="square" rtlCol="0" anchor="t"/>
          <a:lstStyle/>
          <a:p>
            <a:pPr indent="0" marL="0">
              <a:lnSpc>
                <a:spcPct val="110000"/>
              </a:lnSpc>
              <a:buNone/>
            </a:pPr>
            <a:r>
              <a:rPr lang="en-US" sz="1900" b="1" dirty="0">
                <a:solidFill>
                  <a:srgbClr val="002050"/>
                </a:solidFill>
                <a:latin typeface="Aptos Display" pitchFamily="34" charset="0"/>
                <a:ea typeface="Aptos Display" pitchFamily="34" charset="-122"/>
                <a:cs typeface="Aptos Display" pitchFamily="34" charset="-120"/>
              </a:rPr>
              <a:t>Repeated VPN disconnections
</a:t>
            </a:r>
            <a:pPr indent="0" marL="0">
              <a:lnSpc>
                <a:spcPct val="110000"/>
              </a:lnSpc>
              <a:buNone/>
            </a:pPr>
            <a:r>
              <a:rPr lang="en-US" sz="1550" dirty="0">
                <a:solidFill>
                  <a:srgbClr val="002050"/>
                </a:solidFill>
                <a:latin typeface="Aptos" pitchFamily="34" charset="0"/>
                <a:ea typeface="Aptos" pitchFamily="34" charset="-122"/>
                <a:cs typeface="Aptos" pitchFamily="34" charset="-120"/>
              </a:rPr>
              <a:t>Review of 28 VPN tickets, firewall logs, endpoint versions and interviews showed that affected laptops were running an outdated VPN client after a staged update failed on one device group. Conclusion: the root cause was incomplete deployment validation.</a:t>
            </a:r>
            <a:endParaRPr lang="en-US" sz="1900" dirty="0"/>
          </a:p>
        </p:txBody>
      </p:sp>
      <p:sp>
        <p:nvSpPr>
          <p:cNvPr id="11" name="Shape 9"/>
          <p:cNvSpPr/>
          <p:nvPr/>
        </p:nvSpPr>
        <p:spPr>
          <a:xfrm>
            <a:off x="502920" y="4160520"/>
            <a:ext cx="11183112" cy="2011680"/>
          </a:xfrm>
          <a:prstGeom prst="roundRect">
            <a:avLst>
              <a:gd name="adj" fmla="val 4091"/>
            </a:avLst>
          </a:prstGeom>
          <a:solidFill>
            <a:srgbClr val="EAF4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12" name="Shape 10"/>
          <p:cNvSpPr/>
          <p:nvPr/>
        </p:nvSpPr>
        <p:spPr>
          <a:xfrm>
            <a:off x="502920" y="4160520"/>
            <a:ext cx="82296" cy="2011680"/>
          </a:xfrm>
          <a:prstGeom prst="rect">
            <a:avLst/>
          </a:prstGeom>
          <a:solidFill>
            <a:srgbClr val="0F6CBD"/>
          </a:solidFill>
          <a:ln/>
        </p:spPr>
      </p:sp>
      <p:sp>
        <p:nvSpPr>
          <p:cNvPr id="13" name="Text 11"/>
          <p:cNvSpPr/>
          <p:nvPr/>
        </p:nvSpPr>
        <p:spPr>
          <a:xfrm>
            <a:off x="777240" y="4288536"/>
            <a:ext cx="10652760" cy="1783080"/>
          </a:xfrm>
          <a:prstGeom prst="rect">
            <a:avLst/>
          </a:prstGeom>
          <a:noFill/>
          <a:ln/>
        </p:spPr>
        <p:txBody>
          <a:bodyPr wrap="square" rtlCol="0" anchor="t"/>
          <a:lstStyle/>
          <a:p>
            <a:pPr indent="0" marL="0">
              <a:lnSpc>
                <a:spcPct val="110000"/>
              </a:lnSpc>
              <a:buNone/>
            </a:pPr>
            <a:r>
              <a:rPr lang="en-US" sz="1900" b="1" dirty="0">
                <a:solidFill>
                  <a:srgbClr val="002050"/>
                </a:solidFill>
                <a:latin typeface="Aptos Display" pitchFamily="34" charset="0"/>
                <a:ea typeface="Aptos Display" pitchFamily="34" charset="-122"/>
                <a:cs typeface="Aptos Display" pitchFamily="34" charset="-120"/>
              </a:rPr>
              <a:t>Print-cost increase
</a:t>
            </a:r>
            <a:pPr indent="0" marL="0">
              <a:lnSpc>
                <a:spcPct val="110000"/>
              </a:lnSpc>
              <a:buNone/>
            </a:pPr>
            <a:r>
              <a:rPr lang="en-US" sz="1550" dirty="0">
                <a:solidFill>
                  <a:srgbClr val="002050"/>
                </a:solidFill>
                <a:latin typeface="Aptos" pitchFamily="34" charset="0"/>
                <a:ea typeface="Aptos" pitchFamily="34" charset="-122"/>
                <a:cs typeface="Aptos" pitchFamily="34" charset="-120"/>
              </a:rPr>
              <a:t>Print management data showed a 32% cost increase on Sandton 5th-floor devices. Findings showed default colour printing was enabled after a driver update and secure-release settings were missing on two devices. Conclusion: print policy controls were removed during the update.</a:t>
            </a:r>
            <a:endParaRPr lang="en-US" sz="1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indent="0" marL="0">
              <a:buNone/>
            </a:pPr>
            <a:r>
              <a:rPr lang="en-US" sz="1000" dirty="0">
                <a:solidFill>
                  <a:srgbClr val="6B7280"/>
                </a:solidFill>
                <a:latin typeface="Aptos" pitchFamily="34" charset="0"/>
                <a:ea typeface="Aptos" pitchFamily="34" charset="-122"/>
                <a:cs typeface="Aptos" pitchFamily="34" charset="-120"/>
              </a:rPr>
              <a:t>Unit Standard 8252 — Writing Business Reports   ·   Investec IT Systems Support NQF 5</a:t>
            </a:r>
            <a:endParaRPr lang="en-US" sz="10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1000" dirty="0">
                <a:solidFill>
                  <a:srgbClr val="6B7280"/>
                </a:solidFill>
                <a:latin typeface="Aptos" pitchFamily="34" charset="0"/>
                <a:ea typeface="Aptos" pitchFamily="34" charset="-122"/>
                <a:cs typeface="Aptos" pitchFamily="34" charset="-120"/>
              </a:rPr>
              <a:t>16</a:t>
            </a:r>
            <a:endParaRPr lang="en-US" sz="10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56032"/>
            <a:ext cx="11183112" cy="347472"/>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WORKED EXAMPLES · PROJECT STATUS</a:t>
            </a:r>
            <a:endParaRPr lang="en-US" sz="1400" dirty="0"/>
          </a:p>
        </p:txBody>
      </p:sp>
      <p:sp>
        <p:nvSpPr>
          <p:cNvPr id="6" name="Text 4"/>
          <p:cNvSpPr/>
          <p:nvPr/>
        </p:nvSpPr>
        <p:spPr>
          <a:xfrm>
            <a:off x="502920" y="585216"/>
            <a:ext cx="11183112" cy="786384"/>
          </a:xfrm>
          <a:prstGeom prst="rect">
            <a:avLst/>
          </a:prstGeom>
          <a:noFill/>
          <a:ln/>
        </p:spPr>
        <p:txBody>
          <a:bodyPr wrap="square" rtlCol="0" anchor="ctr"/>
          <a:lstStyle/>
          <a:p>
            <a:pPr indent="0" marL="0">
              <a:buNone/>
            </a:pPr>
            <a:r>
              <a:rPr lang="en-US" sz="3400" b="1" dirty="0">
                <a:solidFill>
                  <a:srgbClr val="002050"/>
                </a:solidFill>
                <a:latin typeface="Aptos Display" pitchFamily="34" charset="0"/>
                <a:ea typeface="Aptos Display" pitchFamily="34" charset="-122"/>
                <a:cs typeface="Aptos Display" pitchFamily="34" charset="-120"/>
              </a:rPr>
              <a:t>Sample Project Status Reports</a:t>
            </a:r>
            <a:endParaRPr lang="en-US" sz="3400" dirty="0"/>
          </a:p>
        </p:txBody>
      </p:sp>
      <p:sp>
        <p:nvSpPr>
          <p:cNvPr id="7" name="Text 5"/>
          <p:cNvSpPr/>
          <p:nvPr/>
        </p:nvSpPr>
        <p:spPr>
          <a:xfrm>
            <a:off x="502920" y="1417320"/>
            <a:ext cx="11183112" cy="411480"/>
          </a:xfrm>
          <a:prstGeom prst="rect">
            <a:avLst/>
          </a:prstGeom>
          <a:noFill/>
          <a:ln/>
        </p:spPr>
        <p:txBody>
          <a:bodyPr wrap="square" rtlCol="0" anchor="ctr"/>
          <a:lstStyle/>
          <a:p>
            <a:pPr indent="0" marL="0">
              <a:buNone/>
            </a:pPr>
            <a:r>
              <a:rPr lang="en-US" sz="1650" dirty="0">
                <a:solidFill>
                  <a:srgbClr val="6B7280"/>
                </a:solidFill>
                <a:latin typeface="Aptos" pitchFamily="34" charset="0"/>
                <a:ea typeface="Aptos" pitchFamily="34" charset="-122"/>
                <a:cs typeface="Aptos" pitchFamily="34" charset="-120"/>
              </a:rPr>
              <a:t>Project status reports answer: Is the project on track against scope, time, cost, quality, risks and next milestones?</a:t>
            </a:r>
            <a:endParaRPr lang="en-US" sz="1650" dirty="0"/>
          </a:p>
        </p:txBody>
      </p:sp>
      <p:sp>
        <p:nvSpPr>
          <p:cNvPr id="8" name="Shape 6"/>
          <p:cNvSpPr/>
          <p:nvPr/>
        </p:nvSpPr>
        <p:spPr>
          <a:xfrm>
            <a:off x="502920" y="1965960"/>
            <a:ext cx="11183112" cy="2011680"/>
          </a:xfrm>
          <a:prstGeom prst="roundRect">
            <a:avLst>
              <a:gd name="adj" fmla="val 4091"/>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9" name="Shape 7"/>
          <p:cNvSpPr/>
          <p:nvPr/>
        </p:nvSpPr>
        <p:spPr>
          <a:xfrm>
            <a:off x="502920" y="1965960"/>
            <a:ext cx="82296" cy="2011680"/>
          </a:xfrm>
          <a:prstGeom prst="rect">
            <a:avLst/>
          </a:prstGeom>
          <a:solidFill>
            <a:srgbClr val="0F6CBD"/>
          </a:solidFill>
          <a:ln/>
        </p:spPr>
      </p:sp>
      <p:sp>
        <p:nvSpPr>
          <p:cNvPr id="10" name="Text 8"/>
          <p:cNvSpPr/>
          <p:nvPr/>
        </p:nvSpPr>
        <p:spPr>
          <a:xfrm>
            <a:off x="777240" y="2093976"/>
            <a:ext cx="10652760" cy="1783080"/>
          </a:xfrm>
          <a:prstGeom prst="rect">
            <a:avLst/>
          </a:prstGeom>
          <a:noFill/>
          <a:ln/>
        </p:spPr>
        <p:txBody>
          <a:bodyPr wrap="square" rtlCol="0" anchor="t"/>
          <a:lstStyle/>
          <a:p>
            <a:pPr indent="0" marL="0">
              <a:lnSpc>
                <a:spcPct val="110000"/>
              </a:lnSpc>
              <a:buNone/>
            </a:pPr>
            <a:r>
              <a:rPr lang="en-US" sz="1900" b="1" dirty="0">
                <a:solidFill>
                  <a:srgbClr val="002050"/>
                </a:solidFill>
                <a:latin typeface="Aptos Display" pitchFamily="34" charset="0"/>
                <a:ea typeface="Aptos Display" pitchFamily="34" charset="-122"/>
                <a:cs typeface="Aptos Display" pitchFamily="34" charset="-120"/>
              </a:rPr>
              <a:t>Windows 11 pilot rollout
</a:t>
            </a:r>
            <a:pPr indent="0" marL="0">
              <a:lnSpc>
                <a:spcPct val="110000"/>
              </a:lnSpc>
              <a:buNone/>
            </a:pPr>
            <a:r>
              <a:rPr lang="en-US" sz="1550" dirty="0">
                <a:solidFill>
                  <a:srgbClr val="002050"/>
                </a:solidFill>
                <a:latin typeface="Aptos" pitchFamily="34" charset="0"/>
                <a:ea typeface="Aptos" pitchFamily="34" charset="-122"/>
                <a:cs typeface="Aptos" pitchFamily="34" charset="-120"/>
              </a:rPr>
              <a:t>Overall status amber. Planned: 40 pilot laptops. Completed: 34 upgraded, 3 deferred for application compatibility and 3 awaiting user availability. Main risk: the treasury spreadsheet add-in is not yet certified. Next step: submit the phase 2 go/no-go recommendation.</a:t>
            </a:r>
            <a:endParaRPr lang="en-US" sz="1900" dirty="0"/>
          </a:p>
        </p:txBody>
      </p:sp>
      <p:sp>
        <p:nvSpPr>
          <p:cNvPr id="11" name="Shape 9"/>
          <p:cNvSpPr/>
          <p:nvPr/>
        </p:nvSpPr>
        <p:spPr>
          <a:xfrm>
            <a:off x="502920" y="4160520"/>
            <a:ext cx="11183112" cy="2011680"/>
          </a:xfrm>
          <a:prstGeom prst="roundRect">
            <a:avLst>
              <a:gd name="adj" fmla="val 4091"/>
            </a:avLst>
          </a:prstGeom>
          <a:solidFill>
            <a:srgbClr val="EAF4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12" name="Shape 10"/>
          <p:cNvSpPr/>
          <p:nvPr/>
        </p:nvSpPr>
        <p:spPr>
          <a:xfrm>
            <a:off x="502920" y="4160520"/>
            <a:ext cx="82296" cy="2011680"/>
          </a:xfrm>
          <a:prstGeom prst="rect">
            <a:avLst/>
          </a:prstGeom>
          <a:solidFill>
            <a:srgbClr val="0F6CBD"/>
          </a:solidFill>
          <a:ln/>
        </p:spPr>
      </p:sp>
      <p:sp>
        <p:nvSpPr>
          <p:cNvPr id="13" name="Text 11"/>
          <p:cNvSpPr/>
          <p:nvPr/>
        </p:nvSpPr>
        <p:spPr>
          <a:xfrm>
            <a:off x="777240" y="4288536"/>
            <a:ext cx="10652760" cy="1783080"/>
          </a:xfrm>
          <a:prstGeom prst="rect">
            <a:avLst/>
          </a:prstGeom>
          <a:noFill/>
          <a:ln/>
        </p:spPr>
        <p:txBody>
          <a:bodyPr wrap="square" rtlCol="0" anchor="t"/>
          <a:lstStyle/>
          <a:p>
            <a:pPr indent="0" marL="0">
              <a:lnSpc>
                <a:spcPct val="110000"/>
              </a:lnSpc>
              <a:buNone/>
            </a:pPr>
            <a:r>
              <a:rPr lang="en-US" sz="1900" b="1" dirty="0">
                <a:solidFill>
                  <a:srgbClr val="002050"/>
                </a:solidFill>
                <a:latin typeface="Aptos Display" pitchFamily="34" charset="0"/>
                <a:ea typeface="Aptos Display" pitchFamily="34" charset="-122"/>
                <a:cs typeface="Aptos Display" pitchFamily="34" charset="-120"/>
              </a:rPr>
              <a:t>Branch Wi-Fi upgrade
</a:t>
            </a:r>
            <a:pPr indent="0" marL="0">
              <a:lnSpc>
                <a:spcPct val="110000"/>
              </a:lnSpc>
              <a:buNone/>
            </a:pPr>
            <a:r>
              <a:rPr lang="en-US" sz="1550" dirty="0">
                <a:solidFill>
                  <a:srgbClr val="002050"/>
                </a:solidFill>
                <a:latin typeface="Aptos" pitchFamily="34" charset="0"/>
                <a:ea typeface="Aptos" pitchFamily="34" charset="-122"/>
                <a:cs typeface="Aptos" pitchFamily="34" charset="-120"/>
              </a:rPr>
              <a:t>Overall status green. Access points installed at 5 of 6 planned branches; the remaining branch is delayed by landlord access approval. Budget used: 71% against planned 75%. Next step: coverage tests and branch manager sign-off.</a:t>
            </a:r>
            <a:endParaRPr lang="en-US" sz="1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indent="0" marL="0">
              <a:buNone/>
            </a:pPr>
            <a:r>
              <a:rPr lang="en-US" sz="1000" dirty="0">
                <a:solidFill>
                  <a:srgbClr val="6B7280"/>
                </a:solidFill>
                <a:latin typeface="Aptos" pitchFamily="34" charset="0"/>
                <a:ea typeface="Aptos" pitchFamily="34" charset="-122"/>
                <a:cs typeface="Aptos" pitchFamily="34" charset="-120"/>
              </a:rPr>
              <a:t>Unit Standard 8252 — Writing Business Reports   ·   Investec IT Systems Support NQF 5</a:t>
            </a:r>
            <a:endParaRPr lang="en-US" sz="10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1000" dirty="0">
                <a:solidFill>
                  <a:srgbClr val="6B7280"/>
                </a:solidFill>
                <a:latin typeface="Aptos" pitchFamily="34" charset="0"/>
                <a:ea typeface="Aptos" pitchFamily="34" charset="-122"/>
                <a:cs typeface="Aptos" pitchFamily="34" charset="-120"/>
              </a:rPr>
              <a:t>17</a:t>
            </a:r>
            <a:endParaRPr lang="en-US" sz="10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56032"/>
            <a:ext cx="11183112" cy="347472"/>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WORKED EXAMPLES · RECOMMENDATION</a:t>
            </a:r>
            <a:endParaRPr lang="en-US" sz="1400" dirty="0"/>
          </a:p>
        </p:txBody>
      </p:sp>
      <p:sp>
        <p:nvSpPr>
          <p:cNvPr id="6" name="Text 4"/>
          <p:cNvSpPr/>
          <p:nvPr/>
        </p:nvSpPr>
        <p:spPr>
          <a:xfrm>
            <a:off x="502920" y="585216"/>
            <a:ext cx="11183112" cy="786384"/>
          </a:xfrm>
          <a:prstGeom prst="rect">
            <a:avLst/>
          </a:prstGeom>
          <a:noFill/>
          <a:ln/>
        </p:spPr>
        <p:txBody>
          <a:bodyPr wrap="square" rtlCol="0" anchor="ctr"/>
          <a:lstStyle/>
          <a:p>
            <a:pPr indent="0" marL="0">
              <a:buNone/>
            </a:pPr>
            <a:r>
              <a:rPr lang="en-US" sz="3400" b="1" dirty="0">
                <a:solidFill>
                  <a:srgbClr val="002050"/>
                </a:solidFill>
                <a:latin typeface="Aptos Display" pitchFamily="34" charset="0"/>
                <a:ea typeface="Aptos Display" pitchFamily="34" charset="-122"/>
                <a:cs typeface="Aptos Display" pitchFamily="34" charset="-120"/>
              </a:rPr>
              <a:t>Sample Recommendation Report</a:t>
            </a:r>
            <a:endParaRPr lang="en-US" sz="3400" dirty="0"/>
          </a:p>
        </p:txBody>
      </p:sp>
      <p:sp>
        <p:nvSpPr>
          <p:cNvPr id="7" name="Text 5"/>
          <p:cNvSpPr/>
          <p:nvPr/>
        </p:nvSpPr>
        <p:spPr>
          <a:xfrm>
            <a:off x="502920" y="1417320"/>
            <a:ext cx="11183112" cy="411480"/>
          </a:xfrm>
          <a:prstGeom prst="rect">
            <a:avLst/>
          </a:prstGeom>
          <a:noFill/>
          <a:ln/>
        </p:spPr>
        <p:txBody>
          <a:bodyPr wrap="square" rtlCol="0" anchor="ctr"/>
          <a:lstStyle/>
          <a:p>
            <a:pPr indent="0" marL="0">
              <a:buNone/>
            </a:pPr>
            <a:r>
              <a:rPr lang="en-US" sz="1650" dirty="0">
                <a:solidFill>
                  <a:srgbClr val="6B7280"/>
                </a:solidFill>
                <a:latin typeface="Aptos" pitchFamily="34" charset="0"/>
                <a:ea typeface="Aptos" pitchFamily="34" charset="-122"/>
                <a:cs typeface="Aptos" pitchFamily="34" charset="-120"/>
              </a:rPr>
              <a:t>Recommendation reports answer: Which option should management approve, why, by when, and at what cost or risk?</a:t>
            </a:r>
            <a:endParaRPr lang="en-US" sz="1650" dirty="0"/>
          </a:p>
        </p:txBody>
      </p:sp>
      <p:sp>
        <p:nvSpPr>
          <p:cNvPr id="8" name="Shape 6"/>
          <p:cNvSpPr/>
          <p:nvPr/>
        </p:nvSpPr>
        <p:spPr>
          <a:xfrm>
            <a:off x="502920" y="1965960"/>
            <a:ext cx="11183112" cy="914400"/>
          </a:xfrm>
          <a:prstGeom prst="roundRect">
            <a:avLst>
              <a:gd name="adj" fmla="val 9000"/>
            </a:avLst>
          </a:prstGeom>
          <a:solidFill>
            <a:srgbClr val="EAF4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9" name="Shape 7"/>
          <p:cNvSpPr/>
          <p:nvPr/>
        </p:nvSpPr>
        <p:spPr>
          <a:xfrm>
            <a:off x="502920" y="1965960"/>
            <a:ext cx="82296" cy="914400"/>
          </a:xfrm>
          <a:prstGeom prst="rect">
            <a:avLst/>
          </a:prstGeom>
          <a:solidFill>
            <a:srgbClr val="0F6CBD"/>
          </a:solidFill>
          <a:ln/>
        </p:spPr>
      </p:sp>
      <p:sp>
        <p:nvSpPr>
          <p:cNvPr id="10" name="Text 8"/>
          <p:cNvSpPr/>
          <p:nvPr/>
        </p:nvSpPr>
        <p:spPr>
          <a:xfrm>
            <a:off x="777240" y="1965960"/>
            <a:ext cx="10652760" cy="914400"/>
          </a:xfrm>
          <a:prstGeom prst="rect">
            <a:avLst/>
          </a:prstGeom>
          <a:noFill/>
          <a:ln/>
        </p:spPr>
        <p:txBody>
          <a:bodyPr wrap="square" rtlCol="0" anchor="ctr"/>
          <a:lstStyle/>
          <a:p>
            <a:pPr indent="0" marL="0">
              <a:lnSpc>
                <a:spcPct val="108000"/>
              </a:lnSpc>
              <a:buNone/>
            </a:pPr>
            <a:r>
              <a:rPr lang="en-US" sz="1800" b="1" dirty="0">
                <a:solidFill>
                  <a:srgbClr val="002050"/>
                </a:solidFill>
                <a:latin typeface="Aptos Display" pitchFamily="34" charset="0"/>
                <a:ea typeface="Aptos Display" pitchFamily="34" charset="-122"/>
                <a:cs typeface="Aptos Display" pitchFamily="34" charset="-120"/>
              </a:rPr>
              <a:t>Service desk knowledge base:  </a:t>
            </a:r>
            <a:pPr indent="0" marL="0">
              <a:lnSpc>
                <a:spcPct val="108000"/>
              </a:lnSpc>
              <a:buNone/>
            </a:pPr>
            <a:r>
              <a:rPr lang="en-US" sz="1700" dirty="0">
                <a:solidFill>
                  <a:srgbClr val="002050"/>
                </a:solidFill>
                <a:latin typeface="Aptos" pitchFamily="34" charset="0"/>
                <a:ea typeface="Aptos" pitchFamily="34" charset="-122"/>
                <a:cs typeface="Aptos" pitchFamily="34" charset="-120"/>
              </a:rPr>
              <a:t>Implement a searchable knowledge base for recurring support issues by 30 November 2026.</a:t>
            </a:r>
            <a:endParaRPr lang="en-US" sz="1800" dirty="0"/>
          </a:p>
        </p:txBody>
      </p:sp>
      <p:sp>
        <p:nvSpPr>
          <p:cNvPr id="11" name="Shape 9"/>
          <p:cNvSpPr/>
          <p:nvPr/>
        </p:nvSpPr>
        <p:spPr>
          <a:xfrm>
            <a:off x="502920" y="3108960"/>
            <a:ext cx="11183112" cy="871728"/>
          </a:xfrm>
          <a:prstGeom prst="roundRect">
            <a:avLst>
              <a:gd name="adj" fmla="val 9441"/>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12" name="Shape 10"/>
          <p:cNvSpPr/>
          <p:nvPr/>
        </p:nvSpPr>
        <p:spPr>
          <a:xfrm>
            <a:off x="502920" y="3108960"/>
            <a:ext cx="82296" cy="871728"/>
          </a:xfrm>
          <a:prstGeom prst="rect">
            <a:avLst/>
          </a:prstGeom>
          <a:solidFill>
            <a:srgbClr val="0F6CBD"/>
          </a:solidFill>
          <a:ln/>
        </p:spPr>
      </p:sp>
      <p:sp>
        <p:nvSpPr>
          <p:cNvPr id="13" name="Text 11"/>
          <p:cNvSpPr/>
          <p:nvPr/>
        </p:nvSpPr>
        <p:spPr>
          <a:xfrm>
            <a:off x="795528" y="3218688"/>
            <a:ext cx="10634472" cy="652272"/>
          </a:xfrm>
          <a:prstGeom prst="rect">
            <a:avLst/>
          </a:prstGeom>
          <a:noFill/>
          <a:ln/>
        </p:spPr>
        <p:txBody>
          <a:bodyPr wrap="square" rtlCol="0" anchor="ctr"/>
          <a:lstStyle/>
          <a:p>
            <a:pPr indent="0" marL="0">
              <a:lnSpc>
                <a:spcPct val="108000"/>
              </a:lnSpc>
              <a:buNone/>
            </a:pPr>
            <a:r>
              <a:rPr lang="en-US" sz="1900" b="1" dirty="0">
                <a:solidFill>
                  <a:srgbClr val="002050"/>
                </a:solidFill>
                <a:latin typeface="Aptos Display" pitchFamily="34" charset="0"/>
                <a:ea typeface="Aptos Display" pitchFamily="34" charset="-122"/>
                <a:cs typeface="Aptos Display" pitchFamily="34" charset="-120"/>
              </a:rPr>
              <a:t>Evidence
</a:t>
            </a:r>
            <a:pPr indent="0" marL="0">
              <a:lnSpc>
                <a:spcPct val="108000"/>
              </a:lnSpc>
              <a:buNone/>
            </a:pPr>
            <a:r>
              <a:rPr lang="en-US" sz="1550" dirty="0">
                <a:solidFill>
                  <a:srgbClr val="002050"/>
                </a:solidFill>
                <a:latin typeface="Aptos" pitchFamily="34" charset="0"/>
                <a:ea typeface="Aptos" pitchFamily="34" charset="-122"/>
                <a:cs typeface="Aptos" pitchFamily="34" charset="-120"/>
              </a:rPr>
              <a:t>Password resets, VPN setup, printer mapping and Teams audio issues account for 41% of first-line requests.</a:t>
            </a:r>
            <a:endParaRPr lang="en-US" sz="1900" dirty="0"/>
          </a:p>
        </p:txBody>
      </p:sp>
      <p:sp>
        <p:nvSpPr>
          <p:cNvPr id="14" name="Shape 12"/>
          <p:cNvSpPr/>
          <p:nvPr/>
        </p:nvSpPr>
        <p:spPr>
          <a:xfrm>
            <a:off x="502920" y="4181856"/>
            <a:ext cx="11183112" cy="871728"/>
          </a:xfrm>
          <a:prstGeom prst="roundRect">
            <a:avLst>
              <a:gd name="adj" fmla="val 9441"/>
            </a:avLst>
          </a:prstGeom>
          <a:solidFill>
            <a:srgbClr val="EAF4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15" name="Shape 13"/>
          <p:cNvSpPr/>
          <p:nvPr/>
        </p:nvSpPr>
        <p:spPr>
          <a:xfrm>
            <a:off x="502920" y="4181856"/>
            <a:ext cx="82296" cy="871728"/>
          </a:xfrm>
          <a:prstGeom prst="rect">
            <a:avLst/>
          </a:prstGeom>
          <a:solidFill>
            <a:srgbClr val="0F6CBD"/>
          </a:solidFill>
          <a:ln/>
        </p:spPr>
      </p:sp>
      <p:sp>
        <p:nvSpPr>
          <p:cNvPr id="16" name="Text 14"/>
          <p:cNvSpPr/>
          <p:nvPr/>
        </p:nvSpPr>
        <p:spPr>
          <a:xfrm>
            <a:off x="795528" y="4291584"/>
            <a:ext cx="10634472" cy="652272"/>
          </a:xfrm>
          <a:prstGeom prst="rect">
            <a:avLst/>
          </a:prstGeom>
          <a:noFill/>
          <a:ln/>
        </p:spPr>
        <p:txBody>
          <a:bodyPr wrap="square" rtlCol="0" anchor="ctr"/>
          <a:lstStyle/>
          <a:p>
            <a:pPr indent="0" marL="0">
              <a:lnSpc>
                <a:spcPct val="108000"/>
              </a:lnSpc>
              <a:buNone/>
            </a:pPr>
            <a:r>
              <a:rPr lang="en-US" sz="1900" b="1" dirty="0">
                <a:solidFill>
                  <a:srgbClr val="002050"/>
                </a:solidFill>
                <a:latin typeface="Aptos Display" pitchFamily="34" charset="0"/>
                <a:ea typeface="Aptos Display" pitchFamily="34" charset="-122"/>
                <a:cs typeface="Aptos Display" pitchFamily="34" charset="-120"/>
              </a:rPr>
              <a:t>Recommended option
</a:t>
            </a:r>
            <a:pPr indent="0" marL="0">
              <a:lnSpc>
                <a:spcPct val="108000"/>
              </a:lnSpc>
              <a:buNone/>
            </a:pPr>
            <a:r>
              <a:rPr lang="en-US" sz="1550" dirty="0">
                <a:solidFill>
                  <a:srgbClr val="002050"/>
                </a:solidFill>
                <a:latin typeface="Aptos" pitchFamily="34" charset="0"/>
                <a:ea typeface="Aptos" pitchFamily="34" charset="-122"/>
                <a:cs typeface="Aptos" pitchFamily="34" charset="-120"/>
              </a:rPr>
              <a:t>Use the existing ITSM knowledge module because it avoids new licensing costs, supports approval workflows and links articles directly to tickets.</a:t>
            </a:r>
            <a:endParaRPr lang="en-US" sz="1900" dirty="0"/>
          </a:p>
        </p:txBody>
      </p:sp>
      <p:sp>
        <p:nvSpPr>
          <p:cNvPr id="17" name="Shape 15"/>
          <p:cNvSpPr/>
          <p:nvPr/>
        </p:nvSpPr>
        <p:spPr>
          <a:xfrm>
            <a:off x="502920" y="5254752"/>
            <a:ext cx="11183112" cy="871728"/>
          </a:xfrm>
          <a:prstGeom prst="roundRect">
            <a:avLst>
              <a:gd name="adj" fmla="val 9441"/>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18" name="Shape 16"/>
          <p:cNvSpPr/>
          <p:nvPr/>
        </p:nvSpPr>
        <p:spPr>
          <a:xfrm>
            <a:off x="502920" y="5254752"/>
            <a:ext cx="82296" cy="871728"/>
          </a:xfrm>
          <a:prstGeom prst="rect">
            <a:avLst/>
          </a:prstGeom>
          <a:solidFill>
            <a:srgbClr val="0F6CBD"/>
          </a:solidFill>
          <a:ln/>
        </p:spPr>
      </p:sp>
      <p:sp>
        <p:nvSpPr>
          <p:cNvPr id="19" name="Text 17"/>
          <p:cNvSpPr/>
          <p:nvPr/>
        </p:nvSpPr>
        <p:spPr>
          <a:xfrm>
            <a:off x="795528" y="5364480"/>
            <a:ext cx="10634472" cy="652272"/>
          </a:xfrm>
          <a:prstGeom prst="rect">
            <a:avLst/>
          </a:prstGeom>
          <a:noFill/>
          <a:ln/>
        </p:spPr>
        <p:txBody>
          <a:bodyPr wrap="square" rtlCol="0" anchor="ctr"/>
          <a:lstStyle/>
          <a:p>
            <a:pPr indent="0" marL="0">
              <a:lnSpc>
                <a:spcPct val="108000"/>
              </a:lnSpc>
              <a:buNone/>
            </a:pPr>
            <a:r>
              <a:rPr lang="en-US" sz="1900" b="1" dirty="0">
                <a:solidFill>
                  <a:srgbClr val="002050"/>
                </a:solidFill>
                <a:latin typeface="Aptos Display" pitchFamily="34" charset="0"/>
                <a:ea typeface="Aptos Display" pitchFamily="34" charset="-122"/>
                <a:cs typeface="Aptos Display" pitchFamily="34" charset="-120"/>
              </a:rPr>
              <a:t>Approval requested
</a:t>
            </a:r>
            <a:pPr indent="0" marL="0">
              <a:lnSpc>
                <a:spcPct val="108000"/>
              </a:lnSpc>
              <a:buNone/>
            </a:pPr>
            <a:r>
              <a:rPr lang="en-US" sz="1550" dirty="0">
                <a:solidFill>
                  <a:srgbClr val="002050"/>
                </a:solidFill>
                <a:latin typeface="Aptos" pitchFamily="34" charset="0"/>
                <a:ea typeface="Aptos" pitchFamily="34" charset="-122"/>
                <a:cs typeface="Aptos" pitchFamily="34" charset="-120"/>
              </a:rPr>
              <a:t>Assign two analysts for article creation and require monthly review by team leads.</a:t>
            </a:r>
            <a:endParaRPr lang="en-US" sz="1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indent="0" marL="0">
              <a:buNone/>
            </a:pPr>
            <a:r>
              <a:rPr lang="en-US" sz="1000" dirty="0">
                <a:solidFill>
                  <a:srgbClr val="6B7280"/>
                </a:solidFill>
                <a:latin typeface="Aptos" pitchFamily="34" charset="0"/>
                <a:ea typeface="Aptos" pitchFamily="34" charset="-122"/>
                <a:cs typeface="Aptos" pitchFamily="34" charset="-120"/>
              </a:rPr>
              <a:t>Unit Standard 8252 — Writing Business Reports   ·   Investec IT Systems Support NQF 5</a:t>
            </a:r>
            <a:endParaRPr lang="en-US" sz="10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1000" dirty="0">
                <a:solidFill>
                  <a:srgbClr val="6B7280"/>
                </a:solidFill>
                <a:latin typeface="Aptos" pitchFamily="34" charset="0"/>
                <a:ea typeface="Aptos" pitchFamily="34" charset="-122"/>
                <a:cs typeface="Aptos" pitchFamily="34" charset="-120"/>
              </a:rPr>
              <a:t>18</a:t>
            </a:r>
            <a:endParaRPr lang="en-US" sz="10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56032"/>
            <a:ext cx="11183112" cy="347472"/>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OBTAINING &amp; DISTRIBUTING INFORMATION</a:t>
            </a:r>
            <a:endParaRPr lang="en-US" sz="1400" dirty="0"/>
          </a:p>
        </p:txBody>
      </p:sp>
      <p:sp>
        <p:nvSpPr>
          <p:cNvPr id="6" name="Text 4"/>
          <p:cNvSpPr/>
          <p:nvPr/>
        </p:nvSpPr>
        <p:spPr>
          <a:xfrm>
            <a:off x="502920" y="585216"/>
            <a:ext cx="11183112" cy="786384"/>
          </a:xfrm>
          <a:prstGeom prst="rect">
            <a:avLst/>
          </a:prstGeom>
          <a:noFill/>
          <a:ln/>
        </p:spPr>
        <p:txBody>
          <a:bodyPr wrap="square" rtlCol="0" anchor="ctr"/>
          <a:lstStyle/>
          <a:p>
            <a:pPr indent="0" marL="0">
              <a:buNone/>
            </a:pPr>
            <a:r>
              <a:rPr lang="en-US" sz="3400" b="1" dirty="0">
                <a:solidFill>
                  <a:srgbClr val="002050"/>
                </a:solidFill>
                <a:latin typeface="Aptos Display" pitchFamily="34" charset="0"/>
                <a:ea typeface="Aptos Display" pitchFamily="34" charset="-122"/>
                <a:cs typeface="Aptos Display" pitchFamily="34" charset="-120"/>
              </a:rPr>
              <a:t>Resources for Getting Information</a:t>
            </a:r>
            <a:endParaRPr lang="en-US" sz="3400" dirty="0"/>
          </a:p>
        </p:txBody>
      </p:sp>
      <p:sp>
        <p:nvSpPr>
          <p:cNvPr id="7" name="Text 5"/>
          <p:cNvSpPr/>
          <p:nvPr/>
        </p:nvSpPr>
        <p:spPr>
          <a:xfrm>
            <a:off x="502920" y="1828800"/>
            <a:ext cx="11183112" cy="4709160"/>
          </a:xfrm>
          <a:prstGeom prst="rect">
            <a:avLst/>
          </a:prstGeom>
          <a:noFill/>
          <a:ln/>
        </p:spPr>
        <p:txBody>
          <a:bodyPr wrap="square" rtlCol="0" anchor="t"/>
          <a:lstStyle/>
          <a:p>
            <a:pPr indent="0" marL="0">
              <a:lnSpc>
                <a:spcPct val="112000"/>
              </a:lnSpc>
              <a:spcAft>
                <a:spcPts val="1200"/>
              </a:spcAft>
              <a:buNone/>
            </a:pPr>
            <a:r>
              <a:rPr lang="en-US" sz="1900" dirty="0">
                <a:solidFill>
                  <a:srgbClr val="002050"/>
                </a:solidFill>
                <a:latin typeface="Aptos" pitchFamily="34" charset="0"/>
                <a:ea typeface="Aptos" pitchFamily="34" charset="-122"/>
                <a:cs typeface="Aptos" pitchFamily="34" charset="-120"/>
              </a:rPr>
              <a:t>Firstly, all information which is available in the organisation must always be seen as confidential information. When information is made available to competitors, they may gain the upper hand and copy concepts and ideas from the organisation — which could lead to serious financial implications.
</a:t>
            </a:r>
            <a:endParaRPr lang="en-US" sz="1900" dirty="0"/>
          </a:p>
          <a:p>
            <a:pPr indent="0" marL="0">
              <a:lnSpc>
                <a:spcPct val="112000"/>
              </a:lnSpc>
              <a:spcAft>
                <a:spcPts val="1200"/>
              </a:spcAft>
              <a:buNone/>
            </a:pPr>
            <a:r>
              <a:rPr lang="en-US" sz="1900" dirty="0">
                <a:solidFill>
                  <a:srgbClr val="002050"/>
                </a:solidFill>
                <a:latin typeface="Aptos" pitchFamily="34" charset="0"/>
                <a:ea typeface="Aptos" pitchFamily="34" charset="-122"/>
                <a:cs typeface="Aptos" pitchFamily="34" charset="-120"/>
              </a:rPr>
              <a:t>Information centres in the organisation — such as operations, finance, research and development, and human resources — will have information about the organisation and will be able to give an authorised individual all the information they may need.</a:t>
            </a:r>
            <a:endParaRPr lang="en-US" sz="1900" dirty="0"/>
          </a:p>
        </p:txBody>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637276" y="4663440"/>
            <a:ext cx="914400" cy="9144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indent="0" marL="0">
              <a:buNone/>
            </a:pPr>
            <a:r>
              <a:rPr lang="en-US" sz="1000" dirty="0">
                <a:solidFill>
                  <a:srgbClr val="6B7280"/>
                </a:solidFill>
                <a:latin typeface="Aptos" pitchFamily="34" charset="0"/>
                <a:ea typeface="Aptos" pitchFamily="34" charset="-122"/>
                <a:cs typeface="Aptos" pitchFamily="34" charset="-120"/>
              </a:rPr>
              <a:t>Unit Standard 8252 — Writing Business Reports   ·   Investec IT Systems Support NQF 5</a:t>
            </a:r>
            <a:endParaRPr lang="en-US" sz="10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1000" dirty="0">
                <a:solidFill>
                  <a:srgbClr val="6B7280"/>
                </a:solidFill>
                <a:latin typeface="Aptos" pitchFamily="34" charset="0"/>
                <a:ea typeface="Aptos" pitchFamily="34" charset="-122"/>
                <a:cs typeface="Aptos" pitchFamily="34" charset="-120"/>
              </a:rPr>
              <a:t>19</a:t>
            </a:r>
            <a:endParaRPr lang="en-US" sz="10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56032"/>
            <a:ext cx="11183112" cy="347472"/>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OBTAINING &amp; DISTRIBUTING INFORMATION</a:t>
            </a:r>
            <a:endParaRPr lang="en-US" sz="1400" dirty="0"/>
          </a:p>
        </p:txBody>
      </p:sp>
      <p:sp>
        <p:nvSpPr>
          <p:cNvPr id="6" name="Text 4"/>
          <p:cNvSpPr/>
          <p:nvPr/>
        </p:nvSpPr>
        <p:spPr>
          <a:xfrm>
            <a:off x="502920" y="585216"/>
            <a:ext cx="11183112" cy="786384"/>
          </a:xfrm>
          <a:prstGeom prst="rect">
            <a:avLst/>
          </a:prstGeom>
          <a:noFill/>
          <a:ln/>
        </p:spPr>
        <p:txBody>
          <a:bodyPr wrap="square" rtlCol="0" anchor="ctr"/>
          <a:lstStyle/>
          <a:p>
            <a:pPr indent="0" marL="0">
              <a:buNone/>
            </a:pPr>
            <a:r>
              <a:rPr lang="en-US" sz="3400" b="1" dirty="0">
                <a:solidFill>
                  <a:srgbClr val="002050"/>
                </a:solidFill>
                <a:latin typeface="Aptos Display" pitchFamily="34" charset="0"/>
                <a:ea typeface="Aptos Display" pitchFamily="34" charset="-122"/>
                <a:cs typeface="Aptos Display" pitchFamily="34" charset="-120"/>
              </a:rPr>
              <a:t>Information Sourced From the Organisation</a:t>
            </a:r>
            <a:endParaRPr lang="en-US" sz="3400" dirty="0"/>
          </a:p>
        </p:txBody>
      </p:sp>
      <p:sp>
        <p:nvSpPr>
          <p:cNvPr id="7" name="Text 5"/>
          <p:cNvSpPr/>
          <p:nvPr/>
        </p:nvSpPr>
        <p:spPr>
          <a:xfrm>
            <a:off x="502920" y="1737360"/>
            <a:ext cx="11183112" cy="4663440"/>
          </a:xfrm>
          <a:prstGeom prst="rect">
            <a:avLst/>
          </a:prstGeom>
          <a:noFill/>
          <a:ln/>
        </p:spPr>
        <p:txBody>
          <a:bodyPr wrap="square" rtlCol="0" anchor="t"/>
          <a:lstStyle/>
          <a:p>
            <a:pPr indent="0" marL="0">
              <a:lnSpc>
                <a:spcPct val="110000"/>
              </a:lnSpc>
              <a:spcAft>
                <a:spcPts val="1200"/>
              </a:spcAft>
              <a:buNone/>
            </a:pPr>
            <a:r>
              <a:rPr lang="en-US" sz="1950" dirty="0">
                <a:solidFill>
                  <a:srgbClr val="002050"/>
                </a:solidFill>
                <a:latin typeface="Aptos" pitchFamily="34" charset="0"/>
                <a:ea typeface="Aptos" pitchFamily="34" charset="-122"/>
                <a:cs typeface="Aptos" pitchFamily="34" charset="-120"/>
              </a:rPr>
              <a:t>Information can include, but is not limited to:
</a:t>
            </a:r>
            <a:endParaRPr lang="en-US" sz="1950" dirty="0"/>
          </a:p>
          <a:p>
            <a:pPr marL="228600" indent="-228600">
              <a:lnSpc>
                <a:spcPct val="110000"/>
              </a:lnSpc>
              <a:spcAft>
                <a:spcPts val="1000"/>
              </a:spcAft>
              <a:buSzPct val="100000"/>
              <a:buChar char="•"/>
            </a:pPr>
            <a:r>
              <a:rPr lang="en-US" sz="1950" dirty="0">
                <a:solidFill>
                  <a:srgbClr val="002050"/>
                </a:solidFill>
                <a:latin typeface="Aptos" pitchFamily="34" charset="0"/>
                <a:ea typeface="Aptos" pitchFamily="34" charset="-122"/>
                <a:cs typeface="Aptos" pitchFamily="34" charset="-120"/>
              </a:rPr>
              <a:t>Financial statements / reports</a:t>
            </a:r>
            <a:endParaRPr lang="en-US" sz="1950" dirty="0"/>
          </a:p>
          <a:p>
            <a:pPr marL="228600" indent="-228600">
              <a:lnSpc>
                <a:spcPct val="110000"/>
              </a:lnSpc>
              <a:spcAft>
                <a:spcPts val="1000"/>
              </a:spcAft>
              <a:buSzPct val="100000"/>
              <a:buChar char="•"/>
            </a:pPr>
            <a:r>
              <a:rPr lang="en-US" sz="1950" dirty="0">
                <a:solidFill>
                  <a:srgbClr val="002050"/>
                </a:solidFill>
                <a:latin typeface="Aptos" pitchFamily="34" charset="0"/>
                <a:ea typeface="Aptos" pitchFamily="34" charset="-122"/>
                <a:cs typeface="Aptos" pitchFamily="34" charset="-120"/>
              </a:rPr>
              <a:t>Research and development activities</a:t>
            </a:r>
            <a:endParaRPr lang="en-US" sz="1950" dirty="0"/>
          </a:p>
          <a:p>
            <a:pPr marL="228600" indent="-228600">
              <a:lnSpc>
                <a:spcPct val="110000"/>
              </a:lnSpc>
              <a:spcAft>
                <a:spcPts val="1000"/>
              </a:spcAft>
              <a:buSzPct val="100000"/>
              <a:buChar char="•"/>
            </a:pPr>
            <a:r>
              <a:rPr lang="en-US" sz="1950" dirty="0">
                <a:solidFill>
                  <a:srgbClr val="002050"/>
                </a:solidFill>
                <a:latin typeface="Aptos" pitchFamily="34" charset="0"/>
                <a:ea typeface="Aptos" pitchFamily="34" charset="-122"/>
                <a:cs typeface="Aptos" pitchFamily="34" charset="-120"/>
              </a:rPr>
              <a:t>Marketing and advertising strategies</a:t>
            </a:r>
            <a:endParaRPr lang="en-US" sz="1950" dirty="0"/>
          </a:p>
          <a:p>
            <a:pPr marL="228600" indent="-228600">
              <a:lnSpc>
                <a:spcPct val="110000"/>
              </a:lnSpc>
              <a:spcAft>
                <a:spcPts val="1000"/>
              </a:spcAft>
              <a:buSzPct val="100000"/>
              <a:buChar char="•"/>
            </a:pPr>
            <a:r>
              <a:rPr lang="en-US" sz="1950" dirty="0">
                <a:solidFill>
                  <a:srgbClr val="002050"/>
                </a:solidFill>
                <a:latin typeface="Aptos" pitchFamily="34" charset="0"/>
                <a:ea typeface="Aptos" pitchFamily="34" charset="-122"/>
                <a:cs typeface="Aptos" pitchFamily="34" charset="-120"/>
              </a:rPr>
              <a:t>Human resource needs / expectations</a:t>
            </a:r>
            <a:endParaRPr lang="en-US" sz="1950" dirty="0"/>
          </a:p>
          <a:p>
            <a:pPr marL="228600" indent="-228600">
              <a:lnSpc>
                <a:spcPct val="110000"/>
              </a:lnSpc>
              <a:spcAft>
                <a:spcPts val="1000"/>
              </a:spcAft>
              <a:buSzPct val="100000"/>
              <a:buChar char="•"/>
            </a:pPr>
            <a:r>
              <a:rPr lang="en-US" sz="1950" dirty="0">
                <a:solidFill>
                  <a:srgbClr val="002050"/>
                </a:solidFill>
                <a:latin typeface="Aptos" pitchFamily="34" charset="0"/>
                <a:ea typeface="Aptos" pitchFamily="34" charset="-122"/>
                <a:cs typeface="Aptos" pitchFamily="34" charset="-120"/>
              </a:rPr>
              <a:t>Company vision regarding the long-term expectations and future of the organisation</a:t>
            </a:r>
            <a:endParaRPr lang="en-US" sz="1950" dirty="0"/>
          </a:p>
          <a:p>
            <a:pPr marL="228600" indent="-228600">
              <a:lnSpc>
                <a:spcPct val="110000"/>
              </a:lnSpc>
              <a:spcAft>
                <a:spcPts val="1000"/>
              </a:spcAft>
              <a:buSzPct val="100000"/>
              <a:buChar char="•"/>
            </a:pPr>
            <a:r>
              <a:rPr lang="en-US" sz="1950" dirty="0">
                <a:solidFill>
                  <a:srgbClr val="002050"/>
                </a:solidFill>
                <a:latin typeface="Aptos" pitchFamily="34" charset="0"/>
                <a:ea typeface="Aptos" pitchFamily="34" charset="-122"/>
                <a:cs typeface="Aptos" pitchFamily="34" charset="-120"/>
              </a:rPr>
              <a:t>Project-specific information of certain aspects of projects undertaken by the organisation</a:t>
            </a:r>
            <a:endParaRPr lang="en-US" sz="1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indent="0" marL="0">
              <a:buNone/>
            </a:pPr>
            <a:r>
              <a:rPr lang="en-US" sz="1000" dirty="0">
                <a:solidFill>
                  <a:srgbClr val="6B7280"/>
                </a:solidFill>
                <a:latin typeface="Aptos" pitchFamily="34" charset="0"/>
                <a:ea typeface="Aptos" pitchFamily="34" charset="-122"/>
                <a:cs typeface="Aptos" pitchFamily="34" charset="-120"/>
              </a:rPr>
              <a:t>Unit Standard 8252 — Writing Business Reports   ·   Investec IT Systems Support NQF 5</a:t>
            </a:r>
            <a:endParaRPr lang="en-US" sz="10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1000" dirty="0">
                <a:solidFill>
                  <a:srgbClr val="6B7280"/>
                </a:solidFill>
                <a:latin typeface="Aptos" pitchFamily="34" charset="0"/>
                <a:ea typeface="Aptos" pitchFamily="34" charset="-122"/>
                <a:cs typeface="Aptos" pitchFamily="34" charset="-120"/>
              </a:rPr>
              <a:t>20</a:t>
            </a:r>
            <a:endParaRPr lang="en-US" sz="10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56032"/>
            <a:ext cx="11183112" cy="347472"/>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OBTAINING &amp; DISTRIBUTING INFORMATION</a:t>
            </a:r>
            <a:endParaRPr lang="en-US" sz="1400" dirty="0"/>
          </a:p>
        </p:txBody>
      </p:sp>
      <p:sp>
        <p:nvSpPr>
          <p:cNvPr id="6" name="Text 4"/>
          <p:cNvSpPr/>
          <p:nvPr/>
        </p:nvSpPr>
        <p:spPr>
          <a:xfrm>
            <a:off x="502920" y="585216"/>
            <a:ext cx="11183112" cy="786384"/>
          </a:xfrm>
          <a:prstGeom prst="rect">
            <a:avLst/>
          </a:prstGeom>
          <a:noFill/>
          <a:ln/>
        </p:spPr>
        <p:txBody>
          <a:bodyPr wrap="square" rtlCol="0" anchor="ctr"/>
          <a:lstStyle/>
          <a:p>
            <a:pPr indent="0" marL="0">
              <a:buNone/>
            </a:pPr>
            <a:r>
              <a:rPr lang="en-US" sz="3400" b="1" dirty="0">
                <a:solidFill>
                  <a:srgbClr val="002050"/>
                </a:solidFill>
                <a:latin typeface="Aptos Display" pitchFamily="34" charset="0"/>
                <a:ea typeface="Aptos Display" pitchFamily="34" charset="-122"/>
                <a:cs typeface="Aptos Display" pitchFamily="34" charset="-120"/>
              </a:rPr>
              <a:t>Procedures for Distributing Information</a:t>
            </a:r>
            <a:endParaRPr lang="en-US" sz="3400" dirty="0"/>
          </a:p>
        </p:txBody>
      </p:sp>
      <p:sp>
        <p:nvSpPr>
          <p:cNvPr id="7" name="Text 5"/>
          <p:cNvSpPr/>
          <p:nvPr/>
        </p:nvSpPr>
        <p:spPr>
          <a:xfrm>
            <a:off x="502920" y="1645920"/>
            <a:ext cx="11183112" cy="4709160"/>
          </a:xfrm>
          <a:prstGeom prst="rect">
            <a:avLst/>
          </a:prstGeom>
          <a:noFill/>
          <a:ln/>
        </p:spPr>
        <p:txBody>
          <a:bodyPr wrap="square" rtlCol="0" anchor="t"/>
          <a:lstStyle/>
          <a:p>
            <a:pPr indent="0" marL="0">
              <a:lnSpc>
                <a:spcPct val="112000"/>
              </a:lnSpc>
              <a:spcAft>
                <a:spcPts val="1200"/>
              </a:spcAft>
              <a:buNone/>
            </a:pPr>
            <a:r>
              <a:rPr lang="en-US" sz="1700" dirty="0">
                <a:solidFill>
                  <a:srgbClr val="002050"/>
                </a:solidFill>
                <a:latin typeface="Aptos" pitchFamily="34" charset="0"/>
                <a:ea typeface="Aptos" pitchFamily="34" charset="-122"/>
                <a:cs typeface="Aptos" pitchFamily="34" charset="-120"/>
              </a:rPr>
              <a:t>Distributing information about the organisation must be handled in a very delicate manner and the recipients of such information must be selected carefully. Depending on the severity of the information and the level of security and/or risk attached to it, recipients should be graded on whether or not they are liable to obtain such information.
</a:t>
            </a:r>
            <a:endParaRPr lang="en-US" sz="1700" dirty="0"/>
          </a:p>
          <a:p>
            <a:pPr indent="0" marL="0">
              <a:lnSpc>
                <a:spcPct val="112000"/>
              </a:lnSpc>
              <a:spcAft>
                <a:spcPts val="1200"/>
              </a:spcAft>
              <a:buNone/>
            </a:pPr>
            <a:r>
              <a:rPr lang="en-US" sz="1700" dirty="0">
                <a:solidFill>
                  <a:srgbClr val="002050"/>
                </a:solidFill>
                <a:latin typeface="Aptos" pitchFamily="34" charset="0"/>
                <a:ea typeface="Aptos" pitchFamily="34" charset="-122"/>
                <a:cs typeface="Aptos" pitchFamily="34" charset="-120"/>
              </a:rPr>
              <a:t>Most information will be distributed to individuals in the organisation depending on their need for it. The information should be relevant to their needs and their use.
</a:t>
            </a:r>
            <a:endParaRPr lang="en-US" sz="1700" dirty="0"/>
          </a:p>
          <a:p>
            <a:pPr indent="0" marL="0">
              <a:lnSpc>
                <a:spcPct val="112000"/>
              </a:lnSpc>
              <a:spcAft>
                <a:spcPts val="1200"/>
              </a:spcAft>
              <a:buNone/>
            </a:pPr>
            <a:r>
              <a:rPr lang="en-US" sz="1700" dirty="0">
                <a:solidFill>
                  <a:srgbClr val="002050"/>
                </a:solidFill>
                <a:latin typeface="Aptos" pitchFamily="34" charset="0"/>
                <a:ea typeface="Aptos" pitchFamily="34" charset="-122"/>
                <a:cs typeface="Aptos" pitchFamily="34" charset="-120"/>
              </a:rPr>
              <a:t>For example: if the marketing department is included in the distribution of a new marketing campaign, the information given to them should purely be on the new product/service and how it will influence and/or attract customers, including the expected target market. They need not know the amount spent on the research and development costs of the new product.</a:t>
            </a:r>
            <a:endParaRPr lang="en-US" sz="1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indent="0" marL="0">
              <a:buNone/>
            </a:pPr>
            <a:r>
              <a:rPr lang="en-US" sz="1000" dirty="0">
                <a:solidFill>
                  <a:srgbClr val="6B7280"/>
                </a:solidFill>
                <a:latin typeface="Aptos" pitchFamily="34" charset="0"/>
                <a:ea typeface="Aptos" pitchFamily="34" charset="-122"/>
                <a:cs typeface="Aptos" pitchFamily="34" charset="-120"/>
              </a:rPr>
              <a:t>Unit Standard 8252 — Writing Business Reports   ·   Investec IT Systems Support NQF 5</a:t>
            </a:r>
            <a:endParaRPr lang="en-US" sz="10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1000" dirty="0">
                <a:solidFill>
                  <a:srgbClr val="6B7280"/>
                </a:solidFill>
                <a:latin typeface="Aptos" pitchFamily="34" charset="0"/>
                <a:ea typeface="Aptos" pitchFamily="34" charset="-122"/>
                <a:cs typeface="Aptos" pitchFamily="34" charset="-120"/>
              </a:rPr>
              <a:t>21</a:t>
            </a:r>
            <a:endParaRPr lang="en-US" sz="10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56032"/>
            <a:ext cx="11183112" cy="347472"/>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VERIFYING REPORTED INFORMATION</a:t>
            </a:r>
            <a:endParaRPr lang="en-US" sz="1400" dirty="0"/>
          </a:p>
        </p:txBody>
      </p:sp>
      <p:sp>
        <p:nvSpPr>
          <p:cNvPr id="6" name="Text 4"/>
          <p:cNvSpPr/>
          <p:nvPr/>
        </p:nvSpPr>
        <p:spPr>
          <a:xfrm>
            <a:off x="502920" y="585216"/>
            <a:ext cx="11183112" cy="786384"/>
          </a:xfrm>
          <a:prstGeom prst="rect">
            <a:avLst/>
          </a:prstGeom>
          <a:noFill/>
          <a:ln/>
        </p:spPr>
        <p:txBody>
          <a:bodyPr wrap="square" rtlCol="0" anchor="ctr"/>
          <a:lstStyle/>
          <a:p>
            <a:pPr indent="0" marL="0">
              <a:buNone/>
            </a:pPr>
            <a:r>
              <a:rPr lang="en-US" sz="3400" b="1" dirty="0">
                <a:solidFill>
                  <a:srgbClr val="002050"/>
                </a:solidFill>
                <a:latin typeface="Aptos Display" pitchFamily="34" charset="0"/>
                <a:ea typeface="Aptos Display" pitchFamily="34" charset="-122"/>
                <a:cs typeface="Aptos Display" pitchFamily="34" charset="-120"/>
              </a:rPr>
              <a:t>Verifying Reported Information</a:t>
            </a:r>
            <a:endParaRPr lang="en-US" sz="3400" dirty="0"/>
          </a:p>
        </p:txBody>
      </p:sp>
      <p:sp>
        <p:nvSpPr>
          <p:cNvPr id="7" name="Text 5"/>
          <p:cNvSpPr/>
          <p:nvPr/>
        </p:nvSpPr>
        <p:spPr>
          <a:xfrm>
            <a:off x="502920" y="1600200"/>
            <a:ext cx="11183112" cy="4709160"/>
          </a:xfrm>
          <a:prstGeom prst="rect">
            <a:avLst/>
          </a:prstGeom>
          <a:noFill/>
          <a:ln/>
        </p:spPr>
        <p:txBody>
          <a:bodyPr wrap="square" rtlCol="0" anchor="t"/>
          <a:lstStyle/>
          <a:p>
            <a:pPr indent="0" marL="0">
              <a:lnSpc>
                <a:spcPct val="112000"/>
              </a:lnSpc>
              <a:spcAft>
                <a:spcPts val="1200"/>
              </a:spcAft>
              <a:buNone/>
            </a:pPr>
            <a:r>
              <a:rPr lang="en-US" sz="1600" dirty="0">
                <a:solidFill>
                  <a:srgbClr val="002050"/>
                </a:solidFill>
                <a:latin typeface="Aptos" pitchFamily="34" charset="0"/>
                <a:ea typeface="Aptos" pitchFamily="34" charset="-122"/>
                <a:cs typeface="Aptos" pitchFamily="34" charset="-120"/>
              </a:rPr>
              <a:t>Before any report is sent to a person who will proof it and ensure it is correct, the originator is required to double-check that all the information given in the report is in line with the stipulated requirements of both the target audience and the required outcomes of the report.
</a:t>
            </a:r>
            <a:endParaRPr lang="en-US" sz="1600" dirty="0"/>
          </a:p>
          <a:p>
            <a:pPr indent="0" marL="0">
              <a:lnSpc>
                <a:spcPct val="112000"/>
              </a:lnSpc>
              <a:spcAft>
                <a:spcPts val="1200"/>
              </a:spcAft>
              <a:buNone/>
            </a:pPr>
            <a:r>
              <a:rPr lang="en-US" sz="1600" dirty="0">
                <a:solidFill>
                  <a:srgbClr val="002050"/>
                </a:solidFill>
                <a:latin typeface="Aptos" pitchFamily="34" charset="0"/>
                <a:ea typeface="Aptos" pitchFamily="34" charset="-122"/>
                <a:cs typeface="Aptos" pitchFamily="34" charset="-120"/>
              </a:rPr>
              <a:t>The person who wrote the report will get another person to read through it — with the required outlines and requirements at hand — and critique it. This gives a second opinion, ensures all required information is present, and checks the report for bias toward the readers.
</a:t>
            </a:r>
            <a:endParaRPr lang="en-US" sz="1600" dirty="0"/>
          </a:p>
          <a:p>
            <a:pPr indent="0" marL="0">
              <a:lnSpc>
                <a:spcPct val="112000"/>
              </a:lnSpc>
              <a:spcAft>
                <a:spcPts val="1200"/>
              </a:spcAft>
              <a:buNone/>
            </a:pPr>
            <a:r>
              <a:rPr lang="en-US" sz="1600" dirty="0">
                <a:solidFill>
                  <a:srgbClr val="002050"/>
                </a:solidFill>
                <a:latin typeface="Aptos" pitchFamily="34" charset="0"/>
                <a:ea typeface="Aptos" pitchFamily="34" charset="-122"/>
                <a:cs typeface="Aptos" pitchFamily="34" charset="-120"/>
              </a:rPr>
              <a:t>In many cases, once critiqued and sent for proofing, the report is handed to the head of the department for approval at least a week in advance of the expected delivery date, allowing time to give feedback on add-ons and irrelevant information.
</a:t>
            </a:r>
            <a:endParaRPr lang="en-US" sz="1600" dirty="0"/>
          </a:p>
          <a:p>
            <a:pPr indent="0" marL="0">
              <a:lnSpc>
                <a:spcPct val="112000"/>
              </a:lnSpc>
              <a:spcAft>
                <a:spcPts val="1200"/>
              </a:spcAft>
              <a:buNone/>
            </a:pPr>
            <a:r>
              <a:rPr lang="en-US" sz="1600" dirty="0">
                <a:solidFill>
                  <a:srgbClr val="002050"/>
                </a:solidFill>
                <a:latin typeface="Aptos" pitchFamily="34" charset="0"/>
                <a:ea typeface="Aptos" pitchFamily="34" charset="-122"/>
                <a:cs typeface="Aptos" pitchFamily="34" charset="-120"/>
              </a:rPr>
              <a:t>Throughout, organisational procedures must be strictly followed and adhered to, so that set protocols are followed for gathering and distributing the information — ensuring the report is true to its requirements and contains sufficient, but not too much, information.</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indent="0" marL="0">
              <a:buNone/>
            </a:pPr>
            <a:r>
              <a:rPr lang="en-US" sz="1000" dirty="0">
                <a:solidFill>
                  <a:srgbClr val="6B7280"/>
                </a:solidFill>
                <a:latin typeface="Aptos" pitchFamily="34" charset="0"/>
                <a:ea typeface="Aptos" pitchFamily="34" charset="-122"/>
                <a:cs typeface="Aptos" pitchFamily="34" charset="-120"/>
              </a:rPr>
              <a:t>Unit Standard 8252 — Writing Business Reports   ·   Investec IT Systems Support NQF 5</a:t>
            </a:r>
            <a:endParaRPr lang="en-US" sz="10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1000" dirty="0">
                <a:solidFill>
                  <a:srgbClr val="6B7280"/>
                </a:solidFill>
                <a:latin typeface="Aptos" pitchFamily="34" charset="0"/>
                <a:ea typeface="Aptos" pitchFamily="34" charset="-122"/>
                <a:cs typeface="Aptos" pitchFamily="34" charset="-120"/>
              </a:rPr>
              <a:t>22</a:t>
            </a:r>
            <a:endParaRPr lang="en-US" sz="10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56032"/>
            <a:ext cx="11183112" cy="347472"/>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QUESTION SESSION 1</a:t>
            </a:r>
            <a:endParaRPr lang="en-US" sz="1400" dirty="0"/>
          </a:p>
        </p:txBody>
      </p:sp>
      <p:sp>
        <p:nvSpPr>
          <p:cNvPr id="6" name="Text 4"/>
          <p:cNvSpPr/>
          <p:nvPr/>
        </p:nvSpPr>
        <p:spPr>
          <a:xfrm>
            <a:off x="502920" y="585216"/>
            <a:ext cx="11183112" cy="786384"/>
          </a:xfrm>
          <a:prstGeom prst="rect">
            <a:avLst/>
          </a:prstGeom>
          <a:noFill/>
          <a:ln/>
        </p:spPr>
        <p:txBody>
          <a:bodyPr wrap="square" rtlCol="0" anchor="ctr"/>
          <a:lstStyle/>
          <a:p>
            <a:pPr indent="0" marL="0">
              <a:buNone/>
            </a:pPr>
            <a:r>
              <a:rPr lang="en-US" sz="3400" b="1" dirty="0">
                <a:solidFill>
                  <a:srgbClr val="002050"/>
                </a:solidFill>
                <a:latin typeface="Aptos Display" pitchFamily="34" charset="0"/>
                <a:ea typeface="Aptos Display" pitchFamily="34" charset="-122"/>
                <a:cs typeface="Aptos Display" pitchFamily="34" charset="-120"/>
              </a:rPr>
              <a:t>Activity — Apply Your Knowledge</a:t>
            </a:r>
            <a:endParaRPr lang="en-US" sz="3400" dirty="0"/>
          </a:p>
        </p:txBody>
      </p:sp>
      <p:sp>
        <p:nvSpPr>
          <p:cNvPr id="7" name="Shape 5"/>
          <p:cNvSpPr/>
          <p:nvPr/>
        </p:nvSpPr>
        <p:spPr>
          <a:xfrm>
            <a:off x="502920" y="1645920"/>
            <a:ext cx="457200" cy="457200"/>
          </a:xfrm>
          <a:prstGeom prst="ellipse">
            <a:avLst/>
          </a:prstGeom>
          <a:solidFill>
            <a:srgbClr val="0F6CBD"/>
          </a:solidFill>
          <a:ln/>
        </p:spPr>
      </p:sp>
      <p:sp>
        <p:nvSpPr>
          <p:cNvPr id="8" name="Text 6"/>
          <p:cNvSpPr/>
          <p:nvPr/>
        </p:nvSpPr>
        <p:spPr>
          <a:xfrm>
            <a:off x="502920" y="1645920"/>
            <a:ext cx="457200" cy="457200"/>
          </a:xfrm>
          <a:prstGeom prst="rect">
            <a:avLst/>
          </a:prstGeom>
          <a:noFill/>
          <a:ln/>
        </p:spPr>
        <p:txBody>
          <a:bodyPr wrap="square" rtlCol="0" anchor="ctr"/>
          <a:lstStyle/>
          <a:p>
            <a:pPr algn="ctr" indent="0" marL="0">
              <a:buNone/>
            </a:pPr>
            <a:r>
              <a:rPr lang="en-US" sz="1800" b="1" dirty="0">
                <a:solidFill>
                  <a:srgbClr val="FFFFFF"/>
                </a:solidFill>
                <a:latin typeface="Aptos Display" pitchFamily="34" charset="0"/>
                <a:ea typeface="Aptos Display" pitchFamily="34" charset="-122"/>
                <a:cs typeface="Aptos Display" pitchFamily="34" charset="-120"/>
              </a:rPr>
              <a:t>1</a:t>
            </a:r>
            <a:endParaRPr lang="en-US" sz="1800" dirty="0"/>
          </a:p>
        </p:txBody>
      </p:sp>
      <p:sp>
        <p:nvSpPr>
          <p:cNvPr id="9" name="Text 7"/>
          <p:cNvSpPr/>
          <p:nvPr/>
        </p:nvSpPr>
        <p:spPr>
          <a:xfrm>
            <a:off x="1161288" y="1600200"/>
            <a:ext cx="10360152" cy="566928"/>
          </a:xfrm>
          <a:prstGeom prst="rect">
            <a:avLst/>
          </a:prstGeom>
          <a:noFill/>
          <a:ln/>
        </p:spPr>
        <p:txBody>
          <a:bodyPr wrap="square" rtlCol="0" anchor="ctr"/>
          <a:lstStyle/>
          <a:p>
            <a:pPr indent="0" marL="0">
              <a:buNone/>
            </a:pPr>
            <a:r>
              <a:rPr lang="en-US" sz="1750" dirty="0">
                <a:solidFill>
                  <a:srgbClr val="002050"/>
                </a:solidFill>
                <a:latin typeface="Aptos" pitchFamily="34" charset="0"/>
                <a:ea typeface="Aptos" pitchFamily="34" charset="-122"/>
                <a:cs typeface="Aptos" pitchFamily="34" charset="-120"/>
              </a:rPr>
              <a:t>Give examples of different types of reports that are produced in organisations</a:t>
            </a:r>
            <a:endParaRPr lang="en-US" sz="1750" dirty="0"/>
          </a:p>
        </p:txBody>
      </p:sp>
      <p:sp>
        <p:nvSpPr>
          <p:cNvPr id="10" name="Shape 8"/>
          <p:cNvSpPr/>
          <p:nvPr/>
        </p:nvSpPr>
        <p:spPr>
          <a:xfrm>
            <a:off x="502920" y="2395728"/>
            <a:ext cx="457200" cy="457200"/>
          </a:xfrm>
          <a:prstGeom prst="ellipse">
            <a:avLst/>
          </a:prstGeom>
          <a:solidFill>
            <a:srgbClr val="0F6CBD"/>
          </a:solidFill>
          <a:ln/>
        </p:spPr>
      </p:sp>
      <p:sp>
        <p:nvSpPr>
          <p:cNvPr id="11" name="Text 9"/>
          <p:cNvSpPr/>
          <p:nvPr/>
        </p:nvSpPr>
        <p:spPr>
          <a:xfrm>
            <a:off x="502920" y="2395728"/>
            <a:ext cx="457200" cy="457200"/>
          </a:xfrm>
          <a:prstGeom prst="rect">
            <a:avLst/>
          </a:prstGeom>
          <a:noFill/>
          <a:ln/>
        </p:spPr>
        <p:txBody>
          <a:bodyPr wrap="square" rtlCol="0" anchor="ctr"/>
          <a:lstStyle/>
          <a:p>
            <a:pPr algn="ctr" indent="0" marL="0">
              <a:buNone/>
            </a:pPr>
            <a:r>
              <a:rPr lang="en-US" sz="1800" b="1" dirty="0">
                <a:solidFill>
                  <a:srgbClr val="FFFFFF"/>
                </a:solidFill>
                <a:latin typeface="Aptos Display" pitchFamily="34" charset="0"/>
                <a:ea typeface="Aptos Display" pitchFamily="34" charset="-122"/>
                <a:cs typeface="Aptos Display" pitchFamily="34" charset="-120"/>
              </a:rPr>
              <a:t>2</a:t>
            </a:r>
            <a:endParaRPr lang="en-US" sz="1800" dirty="0"/>
          </a:p>
        </p:txBody>
      </p:sp>
      <p:sp>
        <p:nvSpPr>
          <p:cNvPr id="12" name="Text 10"/>
          <p:cNvSpPr/>
          <p:nvPr/>
        </p:nvSpPr>
        <p:spPr>
          <a:xfrm>
            <a:off x="1161288" y="2350008"/>
            <a:ext cx="10360152" cy="566928"/>
          </a:xfrm>
          <a:prstGeom prst="rect">
            <a:avLst/>
          </a:prstGeom>
          <a:noFill/>
          <a:ln/>
        </p:spPr>
        <p:txBody>
          <a:bodyPr wrap="square" rtlCol="0" anchor="ctr"/>
          <a:lstStyle/>
          <a:p>
            <a:pPr indent="0" marL="0">
              <a:buNone/>
            </a:pPr>
            <a:r>
              <a:rPr lang="en-US" sz="1750" dirty="0">
                <a:solidFill>
                  <a:srgbClr val="002050"/>
                </a:solidFill>
                <a:latin typeface="Aptos" pitchFamily="34" charset="0"/>
                <a:ea typeface="Aptos" pitchFamily="34" charset="-122"/>
                <a:cs typeface="Aptos" pitchFamily="34" charset="-120"/>
              </a:rPr>
              <a:t>Explain the information that will be relayed in each of the reports you have mentioned above</a:t>
            </a:r>
            <a:endParaRPr lang="en-US" sz="1750" dirty="0"/>
          </a:p>
        </p:txBody>
      </p:sp>
      <p:sp>
        <p:nvSpPr>
          <p:cNvPr id="13" name="Shape 11"/>
          <p:cNvSpPr/>
          <p:nvPr/>
        </p:nvSpPr>
        <p:spPr>
          <a:xfrm>
            <a:off x="502920" y="3145536"/>
            <a:ext cx="457200" cy="457200"/>
          </a:xfrm>
          <a:prstGeom prst="ellipse">
            <a:avLst/>
          </a:prstGeom>
          <a:solidFill>
            <a:srgbClr val="0F6CBD"/>
          </a:solidFill>
          <a:ln/>
        </p:spPr>
      </p:sp>
      <p:sp>
        <p:nvSpPr>
          <p:cNvPr id="14" name="Text 12"/>
          <p:cNvSpPr/>
          <p:nvPr/>
        </p:nvSpPr>
        <p:spPr>
          <a:xfrm>
            <a:off x="502920" y="3145536"/>
            <a:ext cx="457200" cy="457200"/>
          </a:xfrm>
          <a:prstGeom prst="rect">
            <a:avLst/>
          </a:prstGeom>
          <a:noFill/>
          <a:ln/>
        </p:spPr>
        <p:txBody>
          <a:bodyPr wrap="square" rtlCol="0" anchor="ctr"/>
          <a:lstStyle/>
          <a:p>
            <a:pPr algn="ctr" indent="0" marL="0">
              <a:buNone/>
            </a:pPr>
            <a:r>
              <a:rPr lang="en-US" sz="1800" b="1" dirty="0">
                <a:solidFill>
                  <a:srgbClr val="FFFFFF"/>
                </a:solidFill>
                <a:latin typeface="Aptos Display" pitchFamily="34" charset="0"/>
                <a:ea typeface="Aptos Display" pitchFamily="34" charset="-122"/>
                <a:cs typeface="Aptos Display" pitchFamily="34" charset="-120"/>
              </a:rPr>
              <a:t>3</a:t>
            </a:r>
            <a:endParaRPr lang="en-US" sz="1800" dirty="0"/>
          </a:p>
        </p:txBody>
      </p:sp>
      <p:sp>
        <p:nvSpPr>
          <p:cNvPr id="15" name="Text 13"/>
          <p:cNvSpPr/>
          <p:nvPr/>
        </p:nvSpPr>
        <p:spPr>
          <a:xfrm>
            <a:off x="1161288" y="3099816"/>
            <a:ext cx="10360152" cy="566928"/>
          </a:xfrm>
          <a:prstGeom prst="rect">
            <a:avLst/>
          </a:prstGeom>
          <a:noFill/>
          <a:ln/>
        </p:spPr>
        <p:txBody>
          <a:bodyPr wrap="square" rtlCol="0" anchor="ctr"/>
          <a:lstStyle/>
          <a:p>
            <a:pPr indent="0" marL="0">
              <a:buNone/>
            </a:pPr>
            <a:r>
              <a:rPr lang="en-US" sz="1750" dirty="0">
                <a:solidFill>
                  <a:srgbClr val="002050"/>
                </a:solidFill>
                <a:latin typeface="Aptos" pitchFamily="34" charset="0"/>
                <a:ea typeface="Aptos" pitchFamily="34" charset="-122"/>
                <a:cs typeface="Aptos" pitchFamily="34" charset="-120"/>
              </a:rPr>
              <a:t>Explain your organisational procedures for obtaining and distributing sensitive company information</a:t>
            </a:r>
            <a:endParaRPr lang="en-US" sz="1750" dirty="0"/>
          </a:p>
        </p:txBody>
      </p:sp>
      <p:sp>
        <p:nvSpPr>
          <p:cNvPr id="16" name="Shape 14"/>
          <p:cNvSpPr/>
          <p:nvPr/>
        </p:nvSpPr>
        <p:spPr>
          <a:xfrm>
            <a:off x="502920" y="3895344"/>
            <a:ext cx="457200" cy="457200"/>
          </a:xfrm>
          <a:prstGeom prst="ellipse">
            <a:avLst/>
          </a:prstGeom>
          <a:solidFill>
            <a:srgbClr val="0F6CBD"/>
          </a:solidFill>
          <a:ln/>
        </p:spPr>
      </p:sp>
      <p:sp>
        <p:nvSpPr>
          <p:cNvPr id="17" name="Text 15"/>
          <p:cNvSpPr/>
          <p:nvPr/>
        </p:nvSpPr>
        <p:spPr>
          <a:xfrm>
            <a:off x="502920" y="3895344"/>
            <a:ext cx="457200" cy="457200"/>
          </a:xfrm>
          <a:prstGeom prst="rect">
            <a:avLst/>
          </a:prstGeom>
          <a:noFill/>
          <a:ln/>
        </p:spPr>
        <p:txBody>
          <a:bodyPr wrap="square" rtlCol="0" anchor="ctr"/>
          <a:lstStyle/>
          <a:p>
            <a:pPr algn="ctr" indent="0" marL="0">
              <a:buNone/>
            </a:pPr>
            <a:r>
              <a:rPr lang="en-US" sz="1800" b="1" dirty="0">
                <a:solidFill>
                  <a:srgbClr val="FFFFFF"/>
                </a:solidFill>
                <a:latin typeface="Aptos Display" pitchFamily="34" charset="0"/>
                <a:ea typeface="Aptos Display" pitchFamily="34" charset="-122"/>
                <a:cs typeface="Aptos Display" pitchFamily="34" charset="-120"/>
              </a:rPr>
              <a:t>4</a:t>
            </a:r>
            <a:endParaRPr lang="en-US" sz="1800" dirty="0"/>
          </a:p>
        </p:txBody>
      </p:sp>
      <p:sp>
        <p:nvSpPr>
          <p:cNvPr id="18" name="Text 16"/>
          <p:cNvSpPr/>
          <p:nvPr/>
        </p:nvSpPr>
        <p:spPr>
          <a:xfrm>
            <a:off x="1161288" y="3849624"/>
            <a:ext cx="10360152" cy="566928"/>
          </a:xfrm>
          <a:prstGeom prst="rect">
            <a:avLst/>
          </a:prstGeom>
          <a:noFill/>
          <a:ln/>
        </p:spPr>
        <p:txBody>
          <a:bodyPr wrap="square" rtlCol="0" anchor="ctr"/>
          <a:lstStyle/>
          <a:p>
            <a:pPr indent="0" marL="0">
              <a:buNone/>
            </a:pPr>
            <a:r>
              <a:rPr lang="en-US" sz="1750" dirty="0">
                <a:solidFill>
                  <a:srgbClr val="002050"/>
                </a:solidFill>
                <a:latin typeface="Aptos" pitchFamily="34" charset="0"/>
                <a:ea typeface="Aptos" pitchFamily="34" charset="-122"/>
                <a:cs typeface="Aptos" pitchFamily="34" charset="-120"/>
              </a:rPr>
              <a:t>Explain your organisational procedures for obtaining sensitive company information</a:t>
            </a:r>
            <a:endParaRPr lang="en-US" sz="1750" dirty="0"/>
          </a:p>
        </p:txBody>
      </p:sp>
      <p:sp>
        <p:nvSpPr>
          <p:cNvPr id="19" name="Shape 17"/>
          <p:cNvSpPr/>
          <p:nvPr/>
        </p:nvSpPr>
        <p:spPr>
          <a:xfrm>
            <a:off x="502920" y="4645152"/>
            <a:ext cx="457200" cy="457200"/>
          </a:xfrm>
          <a:prstGeom prst="ellipse">
            <a:avLst/>
          </a:prstGeom>
          <a:solidFill>
            <a:srgbClr val="0F6CBD"/>
          </a:solidFill>
          <a:ln/>
        </p:spPr>
      </p:sp>
      <p:sp>
        <p:nvSpPr>
          <p:cNvPr id="20" name="Text 18"/>
          <p:cNvSpPr/>
          <p:nvPr/>
        </p:nvSpPr>
        <p:spPr>
          <a:xfrm>
            <a:off x="502920" y="4645152"/>
            <a:ext cx="457200" cy="457200"/>
          </a:xfrm>
          <a:prstGeom prst="rect">
            <a:avLst/>
          </a:prstGeom>
          <a:noFill/>
          <a:ln/>
        </p:spPr>
        <p:txBody>
          <a:bodyPr wrap="square" rtlCol="0" anchor="ctr"/>
          <a:lstStyle/>
          <a:p>
            <a:pPr algn="ctr" indent="0" marL="0">
              <a:buNone/>
            </a:pPr>
            <a:r>
              <a:rPr lang="en-US" sz="1800" b="1" dirty="0">
                <a:solidFill>
                  <a:srgbClr val="FFFFFF"/>
                </a:solidFill>
                <a:latin typeface="Aptos Display" pitchFamily="34" charset="0"/>
                <a:ea typeface="Aptos Display" pitchFamily="34" charset="-122"/>
                <a:cs typeface="Aptos Display" pitchFamily="34" charset="-120"/>
              </a:rPr>
              <a:t>5</a:t>
            </a:r>
            <a:endParaRPr lang="en-US" sz="1800" dirty="0"/>
          </a:p>
        </p:txBody>
      </p:sp>
      <p:sp>
        <p:nvSpPr>
          <p:cNvPr id="21" name="Text 19"/>
          <p:cNvSpPr/>
          <p:nvPr/>
        </p:nvSpPr>
        <p:spPr>
          <a:xfrm>
            <a:off x="1161288" y="4599432"/>
            <a:ext cx="10360152" cy="566928"/>
          </a:xfrm>
          <a:prstGeom prst="rect">
            <a:avLst/>
          </a:prstGeom>
          <a:noFill/>
          <a:ln/>
        </p:spPr>
        <p:txBody>
          <a:bodyPr wrap="square" rtlCol="0" anchor="ctr"/>
          <a:lstStyle/>
          <a:p>
            <a:pPr indent="0" marL="0">
              <a:buNone/>
            </a:pPr>
            <a:r>
              <a:rPr lang="en-US" sz="1750" dirty="0">
                <a:solidFill>
                  <a:srgbClr val="002050"/>
                </a:solidFill>
                <a:latin typeface="Aptos" pitchFamily="34" charset="0"/>
                <a:ea typeface="Aptos" pitchFamily="34" charset="-122"/>
                <a:cs typeface="Aptos" pitchFamily="34" charset="-120"/>
              </a:rPr>
              <a:t>Identify and explain the steps that are used for compiling reports</a:t>
            </a:r>
            <a:endParaRPr lang="en-US" sz="1750" dirty="0"/>
          </a:p>
        </p:txBody>
      </p:sp>
      <p:sp>
        <p:nvSpPr>
          <p:cNvPr id="22" name="Shape 20"/>
          <p:cNvSpPr/>
          <p:nvPr/>
        </p:nvSpPr>
        <p:spPr>
          <a:xfrm>
            <a:off x="502920" y="5394960"/>
            <a:ext cx="457200" cy="457200"/>
          </a:xfrm>
          <a:prstGeom prst="ellipse">
            <a:avLst/>
          </a:prstGeom>
          <a:solidFill>
            <a:srgbClr val="0F6CBD"/>
          </a:solidFill>
          <a:ln/>
        </p:spPr>
      </p:sp>
      <p:sp>
        <p:nvSpPr>
          <p:cNvPr id="23" name="Text 21"/>
          <p:cNvSpPr/>
          <p:nvPr/>
        </p:nvSpPr>
        <p:spPr>
          <a:xfrm>
            <a:off x="502920" y="5394960"/>
            <a:ext cx="457200" cy="457200"/>
          </a:xfrm>
          <a:prstGeom prst="rect">
            <a:avLst/>
          </a:prstGeom>
          <a:noFill/>
          <a:ln/>
        </p:spPr>
        <p:txBody>
          <a:bodyPr wrap="square" rtlCol="0" anchor="ctr"/>
          <a:lstStyle/>
          <a:p>
            <a:pPr algn="ctr" indent="0" marL="0">
              <a:buNone/>
            </a:pPr>
            <a:r>
              <a:rPr lang="en-US" sz="1800" b="1" dirty="0">
                <a:solidFill>
                  <a:srgbClr val="FFFFFF"/>
                </a:solidFill>
                <a:latin typeface="Aptos Display" pitchFamily="34" charset="0"/>
                <a:ea typeface="Aptos Display" pitchFamily="34" charset="-122"/>
                <a:cs typeface="Aptos Display" pitchFamily="34" charset="-120"/>
              </a:rPr>
              <a:t>6</a:t>
            </a:r>
            <a:endParaRPr lang="en-US" sz="1800" dirty="0"/>
          </a:p>
        </p:txBody>
      </p:sp>
      <p:sp>
        <p:nvSpPr>
          <p:cNvPr id="24" name="Text 22"/>
          <p:cNvSpPr/>
          <p:nvPr/>
        </p:nvSpPr>
        <p:spPr>
          <a:xfrm>
            <a:off x="1161288" y="5349240"/>
            <a:ext cx="10360152" cy="566928"/>
          </a:xfrm>
          <a:prstGeom prst="rect">
            <a:avLst/>
          </a:prstGeom>
          <a:noFill/>
          <a:ln/>
        </p:spPr>
        <p:txBody>
          <a:bodyPr wrap="square" rtlCol="0" anchor="ctr"/>
          <a:lstStyle/>
          <a:p>
            <a:pPr indent="0" marL="0">
              <a:buNone/>
            </a:pPr>
            <a:r>
              <a:rPr lang="en-US" sz="1750" dirty="0">
                <a:solidFill>
                  <a:srgbClr val="002050"/>
                </a:solidFill>
                <a:latin typeface="Aptos" pitchFamily="34" charset="0"/>
                <a:ea typeface="Aptos" pitchFamily="34" charset="-122"/>
                <a:cs typeface="Aptos" pitchFamily="34" charset="-120"/>
              </a:rPr>
              <a:t>Explain how to ensure that the reported information is in accordance with the requirements of the report</a:t>
            </a:r>
            <a:endParaRPr lang="en-US" sz="17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indent="0" marL="0">
              <a:buNone/>
            </a:pPr>
            <a:r>
              <a:rPr lang="en-US" sz="1000" dirty="0">
                <a:solidFill>
                  <a:srgbClr val="6B7280"/>
                </a:solidFill>
                <a:latin typeface="Aptos" pitchFamily="34" charset="0"/>
                <a:ea typeface="Aptos" pitchFamily="34" charset="-122"/>
                <a:cs typeface="Aptos" pitchFamily="34" charset="-120"/>
              </a:rPr>
              <a:t>Unit Standard 8252 — Writing Business Reports   ·   Investec IT Systems Support NQF 5</a:t>
            </a:r>
            <a:endParaRPr lang="en-US" sz="10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1000" dirty="0">
                <a:solidFill>
                  <a:srgbClr val="6B7280"/>
                </a:solidFill>
                <a:latin typeface="Aptos" pitchFamily="34" charset="0"/>
                <a:ea typeface="Aptos" pitchFamily="34" charset="-122"/>
                <a:cs typeface="Aptos" pitchFamily="34" charset="-120"/>
              </a:rPr>
              <a:t>23</a:t>
            </a:r>
            <a:endParaRPr lang="en-US" sz="10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56032"/>
            <a:ext cx="11183112" cy="347472"/>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SELF-ASSESSMENT</a:t>
            </a:r>
            <a:endParaRPr lang="en-US" sz="1400" dirty="0"/>
          </a:p>
        </p:txBody>
      </p:sp>
      <p:sp>
        <p:nvSpPr>
          <p:cNvPr id="6" name="Text 4"/>
          <p:cNvSpPr/>
          <p:nvPr/>
        </p:nvSpPr>
        <p:spPr>
          <a:xfrm>
            <a:off x="502920" y="585216"/>
            <a:ext cx="11183112" cy="786384"/>
          </a:xfrm>
          <a:prstGeom prst="rect">
            <a:avLst/>
          </a:prstGeom>
          <a:noFill/>
          <a:ln/>
        </p:spPr>
        <p:txBody>
          <a:bodyPr wrap="square" rtlCol="0" anchor="ctr"/>
          <a:lstStyle/>
          <a:p>
            <a:pPr indent="0" marL="0">
              <a:buNone/>
            </a:pPr>
            <a:r>
              <a:rPr lang="en-US" sz="3400" b="1" dirty="0">
                <a:solidFill>
                  <a:srgbClr val="002050"/>
                </a:solidFill>
                <a:latin typeface="Aptos Display" pitchFamily="34" charset="0"/>
                <a:ea typeface="Aptos Display" pitchFamily="34" charset="-122"/>
                <a:cs typeface="Aptos Display" pitchFamily="34" charset="-120"/>
              </a:rPr>
              <a:t>Self-Assessment — Be Honest With Yourself</a:t>
            </a:r>
            <a:endParaRPr lang="en-US" sz="3400" dirty="0"/>
          </a:p>
        </p:txBody>
      </p:sp>
      <p:sp>
        <p:nvSpPr>
          <p:cNvPr id="7" name="Text 5"/>
          <p:cNvSpPr/>
          <p:nvPr/>
        </p:nvSpPr>
        <p:spPr>
          <a:xfrm>
            <a:off x="502920" y="1417320"/>
            <a:ext cx="11183112" cy="365760"/>
          </a:xfrm>
          <a:prstGeom prst="rect">
            <a:avLst/>
          </a:prstGeom>
          <a:noFill/>
          <a:ln/>
        </p:spPr>
        <p:txBody>
          <a:bodyPr wrap="square" rtlCol="0" anchor="ctr"/>
          <a:lstStyle/>
          <a:p>
            <a:pPr indent="0" marL="0">
              <a:buNone/>
            </a:pPr>
            <a:r>
              <a:rPr lang="en-US" sz="1600" dirty="0">
                <a:solidFill>
                  <a:srgbClr val="6B7280"/>
                </a:solidFill>
                <a:latin typeface="Aptos" pitchFamily="34" charset="0"/>
                <a:ea typeface="Aptos" pitchFamily="34" charset="-122"/>
                <a:cs typeface="Aptos" pitchFamily="34" charset="-120"/>
              </a:rPr>
              <a:t>Tick the box with a ✓ or an ✗ to indicate your response.</a:t>
            </a:r>
            <a:endParaRPr lang="en-US" sz="1600" dirty="0"/>
          </a:p>
        </p:txBody>
      </p:sp>
      <p:sp>
        <p:nvSpPr>
          <p:cNvPr id="8" name="Shape 6"/>
          <p:cNvSpPr/>
          <p:nvPr/>
        </p:nvSpPr>
        <p:spPr>
          <a:xfrm>
            <a:off x="502920" y="1975104"/>
            <a:ext cx="384048" cy="384048"/>
          </a:xfrm>
          <a:prstGeom prst="roundRect">
            <a:avLst>
              <a:gd name="adj" fmla="val 16667"/>
            </a:avLst>
          </a:prstGeom>
          <a:solidFill>
            <a:srgbClr val="FFFFFF"/>
          </a:solidFill>
          <a:ln w="19050">
            <a:solidFill>
              <a:srgbClr val="0F6CBD"/>
            </a:solidFill>
            <a:prstDash val="solid"/>
          </a:ln>
        </p:spPr>
      </p:sp>
      <p:sp>
        <p:nvSpPr>
          <p:cNvPr id="9" name="Text 7"/>
          <p:cNvSpPr/>
          <p:nvPr/>
        </p:nvSpPr>
        <p:spPr>
          <a:xfrm>
            <a:off x="1106424" y="1892808"/>
            <a:ext cx="10360152" cy="566928"/>
          </a:xfrm>
          <a:prstGeom prst="rect">
            <a:avLst/>
          </a:prstGeom>
          <a:noFill/>
          <a:ln/>
        </p:spPr>
        <p:txBody>
          <a:bodyPr wrap="square" rtlCol="0" anchor="ctr"/>
          <a:lstStyle/>
          <a:p>
            <a:pPr indent="0" marL="0">
              <a:buNone/>
            </a:pPr>
            <a:r>
              <a:rPr lang="en-US" sz="1650" dirty="0">
                <a:solidFill>
                  <a:srgbClr val="002050"/>
                </a:solidFill>
                <a:latin typeface="Aptos" pitchFamily="34" charset="0"/>
                <a:ea typeface="Aptos" pitchFamily="34" charset="-122"/>
                <a:cs typeface="Aptos" pitchFamily="34" charset="-120"/>
              </a:rPr>
              <a:t>I am able to identify and explain different types of reports used in organisations</a:t>
            </a:r>
            <a:endParaRPr lang="en-US" sz="1650" dirty="0"/>
          </a:p>
        </p:txBody>
      </p:sp>
      <p:sp>
        <p:nvSpPr>
          <p:cNvPr id="10" name="Shape 8"/>
          <p:cNvSpPr/>
          <p:nvPr/>
        </p:nvSpPr>
        <p:spPr>
          <a:xfrm>
            <a:off x="502920" y="2633472"/>
            <a:ext cx="384048" cy="384048"/>
          </a:xfrm>
          <a:prstGeom prst="roundRect">
            <a:avLst>
              <a:gd name="adj" fmla="val 16667"/>
            </a:avLst>
          </a:prstGeom>
          <a:solidFill>
            <a:srgbClr val="FFFFFF"/>
          </a:solidFill>
          <a:ln w="19050">
            <a:solidFill>
              <a:srgbClr val="0F6CBD"/>
            </a:solidFill>
            <a:prstDash val="solid"/>
          </a:ln>
        </p:spPr>
      </p:sp>
      <p:sp>
        <p:nvSpPr>
          <p:cNvPr id="11" name="Text 9"/>
          <p:cNvSpPr/>
          <p:nvPr/>
        </p:nvSpPr>
        <p:spPr>
          <a:xfrm>
            <a:off x="1106424" y="2551176"/>
            <a:ext cx="10360152" cy="566928"/>
          </a:xfrm>
          <a:prstGeom prst="rect">
            <a:avLst/>
          </a:prstGeom>
          <a:noFill/>
          <a:ln/>
        </p:spPr>
        <p:txBody>
          <a:bodyPr wrap="square" rtlCol="0" anchor="ctr"/>
          <a:lstStyle/>
          <a:p>
            <a:pPr indent="0" marL="0">
              <a:buNone/>
            </a:pPr>
            <a:r>
              <a:rPr lang="en-US" sz="1650" dirty="0">
                <a:solidFill>
                  <a:srgbClr val="002050"/>
                </a:solidFill>
                <a:latin typeface="Aptos" pitchFamily="34" charset="0"/>
                <a:ea typeface="Aptos" pitchFamily="34" charset="-122"/>
                <a:cs typeface="Aptos" pitchFamily="34" charset="-120"/>
              </a:rPr>
              <a:t>I am able to explain the use of the different types of reports</a:t>
            </a:r>
            <a:endParaRPr lang="en-US" sz="1650" dirty="0"/>
          </a:p>
        </p:txBody>
      </p:sp>
      <p:sp>
        <p:nvSpPr>
          <p:cNvPr id="12" name="Shape 10"/>
          <p:cNvSpPr/>
          <p:nvPr/>
        </p:nvSpPr>
        <p:spPr>
          <a:xfrm>
            <a:off x="502920" y="3291840"/>
            <a:ext cx="384048" cy="384048"/>
          </a:xfrm>
          <a:prstGeom prst="roundRect">
            <a:avLst>
              <a:gd name="adj" fmla="val 16667"/>
            </a:avLst>
          </a:prstGeom>
          <a:solidFill>
            <a:srgbClr val="FFFFFF"/>
          </a:solidFill>
          <a:ln w="19050">
            <a:solidFill>
              <a:srgbClr val="0F6CBD"/>
            </a:solidFill>
            <a:prstDash val="solid"/>
          </a:ln>
        </p:spPr>
      </p:sp>
      <p:sp>
        <p:nvSpPr>
          <p:cNvPr id="13" name="Text 11"/>
          <p:cNvSpPr/>
          <p:nvPr/>
        </p:nvSpPr>
        <p:spPr>
          <a:xfrm>
            <a:off x="1106424" y="3209544"/>
            <a:ext cx="10360152" cy="566928"/>
          </a:xfrm>
          <a:prstGeom prst="rect">
            <a:avLst/>
          </a:prstGeom>
          <a:noFill/>
          <a:ln/>
        </p:spPr>
        <p:txBody>
          <a:bodyPr wrap="square" rtlCol="0" anchor="ctr"/>
          <a:lstStyle/>
          <a:p>
            <a:pPr indent="0" marL="0">
              <a:buNone/>
            </a:pPr>
            <a:r>
              <a:rPr lang="en-US" sz="1650" dirty="0">
                <a:solidFill>
                  <a:srgbClr val="002050"/>
                </a:solidFill>
                <a:latin typeface="Aptos" pitchFamily="34" charset="0"/>
                <a:ea typeface="Aptos" pitchFamily="34" charset="-122"/>
                <a:cs typeface="Aptos" pitchFamily="34" charset="-120"/>
              </a:rPr>
              <a:t>I am able to identify and explain the reasons for handling confidential information confidentially</a:t>
            </a:r>
            <a:endParaRPr lang="en-US" sz="1650" dirty="0"/>
          </a:p>
        </p:txBody>
      </p:sp>
      <p:sp>
        <p:nvSpPr>
          <p:cNvPr id="14" name="Shape 12"/>
          <p:cNvSpPr/>
          <p:nvPr/>
        </p:nvSpPr>
        <p:spPr>
          <a:xfrm>
            <a:off x="502920" y="3950208"/>
            <a:ext cx="384048" cy="384048"/>
          </a:xfrm>
          <a:prstGeom prst="roundRect">
            <a:avLst>
              <a:gd name="adj" fmla="val 16667"/>
            </a:avLst>
          </a:prstGeom>
          <a:solidFill>
            <a:srgbClr val="FFFFFF"/>
          </a:solidFill>
          <a:ln w="19050">
            <a:solidFill>
              <a:srgbClr val="0F6CBD"/>
            </a:solidFill>
            <a:prstDash val="solid"/>
          </a:ln>
        </p:spPr>
      </p:sp>
      <p:sp>
        <p:nvSpPr>
          <p:cNvPr id="15" name="Text 13"/>
          <p:cNvSpPr/>
          <p:nvPr/>
        </p:nvSpPr>
        <p:spPr>
          <a:xfrm>
            <a:off x="1106424" y="3867912"/>
            <a:ext cx="10360152" cy="566928"/>
          </a:xfrm>
          <a:prstGeom prst="rect">
            <a:avLst/>
          </a:prstGeom>
          <a:noFill/>
          <a:ln/>
        </p:spPr>
        <p:txBody>
          <a:bodyPr wrap="square" rtlCol="0" anchor="ctr"/>
          <a:lstStyle/>
          <a:p>
            <a:pPr indent="0" marL="0">
              <a:buNone/>
            </a:pPr>
            <a:r>
              <a:rPr lang="en-US" sz="1650" dirty="0">
                <a:solidFill>
                  <a:srgbClr val="002050"/>
                </a:solidFill>
                <a:latin typeface="Aptos" pitchFamily="34" charset="0"/>
                <a:ea typeface="Aptos" pitchFamily="34" charset="-122"/>
                <a:cs typeface="Aptos" pitchFamily="34" charset="-120"/>
              </a:rPr>
              <a:t>I am able to explain a range of techniques for compiling reports</a:t>
            </a:r>
            <a:endParaRPr lang="en-US" sz="1650" dirty="0"/>
          </a:p>
        </p:txBody>
      </p:sp>
      <p:sp>
        <p:nvSpPr>
          <p:cNvPr id="16" name="Shape 14"/>
          <p:cNvSpPr/>
          <p:nvPr/>
        </p:nvSpPr>
        <p:spPr>
          <a:xfrm>
            <a:off x="502920" y="4608576"/>
            <a:ext cx="384048" cy="384048"/>
          </a:xfrm>
          <a:prstGeom prst="roundRect">
            <a:avLst>
              <a:gd name="adj" fmla="val 16667"/>
            </a:avLst>
          </a:prstGeom>
          <a:solidFill>
            <a:srgbClr val="FFFFFF"/>
          </a:solidFill>
          <a:ln w="19050">
            <a:solidFill>
              <a:srgbClr val="0F6CBD"/>
            </a:solidFill>
            <a:prstDash val="solid"/>
          </a:ln>
        </p:spPr>
      </p:sp>
      <p:sp>
        <p:nvSpPr>
          <p:cNvPr id="17" name="Text 15"/>
          <p:cNvSpPr/>
          <p:nvPr/>
        </p:nvSpPr>
        <p:spPr>
          <a:xfrm>
            <a:off x="1106424" y="4526280"/>
            <a:ext cx="10360152" cy="566928"/>
          </a:xfrm>
          <a:prstGeom prst="rect">
            <a:avLst/>
          </a:prstGeom>
          <a:noFill/>
          <a:ln/>
        </p:spPr>
        <p:txBody>
          <a:bodyPr wrap="square" rtlCol="0" anchor="ctr"/>
          <a:lstStyle/>
          <a:p>
            <a:pPr indent="0" marL="0">
              <a:buNone/>
            </a:pPr>
            <a:r>
              <a:rPr lang="en-US" sz="1650" dirty="0">
                <a:solidFill>
                  <a:srgbClr val="002050"/>
                </a:solidFill>
                <a:latin typeface="Aptos" pitchFamily="34" charset="0"/>
                <a:ea typeface="Aptos" pitchFamily="34" charset="-122"/>
                <a:cs typeface="Aptos" pitchFamily="34" charset="-120"/>
              </a:rPr>
              <a:t>I am able to explain how the reported information is checked for appropriateness and then distributed according to the intended audience of the report</a:t>
            </a:r>
            <a:endParaRPr lang="en-US" sz="1650" dirty="0"/>
          </a:p>
        </p:txBody>
      </p:sp>
      <p:sp>
        <p:nvSpPr>
          <p:cNvPr id="18" name="Shape 16"/>
          <p:cNvSpPr/>
          <p:nvPr/>
        </p:nvSpPr>
        <p:spPr>
          <a:xfrm>
            <a:off x="502920" y="5394960"/>
            <a:ext cx="11183112" cy="914400"/>
          </a:xfrm>
          <a:prstGeom prst="roundRect">
            <a:avLst>
              <a:gd name="adj" fmla="val 9000"/>
            </a:avLst>
          </a:prstGeom>
          <a:solidFill>
            <a:srgbClr val="EAF4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1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31520" y="5623560"/>
            <a:ext cx="329184" cy="329184"/>
          </a:xfrm>
          <a:prstGeom prst="rect">
            <a:avLst/>
          </a:prstGeom>
        </p:spPr>
      </p:pic>
      <p:sp>
        <p:nvSpPr>
          <p:cNvPr id="20" name="Text 17"/>
          <p:cNvSpPr/>
          <p:nvPr/>
        </p:nvSpPr>
        <p:spPr>
          <a:xfrm>
            <a:off x="1188720" y="5486400"/>
            <a:ext cx="10222992" cy="731520"/>
          </a:xfrm>
          <a:prstGeom prst="rect">
            <a:avLst/>
          </a:prstGeom>
          <a:noFill/>
          <a:ln/>
        </p:spPr>
        <p:txBody>
          <a:bodyPr wrap="square" rtlCol="0" anchor="ctr"/>
          <a:lstStyle/>
          <a:p>
            <a:pPr indent="0" marL="0">
              <a:lnSpc>
                <a:spcPct val="110000"/>
              </a:lnSpc>
              <a:buNone/>
            </a:pPr>
            <a:r>
              <a:rPr lang="en-US" sz="1600" dirty="0">
                <a:solidFill>
                  <a:srgbClr val="002050"/>
                </a:solidFill>
                <a:latin typeface="Aptos" pitchFamily="34" charset="0"/>
                <a:ea typeface="Aptos" pitchFamily="34" charset="-122"/>
                <a:cs typeface="Aptos" pitchFamily="34" charset="-120"/>
              </a:rPr>
              <a:t>Think about any point you could not tick. Write it down as a goal, decide on a plan of action to achieve it, and review your goals regularly.</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Investec — Corporate Banking Technology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 8252 — Writing Business Reports</dc:title>
  <dc:subject>PptxGenJS Presentation</dc:subject>
  <dc:creator>Andre Snell</dc:creator>
  <cp:lastModifiedBy>Andre Snell</cp:lastModifiedBy>
  <cp:revision>1</cp:revision>
  <dcterms:created xsi:type="dcterms:W3CDTF">2026-08-23T00:10:48Z</dcterms:created>
  <dcterms:modified xsi:type="dcterms:W3CDTF">2026-08-23T00:10:48Z</dcterms:modified>
</cp:coreProperties>
</file>