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005840"/>
            <a:ext cx="5394960" cy="5669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4 · NQF LEVEL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Relationship between a Business and its Information Needs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data to wisdom — how a business gathers data, turns it into information, uses it in its roles, and protects it from threats</a:t>
            </a:r>
            <a:endParaRPr lang="en-US" sz="1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0" y="128016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224528"/>
            <a:ext cx="11183112" cy="0"/>
          </a:xfrm>
          <a:prstGeom prst="line">
            <a:avLst/>
          </a:prstGeom>
          <a:noFill/>
          <a:ln w="12700">
            <a:solidFill>
              <a:srgbClr val="D5E3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minutes · Self &amp; Group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98698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298698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Friday, 28 Aug 2026 · 09h00 – 14h00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94476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94476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1 · Professional Team Development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890254" y="4407408"/>
            <a:ext cx="26128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ASSURANCE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890254" y="4754880"/>
            <a:ext cx="2612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QCTO / MICT SETA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ITSS Learn · Investec · Corporate Banking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4 — The business and its information needs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DATA TO WISDOM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Ackoff's five categories of the human mind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According to Russell Ackoff, systems theorist and professor of organisational change: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6057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01168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2761488"/>
            <a:ext cx="32766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Symbols — raw facts with no significance beyond their existence.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91584" y="1828800"/>
            <a:ext cx="36057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01168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5088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Information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56176" y="2761488"/>
            <a:ext cx="32766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processed to be useful — answers who, what, where, when.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80248" y="1828800"/>
            <a:ext cx="36057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01168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3752" y="19385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44840" y="2761488"/>
            <a:ext cx="32766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of data and information — answers how.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02920" y="3703320"/>
            <a:ext cx="36057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" y="388620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06424" y="38130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Understanding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67512" y="4636008"/>
            <a:ext cx="32766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Appreciation of why — carries each level to the next.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4291584" y="3703320"/>
            <a:ext cx="36057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56176" y="388620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95088" y="381304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Wisdom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4456176" y="4636008"/>
            <a:ext cx="32766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Evaluated understanding — vision and design.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502920" y="544068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731520" y="556869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AND FUTURE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731520" y="5916168"/>
            <a:ext cx="10725912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four categories deal with the past — what has been or what is known. Only wisdom deals with the future; people must move successively through the other categories to reach it.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4 — The business and its information needs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TWO LEVELS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and information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66420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is raw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48716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simply exists — usable or not — and has no meaning of itself. In computer terms, a spreadsheet generally starts out by holding data.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55448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66420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Information has meaning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48716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given meaning by relational connection. In computer terms, a relational database makes information from the data stored within it.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411480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31520" y="424281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WEATHER EXAMPLE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31520" y="4590288"/>
            <a:ext cx="107259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Data: “It is raining.”  ·  Information: “The temperature dropped 15 degrees and then it started raining” — a relationship, possibly cause and effect.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4 — The business and its information needs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HIGHER LEVELS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Knowledge, understanding and wisdom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3605784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6642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487168"/>
            <a:ext cx="32766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appropriate collection of information — memorised, deterministic. The times table answers 2 × 2, but not 1267 × 300.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554480"/>
            <a:ext cx="3605784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6642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Understanding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487168"/>
            <a:ext cx="32766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Cognitive and analytical — synthesises NEW knowledge from what is known. Learning, not memorising. AI systems (2026: Copilot, Gemini) do this at scale.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554480"/>
            <a:ext cx="3605784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17373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66420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Wisdom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487168"/>
            <a:ext cx="32766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Extrapolative, non-deterministic. Calls on moral and ethical codes; judges right from wrong. The authors: computers will never possess it.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02920" y="4343400"/>
            <a:ext cx="11183112" cy="1280160"/>
          </a:xfrm>
          <a:prstGeom prst="roundRect">
            <a:avLst>
              <a:gd name="adj" fmla="val 6429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31520" y="447141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WEATHER EXAMPLE, CONTINUED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31520" y="4818888"/>
            <a:ext cx="107259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Knowledge: high humidity + a sharp temperature drop usually means rain. Wisdom is systemic: “it rains because it rains” — grasping all the interactions between evaporation, air currents and temperature gradients.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4 — The business and its information needs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is a pattern knowledge — and when is it noise?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11831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“Abugt dbesbt regtc uatn s uitrzt…” — 100% novelty. To you it is noise; there is no foundation to connect with the pattern. Yet translated, these are Newton's three laws of motion.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something knowledge if you can't understand it?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Now: a heavy 3×3×6 box with a door, food inside, colder inside than out, usually in the kitchen, ice compartment, light when it opens, dirt underneath, junk on top…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refrigerator — at some point you connected with the pattern, and every further statement only confirmed it. In a society without refrigerators, it stays a riddle.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5029200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515721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POINT FOR BUSINESS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504688"/>
            <a:ext cx="10725912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only becomes knowledge when the receiver can connect it to a pattern they understand — present information in the language and context of its users, or it is noise.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4 — The business and its information needs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 DECISION MAKING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information to a final choice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11831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making is the cognitive process leading to the selection of a course of action among variations — every process produces a final choice: an action or an opinion.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begins when we need to do something but know not what — a reasoning process, rational or irrational, on explicit or tacit assumptions.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Structured, rational decisions drive science-based professions — e.g. medical diagnosis, then treatment selection.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time pressure, high stakes or ambiguity, experts decide intuitively: recognition-primed decisions fit the indicators into experience and arrive immediately at a satisfactory course of action.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Robust-decision approaches formally integrate uncertainty into the process.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4 — The business and its information needs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THE INFORMATION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Price control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50011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66420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Free price system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487168"/>
            <a:ext cx="517093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Prices set by supply and demand — signals between producers and consumers that ration supplies, distribute income and allocate resources.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554480"/>
            <a:ext cx="550011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66420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price system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487168"/>
            <a:ext cx="517093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Prices set by government within a controlled market or planned economy.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406908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31520" y="419709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ORGANISATION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31520" y="4544568"/>
            <a:ext cx="1072591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prices are largely governed by what competitors charge for similar products. Pricing, costing and manufacturing must communicate so goods sell at the same or better price than competitors.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4 — The business and its information needs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THE INFORMATION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control and PDCA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systems ensure products and services meet or exceed customer requirements — “fit for purpose”, “do it right the first time”. QA covers design through documentation.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265861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28600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6424" y="221284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" y="3035808"/>
            <a:ext cx="2329434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the objective and the process to deliver it.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344418" y="2103120"/>
            <a:ext cx="265861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9010" y="228600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47922" y="221284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509010" y="3035808"/>
            <a:ext cx="2329434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 out the plan; collect data along the way.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185916" y="2103120"/>
            <a:ext cx="265861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508" y="228600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89420" y="221284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350508" y="3035808"/>
            <a:ext cx="2329434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results against the expected outcome.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9027414" y="2103120"/>
            <a:ext cx="265861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2006" y="228600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30918" y="2212848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192006" y="3035808"/>
            <a:ext cx="2329434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differences; standardise what worked.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502920" y="4206240"/>
            <a:ext cx="11183112" cy="1097280"/>
          </a:xfrm>
          <a:prstGeom prst="roundRect">
            <a:avLst>
              <a:gd name="adj" fmla="val 75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31520" y="433425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31520" y="4681728"/>
            <a:ext cx="1072591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Competitors' items are checked and measured against the organisation's own quality — that comparison depends on communication.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4 — The business and its information needs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THE INFORMATION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Marketing and business performance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500116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66420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487168"/>
            <a:ext cx="5170932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meets sales &amp; marketing so new products are fully understood, then marketed to consumers. Two-way: client surveys flow back to R&amp;D to build what customers request.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554480"/>
            <a:ext cx="5500116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373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66420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performance (BPM)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487168"/>
            <a:ext cx="5170932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Processes that organise, automate and analyse the metrics, processes and systems driving performance — the next generation of business intelligence (BI).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434340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31520" y="4471416"/>
            <a:ext cx="10725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THROUGH COMMUNICATION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31520" y="4818888"/>
            <a:ext cx="1072591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 the performing areas, understand the tools that work, and apply them where the business performs less well. All views, opinions and input are needed for educated decisions.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4 — The business and its information needs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PROTECTING THE INFORMATION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threats you must be able to explain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Unauthorised access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Hackers or insiders reading data they have no right to see. Defend: passwords + MFA, per-role access rights, encryption — POPIA makes it a legal duty.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6002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5088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Viruses &amp; malware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456176" y="25328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that corrupts, steals or destroys data — in 2026 above all ransomware via phishing email. Defend: antivirus, patches, backups, cautious staff.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80248" y="1600200"/>
            <a:ext cx="360578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178308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3752" y="1709928"/>
            <a:ext cx="2837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Disgruntled staff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44840" y="2532888"/>
            <a:ext cx="3276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Insiders who deliberately damage, leak or delete data. Defend: least-privilege access, audit trails, remove access the day someone leaves.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4 — The business and its information needs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NEEDS WHAT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information needs of the sub-systems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8311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07415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Sub-system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Information it needs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HR (employment)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records, contracts, leave and attendance, payslips, performance reviews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 (manufacture)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Orders, raw-material stock, production schedules, quality measurements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Marketing (branding)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Brand assets, campaign results, customer feedback and survey data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Financial (cash flow)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Invoices, payments, debtors and creditors, cash-flow forecasts, budgets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4 — The business and its information needs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PROVE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585216"/>
            <a:ext cx="11183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work for Lesson 4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Questioning session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7512" y="253288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minutes · Self &amp; Group — all 14 questions: data, information, the five roles, the three threats and the four sub-systems. AI-marked.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85916" y="160020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783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9420" y="170992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 quizzes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350508" y="253288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section gates on its five questions — all correct unlocks Next.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" y="393192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41148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6424" y="40416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 assessment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67512" y="486460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am able to explain the relationship between a business and its data requirements” — tick it honestly, or write it down as a goal.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185916" y="3931920"/>
            <a:ext cx="550011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411480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89420" y="4041648"/>
            <a:ext cx="47320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Logbook project — Research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350508" y="4864608"/>
            <a:ext cx="517093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IT-in-business research project also evidences this outcome. Mark it 114050.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10268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Lesson 4 — The business and its information needs · NQF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5952" y="64008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111831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is raw. Information has meaning. Wisdom stays human.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36118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→ information → knowledge → understanding → wisdom · decisions, price control, quality (PDCA), marketing and BPM · guard it against unauthorised access, malware and insiders · give HR, Production, Marketing and Finance the information they need.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93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National Certificate: IT — System Support · SAQA ID 48573 · ITSS Learn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Investec — Corporate Banking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114050 Lesson 4 — The relationship between a business and its data requirements</dc:title>
  <dc:subject>PptxGenJS Presentation</dc:subject>
  <dc:creator>Andre Snell</dc:creator>
  <cp:lastModifiedBy>Andre Snell</cp:lastModifiedBy>
  <cp:revision>1</cp:revision>
  <dcterms:created xsi:type="dcterms:W3CDTF">2026-09-15T15:38:34Z</dcterms:created>
  <dcterms:modified xsi:type="dcterms:W3CDTF">2026-09-15T15:38:34Z</dcterms:modified>
</cp:coreProperties>
</file>