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image" Target="../media/image-2-7.png"/><Relationship Id="rId8" Type="http://schemas.openxmlformats.org/officeDocument/2006/relationships/image" Target="../media/image-2-8.svg"/><Relationship Id="rId9" Type="http://schemas.openxmlformats.org/officeDocument/2006/relationships/image" Target="../media/image-2-9.png"/><Relationship Id="rId10" Type="http://schemas.openxmlformats.org/officeDocument/2006/relationships/image" Target="../media/image-2-10.sv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image" Target="../media/image-10-3.png"/><Relationship Id="rId4" Type="http://schemas.openxmlformats.org/officeDocument/2006/relationships/image" Target="../media/image-10-4.svg"/><Relationship Id="rId5" Type="http://schemas.openxmlformats.org/officeDocument/2006/relationships/image" Target="../media/image-10-5.png"/><Relationship Id="rId6" Type="http://schemas.openxmlformats.org/officeDocument/2006/relationships/image" Target="../media/image-10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1005840"/>
            <a:ext cx="5394960" cy="566928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005840"/>
            <a:ext cx="5394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spc="10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4 · NQF LEVEL 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02920" y="1737360"/>
            <a:ext cx="98755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Relationship between a Business and its Information Needs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02920" y="3474720"/>
            <a:ext cx="8869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data to wisdom — how a business gathers data, turns it into information, uses it in its roles, and protects it from threats</a:t>
            </a:r>
            <a:endParaRPr lang="en-US" sz="1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058400" y="1280160"/>
            <a:ext cx="1645920" cy="16459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2920" y="4224528"/>
            <a:ext cx="11183112" cy="0"/>
          </a:xfrm>
          <a:prstGeom prst="line">
            <a:avLst/>
          </a:prstGeom>
          <a:noFill/>
          <a:ln w="12700">
            <a:solidFill>
              <a:srgbClr val="D5E3F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4407408"/>
            <a:ext cx="261289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502920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90 minutes · Self &amp; Group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3298698" y="4407408"/>
            <a:ext cx="261289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3298698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Thursday, 27 Aug 2026 · 09h00 – 14h00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094476" y="4407408"/>
            <a:ext cx="261289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094476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 1 · Professional Team Development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8890254" y="4407408"/>
            <a:ext cx="261289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 ASSURANCE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8890254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QCTO / MICT SETA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502920" y="6291072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ITSS Learn · Investec · Corporate Banking Technology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Â· Lesson 4 â€” The business and its information needs Â·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DATA TO WISDOM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Ackoff's five categories of the human mind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According to Russell Ackoff, systems theorist and professor of organisational change: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1828800"/>
            <a:ext cx="3605784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2011680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06424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67512" y="2761488"/>
            <a:ext cx="3276600" cy="630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Symbols — raw facts with no significance beyond their existence.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291584" y="1828800"/>
            <a:ext cx="3605784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129030000" dist="322580000" dir="324000000000">
              <a:srgbClr val="9AB4CC">
                <a:alpha val="300000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2011680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895088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Information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4456176" y="2761488"/>
            <a:ext cx="3276600" cy="630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processed to be useful — answers who, what, where, when.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8080248" y="1828800"/>
            <a:ext cx="3605784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4338681000000" dist="4096766000000" dir="19440000000000000">
              <a:srgbClr val="9AB4CC">
                <a:alpha val="300000000000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201168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83752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Knowledge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8244840" y="2761488"/>
            <a:ext cx="3276600" cy="630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Application of data and information — answers how.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502920" y="3703320"/>
            <a:ext cx="3605784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82101248700000000" dist="52028928200000000" dir="1.1664e+21">
              <a:srgbClr val="9AB4CC">
                <a:alpha val="30000000000000000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7512" y="3886200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106424" y="381304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Understanding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667512" y="4636008"/>
            <a:ext cx="3276600" cy="630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Appreciation of why — carries each level to the next.</a:t>
            </a:r>
            <a:endParaRPr lang="en-US" sz="1800" dirty="0"/>
          </a:p>
        </p:txBody>
      </p:sp>
      <p:sp>
        <p:nvSpPr>
          <p:cNvPr id="24" name="Shape 18"/>
          <p:cNvSpPr/>
          <p:nvPr/>
        </p:nvSpPr>
        <p:spPr>
          <a:xfrm>
            <a:off x="4291584" y="3703320"/>
            <a:ext cx="3605784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2.31268585849e+21" dist="660767388140000000000" dir="6.9984e+25">
              <a:srgbClr val="9AB4CC">
                <a:alpha val="3e+24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456176" y="3886200"/>
            <a:ext cx="347472" cy="34747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4895088" y="381304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Wisdom</a:t>
            </a:r>
            <a:endParaRPr lang="en-US" sz="2000" dirty="0"/>
          </a:p>
        </p:txBody>
      </p:sp>
      <p:sp>
        <p:nvSpPr>
          <p:cNvPr id="27" name="Text 20"/>
          <p:cNvSpPr/>
          <p:nvPr/>
        </p:nvSpPr>
        <p:spPr>
          <a:xfrm>
            <a:off x="4456176" y="4636008"/>
            <a:ext cx="3276600" cy="630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Evaluated understanding — vision and design.</a:t>
            </a:r>
            <a:endParaRPr lang="en-US" sz="1800" dirty="0"/>
          </a:p>
        </p:txBody>
      </p:sp>
      <p:sp>
        <p:nvSpPr>
          <p:cNvPr id="28" name="Shape 21"/>
          <p:cNvSpPr/>
          <p:nvPr/>
        </p:nvSpPr>
        <p:spPr>
          <a:xfrm>
            <a:off x="502920" y="5440680"/>
            <a:ext cx="11183112" cy="1051560"/>
          </a:xfrm>
          <a:prstGeom prst="roundRect">
            <a:avLst>
              <a:gd name="adj" fmla="val 7826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2.9371110402823e+25" dist="8.391745829378e+24" dir="4.19904e+30">
              <a:srgbClr val="9AB4CC">
                <a:alpha val="3e+29"/>
              </a:srgbClr>
            </a:outerShdw>
          </a:effectLst>
        </p:spPr>
      </p:sp>
      <p:sp>
        <p:nvSpPr>
          <p:cNvPr id="29" name="Text 22"/>
          <p:cNvSpPr/>
          <p:nvPr/>
        </p:nvSpPr>
        <p:spPr>
          <a:xfrm>
            <a:off x="731520" y="5568696"/>
            <a:ext cx="10725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PAST AND FUTURE</a:t>
            </a:r>
            <a:endParaRPr lang="en-US" sz="1800" dirty="0"/>
          </a:p>
        </p:txBody>
      </p:sp>
      <p:sp>
        <p:nvSpPr>
          <p:cNvPr id="30" name="Text 23"/>
          <p:cNvSpPr/>
          <p:nvPr/>
        </p:nvSpPr>
        <p:spPr>
          <a:xfrm>
            <a:off x="731520" y="5916168"/>
            <a:ext cx="10725912" cy="448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first four categories deal with the past — what has been or what is known. Only wisdom deals with the future; people must move successively through the other categories to reach it.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Â· Lesson 4 â€” The business and its information needs Â·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FIRST TWO LEVELS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 and information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3.730131021158521e+29" dist="1.0657517203310059e+29" dir="2.519424e+35">
              <a:srgbClr val="9AB4CC">
                <a:alpha val="2.9999999999999997e+34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3736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66420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 is raw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48716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simply exists — usable or not — and has no meaning of itself. In computer terms, a spreadsheet generally starts out by holding data.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85916" y="155448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4.737266396871321e+33" dist="1.3535046848203775e+33" dir="1.5116544e+40">
              <a:srgbClr val="9AB4CC">
                <a:alpha val="3e+39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173736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89420" y="166420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Information has meaning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350508" y="248716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given meaning by relational connection. In computer terms, a relational database makes information from the data stored within it.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02920" y="4114800"/>
            <a:ext cx="11183112" cy="1188720"/>
          </a:xfrm>
          <a:prstGeom prst="roundRect">
            <a:avLst>
              <a:gd name="adj" fmla="val 6923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6.016328324026578e+37" dist="1.7189509497218795e+37" dir="9.069926400000001e+44">
              <a:srgbClr val="9AB4CC">
                <a:alpha val="3e+44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731520" y="4242816"/>
            <a:ext cx="10725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WEATHER EXAMPLE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731520" y="4590288"/>
            <a:ext cx="1072591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Data: “It is raining.”  ·  Information: “The temperature dropped 15 degrees and then it started raining” — a relationship, possibly cause and effect.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Â· Lesson 4 â€” The business and its information needs Â·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HIGHER LEVELS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Knowledge, understanding and wisdom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3605784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7.640736971513755e+41" dist="2.183067706146787e+41" dir="5.44195584e+49">
              <a:srgbClr val="9AB4CC">
                <a:alpha val="2.9999999999999997e+49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3736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66420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Knowledge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487168"/>
            <a:ext cx="3276600" cy="1316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appropriate collection of information — memorised, deterministic. The times table answers 2 × 2, but not 1267 × 300.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291584" y="1554480"/>
            <a:ext cx="3605784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9.703735953822469e+45" dist="2.7724959868064195e+45" dir="3.2651735040000005e+54">
              <a:srgbClr val="9AB4CC">
                <a:alpha val="2.9999999999999996e+54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173736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895088" y="166420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Understanding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4456176" y="2487168"/>
            <a:ext cx="3276600" cy="1316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Cognitive and analytical — synthesises NEW knowledge from what is known. Learning, not memorising. AI systems (2026: Copilot, Gemini) do this at scale.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8080248" y="1554480"/>
            <a:ext cx="3605784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.2323744661354536e+50" dist="3.5210699032441527e+49" dir="1.9591041024000004e+59">
              <a:srgbClr val="9AB4CC">
                <a:alpha val="2.9999999999999996e+59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173736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83752" y="166420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Wisdom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8244840" y="2487168"/>
            <a:ext cx="3276600" cy="1316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Extrapolative, non-deterministic. Calls on moral and ethical codes; judges right from wrong. The authors: computers will never possess it.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502920" y="4343400"/>
            <a:ext cx="11183112" cy="1280160"/>
          </a:xfrm>
          <a:prstGeom prst="roundRect">
            <a:avLst>
              <a:gd name="adj" fmla="val 6429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.5651155719920262e+54" dist="4.471758777120074e+53" dir="1.1754624614400003e+64">
              <a:srgbClr val="9AB4CC">
                <a:alpha val="2.9999999999999996e+64"/>
              </a:srgbClr>
            </a:outerShdw>
          </a:effectLst>
        </p:spPr>
      </p:sp>
      <p:sp>
        <p:nvSpPr>
          <p:cNvPr id="20" name="Text 15"/>
          <p:cNvSpPr/>
          <p:nvPr/>
        </p:nvSpPr>
        <p:spPr>
          <a:xfrm>
            <a:off x="731520" y="4471416"/>
            <a:ext cx="10725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WEATHER EXAMPLE, CONTINUED</a:t>
            </a:r>
            <a:endParaRPr lang="en-US" sz="1800" dirty="0"/>
          </a:p>
        </p:txBody>
      </p:sp>
      <p:sp>
        <p:nvSpPr>
          <p:cNvPr id="21" name="Text 16"/>
          <p:cNvSpPr/>
          <p:nvPr/>
        </p:nvSpPr>
        <p:spPr>
          <a:xfrm>
            <a:off x="731520" y="4818888"/>
            <a:ext cx="10725912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Knowledge: high humidity + a sharp temperature drop usually means rain. Wisdom is systemic: “it rains because it rains” — grasping all the interactions between evaporation, air currents and temperature gradients.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Â· Lesson 4 â€” The business and its information needs Â·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TEST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When is a pattern knowledge — and when is it noise?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463040"/>
            <a:ext cx="11183112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“Abugt dbesbt regtc uatn s uitrzt…” — 100% novelty. To you it is noise; there is no foundation to connect with the pattern. Yet translated, these are Newton's three laws of motion.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 something knowledge if you can't understand it?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Now: a heavy 3×3×6 box with a door, food inside, colder inside than out, usually in the kitchen, ice compartment, light when it opens, dirt underneath, junk on top…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refrigerator — at some point you connected with the pattern, and every further statement only confirmed it. In a society without refrigerators, it stays a riddle.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5029200"/>
            <a:ext cx="11183112" cy="1143000"/>
          </a:xfrm>
          <a:prstGeom prst="roundRect">
            <a:avLst>
              <a:gd name="adj" fmla="val 720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.9876967764298733e+58" dist="5.679133646942494e+57" dir="7.052774768640002e+68">
              <a:srgbClr val="9AB4CC">
                <a:alpha val="2.9999999999999995e+69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1520" y="5157216"/>
            <a:ext cx="10725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POINT FOR BUSINESS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31520" y="5504688"/>
            <a:ext cx="10725912" cy="539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Information only becomes knowledge when the receiver can connect it to a pattern they understand — present information in the language and context of its users, or it is noise.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Â· Lesson 4 â€” The business and its information needs Â·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COMMUNICATION IN DECISION MAKING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From information to a final choice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463040"/>
            <a:ext cx="1118311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making is the cognitive process leading to the selection of a course of action among variations — every process produces a final choice: an action or an opinion.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begins when we need to do something but know not what — a reasoning process, rational or irrational, on explicit or tacit assumptions.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Structured, rational decisions drive science-based professions — e.g. medical diagnosis, then treatment selection.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Under time pressure, high stakes or ambiguity, experts decide intuitively: recognition-primed decisions fit the indicators into experience and arrive immediately at a satisfactory course of action.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Robust-decision approaches formally integrate uncertainty into the process.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Â· Lesson 4 â€” The business and its information needs Â·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USING THE INFORMATION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Price control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5500116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2.524374906065939e+62" dist="7.212499731616968e+61" dir="4.2316648611840007e+73">
              <a:srgbClr val="9AB4CC">
                <a:alpha val="2.9999999999999995e+74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3736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66420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Free price system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487168"/>
            <a:ext cx="5170932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Prices set by supply and demand — signals between producers and consumers that ration supplies, distribute income and allocate resources.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85916" y="1554480"/>
            <a:ext cx="5500116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3.2059561307037426e+66" dist="9.15987465915355e+65" dir="2.5389989167104004e+78">
              <a:srgbClr val="9AB4CC">
                <a:alpha val="3e+79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173736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89420" y="166420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Controlled price system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350508" y="2487168"/>
            <a:ext cx="5170932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Prices set by government within a controlled market or planned economy.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02920" y="4069080"/>
            <a:ext cx="11183112" cy="1234440"/>
          </a:xfrm>
          <a:prstGeom prst="roundRect">
            <a:avLst>
              <a:gd name="adj" fmla="val 6667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4.071564285993753e+70" dist="1.1633040817125008e+70" dir="1.5233993500262402e+83">
              <a:srgbClr val="9AB4CC">
                <a:alpha val="2.9999999999999995e+84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731520" y="4197096"/>
            <a:ext cx="10725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THE ORGANISATION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731520" y="4544568"/>
            <a:ext cx="10725912" cy="630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prices are largely governed by what competitors charge for similar products. Pricing, costing and manufacturing must communicate so goods sell at the same or better price than competitors.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Â· Lesson 4 â€” The business and its information needs Â·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USING THE INFORMATION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Quality control and PDCA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 systems ensure products and services meet or exceed customer requirements — “fit for purpose”, “do it right the first time”. QA covers design through documentation.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2103120"/>
            <a:ext cx="2658618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5.170886643212067e+74" dist="1.477396183774876e+74" dir="9.14039610015744e+87">
              <a:srgbClr val="9AB4CC">
                <a:alpha val="2.9999999999999996e+89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2286000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06424" y="2212848"/>
            <a:ext cx="189052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Plan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67512" y="3035808"/>
            <a:ext cx="2329434" cy="722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Decide the objective and the process to deliver it.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3344418" y="2103120"/>
            <a:ext cx="2658618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6.567026036879325e+78" dist="1.8762931533940924e+78" dir="5.484237660094465e+92">
              <a:srgbClr val="9AB4CC">
                <a:alpha val="2.9999999999999997e+94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09010" y="2286000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947922" y="2212848"/>
            <a:ext cx="189052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3509010" y="3035808"/>
            <a:ext cx="2329434" cy="722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Carry out the plan; collect data along the way.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6185916" y="2103120"/>
            <a:ext cx="2658618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.340123066836742e+82" dist="2.3828923048104974e+82" dir="3.2905425960566786e+97">
              <a:srgbClr val="9AB4CC">
                <a:alpha val="2.9999999999999997e+99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350508" y="228600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789420" y="2212848"/>
            <a:ext cx="189052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Check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6350508" y="3035808"/>
            <a:ext cx="2329434" cy="722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 results against the expected outcome.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9027414" y="2103120"/>
            <a:ext cx="2658618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.0591956294882662e+87" dist="3.0262732271093317e+86" dir="1.9743255576340073e+102">
              <a:srgbClr val="9AB4CC">
                <a:alpha val="3e+104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192006" y="2286000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630918" y="2212848"/>
            <a:ext cx="189052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9192006" y="3035808"/>
            <a:ext cx="2329434" cy="722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Correct differences; standardise what worked.</a:t>
            </a:r>
            <a:endParaRPr lang="en-US" sz="1800" dirty="0"/>
          </a:p>
        </p:txBody>
      </p:sp>
      <p:sp>
        <p:nvSpPr>
          <p:cNvPr id="24" name="Shape 18"/>
          <p:cNvSpPr/>
          <p:nvPr/>
        </p:nvSpPr>
        <p:spPr>
          <a:xfrm>
            <a:off x="502920" y="4206240"/>
            <a:ext cx="11183112" cy="1097280"/>
          </a:xfrm>
          <a:prstGeom prst="roundRect">
            <a:avLst>
              <a:gd name="adj" fmla="val 750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.3451784494500981e+91" dist="3.8433669984288512e+90" dir="1.1845953345804043e+107">
              <a:srgbClr val="9AB4CC">
                <a:alpha val="2.9999999999999997e+109"/>
              </a:srgbClr>
            </a:outerShdw>
          </a:effectLst>
        </p:spPr>
      </p:sp>
      <p:sp>
        <p:nvSpPr>
          <p:cNvPr id="25" name="Text 19"/>
          <p:cNvSpPr/>
          <p:nvPr/>
        </p:nvSpPr>
        <p:spPr>
          <a:xfrm>
            <a:off x="731520" y="4334256"/>
            <a:ext cx="10725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COMMUNICATION</a:t>
            </a:r>
            <a:endParaRPr lang="en-US" sz="1800" dirty="0"/>
          </a:p>
        </p:txBody>
      </p:sp>
      <p:sp>
        <p:nvSpPr>
          <p:cNvPr id="26" name="Text 20"/>
          <p:cNvSpPr/>
          <p:nvPr/>
        </p:nvSpPr>
        <p:spPr>
          <a:xfrm>
            <a:off x="731520" y="4681728"/>
            <a:ext cx="10725912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Competitors' items are checked and measured against the organisation's own quality — that comparison depends on communication.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Â· Lesson 4 â€” The business and its information needs Â·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USING THE INFORMATION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Marketing and business performance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5500116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.7083766308016246e+95" dist="4.8810760880046414e+94" dir="7.107572007482426e+111">
              <a:srgbClr val="9AB4CC">
                <a:alpha val="2.9999999999999995e+114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3736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66420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Marketing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487168"/>
            <a:ext cx="5170932" cy="1316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R&amp;D meets sales &amp; marketing so new products are fully understood, then marketed to consumers. Two-way: client surveys flow back to R&amp;D to build what customers request.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85916" y="1554480"/>
            <a:ext cx="5500116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2.1696383211180632e+99" dist="6.198966631765894e+98" dir="4.2645432044894554e+116">
              <a:srgbClr val="9AB4CC">
                <a:alpha val="2.9999999999999997e+119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173736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89420" y="166420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performance (BPM)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350508" y="2487168"/>
            <a:ext cx="5170932" cy="1316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Processes that organise, automate and analyse the metrics, processes and systems driving performance — the next generation of business intelligence (BI).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02920" y="4343400"/>
            <a:ext cx="11183112" cy="1188720"/>
          </a:xfrm>
          <a:prstGeom prst="roundRect">
            <a:avLst>
              <a:gd name="adj" fmla="val 6923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2.7554406678199403e+103" dist="7.872687622342685e+102" dir="2.5587259226936733e+121">
              <a:srgbClr val="9AB4CC">
                <a:alpha val="2.9999999999999995e+124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731520" y="4471416"/>
            <a:ext cx="10725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GROWTH THROUGH COMMUNICATION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731520" y="4818888"/>
            <a:ext cx="1072591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Analyse the performing areas, understand the tools that work, and apply them where the business performs less well. All views, opinions and input are needed for educated decisions.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Â· Lesson 4 â€” The business and its information needs Â·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PROTECTING THE INFORMATION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Three threats you must be able to explain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3605784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3.499409648131324e+107" dist="9.998313280375211e+106" dir="1.535235553616204e+126">
              <a:srgbClr val="9AB4CC">
                <a:alpha val="2.9999999999999997e+129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830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099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Unauthorised access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32888"/>
            <a:ext cx="3276600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Hackers or insiders reading data they have no right to see. Defend: passwords + MFA, per-role access rights, encryption — POPIA makes it a legal duty.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291584" y="1600200"/>
            <a:ext cx="3605784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4.4442502531267815e+111" dist="1.2697857866076517e+111" dir="9.211413321697224e+130">
              <a:srgbClr val="9AB4CC">
                <a:alpha val="2.9999999999999996e+134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17830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895088" y="17099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Viruses &amp; malware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4456176" y="2532888"/>
            <a:ext cx="3276600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Software that corrupts, steals or destroys data — in 2026 above all ransomware via phishing email. Defend: antivirus, patches, backups, cautious staff.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8080248" y="1600200"/>
            <a:ext cx="3605784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5.644197821471012e+115" dist="1.6126279489917177e+115" dir="5.526847993018334e+135">
              <a:srgbClr val="9AB4CC">
                <a:alpha val="2.9999999999999994e+139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178308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83752" y="17099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Disgruntled staff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8244840" y="2532888"/>
            <a:ext cx="3276600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Insiders who deliberately damage, leak or delete data. Defend: least-privilege access, audit trails, remove access the day someone leaves.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Â· Lesson 4 â€” The business and its information needs Â·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 NEEDS WHAT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information needs of the sub-systems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828800"/>
          <a:ext cx="1118311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8074152"/>
              </a:tblGrid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Sub-system</a:t>
                      </a: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Information it needs</a:t>
                      </a: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HR (employment)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Employee records, contracts, leave and attendance, payslips, performance reviews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Production (manufacture)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Orders, raw-material stock, production schedules, quality measurements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Marketing (branding)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Brand assets, campaign results, customer feedback and survey data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Financial (cash flow)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Invoices, payments, debtors and creditors, cash-flow forecasts, budgets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Â· Lesson 4 â€” The business and its information needs Â·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NOW PROVE IT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Your work for Lesson 4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7.168131233268186e+119" dist="2.0480374952194813e+119" dir="3.3161087958110005e+140">
              <a:srgbClr val="9AB4CC">
                <a:alpha val="2.9999999999999996e+144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830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Questioning session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3288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90 minutes · Self &amp; Group — all 14 questions: data, information, the five roles, the three threats and the four sub-systems. AI-marked.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85916" y="160020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9.103526666250596e+123" dist="2.6010076189287412e+123" dir="1.9896652774866004e+145">
              <a:srgbClr val="9AB4CC">
                <a:alpha val="2.9999999999999996e+149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17830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89420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Slide quizzes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350508" y="253288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section gates on its five questions — all correct unlocks Next.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02920" y="393192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.1561478866138256e+128" dist="3.303279676039501e+127" dir="1.1937991664919603e+150">
              <a:srgbClr val="9AB4CC">
                <a:alpha val="2.9999999999999997e+154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7512" y="411480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06424" y="404164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Self assessment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667512" y="486460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“I am able to explain the relationship between a business and its data requirements” — tick it honestly, or write it down as a goal.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6185916" y="393192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.4683078159995586e+132" dist="4.195165188570166e+131" dir="7.162794998951762e+154">
              <a:srgbClr val="9AB4CC">
                <a:alpha val="2.9999999999999998e+159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50508" y="4114800"/>
            <a:ext cx="347472" cy="34747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789420" y="404164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Logbook project — Research</a:t>
            </a:r>
            <a:endParaRPr lang="en-US" sz="2000" dirty="0"/>
          </a:p>
        </p:txBody>
      </p:sp>
      <p:sp>
        <p:nvSpPr>
          <p:cNvPr id="22" name="Text 16"/>
          <p:cNvSpPr/>
          <p:nvPr/>
        </p:nvSpPr>
        <p:spPr>
          <a:xfrm>
            <a:off x="6350508" y="486460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IT-in-business research project also evidences this outcome. Mark it 114050.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20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Â· Lesson 4 â€” The business and its information needs Â·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CB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2920" y="1463040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240280"/>
            <a:ext cx="1118311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 is raw. Information has meaning. Wisdom stays human.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502920" y="361188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B9D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→ information → knowledge → understanding → wisdom · decisions, price control, quality (PDCA), marketing and BPM · guard it against unauthorised access, malware and insiders · give HR, Production, Marketing and Finance the information they need.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02920" y="6291072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E93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National Certificate: IT — System Support · SAQA ID 48573 · ITSS Learn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Investec â€” Corporate Banking Technology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 114050 Lesson 4 â€” The relationship between a business and its data requirements</dc:title>
  <dc:subject>PptxGenJS Presentation</dc:subject>
  <dc:creator>Andre Snell</dc:creator>
  <cp:lastModifiedBy>Andre Snell</cp:lastModifiedBy>
  <cp:revision>1</cp:revision>
  <dcterms:created xsi:type="dcterms:W3CDTF">2026-08-20T19:02:03Z</dcterms:created>
  <dcterms:modified xsi:type="dcterms:W3CDTF">2026-08-20T19:02:03Z</dcterms:modified>
</cp:coreProperties>
</file>