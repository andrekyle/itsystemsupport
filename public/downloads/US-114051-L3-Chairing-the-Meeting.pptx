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image" Target="../media/image-2-3.png"/><Relationship Id="rId4" Type="http://schemas.openxmlformats.org/officeDocument/2006/relationships/image" Target="../media/image-2-4.svg"/><Relationship Id="rId5" Type="http://schemas.openxmlformats.org/officeDocument/2006/relationships/image" Target="../media/image-2-5.png"/><Relationship Id="rId6" Type="http://schemas.openxmlformats.org/officeDocument/2006/relationships/image" Target="../media/image-2-6.svg"/><Relationship Id="rId7" Type="http://schemas.openxmlformats.org/officeDocument/2006/relationships/image" Target="../media/image-2-7.png"/><Relationship Id="rId8" Type="http://schemas.openxmlformats.org/officeDocument/2006/relationships/image" Target="../media/image-2-8.svg"/><Relationship Id="rId9" Type="http://schemas.openxmlformats.org/officeDocument/2006/relationships/image" Target="../media/image-2-9.png"/><Relationship Id="rId10" Type="http://schemas.openxmlformats.org/officeDocument/2006/relationships/image" Target="../media/image-2-10.svg"/><Relationship Id="rId11" Type="http://schemas.openxmlformats.org/officeDocument/2006/relationships/image" Target="../media/image-2-11.png"/><Relationship Id="rId12" Type="http://schemas.openxmlformats.org/officeDocument/2006/relationships/image" Target="../media/image-2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1005840"/>
            <a:ext cx="6035040" cy="566928"/>
          </a:xfrm>
          <a:prstGeom prst="roundRect">
            <a:avLst>
              <a:gd name="adj" fmla="val 50000"/>
            </a:avLst>
          </a:prstGeom>
          <a:solidFill>
            <a:srgbClr val="0F6CBD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005840"/>
            <a:ext cx="60350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spc="100" kern="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SO 3 · NQF LEVEL 5 · 4 CREDITS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02920" y="1737360"/>
            <a:ext cx="987552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Chairing a Technical Practitioners Meeting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3474720"/>
            <a:ext cx="88696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the members own, conventions applied fairly, a published agenda followed — and clear decisions with timeframes</a:t>
            </a:r>
            <a:endParaRPr lang="en-US" sz="1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58400" y="1280160"/>
            <a:ext cx="1645920" cy="1645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224528"/>
            <a:ext cx="11183112" cy="0"/>
          </a:xfrm>
          <a:prstGeom prst="line">
            <a:avLst/>
          </a:prstGeom>
          <a:noFill/>
          <a:ln w="12700">
            <a:solidFill>
              <a:srgbClr val="D5E3F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02920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02920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90-minute lesson · Self &amp; Group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298698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SESSION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3298698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Friday, 11 Sep 2026 · 09h00 – 14h00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094476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6094476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Module 1 · Personal Development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8890254" y="4407408"/>
            <a:ext cx="2612898" cy="329184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indent="0" marL="0">
              <a:buNone/>
            </a:pPr>
            <a:r>
              <a:rPr lang="en-US" sz="1800" b="1" spc="5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QUALITY ASSURANCE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8890254" y="4754880"/>
            <a:ext cx="2612898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QCTO / MICT SETA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ITSS Learn · Investec · Corporate Banking Technology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SPECIFIC OUTCOME 3 &amp; ASSESSMENT CRITERIA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you must be able to do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11183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a technical practitioners meeting. You will be assessed against these criteria: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02920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103120"/>
            <a:ext cx="347472" cy="347472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06424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Establish rules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667512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and guidelines agreed in conjunction with the meeting members.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291584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103120"/>
            <a:ext cx="347472" cy="34747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895088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conventions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456176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meeting conventions the members agreed are applied consistently.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080248" y="192024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103120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83752" y="202996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 the agenda</a:t>
            </a:r>
            <a:endParaRPr lang="en-US" sz="2000" dirty="0"/>
          </a:p>
        </p:txBody>
      </p:sp>
      <p:sp>
        <p:nvSpPr>
          <p:cNvPr id="19" name="Text 14"/>
          <p:cNvSpPr/>
          <p:nvPr/>
        </p:nvSpPr>
        <p:spPr>
          <a:xfrm>
            <a:off x="8244840" y="285292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published agenda is followed item by item.</a:t>
            </a:r>
            <a:endParaRPr lang="en-US" sz="1800" dirty="0"/>
          </a:p>
        </p:txBody>
      </p:sp>
      <p:sp>
        <p:nvSpPr>
          <p:cNvPr id="20" name="Shape 15"/>
          <p:cNvSpPr/>
          <p:nvPr/>
        </p:nvSpPr>
        <p:spPr>
          <a:xfrm>
            <a:off x="502920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67512" y="4251960"/>
            <a:ext cx="347472" cy="34747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106424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Enable participation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667512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participation by all members; conflict is minimised.</a:t>
            </a:r>
            <a:endParaRPr lang="en-US" sz="1800" dirty="0"/>
          </a:p>
        </p:txBody>
      </p:sp>
      <p:sp>
        <p:nvSpPr>
          <p:cNvPr id="24" name="Shape 18"/>
          <p:cNvSpPr/>
          <p:nvPr/>
        </p:nvSpPr>
        <p:spPr>
          <a:xfrm>
            <a:off x="4291584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456176" y="4251960"/>
            <a:ext cx="347472" cy="34747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895088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Prioritise &amp; time-box</a:t>
            </a:r>
            <a:endParaRPr lang="en-US" sz="2000" dirty="0"/>
          </a:p>
        </p:txBody>
      </p:sp>
      <p:sp>
        <p:nvSpPr>
          <p:cNvPr id="27" name="Text 20"/>
          <p:cNvSpPr/>
          <p:nvPr/>
        </p:nvSpPr>
        <p:spPr>
          <a:xfrm>
            <a:off x="4456176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Topics prioritised; discussion time allocated per item.</a:t>
            </a:r>
            <a:endParaRPr lang="en-US" sz="1800" dirty="0"/>
          </a:p>
        </p:txBody>
      </p:sp>
      <p:sp>
        <p:nvSpPr>
          <p:cNvPr id="28" name="Shape 21"/>
          <p:cNvSpPr/>
          <p:nvPr/>
        </p:nvSpPr>
        <p:spPr>
          <a:xfrm>
            <a:off x="8080248" y="4069080"/>
            <a:ext cx="3605784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8244840" y="4251960"/>
            <a:ext cx="347472" cy="347472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8683752" y="417880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Land clear decisions</a:t>
            </a:r>
            <a:endParaRPr lang="en-US" sz="2000" dirty="0"/>
          </a:p>
        </p:txBody>
      </p:sp>
      <p:sp>
        <p:nvSpPr>
          <p:cNvPr id="31" name="Text 23"/>
          <p:cNvSpPr/>
          <p:nvPr/>
        </p:nvSpPr>
        <p:spPr>
          <a:xfrm>
            <a:off x="8244840" y="5001768"/>
            <a:ext cx="3276600" cy="905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Decisions are clear, accurate and include timeframes.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Open with rules the members own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ESTABLISH RULES &amp; GUIDELINES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31520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 the rules in conjunction with the members at the start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get the floor, how long contributions may run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decisions will be taken — and what is in scope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Agreed rules create buy-in and prevent procedural disputes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31636" y="1554480"/>
            <a:ext cx="5454396" cy="4480560"/>
          </a:xfrm>
          <a:prstGeom prst="roundRect">
            <a:avLst>
              <a:gd name="adj" fmla="val 1837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60236" y="1737360"/>
            <a:ext cx="49971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1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AGREED CONVENTIONS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460236" y="2103120"/>
            <a:ext cx="4997196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motions through moving, seconding and amending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Follow the published agenda item by item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Park unrelated issues and keep an eye on the clock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Apply the conventions consistently — the same rules for everyone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Participation, priorities and decisions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02920" y="1600200"/>
            <a:ext cx="111831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Provide for active participation by ALL members — invite quiet members by name, use round-robin turns, acknowledge every contribution.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debate on the issue, not the person — that is how conflict is minimised.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Prioritise topics and allocate discussion time according to importance, urgency and complexity.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Move minor items to the end of the agenda — or carry them over to the next meeting.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Ensure agreed decisions are clear, accurate and include a time frame for action.</a:t>
            </a:r>
            <a:endParaRPr lang="en-US" sz="1800" dirty="0"/>
          </a:p>
          <a:p>
            <a:pPr marL="203200" indent="-2032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00205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each decision — and who owns it — with the members before moving on.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CHAIR THE MEETING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Managing difficult behaviours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00200"/>
          <a:ext cx="111831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8912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Behaviour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ptos Display" pitchFamily="34" charset="0"/>
                          <a:ea typeface="Aptos Display" pitchFamily="34" charset="-122"/>
                          <a:cs typeface="Aptos Display" pitchFamily="34" charset="-120"/>
                        </a:rPr>
                        <a:t>What the chair does</a:t>
                      </a:r>
                      <a:endParaRPr lang="en-US" sz="1800" dirty="0">
                        <a:latin typeface="Aptos Display" charset="0"/>
                        <a:ea typeface="Aptos Display" charset="0"/>
                        <a:cs typeface="Aptos Display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6CB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heckler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Stay calm; acknowledge any valid point and return to the agenda and agreed rules.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overly talkative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Thank them, summarise their point, and invite someone who has not yet spoken.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cynic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Ask for evidence and an alternative — turn the criticism into an agenda item or action.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The silent member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Invite their input by name on a topic they know well.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Conflicting egos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Keep debate on the issue, not the person; restate the meeting's outcomes.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Side conversations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Pause the meeting and draw the conversation back to the floor.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4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Factually wrong statements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00205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Correct tactfully with the facts — or park the point for verification and record it.</a:t>
                      </a:r>
                      <a:endParaRPr lang="en-US" sz="1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82296" marR="82296" marT="82296" marB="82296" anchor="ctr">
                    <a:lnL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237744"/>
            <a:ext cx="111831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0F6CB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PROVE IT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585216"/>
            <a:ext cx="1118311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work for Specific Outcome 3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7512" y="201168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106424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Chair a meeting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667512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Role-play practical: chair a 10-minute technical meeting from a scenario card — observed evidence.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291584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56176" y="2011680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895088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Questioning session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4456176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“Chairing a technical practitioners meeting” — typed answers, AI-marked.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080248" y="1828800"/>
            <a:ext cx="3605784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5E3F2"/>
            </a:solidFill>
            <a:prstDash val="solid"/>
          </a:ln>
          <a:effectLst>
            <a:outerShdw sx="100000" sy="100000" kx="0" ky="0" algn="bl" rotWithShape="0" blurRad="88900" dist="25400" dir="5400000">
              <a:srgbClr val="9AB4CC">
                <a:alpha val="30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44840" y="201168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83752" y="1938528"/>
            <a:ext cx="283768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00205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Quiz 3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8244840" y="2761488"/>
            <a:ext cx="3276600" cy="15910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Preparing and chairing the meeting. 80%+ is competent.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20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400800"/>
            <a:ext cx="1026871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Conduct a technical practitioners meeting · NQF 5 · 4 credits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1045952" y="6400800"/>
            <a:ext cx="640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0F6CBD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F6CBD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2920" y="146304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240280"/>
            <a:ext cx="1118311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Run the meeting — don't let the meeting run you.</a:t>
            </a:r>
            <a:endParaRPr lang="en-US" sz="3600" dirty="0"/>
          </a:p>
        </p:txBody>
      </p:sp>
      <p:sp>
        <p:nvSpPr>
          <p:cNvPr id="8" name="Text 5"/>
          <p:cNvSpPr/>
          <p:nvPr/>
        </p:nvSpPr>
        <p:spPr>
          <a:xfrm>
            <a:off x="502920" y="361188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B9D6F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Rules agreed with the members » conventions applied » the agenda followed » everyone heard » topics prioritised » decisions that are clear, accurate and time-framed.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502920" y="6291072"/>
            <a:ext cx="111831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E93B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 114051 · National Certificate: IT — System Support · SAQA ID 48573 · ITSS Learn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Investec — Corporate Banking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 114051 — Chairing a Technical Practitioners Meeting</dc:title>
  <dc:subject>PptxGenJS Presentation</dc:subject>
  <dc:creator>Andre Snell</dc:creator>
  <cp:lastModifiedBy>Andre Snell</cp:lastModifiedBy>
  <cp:revision>1</cp:revision>
  <dcterms:created xsi:type="dcterms:W3CDTF">2026-09-03T20:42:04Z</dcterms:created>
  <dcterms:modified xsi:type="dcterms:W3CDTF">2026-09-03T20:42:04Z</dcterms:modified>
</cp:coreProperties>
</file>