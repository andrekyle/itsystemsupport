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iitpsa.org.za/constitution/" TargetMode="Externa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7.png"/><Relationship Id="rId8" Type="http://schemas.openxmlformats.org/officeDocument/2006/relationships/image" Target="../media/image-26-8.svg"/><Relationship Id="rId9" Type="http://schemas.openxmlformats.org/officeDocument/2006/relationships/image" Target="../media/image-26-9.png"/><Relationship Id="rId10" Type="http://schemas.openxmlformats.org/officeDocument/2006/relationships/image" Target="../media/image-26-10.svg"/><Relationship Id="rId11" Type="http://schemas.openxmlformats.org/officeDocument/2006/relationships/slideLayout" Target="../slideLayouts/slideLayout1.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188720"/>
            <a:ext cx="3566160" cy="512064"/>
          </a:xfrm>
          <a:prstGeom prst="roundRect">
            <a:avLst>
              <a:gd name="adj" fmla="val 50000"/>
            </a:avLst>
          </a:prstGeom>
          <a:solidFill>
            <a:srgbClr val="0F6CBD"/>
          </a:solidFill>
          <a:ln/>
        </p:spPr>
      </p:sp>
      <p:sp>
        <p:nvSpPr>
          <p:cNvPr id="4" name="Text 2"/>
          <p:cNvSpPr/>
          <p:nvPr/>
        </p:nvSpPr>
        <p:spPr>
          <a:xfrm>
            <a:off x="502920" y="1188720"/>
            <a:ext cx="3566160" cy="512064"/>
          </a:xfrm>
          <a:prstGeom prst="rect">
            <a:avLst/>
          </a:prstGeom>
          <a:noFill/>
          <a:ln/>
        </p:spPr>
        <p:txBody>
          <a:bodyPr wrap="square" rtlCol="0" anchor="ctr"/>
          <a:lstStyle/>
          <a:p>
            <a:pPr algn="ctr" indent="0" marL="0">
              <a:buNone/>
            </a:pPr>
            <a:r>
              <a:rPr lang="en-US" sz="1250" b="1" spc="100" kern="0" dirty="0">
                <a:solidFill>
                  <a:srgbClr val="FFFFFF"/>
                </a:solidFill>
                <a:latin typeface="Aptos" pitchFamily="34" charset="0"/>
                <a:ea typeface="Aptos" pitchFamily="34" charset="-122"/>
                <a:cs typeface="Aptos" pitchFamily="34" charset="-120"/>
              </a:rPr>
              <a:t>UNIT STANDARD 114055 · NQF 5 · 3 CREDITS</a:t>
            </a:r>
            <a:endParaRPr lang="en-US" sz="1250" dirty="0"/>
          </a:p>
        </p:txBody>
      </p:sp>
      <p:sp>
        <p:nvSpPr>
          <p:cNvPr id="5" name="Text 3"/>
          <p:cNvSpPr/>
          <p:nvPr/>
        </p:nvSpPr>
        <p:spPr>
          <a:xfrm>
            <a:off x="502920" y="1920240"/>
            <a:ext cx="11183112" cy="1371600"/>
          </a:xfrm>
          <a:prstGeom prst="rect">
            <a:avLst/>
          </a:prstGeom>
          <a:noFill/>
          <a:ln/>
        </p:spPr>
        <p:txBody>
          <a:bodyPr wrap="square" rtlCol="0" anchor="ctr"/>
          <a:lstStyle/>
          <a:p>
            <a:pPr indent="0" marL="0">
              <a:buNone/>
            </a:pPr>
            <a:r>
              <a:rPr lang="en-US" sz="5200" b="1" dirty="0">
                <a:solidFill>
                  <a:srgbClr val="FFFFFF"/>
                </a:solidFill>
                <a:latin typeface="Aptos Display" pitchFamily="34" charset="0"/>
                <a:ea typeface="Aptos Display" pitchFamily="34" charset="-122"/>
                <a:cs typeface="Aptos Display" pitchFamily="34" charset="-120"/>
              </a:rPr>
              <a:t>Ethics &amp; Professionalism</a:t>
            </a:r>
            <a:endParaRPr lang="en-US" sz="5200" dirty="0"/>
          </a:p>
        </p:txBody>
      </p:sp>
      <p:sp>
        <p:nvSpPr>
          <p:cNvPr id="6" name="Text 4"/>
          <p:cNvSpPr/>
          <p:nvPr/>
        </p:nvSpPr>
        <p:spPr>
          <a:xfrm>
            <a:off x="502920" y="3246120"/>
            <a:ext cx="9601200" cy="777240"/>
          </a:xfrm>
          <a:prstGeom prst="rect">
            <a:avLst/>
          </a:prstGeom>
          <a:noFill/>
          <a:ln/>
        </p:spPr>
        <p:txBody>
          <a:bodyPr wrap="square" rtlCol="0" anchor="ctr"/>
          <a:lstStyle/>
          <a:p>
            <a:pPr indent="0" marL="0">
              <a:buNone/>
            </a:pPr>
            <a:r>
              <a:rPr lang="en-US" sz="2100" dirty="0">
                <a:solidFill>
                  <a:srgbClr val="B9D6F2"/>
                </a:solidFill>
                <a:latin typeface="Aptos" pitchFamily="34" charset="0"/>
                <a:ea typeface="Aptos" pitchFamily="34" charset="-122"/>
                <a:cs typeface="Aptos" pitchFamily="34" charset="-120"/>
              </a:rPr>
              <a:t>Demonstrate an awareness of ethics and professionalism for the computer industry in South Africa</a:t>
            </a:r>
            <a:endParaRPr lang="en-US" sz="2100" dirty="0"/>
          </a:p>
        </p:txBody>
      </p:sp>
      <p:sp>
        <p:nvSpPr>
          <p:cNvPr id="7" name="Text 5"/>
          <p:cNvSpPr/>
          <p:nvPr/>
        </p:nvSpPr>
        <p:spPr>
          <a:xfrm>
            <a:off x="502920" y="4069080"/>
            <a:ext cx="9601200" cy="457200"/>
          </a:xfrm>
          <a:prstGeom prst="rect">
            <a:avLst/>
          </a:prstGeom>
          <a:noFill/>
          <a:ln/>
        </p:spPr>
        <p:txBody>
          <a:bodyPr wrap="square" rtlCol="0" anchor="ctr"/>
          <a:lstStyle/>
          <a:p>
            <a:pPr indent="0" marL="0">
              <a:buNone/>
            </a:pPr>
            <a:r>
              <a:rPr lang="en-US" sz="1600" dirty="0">
                <a:solidFill>
                  <a:srgbClr val="8CC2F0"/>
                </a:solidFill>
                <a:latin typeface="Aptos" pitchFamily="34" charset="0"/>
                <a:ea typeface="Aptos" pitchFamily="34" charset="-122"/>
                <a:cs typeface="Aptos" pitchFamily="34" charset="-120"/>
              </a:rPr>
              <a:t>Official learner guide — Investec Systems Support (NQF Level 5) Learnership</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29800" y="1325880"/>
            <a:ext cx="1737360" cy="1737360"/>
          </a:xfrm>
          <a:prstGeom prst="rect">
            <a:avLst/>
          </a:prstGeom>
        </p:spPr>
      </p:pic>
      <p:sp>
        <p:nvSpPr>
          <p:cNvPr id="9" name="Shape 6"/>
          <p:cNvSpPr/>
          <p:nvPr/>
        </p:nvSpPr>
        <p:spPr>
          <a:xfrm>
            <a:off x="502920" y="4892040"/>
            <a:ext cx="11183112" cy="0"/>
          </a:xfrm>
          <a:prstGeom prst="line">
            <a:avLst/>
          </a:prstGeom>
          <a:noFill/>
          <a:ln w="12700">
            <a:solidFill>
              <a:srgbClr val="1B4272"/>
            </a:solidFill>
            <a:prstDash val="solid"/>
          </a:ln>
        </p:spPr>
      </p:sp>
      <p:sp>
        <p:nvSpPr>
          <p:cNvPr id="10" name="Text 7"/>
          <p:cNvSpPr/>
          <p:nvPr/>
        </p:nvSpPr>
        <p:spPr>
          <a:xfrm>
            <a:off x="502920" y="6309360"/>
            <a:ext cx="11183112" cy="320040"/>
          </a:xfrm>
          <a:prstGeom prst="rect">
            <a:avLst/>
          </a:prstGeom>
          <a:noFill/>
          <a:ln/>
        </p:spPr>
        <p:txBody>
          <a:bodyPr wrap="square" rtlCol="0" anchor="ctr"/>
          <a:lstStyle/>
          <a:p>
            <a:pPr indent="0" marL="0">
              <a:buNone/>
            </a:pPr>
            <a:r>
              <a:rPr lang="en-US" sz="1150" dirty="0">
                <a:solidFill>
                  <a:srgbClr val="6E93BC"/>
                </a:solidFill>
                <a:latin typeface="Aptos" pitchFamily="34" charset="0"/>
                <a:ea typeface="Aptos" pitchFamily="34" charset="-122"/>
                <a:cs typeface="Aptos" pitchFamily="34" charset="-120"/>
              </a:rPr>
              <a:t>Investec · Corporate Banking Technology · IT Systems Support NQF Level 5 (SAQA ID 48573)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LEARNER GUIDE CONTENTS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Competence Requirements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3291840"/>
                <a:gridCol w="7891272"/>
              </a:tblGrid>
              <a:tr h="640080">
                <a:tc>
                  <a:txBody>
                    <a:bodyPr/>
                    <a:lstStyle/>
                    <a:p>
                      <a:pPr indent="0" marL="0">
                        <a:buNone/>
                      </a:pPr>
                      <a:r>
                        <a:rPr lang="en-US" sz="1550" b="1" dirty="0">
                          <a:solidFill>
                            <a:srgbClr val="FFFFFF"/>
                          </a:solidFill>
                          <a:latin typeface="Aptos Display" pitchFamily="34" charset="0"/>
                          <a:ea typeface="Aptos Display" pitchFamily="34" charset="-122"/>
                          <a:cs typeface="Aptos Display" pitchFamily="34" charset="-120"/>
                        </a:rPr>
                        <a:t>Section</a:t>
                      </a:r>
                      <a:endParaRPr lang="en-US" sz="15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50" b="1" dirty="0">
                          <a:solidFill>
                            <a:srgbClr val="FFFFFF"/>
                          </a:solidFill>
                          <a:latin typeface="Aptos Display" pitchFamily="34" charset="0"/>
                          <a:ea typeface="Aptos Display" pitchFamily="34" charset="-122"/>
                          <a:cs typeface="Aptos Display" pitchFamily="34" charset="-120"/>
                        </a:rPr>
                        <a:t>What it covers</a:t>
                      </a:r>
                      <a:endParaRPr lang="en-US" sz="15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Introduction</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What ethics and professionalism mean for a computing professional in South Africa</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The CSSA Constitution</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How the Computer Society of South Africa — today the IITPSA — elevates ICT capability and professionalism</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The CSSA Code of Practice</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Competence, organisation &amp; management, contracting, privacy &amp; security, development, implementation and live systems</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Professional bodies</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CSSA, BITF, ITUC and ITA — who they are and what they do</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The Code of Ethics</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Equality of opportunity, and how the industry fights software piracy in South Africa</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Question Sessions 1 &amp; 2</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Your knowledge of professionalism and ethics is assessed with typed answers</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640080">
                <a:tc>
                  <a:txBody>
                    <a:bodyPr/>
                    <a:lstStyle/>
                    <a:p>
                      <a:pPr indent="0" marL="0">
                        <a:buNone/>
                      </a:pPr>
                      <a:r>
                        <a:rPr lang="en-US" sz="1550" dirty="0">
                          <a:solidFill>
                            <a:srgbClr val="002050"/>
                          </a:solidFill>
                          <a:latin typeface="Aptos" pitchFamily="34" charset="0"/>
                          <a:ea typeface="Aptos" pitchFamily="34" charset="-122"/>
                          <a:cs typeface="Aptos" pitchFamily="34" charset="-120"/>
                        </a:rPr>
                        <a:t>Self-assessment</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50" dirty="0">
                          <a:solidFill>
                            <a:srgbClr val="002050"/>
                          </a:solidFill>
                          <a:latin typeface="Aptos" pitchFamily="34" charset="0"/>
                          <a:ea typeface="Aptos" pitchFamily="34" charset="-122"/>
                          <a:cs typeface="Aptos" pitchFamily="34" charset="-120"/>
                        </a:rPr>
                        <a:t>Check the progress you have made and arrange support to become competent</a:t>
                      </a:r>
                      <a:endParaRPr lang="en-US" sz="15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INTRODUCTION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Ethics &amp; Professionalism for the Computer Industry</a:t>
            </a:r>
            <a:endParaRPr lang="en-US" sz="3200" dirty="0"/>
          </a:p>
        </p:txBody>
      </p:sp>
      <p:sp>
        <p:nvSpPr>
          <p:cNvPr id="7" name="Text 5"/>
          <p:cNvSpPr/>
          <p:nvPr/>
        </p:nvSpPr>
        <p:spPr>
          <a:xfrm>
            <a:off x="502920" y="1691640"/>
            <a:ext cx="11183112" cy="4663440"/>
          </a:xfrm>
          <a:prstGeom prst="rect">
            <a:avLst/>
          </a:prstGeom>
          <a:noFill/>
          <a:ln/>
        </p:spPr>
        <p:txBody>
          <a:bodyPr wrap="square" rtlCol="0" anchor="t"/>
          <a:lstStyle/>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Unit Standard 114055 — Demonstrate an awareness of ethics and professionalism for the computer industry in South Africa — is about knowing how a computing professional is expected to behave: the professional practices that are acceptable and unacceptable, the professional bodies that represent the industry, the codes of practice they publish, and the code of ethics that governs issues such as equality of opportunity and software piracy.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The guide works through two big sections. First, Professionalism and Codes of Practice: the CSSA Constitution and its Code of Practice — competence, organisation and management, contracting, privacy and security, development, implementation and live systems — and the professional bodies CSSA, BITF, ITUC and ITA. Second, the Code of Ethics: equality of opportunity, and how the industry fights software piracy in South Africa.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Read each section carefully. After the lesson, two Question Sessions assess your knowledge with typed answers, and a self-assessment checklist closes the unit.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PROFESSIONALISM &amp; CODES OF PRACTICE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The CSSA Constitution</a:t>
            </a:r>
            <a:endParaRPr lang="en-US" sz="3200" dirty="0"/>
          </a:p>
        </p:txBody>
      </p:sp>
      <p:sp>
        <p:nvSpPr>
          <p:cNvPr id="7" name="Text 5"/>
          <p:cNvSpPr/>
          <p:nvPr/>
        </p:nvSpPr>
        <p:spPr>
          <a:xfrm>
            <a:off x="502920" y="1691640"/>
            <a:ext cx="11183112" cy="2194560"/>
          </a:xfrm>
          <a:prstGeom prst="rect">
            <a:avLst/>
          </a:prstGeom>
          <a:noFill/>
          <a:ln/>
        </p:spPr>
        <p:txBody>
          <a:bodyPr wrap="square" rtlCol="0" anchor="t"/>
          <a:lstStyle/>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The Constitution is an important tool for the Information Society, guiding the way we operate. At the AGM on 22 July 2004 an amended version of the Constitution was adopted; the previous version had been registered in terms of the Companies Act in 1970, so it was updated to reflect today's environment.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The Society (the Computer Society of South Africa) is established to elevate Information and Communications Technology (ICT) capability and professionalism in South Africa.</a:t>
            </a:r>
            <a:endParaRPr lang="en-US" sz="1700" dirty="0"/>
          </a:p>
        </p:txBody>
      </p:sp>
      <p:sp>
        <p:nvSpPr>
          <p:cNvPr id="8" name="Shape 6"/>
          <p:cNvSpPr/>
          <p:nvPr/>
        </p:nvSpPr>
        <p:spPr>
          <a:xfrm>
            <a:off x="502920" y="3977640"/>
            <a:ext cx="11183112" cy="2103120"/>
          </a:xfrm>
          <a:prstGeom prst="roundRect">
            <a:avLst>
              <a:gd name="adj" fmla="val 391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4206240"/>
            <a:ext cx="365760" cy="365760"/>
          </a:xfrm>
          <a:prstGeom prst="rect">
            <a:avLst/>
          </a:prstGeom>
        </p:spPr>
      </p:pic>
      <p:sp>
        <p:nvSpPr>
          <p:cNvPr id="10" name="Text 7"/>
          <p:cNvSpPr/>
          <p:nvPr/>
        </p:nvSpPr>
        <p:spPr>
          <a:xfrm>
            <a:off x="1280160" y="4160520"/>
            <a:ext cx="10131552" cy="1737360"/>
          </a:xfrm>
          <a:prstGeom prst="rect">
            <a:avLst/>
          </a:prstGeom>
          <a:noFill/>
          <a:ln/>
        </p:spPr>
        <p:txBody>
          <a:bodyPr wrap="square" rtlCol="0" anchor="ctr"/>
          <a:lstStyle/>
          <a:p>
            <a:pPr indent="0" marL="0">
              <a:lnSpc>
                <a:spcPct val="110000"/>
              </a:lnSpc>
              <a:buNone/>
            </a:pPr>
            <a:r>
              <a:rPr lang="en-US" sz="1250" b="1" spc="150" kern="0" dirty="0">
                <a:solidFill>
                  <a:srgbClr val="0F6CBD"/>
                </a:solidFill>
                <a:latin typeface="Aptos" pitchFamily="34" charset="0"/>
                <a:ea typeface="Aptos" pitchFamily="34" charset="-122"/>
                <a:cs typeface="Aptos" pitchFamily="34" charset="-120"/>
              </a:rPr>
              <a:t>PURPOSE
</a:t>
            </a:r>
            <a:pPr indent="0" marL="0">
              <a:lnSpc>
                <a:spcPct val="110000"/>
              </a:lnSpc>
              <a:buNone/>
            </a:pPr>
            <a:r>
              <a:rPr lang="en-US" sz="1600" dirty="0">
                <a:solidFill>
                  <a:srgbClr val="002050"/>
                </a:solidFill>
                <a:latin typeface="Aptos" pitchFamily="34" charset="0"/>
                <a:ea typeface="Aptos" pitchFamily="34" charset="-122"/>
                <a:cs typeface="Aptos" pitchFamily="34" charset="-120"/>
              </a:rPr>
              <a:t>To elevate ICT capability and professionalism in South Africa — through the exchange of opinions and views on ICT, representing industry practitioners to inform and lobby Government on ICT policy, and promoting knowledge of ICT to members and the public.</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PROFESSIONALISM &amp; CODES OF PRACTICE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Aims of the Society</a:t>
            </a:r>
            <a:endParaRPr lang="en-US" sz="3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700784"/>
            <a:ext cx="310896" cy="310896"/>
          </a:xfrm>
          <a:prstGeom prst="rect">
            <a:avLst/>
          </a:prstGeom>
        </p:spPr>
      </p:pic>
      <p:sp>
        <p:nvSpPr>
          <p:cNvPr id="8" name="Text 5"/>
          <p:cNvSpPr/>
          <p:nvPr/>
        </p:nvSpPr>
        <p:spPr>
          <a:xfrm>
            <a:off x="1124712" y="1572768"/>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Facilitate the exchange of opinions and views on ICT, and inform and promote knowledge of ICT to members and the public for the development and use of ICT.</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267712"/>
            <a:ext cx="310896" cy="310896"/>
          </a:xfrm>
          <a:prstGeom prst="rect">
            <a:avLst/>
          </a:prstGeom>
        </p:spPr>
      </p:pic>
      <p:sp>
        <p:nvSpPr>
          <p:cNvPr id="10" name="Text 6"/>
          <p:cNvSpPr/>
          <p:nvPr/>
        </p:nvSpPr>
        <p:spPr>
          <a:xfrm>
            <a:off x="1124712" y="2139696"/>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By representing industry practitioners, inform and lobby Government on ICT policy.</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2834640"/>
            <a:ext cx="310896" cy="310896"/>
          </a:xfrm>
          <a:prstGeom prst="rect">
            <a:avLst/>
          </a:prstGeom>
        </p:spPr>
      </p:pic>
      <p:sp>
        <p:nvSpPr>
          <p:cNvPr id="12" name="Text 7"/>
          <p:cNvSpPr/>
          <p:nvPr/>
        </p:nvSpPr>
        <p:spPr>
          <a:xfrm>
            <a:off x="1124712" y="2706624"/>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Obtain information relating to ICT from members and other sources, and disseminate it amongst the public and the Society by means of journals, circulars, publications, lectures, seminars, conferences or otherwise.</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3401568"/>
            <a:ext cx="310896" cy="310896"/>
          </a:xfrm>
          <a:prstGeom prst="rect">
            <a:avLst/>
          </a:prstGeom>
        </p:spPr>
      </p:pic>
      <p:sp>
        <p:nvSpPr>
          <p:cNvPr id="14" name="Text 8"/>
          <p:cNvSpPr/>
          <p:nvPr/>
        </p:nvSpPr>
        <p:spPr>
          <a:xfrm>
            <a:off x="1124712" y="3273552"/>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Improve the technical and general knowledge and elevate the professional status of persons engaged in ICT.</a:t>
            </a:r>
            <a:endParaRPr lang="en-US" sz="13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3968496"/>
            <a:ext cx="310896" cy="310896"/>
          </a:xfrm>
          <a:prstGeom prst="rect">
            <a:avLst/>
          </a:prstGeom>
        </p:spPr>
      </p:pic>
      <p:sp>
        <p:nvSpPr>
          <p:cNvPr id="16" name="Text 9"/>
          <p:cNvSpPr/>
          <p:nvPr/>
        </p:nvSpPr>
        <p:spPr>
          <a:xfrm>
            <a:off x="1124712" y="3840480"/>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Education and training to elevate the level of ICT capability in South Africa.</a:t>
            </a:r>
            <a:endParaRPr lang="en-US" sz="1300" dirty="0"/>
          </a:p>
        </p:txBody>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4535424"/>
            <a:ext cx="310896" cy="310896"/>
          </a:xfrm>
          <a:prstGeom prst="rect">
            <a:avLst/>
          </a:prstGeom>
        </p:spPr>
      </p:pic>
      <p:sp>
        <p:nvSpPr>
          <p:cNvPr id="18" name="Text 10"/>
          <p:cNvSpPr/>
          <p:nvPr/>
        </p:nvSpPr>
        <p:spPr>
          <a:xfrm>
            <a:off x="1124712" y="4407408"/>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Professional development and advancement.</a:t>
            </a:r>
            <a:endParaRPr lang="en-US" sz="1300" dirty="0"/>
          </a:p>
        </p:txBody>
      </p:sp>
      <p:pic>
        <p:nvPicPr>
          <p:cNvPr id="1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8640" y="5102352"/>
            <a:ext cx="310896" cy="310896"/>
          </a:xfrm>
          <a:prstGeom prst="rect">
            <a:avLst/>
          </a:prstGeom>
        </p:spPr>
      </p:pic>
      <p:sp>
        <p:nvSpPr>
          <p:cNvPr id="20" name="Text 11"/>
          <p:cNvSpPr/>
          <p:nvPr/>
        </p:nvSpPr>
        <p:spPr>
          <a:xfrm>
            <a:off x="1124712" y="4974336"/>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Community development that enhances the standards and levels of ICT for the greater good of the South African people.</a:t>
            </a:r>
            <a:endParaRPr lang="en-US" sz="1300" dirty="0"/>
          </a:p>
        </p:txBody>
      </p:sp>
      <p:pic>
        <p:nvPicPr>
          <p:cNvPr id="2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8640" y="5669280"/>
            <a:ext cx="310896" cy="310896"/>
          </a:xfrm>
          <a:prstGeom prst="rect">
            <a:avLst/>
          </a:prstGeom>
        </p:spPr>
      </p:pic>
      <p:sp>
        <p:nvSpPr>
          <p:cNvPr id="22" name="Text 12"/>
          <p:cNvSpPr/>
          <p:nvPr/>
        </p:nvSpPr>
        <p:spPr>
          <a:xfrm>
            <a:off x="1124712" y="5541264"/>
            <a:ext cx="10360152" cy="658368"/>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Do all such other lawful things as are incidental or conducive to the attainment of the above purposes.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PROFESSIONALISM &amp; CODES OF PRACTICE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CSSA Today — the IITPSA</a:t>
            </a:r>
            <a:endParaRPr lang="en-US" sz="3200" dirty="0"/>
          </a:p>
        </p:txBody>
      </p:sp>
      <p:sp>
        <p:nvSpPr>
          <p:cNvPr id="7" name="Text 5"/>
          <p:cNvSpPr/>
          <p:nvPr/>
        </p:nvSpPr>
        <p:spPr>
          <a:xfrm>
            <a:off x="502920" y="1600200"/>
            <a:ext cx="11183112" cy="868680"/>
          </a:xfrm>
          <a:prstGeom prst="rect">
            <a:avLst/>
          </a:prstGeom>
          <a:noFill/>
          <a:ln/>
        </p:spPr>
        <p:txBody>
          <a:bodyPr wrap="square" rtlCol="0" anchor="t"/>
          <a:lstStyle/>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The Computer Society of South Africa (CSSA) is now known as the Institute of Information Technology Professionals South Africa (IITPSA). The legacy CSSA Code of Practice and professional conduct guidelines can now be found through the official IITPSA website (iitpsa.org.za).</a:t>
            </a:r>
            <a:endParaRPr lang="en-US" sz="1500" dirty="0"/>
          </a:p>
        </p:txBody>
      </p:sp>
      <p:sp>
        <p:nvSpPr>
          <p:cNvPr id="8" name="Text 6"/>
          <p:cNvSpPr/>
          <p:nvPr/>
        </p:nvSpPr>
        <p:spPr>
          <a:xfrm>
            <a:off x="502920" y="2395728"/>
            <a:ext cx="11183112" cy="292608"/>
          </a:xfrm>
          <a:prstGeom prst="rect">
            <a:avLst/>
          </a:prstGeom>
          <a:noFill/>
          <a:ln/>
        </p:spPr>
        <p:txBody>
          <a:bodyPr wrap="square" rtlCol="0" anchor="ctr"/>
          <a:lstStyle/>
          <a:p>
            <a:pPr indent="0" marL="0">
              <a:buNone/>
            </a:pPr>
            <a:r>
              <a:rPr lang="en-US" sz="1350" dirty="0">
                <a:solidFill>
                  <a:srgbClr val="002050"/>
                </a:solidFill>
                <a:latin typeface="Aptos" pitchFamily="34" charset="0"/>
                <a:ea typeface="Aptos" pitchFamily="34" charset="-122"/>
                <a:cs typeface="Aptos" pitchFamily="34" charset="-120"/>
              </a:rPr>
              <a:t>Read the Institute's current Constitution: </a:t>
            </a:r>
            <a:pPr indent="0" marL="0">
              <a:buNone/>
            </a:pPr>
            <a:r>
              <a:rPr lang="en-US" sz="1350" b="1" u="sng" dirty="0">
                <a:solidFill>
                  <a:srgbClr val="0F6CBD"/>
                </a:solidFill>
                <a:latin typeface="Aptos" pitchFamily="34" charset="0"/>
                <a:ea typeface="Aptos" pitchFamily="34" charset="-122"/>
                <a:cs typeface="Aptos" pitchFamily="34" charset="-120"/>
                <a:hlinkClick r:id="rId1" invalidUrl="" action="" tgtFrame="" tooltip="IITPSA Constitution" history="1" highlightClick="0" endSnd="0">
                  <a:extLst>
                    <a:ext uri="{A12FA001-AC4F-418D-AE19-62706E023703}">
                      <ahyp:hlinkClr xmlns:ahyp="http://schemas.microsoft.com/office/drawing/2018/hyperlinkcolor" val="tx"/>
                    </a:ext>
                  </a:extLst>
                </a:hlinkClick>
              </a:rPr>
              <a:t>www.iitpsa.org.za/constitution</a:t>
            </a:r>
            <a:endParaRPr lang="en-US" sz="1350" dirty="0"/>
          </a:p>
        </p:txBody>
      </p:sp>
      <p:sp>
        <p:nvSpPr>
          <p:cNvPr id="9" name="Text 7"/>
          <p:cNvSpPr/>
          <p:nvPr/>
        </p:nvSpPr>
        <p:spPr>
          <a:xfrm>
            <a:off x="502920" y="2743200"/>
            <a:ext cx="11183112" cy="274320"/>
          </a:xfrm>
          <a:prstGeom prst="rect">
            <a:avLst/>
          </a:prstGeom>
          <a:noFill/>
          <a:ln/>
        </p:spPr>
        <p:txBody>
          <a:bodyPr wrap="square" rtlCol="0" anchor="ctr"/>
          <a:lstStyle/>
          <a:p>
            <a:pPr indent="0" marL="0">
              <a:buNone/>
            </a:pPr>
            <a:r>
              <a:rPr lang="en-US" sz="1250" b="1" spc="150" kern="0" dirty="0">
                <a:solidFill>
                  <a:srgbClr val="0F6CBD"/>
                </a:solidFill>
                <a:latin typeface="Aptos" pitchFamily="34" charset="0"/>
                <a:ea typeface="Aptos" pitchFamily="34" charset="-122"/>
                <a:cs typeface="Aptos" pitchFamily="34" charset="-120"/>
              </a:rPr>
              <a:t>HOW TO JOIN</a:t>
            </a:r>
            <a:endParaRPr lang="en-US" sz="1250" dirty="0"/>
          </a:p>
        </p:txBody>
      </p:sp>
      <p:sp>
        <p:nvSpPr>
          <p:cNvPr id="10" name="Shape 8"/>
          <p:cNvSpPr/>
          <p:nvPr/>
        </p:nvSpPr>
        <p:spPr>
          <a:xfrm>
            <a:off x="502920" y="3035808"/>
            <a:ext cx="457200" cy="457200"/>
          </a:xfrm>
          <a:prstGeom prst="ellipse">
            <a:avLst/>
          </a:prstGeom>
          <a:solidFill>
            <a:srgbClr val="0F6CBD"/>
          </a:solidFill>
          <a:ln/>
        </p:spPr>
      </p:sp>
      <p:sp>
        <p:nvSpPr>
          <p:cNvPr id="11" name="Text 9"/>
          <p:cNvSpPr/>
          <p:nvPr/>
        </p:nvSpPr>
        <p:spPr>
          <a:xfrm>
            <a:off x="502920" y="3035808"/>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12" name="Text 10"/>
          <p:cNvSpPr/>
          <p:nvPr/>
        </p:nvSpPr>
        <p:spPr>
          <a:xfrm>
            <a:off x="1161288" y="2990088"/>
            <a:ext cx="10360152" cy="338328"/>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Create a profile on the IITPSA Membership Portal.</a:t>
            </a:r>
            <a:endParaRPr lang="en-US" sz="1400" dirty="0"/>
          </a:p>
        </p:txBody>
      </p:sp>
      <p:sp>
        <p:nvSpPr>
          <p:cNvPr id="13" name="Shape 11"/>
          <p:cNvSpPr/>
          <p:nvPr/>
        </p:nvSpPr>
        <p:spPr>
          <a:xfrm>
            <a:off x="502920" y="3511296"/>
            <a:ext cx="457200" cy="457200"/>
          </a:xfrm>
          <a:prstGeom prst="ellipse">
            <a:avLst/>
          </a:prstGeom>
          <a:solidFill>
            <a:srgbClr val="0F6CBD"/>
          </a:solidFill>
          <a:ln/>
        </p:spPr>
      </p:sp>
      <p:sp>
        <p:nvSpPr>
          <p:cNvPr id="14" name="Text 12"/>
          <p:cNvSpPr/>
          <p:nvPr/>
        </p:nvSpPr>
        <p:spPr>
          <a:xfrm>
            <a:off x="502920" y="3511296"/>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2</a:t>
            </a:r>
            <a:endParaRPr lang="en-US" sz="1800" dirty="0"/>
          </a:p>
        </p:txBody>
      </p:sp>
      <p:sp>
        <p:nvSpPr>
          <p:cNvPr id="15" name="Text 13"/>
          <p:cNvSpPr/>
          <p:nvPr/>
        </p:nvSpPr>
        <p:spPr>
          <a:xfrm>
            <a:off x="1161288" y="3465576"/>
            <a:ext cx="10360152" cy="338328"/>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Choose your membership tier.</a:t>
            </a:r>
            <a:endParaRPr lang="en-US" sz="1400" dirty="0"/>
          </a:p>
        </p:txBody>
      </p:sp>
      <p:sp>
        <p:nvSpPr>
          <p:cNvPr id="16" name="Shape 14"/>
          <p:cNvSpPr/>
          <p:nvPr/>
        </p:nvSpPr>
        <p:spPr>
          <a:xfrm>
            <a:off x="502920" y="3986784"/>
            <a:ext cx="457200" cy="457200"/>
          </a:xfrm>
          <a:prstGeom prst="ellipse">
            <a:avLst/>
          </a:prstGeom>
          <a:solidFill>
            <a:srgbClr val="0F6CBD"/>
          </a:solidFill>
          <a:ln/>
        </p:spPr>
      </p:sp>
      <p:sp>
        <p:nvSpPr>
          <p:cNvPr id="17" name="Text 15"/>
          <p:cNvSpPr/>
          <p:nvPr/>
        </p:nvSpPr>
        <p:spPr>
          <a:xfrm>
            <a:off x="502920" y="3986784"/>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8" name="Text 16"/>
          <p:cNvSpPr/>
          <p:nvPr/>
        </p:nvSpPr>
        <p:spPr>
          <a:xfrm>
            <a:off x="1161288" y="3941064"/>
            <a:ext cx="10360152" cy="338328"/>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Submit certified qualifications and a CV.</a:t>
            </a:r>
            <a:endParaRPr lang="en-US" sz="1400" dirty="0"/>
          </a:p>
        </p:txBody>
      </p:sp>
      <p:sp>
        <p:nvSpPr>
          <p:cNvPr id="19" name="Shape 17"/>
          <p:cNvSpPr/>
          <p:nvPr/>
        </p:nvSpPr>
        <p:spPr>
          <a:xfrm>
            <a:off x="502920" y="4462272"/>
            <a:ext cx="457200" cy="457200"/>
          </a:xfrm>
          <a:prstGeom prst="ellipse">
            <a:avLst/>
          </a:prstGeom>
          <a:solidFill>
            <a:srgbClr val="0F6CBD"/>
          </a:solidFill>
          <a:ln/>
        </p:spPr>
      </p:sp>
      <p:sp>
        <p:nvSpPr>
          <p:cNvPr id="20" name="Text 18"/>
          <p:cNvSpPr/>
          <p:nvPr/>
        </p:nvSpPr>
        <p:spPr>
          <a:xfrm>
            <a:off x="502920" y="4462272"/>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4</a:t>
            </a:r>
            <a:endParaRPr lang="en-US" sz="1800" dirty="0"/>
          </a:p>
        </p:txBody>
      </p:sp>
      <p:sp>
        <p:nvSpPr>
          <p:cNvPr id="21" name="Text 19"/>
          <p:cNvSpPr/>
          <p:nvPr/>
        </p:nvSpPr>
        <p:spPr>
          <a:xfrm>
            <a:off x="1161288" y="4416552"/>
            <a:ext cx="10360152" cy="338328"/>
          </a:xfrm>
          <a:prstGeom prst="rect">
            <a:avLst/>
          </a:prstGeom>
          <a:noFill/>
          <a:ln/>
        </p:spPr>
        <p:txBody>
          <a:bodyPr wrap="square" rtlCol="0" anchor="ctr"/>
          <a:lstStyle/>
          <a:p>
            <a:pPr indent="0" marL="0">
              <a:lnSpc>
                <a:spcPct val="105000"/>
              </a:lnSpc>
              <a:buNone/>
            </a:pPr>
            <a:r>
              <a:rPr lang="en-US" sz="1400" dirty="0">
                <a:solidFill>
                  <a:srgbClr val="002050"/>
                </a:solidFill>
                <a:latin typeface="Aptos" pitchFamily="34" charset="0"/>
                <a:ea typeface="Aptos" pitchFamily="34" charset="-122"/>
                <a:cs typeface="Aptos" pitchFamily="34" charset="-120"/>
              </a:rPr>
              <a:t>Pay the relevant application and annual fees.</a:t>
            </a:r>
            <a:endParaRPr lang="en-US" sz="1400" dirty="0"/>
          </a:p>
        </p:txBody>
      </p:sp>
      <p:sp>
        <p:nvSpPr>
          <p:cNvPr id="22" name="Shape 20"/>
          <p:cNvSpPr/>
          <p:nvPr/>
        </p:nvSpPr>
        <p:spPr>
          <a:xfrm>
            <a:off x="502920" y="4937760"/>
            <a:ext cx="11183112" cy="1417320"/>
          </a:xfrm>
          <a:prstGeom prst="roundRect">
            <a:avLst>
              <a:gd name="adj" fmla="val 5806"/>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1520" y="5138928"/>
            <a:ext cx="365760" cy="365760"/>
          </a:xfrm>
          <a:prstGeom prst="rect">
            <a:avLst/>
          </a:prstGeom>
        </p:spPr>
      </p:pic>
      <p:sp>
        <p:nvSpPr>
          <p:cNvPr id="24" name="Text 21"/>
          <p:cNvSpPr/>
          <p:nvPr/>
        </p:nvSpPr>
        <p:spPr>
          <a:xfrm>
            <a:off x="1280160" y="5029200"/>
            <a:ext cx="10131552" cy="1261872"/>
          </a:xfrm>
          <a:prstGeom prst="rect">
            <a:avLst/>
          </a:prstGeom>
          <a:noFill/>
          <a:ln/>
        </p:spPr>
        <p:txBody>
          <a:bodyPr wrap="square" rtlCol="0" anchor="ctr"/>
          <a:lstStyle/>
          <a:p>
            <a:pPr indent="0" marL="0">
              <a:lnSpc>
                <a:spcPct val="108000"/>
              </a:lnSpc>
              <a:buNone/>
            </a:pPr>
            <a:r>
              <a:rPr lang="en-US" sz="1250" b="1" spc="150" kern="0" dirty="0">
                <a:solidFill>
                  <a:srgbClr val="0F6CBD"/>
                </a:solidFill>
                <a:latin typeface="Aptos" pitchFamily="34" charset="0"/>
                <a:ea typeface="Aptos" pitchFamily="34" charset="-122"/>
                <a:cs typeface="Aptos" pitchFamily="34" charset="-120"/>
              </a:rPr>
              <a:t>WHY JOIN?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Professional recognition — the letters MIITPSA (Member), PMIITPSA® (Professional Member) or Pr.CIO® (Professional CIO) after your name identify you as belonging to a professional body · International recognition — grading and admission criteria are maintained in line with international practices · Networking — seminars, workshops, events and Special Interest Groups · Career advancement — companies increasingly recognise IITPSA membership as a prerequisite for promotion.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PROFESSIONALISM &amp; CODES OF PRACTICE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The CSSA Code of Practice — What It Is</a:t>
            </a:r>
            <a:endParaRPr lang="en-US" sz="3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71632" y="475488"/>
            <a:ext cx="868680" cy="868680"/>
          </a:xfrm>
          <a:prstGeom prst="rect">
            <a:avLst/>
          </a:prstGeom>
        </p:spPr>
      </p:pic>
      <p:sp>
        <p:nvSpPr>
          <p:cNvPr id="8" name="Text 5"/>
          <p:cNvSpPr/>
          <p:nvPr/>
        </p:nvSpPr>
        <p:spPr>
          <a:xfrm>
            <a:off x="502920" y="1517904"/>
            <a:ext cx="11183112" cy="384048"/>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Set out by the Computer Society of South Africa — one of, if not the most respected associations concerned with South African Information Technology.</a:t>
            </a:r>
            <a:endParaRPr lang="en-US" sz="1500" dirty="0"/>
          </a:p>
        </p:txBody>
      </p:sp>
      <p:sp>
        <p:nvSpPr>
          <p:cNvPr id="9" name="Shape 6"/>
          <p:cNvSpPr/>
          <p:nvPr/>
        </p:nvSpPr>
        <p:spPr>
          <a:xfrm>
            <a:off x="502920" y="2011680"/>
            <a:ext cx="11183112" cy="1222248"/>
          </a:xfrm>
          <a:prstGeom prst="roundRect">
            <a:avLst>
              <a:gd name="adj" fmla="val 673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0" name="Shape 7"/>
          <p:cNvSpPr/>
          <p:nvPr/>
        </p:nvSpPr>
        <p:spPr>
          <a:xfrm>
            <a:off x="502920" y="2011680"/>
            <a:ext cx="82296" cy="1222248"/>
          </a:xfrm>
          <a:prstGeom prst="rect">
            <a:avLst/>
          </a:prstGeom>
          <a:solidFill>
            <a:srgbClr val="0F6CB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2176272"/>
            <a:ext cx="365760" cy="365760"/>
          </a:xfrm>
          <a:prstGeom prst="rect">
            <a:avLst/>
          </a:prstGeom>
        </p:spPr>
      </p:pic>
      <p:sp>
        <p:nvSpPr>
          <p:cNvPr id="12" name="Text 8"/>
          <p:cNvSpPr/>
          <p:nvPr/>
        </p:nvSpPr>
        <p:spPr>
          <a:xfrm>
            <a:off x="1280160" y="2121408"/>
            <a:ext cx="10131552" cy="10027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A series of statements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 Code is directed to all professional members of the CSSA. It consists, essentially, of a series of statements that prescribe minimum standards of practice to be observed by members.</a:t>
            </a:r>
            <a:endParaRPr lang="en-US" sz="1800" dirty="0"/>
          </a:p>
        </p:txBody>
      </p:sp>
      <p:sp>
        <p:nvSpPr>
          <p:cNvPr id="13" name="Shape 9"/>
          <p:cNvSpPr/>
          <p:nvPr/>
        </p:nvSpPr>
        <p:spPr>
          <a:xfrm>
            <a:off x="502920" y="3435096"/>
            <a:ext cx="11183112" cy="1222248"/>
          </a:xfrm>
          <a:prstGeom prst="roundRect">
            <a:avLst>
              <a:gd name="adj" fmla="val 67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Shape 10"/>
          <p:cNvSpPr/>
          <p:nvPr/>
        </p:nvSpPr>
        <p:spPr>
          <a:xfrm>
            <a:off x="502920" y="3435096"/>
            <a:ext cx="82296" cy="1222248"/>
          </a:xfrm>
          <a:prstGeom prst="rect">
            <a:avLst/>
          </a:prstGeom>
          <a:solidFill>
            <a:srgbClr val="0F6CBD"/>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3599688"/>
            <a:ext cx="365760" cy="365760"/>
          </a:xfrm>
          <a:prstGeom prst="rect">
            <a:avLst/>
          </a:prstGeom>
        </p:spPr>
      </p:pic>
      <p:sp>
        <p:nvSpPr>
          <p:cNvPr id="16" name="Text 11"/>
          <p:cNvSpPr/>
          <p:nvPr/>
        </p:nvSpPr>
        <p:spPr>
          <a:xfrm>
            <a:off x="1280160" y="3544824"/>
            <a:ext cx="10131552" cy="10027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Professional responsibility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All members have responsibilities — to clients, to users, to the State and to society at large. Members who are employees also have responsibilities to their employers and employers' customers and, often, to a Trade Union.</a:t>
            </a:r>
            <a:endParaRPr lang="en-US" sz="1800" dirty="0"/>
          </a:p>
        </p:txBody>
      </p:sp>
      <p:sp>
        <p:nvSpPr>
          <p:cNvPr id="17" name="Shape 12"/>
          <p:cNvSpPr/>
          <p:nvPr/>
        </p:nvSpPr>
        <p:spPr>
          <a:xfrm>
            <a:off x="502920" y="4858512"/>
            <a:ext cx="11183112" cy="1222248"/>
          </a:xfrm>
          <a:prstGeom prst="roundRect">
            <a:avLst>
              <a:gd name="adj" fmla="val 673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8" name="Shape 13"/>
          <p:cNvSpPr/>
          <p:nvPr/>
        </p:nvSpPr>
        <p:spPr>
          <a:xfrm>
            <a:off x="502920" y="4858512"/>
            <a:ext cx="82296" cy="1222248"/>
          </a:xfrm>
          <a:prstGeom prst="rect">
            <a:avLst/>
          </a:prstGeom>
          <a:solidFill>
            <a:srgbClr val="0F6CBD"/>
          </a:solidFill>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023104"/>
            <a:ext cx="365760" cy="365760"/>
          </a:xfrm>
          <a:prstGeom prst="rect">
            <a:avLst/>
          </a:prstGeom>
        </p:spPr>
      </p:pic>
      <p:sp>
        <p:nvSpPr>
          <p:cNvPr id="20" name="Text 14"/>
          <p:cNvSpPr/>
          <p:nvPr/>
        </p:nvSpPr>
        <p:spPr>
          <a:xfrm>
            <a:off x="1280160" y="4968240"/>
            <a:ext cx="10131552" cy="10027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When responsibilities clash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In the event of an apparent clash in responsibilities, obligations or prescribed practice, the Society should be consulted at the earliest opportunity.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PROFESSIONALISM &amp; CODES OF PRACTICE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Reading the Code — As a Whole, In the Spirit, Two Levels</a:t>
            </a:r>
            <a:endParaRPr lang="en-US" sz="3200" dirty="0"/>
          </a:p>
        </p:txBody>
      </p:sp>
      <p:sp>
        <p:nvSpPr>
          <p:cNvPr id="7" name="Text 5"/>
          <p:cNvSpPr/>
          <p:nvPr/>
        </p:nvSpPr>
        <p:spPr>
          <a:xfrm>
            <a:off x="502920" y="1481328"/>
            <a:ext cx="11183112" cy="365760"/>
          </a:xfrm>
          <a:prstGeom prst="rect">
            <a:avLst/>
          </a:prstGeom>
          <a:noFill/>
          <a:ln/>
        </p:spPr>
        <p:txBody>
          <a:bodyPr wrap="square" rtlCol="0" anchor="ctr"/>
          <a:lstStyle/>
          <a:p>
            <a:pPr indent="0" marL="0">
              <a:buNone/>
            </a:pPr>
            <a:r>
              <a:rPr lang="en-US" sz="1450" dirty="0">
                <a:solidFill>
                  <a:srgbClr val="6B7280"/>
                </a:solidFill>
                <a:latin typeface="Aptos" pitchFamily="34" charset="0"/>
                <a:ea typeface="Aptos" pitchFamily="34" charset="-122"/>
                <a:cs typeface="Aptos" pitchFamily="34" charset="-120"/>
              </a:rPr>
              <a:t>Because CSSA membership covers all occupations relevant to the use of computers, the Code is set out in two levels:</a:t>
            </a:r>
            <a:endParaRPr lang="en-US" sz="1450" dirty="0"/>
          </a:p>
        </p:txBody>
      </p:sp>
      <p:sp>
        <p:nvSpPr>
          <p:cNvPr id="8" name="Shape 6"/>
          <p:cNvSpPr/>
          <p:nvPr/>
        </p:nvSpPr>
        <p:spPr>
          <a:xfrm>
            <a:off x="502920" y="1901952"/>
            <a:ext cx="11183112" cy="841248"/>
          </a:xfrm>
          <a:prstGeom prst="roundRect">
            <a:avLst>
              <a:gd name="adj" fmla="val 9783"/>
            </a:avLst>
          </a:prstGeom>
          <a:solidFill>
            <a:srgbClr val="0F6CBD"/>
          </a:solidFill>
          <a:ln w="12700">
            <a:solidFill>
              <a:srgbClr val="0F6CBD"/>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704088" y="2093976"/>
            <a:ext cx="457200" cy="457200"/>
          </a:xfrm>
          <a:prstGeom prst="ellipse">
            <a:avLst/>
          </a:prstGeom>
          <a:solidFill>
            <a:srgbClr val="FFFFFF"/>
          </a:solidFill>
          <a:ln/>
        </p:spPr>
      </p:sp>
      <p:sp>
        <p:nvSpPr>
          <p:cNvPr id="10" name="Text 8"/>
          <p:cNvSpPr/>
          <p:nvPr/>
        </p:nvSpPr>
        <p:spPr>
          <a:xfrm>
            <a:off x="704088" y="2093976"/>
            <a:ext cx="457200" cy="457200"/>
          </a:xfrm>
          <a:prstGeom prst="rect">
            <a:avLst/>
          </a:prstGeom>
          <a:noFill/>
          <a:ln/>
        </p:spPr>
        <p:txBody>
          <a:bodyPr wrap="square" rtlCol="0" anchor="ctr"/>
          <a:lstStyle/>
          <a:p>
            <a:pPr algn="ctr" indent="0" marL="0">
              <a:buNone/>
            </a:pPr>
            <a:r>
              <a:rPr lang="en-US" sz="2000" b="1" dirty="0">
                <a:solidFill>
                  <a:srgbClr val="0F6CBD"/>
                </a:solidFill>
                <a:latin typeface="Aptos Display" pitchFamily="34" charset="0"/>
                <a:ea typeface="Aptos Display" pitchFamily="34" charset="-122"/>
                <a:cs typeface="Aptos Display" pitchFamily="34" charset="-120"/>
              </a:rPr>
              <a:t>1</a:t>
            </a:r>
            <a:endParaRPr lang="en-US" sz="2000" dirty="0"/>
          </a:p>
        </p:txBody>
      </p:sp>
      <p:sp>
        <p:nvSpPr>
          <p:cNvPr id="11" name="Text 9"/>
          <p:cNvSpPr/>
          <p:nvPr/>
        </p:nvSpPr>
        <p:spPr>
          <a:xfrm>
            <a:off x="1325880" y="1956816"/>
            <a:ext cx="10085832" cy="731520"/>
          </a:xfrm>
          <a:prstGeom prst="rect">
            <a:avLst/>
          </a:prstGeom>
          <a:noFill/>
          <a:ln/>
        </p:spPr>
        <p:txBody>
          <a:bodyPr wrap="square" rtlCol="0" anchor="ctr"/>
          <a:lstStyle/>
          <a:p>
            <a:pPr indent="0" marL="0">
              <a:buNone/>
            </a:pPr>
            <a:r>
              <a:rPr lang="en-US" sz="1550" b="1" dirty="0">
                <a:solidFill>
                  <a:srgbClr val="FFFFFF"/>
                </a:solidFill>
                <a:latin typeface="Aptos Display" pitchFamily="34" charset="0"/>
                <a:ea typeface="Aptos Display" pitchFamily="34" charset="-122"/>
                <a:cs typeface="Aptos Display" pitchFamily="34" charset="-120"/>
              </a:rPr>
              <a:t>LEVEL ONE — the practice.  </a:t>
            </a:r>
            <a:pPr indent="0" marL="0">
              <a:buNone/>
            </a:pPr>
            <a:r>
              <a:rPr lang="en-US" sz="1400" dirty="0">
                <a:solidFill>
                  <a:srgbClr val="EAF4FF"/>
                </a:solidFill>
                <a:latin typeface="Aptos" pitchFamily="34" charset="0"/>
                <a:ea typeface="Aptos" pitchFamily="34" charset="-122"/>
                <a:cs typeface="Aptos" pitchFamily="34" charset="-120"/>
              </a:rPr>
              <a:t>A series of brief statements defining the elements of practice to be observed.</a:t>
            </a:r>
            <a:endParaRPr lang="en-US" sz="1550" dirty="0"/>
          </a:p>
        </p:txBody>
      </p:sp>
      <p:sp>
        <p:nvSpPr>
          <p:cNvPr id="12" name="Shape 10"/>
          <p:cNvSpPr/>
          <p:nvPr/>
        </p:nvSpPr>
        <p:spPr>
          <a:xfrm flipV="1">
            <a:off x="5875020" y="2798064"/>
            <a:ext cx="438912" cy="237744"/>
          </a:xfrm>
          <a:prstGeom prst="triangle">
            <a:avLst/>
          </a:prstGeom>
          <a:solidFill>
            <a:srgbClr val="0F6CBD"/>
          </a:solidFill>
          <a:ln/>
        </p:spPr>
      </p:sp>
      <p:sp>
        <p:nvSpPr>
          <p:cNvPr id="13" name="Shape 11"/>
          <p:cNvSpPr/>
          <p:nvPr/>
        </p:nvSpPr>
        <p:spPr>
          <a:xfrm>
            <a:off x="502920" y="3090672"/>
            <a:ext cx="11183112" cy="841248"/>
          </a:xfrm>
          <a:prstGeom prst="roundRect">
            <a:avLst>
              <a:gd name="adj" fmla="val 978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Shape 12"/>
          <p:cNvSpPr/>
          <p:nvPr/>
        </p:nvSpPr>
        <p:spPr>
          <a:xfrm>
            <a:off x="704088" y="3282696"/>
            <a:ext cx="457200" cy="457200"/>
          </a:xfrm>
          <a:prstGeom prst="ellipse">
            <a:avLst/>
          </a:prstGeom>
          <a:solidFill>
            <a:srgbClr val="0F6CBD"/>
          </a:solidFill>
          <a:ln/>
        </p:spPr>
      </p:sp>
      <p:sp>
        <p:nvSpPr>
          <p:cNvPr id="15" name="Text 13"/>
          <p:cNvSpPr/>
          <p:nvPr/>
        </p:nvSpPr>
        <p:spPr>
          <a:xfrm>
            <a:off x="704088" y="3282696"/>
            <a:ext cx="457200" cy="457200"/>
          </a:xfrm>
          <a:prstGeom prst="rect">
            <a:avLst/>
          </a:prstGeom>
          <a:noFill/>
          <a:ln/>
        </p:spPr>
        <p:txBody>
          <a:bodyPr wrap="square"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2</a:t>
            </a:r>
            <a:endParaRPr lang="en-US" sz="2000" dirty="0"/>
          </a:p>
        </p:txBody>
      </p:sp>
      <p:sp>
        <p:nvSpPr>
          <p:cNvPr id="16" name="Text 14"/>
          <p:cNvSpPr/>
          <p:nvPr/>
        </p:nvSpPr>
        <p:spPr>
          <a:xfrm>
            <a:off x="1325880" y="3145536"/>
            <a:ext cx="10085832" cy="731520"/>
          </a:xfrm>
          <a:prstGeom prst="rect">
            <a:avLst/>
          </a:prstGeom>
          <a:noFill/>
          <a:ln/>
        </p:spPr>
        <p:txBody>
          <a:bodyPr wrap="square" rtlCol="0" anchor="ctr"/>
          <a:lstStyle/>
          <a:p>
            <a:pPr indent="0" marL="0">
              <a:buNone/>
            </a:pPr>
            <a:r>
              <a:rPr lang="en-US" sz="1550" b="1" dirty="0">
                <a:solidFill>
                  <a:srgbClr val="002050"/>
                </a:solidFill>
                <a:latin typeface="Aptos Display" pitchFamily="34" charset="0"/>
                <a:ea typeface="Aptos Display" pitchFamily="34" charset="-122"/>
                <a:cs typeface="Aptos Display" pitchFamily="34" charset="-120"/>
              </a:rPr>
              <a:t>LEVEL TWO — the rationale.  </a:t>
            </a:r>
            <a:pPr indent="0" marL="0">
              <a:buNone/>
            </a:pPr>
            <a:r>
              <a:rPr lang="en-US" sz="1400" dirty="0">
                <a:solidFill>
                  <a:srgbClr val="002050"/>
                </a:solidFill>
                <a:latin typeface="Aptos" pitchFamily="34" charset="0"/>
                <a:ea typeface="Aptos" pitchFamily="34" charset="-122"/>
                <a:cs typeface="Aptos" pitchFamily="34" charset="-120"/>
              </a:rPr>
              <a:t>The reasoning behind each Level One statement, so every member can reach appropriate interpretations.</a:t>
            </a:r>
            <a:endParaRPr lang="en-US" sz="1550" dirty="0"/>
          </a:p>
        </p:txBody>
      </p:sp>
      <p:sp>
        <p:nvSpPr>
          <p:cNvPr id="17" name="Shape 15"/>
          <p:cNvSpPr/>
          <p:nvPr/>
        </p:nvSpPr>
        <p:spPr>
          <a:xfrm>
            <a:off x="502920" y="4224528"/>
            <a:ext cx="5454396"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4434840"/>
            <a:ext cx="402336" cy="402336"/>
          </a:xfrm>
          <a:prstGeom prst="rect">
            <a:avLst/>
          </a:prstGeom>
        </p:spPr>
      </p:pic>
      <p:sp>
        <p:nvSpPr>
          <p:cNvPr id="19" name="Text 16"/>
          <p:cNvSpPr/>
          <p:nvPr/>
        </p:nvSpPr>
        <p:spPr>
          <a:xfrm>
            <a:off x="1280160" y="4334256"/>
            <a:ext cx="4494276" cy="969264"/>
          </a:xfrm>
          <a:prstGeom prst="rect">
            <a:avLst/>
          </a:prstGeom>
          <a:noFill/>
          <a:ln/>
        </p:spPr>
        <p:txBody>
          <a:bodyPr wrap="square" rtlCol="0" anchor="ctr"/>
          <a:lstStyle/>
          <a:p>
            <a:pPr indent="0" marL="0">
              <a:lnSpc>
                <a:spcPct val="106000"/>
              </a:lnSpc>
              <a:buNone/>
            </a:pPr>
            <a:r>
              <a:rPr lang="en-US" sz="1550" b="1" dirty="0">
                <a:solidFill>
                  <a:srgbClr val="002050"/>
                </a:solidFill>
                <a:latin typeface="Aptos Display" pitchFamily="34" charset="0"/>
                <a:ea typeface="Aptos Display" pitchFamily="34" charset="-122"/>
                <a:cs typeface="Aptos Display" pitchFamily="34" charset="-120"/>
              </a:rPr>
              <a:t>Viewed as a whole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Individual parts are not to be used in isolation to justify errors of omission or commission.</a:t>
            </a:r>
            <a:endParaRPr lang="en-US" sz="1550" dirty="0"/>
          </a:p>
        </p:txBody>
      </p:sp>
      <p:sp>
        <p:nvSpPr>
          <p:cNvPr id="20" name="Shape 17"/>
          <p:cNvSpPr/>
          <p:nvPr/>
        </p:nvSpPr>
        <p:spPr>
          <a:xfrm>
            <a:off x="6231636" y="4224528"/>
            <a:ext cx="5454396"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60236" y="4434840"/>
            <a:ext cx="402336" cy="402336"/>
          </a:xfrm>
          <a:prstGeom prst="rect">
            <a:avLst/>
          </a:prstGeom>
        </p:spPr>
      </p:pic>
      <p:sp>
        <p:nvSpPr>
          <p:cNvPr id="22" name="Text 18"/>
          <p:cNvSpPr/>
          <p:nvPr/>
        </p:nvSpPr>
        <p:spPr>
          <a:xfrm>
            <a:off x="7008876" y="4334256"/>
            <a:ext cx="4494276" cy="969264"/>
          </a:xfrm>
          <a:prstGeom prst="rect">
            <a:avLst/>
          </a:prstGeom>
          <a:noFill/>
          <a:ln/>
        </p:spPr>
        <p:txBody>
          <a:bodyPr wrap="square" rtlCol="0" anchor="ctr"/>
          <a:lstStyle/>
          <a:p>
            <a:pPr indent="0" marL="0">
              <a:lnSpc>
                <a:spcPct val="106000"/>
              </a:lnSpc>
              <a:buNone/>
            </a:pPr>
            <a:r>
              <a:rPr lang="en-US" sz="1550" b="1" dirty="0">
                <a:solidFill>
                  <a:srgbClr val="002050"/>
                </a:solidFill>
                <a:latin typeface="Aptos Display" pitchFamily="34" charset="0"/>
                <a:ea typeface="Aptos Display" pitchFamily="34" charset="-122"/>
                <a:cs typeface="Aptos Display" pitchFamily="34" charset="-120"/>
              </a:rPr>
              <a:t>Observed in the spirit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The Code is intended to be observed in the spirit — and not merely to the word.</a:t>
            </a:r>
            <a:endParaRPr lang="en-US" sz="1550" dirty="0"/>
          </a:p>
        </p:txBody>
      </p:sp>
      <p:sp>
        <p:nvSpPr>
          <p:cNvPr id="23" name="Shape 19"/>
          <p:cNvSpPr/>
          <p:nvPr/>
        </p:nvSpPr>
        <p:spPr>
          <a:xfrm>
            <a:off x="502920" y="5596128"/>
            <a:ext cx="11183112" cy="713232"/>
          </a:xfrm>
          <a:prstGeom prst="roundRect">
            <a:avLst>
              <a:gd name="adj" fmla="val 1153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5769864"/>
            <a:ext cx="365760" cy="365760"/>
          </a:xfrm>
          <a:prstGeom prst="rect">
            <a:avLst/>
          </a:prstGeom>
        </p:spPr>
      </p:pic>
      <p:sp>
        <p:nvSpPr>
          <p:cNvPr id="25" name="Text 20"/>
          <p:cNvSpPr/>
          <p:nvPr/>
        </p:nvSpPr>
        <p:spPr>
          <a:xfrm>
            <a:off x="1280160" y="5669280"/>
            <a:ext cx="10131552" cy="566928"/>
          </a:xfrm>
          <a:prstGeom prst="rect">
            <a:avLst/>
          </a:prstGeom>
          <a:noFill/>
          <a:ln/>
        </p:spPr>
        <p:txBody>
          <a:bodyPr wrap="square" rtlCol="0" anchor="ctr"/>
          <a:lstStyle/>
          <a:p>
            <a:pPr indent="0" marL="0">
              <a:buNone/>
            </a:pPr>
            <a:r>
              <a:rPr lang="en-US" sz="1350" dirty="0">
                <a:solidFill>
                  <a:srgbClr val="002050"/>
                </a:solidFill>
                <a:latin typeface="Aptos" pitchFamily="34" charset="0"/>
                <a:ea typeface="Aptos" pitchFamily="34" charset="-122"/>
                <a:cs typeface="Aptos" pitchFamily="34" charset="-120"/>
              </a:rPr>
              <a:t>Many clauses may seem to state the obvious — </a:t>
            </a:r>
            <a:pPr indent="0" marL="0">
              <a:buNone/>
            </a:pPr>
            <a:r>
              <a:rPr lang="en-US" sz="1350" b="1" dirty="0">
                <a:solidFill>
                  <a:srgbClr val="002050"/>
                </a:solidFill>
                <a:latin typeface="Aptos" pitchFamily="34" charset="0"/>
                <a:ea typeface="Aptos" pitchFamily="34" charset="-122"/>
                <a:cs typeface="Aptos" pitchFamily="34" charset="-120"/>
              </a:rPr>
              <a:t>but much that goes wrong in computer use does so because the obvious has been overlooked.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1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Personal Competence &amp; Keeping Up to Date</a:t>
            </a:r>
            <a:endParaRPr lang="en-US" sz="3200" dirty="0"/>
          </a:p>
        </p:txBody>
      </p:sp>
      <p:sp>
        <p:nvSpPr>
          <p:cNvPr id="7" name="Text 5"/>
          <p:cNvSpPr/>
          <p:nvPr/>
        </p:nvSpPr>
        <p:spPr>
          <a:xfrm>
            <a:off x="502920" y="1517904"/>
            <a:ext cx="11183112" cy="36576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In the practice of their profession, members will, to the extent that they are responsible:</a:t>
            </a:r>
            <a:endParaRPr lang="en-US" sz="1500" dirty="0"/>
          </a:p>
        </p:txBody>
      </p:sp>
      <p:sp>
        <p:nvSpPr>
          <p:cNvPr id="8" name="Shape 6"/>
          <p:cNvSpPr/>
          <p:nvPr/>
        </p:nvSpPr>
        <p:spPr>
          <a:xfrm>
            <a:off x="502920" y="1965960"/>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86639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30552"/>
            <a:ext cx="365760" cy="365760"/>
          </a:xfrm>
          <a:prstGeom prst="rect">
            <a:avLst/>
          </a:prstGeom>
        </p:spPr>
      </p:pic>
      <p:sp>
        <p:nvSpPr>
          <p:cNvPr id="11" name="Text 8"/>
          <p:cNvSpPr/>
          <p:nvPr/>
        </p:nvSpPr>
        <p:spPr>
          <a:xfrm>
            <a:off x="1280160" y="2075688"/>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1.1 Keep informed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Keep themselves, and subordinates, informed of new technologies, practices, legal requirements and standards relevant to their duties — you cannot retain professional standing by relying on the knowledge you had when you qualified.</a:t>
            </a:r>
            <a:endParaRPr lang="en-US" sz="1700" dirty="0"/>
          </a:p>
        </p:txBody>
      </p:sp>
      <p:sp>
        <p:nvSpPr>
          <p:cNvPr id="12" name="Shape 9"/>
          <p:cNvSpPr/>
          <p:nvPr/>
        </p:nvSpPr>
        <p:spPr>
          <a:xfrm>
            <a:off x="502920" y="3033522"/>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033522"/>
            <a:ext cx="82296" cy="86639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198114"/>
            <a:ext cx="365760" cy="365760"/>
          </a:xfrm>
          <a:prstGeom prst="rect">
            <a:avLst/>
          </a:prstGeom>
        </p:spPr>
      </p:pic>
      <p:sp>
        <p:nvSpPr>
          <p:cNvPr id="15" name="Text 11"/>
          <p:cNvSpPr/>
          <p:nvPr/>
        </p:nvSpPr>
        <p:spPr>
          <a:xfrm>
            <a:off x="1280160" y="3143250"/>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1.2 Train on an equal opportunity basis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Ensure subordinates are trained on an equal opportunity basis, in order to be effective in their duties and to qualify for increased responsibilities.</a:t>
            </a:r>
            <a:endParaRPr lang="en-US" sz="1700" dirty="0"/>
          </a:p>
        </p:txBody>
      </p:sp>
      <p:sp>
        <p:nvSpPr>
          <p:cNvPr id="16" name="Shape 12"/>
          <p:cNvSpPr/>
          <p:nvPr/>
        </p:nvSpPr>
        <p:spPr>
          <a:xfrm>
            <a:off x="502920" y="4101084"/>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101084"/>
            <a:ext cx="82296" cy="86639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265676"/>
            <a:ext cx="365760" cy="365760"/>
          </a:xfrm>
          <a:prstGeom prst="rect">
            <a:avLst/>
          </a:prstGeom>
        </p:spPr>
      </p:pic>
      <p:sp>
        <p:nvSpPr>
          <p:cNvPr id="19" name="Text 14"/>
          <p:cNvSpPr/>
          <p:nvPr/>
        </p:nvSpPr>
        <p:spPr>
          <a:xfrm>
            <a:off x="1280160" y="4210812"/>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1.3 Accept only competent work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Accept only such work as they believe they are competent to perform — always be aware of your own limitations and never knowingly imply competence you do not possess.</a:t>
            </a:r>
            <a:endParaRPr lang="en-US" sz="1700" dirty="0"/>
          </a:p>
        </p:txBody>
      </p:sp>
      <p:sp>
        <p:nvSpPr>
          <p:cNvPr id="20" name="Shape 15"/>
          <p:cNvSpPr/>
          <p:nvPr/>
        </p:nvSpPr>
        <p:spPr>
          <a:xfrm>
            <a:off x="502920" y="5168646"/>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5168646"/>
            <a:ext cx="82296" cy="86639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333238"/>
            <a:ext cx="365760" cy="365760"/>
          </a:xfrm>
          <a:prstGeom prst="rect">
            <a:avLst/>
          </a:prstGeom>
        </p:spPr>
      </p:pic>
      <p:sp>
        <p:nvSpPr>
          <p:cNvPr id="23" name="Text 17"/>
          <p:cNvSpPr/>
          <p:nvPr/>
        </p:nvSpPr>
        <p:spPr>
          <a:xfrm>
            <a:off x="1280160" y="5278374"/>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1.4 Seek efficiency and effectiveness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Actively seek opportunities for increasing efficiency and effectiveness to the benefit of the user and of the ultimate recipient.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2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Organisation &amp; Management</a:t>
            </a:r>
            <a:endParaRPr lang="en-US" sz="3200" dirty="0"/>
          </a:p>
        </p:txBody>
      </p:sp>
      <p:sp>
        <p:nvSpPr>
          <p:cNvPr id="7" name="Text 5"/>
          <p:cNvSpPr/>
          <p:nvPr/>
        </p:nvSpPr>
        <p:spPr>
          <a:xfrm>
            <a:off x="502920" y="1517904"/>
            <a:ext cx="11183112" cy="36576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Computer management is still management — the normal principles applicable to any kind of management apply here also:</a:t>
            </a:r>
            <a:endParaRPr lang="en-US" sz="1500" dirty="0"/>
          </a:p>
        </p:txBody>
      </p:sp>
      <p:sp>
        <p:nvSpPr>
          <p:cNvPr id="8" name="Shape 6"/>
          <p:cNvSpPr/>
          <p:nvPr/>
        </p:nvSpPr>
        <p:spPr>
          <a:xfrm>
            <a:off x="502920" y="1965960"/>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86639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30552"/>
            <a:ext cx="365760" cy="365760"/>
          </a:xfrm>
          <a:prstGeom prst="rect">
            <a:avLst/>
          </a:prstGeom>
        </p:spPr>
      </p:pic>
      <p:sp>
        <p:nvSpPr>
          <p:cNvPr id="11" name="Text 8"/>
          <p:cNvSpPr/>
          <p:nvPr/>
        </p:nvSpPr>
        <p:spPr>
          <a:xfrm>
            <a:off x="1280160" y="2075688"/>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2.1 Plan and review objectives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Plan, establish and review objectives, tasks and organisational structures for themselves and subordinates — it is dangerously easy to become engrossed in the problem of the moment and lose sight of overall objectives.</a:t>
            </a:r>
            <a:endParaRPr lang="en-US" sz="1700" dirty="0"/>
          </a:p>
        </p:txBody>
      </p:sp>
      <p:sp>
        <p:nvSpPr>
          <p:cNvPr id="12" name="Shape 9"/>
          <p:cNvSpPr/>
          <p:nvPr/>
        </p:nvSpPr>
        <p:spPr>
          <a:xfrm>
            <a:off x="502920" y="3033522"/>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033522"/>
            <a:ext cx="82296" cy="86639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198114"/>
            <a:ext cx="365760" cy="365760"/>
          </a:xfrm>
          <a:prstGeom prst="rect">
            <a:avLst/>
          </a:prstGeom>
        </p:spPr>
      </p:pic>
      <p:sp>
        <p:nvSpPr>
          <p:cNvPr id="15" name="Text 11"/>
          <p:cNvSpPr/>
          <p:nvPr/>
        </p:nvSpPr>
        <p:spPr>
          <a:xfrm>
            <a:off x="1280160" y="3143250"/>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2.2 Assign tasks by ability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Ensure that specific tasks are assigned to individuals according to their known ability and competence — delegate work that develops competence and increases motivation.</a:t>
            </a:r>
            <a:endParaRPr lang="en-US" sz="1700" dirty="0"/>
          </a:p>
        </p:txBody>
      </p:sp>
      <p:sp>
        <p:nvSpPr>
          <p:cNvPr id="16" name="Shape 12"/>
          <p:cNvSpPr/>
          <p:nvPr/>
        </p:nvSpPr>
        <p:spPr>
          <a:xfrm>
            <a:off x="502920" y="4101084"/>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101084"/>
            <a:ext cx="82296" cy="86639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265676"/>
            <a:ext cx="365760" cy="365760"/>
          </a:xfrm>
          <a:prstGeom prst="rect">
            <a:avLst/>
          </a:prstGeom>
        </p:spPr>
      </p:pic>
      <p:sp>
        <p:nvSpPr>
          <p:cNvPr id="19" name="Text 14"/>
          <p:cNvSpPr/>
          <p:nvPr/>
        </p:nvSpPr>
        <p:spPr>
          <a:xfrm>
            <a:off x="1280160" y="4210812"/>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2.3 Maintain channels of communication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Establish and maintain channels of communication from and to seniors, equals and subordinates — good communication is vital and can be improved considerably by formal training.</a:t>
            </a:r>
            <a:endParaRPr lang="en-US" sz="1700" dirty="0"/>
          </a:p>
        </p:txBody>
      </p:sp>
      <p:sp>
        <p:nvSpPr>
          <p:cNvPr id="20" name="Shape 15"/>
          <p:cNvSpPr/>
          <p:nvPr/>
        </p:nvSpPr>
        <p:spPr>
          <a:xfrm>
            <a:off x="502920" y="5168646"/>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5168646"/>
            <a:ext cx="82296" cy="86639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333238"/>
            <a:ext cx="365760" cy="365760"/>
          </a:xfrm>
          <a:prstGeom prst="rect">
            <a:avLst/>
          </a:prstGeom>
        </p:spPr>
      </p:pic>
      <p:sp>
        <p:nvSpPr>
          <p:cNvPr id="23" name="Text 17"/>
          <p:cNvSpPr/>
          <p:nvPr/>
        </p:nvSpPr>
        <p:spPr>
          <a:xfrm>
            <a:off x="1280160" y="5278374"/>
            <a:ext cx="10131552" cy="646938"/>
          </a:xfrm>
          <a:prstGeom prst="rect">
            <a:avLst/>
          </a:prstGeom>
          <a:noFill/>
          <a:ln/>
        </p:spPr>
        <p:txBody>
          <a:bodyPr wrap="square" rtlCol="0" anchor="ctr"/>
          <a:lstStyle/>
          <a:p>
            <a:pPr indent="0" marL="0">
              <a:lnSpc>
                <a:spcPct val="108000"/>
              </a:lnSpc>
              <a:buNone/>
            </a:pPr>
            <a:r>
              <a:rPr lang="en-US" sz="1700" b="1" dirty="0">
                <a:solidFill>
                  <a:srgbClr val="002050"/>
                </a:solidFill>
                <a:latin typeface="Aptos Display" pitchFamily="34" charset="0"/>
                <a:ea typeface="Aptos Display" pitchFamily="34" charset="-122"/>
                <a:cs typeface="Aptos Display" pitchFamily="34" charset="-120"/>
              </a:rPr>
              <a:t>2.4 Be accountable
</a:t>
            </a:r>
            <a:pPr indent="0" marL="0">
              <a:lnSpc>
                <a:spcPct val="108000"/>
              </a:lnSpc>
              <a:buNone/>
            </a:pPr>
            <a:r>
              <a:rPr lang="en-US" sz="1350" dirty="0">
                <a:solidFill>
                  <a:srgbClr val="002050"/>
                </a:solidFill>
                <a:latin typeface="Aptos" pitchFamily="34" charset="0"/>
                <a:ea typeface="Aptos" pitchFamily="34" charset="-122"/>
                <a:cs typeface="Aptos" pitchFamily="34" charset="-120"/>
              </a:rPr>
              <a:t>Be accountable for the quality, timeliness and use of resources in the work for which they are responsible — provide a service of agreed quality, on time and within budget, and plan for contingencies.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3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Contracting</a:t>
            </a:r>
            <a:endParaRPr lang="en-US" sz="3200" dirty="0"/>
          </a:p>
        </p:txBody>
      </p:sp>
      <p:sp>
        <p:nvSpPr>
          <p:cNvPr id="7" name="Text 5"/>
          <p:cNvSpPr/>
          <p:nvPr/>
        </p:nvSpPr>
        <p:spPr>
          <a:xfrm>
            <a:off x="502920" y="1517904"/>
            <a:ext cx="11183112" cy="45720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Some formal agreement — even if not a specific contract — is needed before any project is started. Commitment and definition of responsibilities are essential, in advance of action:</a:t>
            </a:r>
            <a:endParaRPr lang="en-US" sz="1500" dirty="0"/>
          </a:p>
        </p:txBody>
      </p:sp>
      <p:sp>
        <p:nvSpPr>
          <p:cNvPr id="8" name="Shape 6"/>
          <p:cNvSpPr/>
          <p:nvPr/>
        </p:nvSpPr>
        <p:spPr>
          <a:xfrm>
            <a:off x="502920" y="2103120"/>
            <a:ext cx="11183112" cy="1865376"/>
          </a:xfrm>
          <a:prstGeom prst="roundRect">
            <a:avLst>
              <a:gd name="adj" fmla="val 441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2103120"/>
            <a:ext cx="82296" cy="1865376"/>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267712"/>
            <a:ext cx="365760" cy="365760"/>
          </a:xfrm>
          <a:prstGeom prst="rect">
            <a:avLst/>
          </a:prstGeom>
        </p:spPr>
      </p:pic>
      <p:sp>
        <p:nvSpPr>
          <p:cNvPr id="11" name="Text 8"/>
          <p:cNvSpPr/>
          <p:nvPr/>
        </p:nvSpPr>
        <p:spPr>
          <a:xfrm>
            <a:off x="1280160" y="2212848"/>
            <a:ext cx="10131552" cy="1645920"/>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3.1 Seek expert advice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Seek expert advice in the preparation of any formal contract — just as you expect to be consulted in your field, be ready to consult other specialists for guidance on contracts, commerce, finance, tax, law or risk evaluation. A badly drawn-up contract or a wrong assessment of a legal situation carries real dangers; many professional bodies provide 'standard contract' forms to reduce problem areas.</a:t>
            </a:r>
            <a:endParaRPr lang="en-US" sz="1850" dirty="0"/>
          </a:p>
        </p:txBody>
      </p:sp>
      <p:sp>
        <p:nvSpPr>
          <p:cNvPr id="12" name="Shape 9"/>
          <p:cNvSpPr/>
          <p:nvPr/>
        </p:nvSpPr>
        <p:spPr>
          <a:xfrm>
            <a:off x="502920" y="4169664"/>
            <a:ext cx="11183112" cy="1865376"/>
          </a:xfrm>
          <a:prstGeom prst="roundRect">
            <a:avLst>
              <a:gd name="adj" fmla="val 4412"/>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169664"/>
            <a:ext cx="82296" cy="1865376"/>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334256"/>
            <a:ext cx="365760" cy="365760"/>
          </a:xfrm>
          <a:prstGeom prst="rect">
            <a:avLst/>
          </a:prstGeom>
        </p:spPr>
      </p:pic>
      <p:sp>
        <p:nvSpPr>
          <p:cNvPr id="15" name="Text 11"/>
          <p:cNvSpPr/>
          <p:nvPr/>
        </p:nvSpPr>
        <p:spPr>
          <a:xfrm>
            <a:off x="1280160" y="4279392"/>
            <a:ext cx="10131552" cy="1645920"/>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3.2 Cover all requirements and responsibilities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Ensure that all requirements and the practical responsibilities of all parties are adequately covered in any contract or tendering procedures — review the totality of the detail, taking care that items such as provision of accommodation, typing, data preparation, responsibility for media security and standby arrangements are not forgotten.</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4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Privacy, Security &amp; Integrity — Evaluating Risk</a:t>
            </a:r>
            <a:endParaRPr lang="en-US" sz="3200" dirty="0"/>
          </a:p>
        </p:txBody>
      </p:sp>
      <p:sp>
        <p:nvSpPr>
          <p:cNvPr id="7" name="Text 5"/>
          <p:cNvSpPr/>
          <p:nvPr/>
        </p:nvSpPr>
        <p:spPr>
          <a:xfrm>
            <a:off x="502920" y="1645920"/>
            <a:ext cx="11183112" cy="192024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A system is at risk from the moment the project that develops it is first conceived, and the risk remains at least until after the system is finally discontinued. Threats to security range from incompetence, accident and carelessness to deliberate theft, fraud, espionage or malicious attack.
</a:t>
            </a:r>
            <a:endParaRPr lang="en-US" sz="1550" dirty="0"/>
          </a:p>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Members must ascertain and evaluate all potential risks with regard to the cost, effectiveness and practicality of proposed levels of security (4.1) — deciding how much should be spent on security in four areas:</a:t>
            </a:r>
            <a:endParaRPr lang="en-US" sz="1550" dirty="0"/>
          </a:p>
        </p:txBody>
      </p:sp>
      <p:sp>
        <p:nvSpPr>
          <p:cNvPr id="8" name="Shape 6"/>
          <p:cNvSpPr/>
          <p:nvPr/>
        </p:nvSpPr>
        <p:spPr>
          <a:xfrm>
            <a:off x="502920" y="3611880"/>
            <a:ext cx="11183112" cy="477774"/>
          </a:xfrm>
          <a:prstGeom prst="roundRect">
            <a:avLst>
              <a:gd name="adj" fmla="val 1722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3611880"/>
            <a:ext cx="82296" cy="47777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3776472"/>
            <a:ext cx="365760" cy="365760"/>
          </a:xfrm>
          <a:prstGeom prst="rect">
            <a:avLst/>
          </a:prstGeom>
        </p:spPr>
      </p:pic>
      <p:sp>
        <p:nvSpPr>
          <p:cNvPr id="11" name="Text 8"/>
          <p:cNvSpPr/>
          <p:nvPr/>
        </p:nvSpPr>
        <p:spPr>
          <a:xfrm>
            <a:off x="1280160" y="3721608"/>
            <a:ext cx="10131552" cy="258318"/>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Protection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Preventing threats from becoming reality.</a:t>
            </a:r>
            <a:endParaRPr lang="en-US" sz="1600" dirty="0"/>
          </a:p>
        </p:txBody>
      </p:sp>
      <p:sp>
        <p:nvSpPr>
          <p:cNvPr id="12" name="Shape 9"/>
          <p:cNvSpPr/>
          <p:nvPr/>
        </p:nvSpPr>
        <p:spPr>
          <a:xfrm>
            <a:off x="502920" y="4290822"/>
            <a:ext cx="11183112" cy="477774"/>
          </a:xfrm>
          <a:prstGeom prst="roundRect">
            <a:avLst>
              <a:gd name="adj" fmla="val 1722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290822"/>
            <a:ext cx="82296" cy="47777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455414"/>
            <a:ext cx="365760" cy="365760"/>
          </a:xfrm>
          <a:prstGeom prst="rect">
            <a:avLst/>
          </a:prstGeom>
        </p:spPr>
      </p:pic>
      <p:sp>
        <p:nvSpPr>
          <p:cNvPr id="15" name="Text 11"/>
          <p:cNvSpPr/>
          <p:nvPr/>
        </p:nvSpPr>
        <p:spPr>
          <a:xfrm>
            <a:off x="1280160" y="4400550"/>
            <a:ext cx="10131552" cy="258318"/>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Detection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In time to take suppressive action.</a:t>
            </a:r>
            <a:endParaRPr lang="en-US" sz="1600" dirty="0"/>
          </a:p>
        </p:txBody>
      </p:sp>
      <p:sp>
        <p:nvSpPr>
          <p:cNvPr id="16" name="Shape 12"/>
          <p:cNvSpPr/>
          <p:nvPr/>
        </p:nvSpPr>
        <p:spPr>
          <a:xfrm>
            <a:off x="502920" y="4969764"/>
            <a:ext cx="11183112" cy="477774"/>
          </a:xfrm>
          <a:prstGeom prst="roundRect">
            <a:avLst>
              <a:gd name="adj" fmla="val 1722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969764"/>
            <a:ext cx="82296" cy="47777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5134356"/>
            <a:ext cx="365760" cy="365760"/>
          </a:xfrm>
          <a:prstGeom prst="rect">
            <a:avLst/>
          </a:prstGeom>
        </p:spPr>
      </p:pic>
      <p:sp>
        <p:nvSpPr>
          <p:cNvPr id="19" name="Text 14"/>
          <p:cNvSpPr/>
          <p:nvPr/>
        </p:nvSpPr>
        <p:spPr>
          <a:xfrm>
            <a:off x="1280160" y="5079492"/>
            <a:ext cx="10131552" cy="258318"/>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Suppression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To limit the effect.</a:t>
            </a:r>
            <a:endParaRPr lang="en-US" sz="1600" dirty="0"/>
          </a:p>
        </p:txBody>
      </p:sp>
      <p:sp>
        <p:nvSpPr>
          <p:cNvPr id="20" name="Shape 15"/>
          <p:cNvSpPr/>
          <p:nvPr/>
        </p:nvSpPr>
        <p:spPr>
          <a:xfrm>
            <a:off x="502920" y="5648706"/>
            <a:ext cx="11183112" cy="477774"/>
          </a:xfrm>
          <a:prstGeom prst="roundRect">
            <a:avLst>
              <a:gd name="adj" fmla="val 1722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5648706"/>
            <a:ext cx="82296" cy="47777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813298"/>
            <a:ext cx="365760" cy="365760"/>
          </a:xfrm>
          <a:prstGeom prst="rect">
            <a:avLst/>
          </a:prstGeom>
        </p:spPr>
      </p:pic>
      <p:sp>
        <p:nvSpPr>
          <p:cNvPr id="23" name="Text 17"/>
          <p:cNvSpPr/>
          <p:nvPr/>
        </p:nvSpPr>
        <p:spPr>
          <a:xfrm>
            <a:off x="1280160" y="5758434"/>
            <a:ext cx="10131552" cy="258318"/>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Recovery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To rectify and get the system going.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4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Privacy, Security &amp; Integrity — The Clauses</a:t>
            </a:r>
            <a:endParaRPr lang="en-US" sz="3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746504"/>
            <a:ext cx="329184" cy="329184"/>
          </a:xfrm>
          <a:prstGeom prst="rect">
            <a:avLst/>
          </a:prstGeom>
        </p:spPr>
      </p:pic>
      <p:sp>
        <p:nvSpPr>
          <p:cNvPr id="8" name="Text 5"/>
          <p:cNvSpPr/>
          <p:nvPr/>
        </p:nvSpPr>
        <p:spPr>
          <a:xfrm>
            <a:off x="1124712" y="1618488"/>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4.2: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Recommend appropriate levels of security, commensurate with the anticipated risks and appropriate to the needs of the client — some areas of risk are mandatory, such as health and safety legislation.</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496312"/>
            <a:ext cx="329184" cy="329184"/>
          </a:xfrm>
          <a:prstGeom prst="rect">
            <a:avLst/>
          </a:prstGeom>
        </p:spPr>
      </p:pic>
      <p:sp>
        <p:nvSpPr>
          <p:cNvPr id="10" name="Text 6"/>
          <p:cNvSpPr/>
          <p:nvPr/>
        </p:nvSpPr>
        <p:spPr>
          <a:xfrm>
            <a:off x="1124712" y="2368296"/>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4.3: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Apply, monitor and report upon the effectiveness of the agreed levels of security — an ongoing security audit keeps people aware of requirements and identifies weaknesses and loopholes.</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3246120"/>
            <a:ext cx="329184" cy="329184"/>
          </a:xfrm>
          <a:prstGeom prst="rect">
            <a:avLst/>
          </a:prstGeom>
        </p:spPr>
      </p:pic>
      <p:sp>
        <p:nvSpPr>
          <p:cNvPr id="12" name="Text 7"/>
          <p:cNvSpPr/>
          <p:nvPr/>
        </p:nvSpPr>
        <p:spPr>
          <a:xfrm>
            <a:off x="1124712" y="3118104"/>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4.4: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all staff are trained to take effective action to protect life, data and equipment (in that order) in the event of disaster — the safety of people comes first.</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3995928"/>
            <a:ext cx="329184" cy="329184"/>
          </a:xfrm>
          <a:prstGeom prst="rect">
            <a:avLst/>
          </a:prstGeom>
        </p:spPr>
      </p:pic>
      <p:sp>
        <p:nvSpPr>
          <p:cNvPr id="14" name="Text 8"/>
          <p:cNvSpPr/>
          <p:nvPr/>
        </p:nvSpPr>
        <p:spPr>
          <a:xfrm>
            <a:off x="1124712" y="3867912"/>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4.5: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Take all reasonable measures to protect confidential information from inadvertent or deliberate improper access or use — your responsibility for confidentiality is at least as great as in other professions.</a:t>
            </a:r>
            <a:endParaRPr lang="en-US" sz="13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4745736"/>
            <a:ext cx="329184" cy="329184"/>
          </a:xfrm>
          <a:prstGeom prst="rect">
            <a:avLst/>
          </a:prstGeom>
        </p:spPr>
      </p:pic>
      <p:sp>
        <p:nvSpPr>
          <p:cNvPr id="16" name="Text 9"/>
          <p:cNvSpPr/>
          <p:nvPr/>
        </p:nvSpPr>
        <p:spPr>
          <a:xfrm>
            <a:off x="1124712" y="4617720"/>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4.6: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competent people are assigned responsibility for the accuracy and integrity of the data in data files and each part of an organisation's database.</a:t>
            </a:r>
            <a:endParaRPr lang="en-US" sz="1300" dirty="0"/>
          </a:p>
        </p:txBody>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5495544"/>
            <a:ext cx="329184" cy="329184"/>
          </a:xfrm>
          <a:prstGeom prst="rect">
            <a:avLst/>
          </a:prstGeom>
        </p:spPr>
      </p:pic>
      <p:sp>
        <p:nvSpPr>
          <p:cNvPr id="18" name="Text 10"/>
          <p:cNvSpPr/>
          <p:nvPr/>
        </p:nvSpPr>
        <p:spPr>
          <a:xfrm>
            <a:off x="1124712" y="5367528"/>
            <a:ext cx="10360152" cy="84124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4.7: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where stored data may be dangerous to an individual, the individual has adequate rights of review, correction and appeal — for example credit information that is incorrect or disputed.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5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Development — Clauses 5.1 to 5.6</a:t>
            </a:r>
            <a:endParaRPr lang="en-US" sz="3200" dirty="0"/>
          </a:p>
        </p:txBody>
      </p:sp>
      <p:sp>
        <p:nvSpPr>
          <p:cNvPr id="7" name="Text 5"/>
          <p:cNvSpPr/>
          <p:nvPr/>
        </p:nvSpPr>
        <p:spPr>
          <a:xfrm>
            <a:off x="502920" y="1517904"/>
            <a:ext cx="11183112" cy="502920"/>
          </a:xfrm>
          <a:prstGeom prst="rect">
            <a:avLst/>
          </a:prstGeom>
          <a:noFill/>
          <a:ln/>
        </p:spPr>
        <p:txBody>
          <a:bodyPr wrap="square" rtlCol="0" anchor="ctr"/>
          <a:lstStyle/>
          <a:p>
            <a:pPr indent="0" marL="0">
              <a:buNone/>
            </a:pPr>
            <a:r>
              <a:rPr lang="en-US" sz="1400" dirty="0">
                <a:solidFill>
                  <a:srgbClr val="6B7280"/>
                </a:solidFill>
                <a:latin typeface="Aptos" pitchFamily="34" charset="0"/>
                <a:ea typeface="Aptos" pitchFamily="34" charset="-122"/>
                <a:cs typeface="Aptos" pitchFamily="34" charset="-120"/>
              </a:rPr>
              <a:t>'Development' means all the work involved to reach the stage where a viable computer system is ready to become operational, including installing the system in its eventual production environment.</a:t>
            </a:r>
            <a:endParaRPr lang="en-US" sz="14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2203704"/>
            <a:ext cx="310896" cy="310896"/>
          </a:xfrm>
          <a:prstGeom prst="rect">
            <a:avLst/>
          </a:prstGeom>
        </p:spPr>
      </p:pic>
      <p:sp>
        <p:nvSpPr>
          <p:cNvPr id="9" name="Text 6"/>
          <p:cNvSpPr/>
          <p:nvPr/>
        </p:nvSpPr>
        <p:spPr>
          <a:xfrm>
            <a:off x="1124712" y="2075688"/>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5.1: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Exercise impartiality when evaluating each project with respect to its technical, moral and economic benefits — do not lose objectivity through enthusiasm for the latest technology.</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862072"/>
            <a:ext cx="310896" cy="310896"/>
          </a:xfrm>
          <a:prstGeom prst="rect">
            <a:avLst/>
          </a:prstGeom>
        </p:spPr>
      </p:pic>
      <p:sp>
        <p:nvSpPr>
          <p:cNvPr id="11" name="Text 7"/>
          <p:cNvSpPr/>
          <p:nvPr/>
        </p:nvSpPr>
        <p:spPr>
          <a:xfrm>
            <a:off x="1124712" y="2734056"/>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5.2: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Effectively plan, monitor, adjust and report on all development, acquisition or replacement projects.</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3520440"/>
            <a:ext cx="310896" cy="310896"/>
          </a:xfrm>
          <a:prstGeom prst="rect">
            <a:avLst/>
          </a:prstGeom>
        </p:spPr>
      </p:pic>
      <p:sp>
        <p:nvSpPr>
          <p:cNvPr id="13" name="Text 8"/>
          <p:cNvSpPr/>
          <p:nvPr/>
        </p:nvSpPr>
        <p:spPr>
          <a:xfrm>
            <a:off x="1124712" y="3392424"/>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5.3: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effective standard procedures and documentation are available and used — standards should not cause inhibiting rigidity but provide a framework.</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4178808"/>
            <a:ext cx="310896" cy="310896"/>
          </a:xfrm>
          <a:prstGeom prst="rect">
            <a:avLst/>
          </a:prstGeom>
        </p:spPr>
      </p:pic>
      <p:sp>
        <p:nvSpPr>
          <p:cNvPr id="15" name="Text 9"/>
          <p:cNvSpPr/>
          <p:nvPr/>
        </p:nvSpPr>
        <p:spPr>
          <a:xfrm>
            <a:off x="1124712" y="4050792"/>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5.4: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Specify the system objectives, completion date, cost and security requirements for the client and the criteria for their achievement — and review objectives regularly on large projects.</a:t>
            </a:r>
            <a:endParaRPr lang="en-US" sz="13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4837176"/>
            <a:ext cx="310896" cy="310896"/>
          </a:xfrm>
          <a:prstGeom prst="rect">
            <a:avLst/>
          </a:prstGeom>
        </p:spPr>
      </p:pic>
      <p:sp>
        <p:nvSpPr>
          <p:cNvPr id="17" name="Text 10"/>
          <p:cNvSpPr/>
          <p:nvPr/>
        </p:nvSpPr>
        <p:spPr>
          <a:xfrm>
            <a:off x="1124712" y="4709160"/>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5.5: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the client can participate in all stages of problem analysis, system development and implementation — the system ultimately belongs to the client.</a:t>
            </a:r>
            <a:endParaRPr lang="en-US" sz="13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5495544"/>
            <a:ext cx="310896" cy="310896"/>
          </a:xfrm>
          <a:prstGeom prst="rect">
            <a:avLst/>
          </a:prstGeom>
        </p:spPr>
      </p:pic>
      <p:sp>
        <p:nvSpPr>
          <p:cNvPr id="19" name="Text 11"/>
          <p:cNvSpPr/>
          <p:nvPr/>
        </p:nvSpPr>
        <p:spPr>
          <a:xfrm>
            <a:off x="1124712" y="5367528"/>
            <a:ext cx="10360152" cy="749808"/>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5.6: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Ensure that each task is completed to a defined level before the next dependent task is started — e.g. do not start writing a program before the specification is complete.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5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Development — Clauses 5.7 to 5.12</a:t>
            </a:r>
            <a:endParaRPr lang="en-US" sz="3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746504"/>
            <a:ext cx="329184" cy="329184"/>
          </a:xfrm>
          <a:prstGeom prst="rect">
            <a:avLst/>
          </a:prstGeom>
        </p:spPr>
      </p:pic>
      <p:sp>
        <p:nvSpPr>
          <p:cNvPr id="8" name="Text 5"/>
          <p:cNvSpPr/>
          <p:nvPr/>
        </p:nvSpPr>
        <p:spPr>
          <a:xfrm>
            <a:off x="1124712" y="1618488"/>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5.7: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Specify and conduct program tests and system tests to prove the system functions as intended — not merely to detect errors — with the client involved.</a:t>
            </a:r>
            <a:endParaRPr lang="en-US" sz="13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496312"/>
            <a:ext cx="329184" cy="329184"/>
          </a:xfrm>
          <a:prstGeom prst="rect">
            <a:avLst/>
          </a:prstGeom>
        </p:spPr>
      </p:pic>
      <p:sp>
        <p:nvSpPr>
          <p:cNvPr id="10" name="Text 6"/>
          <p:cNvSpPr/>
          <p:nvPr/>
        </p:nvSpPr>
        <p:spPr>
          <a:xfrm>
            <a:off x="1124712" y="2368296"/>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5.8: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Ensure that systems are designed and documented to facilitate subsequent audit, maintenance, enhancement and accurate comprehension by users.</a:t>
            </a:r>
            <a:endParaRPr lang="en-US" sz="13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3246120"/>
            <a:ext cx="329184" cy="329184"/>
          </a:xfrm>
          <a:prstGeom prst="rect">
            <a:avLst/>
          </a:prstGeom>
        </p:spPr>
      </p:pic>
      <p:sp>
        <p:nvSpPr>
          <p:cNvPr id="12" name="Text 7"/>
          <p:cNvSpPr/>
          <p:nvPr/>
        </p:nvSpPr>
        <p:spPr>
          <a:xfrm>
            <a:off x="1124712" y="3118104"/>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5.9: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Ensure that input and output are designed to obviate misunderstanding — avoid jargon, unfamiliar codes and abbreviations; use plain language.</a:t>
            </a:r>
            <a:endParaRPr lang="en-US" sz="13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3995928"/>
            <a:ext cx="329184" cy="329184"/>
          </a:xfrm>
          <a:prstGeom prst="rect">
            <a:avLst/>
          </a:prstGeom>
        </p:spPr>
      </p:pic>
      <p:sp>
        <p:nvSpPr>
          <p:cNvPr id="14" name="Text 8"/>
          <p:cNvSpPr/>
          <p:nvPr/>
        </p:nvSpPr>
        <p:spPr>
          <a:xfrm>
            <a:off x="1124712" y="3867912"/>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5.10: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Ensure adequate procedures exist to delete erroneous, redundant and out-of-date data from files.</a:t>
            </a:r>
            <a:endParaRPr lang="en-US" sz="13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4745736"/>
            <a:ext cx="329184" cy="329184"/>
          </a:xfrm>
          <a:prstGeom prst="rect">
            <a:avLst/>
          </a:prstGeom>
        </p:spPr>
      </p:pic>
      <p:sp>
        <p:nvSpPr>
          <p:cNvPr id="16" name="Text 9"/>
          <p:cNvSpPr/>
          <p:nvPr/>
        </p:nvSpPr>
        <p:spPr>
          <a:xfrm>
            <a:off x="1124712" y="4617720"/>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5.11: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Ensure adequate procedures exist to restore data and program files after loss, corruption or system failure — designed in at the start, not after a disaster.</a:t>
            </a:r>
            <a:endParaRPr lang="en-US" sz="1350" dirty="0"/>
          </a:p>
        </p:txBody>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5495544"/>
            <a:ext cx="329184" cy="329184"/>
          </a:xfrm>
          <a:prstGeom prst="rect">
            <a:avLst/>
          </a:prstGeom>
        </p:spPr>
      </p:pic>
      <p:sp>
        <p:nvSpPr>
          <p:cNvPr id="18" name="Text 10"/>
          <p:cNvSpPr/>
          <p:nvPr/>
        </p:nvSpPr>
        <p:spPr>
          <a:xfrm>
            <a:off x="1124712" y="5367528"/>
            <a:ext cx="10360152" cy="841248"/>
          </a:xfrm>
          <a:prstGeom prst="rect">
            <a:avLst/>
          </a:prstGeom>
          <a:noFill/>
          <a:ln/>
        </p:spPr>
        <p:txBody>
          <a:bodyPr wrap="square" rtlCol="0" anchor="ctr"/>
          <a:lstStyle/>
          <a:p>
            <a:pPr indent="0" marL="0">
              <a:lnSpc>
                <a:spcPct val="106000"/>
              </a:lnSpc>
              <a:buNone/>
            </a:pPr>
            <a:r>
              <a:rPr lang="en-US" sz="1350" b="1" dirty="0">
                <a:solidFill>
                  <a:srgbClr val="002050"/>
                </a:solidFill>
                <a:latin typeface="Aptos" pitchFamily="34" charset="0"/>
                <a:ea typeface="Aptos" pitchFamily="34" charset="-122"/>
                <a:cs typeface="Aptos" pitchFamily="34" charset="-120"/>
              </a:rPr>
              <a:t>5.12: </a:t>
            </a:r>
            <a:pPr indent="0" marL="0">
              <a:lnSpc>
                <a:spcPct val="106000"/>
              </a:lnSpc>
              <a:buNone/>
            </a:pPr>
            <a:r>
              <a:rPr lang="en-US" sz="1350" dirty="0">
                <a:solidFill>
                  <a:srgbClr val="002050"/>
                </a:solidFill>
                <a:latin typeface="Aptos" pitchFamily="34" charset="0"/>
                <a:ea typeface="Aptos" pitchFamily="34" charset="-122"/>
                <a:cs typeface="Aptos" pitchFamily="34" charset="-120"/>
              </a:rPr>
              <a:t>Ensure that projects are completed with technical soundness, using the most appropriate technology, within time and cost constraints — the best technology for the client's problem, not necessarily the most sophisticated.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6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Implementation</a:t>
            </a:r>
            <a:endParaRPr lang="en-US" sz="3200" dirty="0"/>
          </a:p>
        </p:txBody>
      </p:sp>
      <p:sp>
        <p:nvSpPr>
          <p:cNvPr id="7" name="Text 5"/>
          <p:cNvSpPr/>
          <p:nvPr/>
        </p:nvSpPr>
        <p:spPr>
          <a:xfrm>
            <a:off x="502920" y="1517904"/>
            <a:ext cx="11183112" cy="36576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Implementation is the transition from development to full operation:</a:t>
            </a:r>
            <a:endParaRPr lang="en-US" sz="1500" dirty="0"/>
          </a:p>
        </p:txBody>
      </p:sp>
      <p:sp>
        <p:nvSpPr>
          <p:cNvPr id="8" name="Shape 6"/>
          <p:cNvSpPr/>
          <p:nvPr/>
        </p:nvSpPr>
        <p:spPr>
          <a:xfrm>
            <a:off x="502920" y="1965960"/>
            <a:ext cx="11183112" cy="1222248"/>
          </a:xfrm>
          <a:prstGeom prst="roundRect">
            <a:avLst>
              <a:gd name="adj" fmla="val 673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1222248"/>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30552"/>
            <a:ext cx="365760" cy="365760"/>
          </a:xfrm>
          <a:prstGeom prst="rect">
            <a:avLst/>
          </a:prstGeom>
        </p:spPr>
      </p:pic>
      <p:sp>
        <p:nvSpPr>
          <p:cNvPr id="11" name="Text 8"/>
          <p:cNvSpPr/>
          <p:nvPr/>
        </p:nvSpPr>
        <p:spPr>
          <a:xfrm>
            <a:off x="1280160" y="2075688"/>
            <a:ext cx="10131552" cy="100279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6.1 Train users and operations staff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Ensure adequate provision is made for user and operations staff training in all functions of the system for which they are responsible — the task is not complete until the system can be used effectively by the client's staff, and training in advance of implementation counters resistance to change.</a:t>
            </a:r>
            <a:endParaRPr lang="en-US" sz="1750" dirty="0"/>
          </a:p>
        </p:txBody>
      </p:sp>
      <p:sp>
        <p:nvSpPr>
          <p:cNvPr id="12" name="Shape 9"/>
          <p:cNvSpPr/>
          <p:nvPr/>
        </p:nvSpPr>
        <p:spPr>
          <a:xfrm>
            <a:off x="502920" y="3389376"/>
            <a:ext cx="11183112" cy="1222248"/>
          </a:xfrm>
          <a:prstGeom prst="roundRect">
            <a:avLst>
              <a:gd name="adj" fmla="val 67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389376"/>
            <a:ext cx="82296" cy="1222248"/>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553968"/>
            <a:ext cx="365760" cy="365760"/>
          </a:xfrm>
          <a:prstGeom prst="rect">
            <a:avLst/>
          </a:prstGeom>
        </p:spPr>
      </p:pic>
      <p:sp>
        <p:nvSpPr>
          <p:cNvPr id="15" name="Text 11"/>
          <p:cNvSpPr/>
          <p:nvPr/>
        </p:nvSpPr>
        <p:spPr>
          <a:xfrm>
            <a:off x="1280160" y="3499104"/>
            <a:ext cx="10131552" cy="100279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6.2 Plan the changeover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Effectively plan, monitor, adjust and report upon all activities concerned with the changeover from development to operational running — all who are affected must be advised of changes and given the opportunity to comment.</a:t>
            </a:r>
            <a:endParaRPr lang="en-US" sz="1750" dirty="0"/>
          </a:p>
        </p:txBody>
      </p:sp>
      <p:sp>
        <p:nvSpPr>
          <p:cNvPr id="16" name="Shape 12"/>
          <p:cNvSpPr/>
          <p:nvPr/>
        </p:nvSpPr>
        <p:spPr>
          <a:xfrm>
            <a:off x="502920" y="4812792"/>
            <a:ext cx="11183112" cy="1222248"/>
          </a:xfrm>
          <a:prstGeom prst="roundRect">
            <a:avLst>
              <a:gd name="adj" fmla="val 673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812792"/>
            <a:ext cx="82296" cy="1222248"/>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977384"/>
            <a:ext cx="365760" cy="365760"/>
          </a:xfrm>
          <a:prstGeom prst="rect">
            <a:avLst/>
          </a:prstGeom>
        </p:spPr>
      </p:pic>
      <p:sp>
        <p:nvSpPr>
          <p:cNvPr id="19" name="Text 14"/>
          <p:cNvSpPr/>
          <p:nvPr/>
        </p:nvSpPr>
        <p:spPr>
          <a:xfrm>
            <a:off x="1280160" y="4922520"/>
            <a:ext cx="10131552" cy="100279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6.3 Complete expeditiously and economically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Ensure expeditious and economic completion of implementation consistent with adequate testing and security — a professional judgement between under- and over-testing; if corners are cut, evaluate the likely effect and make it known.</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CODE OF PRACTICE · 7 OF 7</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Live Systems</a:t>
            </a:r>
            <a:endParaRPr lang="en-US" sz="3200" dirty="0"/>
          </a:p>
        </p:txBody>
      </p:sp>
      <p:sp>
        <p:nvSpPr>
          <p:cNvPr id="7" name="Text 5"/>
          <p:cNvSpPr/>
          <p:nvPr/>
        </p:nvSpPr>
        <p:spPr>
          <a:xfrm>
            <a:off x="502920" y="1517904"/>
            <a:ext cx="11183112" cy="36576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Live Systems covers the ongoing operation of systems handed over by design and development staff:</a:t>
            </a:r>
            <a:endParaRPr lang="en-US" sz="1500" dirty="0"/>
          </a:p>
        </p:txBody>
      </p:sp>
      <p:sp>
        <p:nvSpPr>
          <p:cNvPr id="8" name="Shape 6"/>
          <p:cNvSpPr/>
          <p:nvPr/>
        </p:nvSpPr>
        <p:spPr>
          <a:xfrm>
            <a:off x="502920" y="1965960"/>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86639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30552"/>
            <a:ext cx="365760" cy="365760"/>
          </a:xfrm>
          <a:prstGeom prst="rect">
            <a:avLst/>
          </a:prstGeom>
        </p:spPr>
      </p:pic>
      <p:sp>
        <p:nvSpPr>
          <p:cNvPr id="11" name="Text 8"/>
          <p:cNvSpPr/>
          <p:nvPr/>
        </p:nvSpPr>
        <p:spPr>
          <a:xfrm>
            <a:off x="1280160" y="2075688"/>
            <a:ext cx="10131552" cy="646938"/>
          </a:xfrm>
          <a:prstGeom prst="rect">
            <a:avLst/>
          </a:prstGeom>
          <a:noFill/>
          <a:ln/>
        </p:spPr>
        <p:txBody>
          <a:bodyPr wrap="square" rtlCol="0" anchor="ctr"/>
          <a:lstStyle/>
          <a:p>
            <a:pPr indent="0" marL="0">
              <a:lnSpc>
                <a:spcPct val="108000"/>
              </a:lnSpc>
              <a:buNone/>
            </a:pPr>
            <a:r>
              <a:rPr lang="en-US" sz="1650" b="1" dirty="0">
                <a:solidFill>
                  <a:srgbClr val="002050"/>
                </a:solidFill>
                <a:latin typeface="Aptos Display" pitchFamily="34" charset="0"/>
                <a:ea typeface="Aptos Display" pitchFamily="34" charset="-122"/>
                <a:cs typeface="Aptos Display" pitchFamily="34" charset="-120"/>
              </a:rPr>
              <a:t>7.1 Reliable processing within budget
</a:t>
            </a:r>
            <a:pPr indent="0" marL="0">
              <a:lnSpc>
                <a:spcPct val="108000"/>
              </a:lnSpc>
              <a:buNone/>
            </a:pPr>
            <a:r>
              <a:rPr lang="en-US" sz="1300" dirty="0">
                <a:solidFill>
                  <a:srgbClr val="002050"/>
                </a:solidFill>
                <a:latin typeface="Aptos" pitchFamily="34" charset="0"/>
                <a:ea typeface="Aptos" pitchFamily="34" charset="-122"/>
                <a:cs typeface="Aptos" pitchFamily="34" charset="-120"/>
              </a:rPr>
              <a:t>Plan and operate efficient and reliable processing within defined budgets — users depend on processing services just as they depend on the application software.</a:t>
            </a:r>
            <a:endParaRPr lang="en-US" sz="1650" dirty="0"/>
          </a:p>
        </p:txBody>
      </p:sp>
      <p:sp>
        <p:nvSpPr>
          <p:cNvPr id="12" name="Shape 9"/>
          <p:cNvSpPr/>
          <p:nvPr/>
        </p:nvSpPr>
        <p:spPr>
          <a:xfrm>
            <a:off x="502920" y="3033522"/>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033522"/>
            <a:ext cx="82296" cy="86639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198114"/>
            <a:ext cx="365760" cy="365760"/>
          </a:xfrm>
          <a:prstGeom prst="rect">
            <a:avLst/>
          </a:prstGeom>
        </p:spPr>
      </p:pic>
      <p:sp>
        <p:nvSpPr>
          <p:cNvPr id="15" name="Text 11"/>
          <p:cNvSpPr/>
          <p:nvPr/>
        </p:nvSpPr>
        <p:spPr>
          <a:xfrm>
            <a:off x="1280160" y="3143250"/>
            <a:ext cx="10131552" cy="646938"/>
          </a:xfrm>
          <a:prstGeom prst="rect">
            <a:avLst/>
          </a:prstGeom>
          <a:noFill/>
          <a:ln/>
        </p:spPr>
        <p:txBody>
          <a:bodyPr wrap="square" rtlCol="0" anchor="ctr"/>
          <a:lstStyle/>
          <a:p>
            <a:pPr indent="0" marL="0">
              <a:lnSpc>
                <a:spcPct val="108000"/>
              </a:lnSpc>
              <a:buNone/>
            </a:pPr>
            <a:r>
              <a:rPr lang="en-US" sz="1650" b="1" dirty="0">
                <a:solidFill>
                  <a:srgbClr val="002050"/>
                </a:solidFill>
                <a:latin typeface="Aptos Display" pitchFamily="34" charset="0"/>
                <a:ea typeface="Aptos Display" pitchFamily="34" charset="-122"/>
                <a:cs typeface="Aptos Display" pitchFamily="34" charset="-120"/>
              </a:rPr>
              <a:t>7.2 Monitor performance and quality
</a:t>
            </a:r>
            <a:pPr indent="0" marL="0">
              <a:lnSpc>
                <a:spcPct val="108000"/>
              </a:lnSpc>
              <a:buNone/>
            </a:pPr>
            <a:r>
              <a:rPr lang="en-US" sz="1300" dirty="0">
                <a:solidFill>
                  <a:srgbClr val="002050"/>
                </a:solidFill>
                <a:latin typeface="Aptos" pitchFamily="34" charset="0"/>
                <a:ea typeface="Aptos" pitchFamily="34" charset="-122"/>
                <a:cs typeface="Aptos" pitchFamily="34" charset="-120"/>
              </a:rPr>
              <a:t>Monitor performance and quality and arrange regular reviews of the efficiency, effectiveness and security of live systems — check not only how well the system meets its original objectives, but how it has evolved with current business requirements.</a:t>
            </a:r>
            <a:endParaRPr lang="en-US" sz="1650" dirty="0"/>
          </a:p>
        </p:txBody>
      </p:sp>
      <p:sp>
        <p:nvSpPr>
          <p:cNvPr id="16" name="Shape 12"/>
          <p:cNvSpPr/>
          <p:nvPr/>
        </p:nvSpPr>
        <p:spPr>
          <a:xfrm>
            <a:off x="502920" y="4101084"/>
            <a:ext cx="11183112" cy="866394"/>
          </a:xfrm>
          <a:prstGeom prst="roundRect">
            <a:avLst>
              <a:gd name="adj" fmla="val 949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101084"/>
            <a:ext cx="82296" cy="86639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265676"/>
            <a:ext cx="365760" cy="365760"/>
          </a:xfrm>
          <a:prstGeom prst="rect">
            <a:avLst/>
          </a:prstGeom>
        </p:spPr>
      </p:pic>
      <p:sp>
        <p:nvSpPr>
          <p:cNvPr id="19" name="Text 14"/>
          <p:cNvSpPr/>
          <p:nvPr/>
        </p:nvSpPr>
        <p:spPr>
          <a:xfrm>
            <a:off x="1280160" y="4210812"/>
            <a:ext cx="10131552" cy="646938"/>
          </a:xfrm>
          <a:prstGeom prst="rect">
            <a:avLst/>
          </a:prstGeom>
          <a:noFill/>
          <a:ln/>
        </p:spPr>
        <p:txBody>
          <a:bodyPr wrap="square" rtlCol="0" anchor="ctr"/>
          <a:lstStyle/>
          <a:p>
            <a:pPr indent="0" marL="0">
              <a:lnSpc>
                <a:spcPct val="108000"/>
              </a:lnSpc>
              <a:buNone/>
            </a:pPr>
            <a:r>
              <a:rPr lang="en-US" sz="1650" b="1" dirty="0">
                <a:solidFill>
                  <a:srgbClr val="002050"/>
                </a:solidFill>
                <a:latin typeface="Aptos Display" pitchFamily="34" charset="0"/>
                <a:ea typeface="Aptos Display" pitchFamily="34" charset="-122"/>
                <a:cs typeface="Aptos Display" pitchFamily="34" charset="-120"/>
              </a:rPr>
              <a:t>7.3 Plan maintenance from the start
</a:t>
            </a:r>
            <a:pPr indent="0" marL="0">
              <a:lnSpc>
                <a:spcPct val="108000"/>
              </a:lnSpc>
              <a:buNone/>
            </a:pPr>
            <a:r>
              <a:rPr lang="en-US" sz="1300" dirty="0">
                <a:solidFill>
                  <a:srgbClr val="002050"/>
                </a:solidFill>
                <a:latin typeface="Aptos" pitchFamily="34" charset="0"/>
                <a:ea typeface="Aptos" pitchFamily="34" charset="-122"/>
                <a:cs typeface="Aptos" pitchFamily="34" charset="-120"/>
              </a:rPr>
              <a:t>Plan, from the start of a project, to provide adequate maintenance and enhancement support to live systems — much criticism of computer applications is traceable to their failure to respond to changing conditions.</a:t>
            </a:r>
            <a:endParaRPr lang="en-US" sz="1650" dirty="0"/>
          </a:p>
        </p:txBody>
      </p:sp>
      <p:sp>
        <p:nvSpPr>
          <p:cNvPr id="20" name="Shape 15"/>
          <p:cNvSpPr/>
          <p:nvPr/>
        </p:nvSpPr>
        <p:spPr>
          <a:xfrm>
            <a:off x="502920" y="5168646"/>
            <a:ext cx="11183112" cy="866394"/>
          </a:xfrm>
          <a:prstGeom prst="roundRect">
            <a:avLst>
              <a:gd name="adj" fmla="val 949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5168646"/>
            <a:ext cx="82296" cy="86639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333238"/>
            <a:ext cx="365760" cy="365760"/>
          </a:xfrm>
          <a:prstGeom prst="rect">
            <a:avLst/>
          </a:prstGeom>
        </p:spPr>
      </p:pic>
      <p:sp>
        <p:nvSpPr>
          <p:cNvPr id="23" name="Text 17"/>
          <p:cNvSpPr/>
          <p:nvPr/>
        </p:nvSpPr>
        <p:spPr>
          <a:xfrm>
            <a:off x="1280160" y="5278374"/>
            <a:ext cx="10131552" cy="646938"/>
          </a:xfrm>
          <a:prstGeom prst="rect">
            <a:avLst/>
          </a:prstGeom>
          <a:noFill/>
          <a:ln/>
        </p:spPr>
        <p:txBody>
          <a:bodyPr wrap="square" rtlCol="0" anchor="ctr"/>
          <a:lstStyle/>
          <a:p>
            <a:pPr indent="0" marL="0">
              <a:lnSpc>
                <a:spcPct val="108000"/>
              </a:lnSpc>
              <a:buNone/>
            </a:pPr>
            <a:r>
              <a:rPr lang="en-US" sz="1650" b="1" dirty="0">
                <a:solidFill>
                  <a:srgbClr val="002050"/>
                </a:solidFill>
                <a:latin typeface="Aptos Display" pitchFamily="34" charset="0"/>
                <a:ea typeface="Aptos Display" pitchFamily="34" charset="-122"/>
                <a:cs typeface="Aptos Display" pitchFamily="34" charset="-120"/>
              </a:rPr>
              <a:t>7.4 Establish good liaison with users
</a:t>
            </a:r>
            <a:pPr indent="0" marL="0">
              <a:lnSpc>
                <a:spcPct val="108000"/>
              </a:lnSpc>
              <a:buNone/>
            </a:pPr>
            <a:r>
              <a:rPr lang="en-US" sz="1300" dirty="0">
                <a:solidFill>
                  <a:srgbClr val="002050"/>
                </a:solidFill>
                <a:latin typeface="Aptos" pitchFamily="34" charset="0"/>
                <a:ea typeface="Aptos" pitchFamily="34" charset="-122"/>
                <a:cs typeface="Aptos" pitchFamily="34" charset="-120"/>
              </a:rPr>
              <a:t>Establish good liaison with users and provide proper facilities for dealing with enquiries and day-to-day problems — maintain continuous formal and informal liaison, including channels for emergencies.</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 BODIES IN SOUTH AFRICA</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CSSA &amp; ITUC</a:t>
            </a:r>
            <a:endParaRPr lang="en-US" sz="3200" dirty="0"/>
          </a:p>
        </p:txBody>
      </p:sp>
      <p:sp>
        <p:nvSpPr>
          <p:cNvPr id="7" name="Shape 5"/>
          <p:cNvSpPr/>
          <p:nvPr/>
        </p:nvSpPr>
        <p:spPr>
          <a:xfrm>
            <a:off x="502920" y="1691640"/>
            <a:ext cx="11183112" cy="2071116"/>
          </a:xfrm>
          <a:prstGeom prst="roundRect">
            <a:avLst>
              <a:gd name="adj" fmla="val 3974"/>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91640"/>
            <a:ext cx="82296" cy="2071116"/>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56232"/>
            <a:ext cx="365760" cy="365760"/>
          </a:xfrm>
          <a:prstGeom prst="rect">
            <a:avLst/>
          </a:prstGeom>
        </p:spPr>
      </p:pic>
      <p:sp>
        <p:nvSpPr>
          <p:cNvPr id="10" name="Text 7"/>
          <p:cNvSpPr/>
          <p:nvPr/>
        </p:nvSpPr>
        <p:spPr>
          <a:xfrm>
            <a:off x="1280160" y="1801368"/>
            <a:ext cx="10131552" cy="1851660"/>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CSSA — The Computer Society of South Africa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body from which the Constitution and Code of Practice in this guide are directly derived: one of, if not the most respected associations concerned with South African Information Technology.</a:t>
            </a:r>
            <a:endParaRPr lang="en-US" sz="1900" dirty="0"/>
          </a:p>
        </p:txBody>
      </p:sp>
      <p:sp>
        <p:nvSpPr>
          <p:cNvPr id="11" name="Shape 8"/>
          <p:cNvSpPr/>
          <p:nvPr/>
        </p:nvSpPr>
        <p:spPr>
          <a:xfrm>
            <a:off x="502920" y="3963924"/>
            <a:ext cx="11183112" cy="2071116"/>
          </a:xfrm>
          <a:prstGeom prst="roundRect">
            <a:avLst>
              <a:gd name="adj" fmla="val 397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3963924"/>
            <a:ext cx="82296" cy="2071116"/>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128516"/>
            <a:ext cx="365760" cy="365760"/>
          </a:xfrm>
          <a:prstGeom prst="rect">
            <a:avLst/>
          </a:prstGeom>
        </p:spPr>
      </p:pic>
      <p:sp>
        <p:nvSpPr>
          <p:cNvPr id="14" name="Text 10"/>
          <p:cNvSpPr/>
          <p:nvPr/>
        </p:nvSpPr>
        <p:spPr>
          <a:xfrm>
            <a:off x="1280160" y="4073652"/>
            <a:ext cx="10131552" cy="1851660"/>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ITUC — The International Trade Union Confederation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world's largest trade union federation, formed on 1 November 2006 out of the merger of the International Confederation of Free Trade Unions (ICFTU) and the World Confederation of Labour (WCL). It assists the South African IT market in trading internationally, empowering the market — especially its emerging sector.</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 BODIES IN SOUTH AFRICA</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BITF — The Black Information Technology Forum</a:t>
            </a:r>
            <a:endParaRPr lang="en-US" sz="3200" dirty="0"/>
          </a:p>
        </p:txBody>
      </p:sp>
      <p:sp>
        <p:nvSpPr>
          <p:cNvPr id="7" name="Text 5"/>
          <p:cNvSpPr/>
          <p:nvPr/>
        </p:nvSpPr>
        <p:spPr>
          <a:xfrm>
            <a:off x="502920" y="1691640"/>
            <a:ext cx="11183112" cy="2011680"/>
          </a:xfrm>
          <a:prstGeom prst="rect">
            <a:avLst/>
          </a:prstGeom>
          <a:noFill/>
          <a:ln/>
        </p:spPr>
        <p:txBody>
          <a:bodyPr wrap="square" rtlCol="0" anchor="t"/>
          <a:lstStyle/>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The Black Information Technology Forum was launched in Cape Town in 1995 to propel black individuals into the mainstream of the ICT industry. A Gauteng branch formed in 1997 and the forum became a national organisation in 1998, with branches serving 2 400 members.
</a:t>
            </a:r>
            <a:endParaRPr lang="en-US" sz="1600" dirty="0"/>
          </a:p>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It is the largest organisation representing the interests of black people in South Africa's ICT industry and has considerable credibility with government bodies.</a:t>
            </a:r>
            <a:endParaRPr lang="en-US" sz="1600" dirty="0"/>
          </a:p>
        </p:txBody>
      </p:sp>
      <p:sp>
        <p:nvSpPr>
          <p:cNvPr id="8" name="Text 6"/>
          <p:cNvSpPr/>
          <p:nvPr/>
        </p:nvSpPr>
        <p:spPr>
          <a:xfrm>
            <a:off x="502920" y="3657600"/>
            <a:ext cx="11183112" cy="365760"/>
          </a:xfrm>
          <a:prstGeom prst="rect">
            <a:avLst/>
          </a:prstGeom>
          <a:noFill/>
          <a:ln/>
        </p:spPr>
        <p:txBody>
          <a:bodyPr wrap="square" rtlCol="0" anchor="ctr"/>
          <a:lstStyle/>
          <a:p>
            <a:pPr indent="0" marL="0">
              <a:buNone/>
            </a:pPr>
            <a:r>
              <a:rPr lang="en-US" sz="1700" b="1" dirty="0">
                <a:solidFill>
                  <a:srgbClr val="002050"/>
                </a:solidFill>
                <a:latin typeface="Aptos Display" pitchFamily="34" charset="0"/>
                <a:ea typeface="Aptos Display" pitchFamily="34" charset="-122"/>
                <a:cs typeface="Aptos Display" pitchFamily="34" charset="-120"/>
              </a:rPr>
              <a:t>Its aims:</a:t>
            </a:r>
            <a:endParaRPr lang="en-US" sz="17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169664"/>
            <a:ext cx="292608" cy="292608"/>
          </a:xfrm>
          <a:prstGeom prst="rect">
            <a:avLst/>
          </a:prstGeom>
        </p:spPr>
      </p:pic>
      <p:sp>
        <p:nvSpPr>
          <p:cNvPr id="10" name="Text 7"/>
          <p:cNvSpPr/>
          <p:nvPr/>
        </p:nvSpPr>
        <p:spPr>
          <a:xfrm>
            <a:off x="1124712" y="4041648"/>
            <a:ext cx="10360152" cy="640080"/>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Empower members with technical and business skills, and make members significant role players in the ICT sector.</a:t>
            </a:r>
            <a:endParaRPr lang="en-US" sz="13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4718304"/>
            <a:ext cx="292608" cy="292608"/>
          </a:xfrm>
          <a:prstGeom prst="rect">
            <a:avLst/>
          </a:prstGeom>
        </p:spPr>
      </p:pic>
      <p:sp>
        <p:nvSpPr>
          <p:cNvPr id="12" name="Text 8"/>
          <p:cNvSpPr/>
          <p:nvPr/>
        </p:nvSpPr>
        <p:spPr>
          <a:xfrm>
            <a:off x="1124712" y="4590288"/>
            <a:ext cx="10360152" cy="640080"/>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Improve access to technology for historically disadvantaged communities.</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5266944"/>
            <a:ext cx="292608" cy="292608"/>
          </a:xfrm>
          <a:prstGeom prst="rect">
            <a:avLst/>
          </a:prstGeom>
        </p:spPr>
      </p:pic>
      <p:sp>
        <p:nvSpPr>
          <p:cNvPr id="14" name="Text 9"/>
          <p:cNvSpPr/>
          <p:nvPr/>
        </p:nvSpPr>
        <p:spPr>
          <a:xfrm>
            <a:off x="1124712" y="5138928"/>
            <a:ext cx="10360152" cy="640080"/>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Actively influence policy-making forums, and promote the status of historically disadvantaged individuals and communities in the ICT sector.</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5815584"/>
            <a:ext cx="292608" cy="292608"/>
          </a:xfrm>
          <a:prstGeom prst="rect">
            <a:avLst/>
          </a:prstGeom>
        </p:spPr>
      </p:pic>
      <p:sp>
        <p:nvSpPr>
          <p:cNvPr id="16" name="Text 10"/>
          <p:cNvSpPr/>
          <p:nvPr/>
        </p:nvSpPr>
        <p:spPr>
          <a:xfrm>
            <a:off x="1124712" y="5687568"/>
            <a:ext cx="10360152" cy="640080"/>
          </a:xfrm>
          <a:prstGeom prst="rect">
            <a:avLst/>
          </a:prstGeom>
          <a:noFill/>
          <a:ln/>
        </p:spPr>
        <p:txBody>
          <a:bodyPr wrap="square" rtlCol="0" anchor="ctr"/>
          <a:lstStyle/>
          <a:p>
            <a:pPr indent="0" marL="0">
              <a:lnSpc>
                <a:spcPct val="106000"/>
              </a:lnSpc>
              <a:buNone/>
            </a:pPr>
            <a:r>
              <a:rPr lang="en-US" sz="1300" dirty="0">
                <a:solidFill>
                  <a:srgbClr val="002050"/>
                </a:solidFill>
                <a:latin typeface="Aptos" pitchFamily="34" charset="0"/>
                <a:ea typeface="Aptos" pitchFamily="34" charset="-122"/>
                <a:cs typeface="Aptos" pitchFamily="34" charset="-120"/>
              </a:rPr>
              <a:t>Its two programmes develop skills, internships and experiential training, and promote governance and black economic empowerment (the ABC Programme).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PROFESSIONAL BODIES IN SOUTH AFRICA</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ITA — The Information Technology Association</a:t>
            </a:r>
            <a:endParaRPr lang="en-US" sz="3200" dirty="0"/>
          </a:p>
        </p:txBody>
      </p:sp>
      <p:sp>
        <p:nvSpPr>
          <p:cNvPr id="7" name="Text 5"/>
          <p:cNvSpPr/>
          <p:nvPr/>
        </p:nvSpPr>
        <p:spPr>
          <a:xfrm>
            <a:off x="502920" y="1691640"/>
            <a:ext cx="11183112" cy="2377440"/>
          </a:xfrm>
          <a:prstGeom prst="rect">
            <a:avLst/>
          </a:prstGeom>
          <a:noFill/>
          <a:ln/>
        </p:spPr>
        <p:txBody>
          <a:bodyPr wrap="square" rtlCol="0" anchor="t"/>
          <a:lstStyle/>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The ITA is the official trade and employer body of the ICTe industry, striving to promote consistent standards of professionalism and service. Its purpose, per its Constitution, is to 'represent and promote the interests of its members, which shall be employers active in the Information Technology Sector.'
</a:t>
            </a:r>
            <a:endParaRPr lang="en-US" sz="1500" dirty="0"/>
          </a:p>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Founded in 1934 (as the Transvaal Typewriter and Office Appliance Traders Association), it was renamed the ITA after the amalgamation of the Business Equipment Association and the Computer Services Association. Its primary business is to promote and represent the ICTe industry nationally and internationally, assemble and disseminate information, provide a networking and marketing platform, and encourage interest groups that influence standards, strategies and legislation.</a:t>
            </a:r>
            <a:endParaRPr lang="en-US" sz="1500" dirty="0"/>
          </a:p>
        </p:txBody>
      </p:sp>
      <p:sp>
        <p:nvSpPr>
          <p:cNvPr id="8" name="Text 6"/>
          <p:cNvSpPr/>
          <p:nvPr/>
        </p:nvSpPr>
        <p:spPr>
          <a:xfrm>
            <a:off x="502920" y="4069080"/>
            <a:ext cx="11183112" cy="365760"/>
          </a:xfrm>
          <a:prstGeom prst="rect">
            <a:avLst/>
          </a:prstGeom>
          <a:noFill/>
          <a:ln/>
        </p:spPr>
        <p:txBody>
          <a:bodyPr wrap="square" rtlCol="0" anchor="ctr"/>
          <a:lstStyle/>
          <a:p>
            <a:pPr indent="0" marL="0">
              <a:buNone/>
            </a:pPr>
            <a:r>
              <a:rPr lang="en-US" sz="1600" b="1" dirty="0">
                <a:solidFill>
                  <a:srgbClr val="002050"/>
                </a:solidFill>
                <a:latin typeface="Aptos Display" pitchFamily="34" charset="0"/>
                <a:ea typeface="Aptos Display" pitchFamily="34" charset="-122"/>
                <a:cs typeface="Aptos Display" pitchFamily="34" charset="-120"/>
              </a:rPr>
              <a:t>It operates through an Executive Council and three divisions:</a:t>
            </a:r>
            <a:endParaRPr lang="en-US" sz="16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581144"/>
            <a:ext cx="292608" cy="292608"/>
          </a:xfrm>
          <a:prstGeom prst="rect">
            <a:avLst/>
          </a:prstGeom>
        </p:spPr>
      </p:pic>
      <p:sp>
        <p:nvSpPr>
          <p:cNvPr id="10" name="Text 7"/>
          <p:cNvSpPr/>
          <p:nvPr/>
        </p:nvSpPr>
        <p:spPr>
          <a:xfrm>
            <a:off x="1124712" y="4453128"/>
            <a:ext cx="10360152" cy="640080"/>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ITUC: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The Information Technology Users Council — guaranteeing the authenticity and credibility of examinations.</a:t>
            </a:r>
            <a:endParaRPr lang="en-US" sz="13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5129784"/>
            <a:ext cx="292608" cy="292608"/>
          </a:xfrm>
          <a:prstGeom prst="rect">
            <a:avLst/>
          </a:prstGeom>
        </p:spPr>
      </p:pic>
      <p:sp>
        <p:nvSpPr>
          <p:cNvPr id="12" name="Text 8"/>
          <p:cNvSpPr/>
          <p:nvPr/>
        </p:nvSpPr>
        <p:spPr>
          <a:xfrm>
            <a:off x="1124712" y="5001768"/>
            <a:ext cx="10360152" cy="640080"/>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ITARCS: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The Recruitment Consultancy Services Group — recruitment and contracting issues under the Labour Relations Act.</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5678424"/>
            <a:ext cx="292608" cy="292608"/>
          </a:xfrm>
          <a:prstGeom prst="rect">
            <a:avLst/>
          </a:prstGeom>
        </p:spPr>
      </p:pic>
      <p:sp>
        <p:nvSpPr>
          <p:cNvPr id="14" name="Text 9"/>
          <p:cNvSpPr/>
          <p:nvPr/>
        </p:nvSpPr>
        <p:spPr>
          <a:xfrm>
            <a:off x="1124712" y="5550408"/>
            <a:ext cx="10360152" cy="640080"/>
          </a:xfrm>
          <a:prstGeom prst="rect">
            <a:avLst/>
          </a:prstGeom>
          <a:noFill/>
          <a:ln/>
        </p:spPr>
        <p:txBody>
          <a:bodyPr wrap="square" rtlCol="0" anchor="ctr"/>
          <a:lstStyle/>
          <a:p>
            <a:pPr indent="0" marL="0">
              <a:lnSpc>
                <a:spcPct val="106000"/>
              </a:lnSpc>
              <a:buNone/>
            </a:pPr>
            <a:r>
              <a:rPr lang="en-US" sz="1300" b="1" dirty="0">
                <a:solidFill>
                  <a:srgbClr val="002050"/>
                </a:solidFill>
                <a:latin typeface="Aptos" pitchFamily="34" charset="0"/>
                <a:ea typeface="Aptos" pitchFamily="34" charset="-122"/>
                <a:cs typeface="Aptos" pitchFamily="34" charset="-120"/>
              </a:rPr>
              <a:t>PAG: </a:t>
            </a:r>
            <a:pPr indent="0" marL="0">
              <a:lnSpc>
                <a:spcPct val="106000"/>
              </a:lnSpc>
              <a:buNone/>
            </a:pPr>
            <a:r>
              <a:rPr lang="en-US" sz="1300" dirty="0">
                <a:solidFill>
                  <a:srgbClr val="002050"/>
                </a:solidFill>
                <a:latin typeface="Aptos" pitchFamily="34" charset="0"/>
                <a:ea typeface="Aptos" pitchFamily="34" charset="-122"/>
                <a:cs typeface="Aptos" pitchFamily="34" charset="-120"/>
              </a:rPr>
              <a:t>The Payroll Authors Group — liaising with government so payroll software incorporates legislative changes.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The Music Piracy Example</a:t>
            </a:r>
            <a:endParaRPr lang="en-US" sz="3200" dirty="0"/>
          </a:p>
        </p:txBody>
      </p:sp>
      <p:sp>
        <p:nvSpPr>
          <p:cNvPr id="7" name="Text 5"/>
          <p:cNvSpPr/>
          <p:nvPr/>
        </p:nvSpPr>
        <p:spPr>
          <a:xfrm>
            <a:off x="502920" y="1691640"/>
            <a:ext cx="11183112" cy="4663440"/>
          </a:xfrm>
          <a:prstGeom prst="rect">
            <a:avLst/>
          </a:prstGeom>
          <a:noFill/>
          <a:ln/>
        </p:spPr>
        <p:txBody>
          <a:bodyPr wrap="square" rtlCol="0" anchor="t"/>
          <a:lstStyle/>
          <a:p>
            <a:pPr indent="0" marL="0">
              <a:lnSpc>
                <a:spcPct val="112000"/>
              </a:lnSpc>
              <a:spcAft>
                <a:spcPts val="1200"/>
              </a:spcAft>
              <a:buNone/>
            </a:pPr>
            <a:r>
              <a:rPr lang="en-US" sz="1450" dirty="0">
                <a:solidFill>
                  <a:srgbClr val="002050"/>
                </a:solidFill>
                <a:latin typeface="Aptos" pitchFamily="34" charset="0"/>
                <a:ea typeface="Aptos" pitchFamily="34" charset="-122"/>
                <a:cs typeface="Aptos" pitchFamily="34" charset="-120"/>
              </a:rPr>
              <a:t>'Piracy' is generally considered to include: (a) pirate recordings, where just the music is copied, usually by ordinary people on a not-for-profit basis; (b) counterfeiting, which copies the music and the packaging and attempts to pass the copy off as the real thing; (c) online piracy — the same, done via the internet; and (d) bootlegging — recording and trading a performance (usually a live concert) that has not been officially released.
</a:t>
            </a:r>
            <a:endParaRPr lang="en-US" sz="1450" dirty="0"/>
          </a:p>
          <a:p>
            <a:pPr indent="0" marL="0">
              <a:lnSpc>
                <a:spcPct val="112000"/>
              </a:lnSpc>
              <a:spcAft>
                <a:spcPts val="1200"/>
              </a:spcAft>
              <a:buNone/>
            </a:pPr>
            <a:r>
              <a:rPr lang="en-US" sz="1450" dirty="0">
                <a:solidFill>
                  <a:srgbClr val="002050"/>
                </a:solidFill>
                <a:latin typeface="Aptos" pitchFamily="34" charset="0"/>
                <a:ea typeface="Aptos" pitchFamily="34" charset="-122"/>
                <a:cs typeface="Aptos" pitchFamily="34" charset="-120"/>
              </a:rPr>
              <a:t>RIAA, the Recording Industry Association of America, claims the recording industry 'loses' around 4.2 billion US dollars to piracy each year — a figure reached by inferring that each pirate transaction represents a lost legitimate sale, which is overly simplistic. Even so, full-blown counterfeiting is both illegal and unethical, and we ought not to support it by buying cheap counterfeits at flea markets and from street traders.
</a:t>
            </a:r>
            <a:endParaRPr lang="en-US" sz="1450" dirty="0"/>
          </a:p>
          <a:p>
            <a:pPr indent="0" marL="0">
              <a:lnSpc>
                <a:spcPct val="112000"/>
              </a:lnSpc>
              <a:spcAft>
                <a:spcPts val="1200"/>
              </a:spcAft>
              <a:buNone/>
            </a:pPr>
            <a:r>
              <a:rPr lang="en-US" sz="1450" dirty="0">
                <a:solidFill>
                  <a:srgbClr val="002050"/>
                </a:solidFill>
                <a:latin typeface="Aptos" pitchFamily="34" charset="0"/>
                <a:ea typeface="Aptos" pitchFamily="34" charset="-122"/>
                <a:cs typeface="Aptos" pitchFamily="34" charset="-120"/>
              </a:rPr>
              <a:t>Some 'home pirates' see themselves as modern-day Robin Hoods — but the argument does not hold. In a free market the way to drive an overpriced product's price down is not to buy it; and if protest is really your goal, copying a friend's CD is not an effective protest. The ethical answer: if you really like the CD, buy a legitimate copy and discard the pirated one.</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Software Piracy in South Africa — The Scale</a:t>
            </a:r>
            <a:endParaRPr lang="en-US" sz="3200" dirty="0"/>
          </a:p>
        </p:txBody>
      </p:sp>
      <p:sp>
        <p:nvSpPr>
          <p:cNvPr id="7" name="Text 5"/>
          <p:cNvSpPr/>
          <p:nvPr/>
        </p:nvSpPr>
        <p:spPr>
          <a:xfrm>
            <a:off x="502920" y="1691640"/>
            <a:ext cx="11183112" cy="466344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Half of the software in use in South Africa has been illegal — not paid for, or pirated. In the US about 30% of software is pirated, in the UK 35%, and in the rest of Africa the rate runs into the 90% range. BSA figures showed South Africa's rate rising to 49% (from 48%) even as the worldwide rate fell to 38% — a retail revenue loss to the local software industry of R580-million. 'For almost every copy of software sold, another is pirated or stolen,' said Microsoft South Africa's director of legalisation.
</a:t>
            </a:r>
            <a:endParaRPr lang="en-US" sz="1550" dirty="0"/>
          </a:p>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The Business Software Alliance (BSA) — an anti-piracy umbrella body made up of large software companies — recovered R300 000 in out-of-court settlements and committed to prosecuting offenders to the full extent of the law. Illegal copying and distribution of software is the main obstacle to the growth of the software sector, with worldwide industry losses estimated at US$11-billion in 1998.</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Software Piracy — Jobs, Losses &amp; the Law</a:t>
            </a:r>
            <a:endParaRPr lang="en-US" sz="3200" dirty="0"/>
          </a:p>
        </p:txBody>
      </p:sp>
      <p:sp>
        <p:nvSpPr>
          <p:cNvPr id="7" name="Text 5"/>
          <p:cNvSpPr/>
          <p:nvPr/>
        </p:nvSpPr>
        <p:spPr>
          <a:xfrm>
            <a:off x="502920" y="1691640"/>
            <a:ext cx="11183112" cy="4663440"/>
          </a:xfrm>
          <a:prstGeom prst="rect">
            <a:avLst/>
          </a:prstGeom>
          <a:noFill/>
          <a:ln/>
        </p:spPr>
        <p:txBody>
          <a:bodyPr wrap="square" rtlCol="0" anchor="t"/>
          <a:lstStyle/>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By 2006 about 36% of the software used by South African businesses was illegal, depriving more than 30 000 people of jobs in the multibillion-rand IT industry and representing at least R1,2bn in economic losses. 'Software piracy remains one of the major hurdles to realising the potential of the information economy in South Africa, on the continent and around the world,' said the BSA's local chairperson.
</a:t>
            </a:r>
            <a:endParaRPr lang="en-US" sz="1500" dirty="0"/>
          </a:p>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Globally, piracy was most prevalent in Zimbabwe and Vietnam (90%); the African average topped 70%. BSA calculated that dropping the global piracy rate from 35% to 25% would create about 2,4 million new jobs and add $67bn in tax revenues worldwide.
</a:t>
            </a:r>
            <a:endParaRPr lang="en-US" sz="1500" dirty="0"/>
          </a:p>
          <a:p>
            <a:pPr indent="0" marL="0">
              <a:lnSpc>
                <a:spcPct val="112000"/>
              </a:lnSpc>
              <a:spcAft>
                <a:spcPts val="1200"/>
              </a:spcAft>
              <a:buNone/>
            </a:pPr>
            <a:r>
              <a:rPr lang="en-US" sz="1500" dirty="0">
                <a:solidFill>
                  <a:srgbClr val="002050"/>
                </a:solidFill>
                <a:latin typeface="Aptos" pitchFamily="34" charset="0"/>
                <a:ea typeface="Aptos" pitchFamily="34" charset="-122"/>
                <a:cs typeface="Aptos" pitchFamily="34" charset="-120"/>
              </a:rPr>
              <a:t>South African law does allow enforcement of copyright violation: the Intellectual Property Laws Amendment Act (effective 1 October 1997) brought South Africa closer to compliance with its World Trade Organisation TRIPS obligations, especially in protection for computer programs, compilations of data and databases, and audio-visual works.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What Is Piracy? — The Forms of Software Piracy</a:t>
            </a:r>
            <a:endParaRPr lang="en-US" sz="3200" dirty="0"/>
          </a:p>
        </p:txBody>
      </p:sp>
      <p:sp>
        <p:nvSpPr>
          <p:cNvPr id="7" name="Text 5"/>
          <p:cNvSpPr/>
          <p:nvPr/>
        </p:nvSpPr>
        <p:spPr>
          <a:xfrm>
            <a:off x="502920" y="1517904"/>
            <a:ext cx="11183112" cy="777240"/>
          </a:xfrm>
          <a:prstGeom prst="rect">
            <a:avLst/>
          </a:prstGeom>
          <a:noFill/>
          <a:ln/>
        </p:spPr>
        <p:txBody>
          <a:bodyPr wrap="square" rtlCol="0" anchor="ctr"/>
          <a:lstStyle/>
          <a:p>
            <a:pPr indent="0" marL="0">
              <a:lnSpc>
                <a:spcPct val="110000"/>
              </a:lnSpc>
              <a:buNone/>
            </a:pPr>
            <a:r>
              <a:rPr lang="en-US" sz="1450" dirty="0">
                <a:solidFill>
                  <a:srgbClr val="002050"/>
                </a:solidFill>
                <a:latin typeface="Aptos" pitchFamily="34" charset="0"/>
                <a:ea typeface="Aptos" pitchFamily="34" charset="-122"/>
                <a:cs typeface="Aptos" pitchFamily="34" charset="-120"/>
              </a:rPr>
              <a:t>Software piracy is the failure to comply with software licence agreements. Piracy, in any form, is an unlawful action and offenders are liable to either civil or criminal prosecution. All software users and resellers must understand the different forms of software piracy in order to comply with the law and protect themselves and their business.</a:t>
            </a:r>
            <a:endParaRPr lang="en-US" sz="1450" dirty="0"/>
          </a:p>
        </p:txBody>
      </p:sp>
      <p:sp>
        <p:nvSpPr>
          <p:cNvPr id="8" name="Shape 6"/>
          <p:cNvSpPr/>
          <p:nvPr/>
        </p:nvSpPr>
        <p:spPr>
          <a:xfrm>
            <a:off x="502920" y="2423160"/>
            <a:ext cx="11183112" cy="1085088"/>
          </a:xfrm>
          <a:prstGeom prst="roundRect">
            <a:avLst>
              <a:gd name="adj" fmla="val 7584"/>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2423160"/>
            <a:ext cx="82296" cy="1085088"/>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587752"/>
            <a:ext cx="365760" cy="365760"/>
          </a:xfrm>
          <a:prstGeom prst="rect">
            <a:avLst/>
          </a:prstGeom>
        </p:spPr>
      </p:pic>
      <p:sp>
        <p:nvSpPr>
          <p:cNvPr id="11" name="Text 8"/>
          <p:cNvSpPr/>
          <p:nvPr/>
        </p:nvSpPr>
        <p:spPr>
          <a:xfrm>
            <a:off x="1280160" y="2532888"/>
            <a:ext cx="10131552" cy="86563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End User Copying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A licensed software user passes their software on to friends, business colleagues and family to copy indiscriminately; or, with volume licences, users and businesses under-report the number of computers on which the software is installed.</a:t>
            </a:r>
            <a:endParaRPr lang="en-US" sz="1750" dirty="0"/>
          </a:p>
        </p:txBody>
      </p:sp>
      <p:sp>
        <p:nvSpPr>
          <p:cNvPr id="12" name="Shape 9"/>
          <p:cNvSpPr/>
          <p:nvPr/>
        </p:nvSpPr>
        <p:spPr>
          <a:xfrm>
            <a:off x="502920" y="3709416"/>
            <a:ext cx="11183112" cy="1085088"/>
          </a:xfrm>
          <a:prstGeom prst="roundRect">
            <a:avLst>
              <a:gd name="adj" fmla="val 758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709416"/>
            <a:ext cx="82296" cy="1085088"/>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874008"/>
            <a:ext cx="365760" cy="365760"/>
          </a:xfrm>
          <a:prstGeom prst="rect">
            <a:avLst/>
          </a:prstGeom>
        </p:spPr>
      </p:pic>
      <p:sp>
        <p:nvSpPr>
          <p:cNvPr id="15" name="Text 11"/>
          <p:cNvSpPr/>
          <p:nvPr/>
        </p:nvSpPr>
        <p:spPr>
          <a:xfrm>
            <a:off x="1280160" y="3819144"/>
            <a:ext cx="10131552" cy="86563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Reseller Copying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Resellers pass their software on to their clients.</a:t>
            </a:r>
            <a:endParaRPr lang="en-US" sz="1750" dirty="0"/>
          </a:p>
        </p:txBody>
      </p:sp>
      <p:sp>
        <p:nvSpPr>
          <p:cNvPr id="16" name="Shape 12"/>
          <p:cNvSpPr/>
          <p:nvPr/>
        </p:nvSpPr>
        <p:spPr>
          <a:xfrm>
            <a:off x="502920" y="4995672"/>
            <a:ext cx="11183112" cy="1085088"/>
          </a:xfrm>
          <a:prstGeom prst="roundRect">
            <a:avLst>
              <a:gd name="adj" fmla="val 7584"/>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995672"/>
            <a:ext cx="82296" cy="1085088"/>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5160264"/>
            <a:ext cx="365760" cy="365760"/>
          </a:xfrm>
          <a:prstGeom prst="rect">
            <a:avLst/>
          </a:prstGeom>
        </p:spPr>
      </p:pic>
      <p:sp>
        <p:nvSpPr>
          <p:cNvPr id="19" name="Text 14"/>
          <p:cNvSpPr/>
          <p:nvPr/>
        </p:nvSpPr>
        <p:spPr>
          <a:xfrm>
            <a:off x="1280160" y="5105400"/>
            <a:ext cx="10131552" cy="865632"/>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Counterfeiting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Criminals copy the software and collateral, such as manuals, and sell it as the original product.</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Fighting Piracy in South Africa</a:t>
            </a:r>
            <a:endParaRPr lang="en-US" sz="3200" dirty="0"/>
          </a:p>
        </p:txBody>
      </p:sp>
      <p:sp>
        <p:nvSpPr>
          <p:cNvPr id="7" name="Text 5"/>
          <p:cNvSpPr/>
          <p:nvPr/>
        </p:nvSpPr>
        <p:spPr>
          <a:xfrm>
            <a:off x="502920" y="1691640"/>
            <a:ext cx="11183112" cy="4663440"/>
          </a:xfrm>
          <a:prstGeom prst="rect">
            <a:avLst/>
          </a:prstGeom>
          <a:noFill/>
          <a:ln/>
        </p:spPr>
        <p:txBody>
          <a:bodyPr wrap="square" rtlCol="0" anchor="t"/>
          <a:lstStyle/>
          <a:p>
            <a:pPr indent="0" marL="0">
              <a:lnSpc>
                <a:spcPct val="112000"/>
              </a:lnSpc>
              <a:spcAft>
                <a:spcPts val="1200"/>
              </a:spcAft>
              <a:buNone/>
            </a:pPr>
            <a:r>
              <a:rPr lang="en-US" sz="1400" dirty="0">
                <a:solidFill>
                  <a:srgbClr val="002050"/>
                </a:solidFill>
                <a:latin typeface="Aptos" pitchFamily="34" charset="0"/>
                <a:ea typeface="Aptos" pitchFamily="34" charset="-122"/>
                <a:cs typeface="Aptos" pitchFamily="34" charset="-120"/>
              </a:rPr>
              <a:t>bidorbuy, one of South Africa's largest online marketplaces, took a proactive stance against the selling of pirated goods online, declaring combating piracy a top priority. 'Piracy is nothing less than serious theft. It is a crime that impacts right across our society, from government to the retail sector and right down to the individual customer, who, in buying pirated goods, ends up with inferior products. The only winners are the criminals,' said its managing director.
</a:t>
            </a:r>
            <a:endParaRPr lang="en-US" sz="1400" dirty="0"/>
          </a:p>
          <a:p>
            <a:pPr indent="0" marL="0">
              <a:lnSpc>
                <a:spcPct val="112000"/>
              </a:lnSpc>
              <a:spcAft>
                <a:spcPts val="1200"/>
              </a:spcAft>
              <a:buNone/>
            </a:pPr>
            <a:r>
              <a:rPr lang="en-US" sz="1400" dirty="0">
                <a:solidFill>
                  <a:srgbClr val="002050"/>
                </a:solidFill>
                <a:latin typeface="Aptos" pitchFamily="34" charset="0"/>
                <a:ea typeface="Aptos" pitchFamily="34" charset="-122"/>
                <a:cs typeface="Aptos" pitchFamily="34" charset="-120"/>
              </a:rPr>
              <a:t>bidorbuy works closely with industry bodies and authorities: the South African Police Services (SAPS), the Southern African Federation Against Copyright Theft (SAFACT), the Business Software Alliance (BSA) and the Independent Communications Authority of South Africa (ICASA). SAFACT — the trade association representing the entertainment industry, which loses approximately R200 million per annum to piracy — entered an agreement with bidorbuy to fight the sale of pirated DVD movies and games online.
</a:t>
            </a:r>
            <a:endParaRPr lang="en-US" sz="1400" dirty="0"/>
          </a:p>
          <a:p>
            <a:pPr indent="0" marL="0">
              <a:lnSpc>
                <a:spcPct val="112000"/>
              </a:lnSpc>
              <a:spcAft>
                <a:spcPts val="1200"/>
              </a:spcAft>
              <a:buNone/>
            </a:pPr>
            <a:r>
              <a:rPr lang="en-US" sz="1400" dirty="0">
                <a:solidFill>
                  <a:srgbClr val="002050"/>
                </a:solidFill>
                <a:latin typeface="Aptos" pitchFamily="34" charset="0"/>
                <a:ea typeface="Aptos" pitchFamily="34" charset="-122"/>
                <a:cs typeface="Aptos" pitchFamily="34" charset="-120"/>
              </a:rPr>
              <a:t>Law enforcement has also cracked down on DVD piracy (which crippled sales of local films such as Mama Jack and the Oscar-winning Tsotsi), and music industry figures raided Johannesburg streets to wipe out pirated CDs.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THE CODE OF ETHICS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How Piracy Is Addressed in South Africa</a:t>
            </a:r>
            <a:endParaRPr lang="en-US" sz="3200" dirty="0"/>
          </a:p>
        </p:txBody>
      </p:sp>
      <p:sp>
        <p:nvSpPr>
          <p:cNvPr id="7" name="Shape 5"/>
          <p:cNvSpPr/>
          <p:nvPr/>
        </p:nvSpPr>
        <p:spPr>
          <a:xfrm>
            <a:off x="502920" y="1691640"/>
            <a:ext cx="11183112" cy="716890"/>
          </a:xfrm>
          <a:prstGeom prst="roundRect">
            <a:avLst>
              <a:gd name="adj" fmla="val 1148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91640"/>
            <a:ext cx="82296" cy="71689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56232"/>
            <a:ext cx="365760" cy="365760"/>
          </a:xfrm>
          <a:prstGeom prst="rect">
            <a:avLst/>
          </a:prstGeom>
        </p:spPr>
      </p:pic>
      <p:sp>
        <p:nvSpPr>
          <p:cNvPr id="10" name="Text 7"/>
          <p:cNvSpPr/>
          <p:nvPr/>
        </p:nvSpPr>
        <p:spPr>
          <a:xfrm>
            <a:off x="1280160" y="1801368"/>
            <a:ext cx="10131552" cy="497434"/>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Copyright legislation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Copyright legislation and TRIPS compliance — the Intellectual Property Laws Amendment Act (effective 1 October 1997).</a:t>
            </a:r>
            <a:endParaRPr lang="en-US" sz="1600" dirty="0"/>
          </a:p>
        </p:txBody>
      </p:sp>
      <p:sp>
        <p:nvSpPr>
          <p:cNvPr id="11" name="Shape 8"/>
          <p:cNvSpPr/>
          <p:nvPr/>
        </p:nvSpPr>
        <p:spPr>
          <a:xfrm>
            <a:off x="502920" y="2609698"/>
            <a:ext cx="11183112" cy="716890"/>
          </a:xfrm>
          <a:prstGeom prst="roundRect">
            <a:avLst>
              <a:gd name="adj" fmla="val 1148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2609698"/>
            <a:ext cx="82296" cy="716890"/>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2774290"/>
            <a:ext cx="365760" cy="365760"/>
          </a:xfrm>
          <a:prstGeom prst="rect">
            <a:avLst/>
          </a:prstGeom>
        </p:spPr>
      </p:pic>
      <p:sp>
        <p:nvSpPr>
          <p:cNvPr id="14" name="Text 10"/>
          <p:cNvSpPr/>
          <p:nvPr/>
        </p:nvSpPr>
        <p:spPr>
          <a:xfrm>
            <a:off x="1280160" y="2719426"/>
            <a:ext cx="10131552" cy="497434"/>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BSA prosecution and settlements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The Business Software Alliance recovers losses through out-of-court settlements and prosecutes offenders to the full extent of the law.</a:t>
            </a:r>
            <a:endParaRPr lang="en-US" sz="1600" dirty="0"/>
          </a:p>
        </p:txBody>
      </p:sp>
      <p:sp>
        <p:nvSpPr>
          <p:cNvPr id="15" name="Shape 11"/>
          <p:cNvSpPr/>
          <p:nvPr/>
        </p:nvSpPr>
        <p:spPr>
          <a:xfrm>
            <a:off x="502920" y="3527755"/>
            <a:ext cx="11183112" cy="716890"/>
          </a:xfrm>
          <a:prstGeom prst="roundRect">
            <a:avLst>
              <a:gd name="adj" fmla="val 1148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2"/>
          <p:cNvSpPr/>
          <p:nvPr/>
        </p:nvSpPr>
        <p:spPr>
          <a:xfrm>
            <a:off x="502920" y="3527755"/>
            <a:ext cx="82296" cy="716890"/>
          </a:xfrm>
          <a:prstGeom prst="rect">
            <a:avLst/>
          </a:prstGeom>
          <a:solidFill>
            <a:srgbClr val="0F6CBD"/>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3692347"/>
            <a:ext cx="365760" cy="365760"/>
          </a:xfrm>
          <a:prstGeom prst="rect">
            <a:avLst/>
          </a:prstGeom>
        </p:spPr>
      </p:pic>
      <p:sp>
        <p:nvSpPr>
          <p:cNvPr id="18" name="Text 13"/>
          <p:cNvSpPr/>
          <p:nvPr/>
        </p:nvSpPr>
        <p:spPr>
          <a:xfrm>
            <a:off x="1280160" y="3637483"/>
            <a:ext cx="10131552" cy="497434"/>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SAFACT and SAPS enforcement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Enforcement raids and crackdowns on pirated DVDs, CDs and software by SAFACT, SAPS and industry bodies.</a:t>
            </a:r>
            <a:endParaRPr lang="en-US" sz="1600" dirty="0"/>
          </a:p>
        </p:txBody>
      </p:sp>
      <p:sp>
        <p:nvSpPr>
          <p:cNvPr id="19" name="Shape 14"/>
          <p:cNvSpPr/>
          <p:nvPr/>
        </p:nvSpPr>
        <p:spPr>
          <a:xfrm>
            <a:off x="502920" y="4445813"/>
            <a:ext cx="11183112" cy="716890"/>
          </a:xfrm>
          <a:prstGeom prst="roundRect">
            <a:avLst>
              <a:gd name="adj" fmla="val 1148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5"/>
          <p:cNvSpPr/>
          <p:nvPr/>
        </p:nvSpPr>
        <p:spPr>
          <a:xfrm>
            <a:off x="502920" y="4445813"/>
            <a:ext cx="82296" cy="716890"/>
          </a:xfrm>
          <a:prstGeom prst="rect">
            <a:avLst/>
          </a:prstGeom>
          <a:solidFill>
            <a:srgbClr val="0F6CBD"/>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4610405"/>
            <a:ext cx="365760" cy="365760"/>
          </a:xfrm>
          <a:prstGeom prst="rect">
            <a:avLst/>
          </a:prstGeom>
        </p:spPr>
      </p:pic>
      <p:sp>
        <p:nvSpPr>
          <p:cNvPr id="22" name="Text 16"/>
          <p:cNvSpPr/>
          <p:nvPr/>
        </p:nvSpPr>
        <p:spPr>
          <a:xfrm>
            <a:off x="1280160" y="4555541"/>
            <a:ext cx="10131552" cy="497434"/>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Online marketplace policing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Online marketplaces such as bidorbuy police their platforms with SAPS, SAFACT, the BSA and ICASA.</a:t>
            </a:r>
            <a:endParaRPr lang="en-US" sz="1600" dirty="0"/>
          </a:p>
        </p:txBody>
      </p:sp>
      <p:sp>
        <p:nvSpPr>
          <p:cNvPr id="23" name="Shape 17"/>
          <p:cNvSpPr/>
          <p:nvPr/>
        </p:nvSpPr>
        <p:spPr>
          <a:xfrm>
            <a:off x="502920" y="5363870"/>
            <a:ext cx="11183112" cy="716890"/>
          </a:xfrm>
          <a:prstGeom prst="roundRect">
            <a:avLst>
              <a:gd name="adj" fmla="val 1148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4" name="Shape 18"/>
          <p:cNvSpPr/>
          <p:nvPr/>
        </p:nvSpPr>
        <p:spPr>
          <a:xfrm>
            <a:off x="502920" y="5363870"/>
            <a:ext cx="82296" cy="716890"/>
          </a:xfrm>
          <a:prstGeom prst="rect">
            <a:avLst/>
          </a:prstGeom>
          <a:solidFill>
            <a:srgbClr val="0F6CBD"/>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8952" y="5528462"/>
            <a:ext cx="365760" cy="365760"/>
          </a:xfrm>
          <a:prstGeom prst="rect">
            <a:avLst/>
          </a:prstGeom>
        </p:spPr>
      </p:pic>
      <p:sp>
        <p:nvSpPr>
          <p:cNvPr id="26" name="Text 19"/>
          <p:cNvSpPr/>
          <p:nvPr/>
        </p:nvSpPr>
        <p:spPr>
          <a:xfrm>
            <a:off x="1280160" y="5473598"/>
            <a:ext cx="10131552" cy="497434"/>
          </a:xfrm>
          <a:prstGeom prst="rect">
            <a:avLst/>
          </a:prstGeom>
          <a:noFill/>
          <a:ln/>
        </p:spPr>
        <p:txBody>
          <a:bodyPr wrap="square" rtlCol="0" anchor="ctr"/>
          <a:lstStyle/>
          <a:p>
            <a:pPr indent="0" marL="0">
              <a:lnSpc>
                <a:spcPct val="108000"/>
              </a:lnSpc>
              <a:buNone/>
            </a:pPr>
            <a:r>
              <a:rPr lang="en-US" sz="1600" b="1" dirty="0">
                <a:solidFill>
                  <a:srgbClr val="002050"/>
                </a:solidFill>
                <a:latin typeface="Aptos Display" pitchFamily="34" charset="0"/>
                <a:ea typeface="Aptos Display" pitchFamily="34" charset="-122"/>
                <a:cs typeface="Aptos Display" pitchFamily="34" charset="-120"/>
              </a:rPr>
              <a:t>Public awareness
</a:t>
            </a:r>
            <a:pPr indent="0" marL="0">
              <a:lnSpc>
                <a:spcPct val="108000"/>
              </a:lnSpc>
              <a:buNone/>
            </a:pPr>
            <a:r>
              <a:rPr lang="en-US" sz="1250" dirty="0">
                <a:solidFill>
                  <a:srgbClr val="002050"/>
                </a:solidFill>
                <a:latin typeface="Aptos" pitchFamily="34" charset="0"/>
                <a:ea typeface="Aptos" pitchFamily="34" charset="-122"/>
                <a:cs typeface="Aptos" pitchFamily="34" charset="-120"/>
              </a:rPr>
              <a:t>Public awareness campaigns that software piracy is stealing — no more, no less.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QUESTION SESSION 1 · 45 MINUTES · SELF &amp; GROUP</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Professionalism &amp; Codes of Practice</a:t>
            </a:r>
            <a:endParaRPr lang="en-US" sz="3200" dirty="0"/>
          </a:p>
        </p:txBody>
      </p:sp>
      <p:sp>
        <p:nvSpPr>
          <p:cNvPr id="7" name="Shape 5"/>
          <p:cNvSpPr/>
          <p:nvPr/>
        </p:nvSpPr>
        <p:spPr>
          <a:xfrm>
            <a:off x="502920" y="1691640"/>
            <a:ext cx="457200" cy="457200"/>
          </a:xfrm>
          <a:prstGeom prst="ellipse">
            <a:avLst/>
          </a:prstGeom>
          <a:solidFill>
            <a:srgbClr val="0F6CBD"/>
          </a:solidFill>
          <a:ln/>
        </p:spPr>
      </p:sp>
      <p:sp>
        <p:nvSpPr>
          <p:cNvPr id="8" name="Text 6"/>
          <p:cNvSpPr/>
          <p:nvPr/>
        </p:nvSpPr>
        <p:spPr>
          <a:xfrm>
            <a:off x="502920" y="169164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9" name="Text 7"/>
          <p:cNvSpPr/>
          <p:nvPr/>
        </p:nvSpPr>
        <p:spPr>
          <a:xfrm>
            <a:off x="1161288" y="164592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acceptable and unacceptable professional practices found in the computer industry</a:t>
            </a:r>
            <a:endParaRPr lang="en-US" sz="1650" dirty="0"/>
          </a:p>
        </p:txBody>
      </p:sp>
      <p:sp>
        <p:nvSpPr>
          <p:cNvPr id="10" name="Shape 8"/>
          <p:cNvSpPr/>
          <p:nvPr/>
        </p:nvSpPr>
        <p:spPr>
          <a:xfrm>
            <a:off x="502920" y="2423160"/>
            <a:ext cx="457200" cy="457200"/>
          </a:xfrm>
          <a:prstGeom prst="ellipse">
            <a:avLst/>
          </a:prstGeom>
          <a:solidFill>
            <a:srgbClr val="0F6CBD"/>
          </a:solidFill>
          <a:ln/>
        </p:spPr>
      </p:sp>
      <p:sp>
        <p:nvSpPr>
          <p:cNvPr id="11" name="Text 9"/>
          <p:cNvSpPr/>
          <p:nvPr/>
        </p:nvSpPr>
        <p:spPr>
          <a:xfrm>
            <a:off x="502920" y="242316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1161288" y="237744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the CSSA as a professional body in South Africa</a:t>
            </a:r>
            <a:endParaRPr lang="en-US" sz="1650" dirty="0"/>
          </a:p>
        </p:txBody>
      </p:sp>
      <p:sp>
        <p:nvSpPr>
          <p:cNvPr id="13" name="Shape 11"/>
          <p:cNvSpPr/>
          <p:nvPr/>
        </p:nvSpPr>
        <p:spPr>
          <a:xfrm>
            <a:off x="502920" y="3154680"/>
            <a:ext cx="457200" cy="457200"/>
          </a:xfrm>
          <a:prstGeom prst="ellipse">
            <a:avLst/>
          </a:prstGeom>
          <a:solidFill>
            <a:srgbClr val="0F6CBD"/>
          </a:solidFill>
          <a:ln/>
        </p:spPr>
      </p:sp>
      <p:sp>
        <p:nvSpPr>
          <p:cNvPr id="14" name="Text 12"/>
          <p:cNvSpPr/>
          <p:nvPr/>
        </p:nvSpPr>
        <p:spPr>
          <a:xfrm>
            <a:off x="502920" y="315468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5" name="Text 13"/>
          <p:cNvSpPr/>
          <p:nvPr/>
        </p:nvSpPr>
        <p:spPr>
          <a:xfrm>
            <a:off x="1161288" y="310896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the BITF as a professional body in South Africa</a:t>
            </a:r>
            <a:endParaRPr lang="en-US" sz="1650" dirty="0"/>
          </a:p>
        </p:txBody>
      </p:sp>
      <p:sp>
        <p:nvSpPr>
          <p:cNvPr id="16" name="Shape 14"/>
          <p:cNvSpPr/>
          <p:nvPr/>
        </p:nvSpPr>
        <p:spPr>
          <a:xfrm>
            <a:off x="502920" y="3886200"/>
            <a:ext cx="457200" cy="457200"/>
          </a:xfrm>
          <a:prstGeom prst="ellipse">
            <a:avLst/>
          </a:prstGeom>
          <a:solidFill>
            <a:srgbClr val="0F6CBD"/>
          </a:solidFill>
          <a:ln/>
        </p:spPr>
      </p:sp>
      <p:sp>
        <p:nvSpPr>
          <p:cNvPr id="17" name="Text 15"/>
          <p:cNvSpPr/>
          <p:nvPr/>
        </p:nvSpPr>
        <p:spPr>
          <a:xfrm>
            <a:off x="502920" y="388620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4</a:t>
            </a:r>
            <a:endParaRPr lang="en-US" sz="1800" dirty="0"/>
          </a:p>
        </p:txBody>
      </p:sp>
      <p:sp>
        <p:nvSpPr>
          <p:cNvPr id="18" name="Text 16"/>
          <p:cNvSpPr/>
          <p:nvPr/>
        </p:nvSpPr>
        <p:spPr>
          <a:xfrm>
            <a:off x="1161288" y="384048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the ITUC as a professional body in South Africa</a:t>
            </a:r>
            <a:endParaRPr lang="en-US" sz="1650" dirty="0"/>
          </a:p>
        </p:txBody>
      </p:sp>
      <p:sp>
        <p:nvSpPr>
          <p:cNvPr id="19" name="Shape 17"/>
          <p:cNvSpPr/>
          <p:nvPr/>
        </p:nvSpPr>
        <p:spPr>
          <a:xfrm>
            <a:off x="502920" y="4617720"/>
            <a:ext cx="457200" cy="457200"/>
          </a:xfrm>
          <a:prstGeom prst="ellipse">
            <a:avLst/>
          </a:prstGeom>
          <a:solidFill>
            <a:srgbClr val="0F6CBD"/>
          </a:solidFill>
          <a:ln/>
        </p:spPr>
      </p:sp>
      <p:sp>
        <p:nvSpPr>
          <p:cNvPr id="20" name="Text 18"/>
          <p:cNvSpPr/>
          <p:nvPr/>
        </p:nvSpPr>
        <p:spPr>
          <a:xfrm>
            <a:off x="502920" y="461772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5</a:t>
            </a:r>
            <a:endParaRPr lang="en-US" sz="1800" dirty="0"/>
          </a:p>
        </p:txBody>
      </p:sp>
      <p:sp>
        <p:nvSpPr>
          <p:cNvPr id="21" name="Text 19"/>
          <p:cNvSpPr/>
          <p:nvPr/>
        </p:nvSpPr>
        <p:spPr>
          <a:xfrm>
            <a:off x="1161288" y="457200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the ITA as a professional body in South Africa (at least 2 points)</a:t>
            </a:r>
            <a:endParaRPr lang="en-US" sz="1650" dirty="0"/>
          </a:p>
        </p:txBody>
      </p:sp>
      <p:sp>
        <p:nvSpPr>
          <p:cNvPr id="22" name="Shape 20"/>
          <p:cNvSpPr/>
          <p:nvPr/>
        </p:nvSpPr>
        <p:spPr>
          <a:xfrm>
            <a:off x="502920" y="5349240"/>
            <a:ext cx="457200" cy="457200"/>
          </a:xfrm>
          <a:prstGeom prst="ellipse">
            <a:avLst/>
          </a:prstGeom>
          <a:solidFill>
            <a:srgbClr val="0F6CBD"/>
          </a:solidFill>
          <a:ln/>
        </p:spPr>
      </p:sp>
      <p:sp>
        <p:nvSpPr>
          <p:cNvPr id="23" name="Text 21"/>
          <p:cNvSpPr/>
          <p:nvPr/>
        </p:nvSpPr>
        <p:spPr>
          <a:xfrm>
            <a:off x="502920" y="534924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6</a:t>
            </a:r>
            <a:endParaRPr lang="en-US" sz="1800" dirty="0"/>
          </a:p>
        </p:txBody>
      </p:sp>
      <p:sp>
        <p:nvSpPr>
          <p:cNvPr id="24" name="Text 22"/>
          <p:cNvSpPr/>
          <p:nvPr/>
        </p:nvSpPr>
        <p:spPr>
          <a:xfrm>
            <a:off x="1161288" y="5303520"/>
            <a:ext cx="10360152" cy="594360"/>
          </a:xfrm>
          <a:prstGeom prst="rect">
            <a:avLst/>
          </a:prstGeom>
          <a:noFill/>
          <a:ln/>
        </p:spPr>
        <p:txBody>
          <a:bodyPr wrap="square" rtlCol="0" anchor="ctr"/>
          <a:lstStyle/>
          <a:p>
            <a:pPr indent="0" marL="0">
              <a:lnSpc>
                <a:spcPct val="105000"/>
              </a:lnSpc>
              <a:buNone/>
            </a:pPr>
            <a:r>
              <a:rPr lang="en-US" sz="1650" dirty="0">
                <a:solidFill>
                  <a:srgbClr val="002050"/>
                </a:solidFill>
                <a:latin typeface="Aptos" pitchFamily="34" charset="0"/>
                <a:ea typeface="Aptos" pitchFamily="34" charset="-122"/>
                <a:cs typeface="Aptos" pitchFamily="34" charset="-120"/>
              </a:rPr>
              <a:t>Identify and explain the codes of practice for the IT industry in South Africa</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QUESTION SESSION 2 · 45 MINUTES · SELF &amp; GROUP</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Code of Ethics in the Computer Industry</a:t>
            </a:r>
            <a:endParaRPr lang="en-US" sz="3200" dirty="0"/>
          </a:p>
        </p:txBody>
      </p:sp>
      <p:sp>
        <p:nvSpPr>
          <p:cNvPr id="7" name="Shape 5"/>
          <p:cNvSpPr/>
          <p:nvPr/>
        </p:nvSpPr>
        <p:spPr>
          <a:xfrm>
            <a:off x="502920" y="1920240"/>
            <a:ext cx="457200" cy="457200"/>
          </a:xfrm>
          <a:prstGeom prst="ellipse">
            <a:avLst/>
          </a:prstGeom>
          <a:solidFill>
            <a:srgbClr val="0F6CBD"/>
          </a:solidFill>
          <a:ln/>
        </p:spPr>
      </p:sp>
      <p:sp>
        <p:nvSpPr>
          <p:cNvPr id="8" name="Text 6"/>
          <p:cNvSpPr/>
          <p:nvPr/>
        </p:nvSpPr>
        <p:spPr>
          <a:xfrm>
            <a:off x="502920" y="192024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9" name="Text 7"/>
          <p:cNvSpPr/>
          <p:nvPr/>
        </p:nvSpPr>
        <p:spPr>
          <a:xfrm>
            <a:off x="1161288" y="1874520"/>
            <a:ext cx="10360152" cy="777240"/>
          </a:xfrm>
          <a:prstGeom prst="rect">
            <a:avLst/>
          </a:prstGeom>
          <a:noFill/>
          <a:ln/>
        </p:spPr>
        <p:txBody>
          <a:bodyPr wrap="square" rtlCol="0" anchor="ctr"/>
          <a:lstStyle/>
          <a:p>
            <a:pPr indent="0" marL="0">
              <a:lnSpc>
                <a:spcPct val="105000"/>
              </a:lnSpc>
              <a:buNone/>
            </a:pPr>
            <a:r>
              <a:rPr lang="en-US" sz="1800" dirty="0">
                <a:solidFill>
                  <a:srgbClr val="002050"/>
                </a:solidFill>
                <a:latin typeface="Aptos" pitchFamily="34" charset="0"/>
                <a:ea typeface="Aptos" pitchFamily="34" charset="-122"/>
                <a:cs typeface="Aptos" pitchFamily="34" charset="-120"/>
              </a:rPr>
              <a:t>Explain how the computer industry supports equality of opportunity</a:t>
            </a:r>
            <a:endParaRPr lang="en-US" sz="1800" dirty="0"/>
          </a:p>
        </p:txBody>
      </p:sp>
      <p:sp>
        <p:nvSpPr>
          <p:cNvPr id="10" name="Shape 8"/>
          <p:cNvSpPr/>
          <p:nvPr/>
        </p:nvSpPr>
        <p:spPr>
          <a:xfrm>
            <a:off x="502920" y="2834640"/>
            <a:ext cx="457200" cy="457200"/>
          </a:xfrm>
          <a:prstGeom prst="ellipse">
            <a:avLst/>
          </a:prstGeom>
          <a:solidFill>
            <a:srgbClr val="0F6CBD"/>
          </a:solidFill>
          <a:ln/>
        </p:spPr>
      </p:sp>
      <p:sp>
        <p:nvSpPr>
          <p:cNvPr id="11" name="Text 9"/>
          <p:cNvSpPr/>
          <p:nvPr/>
        </p:nvSpPr>
        <p:spPr>
          <a:xfrm>
            <a:off x="502920" y="283464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1161288" y="2788920"/>
            <a:ext cx="10360152" cy="777240"/>
          </a:xfrm>
          <a:prstGeom prst="rect">
            <a:avLst/>
          </a:prstGeom>
          <a:noFill/>
          <a:ln/>
        </p:spPr>
        <p:txBody>
          <a:bodyPr wrap="square" rtlCol="0" anchor="ctr"/>
          <a:lstStyle/>
          <a:p>
            <a:pPr indent="0" marL="0">
              <a:lnSpc>
                <a:spcPct val="105000"/>
              </a:lnSpc>
              <a:buNone/>
            </a:pPr>
            <a:r>
              <a:rPr lang="en-US" sz="1800" dirty="0">
                <a:solidFill>
                  <a:srgbClr val="002050"/>
                </a:solidFill>
                <a:latin typeface="Aptos" pitchFamily="34" charset="0"/>
                <a:ea typeface="Aptos" pitchFamily="34" charset="-122"/>
                <a:cs typeface="Aptos" pitchFamily="34" charset="-120"/>
              </a:rPr>
              <a:t>Explain how the computer industry is against computer software piracy</a:t>
            </a:r>
            <a:endParaRPr lang="en-US" sz="1800" dirty="0"/>
          </a:p>
        </p:txBody>
      </p:sp>
      <p:sp>
        <p:nvSpPr>
          <p:cNvPr id="13" name="Shape 11"/>
          <p:cNvSpPr/>
          <p:nvPr/>
        </p:nvSpPr>
        <p:spPr>
          <a:xfrm>
            <a:off x="502920" y="3749040"/>
            <a:ext cx="457200" cy="457200"/>
          </a:xfrm>
          <a:prstGeom prst="ellipse">
            <a:avLst/>
          </a:prstGeom>
          <a:solidFill>
            <a:srgbClr val="0F6CBD"/>
          </a:solidFill>
          <a:ln/>
        </p:spPr>
      </p:sp>
      <p:sp>
        <p:nvSpPr>
          <p:cNvPr id="14" name="Text 12"/>
          <p:cNvSpPr/>
          <p:nvPr/>
        </p:nvSpPr>
        <p:spPr>
          <a:xfrm>
            <a:off x="502920" y="374904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5" name="Text 13"/>
          <p:cNvSpPr/>
          <p:nvPr/>
        </p:nvSpPr>
        <p:spPr>
          <a:xfrm>
            <a:off x="1161288" y="3703320"/>
            <a:ext cx="10360152" cy="777240"/>
          </a:xfrm>
          <a:prstGeom prst="rect">
            <a:avLst/>
          </a:prstGeom>
          <a:noFill/>
          <a:ln/>
        </p:spPr>
        <p:txBody>
          <a:bodyPr wrap="square" rtlCol="0" anchor="ctr"/>
          <a:lstStyle/>
          <a:p>
            <a:pPr indent="0" marL="0">
              <a:lnSpc>
                <a:spcPct val="105000"/>
              </a:lnSpc>
              <a:buNone/>
            </a:pPr>
            <a:r>
              <a:rPr lang="en-US" sz="1800" dirty="0">
                <a:solidFill>
                  <a:srgbClr val="002050"/>
                </a:solidFill>
                <a:latin typeface="Aptos" pitchFamily="34" charset="0"/>
                <a:ea typeface="Aptos" pitchFamily="34" charset="-122"/>
                <a:cs typeface="Aptos" pitchFamily="34" charset="-120"/>
              </a:rPr>
              <a:t>Identify ways in which piracy is addressed in South Africa</a:t>
            </a:r>
            <a:endParaRPr lang="en-US" sz="1800" dirty="0"/>
          </a:p>
        </p:txBody>
      </p:sp>
      <p:sp>
        <p:nvSpPr>
          <p:cNvPr id="16" name="Shape 14"/>
          <p:cNvSpPr/>
          <p:nvPr/>
        </p:nvSpPr>
        <p:spPr>
          <a:xfrm>
            <a:off x="502920" y="5029200"/>
            <a:ext cx="11183112" cy="1097280"/>
          </a:xfrm>
          <a:prstGeom prst="roundRect">
            <a:avLst>
              <a:gd name="adj" fmla="val 75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5349240"/>
            <a:ext cx="329184" cy="329184"/>
          </a:xfrm>
          <a:prstGeom prst="rect">
            <a:avLst/>
          </a:prstGeom>
        </p:spPr>
      </p:pic>
      <p:sp>
        <p:nvSpPr>
          <p:cNvPr id="18" name="Text 15"/>
          <p:cNvSpPr/>
          <p:nvPr/>
        </p:nvSpPr>
        <p:spPr>
          <a:xfrm>
            <a:off x="1188720" y="5138928"/>
            <a:ext cx="10222992" cy="877824"/>
          </a:xfrm>
          <a:prstGeom prst="rect">
            <a:avLst/>
          </a:prstGeom>
          <a:noFill/>
          <a:ln/>
        </p:spPr>
        <p:txBody>
          <a:bodyPr wrap="square" rtlCol="0" anchor="ctr"/>
          <a:lstStyle/>
          <a:p>
            <a:pPr indent="0" marL="0">
              <a:lnSpc>
                <a:spcPct val="110000"/>
              </a:lnSpc>
              <a:buNone/>
            </a:pPr>
            <a:r>
              <a:rPr lang="en-US" sz="1450" dirty="0">
                <a:solidFill>
                  <a:srgbClr val="002050"/>
                </a:solidFill>
                <a:latin typeface="Aptos" pitchFamily="34" charset="0"/>
                <a:ea typeface="Aptos" pitchFamily="34" charset="-122"/>
                <a:cs typeface="Aptos" pitchFamily="34" charset="-120"/>
              </a:rPr>
              <a:t>Project — Code of Ethics: Compile an ideal example of an ideal code of ethics derived from the current code of ethics followed within the South African IT industry. Attach your project to your logbook and mark it 114055.</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114055 — Ethics &amp; Professionalism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SELF-ASSESSMENT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200" b="1" dirty="0">
                <a:solidFill>
                  <a:srgbClr val="002050"/>
                </a:solidFill>
                <a:latin typeface="Aptos Display" pitchFamily="34" charset="0"/>
                <a:ea typeface="Aptos Display" pitchFamily="34" charset="-122"/>
                <a:cs typeface="Aptos Display" pitchFamily="34" charset="-120"/>
              </a:rPr>
              <a:t>Self-Assessment — Be Honest With Yourself</a:t>
            </a:r>
            <a:endParaRPr lang="en-US" sz="3200" dirty="0"/>
          </a:p>
        </p:txBody>
      </p:sp>
      <p:sp>
        <p:nvSpPr>
          <p:cNvPr id="7" name="Text 5"/>
          <p:cNvSpPr/>
          <p:nvPr/>
        </p:nvSpPr>
        <p:spPr>
          <a:xfrm>
            <a:off x="502920" y="1417320"/>
            <a:ext cx="11183112" cy="36576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Tick the box with a ✓ or an ✗ to indicate your response.</a:t>
            </a:r>
            <a:endParaRPr lang="en-US" sz="1600" dirty="0"/>
          </a:p>
        </p:txBody>
      </p:sp>
      <p:sp>
        <p:nvSpPr>
          <p:cNvPr id="8" name="Shape 6"/>
          <p:cNvSpPr/>
          <p:nvPr/>
        </p:nvSpPr>
        <p:spPr>
          <a:xfrm>
            <a:off x="502920" y="2112264"/>
            <a:ext cx="384048" cy="384048"/>
          </a:xfrm>
          <a:prstGeom prst="roundRect">
            <a:avLst>
              <a:gd name="adj" fmla="val 16667"/>
            </a:avLst>
          </a:prstGeom>
          <a:solidFill>
            <a:srgbClr val="FFFFFF"/>
          </a:solidFill>
          <a:ln w="19050">
            <a:solidFill>
              <a:srgbClr val="0F6CBD"/>
            </a:solidFill>
            <a:prstDash val="solid"/>
          </a:ln>
        </p:spPr>
      </p:sp>
      <p:sp>
        <p:nvSpPr>
          <p:cNvPr id="9" name="Text 7"/>
          <p:cNvSpPr/>
          <p:nvPr/>
        </p:nvSpPr>
        <p:spPr>
          <a:xfrm>
            <a:off x="1106424" y="2029968"/>
            <a:ext cx="10360152" cy="566928"/>
          </a:xfrm>
          <a:prstGeom prst="rect">
            <a:avLst/>
          </a:prstGeom>
          <a:noFill/>
          <a:ln/>
        </p:spPr>
        <p:txBody>
          <a:bodyPr wrap="square" rtlCol="0" anchor="ctr"/>
          <a:lstStyle/>
          <a:p>
            <a:pPr indent="0" marL="0">
              <a:buNone/>
            </a:pPr>
            <a:r>
              <a:rPr lang="en-US" sz="1700" dirty="0">
                <a:solidFill>
                  <a:srgbClr val="002050"/>
                </a:solidFill>
                <a:latin typeface="Aptos" pitchFamily="34" charset="0"/>
                <a:ea typeface="Aptos" pitchFamily="34" charset="-122"/>
                <a:cs typeface="Aptos" pitchFamily="34" charset="-120"/>
              </a:rPr>
              <a:t>I am able to describe professionalism for the computer industry in South Africa.</a:t>
            </a:r>
            <a:endParaRPr lang="en-US" sz="1700" dirty="0"/>
          </a:p>
        </p:txBody>
      </p:sp>
      <p:sp>
        <p:nvSpPr>
          <p:cNvPr id="10" name="Shape 8"/>
          <p:cNvSpPr/>
          <p:nvPr/>
        </p:nvSpPr>
        <p:spPr>
          <a:xfrm>
            <a:off x="502920" y="2980944"/>
            <a:ext cx="384048" cy="384048"/>
          </a:xfrm>
          <a:prstGeom prst="roundRect">
            <a:avLst>
              <a:gd name="adj" fmla="val 16667"/>
            </a:avLst>
          </a:prstGeom>
          <a:solidFill>
            <a:srgbClr val="FFFFFF"/>
          </a:solidFill>
          <a:ln w="19050">
            <a:solidFill>
              <a:srgbClr val="0F6CBD"/>
            </a:solidFill>
            <a:prstDash val="solid"/>
          </a:ln>
        </p:spPr>
      </p:sp>
      <p:sp>
        <p:nvSpPr>
          <p:cNvPr id="11" name="Text 9"/>
          <p:cNvSpPr/>
          <p:nvPr/>
        </p:nvSpPr>
        <p:spPr>
          <a:xfrm>
            <a:off x="1106424" y="2898648"/>
            <a:ext cx="10360152" cy="566928"/>
          </a:xfrm>
          <a:prstGeom prst="rect">
            <a:avLst/>
          </a:prstGeom>
          <a:noFill/>
          <a:ln/>
        </p:spPr>
        <p:txBody>
          <a:bodyPr wrap="square" rtlCol="0" anchor="ctr"/>
          <a:lstStyle/>
          <a:p>
            <a:pPr indent="0" marL="0">
              <a:buNone/>
            </a:pPr>
            <a:r>
              <a:rPr lang="en-US" sz="1700" dirty="0">
                <a:solidFill>
                  <a:srgbClr val="002050"/>
                </a:solidFill>
                <a:latin typeface="Aptos" pitchFamily="34" charset="0"/>
                <a:ea typeface="Aptos" pitchFamily="34" charset="-122"/>
                <a:cs typeface="Aptos" pitchFamily="34" charset="-120"/>
              </a:rPr>
              <a:t>I am able to describe the codes of practice for professionalism in the IT industry in South Africa.</a:t>
            </a:r>
            <a:endParaRPr lang="en-US" sz="1700" dirty="0"/>
          </a:p>
        </p:txBody>
      </p:sp>
      <p:sp>
        <p:nvSpPr>
          <p:cNvPr id="12" name="Shape 10"/>
          <p:cNvSpPr/>
          <p:nvPr/>
        </p:nvSpPr>
        <p:spPr>
          <a:xfrm>
            <a:off x="502920" y="3849624"/>
            <a:ext cx="384048" cy="384048"/>
          </a:xfrm>
          <a:prstGeom prst="roundRect">
            <a:avLst>
              <a:gd name="adj" fmla="val 16667"/>
            </a:avLst>
          </a:prstGeom>
          <a:solidFill>
            <a:srgbClr val="FFFFFF"/>
          </a:solidFill>
          <a:ln w="19050">
            <a:solidFill>
              <a:srgbClr val="0F6CBD"/>
            </a:solidFill>
            <a:prstDash val="solid"/>
          </a:ln>
        </p:spPr>
      </p:sp>
      <p:sp>
        <p:nvSpPr>
          <p:cNvPr id="13" name="Text 11"/>
          <p:cNvSpPr/>
          <p:nvPr/>
        </p:nvSpPr>
        <p:spPr>
          <a:xfrm>
            <a:off x="1106424" y="3767328"/>
            <a:ext cx="10360152" cy="566928"/>
          </a:xfrm>
          <a:prstGeom prst="rect">
            <a:avLst/>
          </a:prstGeom>
          <a:noFill/>
          <a:ln/>
        </p:spPr>
        <p:txBody>
          <a:bodyPr wrap="square" rtlCol="0" anchor="ctr"/>
          <a:lstStyle/>
          <a:p>
            <a:pPr indent="0" marL="0">
              <a:buNone/>
            </a:pPr>
            <a:r>
              <a:rPr lang="en-US" sz="1700" dirty="0">
                <a:solidFill>
                  <a:srgbClr val="002050"/>
                </a:solidFill>
                <a:latin typeface="Aptos" pitchFamily="34" charset="0"/>
                <a:ea typeface="Aptos" pitchFamily="34" charset="-122"/>
                <a:cs typeface="Aptos" pitchFamily="34" charset="-120"/>
              </a:rPr>
              <a:t>I am able to describe the code of ethics in the computer industry in South Africa.</a:t>
            </a:r>
            <a:endParaRPr lang="en-US" sz="1700" dirty="0"/>
          </a:p>
        </p:txBody>
      </p:sp>
      <p:sp>
        <p:nvSpPr>
          <p:cNvPr id="14" name="Shape 12"/>
          <p:cNvSpPr/>
          <p:nvPr/>
        </p:nvSpPr>
        <p:spPr>
          <a:xfrm>
            <a:off x="502920" y="5029200"/>
            <a:ext cx="11183112" cy="1234440"/>
          </a:xfrm>
          <a:prstGeom prst="roundRect">
            <a:avLst>
              <a:gd name="adj" fmla="val 6667"/>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5349240"/>
            <a:ext cx="329184" cy="329184"/>
          </a:xfrm>
          <a:prstGeom prst="rect">
            <a:avLst/>
          </a:prstGeom>
        </p:spPr>
      </p:pic>
      <p:sp>
        <p:nvSpPr>
          <p:cNvPr id="16" name="Text 13"/>
          <p:cNvSpPr/>
          <p:nvPr/>
        </p:nvSpPr>
        <p:spPr>
          <a:xfrm>
            <a:off x="1188720" y="5138928"/>
            <a:ext cx="10222992" cy="1005840"/>
          </a:xfrm>
          <a:prstGeom prst="rect">
            <a:avLst/>
          </a:prstGeom>
          <a:noFill/>
          <a:ln/>
        </p:spPr>
        <p:txBody>
          <a:bodyPr wrap="square" rtlCol="0" anchor="ctr"/>
          <a:lstStyle/>
          <a:p>
            <a:pPr indent="0" marL="0">
              <a:lnSpc>
                <a:spcPct val="110000"/>
              </a:lnSpc>
              <a:buNone/>
            </a:pPr>
            <a:r>
              <a:rPr lang="en-US" sz="1450" dirty="0">
                <a:solidFill>
                  <a:srgbClr val="002050"/>
                </a:solidFill>
                <a:latin typeface="Aptos" pitchFamily="34" charset="0"/>
                <a:ea typeface="Aptos" pitchFamily="34" charset="-122"/>
                <a:cs typeface="Aptos" pitchFamily="34" charset="-120"/>
              </a:rPr>
              <a:t>Think about any point you could not tick. Write it down as a goal, decide on a plan of action to achieve it, and review your goals regularly. Show your completed self-assessment to your facilitator and make the necessary arrangements to assist you to become competent in any area you could not tick.</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114055 — Ethics &amp; Professionalism (Learner Manual)</dc:title>
  <dc:subject>PptxGenJS Presentation</dc:subject>
  <dc:creator>Andre Snell</dc:creator>
  <cp:lastModifiedBy>Andre Snell</cp:lastModifiedBy>
  <cp:revision>1</cp:revision>
  <dcterms:created xsi:type="dcterms:W3CDTF">2026-08-23T00:54:01Z</dcterms:created>
  <dcterms:modified xsi:type="dcterms:W3CDTF">2026-08-23T00:54:01Z</dcterms:modified>
</cp:coreProperties>
</file>