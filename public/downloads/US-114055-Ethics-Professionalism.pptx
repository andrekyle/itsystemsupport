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image" Target="../media/image-5-13.png"/><Relationship Id="rId14" Type="http://schemas.openxmlformats.org/officeDocument/2006/relationships/image" Target="../media/image-5-14.svg"/><Relationship Id="rId15" Type="http://schemas.openxmlformats.org/officeDocument/2006/relationships/image" Target="../media/image-5-15.png"/><Relationship Id="rId16" Type="http://schemas.openxmlformats.org/officeDocument/2006/relationships/image" Target="../media/image-5-16.sv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iitpsa.org.za/constitution/" TargetMode="Externa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image" Target="../media/image-12-11.png"/><Relationship Id="rId12" Type="http://schemas.openxmlformats.org/officeDocument/2006/relationships/image" Target="../media/image-12-12.svg"/><Relationship Id="rId13" Type="http://schemas.openxmlformats.org/officeDocument/2006/relationships/slideLayout" Target="../slideLayouts/slideLayout1.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image" Target="../media/image-13-9.png"/><Relationship Id="rId10" Type="http://schemas.openxmlformats.org/officeDocument/2006/relationships/image" Target="../media/image-13-10.svg"/><Relationship Id="rId11" Type="http://schemas.openxmlformats.org/officeDocument/2006/relationships/image" Target="../media/image-13-11.png"/><Relationship Id="rId12" Type="http://schemas.openxmlformats.org/officeDocument/2006/relationships/image" Target="../media/image-13-12.sv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9.png"/><Relationship Id="rId10" Type="http://schemas.openxmlformats.org/officeDocument/2006/relationships/image" Target="../media/image-14-10.svg"/><Relationship Id="rId11" Type="http://schemas.openxmlformats.org/officeDocument/2006/relationships/image" Target="../media/image-14-11.png"/><Relationship Id="rId12" Type="http://schemas.openxmlformats.org/officeDocument/2006/relationships/image" Target="../media/image-14-12.sv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image" Target="../media/image-16-7.png"/><Relationship Id="rId8" Type="http://schemas.openxmlformats.org/officeDocument/2006/relationships/image" Target="../media/image-16-8.sv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image" Target="../media/image-18-7.png"/><Relationship Id="rId8" Type="http://schemas.openxmlformats.org/officeDocument/2006/relationships/image" Target="../media/image-18-8.sv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svg"/><Relationship Id="rId3" Type="http://schemas.openxmlformats.org/officeDocument/2006/relationships/image" Target="../media/image-23-3.png"/><Relationship Id="rId4" Type="http://schemas.openxmlformats.org/officeDocument/2006/relationships/image" Target="../media/image-23-4.svg"/><Relationship Id="rId5" Type="http://schemas.openxmlformats.org/officeDocument/2006/relationships/image" Target="../media/image-23-5.png"/><Relationship Id="rId6" Type="http://schemas.openxmlformats.org/officeDocument/2006/relationships/image" Target="../media/image-23-6.sv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svg"/><Relationship Id="rId3" Type="http://schemas.openxmlformats.org/officeDocument/2006/relationships/image" Target="../media/image-25-3.png"/><Relationship Id="rId4" Type="http://schemas.openxmlformats.org/officeDocument/2006/relationships/image" Target="../media/image-25-4.svg"/><Relationship Id="rId5" Type="http://schemas.openxmlformats.org/officeDocument/2006/relationships/image" Target="../media/image-25-5.png"/><Relationship Id="rId6" Type="http://schemas.openxmlformats.org/officeDocument/2006/relationships/image" Target="../media/image-25-6.svg"/><Relationship Id="rId7" Type="http://schemas.openxmlformats.org/officeDocument/2006/relationships/image" Target="../media/image-25-7.png"/><Relationship Id="rId8" Type="http://schemas.openxmlformats.org/officeDocument/2006/relationships/image" Target="../media/image-25-8.svg"/><Relationship Id="rId9" Type="http://schemas.openxmlformats.org/officeDocument/2006/relationships/image" Target="../media/image-25-9.png"/><Relationship Id="rId10" Type="http://schemas.openxmlformats.org/officeDocument/2006/relationships/image" Target="../media/image-25-10.svg"/><Relationship Id="rId11" Type="http://schemas.openxmlformats.org/officeDocument/2006/relationships/slideLayout" Target="../slideLayouts/slideLayout1.xml"/><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566160" cy="512064"/>
          </a:xfrm>
          <a:prstGeom prst="roundRect">
            <a:avLst>
              <a:gd name="adj" fmla="val 50000"/>
            </a:avLst>
          </a:prstGeom>
          <a:solidFill>
            <a:srgbClr val="0F6CBD"/>
          </a:solidFill>
          <a:ln/>
        </p:spPr>
      </p:sp>
      <p:sp>
        <p:nvSpPr>
          <p:cNvPr id="4" name="Text 2"/>
          <p:cNvSpPr/>
          <p:nvPr/>
        </p:nvSpPr>
        <p:spPr>
          <a:xfrm>
            <a:off x="502920" y="1188720"/>
            <a:ext cx="356616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114055 · NQF 5 · 3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Ethics &amp; Professionalism</a:t>
            </a:r>
            <a:endParaRPr lang="en-US" sz="5200" dirty="0"/>
          </a:p>
        </p:txBody>
      </p:sp>
      <p:sp>
        <p:nvSpPr>
          <p:cNvPr id="6" name="Text 4"/>
          <p:cNvSpPr/>
          <p:nvPr/>
        </p:nvSpPr>
        <p:spPr>
          <a:xfrm>
            <a:off x="502920" y="3246120"/>
            <a:ext cx="9601200" cy="77724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Demonstrate an awareness of ethics and professionalism for the computer industry in South Africa</a:t>
            </a:r>
            <a:endParaRPr lang="en-US" sz="2100" dirty="0"/>
          </a:p>
        </p:txBody>
      </p:sp>
      <p:sp>
        <p:nvSpPr>
          <p:cNvPr id="7" name="Text 5"/>
          <p:cNvSpPr/>
          <p:nvPr/>
        </p:nvSpPr>
        <p:spPr>
          <a:xfrm>
            <a:off x="502920" y="406908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89204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Competence Requirements</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7891272"/>
              </a:tblGrid>
              <a:tr h="640080">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Section</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What it covers</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Introduction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What ethics and professionalism mean for a computing professional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Constitution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How the Computer Society of South Africa — today the IITPSA — elevates ICT capability and professionalism</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Code of Practice</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Competence, organisation &amp; management, contracting, privacy &amp; security, development, implementation and live systems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Professional bodies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CSSA, BITF, ITUC and ITA — who they are and what they do</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Code of Ethics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Equality of opportunity, and how the industry fights software piracy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Question Sessions 1 &amp; 2</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Your knowledge of professionalism and ethics is assessed with typed answers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Self-assessment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INTRODUCTION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Ethics &amp; Professionalism for the Computer Industry</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Unit Standard 114055 — Demonstrate an awareness of ethics and professionalism for the computer industry in South Africa — is about knowing how a computing professional is expected to behave: the professional practices that are acceptable and unacceptable, the professional bodies that represent the industry, the codes of practice they publish, and the code of ethics that governs issues such as equality of opportunity and software piracy.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guide works through two big sections. First, Professionalism and Codes of Practice: the CSSA Constitution and its Code of Practice — competence, organisation and management, contracting, privacy and security, development, implementation and live systems — and the professional bodies CSSA, BITF, ITUC and ITA. Second, the Code of Ethics: equality of opportunity, and how the industry fights software piracy in South Africa.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Read each section carefully. After the lesson, two Question Sessions assess your knowledge with typed answers, and a self-assessment checklist closes the unit.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Constitution</a:t>
            </a:r>
            <a:endParaRPr lang="en-US" sz="3200" dirty="0"/>
          </a:p>
        </p:txBody>
      </p:sp>
      <p:sp>
        <p:nvSpPr>
          <p:cNvPr id="7" name="Text 5"/>
          <p:cNvSpPr/>
          <p:nvPr/>
        </p:nvSpPr>
        <p:spPr>
          <a:xfrm>
            <a:off x="502920" y="1691640"/>
            <a:ext cx="11183112" cy="21945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Constitution is an important tool for the Information Society, guiding the way we operate. At the AGM on 22 July 2004 an amended version of the Constitution was adopted; the previous version had been registered in terms of the Companies Act in 1970, so it was updated to reflect today's environment.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Society (the Computer Society of South Africa) is established to elevate Information and Communications Technology (ICT) capability and professionalism in South Africa.</a:t>
            </a:r>
            <a:endParaRPr lang="en-US" sz="1700" dirty="0"/>
          </a:p>
        </p:txBody>
      </p:sp>
      <p:sp>
        <p:nvSpPr>
          <p:cNvPr id="8" name="Shape 6"/>
          <p:cNvSpPr/>
          <p:nvPr/>
        </p:nvSpPr>
        <p:spPr>
          <a:xfrm>
            <a:off x="502920" y="397764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06240"/>
            <a:ext cx="365760" cy="365760"/>
          </a:xfrm>
          <a:prstGeom prst="rect">
            <a:avLst/>
          </a:prstGeom>
        </p:spPr>
      </p:pic>
      <p:sp>
        <p:nvSpPr>
          <p:cNvPr id="10" name="Text 7"/>
          <p:cNvSpPr/>
          <p:nvPr/>
        </p:nvSpPr>
        <p:spPr>
          <a:xfrm>
            <a:off x="1280160" y="4160520"/>
            <a:ext cx="10131552" cy="1737360"/>
          </a:xfrm>
          <a:prstGeom prst="rect">
            <a:avLst/>
          </a:prstGeom>
          <a:noFill/>
          <a:ln/>
        </p:spPr>
        <p:txBody>
          <a:bodyPr wrap="square" rtlCol="0" anchor="ctr"/>
          <a:lstStyle/>
          <a:p>
            <a:pPr indent="0" marL="0">
              <a:lnSpc>
                <a:spcPct val="110000"/>
              </a:lnSpc>
              <a:buNone/>
            </a:pPr>
            <a:r>
              <a:rPr lang="en-US" sz="1250" b="1" spc="150" kern="0" dirty="0">
                <a:solidFill>
                  <a:srgbClr val="0F6CBD"/>
                </a:solidFill>
                <a:latin typeface="Aptos" pitchFamily="34" charset="0"/>
                <a:ea typeface="Aptos" pitchFamily="34" charset="-122"/>
                <a:cs typeface="Aptos" pitchFamily="34" charset="-120"/>
              </a:rPr>
              <a:t>PURPOSE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To elevate ICT capability and professionalism in South Africa — through the exchange of opinions and views on ICT, representing industry practitioners to inform and lobby Government on ICT policy, and promoting knowledge of ICT to members and the public.</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Aims of the Society</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Facilitate the exchange of opinions and views on ICT, and inform and promote knowledge of ICT to members and the public for the development and use of ICT.</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67712"/>
            <a:ext cx="310896" cy="310896"/>
          </a:xfrm>
          <a:prstGeom prst="rect">
            <a:avLst/>
          </a:prstGeom>
        </p:spPr>
      </p:pic>
      <p:sp>
        <p:nvSpPr>
          <p:cNvPr id="10" name="Text 6"/>
          <p:cNvSpPr/>
          <p:nvPr/>
        </p:nvSpPr>
        <p:spPr>
          <a:xfrm>
            <a:off x="1124712" y="213969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By representing industry practitioners, inform and lobby Government on ICT policy.</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834640"/>
            <a:ext cx="310896" cy="310896"/>
          </a:xfrm>
          <a:prstGeom prst="rect">
            <a:avLst/>
          </a:prstGeom>
        </p:spPr>
      </p:pic>
      <p:sp>
        <p:nvSpPr>
          <p:cNvPr id="12" name="Text 7"/>
          <p:cNvSpPr/>
          <p:nvPr/>
        </p:nvSpPr>
        <p:spPr>
          <a:xfrm>
            <a:off x="1124712" y="270662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Obtain information relating to ICT from members and other sources, and disseminate it amongst the public and the Society by means of journals, circulars, publications, lectures, seminars, conferences or otherwise.</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401568"/>
            <a:ext cx="310896" cy="310896"/>
          </a:xfrm>
          <a:prstGeom prst="rect">
            <a:avLst/>
          </a:prstGeom>
        </p:spPr>
      </p:pic>
      <p:sp>
        <p:nvSpPr>
          <p:cNvPr id="14" name="Text 8"/>
          <p:cNvSpPr/>
          <p:nvPr/>
        </p:nvSpPr>
        <p:spPr>
          <a:xfrm>
            <a:off x="1124712" y="3273552"/>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the technical and general knowledge and elevate the professional status of persons engaged in ICT.</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968496"/>
            <a:ext cx="310896" cy="310896"/>
          </a:xfrm>
          <a:prstGeom prst="rect">
            <a:avLst/>
          </a:prstGeom>
        </p:spPr>
      </p:pic>
      <p:sp>
        <p:nvSpPr>
          <p:cNvPr id="16" name="Text 9"/>
          <p:cNvSpPr/>
          <p:nvPr/>
        </p:nvSpPr>
        <p:spPr>
          <a:xfrm>
            <a:off x="1124712" y="3840480"/>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Education and training to elevate the level of ICT capability in South Africa.</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535424"/>
            <a:ext cx="310896" cy="310896"/>
          </a:xfrm>
          <a:prstGeom prst="rect">
            <a:avLst/>
          </a:prstGeom>
        </p:spPr>
      </p:pic>
      <p:sp>
        <p:nvSpPr>
          <p:cNvPr id="18" name="Text 10"/>
          <p:cNvSpPr/>
          <p:nvPr/>
        </p:nvSpPr>
        <p:spPr>
          <a:xfrm>
            <a:off x="1124712" y="440740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Professional development and advancement.</a:t>
            </a:r>
            <a:endParaRPr lang="en-US" sz="13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5102352"/>
            <a:ext cx="310896" cy="310896"/>
          </a:xfrm>
          <a:prstGeom prst="rect">
            <a:avLst/>
          </a:prstGeom>
        </p:spPr>
      </p:pic>
      <p:sp>
        <p:nvSpPr>
          <p:cNvPr id="20" name="Text 11"/>
          <p:cNvSpPr/>
          <p:nvPr/>
        </p:nvSpPr>
        <p:spPr>
          <a:xfrm>
            <a:off x="1124712" y="497433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Community development that enhances the standards and levels of ICT for the greater good of the South African people.</a:t>
            </a:r>
            <a:endParaRPr lang="en-US" sz="13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669280"/>
            <a:ext cx="310896" cy="310896"/>
          </a:xfrm>
          <a:prstGeom prst="rect">
            <a:avLst/>
          </a:prstGeom>
        </p:spPr>
      </p:pic>
      <p:sp>
        <p:nvSpPr>
          <p:cNvPr id="22" name="Text 12"/>
          <p:cNvSpPr/>
          <p:nvPr/>
        </p:nvSpPr>
        <p:spPr>
          <a:xfrm>
            <a:off x="1124712" y="554126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Do all such other lawful things as are incidental or conducive to the attainment of the above purposes.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Today — the IITPSA</a:t>
            </a:r>
            <a:endParaRPr lang="en-US" sz="3200" dirty="0"/>
          </a:p>
        </p:txBody>
      </p:sp>
      <p:sp>
        <p:nvSpPr>
          <p:cNvPr id="7" name="Text 5"/>
          <p:cNvSpPr/>
          <p:nvPr/>
        </p:nvSpPr>
        <p:spPr>
          <a:xfrm>
            <a:off x="502920" y="1600200"/>
            <a:ext cx="11183112" cy="86868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Computer Society of South Africa (CSSA) is now known as the Institute of Information Technology Professionals South Africa (IITPSA). The legacy CSSA Code of Practice and professional conduct guidelines can now be found through the official IITPSA website (iitpsa.org.za).</a:t>
            </a:r>
            <a:endParaRPr lang="en-US" sz="1500" dirty="0"/>
          </a:p>
        </p:txBody>
      </p:sp>
      <p:sp>
        <p:nvSpPr>
          <p:cNvPr id="8" name="Text 6"/>
          <p:cNvSpPr/>
          <p:nvPr/>
        </p:nvSpPr>
        <p:spPr>
          <a:xfrm>
            <a:off x="502920" y="2395728"/>
            <a:ext cx="11183112" cy="292608"/>
          </a:xfrm>
          <a:prstGeom prst="rect">
            <a:avLst/>
          </a:prstGeom>
          <a:noFill/>
          <a:ln/>
        </p:spPr>
        <p:txBody>
          <a:bodyPr wrap="square" rtlCol="0" anchor="ctr"/>
          <a:lstStyle/>
          <a:p>
            <a:pPr indent="0" marL="0">
              <a:buNone/>
            </a:pPr>
            <a:r>
              <a:rPr lang="en-US" sz="1350" dirty="0">
                <a:solidFill>
                  <a:srgbClr val="002050"/>
                </a:solidFill>
                <a:latin typeface="Aptos" pitchFamily="34" charset="0"/>
                <a:ea typeface="Aptos" pitchFamily="34" charset="-122"/>
                <a:cs typeface="Aptos" pitchFamily="34" charset="-120"/>
              </a:rPr>
              <a:t>Read the Institute's current Constitution: </a:t>
            </a:r>
            <a:pPr indent="0" marL="0">
              <a:buNone/>
            </a:pPr>
            <a:r>
              <a:rPr lang="en-US" sz="1350" b="1" u="sng" dirty="0">
                <a:solidFill>
                  <a:srgbClr val="0F6CBD"/>
                </a:solidFill>
                <a:latin typeface="Aptos" pitchFamily="34" charset="0"/>
                <a:ea typeface="Aptos" pitchFamily="34" charset="-122"/>
                <a:cs typeface="Aptos" pitchFamily="34" charset="-120"/>
                <a:hlinkClick r:id="rId1" invalidUrl="" action="" tgtFrame="" tooltip="IITPSA Constitution" history="1" highlightClick="0" endSnd="0">
                  <a:extLst>
                    <a:ext uri="{A12FA001-AC4F-418D-AE19-62706E023703}">
                      <ahyp:hlinkClr xmlns:ahyp="http://schemas.microsoft.com/office/drawing/2018/hyperlinkcolor" val="tx"/>
                    </a:ext>
                  </a:extLst>
                </a:hlinkClick>
              </a:rPr>
              <a:t>www.iitpsa.org.za/constitution</a:t>
            </a:r>
            <a:endParaRPr lang="en-US" sz="1350" dirty="0"/>
          </a:p>
        </p:txBody>
      </p:sp>
      <p:sp>
        <p:nvSpPr>
          <p:cNvPr id="9" name="Text 7"/>
          <p:cNvSpPr/>
          <p:nvPr/>
        </p:nvSpPr>
        <p:spPr>
          <a:xfrm>
            <a:off x="502920" y="274320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HOW TO JOIN</a:t>
            </a:r>
            <a:endParaRPr lang="en-US" sz="1250" dirty="0"/>
          </a:p>
        </p:txBody>
      </p:sp>
      <p:sp>
        <p:nvSpPr>
          <p:cNvPr id="10" name="Shape 8"/>
          <p:cNvSpPr/>
          <p:nvPr/>
        </p:nvSpPr>
        <p:spPr>
          <a:xfrm>
            <a:off x="502920" y="3035808"/>
            <a:ext cx="457200" cy="457200"/>
          </a:xfrm>
          <a:prstGeom prst="ellipse">
            <a:avLst/>
          </a:prstGeom>
          <a:solidFill>
            <a:srgbClr val="0F6CBD"/>
          </a:solidFill>
          <a:ln/>
        </p:spPr>
      </p:sp>
      <p:sp>
        <p:nvSpPr>
          <p:cNvPr id="11" name="Text 9"/>
          <p:cNvSpPr/>
          <p:nvPr/>
        </p:nvSpPr>
        <p:spPr>
          <a:xfrm>
            <a:off x="502920" y="303580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12" name="Text 10"/>
          <p:cNvSpPr/>
          <p:nvPr/>
        </p:nvSpPr>
        <p:spPr>
          <a:xfrm>
            <a:off x="1161288" y="2990088"/>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Create a profile on the IITPSA Membership Portal.</a:t>
            </a:r>
            <a:endParaRPr lang="en-US" sz="1400" dirty="0"/>
          </a:p>
        </p:txBody>
      </p:sp>
      <p:sp>
        <p:nvSpPr>
          <p:cNvPr id="13" name="Shape 11"/>
          <p:cNvSpPr/>
          <p:nvPr/>
        </p:nvSpPr>
        <p:spPr>
          <a:xfrm>
            <a:off x="502920" y="3511296"/>
            <a:ext cx="457200" cy="457200"/>
          </a:xfrm>
          <a:prstGeom prst="ellipse">
            <a:avLst/>
          </a:prstGeom>
          <a:solidFill>
            <a:srgbClr val="0F6CBD"/>
          </a:solidFill>
          <a:ln/>
        </p:spPr>
      </p:sp>
      <p:sp>
        <p:nvSpPr>
          <p:cNvPr id="14" name="Text 12"/>
          <p:cNvSpPr/>
          <p:nvPr/>
        </p:nvSpPr>
        <p:spPr>
          <a:xfrm>
            <a:off x="502920" y="351129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5" name="Text 13"/>
          <p:cNvSpPr/>
          <p:nvPr/>
        </p:nvSpPr>
        <p:spPr>
          <a:xfrm>
            <a:off x="1161288" y="3465576"/>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Choose your membership tier.</a:t>
            </a:r>
            <a:endParaRPr lang="en-US" sz="1400" dirty="0"/>
          </a:p>
        </p:txBody>
      </p:sp>
      <p:sp>
        <p:nvSpPr>
          <p:cNvPr id="16" name="Shape 14"/>
          <p:cNvSpPr/>
          <p:nvPr/>
        </p:nvSpPr>
        <p:spPr>
          <a:xfrm>
            <a:off x="502920" y="3986784"/>
            <a:ext cx="457200" cy="457200"/>
          </a:xfrm>
          <a:prstGeom prst="ellipse">
            <a:avLst/>
          </a:prstGeom>
          <a:solidFill>
            <a:srgbClr val="0F6CBD"/>
          </a:solidFill>
          <a:ln/>
        </p:spPr>
      </p:sp>
      <p:sp>
        <p:nvSpPr>
          <p:cNvPr id="17" name="Text 15"/>
          <p:cNvSpPr/>
          <p:nvPr/>
        </p:nvSpPr>
        <p:spPr>
          <a:xfrm>
            <a:off x="502920" y="398678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8" name="Text 16"/>
          <p:cNvSpPr/>
          <p:nvPr/>
        </p:nvSpPr>
        <p:spPr>
          <a:xfrm>
            <a:off x="1161288" y="3941064"/>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Submit certified qualifications and a CV.</a:t>
            </a:r>
            <a:endParaRPr lang="en-US" sz="1400" dirty="0"/>
          </a:p>
        </p:txBody>
      </p:sp>
      <p:sp>
        <p:nvSpPr>
          <p:cNvPr id="19" name="Shape 17"/>
          <p:cNvSpPr/>
          <p:nvPr/>
        </p:nvSpPr>
        <p:spPr>
          <a:xfrm>
            <a:off x="502920" y="4462272"/>
            <a:ext cx="457200" cy="457200"/>
          </a:xfrm>
          <a:prstGeom prst="ellipse">
            <a:avLst/>
          </a:prstGeom>
          <a:solidFill>
            <a:srgbClr val="0F6CBD"/>
          </a:solidFill>
          <a:ln/>
        </p:spPr>
      </p:sp>
      <p:sp>
        <p:nvSpPr>
          <p:cNvPr id="20" name="Text 18"/>
          <p:cNvSpPr/>
          <p:nvPr/>
        </p:nvSpPr>
        <p:spPr>
          <a:xfrm>
            <a:off x="502920" y="446227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21" name="Text 19"/>
          <p:cNvSpPr/>
          <p:nvPr/>
        </p:nvSpPr>
        <p:spPr>
          <a:xfrm>
            <a:off x="1161288" y="4416552"/>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Pay the relevant application and annual fees.</a:t>
            </a:r>
            <a:endParaRPr lang="en-US" sz="1400" dirty="0"/>
          </a:p>
        </p:txBody>
      </p:sp>
      <p:sp>
        <p:nvSpPr>
          <p:cNvPr id="22" name="Shape 20"/>
          <p:cNvSpPr/>
          <p:nvPr/>
        </p:nvSpPr>
        <p:spPr>
          <a:xfrm>
            <a:off x="502920" y="4937760"/>
            <a:ext cx="11183112" cy="1417320"/>
          </a:xfrm>
          <a:prstGeom prst="roundRect">
            <a:avLst>
              <a:gd name="adj" fmla="val 5806"/>
            </a:avLst>
          </a:prstGeom>
          <a:solidFill>
            <a:srgbClr val="EAF4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pic>
        <p:nvPicPr>
          <p:cNvPr id="23" name="Image 0"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1520" y="5138928"/>
            <a:ext cx="365760" cy="365760"/>
          </a:xfrm>
          <a:prstGeom prst="rect">
            <a:avLst/>
          </a:prstGeom>
        </p:spPr>
      </p:pic>
      <p:sp>
        <p:nvSpPr>
          <p:cNvPr id="24" name="Text 21"/>
          <p:cNvSpPr/>
          <p:nvPr/>
        </p:nvSpPr>
        <p:spPr>
          <a:xfrm>
            <a:off x="1280160" y="5029200"/>
            <a:ext cx="10131552" cy="1261872"/>
          </a:xfrm>
          <a:prstGeom prst="rect">
            <a:avLst/>
          </a:prstGeom>
          <a:noFill/>
          <a:ln/>
        </p:spPr>
        <p:txBody>
          <a:bodyPr wrap="square" rtlCol="0" anchor="ctr"/>
          <a:lstStyle/>
          <a:p>
            <a:pPr indent="0" marL="0">
              <a:lnSpc>
                <a:spcPct val="108000"/>
              </a:lnSpc>
              <a:buNone/>
            </a:pPr>
            <a:r>
              <a:rPr lang="en-US" sz="1250" b="1" spc="150" kern="0" dirty="0">
                <a:solidFill>
                  <a:srgbClr val="0F6CBD"/>
                </a:solidFill>
                <a:latin typeface="Aptos" pitchFamily="34" charset="0"/>
                <a:ea typeface="Aptos" pitchFamily="34" charset="-122"/>
                <a:cs typeface="Aptos" pitchFamily="34" charset="-120"/>
              </a:rPr>
              <a:t>WHY JOIN?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Professional recognition — the letters MIITPSA (Member), PMIITPSA® (Professional Member) or Pr.CIO® (Professional CIO) after your name identify you as belonging to a professional body · International recognition — grading and admission criteria are maintained in line with international practices · Networking — seminars, workshops, events and Special Interest Groups · Career advancement — companies increasingly recognise IITPSA membership as a prerequisite for promotion.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Code of Practice — What It Is</a:t>
            </a:r>
            <a:endParaRPr lang="en-US" sz="3200" dirty="0"/>
          </a:p>
        </p:txBody>
      </p:sp>
      <p:sp>
        <p:nvSpPr>
          <p:cNvPr id="7" name="Text 5"/>
          <p:cNvSpPr/>
          <p:nvPr/>
        </p:nvSpPr>
        <p:spPr>
          <a:xfrm>
            <a:off x="502920" y="164592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generally accepted Codes of Good Practice in the South African IT industry are set out by the Computer Society of South Africa — one of, if not the most respected associations concerned with South African Information Technology.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of Practice is directed to all professional members of the CSSA. It consists, essentially, of a series of statements that prescribe minimum standards of practice to be observed by members.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is concerned with professional responsibility. All members have responsibilities — to clients, to users, to the State and to society at large. Members who are employees also have responsibilities to their employers and employers' customers and, often, to a Trade Union. In the event of an apparent clash in responsibilities, obligations or prescribed practice, the Society should be consulted at the earliest opportunity.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is to be viewed as a whole: individual parts are not intended to be used in isolation to justify errors of omission or commission. The Code is intended to be observed in the spirit and not merely to the word.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Because CSSA membership covers all occupations relevant to the use of computers, the Code is set out in two levels: Level One — a series of brief statements defining the elements of practice to be observed; Level Two — the rationale for the Level One statements. Many clauses may seem to state the obvious, but much that goes wrong in computer use does so because the obvious has been overlooked.</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1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Personal Competence &amp; Keeping Up to Date</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 the practice of their profession, members will, to the extent that they are responsible:</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1.1 Keep informed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Keep themselves, and subordinates, informed of new technologies, practices, legal requirements and standards relevant to their duties — you cannot retain professional standing by relying on the knowledge you had when you qualified.</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1.2 Train on an equal opportunity basis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subordinates are trained on an equal opportunity basis, in order to be effective in their duties and to qualify for increased responsibilities.</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1.3 Accept only competent work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Accept only such work as they believe they are competent to perform — always be aware of your own limitations and never knowingly imply competence you do not possess.</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1.4 Seek efficiency and effectiveness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Actively seek opportunities for increasing efficiency and effectiveness to the benefit of the user and of the ultimate recipient.</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2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Organisation &amp; Management</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Computer management is still management — the normal principles applicable to any kind of management apply here also:</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2.1 Plan and review objectives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Plan, establish and review objectives, tasks and organisational structures for themselves and subordinates — it is dangerously easy to become engrossed in the problem of the moment and lose sight of overall objectives.</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2.2 Assign tasks by ability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that specific tasks are assigned to individuals according to their known ability and competence — delegate work that develops competence and increases motivation.</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2.3 Maintain channels of communication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Establish and maintain channels of communication from and to seniors, equals and subordinates — good communication is vital and can be improved considerably by formal training.</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2.4 Be accountable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Be accountable for the quality, timeliness and use of resources in the work for which they are responsible — provide a service of agreed quality, on time and within budget, and plan for contingencies.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3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Contracting</a:t>
            </a:r>
            <a:endParaRPr lang="en-US" sz="3200" dirty="0"/>
          </a:p>
        </p:txBody>
      </p:sp>
      <p:sp>
        <p:nvSpPr>
          <p:cNvPr id="7" name="Text 5"/>
          <p:cNvSpPr/>
          <p:nvPr/>
        </p:nvSpPr>
        <p:spPr>
          <a:xfrm>
            <a:off x="502920" y="1517904"/>
            <a:ext cx="11183112" cy="45720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Some formal agreement — even if not a specific contract — is needed before any project is started. Commitment and definition of responsibilities are essential, in advance of action:</a:t>
            </a:r>
            <a:endParaRPr lang="en-US" sz="1500" dirty="0"/>
          </a:p>
        </p:txBody>
      </p:sp>
      <p:sp>
        <p:nvSpPr>
          <p:cNvPr id="8" name="Shape 6"/>
          <p:cNvSpPr/>
          <p:nvPr/>
        </p:nvSpPr>
        <p:spPr>
          <a:xfrm>
            <a:off x="502920" y="2103120"/>
            <a:ext cx="11183112" cy="1865376"/>
          </a:xfrm>
          <a:prstGeom prst="roundRect">
            <a:avLst>
              <a:gd name="adj" fmla="val 4412"/>
            </a:avLst>
          </a:prstGeom>
          <a:solidFill>
            <a:srgbClr val="FFFF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9" name="Shape 7"/>
          <p:cNvSpPr/>
          <p:nvPr/>
        </p:nvSpPr>
        <p:spPr>
          <a:xfrm>
            <a:off x="502920" y="2103120"/>
            <a:ext cx="82296" cy="1865376"/>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3.1 Seek expert advice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Seek expert advice in the preparation of any formal contract — just as you expect to be consulted in your field, be ready to consult other specialists for guidance on contracts, commerce, finance, tax, law or risk evaluation. A badly drawn-up contract or a wrong assessment of a legal situation carries real dangers; many professional bodies provide 'standard contract' forms to reduce problem areas.</a:t>
            </a:r>
            <a:endParaRPr lang="en-US" sz="1850" dirty="0"/>
          </a:p>
        </p:txBody>
      </p:sp>
      <p:sp>
        <p:nvSpPr>
          <p:cNvPr id="12" name="Shape 9"/>
          <p:cNvSpPr/>
          <p:nvPr/>
        </p:nvSpPr>
        <p:spPr>
          <a:xfrm>
            <a:off x="502920" y="4169664"/>
            <a:ext cx="11183112" cy="1865376"/>
          </a:xfrm>
          <a:prstGeom prst="roundRect">
            <a:avLst>
              <a:gd name="adj" fmla="val 4412"/>
            </a:avLst>
          </a:prstGeom>
          <a:solidFill>
            <a:srgbClr val="EAF4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13" name="Shape 10"/>
          <p:cNvSpPr/>
          <p:nvPr/>
        </p:nvSpPr>
        <p:spPr>
          <a:xfrm>
            <a:off x="502920" y="4169664"/>
            <a:ext cx="82296" cy="1865376"/>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34256"/>
            <a:ext cx="365760" cy="365760"/>
          </a:xfrm>
          <a:prstGeom prst="rect">
            <a:avLst/>
          </a:prstGeom>
        </p:spPr>
      </p:pic>
      <p:sp>
        <p:nvSpPr>
          <p:cNvPr id="15" name="Text 11"/>
          <p:cNvSpPr/>
          <p:nvPr/>
        </p:nvSpPr>
        <p:spPr>
          <a:xfrm>
            <a:off x="1280160" y="4279392"/>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3.2 Cover all requirements and responsibilities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Ensure that all requirements and the practical responsibilities of all parties are adequately covered in any contract or tendering procedures — review the totality of the detail, taking care that items such as provision of accommodation, typing, data preparation, responsibility for media security and standby arrangements are not forgotten.</a:t>
            </a:r>
            <a:endParaRPr lang="en-US" sz="1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Evaluating Risk</a:t>
            </a:r>
            <a:endParaRPr lang="en-US" sz="3200" dirty="0"/>
          </a:p>
        </p:txBody>
      </p:sp>
      <p:sp>
        <p:nvSpPr>
          <p:cNvPr id="7" name="Text 5"/>
          <p:cNvSpPr/>
          <p:nvPr/>
        </p:nvSpPr>
        <p:spPr>
          <a:xfrm>
            <a:off x="502920" y="1645920"/>
            <a:ext cx="11183112" cy="19202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system is at risk from the moment the project that develops it is first conceived, and the risk remains at least until after the system is finally discontinued. Threats to security range from incompetence, accident and carelessness to deliberate theft, fraud, espionage or malicious attack.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Members must ascertain and evaluate all potential risks with regard to the cost, effectiveness and practicality of proposed levels of security (4.1) — deciding how much should be spent on security in four areas:</a:t>
            </a:r>
            <a:endParaRPr lang="en-US" sz="1550" dirty="0"/>
          </a:p>
        </p:txBody>
      </p:sp>
      <p:sp>
        <p:nvSpPr>
          <p:cNvPr id="8" name="Shape 6"/>
          <p:cNvSpPr/>
          <p:nvPr/>
        </p:nvSpPr>
        <p:spPr>
          <a:xfrm>
            <a:off x="502920" y="3611880"/>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sp>
        <p:nvSpPr>
          <p:cNvPr id="9" name="Shape 7"/>
          <p:cNvSpPr/>
          <p:nvPr/>
        </p:nvSpPr>
        <p:spPr>
          <a:xfrm>
            <a:off x="502920" y="3611880"/>
            <a:ext cx="82296" cy="47777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776472"/>
            <a:ext cx="365760" cy="365760"/>
          </a:xfrm>
          <a:prstGeom prst="rect">
            <a:avLst/>
          </a:prstGeom>
        </p:spPr>
      </p:pic>
      <p:sp>
        <p:nvSpPr>
          <p:cNvPr id="11" name="Text 8"/>
          <p:cNvSpPr/>
          <p:nvPr/>
        </p:nvSpPr>
        <p:spPr>
          <a:xfrm>
            <a:off x="1280160" y="3721608"/>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Protection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Preventing threats from becoming reality.</a:t>
            </a:r>
            <a:endParaRPr lang="en-US" sz="1600" dirty="0"/>
          </a:p>
        </p:txBody>
      </p:sp>
      <p:sp>
        <p:nvSpPr>
          <p:cNvPr id="12" name="Shape 9"/>
          <p:cNvSpPr/>
          <p:nvPr/>
        </p:nvSpPr>
        <p:spPr>
          <a:xfrm>
            <a:off x="502920" y="4290822"/>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13" name="Shape 10"/>
          <p:cNvSpPr/>
          <p:nvPr/>
        </p:nvSpPr>
        <p:spPr>
          <a:xfrm>
            <a:off x="502920" y="4290822"/>
            <a:ext cx="82296" cy="47777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455414"/>
            <a:ext cx="365760" cy="365760"/>
          </a:xfrm>
          <a:prstGeom prst="rect">
            <a:avLst/>
          </a:prstGeom>
        </p:spPr>
      </p:pic>
      <p:sp>
        <p:nvSpPr>
          <p:cNvPr id="15" name="Text 11"/>
          <p:cNvSpPr/>
          <p:nvPr/>
        </p:nvSpPr>
        <p:spPr>
          <a:xfrm>
            <a:off x="1280160" y="4400550"/>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Detection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In time to take suppressive action.</a:t>
            </a:r>
            <a:endParaRPr lang="en-US" sz="1600" dirty="0"/>
          </a:p>
        </p:txBody>
      </p:sp>
      <p:sp>
        <p:nvSpPr>
          <p:cNvPr id="16" name="Shape 12"/>
          <p:cNvSpPr/>
          <p:nvPr/>
        </p:nvSpPr>
        <p:spPr>
          <a:xfrm>
            <a:off x="502920" y="4969764"/>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17" name="Shape 13"/>
          <p:cNvSpPr/>
          <p:nvPr/>
        </p:nvSpPr>
        <p:spPr>
          <a:xfrm>
            <a:off x="502920" y="4969764"/>
            <a:ext cx="82296" cy="47777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34356"/>
            <a:ext cx="365760" cy="365760"/>
          </a:xfrm>
          <a:prstGeom prst="rect">
            <a:avLst/>
          </a:prstGeom>
        </p:spPr>
      </p:pic>
      <p:sp>
        <p:nvSpPr>
          <p:cNvPr id="19" name="Text 14"/>
          <p:cNvSpPr/>
          <p:nvPr/>
        </p:nvSpPr>
        <p:spPr>
          <a:xfrm>
            <a:off x="1280160" y="5079492"/>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Suppression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limit the effect.</a:t>
            </a:r>
            <a:endParaRPr lang="en-US" sz="1600" dirty="0"/>
          </a:p>
        </p:txBody>
      </p:sp>
      <p:sp>
        <p:nvSpPr>
          <p:cNvPr id="20" name="Shape 15"/>
          <p:cNvSpPr/>
          <p:nvPr/>
        </p:nvSpPr>
        <p:spPr>
          <a:xfrm>
            <a:off x="502920" y="5648706"/>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21" name="Shape 16"/>
          <p:cNvSpPr/>
          <p:nvPr/>
        </p:nvSpPr>
        <p:spPr>
          <a:xfrm>
            <a:off x="502920" y="5648706"/>
            <a:ext cx="82296" cy="47777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813298"/>
            <a:ext cx="365760" cy="365760"/>
          </a:xfrm>
          <a:prstGeom prst="rect">
            <a:avLst/>
          </a:prstGeom>
        </p:spPr>
      </p:pic>
      <p:sp>
        <p:nvSpPr>
          <p:cNvPr id="23" name="Text 17"/>
          <p:cNvSpPr/>
          <p:nvPr/>
        </p:nvSpPr>
        <p:spPr>
          <a:xfrm>
            <a:off x="1280160" y="5758434"/>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Recovery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rectify and get the system going.</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The Clauses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Recommend appropriate levels of security, commensurate with the anticipated risks and appropriate to the needs of the client — some areas of risk are mandatory, such as health and safety legislation.</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Apply, monitor and report upon the effectiveness of the agreed levels of security — an ongoing security audit keeps people aware of requirements and identifies weaknesses and loopholes.</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all staff are trained to take effective action to protect life, data and equipment (in that order) in the event of disaster — the safety of people comes first.</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Take all reasonable measures to protect confidential information from inadvertent or deliberate improper access or use — your responsibility for confidentiality is at least as great as in other professions.</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competent people are assigned responsibility for the accuracy and integrity of the data in data files and each part of an organisation's database.</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4.7: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where stored data may be dangerous to an individual, the individual has adequate rights of review, correction and appeal — for example credit information that is incorrect or disputed.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5.1 to 5.6</a:t>
            </a:r>
            <a:endParaRPr lang="en-US" sz="3200" dirty="0"/>
          </a:p>
        </p:txBody>
      </p:sp>
      <p:sp>
        <p:nvSpPr>
          <p:cNvPr id="7" name="Text 5"/>
          <p:cNvSpPr/>
          <p:nvPr/>
        </p:nvSpPr>
        <p:spPr>
          <a:xfrm>
            <a:off x="502920" y="1517904"/>
            <a:ext cx="11183112" cy="50292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'Development' means all the work involved to reach the stage where a viable computer system is ready to become operational, including installing the system in its eventual production environment.</a:t>
            </a:r>
            <a:endParaRPr lang="en-US" sz="14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03704"/>
            <a:ext cx="310896" cy="310896"/>
          </a:xfrm>
          <a:prstGeom prst="rect">
            <a:avLst/>
          </a:prstGeom>
        </p:spPr>
      </p:pic>
      <p:sp>
        <p:nvSpPr>
          <p:cNvPr id="9" name="Text 6"/>
          <p:cNvSpPr/>
          <p:nvPr/>
        </p:nvSpPr>
        <p:spPr>
          <a:xfrm>
            <a:off x="1124712" y="207568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5.1: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Exercise impartiality when evaluating each project with respect to its technical, moral and economic benefits — do not lose objectivity through enthusiasm for the latest technology.</a:t>
            </a:r>
            <a:endParaRPr lang="en-US" sz="13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862072"/>
            <a:ext cx="310896" cy="310896"/>
          </a:xfrm>
          <a:prstGeom prst="rect">
            <a:avLst/>
          </a:prstGeom>
        </p:spPr>
      </p:pic>
      <p:sp>
        <p:nvSpPr>
          <p:cNvPr id="11" name="Text 7"/>
          <p:cNvSpPr/>
          <p:nvPr/>
        </p:nvSpPr>
        <p:spPr>
          <a:xfrm>
            <a:off x="1124712" y="2734056"/>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Effectively plan, monitor, adjust and report on all development, acquisition or replacement projects.</a:t>
            </a:r>
            <a:endParaRPr lang="en-US" sz="130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20440"/>
            <a:ext cx="310896" cy="310896"/>
          </a:xfrm>
          <a:prstGeom prst="rect">
            <a:avLst/>
          </a:prstGeom>
        </p:spPr>
      </p:pic>
      <p:sp>
        <p:nvSpPr>
          <p:cNvPr id="13" name="Text 8"/>
          <p:cNvSpPr/>
          <p:nvPr/>
        </p:nvSpPr>
        <p:spPr>
          <a:xfrm>
            <a:off x="1124712" y="3392424"/>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effective standard procedures and documentation are available and used — standards should not cause inhibiting rigidity but provide a framework.</a:t>
            </a:r>
            <a:endParaRPr lang="en-US" sz="13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178808"/>
            <a:ext cx="310896" cy="310896"/>
          </a:xfrm>
          <a:prstGeom prst="rect">
            <a:avLst/>
          </a:prstGeom>
        </p:spPr>
      </p:pic>
      <p:sp>
        <p:nvSpPr>
          <p:cNvPr id="15" name="Text 9"/>
          <p:cNvSpPr/>
          <p:nvPr/>
        </p:nvSpPr>
        <p:spPr>
          <a:xfrm>
            <a:off x="1124712" y="4050792"/>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Specify the system objectives, completion date, cost and security requirements for the client and the criteria for their achievement — and review objectives regularly on large projects.</a:t>
            </a:r>
            <a:endParaRPr lang="en-US" sz="130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37176"/>
            <a:ext cx="310896" cy="310896"/>
          </a:xfrm>
          <a:prstGeom prst="rect">
            <a:avLst/>
          </a:prstGeom>
        </p:spPr>
      </p:pic>
      <p:sp>
        <p:nvSpPr>
          <p:cNvPr id="17" name="Text 10"/>
          <p:cNvSpPr/>
          <p:nvPr/>
        </p:nvSpPr>
        <p:spPr>
          <a:xfrm>
            <a:off x="1124712" y="4709160"/>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the client can participate in all stages of problem analysis, system development and implementation — the system ultimately belongs to the client.</a:t>
            </a:r>
            <a:endParaRPr lang="en-US" sz="130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10896" cy="310896"/>
          </a:xfrm>
          <a:prstGeom prst="rect">
            <a:avLst/>
          </a:prstGeom>
        </p:spPr>
      </p:pic>
      <p:sp>
        <p:nvSpPr>
          <p:cNvPr id="19" name="Text 11"/>
          <p:cNvSpPr/>
          <p:nvPr/>
        </p:nvSpPr>
        <p:spPr>
          <a:xfrm>
            <a:off x="1124712" y="536752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each task is completed to a defined level before the next dependent task is started — e.g. do not start writing a program before the specification is complete.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5.7 to 5.12</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5.7: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Specify and conduct program tests and system tests to prove the system functions as intended — not merely to detect errors — with the client involved.</a:t>
            </a:r>
            <a:endParaRPr lang="en-US" sz="13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5.8: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systems are designed and documented to facilitate subsequent audit, maintenance, enhancement and accurate comprehension by users.</a:t>
            </a:r>
            <a:endParaRPr lang="en-US" sz="135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5.9: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input and output are designed to obviate misunderstanding — avoid jargon, unfamiliar codes and abbreviations; use plain language.</a:t>
            </a:r>
            <a:endParaRPr lang="en-US" sz="135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5.10: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delete erroneous, redundant and out-of-date data from files.</a:t>
            </a:r>
            <a:endParaRPr lang="en-US" sz="135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5.11: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restore data and program files after loss, corruption or system failure — designed in at the start, not after a disaster.</a:t>
            </a:r>
            <a:endParaRPr lang="en-US" sz="135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5.12: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projects are completed with technical soundness, using the most appropriate technology, within time and cost constraints — the best technology for the client's problem, not necessarily the most sophisticated.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6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Implementation</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Implementation is the transition from development to full operation:</a:t>
            </a:r>
            <a:endParaRPr lang="en-US" sz="1500" dirty="0"/>
          </a:p>
        </p:txBody>
      </p:sp>
      <p:sp>
        <p:nvSpPr>
          <p:cNvPr id="8" name="Shape 6"/>
          <p:cNvSpPr/>
          <p:nvPr/>
        </p:nvSpPr>
        <p:spPr>
          <a:xfrm>
            <a:off x="502920" y="196596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9" name="Shape 7"/>
          <p:cNvSpPr/>
          <p:nvPr/>
        </p:nvSpPr>
        <p:spPr>
          <a:xfrm>
            <a:off x="502920" y="1965960"/>
            <a:ext cx="82296" cy="122224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6.1 Train users and operations staff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adequate provision is made for user and operations staff training in all functions of the system for which they are responsible — the task is not complete until the system can be used effectively by the client's staff, and training in advance of implementation counters resistance to change.</a:t>
            </a:r>
            <a:endParaRPr lang="en-US" sz="1750" dirty="0"/>
          </a:p>
        </p:txBody>
      </p:sp>
      <p:sp>
        <p:nvSpPr>
          <p:cNvPr id="12" name="Shape 9"/>
          <p:cNvSpPr/>
          <p:nvPr/>
        </p:nvSpPr>
        <p:spPr>
          <a:xfrm>
            <a:off x="502920" y="338937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13" name="Shape 10"/>
          <p:cNvSpPr/>
          <p:nvPr/>
        </p:nvSpPr>
        <p:spPr>
          <a:xfrm>
            <a:off x="502920" y="3389376"/>
            <a:ext cx="82296" cy="122224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553968"/>
            <a:ext cx="365760" cy="365760"/>
          </a:xfrm>
          <a:prstGeom prst="rect">
            <a:avLst/>
          </a:prstGeom>
        </p:spPr>
      </p:pic>
      <p:sp>
        <p:nvSpPr>
          <p:cNvPr id="15" name="Text 11"/>
          <p:cNvSpPr/>
          <p:nvPr/>
        </p:nvSpPr>
        <p:spPr>
          <a:xfrm>
            <a:off x="1280160" y="3499104"/>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6.2 Plan the changeover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Effectively plan, monitor, adjust and report upon all activities concerned with the changeover from development to operational running — all who are affected must be advised of changes and given the opportunity to comment.</a:t>
            </a:r>
            <a:endParaRPr lang="en-US" sz="1750" dirty="0"/>
          </a:p>
        </p:txBody>
      </p:sp>
      <p:sp>
        <p:nvSpPr>
          <p:cNvPr id="16" name="Shape 12"/>
          <p:cNvSpPr/>
          <p:nvPr/>
        </p:nvSpPr>
        <p:spPr>
          <a:xfrm>
            <a:off x="502920" y="481279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17" name="Shape 13"/>
          <p:cNvSpPr/>
          <p:nvPr/>
        </p:nvSpPr>
        <p:spPr>
          <a:xfrm>
            <a:off x="502920" y="4812792"/>
            <a:ext cx="82296" cy="122224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77384"/>
            <a:ext cx="365760" cy="365760"/>
          </a:xfrm>
          <a:prstGeom prst="rect">
            <a:avLst/>
          </a:prstGeom>
        </p:spPr>
      </p:pic>
      <p:sp>
        <p:nvSpPr>
          <p:cNvPr id="19" name="Text 14"/>
          <p:cNvSpPr/>
          <p:nvPr/>
        </p:nvSpPr>
        <p:spPr>
          <a:xfrm>
            <a:off x="1280160" y="4922520"/>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6.3 Complete expeditiously and economically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expeditious and economic completion of implementation consistent with adequate testing and security — a professional judgement between under- and over-testing; if corners are cut, evaluate the likely effect and make it known.</a:t>
            </a:r>
            <a:endParaRPr lang="en-US" sz="1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7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Live Systems</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Live Systems covers the ongoing operation of systems handed over by design and development staff:</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7.1 Reliable processing within budget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and operate efficient and reliable processing within defined budgets — users depend on processing services just as they depend on the application software.</a:t>
            </a:r>
            <a:endParaRPr lang="en-US" sz="165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7.2 Monitor performance and quality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Monitor performance and quality and arrange regular reviews of the efficiency, effectiveness and security of live systems — check not only how well the system meets its original objectives, but how it has evolved with current business requirements.</a:t>
            </a:r>
            <a:endParaRPr lang="en-US" sz="165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7.3 Plan maintenance from the start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from the start of a project, to provide adequate maintenance and enhancement support to live systems — much criticism of computer applications is traceable to their failure to respond to changing conditions.</a:t>
            </a:r>
            <a:endParaRPr lang="en-US" sz="165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7.4 Establish good liaison with users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Establish good liaison with users and provide proper facilities for dealing with enquiries and day-to-day problems — maintain continuous formal and informal liaison, including channels for emergencies.</a:t>
            </a:r>
            <a:endParaRPr lang="en-US" sz="1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&amp; ITUC</a:t>
            </a:r>
            <a:endParaRPr lang="en-US" sz="3200" dirty="0"/>
          </a:p>
        </p:txBody>
      </p:sp>
      <p:sp>
        <p:nvSpPr>
          <p:cNvPr id="7" name="Shape 5"/>
          <p:cNvSpPr/>
          <p:nvPr/>
        </p:nvSpPr>
        <p:spPr>
          <a:xfrm>
            <a:off x="502920" y="1691640"/>
            <a:ext cx="11183112" cy="2071116"/>
          </a:xfrm>
          <a:prstGeom prst="roundRect">
            <a:avLst>
              <a:gd name="adj" fmla="val 3974"/>
            </a:avLst>
          </a:prstGeom>
          <a:solidFill>
            <a:srgbClr val="FFFF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sp>
        <p:nvSpPr>
          <p:cNvPr id="8" name="Shape 6"/>
          <p:cNvSpPr/>
          <p:nvPr/>
        </p:nvSpPr>
        <p:spPr>
          <a:xfrm>
            <a:off x="502920" y="1691640"/>
            <a:ext cx="82296" cy="2071116"/>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CSSA — The Computer Society of South Africa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body from which the Constitution and Code of Practice in this guide are directly derived: one of, if not the most respected associations concerned with South African Information Technology.</a:t>
            </a:r>
            <a:endParaRPr lang="en-US" sz="1900" dirty="0"/>
          </a:p>
        </p:txBody>
      </p:sp>
      <p:sp>
        <p:nvSpPr>
          <p:cNvPr id="11" name="Shape 8"/>
          <p:cNvSpPr/>
          <p:nvPr/>
        </p:nvSpPr>
        <p:spPr>
          <a:xfrm>
            <a:off x="502920" y="3963924"/>
            <a:ext cx="11183112" cy="2071116"/>
          </a:xfrm>
          <a:prstGeom prst="roundRect">
            <a:avLst>
              <a:gd name="adj" fmla="val 3974"/>
            </a:avLst>
          </a:prstGeom>
          <a:solidFill>
            <a:srgbClr val="EAF4FF"/>
          </a:solidFill>
          <a:ln w="12700">
            <a:solidFill>
              <a:srgbClr val="D5E3F2"/>
            </a:solidFill>
            <a:prstDash val="solid"/>
          </a:ln>
          <a:effectLst>
            <a:outerShdw sx="100000" sy="100000" kx="0" ky="0" algn="bl" rotWithShape="0" blurRad="2.7554406678199403e+103" dist="7.872687622342685e+102" dir="2.5587259226936733e+121">
              <a:srgbClr val="9AB4CC">
                <a:alpha val="2.9999999999999995e+124"/>
              </a:srgbClr>
            </a:outerShdw>
          </a:effectLst>
        </p:spPr>
      </p:sp>
      <p:sp>
        <p:nvSpPr>
          <p:cNvPr id="12" name="Shape 9"/>
          <p:cNvSpPr/>
          <p:nvPr/>
        </p:nvSpPr>
        <p:spPr>
          <a:xfrm>
            <a:off x="502920" y="3963924"/>
            <a:ext cx="82296" cy="2071116"/>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128516"/>
            <a:ext cx="365760" cy="365760"/>
          </a:xfrm>
          <a:prstGeom prst="rect">
            <a:avLst/>
          </a:prstGeom>
        </p:spPr>
      </p:pic>
      <p:sp>
        <p:nvSpPr>
          <p:cNvPr id="14" name="Text 10"/>
          <p:cNvSpPr/>
          <p:nvPr/>
        </p:nvSpPr>
        <p:spPr>
          <a:xfrm>
            <a:off x="1280160" y="4073652"/>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ITUC — The International Trade Union Confederation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world's largest trade union federation, formed on 1 November 2006 out of the merger of the International Confederation of Free Trade Unions (ICFTU) and the World Confederation of Labour (WCL). It assists the South African IT market in trading internationally, empowering the market — especially its emerging sector.</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BITF — The Black Information Technology Forum</a:t>
            </a:r>
            <a:endParaRPr lang="en-US" sz="3200" dirty="0"/>
          </a:p>
        </p:txBody>
      </p:sp>
      <p:sp>
        <p:nvSpPr>
          <p:cNvPr id="7" name="Text 5"/>
          <p:cNvSpPr/>
          <p:nvPr/>
        </p:nvSpPr>
        <p:spPr>
          <a:xfrm>
            <a:off x="502920" y="1691640"/>
            <a:ext cx="11183112" cy="201168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Black Information Technology Forum was launched in Cape Town in 1995 to propel black individuals into the mainstream of the ICT industry. A Gauteng branch formed in 1997 and the forum became a national organisation in 1998, with branches serving 2 400 members.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It is the largest organisation representing the interests of black people in South Africa's ICT industry and has considerable credibility with government bodies.</a:t>
            </a:r>
            <a:endParaRPr lang="en-US" sz="1600" dirty="0"/>
          </a:p>
        </p:txBody>
      </p:sp>
      <p:sp>
        <p:nvSpPr>
          <p:cNvPr id="8" name="Text 6"/>
          <p:cNvSpPr/>
          <p:nvPr/>
        </p:nvSpPr>
        <p:spPr>
          <a:xfrm>
            <a:off x="502920" y="3657600"/>
            <a:ext cx="11183112" cy="365760"/>
          </a:xfrm>
          <a:prstGeom prst="rect">
            <a:avLst/>
          </a:prstGeom>
          <a:noFill/>
          <a:ln/>
        </p:spPr>
        <p:txBody>
          <a:bodyPr wrap="square" rtlCol="0" anchor="ctr"/>
          <a:lstStyle/>
          <a:p>
            <a:pPr indent="0" marL="0">
              <a:buNone/>
            </a:pPr>
            <a:r>
              <a:rPr lang="en-US" sz="1700" b="1" dirty="0">
                <a:solidFill>
                  <a:srgbClr val="002050"/>
                </a:solidFill>
                <a:latin typeface="Aptos Display" pitchFamily="34" charset="0"/>
                <a:ea typeface="Aptos Display" pitchFamily="34" charset="-122"/>
                <a:cs typeface="Aptos Display" pitchFamily="34" charset="-120"/>
              </a:rPr>
              <a:t>Its aims:</a:t>
            </a:r>
            <a:endParaRPr lang="en-US" sz="17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169664"/>
            <a:ext cx="292608" cy="292608"/>
          </a:xfrm>
          <a:prstGeom prst="rect">
            <a:avLst/>
          </a:prstGeom>
        </p:spPr>
      </p:pic>
      <p:sp>
        <p:nvSpPr>
          <p:cNvPr id="10" name="Text 7"/>
          <p:cNvSpPr/>
          <p:nvPr/>
        </p:nvSpPr>
        <p:spPr>
          <a:xfrm>
            <a:off x="1124712" y="404164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Empower members with technical and business skills, and make members significant role players in the ICT sector.</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718304"/>
            <a:ext cx="292608" cy="292608"/>
          </a:xfrm>
          <a:prstGeom prst="rect">
            <a:avLst/>
          </a:prstGeom>
        </p:spPr>
      </p:pic>
      <p:sp>
        <p:nvSpPr>
          <p:cNvPr id="12" name="Text 8"/>
          <p:cNvSpPr/>
          <p:nvPr/>
        </p:nvSpPr>
        <p:spPr>
          <a:xfrm>
            <a:off x="1124712" y="459028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access to technology for historically disadvantaged communities.</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266944"/>
            <a:ext cx="292608" cy="292608"/>
          </a:xfrm>
          <a:prstGeom prst="rect">
            <a:avLst/>
          </a:prstGeom>
        </p:spPr>
      </p:pic>
      <p:sp>
        <p:nvSpPr>
          <p:cNvPr id="14" name="Text 9"/>
          <p:cNvSpPr/>
          <p:nvPr/>
        </p:nvSpPr>
        <p:spPr>
          <a:xfrm>
            <a:off x="1124712" y="513892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Actively influence policy-making forums, and promote the status of historically disadvantaged individuals and communities in the ICT sector.</a:t>
            </a:r>
            <a:endParaRPr lang="en-US" sz="1300" dirty="0"/>
          </a:p>
        </p:txBody>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5815584"/>
            <a:ext cx="292608" cy="292608"/>
          </a:xfrm>
          <a:prstGeom prst="rect">
            <a:avLst/>
          </a:prstGeom>
        </p:spPr>
      </p:pic>
      <p:sp>
        <p:nvSpPr>
          <p:cNvPr id="16" name="Text 10"/>
          <p:cNvSpPr/>
          <p:nvPr/>
        </p:nvSpPr>
        <p:spPr>
          <a:xfrm>
            <a:off x="1124712" y="568756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Its two programmes develop skills, internships and experiential training, and promote governance and black economic empowerment (the ABC Programme).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ITA — The Information Technology Association</a:t>
            </a:r>
            <a:endParaRPr lang="en-US" sz="3200" dirty="0"/>
          </a:p>
        </p:txBody>
      </p:sp>
      <p:sp>
        <p:nvSpPr>
          <p:cNvPr id="7" name="Text 5"/>
          <p:cNvSpPr/>
          <p:nvPr/>
        </p:nvSpPr>
        <p:spPr>
          <a:xfrm>
            <a:off x="502920" y="1691640"/>
            <a:ext cx="11183112" cy="2377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ITA is the official trade and employer body of the ICTe industry, striving to promote consistent standards of professionalism and service. Its purpose, per its Constitution, is to 'represent and promote the interests of its members, which shall be employers active in the Information Technology Sector.'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Founded in 1934 (as the Transvaal Typewriter and Office Appliance Traders Association), it was renamed the ITA after the amalgamation of the Business Equipment Association and the Computer Services Association. Its primary business is to promote and represent the ICTe industry nationally and internationally, assemble and disseminate information, provide a networking and marketing platform, and encourage interest groups that influence standards, strategies and legislation.</a:t>
            </a:r>
            <a:endParaRPr lang="en-US" sz="1500" dirty="0"/>
          </a:p>
        </p:txBody>
      </p:sp>
      <p:sp>
        <p:nvSpPr>
          <p:cNvPr id="8" name="Text 6"/>
          <p:cNvSpPr/>
          <p:nvPr/>
        </p:nvSpPr>
        <p:spPr>
          <a:xfrm>
            <a:off x="502920" y="4069080"/>
            <a:ext cx="11183112" cy="365760"/>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It operates through an Executive Council and three divisions:</a:t>
            </a:r>
            <a:endParaRPr lang="en-US" sz="16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581144"/>
            <a:ext cx="292608" cy="292608"/>
          </a:xfrm>
          <a:prstGeom prst="rect">
            <a:avLst/>
          </a:prstGeom>
        </p:spPr>
      </p:pic>
      <p:sp>
        <p:nvSpPr>
          <p:cNvPr id="10" name="Text 7"/>
          <p:cNvSpPr/>
          <p:nvPr/>
        </p:nvSpPr>
        <p:spPr>
          <a:xfrm>
            <a:off x="1124712" y="445312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ITUC: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Information Technology Users Council — guaranteeing the authenticity and credibility of examinations.</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5129784"/>
            <a:ext cx="292608" cy="292608"/>
          </a:xfrm>
          <a:prstGeom prst="rect">
            <a:avLst/>
          </a:prstGeom>
        </p:spPr>
      </p:pic>
      <p:sp>
        <p:nvSpPr>
          <p:cNvPr id="12" name="Text 8"/>
          <p:cNvSpPr/>
          <p:nvPr/>
        </p:nvSpPr>
        <p:spPr>
          <a:xfrm>
            <a:off x="1124712" y="500176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ITARCS: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Recruitment Consultancy Services Group — recruitment and contracting issues under the Labour Relations Act.</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678424"/>
            <a:ext cx="292608" cy="292608"/>
          </a:xfrm>
          <a:prstGeom prst="rect">
            <a:avLst/>
          </a:prstGeom>
        </p:spPr>
      </p:pic>
      <p:sp>
        <p:nvSpPr>
          <p:cNvPr id="14" name="Text 9"/>
          <p:cNvSpPr/>
          <p:nvPr/>
        </p:nvSpPr>
        <p:spPr>
          <a:xfrm>
            <a:off x="1124712" y="555040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PAG: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Payroll Authors Group — liaising with government so payroll software incorporates legislative changes.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Music Piracy Example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'Piracy' is generally considered to include: (a) pirate recordings, where just the music is copied, usually by ordinary people on a not-for-profit basis; (b) counterfeiting, which copies the music and the packaging and attempts to pass the copy off as the real thing; (c) online piracy — the same, done via the internet; and (d) bootlegging — recording and trading a performance (usually a live concert) that has not been officially released.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RIAA, the Recording Industry Association of America, claims the recording industry 'loses' around 4.2 billion US dollars to piracy each year — a figure reached by inferring that each pirate transaction represents a lost legitimate sale, which is overly simplistic. Even so, full-blown counterfeiting is both illegal and unethical, and we ought not to support it by buying cheap counterfeits at flea markets and from street traders.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Some 'home pirates' see themselves as modern-day Robin Hoods — but the argument does not hold. In a free market the way to drive an overpriced product's price down is not to buy it; and if protest is really your goal, copying a friend's CD is not an effective protest. The ethical answer: if you really like the CD, buy a legitimate copy and discard the pirated one.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in South Africa — The Scale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Half of the software in use in South Africa has been illegal — not paid for, or pirated. In the US about 30% of software is pirated, in the UK 35%, and in the rest of Africa the rate runs into the 90% range. BSA figures showed South Africa's rate rising to 49% (from 48%) even as the worldwide rate fell to 38% — a retail revenue loss to the local software industry of R580-million. 'For almost every copy of software sold, another is pirated or stolen,' said Microsoft South Africa's director of legalisation.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The Business Software Alliance (BSA) — an anti-piracy umbrella body made up of large software companies — recovered R300 000 in out-of-court settlements and committed to prosecuting offenders to the full extent of the law. Illegal copying and distribution of software is the main obstacle to the growth of the software sector, with worldwide industry losses estimated at US$11-billion in 1998.</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 Jobs, Losses &amp; the Law</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By 2006 about 36% of the software used by South African businesses was illegal, depriving more than 30 000 people of jobs in the multibillion-rand IT industry and representing at least R1,2bn in economic losses. 'Software piracy remains one of the major hurdles to realising the potential of the information economy in South Africa, on the continent and around the world,' said the BSA's local chairperson.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Globally, piracy was most prevalent in Zimbabwe and Vietnam (90%); the African average topped 70%. BSA calculated that dropping the global piracy rate from 35% to 25% would create about 2,4 million new jobs and add $67bn in tax revenues worldwide.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South African law does allow enforcement of copyright violation: the Intellectual Property Laws Amendment Act (effective 1 October 1997) brought South Africa closer to compliance with its World Trade Organisation TRIPS obligations, especially in protection for computer programs, compilations of data and databases, and audio-visual works.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What Is Piracy? — The Forms of Software Piracy</a:t>
            </a:r>
            <a:endParaRPr lang="en-US" sz="3200" dirty="0"/>
          </a:p>
        </p:txBody>
      </p:sp>
      <p:sp>
        <p:nvSpPr>
          <p:cNvPr id="7" name="Text 5"/>
          <p:cNvSpPr/>
          <p:nvPr/>
        </p:nvSpPr>
        <p:spPr>
          <a:xfrm>
            <a:off x="502920" y="1517904"/>
            <a:ext cx="11183112" cy="7772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Software piracy is the failure to comply with software licence agreements. Piracy, in any form, is an unlawful action and offenders are liable to either civil or criminal prosecution. All software users and resellers must understand the different forms of software piracy in order to comply with the law and protect themselves and their business.</a:t>
            </a:r>
            <a:endParaRPr lang="en-US" sz="1450" dirty="0"/>
          </a:p>
        </p:txBody>
      </p:sp>
      <p:sp>
        <p:nvSpPr>
          <p:cNvPr id="8" name="Shape 6"/>
          <p:cNvSpPr/>
          <p:nvPr/>
        </p:nvSpPr>
        <p:spPr>
          <a:xfrm>
            <a:off x="502920" y="2423160"/>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3.499409648131324e+107" dist="9.998313280375211e+106" dir="1.535235553616204e+126">
              <a:srgbClr val="9AB4CC">
                <a:alpha val="2.9999999999999997e+129"/>
              </a:srgbClr>
            </a:outerShdw>
          </a:effectLst>
        </p:spPr>
      </p:sp>
      <p:sp>
        <p:nvSpPr>
          <p:cNvPr id="9" name="Shape 7"/>
          <p:cNvSpPr/>
          <p:nvPr/>
        </p:nvSpPr>
        <p:spPr>
          <a:xfrm>
            <a:off x="502920" y="2423160"/>
            <a:ext cx="82296" cy="108508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587752"/>
            <a:ext cx="365760" cy="365760"/>
          </a:xfrm>
          <a:prstGeom prst="rect">
            <a:avLst/>
          </a:prstGeom>
        </p:spPr>
      </p:pic>
      <p:sp>
        <p:nvSpPr>
          <p:cNvPr id="11" name="Text 8"/>
          <p:cNvSpPr/>
          <p:nvPr/>
        </p:nvSpPr>
        <p:spPr>
          <a:xfrm>
            <a:off x="1280160" y="2532888"/>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End User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 licensed software user passes their software on to friends, business colleagues and family to copy indiscriminately; or, with volume licences, users and businesses under-report the number of computers on which the software is installed.</a:t>
            </a:r>
            <a:endParaRPr lang="en-US" sz="1750" dirty="0"/>
          </a:p>
        </p:txBody>
      </p:sp>
      <p:sp>
        <p:nvSpPr>
          <p:cNvPr id="12" name="Shape 9"/>
          <p:cNvSpPr/>
          <p:nvPr/>
        </p:nvSpPr>
        <p:spPr>
          <a:xfrm>
            <a:off x="502920" y="3709416"/>
            <a:ext cx="11183112" cy="1085088"/>
          </a:xfrm>
          <a:prstGeom prst="roundRect">
            <a:avLst>
              <a:gd name="adj" fmla="val 7584"/>
            </a:avLst>
          </a:prstGeom>
          <a:solidFill>
            <a:srgbClr val="EAF4FF"/>
          </a:solidFill>
          <a:ln w="12700">
            <a:solidFill>
              <a:srgbClr val="D5E3F2"/>
            </a:solidFill>
            <a:prstDash val="solid"/>
          </a:ln>
          <a:effectLst>
            <a:outerShdw sx="100000" sy="100000" kx="0" ky="0" algn="bl" rotWithShape="0" blurRad="4.4442502531267815e+111" dist="1.2697857866076517e+111" dir="9.211413321697224e+130">
              <a:srgbClr val="9AB4CC">
                <a:alpha val="2.9999999999999996e+134"/>
              </a:srgbClr>
            </a:outerShdw>
          </a:effectLst>
        </p:spPr>
      </p:sp>
      <p:sp>
        <p:nvSpPr>
          <p:cNvPr id="13" name="Shape 10"/>
          <p:cNvSpPr/>
          <p:nvPr/>
        </p:nvSpPr>
        <p:spPr>
          <a:xfrm>
            <a:off x="502920" y="3709416"/>
            <a:ext cx="82296" cy="108508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74008"/>
            <a:ext cx="365760" cy="365760"/>
          </a:xfrm>
          <a:prstGeom prst="rect">
            <a:avLst/>
          </a:prstGeom>
        </p:spPr>
      </p:pic>
      <p:sp>
        <p:nvSpPr>
          <p:cNvPr id="15" name="Text 11"/>
          <p:cNvSpPr/>
          <p:nvPr/>
        </p:nvSpPr>
        <p:spPr>
          <a:xfrm>
            <a:off x="1280160" y="3819144"/>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Reseller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Resellers pass their software on to their clients.</a:t>
            </a:r>
            <a:endParaRPr lang="en-US" sz="1750" dirty="0"/>
          </a:p>
        </p:txBody>
      </p:sp>
      <p:sp>
        <p:nvSpPr>
          <p:cNvPr id="16" name="Shape 12"/>
          <p:cNvSpPr/>
          <p:nvPr/>
        </p:nvSpPr>
        <p:spPr>
          <a:xfrm>
            <a:off x="502920" y="4995672"/>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5.644197821471012e+115" dist="1.6126279489917177e+115" dir="5.526847993018334e+135">
              <a:srgbClr val="9AB4CC">
                <a:alpha val="2.9999999999999994e+139"/>
              </a:srgbClr>
            </a:outerShdw>
          </a:effectLst>
        </p:spPr>
      </p:sp>
      <p:sp>
        <p:nvSpPr>
          <p:cNvPr id="17" name="Shape 13"/>
          <p:cNvSpPr/>
          <p:nvPr/>
        </p:nvSpPr>
        <p:spPr>
          <a:xfrm>
            <a:off x="502920" y="4995672"/>
            <a:ext cx="82296" cy="108508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60264"/>
            <a:ext cx="365760" cy="365760"/>
          </a:xfrm>
          <a:prstGeom prst="rect">
            <a:avLst/>
          </a:prstGeom>
        </p:spPr>
      </p:pic>
      <p:sp>
        <p:nvSpPr>
          <p:cNvPr id="19" name="Text 14"/>
          <p:cNvSpPr/>
          <p:nvPr/>
        </p:nvSpPr>
        <p:spPr>
          <a:xfrm>
            <a:off x="1280160" y="5105400"/>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Counterfeiting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Criminals copy the software and collateral, such as manuals, and sell it as the original product.</a:t>
            </a:r>
            <a:endParaRPr lang="en-US" sz="1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Fighting Piracy in South Africa</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one of South Africa's largest online marketplaces, took a proactive stance against the selling of pirated goods online, declaring combating piracy a top priority. 'Piracy is nothing less than serious theft. It is a crime that impacts right across our society, from government to the retail sector and right down to the individual customer, who, in buying pirated goods, ends up with inferior products. The only winners are the criminals,' said its managing director.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works closely with industry bodies and authorities: the South African Police Services (SAPS), the Southern African Federation Against Copyright Theft (SAFACT), the Business Software Alliance (BSA) and the Independent Communications Authority of South Africa (ICASA). SAFACT — the trade association representing the entertainment industry, which loses approximately R200 million per annum to piracy — entered an agreement with bidorbuy to fight the sale of pirated DVD movies and games online.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Law enforcement has also cracked down on DVD piracy (which crippled sales of local films such as Mama Jack and the Oscar-winning Tsotsi), and music industry figures raided Johannesburg streets to wipe out pirated CDs.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How Piracy Is Addressed in South Africa</a:t>
            </a:r>
            <a:endParaRPr lang="en-US" sz="3200" dirty="0"/>
          </a:p>
        </p:txBody>
      </p:sp>
      <p:sp>
        <p:nvSpPr>
          <p:cNvPr id="7" name="Shape 5"/>
          <p:cNvSpPr/>
          <p:nvPr/>
        </p:nvSpPr>
        <p:spPr>
          <a:xfrm>
            <a:off x="502920" y="169164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7.168131233268186e+119" dist="2.0480374952194813e+119" dir="3.3161087958110005e+140">
              <a:srgbClr val="9AB4CC">
                <a:alpha val="2.9999999999999996e+144"/>
              </a:srgbClr>
            </a:outerShdw>
          </a:effectLst>
        </p:spPr>
      </p:sp>
      <p:sp>
        <p:nvSpPr>
          <p:cNvPr id="8" name="Shape 6"/>
          <p:cNvSpPr/>
          <p:nvPr/>
        </p:nvSpPr>
        <p:spPr>
          <a:xfrm>
            <a:off x="502920" y="1691640"/>
            <a:ext cx="82296" cy="71689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Copyright legislation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Copyright legislation and TRIPS compliance — the Intellectual Property Laws Amendment Act (effective 1 October 1997).</a:t>
            </a:r>
            <a:endParaRPr lang="en-US" sz="1600" dirty="0"/>
          </a:p>
        </p:txBody>
      </p:sp>
      <p:sp>
        <p:nvSpPr>
          <p:cNvPr id="11" name="Shape 8"/>
          <p:cNvSpPr/>
          <p:nvPr/>
        </p:nvSpPr>
        <p:spPr>
          <a:xfrm>
            <a:off x="502920" y="2609698"/>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sp>
        <p:nvSpPr>
          <p:cNvPr id="12" name="Shape 9"/>
          <p:cNvSpPr/>
          <p:nvPr/>
        </p:nvSpPr>
        <p:spPr>
          <a:xfrm>
            <a:off x="502920" y="2609698"/>
            <a:ext cx="82296" cy="716890"/>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774290"/>
            <a:ext cx="365760" cy="365760"/>
          </a:xfrm>
          <a:prstGeom prst="rect">
            <a:avLst/>
          </a:prstGeom>
        </p:spPr>
      </p:pic>
      <p:sp>
        <p:nvSpPr>
          <p:cNvPr id="14" name="Text 10"/>
          <p:cNvSpPr/>
          <p:nvPr/>
        </p:nvSpPr>
        <p:spPr>
          <a:xfrm>
            <a:off x="1280160" y="2719426"/>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BSA prosecution and settlements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The Business Software Alliance recovers losses through out-of-court settlements and prosecutes offenders to the full extent of the law.</a:t>
            </a:r>
            <a:endParaRPr lang="en-US" sz="1600" dirty="0"/>
          </a:p>
        </p:txBody>
      </p:sp>
      <p:sp>
        <p:nvSpPr>
          <p:cNvPr id="15" name="Shape 11"/>
          <p:cNvSpPr/>
          <p:nvPr/>
        </p:nvSpPr>
        <p:spPr>
          <a:xfrm>
            <a:off x="502920" y="3527755"/>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sp>
        <p:nvSpPr>
          <p:cNvPr id="16" name="Shape 12"/>
          <p:cNvSpPr/>
          <p:nvPr/>
        </p:nvSpPr>
        <p:spPr>
          <a:xfrm>
            <a:off x="502920" y="3527755"/>
            <a:ext cx="82296" cy="716890"/>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692347"/>
            <a:ext cx="365760" cy="365760"/>
          </a:xfrm>
          <a:prstGeom prst="rect">
            <a:avLst/>
          </a:prstGeom>
        </p:spPr>
      </p:pic>
      <p:sp>
        <p:nvSpPr>
          <p:cNvPr id="18" name="Text 13"/>
          <p:cNvSpPr/>
          <p:nvPr/>
        </p:nvSpPr>
        <p:spPr>
          <a:xfrm>
            <a:off x="1280160" y="3637483"/>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SAFACT and SAPS enforcement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Enforcement raids and crackdowns on pirated DVDs, CDs and software by SAFACT, SAPS and industry bodies.</a:t>
            </a:r>
            <a:endParaRPr lang="en-US" sz="1600" dirty="0"/>
          </a:p>
        </p:txBody>
      </p:sp>
      <p:sp>
        <p:nvSpPr>
          <p:cNvPr id="19" name="Shape 14"/>
          <p:cNvSpPr/>
          <p:nvPr/>
        </p:nvSpPr>
        <p:spPr>
          <a:xfrm>
            <a:off x="502920" y="4445813"/>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sp>
        <p:nvSpPr>
          <p:cNvPr id="20" name="Shape 15"/>
          <p:cNvSpPr/>
          <p:nvPr/>
        </p:nvSpPr>
        <p:spPr>
          <a:xfrm>
            <a:off x="502920" y="4445813"/>
            <a:ext cx="82296" cy="716890"/>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610405"/>
            <a:ext cx="365760" cy="365760"/>
          </a:xfrm>
          <a:prstGeom prst="rect">
            <a:avLst/>
          </a:prstGeom>
        </p:spPr>
      </p:pic>
      <p:sp>
        <p:nvSpPr>
          <p:cNvPr id="22" name="Text 16"/>
          <p:cNvSpPr/>
          <p:nvPr/>
        </p:nvSpPr>
        <p:spPr>
          <a:xfrm>
            <a:off x="1280160" y="4555541"/>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Online marketplace policing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Online marketplaces such as bidorbuy police their platforms with SAPS, SAFACT, the BSA and ICASA.</a:t>
            </a:r>
            <a:endParaRPr lang="en-US" sz="1600" dirty="0"/>
          </a:p>
        </p:txBody>
      </p:sp>
      <p:sp>
        <p:nvSpPr>
          <p:cNvPr id="23" name="Shape 17"/>
          <p:cNvSpPr/>
          <p:nvPr/>
        </p:nvSpPr>
        <p:spPr>
          <a:xfrm>
            <a:off x="502920" y="536387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1.8647509263194394e+136" dist="5.327859789484111e+135" dir="4.297676999371057e+159">
              <a:srgbClr val="9AB4CC">
                <a:alpha val="3e+164"/>
              </a:srgbClr>
            </a:outerShdw>
          </a:effectLst>
        </p:spPr>
      </p:sp>
      <p:sp>
        <p:nvSpPr>
          <p:cNvPr id="24" name="Shape 18"/>
          <p:cNvSpPr/>
          <p:nvPr/>
        </p:nvSpPr>
        <p:spPr>
          <a:xfrm>
            <a:off x="502920" y="5363870"/>
            <a:ext cx="82296" cy="716890"/>
          </a:xfrm>
          <a:prstGeom prst="rect">
            <a:avLst/>
          </a:prstGeom>
          <a:solidFill>
            <a:srgbClr val="0F6CBD"/>
          </a:solidFill>
          <a:ln/>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8952" y="5528462"/>
            <a:ext cx="365760" cy="365760"/>
          </a:xfrm>
          <a:prstGeom prst="rect">
            <a:avLst/>
          </a:prstGeom>
        </p:spPr>
      </p:pic>
      <p:sp>
        <p:nvSpPr>
          <p:cNvPr id="26" name="Text 19"/>
          <p:cNvSpPr/>
          <p:nvPr/>
        </p:nvSpPr>
        <p:spPr>
          <a:xfrm>
            <a:off x="1280160" y="547359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Public awareness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Public awareness campaigns that software piracy is stealing — no more, no less.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Professionalism &amp; Codes of Practice</a:t>
            </a:r>
            <a:endParaRPr lang="en-US" sz="3200" dirty="0"/>
          </a:p>
        </p:txBody>
      </p:sp>
      <p:sp>
        <p:nvSpPr>
          <p:cNvPr id="7" name="Shape 5"/>
          <p:cNvSpPr/>
          <p:nvPr/>
        </p:nvSpPr>
        <p:spPr>
          <a:xfrm>
            <a:off x="502920" y="1691640"/>
            <a:ext cx="457200" cy="457200"/>
          </a:xfrm>
          <a:prstGeom prst="ellipse">
            <a:avLst/>
          </a:prstGeom>
          <a:solidFill>
            <a:srgbClr val="0F6CBD"/>
          </a:solidFill>
          <a:ln/>
        </p:spPr>
      </p:sp>
      <p:sp>
        <p:nvSpPr>
          <p:cNvPr id="8" name="Text 6"/>
          <p:cNvSpPr/>
          <p:nvPr/>
        </p:nvSpPr>
        <p:spPr>
          <a:xfrm>
            <a:off x="502920" y="1691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459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acceptable and unacceptable professional practices found in the computer industry</a:t>
            </a:r>
            <a:endParaRPr lang="en-US" sz="1650" dirty="0"/>
          </a:p>
        </p:txBody>
      </p:sp>
      <p:sp>
        <p:nvSpPr>
          <p:cNvPr id="10" name="Shape 8"/>
          <p:cNvSpPr/>
          <p:nvPr/>
        </p:nvSpPr>
        <p:spPr>
          <a:xfrm>
            <a:off x="502920" y="2423160"/>
            <a:ext cx="457200" cy="457200"/>
          </a:xfrm>
          <a:prstGeom prst="ellipse">
            <a:avLst/>
          </a:prstGeom>
          <a:solidFill>
            <a:srgbClr val="0F6CBD"/>
          </a:solidFill>
          <a:ln/>
        </p:spPr>
      </p:sp>
      <p:sp>
        <p:nvSpPr>
          <p:cNvPr id="11" name="Text 9"/>
          <p:cNvSpPr/>
          <p:nvPr/>
        </p:nvSpPr>
        <p:spPr>
          <a:xfrm>
            <a:off x="502920" y="24231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7744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CSSA as a professional body in South Africa</a:t>
            </a:r>
            <a:endParaRPr lang="en-US" sz="1650" dirty="0"/>
          </a:p>
        </p:txBody>
      </p:sp>
      <p:sp>
        <p:nvSpPr>
          <p:cNvPr id="13" name="Shape 11"/>
          <p:cNvSpPr/>
          <p:nvPr/>
        </p:nvSpPr>
        <p:spPr>
          <a:xfrm>
            <a:off x="502920" y="3154680"/>
            <a:ext cx="457200" cy="457200"/>
          </a:xfrm>
          <a:prstGeom prst="ellipse">
            <a:avLst/>
          </a:prstGeom>
          <a:solidFill>
            <a:srgbClr val="0F6CBD"/>
          </a:solidFill>
          <a:ln/>
        </p:spPr>
      </p:sp>
      <p:sp>
        <p:nvSpPr>
          <p:cNvPr id="14" name="Text 12"/>
          <p:cNvSpPr/>
          <p:nvPr/>
        </p:nvSpPr>
        <p:spPr>
          <a:xfrm>
            <a:off x="502920" y="315468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10896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BITF as a professional body in South Africa</a:t>
            </a:r>
            <a:endParaRPr lang="en-US" sz="1650" dirty="0"/>
          </a:p>
        </p:txBody>
      </p:sp>
      <p:sp>
        <p:nvSpPr>
          <p:cNvPr id="16" name="Shape 14"/>
          <p:cNvSpPr/>
          <p:nvPr/>
        </p:nvSpPr>
        <p:spPr>
          <a:xfrm>
            <a:off x="502920" y="3886200"/>
            <a:ext cx="457200" cy="457200"/>
          </a:xfrm>
          <a:prstGeom prst="ellipse">
            <a:avLst/>
          </a:prstGeom>
          <a:solidFill>
            <a:srgbClr val="0F6CBD"/>
          </a:solidFill>
          <a:ln/>
        </p:spPr>
      </p:sp>
      <p:sp>
        <p:nvSpPr>
          <p:cNvPr id="17" name="Text 15"/>
          <p:cNvSpPr/>
          <p:nvPr/>
        </p:nvSpPr>
        <p:spPr>
          <a:xfrm>
            <a:off x="502920" y="388620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048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ITUC as a professional body in South Africa</a:t>
            </a:r>
            <a:endParaRPr lang="en-US" sz="1650" dirty="0"/>
          </a:p>
        </p:txBody>
      </p:sp>
      <p:sp>
        <p:nvSpPr>
          <p:cNvPr id="19" name="Shape 17"/>
          <p:cNvSpPr/>
          <p:nvPr/>
        </p:nvSpPr>
        <p:spPr>
          <a:xfrm>
            <a:off x="502920" y="4617720"/>
            <a:ext cx="457200" cy="457200"/>
          </a:xfrm>
          <a:prstGeom prst="ellipse">
            <a:avLst/>
          </a:prstGeom>
          <a:solidFill>
            <a:srgbClr val="0F6CBD"/>
          </a:solidFill>
          <a:ln/>
        </p:spPr>
      </p:sp>
      <p:sp>
        <p:nvSpPr>
          <p:cNvPr id="20" name="Text 18"/>
          <p:cNvSpPr/>
          <p:nvPr/>
        </p:nvSpPr>
        <p:spPr>
          <a:xfrm>
            <a:off x="502920" y="46177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7200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ITA as a professional body in South Africa (at least 2 points)</a:t>
            </a:r>
            <a:endParaRPr lang="en-US" sz="1650" dirty="0"/>
          </a:p>
        </p:txBody>
      </p:sp>
      <p:sp>
        <p:nvSpPr>
          <p:cNvPr id="22" name="Shape 20"/>
          <p:cNvSpPr/>
          <p:nvPr/>
        </p:nvSpPr>
        <p:spPr>
          <a:xfrm>
            <a:off x="502920" y="5349240"/>
            <a:ext cx="457200" cy="457200"/>
          </a:xfrm>
          <a:prstGeom prst="ellipse">
            <a:avLst/>
          </a:prstGeom>
          <a:solidFill>
            <a:srgbClr val="0F6CBD"/>
          </a:solidFill>
          <a:ln/>
        </p:spPr>
      </p:sp>
      <p:sp>
        <p:nvSpPr>
          <p:cNvPr id="23" name="Text 21"/>
          <p:cNvSpPr/>
          <p:nvPr/>
        </p:nvSpPr>
        <p:spPr>
          <a:xfrm>
            <a:off x="502920" y="5349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035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codes of practice for the IT industry in South Africa</a:t>
            </a:r>
            <a:endParaRPr lang="en-US"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2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Code of Ethics in the Computer Industry</a:t>
            </a:r>
            <a:endParaRPr lang="en-US" sz="3200" dirty="0"/>
          </a:p>
        </p:txBody>
      </p:sp>
      <p:sp>
        <p:nvSpPr>
          <p:cNvPr id="7" name="Shape 5"/>
          <p:cNvSpPr/>
          <p:nvPr/>
        </p:nvSpPr>
        <p:spPr>
          <a:xfrm>
            <a:off x="502920" y="1920240"/>
            <a:ext cx="457200" cy="457200"/>
          </a:xfrm>
          <a:prstGeom prst="ellipse">
            <a:avLst/>
          </a:prstGeom>
          <a:solidFill>
            <a:srgbClr val="0F6CBD"/>
          </a:solidFill>
          <a:ln/>
        </p:spPr>
      </p:sp>
      <p:sp>
        <p:nvSpPr>
          <p:cNvPr id="8" name="Text 6"/>
          <p:cNvSpPr/>
          <p:nvPr/>
        </p:nvSpPr>
        <p:spPr>
          <a:xfrm>
            <a:off x="502920" y="1920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8745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supports equality of opportunity</a:t>
            </a:r>
            <a:endParaRPr lang="en-US" sz="1800" dirty="0"/>
          </a:p>
        </p:txBody>
      </p:sp>
      <p:sp>
        <p:nvSpPr>
          <p:cNvPr id="10" name="Shape 8"/>
          <p:cNvSpPr/>
          <p:nvPr/>
        </p:nvSpPr>
        <p:spPr>
          <a:xfrm>
            <a:off x="502920" y="2834640"/>
            <a:ext cx="457200" cy="457200"/>
          </a:xfrm>
          <a:prstGeom prst="ellipse">
            <a:avLst/>
          </a:prstGeom>
          <a:solidFill>
            <a:srgbClr val="0F6CBD"/>
          </a:solidFill>
          <a:ln/>
        </p:spPr>
      </p:sp>
      <p:sp>
        <p:nvSpPr>
          <p:cNvPr id="11" name="Text 9"/>
          <p:cNvSpPr/>
          <p:nvPr/>
        </p:nvSpPr>
        <p:spPr>
          <a:xfrm>
            <a:off x="502920" y="2834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7889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is against computer software piracy</a:t>
            </a:r>
            <a:endParaRPr lang="en-US" sz="1800" dirty="0"/>
          </a:p>
        </p:txBody>
      </p:sp>
      <p:sp>
        <p:nvSpPr>
          <p:cNvPr id="13" name="Shape 11"/>
          <p:cNvSpPr/>
          <p:nvPr/>
        </p:nvSpPr>
        <p:spPr>
          <a:xfrm>
            <a:off x="502920" y="3749040"/>
            <a:ext cx="457200" cy="457200"/>
          </a:xfrm>
          <a:prstGeom prst="ellipse">
            <a:avLst/>
          </a:prstGeom>
          <a:solidFill>
            <a:srgbClr val="0F6CBD"/>
          </a:solidFill>
          <a:ln/>
        </p:spPr>
      </p:sp>
      <p:sp>
        <p:nvSpPr>
          <p:cNvPr id="14" name="Text 12"/>
          <p:cNvSpPr/>
          <p:nvPr/>
        </p:nvSpPr>
        <p:spPr>
          <a:xfrm>
            <a:off x="502920" y="37490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7033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Identify ways in which piracy is addressed in South Africa</a:t>
            </a:r>
            <a:endParaRPr lang="en-US" sz="1800" dirty="0"/>
          </a:p>
        </p:txBody>
      </p:sp>
      <p:sp>
        <p:nvSpPr>
          <p:cNvPr id="16" name="Shape 14"/>
          <p:cNvSpPr/>
          <p:nvPr/>
        </p:nvSpPr>
        <p:spPr>
          <a:xfrm>
            <a:off x="502920" y="5029200"/>
            <a:ext cx="11183112" cy="1097280"/>
          </a:xfrm>
          <a:prstGeom prst="roundRect">
            <a:avLst>
              <a:gd name="adj" fmla="val 7500"/>
            </a:avLst>
          </a:prstGeom>
          <a:solidFill>
            <a:srgbClr val="EAF4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pic>
        <p:nvPicPr>
          <p:cNvPr id="1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8" name="Text 15"/>
          <p:cNvSpPr/>
          <p:nvPr/>
        </p:nvSpPr>
        <p:spPr>
          <a:xfrm>
            <a:off x="1188720" y="5138928"/>
            <a:ext cx="10222992" cy="877824"/>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Project — Code of Ethics: Compile an ideal example of an ideal code of ethics derived from the current code of ethics followed within the South African IT industry. Attach your project to your logbook and mark it 114055.</a:t>
            </a:r>
            <a:endParaRPr lang="en-US" sz="14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2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211226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202996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professionalism for the computer industry in South Africa.</a:t>
            </a:r>
            <a:endParaRPr lang="en-US" sz="1700" dirty="0"/>
          </a:p>
        </p:txBody>
      </p:sp>
      <p:sp>
        <p:nvSpPr>
          <p:cNvPr id="10" name="Shape 8"/>
          <p:cNvSpPr/>
          <p:nvPr/>
        </p:nvSpPr>
        <p:spPr>
          <a:xfrm>
            <a:off x="502920" y="2980944"/>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89864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codes of practice for professionalism in the IT industry in South Africa.</a:t>
            </a:r>
            <a:endParaRPr lang="en-US" sz="1700" dirty="0"/>
          </a:p>
        </p:txBody>
      </p:sp>
      <p:sp>
        <p:nvSpPr>
          <p:cNvPr id="12" name="Shape 10"/>
          <p:cNvSpPr/>
          <p:nvPr/>
        </p:nvSpPr>
        <p:spPr>
          <a:xfrm>
            <a:off x="502920" y="3849624"/>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76732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 of ethics in the computer industry in South Africa.</a:t>
            </a:r>
            <a:endParaRPr lang="en-US" sz="1700" dirty="0"/>
          </a:p>
        </p:txBody>
      </p:sp>
      <p:sp>
        <p:nvSpPr>
          <p:cNvPr id="14" name="Shape 12"/>
          <p:cNvSpPr/>
          <p:nvPr/>
        </p:nvSpPr>
        <p:spPr>
          <a:xfrm>
            <a:off x="502920" y="502920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3.0076567690606238e+144" dist="8.593305054458923e+143" dir="1.5471637197735807e+169">
              <a:srgbClr val="9AB4CC">
                <a:alpha val="3e+174"/>
              </a:srgbClr>
            </a:outerShdw>
          </a:effectLst>
        </p:spPr>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6" name="Text 13"/>
          <p:cNvSpPr/>
          <p:nvPr/>
        </p:nvSpPr>
        <p:spPr>
          <a:xfrm>
            <a:off x="1188720" y="5138928"/>
            <a:ext cx="10222992" cy="10058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 Show your completed self-assessment to your facilitator and make the necessary arrangements to assist you to become competent in any area you could not tick.</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114055 — Ethics &amp; Professionalism (Learner Manual)</dc:title>
  <dc:subject>PptxGenJS Presentation</dc:subject>
  <dc:creator>Andre Snell</dc:creator>
  <cp:lastModifiedBy>Andre Snell</cp:lastModifiedBy>
  <cp:revision>1</cp:revision>
  <dcterms:created xsi:type="dcterms:W3CDTF">2026-08-13T17:19:39Z</dcterms:created>
  <dcterms:modified xsi:type="dcterms:W3CDTF">2026-08-13T17:19:39Z</dcterms:modified>
</cp:coreProperties>
</file>