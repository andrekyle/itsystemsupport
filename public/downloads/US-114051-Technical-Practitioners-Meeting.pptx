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005840"/>
            <a:ext cx="5394960" cy="56692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NQF LEVEL 5 · 4 CREDITS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9875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Conduct a Technical Practitioners Meeting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347472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types, leadership styles and decision-making — then prepare, chair and follow up a technical meeting of your own</a:t>
            </a:r>
            <a:endParaRPr lang="en-US" sz="1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0" y="1280160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224528"/>
            <a:ext cx="11183112" cy="0"/>
          </a:xfrm>
          <a:prstGeom prst="line">
            <a:avLst/>
          </a:prstGeom>
          <a:noFill/>
          <a:ln w="12700">
            <a:solidFill>
              <a:srgbClr val="D5E3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407408"/>
            <a:ext cx="2612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90-minute lessons · Self &amp; Group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298698" y="4407408"/>
            <a:ext cx="2612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298698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Fridays, 4 &amp; 11 Sep 2026 · 09h00 – 14h00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94476" y="4407408"/>
            <a:ext cx="2612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94476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1 · Personal Development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890254" y="4407408"/>
            <a:ext cx="2612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ASSURANCE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890254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QCTO / MICT SETA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ITSS Learn · Investec · Corporate Banking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OUTCOMES &amp; ASSESSMENT CRITERIA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must be able to do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specific outcomes take you from knowing how meetings work to running one end-to-end. You will be assessed against these: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550011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10312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202996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· Know the meetings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2852928"/>
            <a:ext cx="51709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types of technical meetings and their uses; identify leadership styles, decision-making processes and meeting conventions.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185916" y="1920240"/>
            <a:ext cx="550011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210312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89420" y="202996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· Prepare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350508" y="2852928"/>
            <a:ext cx="51709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Venue, facilities, technology and supporting information in place; clear documented outcomes; timeous invitations; agenda distributed.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02920" y="4114800"/>
            <a:ext cx="550011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429768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06424" y="42245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· Chair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67512" y="5047488"/>
            <a:ext cx="51709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rules with members, apply agreed conventions, follow the agenda, enable participation, prioritise topics, land clear decisions.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185916" y="4114800"/>
            <a:ext cx="550011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508" y="429768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89420" y="42245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· Follow up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350508" y="5047488"/>
            <a:ext cx="517093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Accurate minutes per organisational policy; decisions communicated in the required format and timeframe; actions summarised.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technical practitioners meet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118311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Meetings are very important for the work of any organisation — they are where the technical team decides, plans and holds itself accountable.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meetings support collective decision-making, planning and follow-up, accountability and democracy.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principal activities of a technical committee are the development and maintenance of its standards, technical reports and data files.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badly run meeting wastes the scarcest resource a technical team has — its practitioners' time.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4892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4088" y="519379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61288" y="4892040"/>
            <a:ext cx="10287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this unit you will have prepared, chaired and minuted a technical practitioners meeting yourself — that is the evidence in your logbook.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OF TECHNICAL PRACTITIONERS MEETINGS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meetings you must know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Organisations hold many kinds of meetings — general members, special, executive, AGMs. For technical practitioners, three types matter most: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19456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21214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Contract meetings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294436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Discuss, review and manage contractual obligations and deliverables related to technical projects or services.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291584" y="201168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19456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5088" y="21214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review meetings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56176" y="294436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technical solutions, designs and implementations, and resolve technical issues and problems.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80248" y="201168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1945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3752" y="21214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review meetings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244840" y="294436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project progress, timelines, resource allocation and project deliverables.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STYLES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decides — the chair, the group, or both?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main leadership styles are used in meeting procedures. Choose the style that fits the meeting's purpose: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36057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05740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19842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Democratic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2807208"/>
            <a:ext cx="32766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members decide through discussion and voting. The chair guides the process, but the group makes the decision.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291584" y="1874520"/>
            <a:ext cx="36057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05740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5088" y="19842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Autocratic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56176" y="2807208"/>
            <a:ext cx="32766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chairperson controls the meeting and takes the decisions; members give input only when asked. Fast — use with care.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80248" y="1874520"/>
            <a:ext cx="36057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05740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3752" y="19842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Facilitative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244840" y="2807208"/>
            <a:ext cx="32766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group effort: the facilitator guides the process while staying neutral, and the group produces the outcome together.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DECISION-MAKING PROCESSES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ways meetings reach a decision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830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09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Voting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32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member votes; the option with the majority is adopted.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600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5088" y="1709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Consensus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56176" y="2532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continues until every member can accept the decision.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80248" y="1600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178308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3752" y="1709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Criteria-based rating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44840" y="2532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options against agreed criteria — the highest score wins.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02920" y="3886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" y="406908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06424" y="3995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Ranking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67512" y="4818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 order the options by preference; rankings are combined.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291584" y="3886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56176" y="406908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95088" y="3995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Paired comparisons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4456176" y="4818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options two at a time; the overall winner is selected.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8080248" y="3886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44840" y="406908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683752" y="3995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Match the process</a:t>
            </a:r>
            <a:endParaRPr lang="en-US" sz="2000" dirty="0"/>
          </a:p>
        </p:txBody>
      </p:sp>
      <p:sp>
        <p:nvSpPr>
          <p:cNvPr id="30" name="Text 22"/>
          <p:cNvSpPr/>
          <p:nvPr/>
        </p:nvSpPr>
        <p:spPr>
          <a:xfrm>
            <a:off x="8244840" y="4818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process that fits the decision's importance, urgency and need for buy-in.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CONVENTIONS &amp; PROCEDURES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Order, fairness and effective decisions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550011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373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66420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487168"/>
            <a:ext cx="517093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Formally propose a motion for the meeting to consider.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85916" y="1554480"/>
            <a:ext cx="550011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9420" y="166420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Seconding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0508" y="2487168"/>
            <a:ext cx="517093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second member supports the motion — unseconded motions fall away.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" y="3520440"/>
            <a:ext cx="550011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370332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06424" y="363016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Amending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67512" y="4453128"/>
            <a:ext cx="517093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Modify the motion before the vote; amendments are voted on first.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185916" y="3520440"/>
            <a:ext cx="550011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508" y="370332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89420" y="363016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Voting procedures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350508" y="4453128"/>
            <a:ext cx="517093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of hands, ballot or poll — counted and recorded by the chair.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502920" y="52578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4088" y="551383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61288" y="5257800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note taker needs a technical background — minutes must capture the terminology, decisions and reasons accurately.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Physical arrangements — nothing left to chance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 is where a meeting is won. Four arrangements must be in place before anyone walks in: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50011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01168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19385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Venue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2761488"/>
            <a:ext cx="517093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Booked, accessible and set up for the meeting style — seating that lets practitioners face each other.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185916" y="1828800"/>
            <a:ext cx="550011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201168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89420" y="19385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Facilities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350508" y="2761488"/>
            <a:ext cx="517093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Whiteboards, flip charts, stationery, refreshments — everything the discussion will need.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02920" y="3977640"/>
            <a:ext cx="550011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41605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06424" y="408736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67512" y="4910328"/>
            <a:ext cx="517093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Projector, video conferencing, network access — prepared and tested before the meeting starts.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185916" y="3977640"/>
            <a:ext cx="550011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508" y="416052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89420" y="408736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Supporting information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350508" y="4910328"/>
            <a:ext cx="517093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Reports, designs and data the discussion depends on — available to every participant.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Outcomes, invitations and the agenda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3605784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82880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556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 the outcomes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78608"/>
            <a:ext cx="327660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Intended outcomes must be clear, concise and well documented — the agenda is built around them and success is measured against them.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645920"/>
            <a:ext cx="3605784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18288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5088" y="17556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Invite timeously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56176" y="2578608"/>
            <a:ext cx="327660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invitations let participants prepare, study the documentation and arrange their schedules — so the right people attend.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80248" y="1645920"/>
            <a:ext cx="3605784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18288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3752" y="17556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 &amp; distribute the agenda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44840" y="2578608"/>
            <a:ext cx="327660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agenda and supporting documentation are completed and distributed to all participants before the meeting.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502920" y="480060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agenda states the meeting's purpose, lists the items in priority order, and shows the time allocated to each.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with rules the members own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5454396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737360"/>
            <a:ext cx="49971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RULES &amp; GUIDELINES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499719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 the rules in conjunction with the members at the start</a:t>
            </a:r>
            <a:endParaRPr lang="en-US" sz="18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get the floor, how long contributions may run</a:t>
            </a:r>
            <a:endParaRPr lang="en-US" sz="18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decisions will be taken — and what is in scope</a:t>
            </a:r>
            <a:endParaRPr lang="en-US" sz="18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Agreed rules create buy-in and prevent procedural disputes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31636" y="1554480"/>
            <a:ext cx="5454396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0236" y="1737360"/>
            <a:ext cx="49971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AGREED CONVENTIONS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60236" y="2103120"/>
            <a:ext cx="499719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motions through moving, seconding and amending</a:t>
            </a:r>
            <a:endParaRPr lang="en-US" sz="18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the published agenda item by item</a:t>
            </a:r>
            <a:endParaRPr lang="en-US" sz="18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 unrelated issues and keep an eye on the clock</a:t>
            </a:r>
            <a:endParaRPr lang="en-US" sz="18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conventions consistently — the same rules for everyone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Participation, priorities and decisions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8311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for active participation by ALL members — invite quiet members by name, use round-robin turns, acknowledge every contribution.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debate on the issue, not the person — that is how conflict is minimised.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topics and allocate discussion time according to importance, urgency and complexity.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minor items to the end of the agenda — or carry them over to the next meeting.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 agreed decisions are clear, accurate and include a time frame for action.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each decision — and who owns it — with the members before moving on.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Managing difficult behaviours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912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Behaviour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What the chair does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heckler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 calm; acknowledge any valid point and return to the agenda and agreed rules.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overly talkative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Thank them, summarise their point, and invite someone who has not yet spoken.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cynic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Ask for evidence and an alternative — turn the criticism into an agenda item or action.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silent member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Invite their input by name on a topic they know well.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Conflicting egos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Keep debate on the issue, not the person; restate the meeting's outcomes.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Side conversations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Pause the meeting and draw the conversation back to the floor.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Factually wrong statements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Correct tactfully with the facts — or park the point for verification and record it.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POST-MEETING FOLLOW-UP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meeting is not over when it ends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36057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82880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556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Accurate minutes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78608"/>
            <a:ext cx="32766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Attendance, discussions, decisions and actions — produced in line with organisational policy and checked before distribution.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645920"/>
            <a:ext cx="36057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18288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5088" y="17556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Communicate decisions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56176" y="2578608"/>
            <a:ext cx="32766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all affected stakeholders, in the required format — minutes, e-mail or report — and within the required timeframe.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80248" y="1645920"/>
            <a:ext cx="36057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18288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3752" y="17556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Summarise actions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44840" y="2578608"/>
            <a:ext cx="32766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action with its owner and deadline; unresolved items carried over to the next agenda.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502920" y="470916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that are not communicated and tracked might as well not have been taken.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PROVE 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work for this unit standard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830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Questioning sessions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3288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AI-marked questioning exercises — meeting types, preparation, chairing and follow-up.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85916" y="160020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9420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quizzes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0508" y="253288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quizzes across the unit. 80%+ is competent.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" y="393192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41148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06424" y="40416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Chair a meeting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67512" y="486460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Role-play practical on Day 2 — every learner chairs a 10-minute technical meeting from a scenario card.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185916" y="393192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508" y="411480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89420" y="40416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Logbook project — Meeting portfolio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350508" y="486460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 and agenda, invitations, attendance register, minutes and action summary. Mark it 114051.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4630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0280"/>
            <a:ext cx="111831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the meeting — don't let the meeting run you.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36118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types → leadership styles → decision processes → conventions → preparation → chairing → follow-up — the meeting skills every technical practitioner needs to turn discussion into action.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93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National Certificate: IT — System Support · SAQA ID 48573 · ITSS Learn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Investec — Corporate Banking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114051 — Conduct a Technical Practitioners Meeting</dc:title>
  <dc:subject>PptxGenJS Presentation</dc:subject>
  <dc:creator>Andre Snell</dc:creator>
  <cp:lastModifiedBy>Andre Snell</cp:lastModifiedBy>
  <cp:revision>1</cp:revision>
  <dcterms:created xsi:type="dcterms:W3CDTF">2026-09-03T15:57:28Z</dcterms:created>
  <dcterms:modified xsi:type="dcterms:W3CDTF">2026-09-03T15:57:28Z</dcterms:modified>
</cp:coreProperties>
</file>