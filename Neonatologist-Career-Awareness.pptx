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althychildren.org/English/family-life/health-management/pediatric-specialists/Pages/What-is-a-Neonatologist.aspx" TargetMode="External"/><Relationship Id="rId2" Type="http://schemas.openxmlformats.org/officeDocument/2006/relationships/image" Target="../media/image-3-1.png"/><Relationship Id="rId3" Type="http://schemas.openxmlformats.org/officeDocument/2006/relationships/image" Target="../media/image-3-2.svg"/><Relationship Id="rId4" Type="http://schemas.openxmlformats.org/officeDocument/2006/relationships/image" Target="../media/image-3-3.png"/><Relationship Id="rId5" Type="http://schemas.openxmlformats.org/officeDocument/2006/relationships/image" Target="../media/image-3-4.svg"/><Relationship Id="rId6" Type="http://schemas.openxmlformats.org/officeDocument/2006/relationships/image" Target="../media/image-3-5.png"/><Relationship Id="rId7" Type="http://schemas.openxmlformats.org/officeDocument/2006/relationships/image" Target="../media/image-3-6.svg"/><Relationship Id="rId8" Type="http://schemas.openxmlformats.org/officeDocument/2006/relationships/image" Target="../media/image-3-7.png"/><Relationship Id="rId9" Type="http://schemas.openxmlformats.org/officeDocument/2006/relationships/image" Target="../media/image-3-8.svg"/><Relationship Id="rId10" Type="http://schemas.openxmlformats.org/officeDocument/2006/relationships/image" Target="../media/image-3-9.png"/><Relationship Id="rId11" Type="http://schemas.openxmlformats.org/officeDocument/2006/relationships/image" Target="../media/image-3-10.svg"/><Relationship Id="rId12" Type="http://schemas.openxmlformats.org/officeDocument/2006/relationships/image" Target="../media/image-3-11.png"/><Relationship Id="rId13" Type="http://schemas.openxmlformats.org/officeDocument/2006/relationships/image" Target="../media/image-3-12.sv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who.int/news-room/fact-sheets/detail/preterm-birth" TargetMode="External"/><Relationship Id="rId2" Type="http://schemas.openxmlformats.org/officeDocument/2006/relationships/image" Target="../media/image-4-1.png"/><Relationship Id="rId3" Type="http://schemas.openxmlformats.org/officeDocument/2006/relationships/image" Target="../media/image-4-2.svg"/><Relationship Id="rId4" Type="http://schemas.openxmlformats.org/officeDocument/2006/relationships/image" Target="../media/image-4-3.png"/><Relationship Id="rId5" Type="http://schemas.openxmlformats.org/officeDocument/2006/relationships/image" Target="../media/image-4-4.svg"/><Relationship Id="rId6" Type="http://schemas.openxmlformats.org/officeDocument/2006/relationships/image" Target="../media/image-4-5.png"/><Relationship Id="rId7" Type="http://schemas.openxmlformats.org/officeDocument/2006/relationships/image" Target="../media/image-4-6.svg"/><Relationship Id="rId8" Type="http://schemas.openxmlformats.org/officeDocument/2006/relationships/image" Target="../media/image-4-7.png"/><Relationship Id="rId9" Type="http://schemas.openxmlformats.org/officeDocument/2006/relationships/image" Target="../media/image-4-8.svg"/><Relationship Id="rId10" Type="http://schemas.openxmlformats.org/officeDocument/2006/relationships/image" Target="../media/image-4-9.png"/><Relationship Id="rId11" Type="http://schemas.openxmlformats.org/officeDocument/2006/relationships/image" Target="../media/image-4-10.sv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who.int/news-room/fact-sheets/detail/preterm-birth" TargetMode="External"/><Relationship Id="rId2" Type="http://schemas.openxmlformats.org/officeDocument/2006/relationships/image" Target="../media/image-5-1.png"/><Relationship Id="rId3" Type="http://schemas.openxmlformats.org/officeDocument/2006/relationships/image" Target="../media/image-5-2.svg"/><Relationship Id="rId4" Type="http://schemas.openxmlformats.org/officeDocument/2006/relationships/image" Target="../media/image-5-3.png"/><Relationship Id="rId5" Type="http://schemas.openxmlformats.org/officeDocument/2006/relationships/image" Target="../media/image-5-4.svg"/><Relationship Id="rId6" Type="http://schemas.openxmlformats.org/officeDocument/2006/relationships/image" Target="../media/image-5-5.png"/><Relationship Id="rId7" Type="http://schemas.openxmlformats.org/officeDocument/2006/relationships/image" Target="../media/image-5-6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althychildren.org/English/family-life/health-management/pediatric-specialists/Pages/What-is-a-Neonatologist.aspx" TargetMode="External"/><Relationship Id="rId2" Type="http://schemas.openxmlformats.org/officeDocument/2006/relationships/image" Target="../media/image-6-1.png"/><Relationship Id="rId3" Type="http://schemas.openxmlformats.org/officeDocument/2006/relationships/image" Target="../media/image-6-2.svg"/><Relationship Id="rId4" Type="http://schemas.openxmlformats.org/officeDocument/2006/relationships/image" Target="../media/image-6-3.png"/><Relationship Id="rId5" Type="http://schemas.openxmlformats.org/officeDocument/2006/relationships/image" Target="../media/image-6-4.svg"/><Relationship Id="rId6" Type="http://schemas.openxmlformats.org/officeDocument/2006/relationships/image" Target="../media/image-6-5.png"/><Relationship Id="rId7" Type="http://schemas.openxmlformats.org/officeDocument/2006/relationships/image" Target="../media/image-6-6.svg"/><Relationship Id="rId8" Type="http://schemas.openxmlformats.org/officeDocument/2006/relationships/image" Target="../media/image-6-7.png"/><Relationship Id="rId9" Type="http://schemas.openxmlformats.org/officeDocument/2006/relationships/image" Target="../media/image-6-8.svg"/><Relationship Id="rId10" Type="http://schemas.openxmlformats.org/officeDocument/2006/relationships/image" Target="../media/image-6-9.png"/><Relationship Id="rId11" Type="http://schemas.openxmlformats.org/officeDocument/2006/relationships/image" Target="../media/image-6-10.svg"/><Relationship Id="rId12" Type="http://schemas.openxmlformats.org/officeDocument/2006/relationships/image" Target="../media/image-6-11.png"/><Relationship Id="rId13" Type="http://schemas.openxmlformats.org/officeDocument/2006/relationships/image" Target="../media/image-6-12.svg"/><Relationship Id="rId14" Type="http://schemas.openxmlformats.org/officeDocument/2006/relationships/image" Target="../media/image-6-13.png"/><Relationship Id="rId15" Type="http://schemas.openxmlformats.org/officeDocument/2006/relationships/image" Target="../media/image-6-14.sv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althychildren.org/English/family-life/health-management/pediatric-specialists/Pages/What-is-a-Neonatologist.aspx" TargetMode="External"/><Relationship Id="rId2" Type="http://schemas.openxmlformats.org/officeDocument/2006/relationships/image" Target="../media/image-7-1.png"/><Relationship Id="rId3" Type="http://schemas.openxmlformats.org/officeDocument/2006/relationships/image" Target="../media/image-7-2.svg"/><Relationship Id="rId4" Type="http://schemas.openxmlformats.org/officeDocument/2006/relationships/image" Target="../media/image-7-3.png"/><Relationship Id="rId5" Type="http://schemas.openxmlformats.org/officeDocument/2006/relationships/image" Target="../media/image-7-4.svg"/><Relationship Id="rId6" Type="http://schemas.openxmlformats.org/officeDocument/2006/relationships/image" Target="../media/image-7-5.png"/><Relationship Id="rId7" Type="http://schemas.openxmlformats.org/officeDocument/2006/relationships/image" Target="../media/image-7-6.svg"/><Relationship Id="rId8" Type="http://schemas.openxmlformats.org/officeDocument/2006/relationships/image" Target="../media/image-7-7.png"/><Relationship Id="rId9" Type="http://schemas.openxmlformats.org/officeDocument/2006/relationships/image" Target="../media/image-7-8.svg"/><Relationship Id="rId10" Type="http://schemas.openxmlformats.org/officeDocument/2006/relationships/image" Target="../media/image-7-9.png"/><Relationship Id="rId11" Type="http://schemas.openxmlformats.org/officeDocument/2006/relationships/image" Target="../media/image-7-10.svg"/><Relationship Id="rId12" Type="http://schemas.openxmlformats.org/officeDocument/2006/relationships/image" Target="../media/image-7-11.png"/><Relationship Id="rId13" Type="http://schemas.openxmlformats.org/officeDocument/2006/relationships/image" Target="../media/image-7-12.svg"/><Relationship Id="rId14" Type="http://schemas.openxmlformats.org/officeDocument/2006/relationships/image" Target="../media/image-7-13.png"/><Relationship Id="rId15" Type="http://schemas.openxmlformats.org/officeDocument/2006/relationships/image" Target="../media/image-7-14.sv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althychildren.org/English/family-life/health-management/pediatric-specialists/Pages/What-is-a-Neonatologist.aspx" TargetMode="External"/><Relationship Id="rId2" Type="http://schemas.openxmlformats.org/officeDocument/2006/relationships/image" Target="../media/image-8-1.png"/><Relationship Id="rId3" Type="http://schemas.openxmlformats.org/officeDocument/2006/relationships/image" Target="../media/image-8-2.svg"/><Relationship Id="rId4" Type="http://schemas.openxmlformats.org/officeDocument/2006/relationships/image" Target="../media/image-8-3.png"/><Relationship Id="rId5" Type="http://schemas.openxmlformats.org/officeDocument/2006/relationships/image" Target="../media/image-8-4.svg"/><Relationship Id="rId6" Type="http://schemas.openxmlformats.org/officeDocument/2006/relationships/image" Target="../media/image-8-5.png"/><Relationship Id="rId7" Type="http://schemas.openxmlformats.org/officeDocument/2006/relationships/image" Target="../media/image-8-6.svg"/><Relationship Id="rId8" Type="http://schemas.openxmlformats.org/officeDocument/2006/relationships/image" Target="../media/image-8-7.png"/><Relationship Id="rId9" Type="http://schemas.openxmlformats.org/officeDocument/2006/relationships/image" Target="../media/image-8-8.svg"/><Relationship Id="rId10" Type="http://schemas.openxmlformats.org/officeDocument/2006/relationships/image" Target="../media/image-8-9.png"/><Relationship Id="rId11" Type="http://schemas.openxmlformats.org/officeDocument/2006/relationships/image" Target="../media/image-8-10.svg"/><Relationship Id="rId12" Type="http://schemas.openxmlformats.org/officeDocument/2006/relationships/image" Target="../media/image-8-11.png"/><Relationship Id="rId13" Type="http://schemas.openxmlformats.org/officeDocument/2006/relationships/image" Target="../media/image-8-12.svg"/><Relationship Id="rId14" Type="http://schemas.openxmlformats.org/officeDocument/2006/relationships/image" Target="../media/image-8-13.png"/><Relationship Id="rId15" Type="http://schemas.openxmlformats.org/officeDocument/2006/relationships/image" Target="../media/image-8-14.sv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image" Target="../media/image-9-15.png"/><Relationship Id="rId16" Type="http://schemas.openxmlformats.org/officeDocument/2006/relationships/image" Target="../media/image-9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althychildren.org/English/family-life/health-management/pediatric-specialists/Pages/What-is-a-Neonatologist.aspx" TargetMode="External"/><Relationship Id="rId2" Type="http://schemas.openxmlformats.org/officeDocument/2006/relationships/image" Target="../media/image-10-1.png"/><Relationship Id="rId3" Type="http://schemas.openxmlformats.org/officeDocument/2006/relationships/image" Target="../media/image-10-2.svg"/><Relationship Id="rId4" Type="http://schemas.openxmlformats.org/officeDocument/2006/relationships/image" Target="../media/image-10-3.png"/><Relationship Id="rId5" Type="http://schemas.openxmlformats.org/officeDocument/2006/relationships/image" Target="../media/image-10-4.svg"/><Relationship Id="rId6" Type="http://schemas.openxmlformats.org/officeDocument/2006/relationships/image" Target="../media/image-10-5.png"/><Relationship Id="rId7" Type="http://schemas.openxmlformats.org/officeDocument/2006/relationships/image" Target="../media/image-10-6.svg"/><Relationship Id="rId8" Type="http://schemas.openxmlformats.org/officeDocument/2006/relationships/image" Target="../media/image-10-7.png"/><Relationship Id="rId9" Type="http://schemas.openxmlformats.org/officeDocument/2006/relationships/image" Target="../media/image-10-8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sv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sv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sv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sv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sv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sv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image" Target="../media/image-17-9.png"/><Relationship Id="rId10" Type="http://schemas.openxmlformats.org/officeDocument/2006/relationships/image" Target="../media/image-17-10.sv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sv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wits.ac.za/course-finder/undergraduate/health/medicine-and-surgery/" TargetMode="External"/><Relationship Id="rId2" Type="http://schemas.openxmlformats.org/officeDocument/2006/relationships/image" Target="../media/image-18-1.png"/><Relationship Id="rId3" Type="http://schemas.openxmlformats.org/officeDocument/2006/relationships/image" Target="../media/image-18-2.svg"/><Relationship Id="rId4" Type="http://schemas.openxmlformats.org/officeDocument/2006/relationships/image" Target="../media/image-18-3.png"/><Relationship Id="rId5" Type="http://schemas.openxmlformats.org/officeDocument/2006/relationships/image" Target="../media/image-18-4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alth.gov.za/icsp/" TargetMode="External"/><Relationship Id="rId2" Type="http://schemas.openxmlformats.org/officeDocument/2006/relationships/image" Target="../media/image-19-1.png"/><Relationship Id="rId3" Type="http://schemas.openxmlformats.org/officeDocument/2006/relationships/image" Target="../media/image-19-2.svg"/><Relationship Id="rId4" Type="http://schemas.openxmlformats.org/officeDocument/2006/relationships/image" Target="../media/image-19-3.png"/><Relationship Id="rId5" Type="http://schemas.openxmlformats.org/officeDocument/2006/relationships/image" Target="../media/image-19-4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wits.ac.za/course-finder/undergraduate/health/medicine-and-surgery/" TargetMode="External"/><Relationship Id="rId2" Type="http://schemas.openxmlformats.org/officeDocument/2006/relationships/image" Target="../media/image-20-1.png"/><Relationship Id="rId3" Type="http://schemas.openxmlformats.org/officeDocument/2006/relationships/image" Target="../media/image-20-2.svg"/><Relationship Id="rId4" Type="http://schemas.openxmlformats.org/officeDocument/2006/relationships/image" Target="../media/image-20-3.png"/><Relationship Id="rId5" Type="http://schemas.openxmlformats.org/officeDocument/2006/relationships/image" Target="../media/image-20-4.svg"/><Relationship Id="rId6" Type="http://schemas.openxmlformats.org/officeDocument/2006/relationships/image" Target="../media/image-20-5.png"/><Relationship Id="rId7" Type="http://schemas.openxmlformats.org/officeDocument/2006/relationships/image" Target="../media/image-20-6.svg"/><Relationship Id="rId8" Type="http://schemas.openxmlformats.org/officeDocument/2006/relationships/image" Target="../media/image-20-7.png"/><Relationship Id="rId9" Type="http://schemas.openxmlformats.org/officeDocument/2006/relationships/image" Target="../media/image-20-8.svg"/><Relationship Id="rId10" Type="http://schemas.openxmlformats.org/officeDocument/2006/relationships/image" Target="../media/image-20-9.png"/><Relationship Id="rId11" Type="http://schemas.openxmlformats.org/officeDocument/2006/relationships/image" Target="../media/image-20-10.svg"/><Relationship Id="rId12" Type="http://schemas.openxmlformats.org/officeDocument/2006/relationships/image" Target="../media/image-20-11.png"/><Relationship Id="rId13" Type="http://schemas.openxmlformats.org/officeDocument/2006/relationships/image" Target="../media/image-20-12.svg"/><Relationship Id="rId14" Type="http://schemas.openxmlformats.org/officeDocument/2006/relationships/image" Target="../media/image-20-13.png"/><Relationship Id="rId15" Type="http://schemas.openxmlformats.org/officeDocument/2006/relationships/image" Target="../media/image-20-14.svg"/><Relationship Id="rId16" Type="http://schemas.openxmlformats.org/officeDocument/2006/relationships/image" Target="../media/image-20-15.png"/><Relationship Id="rId17" Type="http://schemas.openxmlformats.org/officeDocument/2006/relationships/image" Target="../media/image-20-16.sv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image" Target="../media/image-21-5.png"/><Relationship Id="rId6" Type="http://schemas.openxmlformats.org/officeDocument/2006/relationships/image" Target="../media/image-21-6.svg"/><Relationship Id="rId7" Type="http://schemas.openxmlformats.org/officeDocument/2006/relationships/image" Target="../media/image-21-7.png"/><Relationship Id="rId8" Type="http://schemas.openxmlformats.org/officeDocument/2006/relationships/image" Target="../media/image-21-8.svg"/><Relationship Id="rId9" Type="http://schemas.openxmlformats.org/officeDocument/2006/relationships/image" Target="../media/image-21-9.png"/><Relationship Id="rId10" Type="http://schemas.openxmlformats.org/officeDocument/2006/relationships/image" Target="../media/image-21-10.svg"/><Relationship Id="rId11" Type="http://schemas.openxmlformats.org/officeDocument/2006/relationships/image" Target="../media/image-21-11.png"/><Relationship Id="rId12" Type="http://schemas.openxmlformats.org/officeDocument/2006/relationships/image" Target="../media/image-21-12.svg"/><Relationship Id="rId13" Type="http://schemas.openxmlformats.org/officeDocument/2006/relationships/image" Target="../media/image-21-13.png"/><Relationship Id="rId14" Type="http://schemas.openxmlformats.org/officeDocument/2006/relationships/image" Target="../media/image-21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3.png"/><Relationship Id="rId4" Type="http://schemas.openxmlformats.org/officeDocument/2006/relationships/image" Target="../media/image-22-4.svg"/><Relationship Id="rId5" Type="http://schemas.openxmlformats.org/officeDocument/2006/relationships/image" Target="../media/image-22-5.png"/><Relationship Id="rId6" Type="http://schemas.openxmlformats.org/officeDocument/2006/relationships/image" Target="../media/image-22-6.svg"/><Relationship Id="rId7" Type="http://schemas.openxmlformats.org/officeDocument/2006/relationships/image" Target="../media/image-22-7.png"/><Relationship Id="rId8" Type="http://schemas.openxmlformats.org/officeDocument/2006/relationships/image" Target="../media/image-22-8.svg"/><Relationship Id="rId9" Type="http://schemas.openxmlformats.org/officeDocument/2006/relationships/image" Target="../media/image-22-9.png"/><Relationship Id="rId10" Type="http://schemas.openxmlformats.org/officeDocument/2006/relationships/image" Target="../media/image-22-10.svg"/><Relationship Id="rId11" Type="http://schemas.openxmlformats.org/officeDocument/2006/relationships/image" Target="../media/image-22-11.png"/><Relationship Id="rId12" Type="http://schemas.openxmlformats.org/officeDocument/2006/relationships/image" Target="../media/image-22-12.svg"/><Relationship Id="rId13" Type="http://schemas.openxmlformats.org/officeDocument/2006/relationships/image" Target="../media/image-22-13.png"/><Relationship Id="rId14" Type="http://schemas.openxmlformats.org/officeDocument/2006/relationships/image" Target="../media/image-22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image" Target="../media/image-23-3.png"/><Relationship Id="rId4" Type="http://schemas.openxmlformats.org/officeDocument/2006/relationships/image" Target="../media/image-23-4.svg"/><Relationship Id="rId5" Type="http://schemas.openxmlformats.org/officeDocument/2006/relationships/image" Target="../media/image-23-5.png"/><Relationship Id="rId6" Type="http://schemas.openxmlformats.org/officeDocument/2006/relationships/image" Target="../media/image-23-6.svg"/><Relationship Id="rId7" Type="http://schemas.openxmlformats.org/officeDocument/2006/relationships/image" Target="../media/image-23-7.png"/><Relationship Id="rId8" Type="http://schemas.openxmlformats.org/officeDocument/2006/relationships/image" Target="../media/image-23-8.svg"/><Relationship Id="rId9" Type="http://schemas.openxmlformats.org/officeDocument/2006/relationships/image" Target="../media/image-23-9.png"/><Relationship Id="rId10" Type="http://schemas.openxmlformats.org/officeDocument/2006/relationships/image" Target="../media/image-23-10.svg"/><Relationship Id="rId11" Type="http://schemas.openxmlformats.org/officeDocument/2006/relationships/image" Target="../media/image-23-11.png"/><Relationship Id="rId12" Type="http://schemas.openxmlformats.org/officeDocument/2006/relationships/image" Target="../media/image-23-12.svg"/><Relationship Id="rId13" Type="http://schemas.openxmlformats.org/officeDocument/2006/relationships/image" Target="../media/image-23-13.png"/><Relationship Id="rId14" Type="http://schemas.openxmlformats.org/officeDocument/2006/relationships/image" Target="../media/image-23-14.svg"/><Relationship Id="rId15" Type="http://schemas.openxmlformats.org/officeDocument/2006/relationships/image" Target="../media/image-23-15.png"/><Relationship Id="rId16" Type="http://schemas.openxmlformats.org/officeDocument/2006/relationships/image" Target="../media/image-23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3.png"/><Relationship Id="rId4" Type="http://schemas.openxmlformats.org/officeDocument/2006/relationships/image" Target="../media/image-24-4.svg"/><Relationship Id="rId5" Type="http://schemas.openxmlformats.org/officeDocument/2006/relationships/image" Target="../media/image-24-5.png"/><Relationship Id="rId6" Type="http://schemas.openxmlformats.org/officeDocument/2006/relationships/image" Target="../media/image-24-6.svg"/><Relationship Id="rId7" Type="http://schemas.openxmlformats.org/officeDocument/2006/relationships/image" Target="../media/image-24-7.png"/><Relationship Id="rId8" Type="http://schemas.openxmlformats.org/officeDocument/2006/relationships/image" Target="../media/image-24-8.svg"/><Relationship Id="rId9" Type="http://schemas.openxmlformats.org/officeDocument/2006/relationships/image" Target="../media/image-24-9.png"/><Relationship Id="rId10" Type="http://schemas.openxmlformats.org/officeDocument/2006/relationships/image" Target="../media/image-24-10.svg"/><Relationship Id="rId11" Type="http://schemas.openxmlformats.org/officeDocument/2006/relationships/image" Target="../media/image-24-11.png"/><Relationship Id="rId12" Type="http://schemas.openxmlformats.org/officeDocument/2006/relationships/image" Target="../media/image-24-12.svg"/><Relationship Id="rId13" Type="http://schemas.openxmlformats.org/officeDocument/2006/relationships/image" Target="../media/image-24-13.png"/><Relationship Id="rId14" Type="http://schemas.openxmlformats.org/officeDocument/2006/relationships/image" Target="../media/image-24-14.svg"/><Relationship Id="rId15" Type="http://schemas.openxmlformats.org/officeDocument/2006/relationships/image" Target="../media/image-24-15.png"/><Relationship Id="rId16" Type="http://schemas.openxmlformats.org/officeDocument/2006/relationships/image" Target="../media/image-24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image" Target="../media/image-25-3.png"/><Relationship Id="rId4" Type="http://schemas.openxmlformats.org/officeDocument/2006/relationships/image" Target="../media/image-25-4.svg"/><Relationship Id="rId5" Type="http://schemas.openxmlformats.org/officeDocument/2006/relationships/image" Target="../media/image-25-5.png"/><Relationship Id="rId6" Type="http://schemas.openxmlformats.org/officeDocument/2006/relationships/image" Target="../media/image-25-6.svg"/><Relationship Id="rId7" Type="http://schemas.openxmlformats.org/officeDocument/2006/relationships/image" Target="../media/image-25-7.png"/><Relationship Id="rId8" Type="http://schemas.openxmlformats.org/officeDocument/2006/relationships/image" Target="../media/image-25-8.svg"/><Relationship Id="rId9" Type="http://schemas.openxmlformats.org/officeDocument/2006/relationships/image" Target="../media/image-25-9.png"/><Relationship Id="rId10" Type="http://schemas.openxmlformats.org/officeDocument/2006/relationships/image" Target="../media/image-25-10.svg"/><Relationship Id="rId11" Type="http://schemas.openxmlformats.org/officeDocument/2006/relationships/image" Target="../media/image-25-11.png"/><Relationship Id="rId12" Type="http://schemas.openxmlformats.org/officeDocument/2006/relationships/image" Target="../media/image-25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image" Target="../media/image-26-3.png"/><Relationship Id="rId4" Type="http://schemas.openxmlformats.org/officeDocument/2006/relationships/image" Target="../media/image-26-4.svg"/><Relationship Id="rId5" Type="http://schemas.openxmlformats.org/officeDocument/2006/relationships/image" Target="../media/image-26-5.png"/><Relationship Id="rId6" Type="http://schemas.openxmlformats.org/officeDocument/2006/relationships/image" Target="../media/image-26-6.svg"/><Relationship Id="rId7" Type="http://schemas.openxmlformats.org/officeDocument/2006/relationships/image" Target="../media/image-26-7.png"/><Relationship Id="rId8" Type="http://schemas.openxmlformats.org/officeDocument/2006/relationships/image" Target="../media/image-26-8.svg"/><Relationship Id="rId9" Type="http://schemas.openxmlformats.org/officeDocument/2006/relationships/image" Target="../media/image-26-9.png"/><Relationship Id="rId10" Type="http://schemas.openxmlformats.org/officeDocument/2006/relationships/image" Target="../media/image-26-10.svg"/><Relationship Id="rId11" Type="http://schemas.openxmlformats.org/officeDocument/2006/relationships/image" Target="../media/image-26-11.png"/><Relationship Id="rId12" Type="http://schemas.openxmlformats.org/officeDocument/2006/relationships/image" Target="../media/image-26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image" Target="../media/image-27-3.png"/><Relationship Id="rId4" Type="http://schemas.openxmlformats.org/officeDocument/2006/relationships/image" Target="../media/image-27-4.svg"/><Relationship Id="rId5" Type="http://schemas.openxmlformats.org/officeDocument/2006/relationships/image" Target="../media/image-27-5.png"/><Relationship Id="rId6" Type="http://schemas.openxmlformats.org/officeDocument/2006/relationships/image" Target="../media/image-27-6.svg"/><Relationship Id="rId7" Type="http://schemas.openxmlformats.org/officeDocument/2006/relationships/image" Target="../media/image-27-7.png"/><Relationship Id="rId8" Type="http://schemas.openxmlformats.org/officeDocument/2006/relationships/image" Target="../media/image-27-8.svg"/><Relationship Id="rId9" Type="http://schemas.openxmlformats.org/officeDocument/2006/relationships/image" Target="../media/image-27-9.png"/><Relationship Id="rId10" Type="http://schemas.openxmlformats.org/officeDocument/2006/relationships/image" Target="../media/image-27-10.svg"/><Relationship Id="rId11" Type="http://schemas.openxmlformats.org/officeDocument/2006/relationships/image" Target="../media/image-27-11.png"/><Relationship Id="rId12" Type="http://schemas.openxmlformats.org/officeDocument/2006/relationships/image" Target="../media/image-27-12.svg"/><Relationship Id="rId13" Type="http://schemas.openxmlformats.org/officeDocument/2006/relationships/image" Target="../media/image-27-13.png"/><Relationship Id="rId14" Type="http://schemas.openxmlformats.org/officeDocument/2006/relationships/image" Target="../media/image-27-14.svg"/><Relationship Id="rId15" Type="http://schemas.openxmlformats.org/officeDocument/2006/relationships/image" Target="../media/image-27-15.png"/><Relationship Id="rId16" Type="http://schemas.openxmlformats.org/officeDocument/2006/relationships/image" Target="../media/image-27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hyperlink" Target="https://www.healthychildren.org/English/family-life/health-management/pediatric-specialists/Pages/What-is-a-Neonatologist.aspx" TargetMode="External"/><Relationship Id="rId10" Type="http://schemas.openxmlformats.org/officeDocument/2006/relationships/hyperlink" Target="https://www.who.int/news-room/fact-sheets/detail/preterm-birth" TargetMode="External"/><Relationship Id="rId13" Type="http://schemas.openxmlformats.org/officeDocument/2006/relationships/hyperlink" Target="https://www.wits.ac.za/course-finder/undergraduate/health/medicine-and-surgery/" TargetMode="External"/><Relationship Id="rId16" Type="http://schemas.openxmlformats.org/officeDocument/2006/relationships/hyperlink" Target="https://www.health.gov.za/icsp/" TargetMode="External"/><Relationship Id="rId19" Type="http://schemas.openxmlformats.org/officeDocument/2006/relationships/hyperlink" Target="https://health.uct.ac.za/department-paediatrics/research-research-procedures/mmed" TargetMode="External"/><Relationship Id="rId22" Type="http://schemas.openxmlformats.org/officeDocument/2006/relationships/hyperlink" Target="https://cmsa.co.za/sub-specialty-certificate-in-neonatology-of-the-college-of-paediatricians-of-south-africa-cert-neonatologysa/" TargetMode="External"/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image" Target="../media/image-28-3.png"/><Relationship Id="rId4" Type="http://schemas.openxmlformats.org/officeDocument/2006/relationships/image" Target="../media/image-28-4.svg"/><Relationship Id="rId5" Type="http://schemas.openxmlformats.org/officeDocument/2006/relationships/image" Target="../media/image-28-5.png"/><Relationship Id="rId6" Type="http://schemas.openxmlformats.org/officeDocument/2006/relationships/image" Target="../media/image-28-6.svg"/><Relationship Id="rId8" Type="http://schemas.openxmlformats.org/officeDocument/2006/relationships/image" Target="../media/image-28-7.png"/><Relationship Id="rId9" Type="http://schemas.openxmlformats.org/officeDocument/2006/relationships/image" Target="../media/image-28-8.svg"/><Relationship Id="rId11" Type="http://schemas.openxmlformats.org/officeDocument/2006/relationships/image" Target="../media/image-28-9.png"/><Relationship Id="rId12" Type="http://schemas.openxmlformats.org/officeDocument/2006/relationships/image" Target="../media/image-28-10.svg"/><Relationship Id="rId14" Type="http://schemas.openxmlformats.org/officeDocument/2006/relationships/image" Target="../media/image-28-11.png"/><Relationship Id="rId15" Type="http://schemas.openxmlformats.org/officeDocument/2006/relationships/image" Target="../media/image-28-12.svg"/><Relationship Id="rId17" Type="http://schemas.openxmlformats.org/officeDocument/2006/relationships/image" Target="../media/image-28-13.png"/><Relationship Id="rId18" Type="http://schemas.openxmlformats.org/officeDocument/2006/relationships/image" Target="../media/image-28-14.svg"/><Relationship Id="rId20" Type="http://schemas.openxmlformats.org/officeDocument/2006/relationships/image" Target="../media/image-28-15.png"/><Relationship Id="rId21" Type="http://schemas.openxmlformats.org/officeDocument/2006/relationships/image" Target="../media/image-28-16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E8074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777240"/>
            <a:ext cx="3749040" cy="4709160"/>
          </a:xfrm>
          <a:prstGeom prst="roundRect">
            <a:avLst>
              <a:gd name="adj" fmla="val 4390"/>
            </a:avLst>
          </a:prstGeom>
          <a:solidFill>
            <a:srgbClr val="E6F4F2"/>
          </a:solidFill>
          <a:ln/>
        </p:spPr>
      </p:sp>
      <p:sp>
        <p:nvSpPr>
          <p:cNvPr id="4" name="Shape 2"/>
          <p:cNvSpPr/>
          <p:nvPr/>
        </p:nvSpPr>
        <p:spPr>
          <a:xfrm>
            <a:off x="8321040" y="1234440"/>
            <a:ext cx="3017520" cy="3017520"/>
          </a:xfrm>
          <a:prstGeom prst="ellipse">
            <a:avLst/>
          </a:prstGeom>
          <a:ln w="19050">
            <a:solidFill>
              <a:srgbClr val="CBE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32520" y="1645920"/>
            <a:ext cx="2194560" cy="2194560"/>
          </a:xfrm>
          <a:prstGeom prst="ellipse">
            <a:avLst/>
          </a:prstGeom>
          <a:ln w="19050">
            <a:solidFill>
              <a:srgbClr val="CBE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89720" y="2103120"/>
            <a:ext cx="1280160" cy="1280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18320" y="2331720"/>
            <a:ext cx="822960" cy="822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0" y="397764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2480" y="4160520"/>
            <a:ext cx="411480" cy="4114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0835640" y="105156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18520" y="1234440"/>
            <a:ext cx="411480" cy="41148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10698480" y="43891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35640" y="4526280"/>
            <a:ext cx="365760" cy="36576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02920" y="1051560"/>
            <a:ext cx="5120640" cy="530352"/>
          </a:xfrm>
          <a:prstGeom prst="roundRect">
            <a:avLst>
              <a:gd name="adj" fmla="val 50000"/>
            </a:avLst>
          </a:prstGeom>
          <a:solidFill>
            <a:srgbClr val="0E8074"/>
          </a:solidFill>
          <a:ln/>
        </p:spPr>
      </p:sp>
      <p:sp>
        <p:nvSpPr>
          <p:cNvPr id="15" name="Text 9"/>
          <p:cNvSpPr/>
          <p:nvPr/>
        </p:nvSpPr>
        <p:spPr>
          <a:xfrm>
            <a:off x="502920" y="1051560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 AWARENESS · SOUTH AFRICAN CONTEXT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502920" y="1828800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B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Neonatologist</a:t>
            </a:r>
            <a:endParaRPr lang="en-US" sz="6000" dirty="0"/>
          </a:p>
        </p:txBody>
      </p:sp>
      <p:sp>
        <p:nvSpPr>
          <p:cNvPr id="17" name="Text 11"/>
          <p:cNvSpPr/>
          <p:nvPr/>
        </p:nvSpPr>
        <p:spPr>
          <a:xfrm>
            <a:off x="50292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807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Small patients. A lasting impact.</a:t>
            </a:r>
            <a:endParaRPr lang="en-US" sz="2800" dirty="0"/>
          </a:p>
        </p:txBody>
      </p:sp>
      <p:sp>
        <p:nvSpPr>
          <p:cNvPr id="18" name="Text 12"/>
          <p:cNvSpPr/>
          <p:nvPr/>
        </p:nvSpPr>
        <p:spPr>
          <a:xfrm>
            <a:off x="502920" y="37033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how the subjects, skills and choices you build today can prepare you for a career in specialist newborn care.</a:t>
            </a:r>
            <a:endParaRPr lang="en-US" sz="1900" dirty="0"/>
          </a:p>
        </p:txBody>
      </p:sp>
      <p:sp>
        <p:nvSpPr>
          <p:cNvPr id="19" name="Shape 13"/>
          <p:cNvSpPr/>
          <p:nvPr/>
        </p:nvSpPr>
        <p:spPr>
          <a:xfrm>
            <a:off x="502920" y="4892040"/>
            <a:ext cx="6949440" cy="0"/>
          </a:xfrm>
          <a:prstGeom prst="line">
            <a:avLst/>
          </a:prstGeom>
          <a:noFill/>
          <a:ln w="12700">
            <a:solidFill>
              <a:srgbClr val="CBE5E1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2920" y="5138928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68680" y="510235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Specialist newborn care</a:t>
            </a:r>
            <a:endParaRPr lang="en-US" sz="15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98648" y="5138928"/>
            <a:ext cx="292608" cy="29260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264408" y="510235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pathway</a:t>
            </a:r>
            <a:endParaRPr lang="en-US" sz="15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294376" y="5138928"/>
            <a:ext cx="292608" cy="29260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660136" y="510235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Steps you can take now</a:t>
            </a:r>
            <a:endParaRPr lang="en-US" sz="1500" dirty="0"/>
          </a:p>
        </p:txBody>
      </p:sp>
      <p:sp>
        <p:nvSpPr>
          <p:cNvPr id="26" name="Text 17"/>
          <p:cNvSpPr/>
          <p:nvPr/>
        </p:nvSpPr>
        <p:spPr>
          <a:xfrm>
            <a:off x="502920" y="6291072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Neonatologist · Career Awareness · South African Context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37376"/>
            <a:ext cx="10268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Neonatologist · Career Awareness · South African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45952" y="6437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152" y="-987552"/>
            <a:ext cx="2148840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28832" y="274320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201168"/>
            <a:ext cx="11183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02920" y="530352"/>
            <a:ext cx="98572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B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Future Starts With What You Practise Now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502920" y="1261872"/>
            <a:ext cx="11183112" cy="3634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 of this presentation, you should be able to: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502920" y="1735074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7512" y="1890522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06424" y="1863090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what a neonatologist does.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6204204" y="1735074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68796" y="1890522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07708" y="1863090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skills that support success in this career.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502920" y="2772918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7512" y="2928366"/>
            <a:ext cx="310896" cy="31089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06424" y="2900934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the main stages of the training pathway.</a:t>
            </a:r>
            <a:endParaRPr lang="en-US" sz="1800" dirty="0"/>
          </a:p>
        </p:txBody>
      </p:sp>
      <p:sp>
        <p:nvSpPr>
          <p:cNvPr id="20" name="Shape 13"/>
          <p:cNvSpPr/>
          <p:nvPr/>
        </p:nvSpPr>
        <p:spPr>
          <a:xfrm>
            <a:off x="6204204" y="2772918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68796" y="2928366"/>
            <a:ext cx="310896" cy="31089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807708" y="2900934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practical steps you can begin taking now.</a:t>
            </a:r>
            <a:endParaRPr lang="en-US" sz="1800" dirty="0"/>
          </a:p>
        </p:txBody>
      </p:sp>
      <p:sp>
        <p:nvSpPr>
          <p:cNvPr id="23" name="Shape 15"/>
          <p:cNvSpPr/>
          <p:nvPr/>
        </p:nvSpPr>
        <p:spPr>
          <a:xfrm>
            <a:off x="502920" y="3902202"/>
            <a:ext cx="11183112" cy="1202436"/>
          </a:xfrm>
          <a:prstGeom prst="roundRect">
            <a:avLst>
              <a:gd name="adj" fmla="val 6844"/>
            </a:avLst>
          </a:prstGeom>
          <a:solidFill>
            <a:srgbClr val="E6F4F2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502920" y="3902202"/>
            <a:ext cx="82296" cy="120243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22376" y="4021074"/>
            <a:ext cx="292608" cy="29260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124712" y="3984498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ABOUT IT</a:t>
            </a:r>
            <a:endParaRPr lang="en-US" sz="1800" dirty="0"/>
          </a:p>
        </p:txBody>
      </p:sp>
      <p:sp>
        <p:nvSpPr>
          <p:cNvPr id="27" name="Text 18"/>
          <p:cNvSpPr/>
          <p:nvPr/>
        </p:nvSpPr>
        <p:spPr>
          <a:xfrm>
            <a:off x="1124712" y="4341114"/>
            <a:ext cx="10360152" cy="6537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interests you about a career that combines science and caring for people?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37376"/>
            <a:ext cx="10268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pPr indent="0" marL="0">
              <a:buNone/>
            </a:pPr>
            <a:r>
              <a:rPr lang="en-US" sz="1200" u="sng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American Academy of Pediatrics</a:t>
            </a:r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·  Neonatologist · Career Awareness · South African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45952" y="6437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152" y="-987552"/>
            <a:ext cx="2148840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28832" y="274320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201168"/>
            <a:ext cx="11183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ROLE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02920" y="530352"/>
            <a:ext cx="98572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B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 Neonatologist?</a:t>
            </a:r>
            <a:endParaRPr lang="en-US" sz="2800" dirty="0"/>
          </a:p>
        </p:txBody>
      </p:sp>
      <p:sp>
        <p:nvSpPr>
          <p:cNvPr id="10" name="Shape 6"/>
          <p:cNvSpPr/>
          <p:nvPr/>
        </p:nvSpPr>
        <p:spPr>
          <a:xfrm>
            <a:off x="502920" y="1261872"/>
            <a:ext cx="11183112" cy="1202436"/>
          </a:xfrm>
          <a:prstGeom prst="roundRect">
            <a:avLst>
              <a:gd name="adj" fmla="val 6844"/>
            </a:avLst>
          </a:prstGeom>
          <a:solidFill>
            <a:srgbClr val="E6F4F2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02920" y="1261872"/>
            <a:ext cx="82296" cy="120243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2376" y="1380744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24712" y="1344168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124712" y="1700784"/>
            <a:ext cx="10360152" cy="6537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neonatologist is a </a:t>
            </a:r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 doctor</a:t>
            </a:r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who specialises in caring for </a:t>
            </a:r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newborn babies with complex health needs</a:t>
            </a:r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502920" y="2720340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7512" y="2875788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06424" y="2848356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Trains in paediatrics before specialising further.</a:t>
            </a:r>
            <a:endParaRPr lang="en-US" sz="1800" dirty="0"/>
          </a:p>
        </p:txBody>
      </p:sp>
      <p:sp>
        <p:nvSpPr>
          <p:cNvPr id="18" name="Shape 12"/>
          <p:cNvSpPr/>
          <p:nvPr/>
        </p:nvSpPr>
        <p:spPr>
          <a:xfrm>
            <a:off x="6204204" y="2720340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68796" y="2875788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807708" y="2848356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Cares for babies born prematurely or seriously unwell.</a:t>
            </a:r>
            <a:endParaRPr lang="en-US" sz="1800" dirty="0"/>
          </a:p>
        </p:txBody>
      </p:sp>
      <p:sp>
        <p:nvSpPr>
          <p:cNvPr id="21" name="Shape 14"/>
          <p:cNvSpPr/>
          <p:nvPr/>
        </p:nvSpPr>
        <p:spPr>
          <a:xfrm>
            <a:off x="502920" y="3758184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7512" y="3913632"/>
            <a:ext cx="310896" cy="31089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106424" y="3886200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Helps families understand their baby’s care.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37376"/>
            <a:ext cx="10268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pPr indent="0" marL="0">
              <a:buNone/>
            </a:pPr>
            <a:r>
              <a:rPr lang="en-US" sz="1200" u="sng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World Health Organization</a:t>
            </a:r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·  Neonatologist · Career Awareness · South African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45952" y="6437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152" y="-987552"/>
            <a:ext cx="2148840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28832" y="274320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201168"/>
            <a:ext cx="11183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02920" y="530352"/>
            <a:ext cx="98572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B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Does This Career Matter?</a:t>
            </a:r>
            <a:endParaRPr lang="en-US" sz="2800" dirty="0"/>
          </a:p>
        </p:txBody>
      </p:sp>
      <p:sp>
        <p:nvSpPr>
          <p:cNvPr id="10" name="Shape 6"/>
          <p:cNvSpPr/>
          <p:nvPr/>
        </p:nvSpPr>
        <p:spPr>
          <a:xfrm>
            <a:off x="502920" y="1261872"/>
            <a:ext cx="11183112" cy="1799336"/>
          </a:xfrm>
          <a:prstGeom prst="roundRect">
            <a:avLst>
              <a:gd name="adj" fmla="val 4574"/>
            </a:avLst>
          </a:prstGeom>
          <a:solidFill>
            <a:srgbClr val="E6F4F2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77240" y="1261872"/>
            <a:ext cx="4206240" cy="1799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807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13.4 million</a:t>
            </a:r>
            <a:endParaRPr lang="en-US" sz="4400" dirty="0"/>
          </a:p>
        </p:txBody>
      </p:sp>
      <p:sp>
        <p:nvSpPr>
          <p:cNvPr id="12" name="Text 8"/>
          <p:cNvSpPr/>
          <p:nvPr/>
        </p:nvSpPr>
        <p:spPr>
          <a:xfrm>
            <a:off x="5166360" y="1261872"/>
            <a:ext cx="6336792" cy="1799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babies were born prematurely worldwide in 2020 — an estimated figure from the World Health Organization.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502920" y="3244088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7512" y="339953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06424" y="3372104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Premature birth means birth before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 completed weeks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of pregnancy.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204204" y="3244088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68796" y="3399536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07708" y="3372104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babies need specialist support while their bodies develop.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502920" y="4281932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7512" y="4437380"/>
            <a:ext cx="310896" cy="31089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06424" y="4409948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Effective newborn care can improve survival and development.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37376"/>
            <a:ext cx="10268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pPr indent="0" marL="0">
              <a:buNone/>
            </a:pPr>
            <a:r>
              <a:rPr lang="en-US" sz="1200" u="sng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World Health Organization</a:t>
            </a:r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·  Neonatologist · Career Awareness · South African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45952" y="6437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152" y="-987552"/>
            <a:ext cx="2148840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28832" y="274320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201168"/>
            <a:ext cx="11183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 · CONTINUED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02920" y="530352"/>
            <a:ext cx="98572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B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Does This Career Matter?</a:t>
            </a:r>
            <a:endParaRPr lang="en-US" sz="2800" dirty="0"/>
          </a:p>
        </p:txBody>
      </p:sp>
      <p:sp>
        <p:nvSpPr>
          <p:cNvPr id="10" name="Shape 6"/>
          <p:cNvSpPr/>
          <p:nvPr/>
        </p:nvSpPr>
        <p:spPr>
          <a:xfrm>
            <a:off x="502920" y="1261872"/>
            <a:ext cx="11183112" cy="893826"/>
          </a:xfrm>
          <a:prstGeom prst="roundRect">
            <a:avLst>
              <a:gd name="adj" fmla="val 9207"/>
            </a:avLst>
          </a:prstGeom>
          <a:solidFill>
            <a:srgbClr val="FDEEEB"/>
          </a:solidFill>
          <a:ln w="12700">
            <a:solidFill>
              <a:srgbClr val="F3CFC7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02920" y="1261872"/>
            <a:ext cx="82296" cy="893826"/>
          </a:xfrm>
          <a:prstGeom prst="rect">
            <a:avLst/>
          </a:prstGeom>
          <a:solidFill>
            <a:srgbClr val="E85D4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2376" y="1380744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24712" y="1344168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E85D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REMEMBER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124712" y="1700784"/>
            <a:ext cx="10360152" cy="3451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Behind every patient is a family hoping for the best possible start.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37376"/>
            <a:ext cx="10268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pPr indent="0" marL="0">
              <a:buNone/>
            </a:pPr>
            <a:r>
              <a:rPr lang="en-US" sz="1200" u="sng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American Academy of Pediatrics</a:t>
            </a:r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·  Neonatologist · Career Awareness · South African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45952" y="6437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152" y="-987552"/>
            <a:ext cx="2148840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28832" y="274320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201168"/>
            <a:ext cx="11183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02920" y="530352"/>
            <a:ext cx="98572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B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Which Babies Need Specialist Care?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502920" y="1261872"/>
            <a:ext cx="11183112" cy="3634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Neonatologists may care for: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502920" y="1735074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7512" y="1890522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06424" y="1863090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Babies born prematurely.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6204204" y="1735074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68796" y="1890522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07708" y="1863090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Newborns with breathing difficulties.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502920" y="2772918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7512" y="2928366"/>
            <a:ext cx="310896" cy="31089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06424" y="2900934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Babies with serious infections.</a:t>
            </a:r>
            <a:endParaRPr lang="en-US" sz="1800" dirty="0"/>
          </a:p>
        </p:txBody>
      </p:sp>
      <p:sp>
        <p:nvSpPr>
          <p:cNvPr id="20" name="Shape 13"/>
          <p:cNvSpPr/>
          <p:nvPr/>
        </p:nvSpPr>
        <p:spPr>
          <a:xfrm>
            <a:off x="6204204" y="2772918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68796" y="2928366"/>
            <a:ext cx="310896" cy="31089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807708" y="2900934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Newborns with conditions present at birth.</a:t>
            </a:r>
            <a:endParaRPr lang="en-US" sz="1800" dirty="0"/>
          </a:p>
        </p:txBody>
      </p:sp>
      <p:sp>
        <p:nvSpPr>
          <p:cNvPr id="23" name="Shape 15"/>
          <p:cNvSpPr/>
          <p:nvPr/>
        </p:nvSpPr>
        <p:spPr>
          <a:xfrm>
            <a:off x="502920" y="3810762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7512" y="3966210"/>
            <a:ext cx="310896" cy="31089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106424" y="3938778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Babies needing coordinated medical care around surgery.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37376"/>
            <a:ext cx="10268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pPr indent="0" marL="0">
              <a:buNone/>
            </a:pPr>
            <a:r>
              <a:rPr lang="en-US" sz="1200" u="sng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American Academy of Pediatrics</a:t>
            </a:r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·  Neonatologist · Career Awareness · South African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45952" y="6437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152" y="-987552"/>
            <a:ext cx="2148840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28832" y="274320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201168"/>
            <a:ext cx="11183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WORKPLACES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02920" y="530352"/>
            <a:ext cx="98572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B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Do Neonatologists Work?</a:t>
            </a:r>
            <a:endParaRPr lang="en-US" sz="2800" dirty="0"/>
          </a:p>
        </p:txBody>
      </p:sp>
      <p:sp>
        <p:nvSpPr>
          <p:cNvPr id="10" name="Shape 6"/>
          <p:cNvSpPr/>
          <p:nvPr/>
        </p:nvSpPr>
        <p:spPr>
          <a:xfrm>
            <a:off x="502920" y="1261872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7512" y="1417320"/>
            <a:ext cx="310896" cy="3108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06424" y="1389888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Neonatal intensive care units: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NICUs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6204204" y="1261872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68796" y="1417320"/>
            <a:ext cx="310896" cy="3108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07708" y="1389888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Special-care newborn nurseries.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502920" y="2299716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7512" y="2455164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06424" y="2427732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Children’s hospitals and university hospitals.</a:t>
            </a:r>
            <a:endParaRPr lang="en-US" sz="1800" dirty="0"/>
          </a:p>
        </p:txBody>
      </p:sp>
      <p:sp>
        <p:nvSpPr>
          <p:cNvPr id="19" name="Shape 12"/>
          <p:cNvSpPr/>
          <p:nvPr/>
        </p:nvSpPr>
        <p:spPr>
          <a:xfrm>
            <a:off x="6204204" y="2299716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68796" y="2455164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07708" y="2427732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areas when specialist newborn support is needed.</a:t>
            </a:r>
            <a:endParaRPr lang="en-US" sz="1800" dirty="0"/>
          </a:p>
        </p:txBody>
      </p:sp>
      <p:sp>
        <p:nvSpPr>
          <p:cNvPr id="22" name="Shape 14"/>
          <p:cNvSpPr/>
          <p:nvPr/>
        </p:nvSpPr>
        <p:spPr>
          <a:xfrm>
            <a:off x="502920" y="3337560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7512" y="3493008"/>
            <a:ext cx="310896" cy="310896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106424" y="3465576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Follow-up clinics in some services.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37376"/>
            <a:ext cx="10268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pPr indent="0" marL="0">
              <a:buNone/>
            </a:pPr>
            <a:r>
              <a:rPr lang="en-US" sz="1200" u="sng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American Academy of Pediatrics</a:t>
            </a:r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·  Neonatologist · Career Awareness · South African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45952" y="6437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152" y="-987552"/>
            <a:ext cx="2148840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28832" y="274320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201168"/>
            <a:ext cx="11183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WORK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02920" y="530352"/>
            <a:ext cx="98572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B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Does the Work Involve?</a:t>
            </a:r>
            <a:endParaRPr lang="en-US" sz="2800" dirty="0"/>
          </a:p>
        </p:txBody>
      </p:sp>
      <p:sp>
        <p:nvSpPr>
          <p:cNvPr id="10" name="Shape 6"/>
          <p:cNvSpPr/>
          <p:nvPr/>
        </p:nvSpPr>
        <p:spPr>
          <a:xfrm>
            <a:off x="502920" y="1261872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7512" y="1417320"/>
            <a:ext cx="310896" cy="3108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06424" y="1389888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 babies and review their progress.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6204204" y="1261872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68796" y="1417320"/>
            <a:ext cx="310896" cy="3108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07708" y="1389888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Diagnose problems and plan treatment.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502920" y="2299716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7512" y="2455164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06424" y="2427732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Coordinate care with other professionals.</a:t>
            </a:r>
            <a:endParaRPr lang="en-US" sz="1800" dirty="0"/>
          </a:p>
        </p:txBody>
      </p:sp>
      <p:sp>
        <p:nvSpPr>
          <p:cNvPr id="19" name="Shape 12"/>
          <p:cNvSpPr/>
          <p:nvPr/>
        </p:nvSpPr>
        <p:spPr>
          <a:xfrm>
            <a:off x="6204204" y="2299716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68796" y="2455164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07708" y="2427732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care to parents and caregivers.</a:t>
            </a:r>
            <a:endParaRPr lang="en-US" sz="1800" dirty="0"/>
          </a:p>
        </p:txBody>
      </p:sp>
      <p:sp>
        <p:nvSpPr>
          <p:cNvPr id="22" name="Shape 14"/>
          <p:cNvSpPr/>
          <p:nvPr/>
        </p:nvSpPr>
        <p:spPr>
          <a:xfrm>
            <a:off x="502920" y="3337560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7512" y="3493008"/>
            <a:ext cx="310896" cy="310896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106424" y="3465576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recovery, nutrition and growth.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37376"/>
            <a:ext cx="10268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Neonatologist · Career Awareness · South African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45952" y="6437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152" y="-987552"/>
            <a:ext cx="2148840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28832" y="274320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201168"/>
            <a:ext cx="11183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TEAMWORK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02920" y="530352"/>
            <a:ext cx="98572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B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Newborn Care Is Teamwork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502920" y="1261872"/>
            <a:ext cx="11183112" cy="6720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neonatologist works with other professionals rather than working alone. The team can include: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 flipV="1">
            <a:off x="3246120" y="2567178"/>
            <a:ext cx="548640" cy="578358"/>
          </a:xfrm>
          <a:prstGeom prst="line">
            <a:avLst/>
          </a:prstGeom>
          <a:noFill/>
          <a:ln w="22225">
            <a:solidFill>
              <a:srgbClr val="CBE5E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794760" y="2080260"/>
            <a:ext cx="3845052" cy="973836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41064" y="221742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343400" y="2153412"/>
            <a:ext cx="3095244" cy="82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Paediatricians and other medical specialists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 flipV="1">
            <a:off x="3246120" y="2567178"/>
            <a:ext cx="4594860" cy="578358"/>
          </a:xfrm>
          <a:prstGeom prst="line">
            <a:avLst/>
          </a:prstGeom>
          <a:noFill/>
          <a:ln w="22225">
            <a:solidFill>
              <a:srgbClr val="CBE5E1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840980" y="2080260"/>
            <a:ext cx="3845052" cy="973836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87284" y="2217420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89620" y="2153412"/>
            <a:ext cx="3095244" cy="82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Neonatal nurses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3246120" y="3145536"/>
            <a:ext cx="548640" cy="578358"/>
          </a:xfrm>
          <a:prstGeom prst="line">
            <a:avLst/>
          </a:prstGeom>
          <a:noFill/>
          <a:ln w="22225">
            <a:solidFill>
              <a:srgbClr val="CBE5E1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3794760" y="3236976"/>
            <a:ext cx="3845052" cy="973836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41064" y="3374136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43400" y="3310128"/>
            <a:ext cx="3095244" cy="82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Professionals supporting nutrition and development</a:t>
            </a:r>
            <a:endParaRPr lang="en-US" sz="1800" dirty="0"/>
          </a:p>
        </p:txBody>
      </p:sp>
      <p:sp>
        <p:nvSpPr>
          <p:cNvPr id="23" name="Shape 16"/>
          <p:cNvSpPr/>
          <p:nvPr/>
        </p:nvSpPr>
        <p:spPr>
          <a:xfrm>
            <a:off x="3246120" y="3145536"/>
            <a:ext cx="4594860" cy="578358"/>
          </a:xfrm>
          <a:prstGeom prst="line">
            <a:avLst/>
          </a:prstGeom>
          <a:noFill/>
          <a:ln w="22225">
            <a:solidFill>
              <a:srgbClr val="CBE5E1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840980" y="3236976"/>
            <a:ext cx="3845052" cy="973836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87284" y="3374136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389620" y="3310128"/>
            <a:ext cx="3095244" cy="82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Parents and caregivers</a:t>
            </a:r>
            <a:endParaRPr lang="en-US" sz="1800" dirty="0"/>
          </a:p>
        </p:txBody>
      </p:sp>
      <p:sp>
        <p:nvSpPr>
          <p:cNvPr id="27" name="Shape 19"/>
          <p:cNvSpPr/>
          <p:nvPr/>
        </p:nvSpPr>
        <p:spPr>
          <a:xfrm>
            <a:off x="502920" y="2665476"/>
            <a:ext cx="2743200" cy="960120"/>
          </a:xfrm>
          <a:prstGeom prst="roundRect">
            <a:avLst>
              <a:gd name="adj" fmla="val 11429"/>
            </a:avLst>
          </a:prstGeom>
          <a:solidFill>
            <a:srgbClr val="0E8074"/>
          </a:solidFill>
          <a:ln/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04088" y="2962656"/>
            <a:ext cx="365760" cy="36576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143000" y="2665476"/>
            <a:ext cx="1965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Neonatologist</a:t>
            </a:r>
            <a:endParaRPr lang="en-US" sz="2000" dirty="0"/>
          </a:p>
        </p:txBody>
      </p:sp>
      <p:sp>
        <p:nvSpPr>
          <p:cNvPr id="30" name="Shape 21"/>
          <p:cNvSpPr/>
          <p:nvPr/>
        </p:nvSpPr>
        <p:spPr>
          <a:xfrm>
            <a:off x="502920" y="4375404"/>
            <a:ext cx="11183112" cy="1202436"/>
          </a:xfrm>
          <a:prstGeom prst="roundRect">
            <a:avLst>
              <a:gd name="adj" fmla="val 6844"/>
            </a:avLst>
          </a:prstGeom>
          <a:solidFill>
            <a:srgbClr val="E6F4F2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502920" y="4375404"/>
            <a:ext cx="82296" cy="120243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22376" y="4494276"/>
            <a:ext cx="292608" cy="292608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1124712" y="445770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NOW</a:t>
            </a:r>
            <a:endParaRPr lang="en-US" sz="1800" dirty="0"/>
          </a:p>
        </p:txBody>
      </p:sp>
      <p:sp>
        <p:nvSpPr>
          <p:cNvPr id="34" name="Text 24"/>
          <p:cNvSpPr/>
          <p:nvPr/>
        </p:nvSpPr>
        <p:spPr>
          <a:xfrm>
            <a:off x="1124712" y="4814316"/>
            <a:ext cx="10360152" cy="6537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to listen, share responsibility and respect other people’s contributions.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37376"/>
            <a:ext cx="10268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pPr indent="0" marL="0">
              <a:buNone/>
            </a:pPr>
            <a:r>
              <a:rPr lang="en-US" sz="1200" u="sng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American Academy of Pediatrics</a:t>
            </a:r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·  Neonatologist · Career Awareness · South African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45952" y="6437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152" y="-987552"/>
            <a:ext cx="2148840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28832" y="274320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201168"/>
            <a:ext cx="11183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02920" y="530352"/>
            <a:ext cx="98572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B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Technology and Human Judgement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502920" y="1261872"/>
            <a:ext cx="11183112" cy="3634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Specialised equipment helps clinicians monitor and support newborn babies.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502920" y="1698498"/>
            <a:ext cx="11183112" cy="1202436"/>
          </a:xfrm>
          <a:prstGeom prst="roundRect">
            <a:avLst>
              <a:gd name="adj" fmla="val 6844"/>
            </a:avLst>
          </a:prstGeom>
          <a:solidFill>
            <a:srgbClr val="E6F4F2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02920" y="1698498"/>
            <a:ext cx="82296" cy="120243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2376" y="181737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24712" y="1780794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124712" y="2137410"/>
            <a:ext cx="10360152" cy="6537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 provides </a:t>
            </a:r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</a:t>
            </a:r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Clinicians must </a:t>
            </a:r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 it carefully</a:t>
            </a:r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and decide what it means for the individual baby.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502920" y="3120390"/>
            <a:ext cx="11183112" cy="1602486"/>
          </a:xfrm>
          <a:prstGeom prst="roundRect">
            <a:avLst>
              <a:gd name="adj" fmla="val 5136"/>
            </a:avLst>
          </a:prstGeom>
          <a:solidFill>
            <a:srgbClr val="E6F4F2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02920" y="3120390"/>
            <a:ext cx="82296" cy="160248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2376" y="3239262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24712" y="3202686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NOW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1161288" y="3669030"/>
            <a:ext cx="82296" cy="82296"/>
          </a:xfrm>
          <a:prstGeom prst="ellipse">
            <a:avLst/>
          </a:prstGeom>
          <a:solidFill>
            <a:srgbClr val="0E8074"/>
          </a:solidFill>
          <a:ln/>
        </p:spPr>
      </p:sp>
      <p:sp>
        <p:nvSpPr>
          <p:cNvPr id="21" name="Text 15"/>
          <p:cNvSpPr/>
          <p:nvPr/>
        </p:nvSpPr>
        <p:spPr>
          <a:xfrm>
            <a:off x="1362456" y="3559302"/>
            <a:ext cx="10040112" cy="3451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information before accepting it.</a:t>
            </a:r>
            <a:endParaRPr lang="en-US" sz="1800" dirty="0"/>
          </a:p>
        </p:txBody>
      </p:sp>
      <p:sp>
        <p:nvSpPr>
          <p:cNvPr id="22" name="Shape 16"/>
          <p:cNvSpPr/>
          <p:nvPr/>
        </p:nvSpPr>
        <p:spPr>
          <a:xfrm>
            <a:off x="1161288" y="4014216"/>
            <a:ext cx="82296" cy="82296"/>
          </a:xfrm>
          <a:prstGeom prst="ellipse">
            <a:avLst/>
          </a:prstGeom>
          <a:solidFill>
            <a:srgbClr val="0E8074"/>
          </a:solidFill>
          <a:ln/>
        </p:spPr>
      </p:sp>
      <p:sp>
        <p:nvSpPr>
          <p:cNvPr id="23" name="Text 17"/>
          <p:cNvSpPr/>
          <p:nvPr/>
        </p:nvSpPr>
        <p:spPr>
          <a:xfrm>
            <a:off x="1362456" y="3904488"/>
            <a:ext cx="10040112" cy="3451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 for patterns and inconsistencies.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1161288" y="4359402"/>
            <a:ext cx="82296" cy="82296"/>
          </a:xfrm>
          <a:prstGeom prst="ellipse">
            <a:avLst/>
          </a:prstGeom>
          <a:solidFill>
            <a:srgbClr val="0E8074"/>
          </a:solidFill>
          <a:ln/>
        </p:spPr>
      </p:sp>
      <p:sp>
        <p:nvSpPr>
          <p:cNvPr id="25" name="Text 19"/>
          <p:cNvSpPr/>
          <p:nvPr/>
        </p:nvSpPr>
        <p:spPr>
          <a:xfrm>
            <a:off x="1362456" y="4249674"/>
            <a:ext cx="10040112" cy="3451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questions when something does not make sense.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37376"/>
            <a:ext cx="10268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Neonatologist · Career Awareness · South African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45952" y="6437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152" y="-987552"/>
            <a:ext cx="2148840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28832" y="274320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201168"/>
            <a:ext cx="11183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 TO BUILD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02920" y="530352"/>
            <a:ext cx="98572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B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Scientific Curiosity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502920" y="1261872"/>
            <a:ext cx="11183112" cy="3634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Scientific curiosity begins with asking useful questions.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502920" y="1735074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7512" y="1890522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06424" y="1863090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does the human body work?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6204204" y="1735074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68796" y="1890522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07708" y="1863090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do different conditions affect people differently?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502920" y="2772918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7512" y="2928366"/>
            <a:ext cx="310896" cy="31089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06424" y="2900934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supports an explanation?</a:t>
            </a:r>
            <a:endParaRPr lang="en-US" sz="1800" dirty="0"/>
          </a:p>
        </p:txBody>
      </p:sp>
      <p:sp>
        <p:nvSpPr>
          <p:cNvPr id="20" name="Shape 13"/>
          <p:cNvSpPr/>
          <p:nvPr/>
        </p:nvSpPr>
        <p:spPr>
          <a:xfrm>
            <a:off x="6204204" y="2772918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68796" y="2928366"/>
            <a:ext cx="310896" cy="31089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807708" y="2900934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could an idea be tested?</a:t>
            </a:r>
            <a:endParaRPr lang="en-US" sz="1800" dirty="0"/>
          </a:p>
        </p:txBody>
      </p:sp>
      <p:sp>
        <p:nvSpPr>
          <p:cNvPr id="23" name="Shape 15"/>
          <p:cNvSpPr/>
          <p:nvPr/>
        </p:nvSpPr>
        <p:spPr>
          <a:xfrm>
            <a:off x="502920" y="3902202"/>
            <a:ext cx="11183112" cy="1202436"/>
          </a:xfrm>
          <a:prstGeom prst="roundRect">
            <a:avLst>
              <a:gd name="adj" fmla="val 6844"/>
            </a:avLst>
          </a:prstGeom>
          <a:solidFill>
            <a:srgbClr val="E6F4F2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502920" y="3902202"/>
            <a:ext cx="82296" cy="120243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22376" y="4021074"/>
            <a:ext cx="292608" cy="29260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124712" y="3984498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THIS</a:t>
            </a:r>
            <a:endParaRPr lang="en-US" sz="1800" dirty="0"/>
          </a:p>
        </p:txBody>
      </p:sp>
      <p:sp>
        <p:nvSpPr>
          <p:cNvPr id="27" name="Text 18"/>
          <p:cNvSpPr/>
          <p:nvPr/>
        </p:nvSpPr>
        <p:spPr>
          <a:xfrm>
            <a:off x="1124712" y="4341114"/>
            <a:ext cx="10360152" cy="6537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a reliable science article and explain its main finding in three sentences.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37376"/>
            <a:ext cx="10268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Neonatologist · Career Awareness · South African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45952" y="6437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152" y="-987552"/>
            <a:ext cx="2148840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28832" y="274320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201168"/>
            <a:ext cx="11183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 TO BUILD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02920" y="530352"/>
            <a:ext cx="98572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B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Strengthen Your Communication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502920" y="1261872"/>
            <a:ext cx="11183112" cy="6720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communication helps people understand important information. Practise these habits: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502920" y="2043684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7512" y="2199132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06424" y="2171700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Listen before responding.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6204204" y="2043684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68796" y="2199132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07708" y="2171700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ideas in simple, accurate language.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502920" y="3081528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7512" y="3236976"/>
            <a:ext cx="310896" cy="31089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06424" y="3209544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questions respectfully.</a:t>
            </a:r>
            <a:endParaRPr lang="en-US" sz="1800" dirty="0"/>
          </a:p>
        </p:txBody>
      </p:sp>
      <p:sp>
        <p:nvSpPr>
          <p:cNvPr id="20" name="Shape 13"/>
          <p:cNvSpPr/>
          <p:nvPr/>
        </p:nvSpPr>
        <p:spPr>
          <a:xfrm>
            <a:off x="6204204" y="3081528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68796" y="3236976"/>
            <a:ext cx="310896" cy="31089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807708" y="3209544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whether the other person understands.</a:t>
            </a:r>
            <a:endParaRPr lang="en-US" sz="1800" dirty="0"/>
          </a:p>
        </p:txBody>
      </p:sp>
      <p:sp>
        <p:nvSpPr>
          <p:cNvPr id="23" name="Shape 15"/>
          <p:cNvSpPr/>
          <p:nvPr/>
        </p:nvSpPr>
        <p:spPr>
          <a:xfrm>
            <a:off x="502920" y="4210812"/>
            <a:ext cx="11183112" cy="1202436"/>
          </a:xfrm>
          <a:prstGeom prst="roundRect">
            <a:avLst>
              <a:gd name="adj" fmla="val 6844"/>
            </a:avLst>
          </a:prstGeom>
          <a:solidFill>
            <a:srgbClr val="E6F4F2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502920" y="4210812"/>
            <a:ext cx="82296" cy="120243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22376" y="4329684"/>
            <a:ext cx="292608" cy="29260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124712" y="4293108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THIS</a:t>
            </a:r>
            <a:endParaRPr lang="en-US" sz="1800" dirty="0"/>
          </a:p>
        </p:txBody>
      </p:sp>
      <p:sp>
        <p:nvSpPr>
          <p:cNvPr id="27" name="Text 18"/>
          <p:cNvSpPr/>
          <p:nvPr/>
        </p:nvSpPr>
        <p:spPr>
          <a:xfrm>
            <a:off x="1124712" y="4649724"/>
            <a:ext cx="10360152" cy="6537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a science concept to a classmate without using complicated terminology.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37376"/>
            <a:ext cx="10268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Neonatologist · Career Awareness · South African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45952" y="6437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152" y="-987552"/>
            <a:ext cx="2148840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28832" y="274320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201168"/>
            <a:ext cx="11183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 TO BUILD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02920" y="530352"/>
            <a:ext cx="98572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B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Become a Dependable Team Member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502920" y="1261872"/>
            <a:ext cx="11183112" cy="3634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teamwork requires more than being friendly.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502920" y="1735074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7512" y="1890522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06424" y="1863090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the tasks you agree to do.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6204204" y="1735074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68796" y="1890522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07708" y="1863090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information clearly.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502920" y="2772918"/>
            <a:ext cx="5481828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7512" y="2928366"/>
            <a:ext cx="310896" cy="31089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06424" y="2900934"/>
            <a:ext cx="469544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Respect different perspectives.</a:t>
            </a:r>
            <a:endParaRPr lang="en-US" sz="1800" dirty="0"/>
          </a:p>
        </p:txBody>
      </p:sp>
      <p:sp>
        <p:nvSpPr>
          <p:cNvPr id="20" name="Shape 13"/>
          <p:cNvSpPr/>
          <p:nvPr/>
        </p:nvSpPr>
        <p:spPr>
          <a:xfrm>
            <a:off x="6204204" y="2772918"/>
            <a:ext cx="5481828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68796" y="2928366"/>
            <a:ext cx="310896" cy="31089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807708" y="2900934"/>
            <a:ext cx="469544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for help when needed.</a:t>
            </a:r>
            <a:endParaRPr lang="en-US" sz="1800" dirty="0"/>
          </a:p>
        </p:txBody>
      </p:sp>
      <p:sp>
        <p:nvSpPr>
          <p:cNvPr id="23" name="Shape 15"/>
          <p:cNvSpPr/>
          <p:nvPr/>
        </p:nvSpPr>
        <p:spPr>
          <a:xfrm>
            <a:off x="502920" y="3559302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7512" y="3714750"/>
            <a:ext cx="310896" cy="31089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106424" y="3687318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 constructively to feedback.</a:t>
            </a:r>
            <a:endParaRPr lang="en-US" sz="1800" dirty="0"/>
          </a:p>
        </p:txBody>
      </p:sp>
      <p:sp>
        <p:nvSpPr>
          <p:cNvPr id="26" name="Shape 17"/>
          <p:cNvSpPr/>
          <p:nvPr/>
        </p:nvSpPr>
        <p:spPr>
          <a:xfrm>
            <a:off x="502920" y="4688586"/>
            <a:ext cx="11183112" cy="1202436"/>
          </a:xfrm>
          <a:prstGeom prst="roundRect">
            <a:avLst>
              <a:gd name="adj" fmla="val 6844"/>
            </a:avLst>
          </a:prstGeom>
          <a:solidFill>
            <a:srgbClr val="E6F4F2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sp>
        <p:nvSpPr>
          <p:cNvPr id="27" name="Shape 18"/>
          <p:cNvSpPr/>
          <p:nvPr/>
        </p:nvSpPr>
        <p:spPr>
          <a:xfrm>
            <a:off x="502920" y="4688586"/>
            <a:ext cx="82296" cy="120243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22376" y="4807458"/>
            <a:ext cx="292608" cy="29260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1124712" y="4770882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SCHOOL CONNECTION</a:t>
            </a:r>
            <a:endParaRPr lang="en-US" sz="1800" dirty="0"/>
          </a:p>
        </p:txBody>
      </p:sp>
      <p:sp>
        <p:nvSpPr>
          <p:cNvPr id="30" name="Text 20"/>
          <p:cNvSpPr/>
          <p:nvPr/>
        </p:nvSpPr>
        <p:spPr>
          <a:xfrm>
            <a:off x="1124712" y="5127498"/>
            <a:ext cx="10360152" cy="6537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projects, clubs and community activities provide opportunities to practise these skills.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37376"/>
            <a:ext cx="10268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Neonatologist · Career Awareness · South African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45952" y="6437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152" y="-987552"/>
            <a:ext cx="2148840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28832" y="274320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201168"/>
            <a:ext cx="11183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 TO BUILD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02920" y="530352"/>
            <a:ext cx="98572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B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Practise Empathy and Respect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502920" y="1261872"/>
            <a:ext cx="11183112" cy="3634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Empathy means trying to understand another person’s experience.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502920" y="1735074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7512" y="1890522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06424" y="1863090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Listen without interrupting.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6204204" y="1735074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68796" y="1890522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07708" y="1863090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Recognise that people respond differently to uncertainty.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502920" y="2772918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7512" y="2928366"/>
            <a:ext cx="310896" cy="31089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06424" y="2900934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making assumptions about someone’s background.</a:t>
            </a:r>
            <a:endParaRPr lang="en-US" sz="1800" dirty="0"/>
          </a:p>
        </p:txBody>
      </p:sp>
      <p:sp>
        <p:nvSpPr>
          <p:cNvPr id="20" name="Shape 13"/>
          <p:cNvSpPr/>
          <p:nvPr/>
        </p:nvSpPr>
        <p:spPr>
          <a:xfrm>
            <a:off x="6204204" y="2772918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68796" y="2928366"/>
            <a:ext cx="310896" cy="31089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807708" y="2900934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Respect personal information.</a:t>
            </a:r>
            <a:endParaRPr lang="en-US" sz="1800" dirty="0"/>
          </a:p>
        </p:txBody>
      </p:sp>
      <p:sp>
        <p:nvSpPr>
          <p:cNvPr id="23" name="Shape 15"/>
          <p:cNvSpPr/>
          <p:nvPr/>
        </p:nvSpPr>
        <p:spPr>
          <a:xfrm>
            <a:off x="502920" y="3810762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7512" y="3966210"/>
            <a:ext cx="310896" cy="31089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106424" y="3938778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 honest when you do not know an answer.</a:t>
            </a:r>
            <a:endParaRPr lang="en-US" sz="1800" dirty="0"/>
          </a:p>
        </p:txBody>
      </p:sp>
      <p:sp>
        <p:nvSpPr>
          <p:cNvPr id="26" name="Shape 17"/>
          <p:cNvSpPr/>
          <p:nvPr/>
        </p:nvSpPr>
        <p:spPr>
          <a:xfrm>
            <a:off x="502920" y="4940046"/>
            <a:ext cx="11183112" cy="893826"/>
          </a:xfrm>
          <a:prstGeom prst="roundRect">
            <a:avLst>
              <a:gd name="adj" fmla="val 9207"/>
            </a:avLst>
          </a:prstGeom>
          <a:solidFill>
            <a:srgbClr val="E6F4F2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sp>
        <p:nvSpPr>
          <p:cNvPr id="27" name="Shape 18"/>
          <p:cNvSpPr/>
          <p:nvPr/>
        </p:nvSpPr>
        <p:spPr>
          <a:xfrm>
            <a:off x="502920" y="4940046"/>
            <a:ext cx="82296" cy="89382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22376" y="5058918"/>
            <a:ext cx="292608" cy="29260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1124712" y="5022342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NOW</a:t>
            </a:r>
            <a:endParaRPr lang="en-US" sz="1800" dirty="0"/>
          </a:p>
        </p:txBody>
      </p:sp>
      <p:sp>
        <p:nvSpPr>
          <p:cNvPr id="30" name="Text 20"/>
          <p:cNvSpPr/>
          <p:nvPr/>
        </p:nvSpPr>
        <p:spPr>
          <a:xfrm>
            <a:off x="1124712" y="5378958"/>
            <a:ext cx="10360152" cy="3451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Ask, “What would help this person feel heard and respected?”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37376"/>
            <a:ext cx="10268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Neonatologist · Career Awareness · South African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45952" y="6437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152" y="-987552"/>
            <a:ext cx="2148840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28832" y="274320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201168"/>
            <a:ext cx="11183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 TO BUILD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02920" y="530352"/>
            <a:ext cx="98572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B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Develop Careful Problem-Solving</a:t>
            </a:r>
            <a:endParaRPr lang="en-US" sz="2800" dirty="0"/>
          </a:p>
        </p:txBody>
      </p:sp>
      <p:sp>
        <p:nvSpPr>
          <p:cNvPr id="10" name="Shape 6"/>
          <p:cNvSpPr/>
          <p:nvPr/>
        </p:nvSpPr>
        <p:spPr>
          <a:xfrm>
            <a:off x="502920" y="1261872"/>
            <a:ext cx="11183112" cy="1202436"/>
          </a:xfrm>
          <a:prstGeom prst="roundRect">
            <a:avLst>
              <a:gd name="adj" fmla="val 6844"/>
            </a:avLst>
          </a:prstGeom>
          <a:solidFill>
            <a:srgbClr val="E6F4F2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02920" y="1261872"/>
            <a:ext cx="82296" cy="120243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2376" y="1380744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24712" y="1344168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CLASSROOM SCENARIO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124712" y="1700784"/>
            <a:ext cx="10360152" cy="6537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members of your science group have recorded different results. </a:t>
            </a:r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you do?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731520" y="3140964"/>
            <a:ext cx="0" cy="475488"/>
          </a:xfrm>
          <a:prstGeom prst="line">
            <a:avLst/>
          </a:prstGeom>
          <a:noFill/>
          <a:ln w="25400">
            <a:solidFill>
              <a:srgbClr val="CBE5E1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02920" y="2702052"/>
            <a:ext cx="457200" cy="457200"/>
          </a:xfrm>
          <a:prstGeom prst="ellipse">
            <a:avLst/>
          </a:prstGeom>
          <a:solidFill>
            <a:srgbClr val="0E8074"/>
          </a:solidFill>
          <a:ln/>
        </p:spPr>
      </p:sp>
      <p:sp>
        <p:nvSpPr>
          <p:cNvPr id="17" name="Text 12"/>
          <p:cNvSpPr/>
          <p:nvPr/>
        </p:nvSpPr>
        <p:spPr>
          <a:xfrm>
            <a:off x="502920" y="27020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1216152" y="2729484"/>
            <a:ext cx="101315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original observations.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731520" y="3653028"/>
            <a:ext cx="0" cy="475488"/>
          </a:xfrm>
          <a:prstGeom prst="line">
            <a:avLst/>
          </a:prstGeom>
          <a:noFill/>
          <a:ln w="25400">
            <a:solidFill>
              <a:srgbClr val="CBE5E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02920" y="3214116"/>
            <a:ext cx="457200" cy="457200"/>
          </a:xfrm>
          <a:prstGeom prst="ellipse">
            <a:avLst/>
          </a:prstGeom>
          <a:solidFill>
            <a:srgbClr val="0E8074"/>
          </a:solidFill>
          <a:ln/>
        </p:spPr>
      </p:sp>
      <p:sp>
        <p:nvSpPr>
          <p:cNvPr id="21" name="Text 16"/>
          <p:cNvSpPr/>
          <p:nvPr/>
        </p:nvSpPr>
        <p:spPr>
          <a:xfrm>
            <a:off x="502920" y="32141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1216152" y="3241548"/>
            <a:ext cx="101315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the method and units.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731520" y="4165092"/>
            <a:ext cx="0" cy="475488"/>
          </a:xfrm>
          <a:prstGeom prst="line">
            <a:avLst/>
          </a:prstGeom>
          <a:noFill/>
          <a:ln w="25400">
            <a:solidFill>
              <a:srgbClr val="CBE5E1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02920" y="3726180"/>
            <a:ext cx="457200" cy="457200"/>
          </a:xfrm>
          <a:prstGeom prst="ellipse">
            <a:avLst/>
          </a:prstGeom>
          <a:solidFill>
            <a:srgbClr val="0E8074"/>
          </a:solidFill>
          <a:ln/>
        </p:spPr>
      </p:sp>
      <p:sp>
        <p:nvSpPr>
          <p:cNvPr id="25" name="Text 20"/>
          <p:cNvSpPr/>
          <p:nvPr/>
        </p:nvSpPr>
        <p:spPr>
          <a:xfrm>
            <a:off x="502920" y="37261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1"/>
          <p:cNvSpPr/>
          <p:nvPr/>
        </p:nvSpPr>
        <p:spPr>
          <a:xfrm>
            <a:off x="1216152" y="3753612"/>
            <a:ext cx="101315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Consider possible explanations.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731520" y="4677156"/>
            <a:ext cx="0" cy="475488"/>
          </a:xfrm>
          <a:prstGeom prst="line">
            <a:avLst/>
          </a:prstGeom>
          <a:noFill/>
          <a:ln w="25400">
            <a:solidFill>
              <a:srgbClr val="CBE5E1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02920" y="4238244"/>
            <a:ext cx="457200" cy="457200"/>
          </a:xfrm>
          <a:prstGeom prst="ellipse">
            <a:avLst/>
          </a:prstGeom>
          <a:solidFill>
            <a:srgbClr val="0E8074"/>
          </a:solidFill>
          <a:ln/>
        </p:spPr>
      </p:sp>
      <p:sp>
        <p:nvSpPr>
          <p:cNvPr id="29" name="Text 24"/>
          <p:cNvSpPr/>
          <p:nvPr/>
        </p:nvSpPr>
        <p:spPr>
          <a:xfrm>
            <a:off x="502920" y="42382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5"/>
          <p:cNvSpPr/>
          <p:nvPr/>
        </p:nvSpPr>
        <p:spPr>
          <a:xfrm>
            <a:off x="1216152" y="4265676"/>
            <a:ext cx="101315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for guidance if uncertainty remains.</a:t>
            </a:r>
            <a:endParaRPr lang="en-US" sz="1800" dirty="0"/>
          </a:p>
        </p:txBody>
      </p:sp>
      <p:sp>
        <p:nvSpPr>
          <p:cNvPr id="31" name="Shape 26"/>
          <p:cNvSpPr/>
          <p:nvPr/>
        </p:nvSpPr>
        <p:spPr>
          <a:xfrm>
            <a:off x="502920" y="4750308"/>
            <a:ext cx="457200" cy="457200"/>
          </a:xfrm>
          <a:prstGeom prst="ellipse">
            <a:avLst/>
          </a:prstGeom>
          <a:solidFill>
            <a:srgbClr val="0E8074"/>
          </a:solidFill>
          <a:ln/>
        </p:spPr>
      </p:sp>
      <p:sp>
        <p:nvSpPr>
          <p:cNvPr id="32" name="Text 27"/>
          <p:cNvSpPr/>
          <p:nvPr/>
        </p:nvSpPr>
        <p:spPr>
          <a:xfrm>
            <a:off x="502920" y="47503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000" dirty="0"/>
          </a:p>
        </p:txBody>
      </p:sp>
      <p:sp>
        <p:nvSpPr>
          <p:cNvPr id="33" name="Text 28"/>
          <p:cNvSpPr/>
          <p:nvPr/>
        </p:nvSpPr>
        <p:spPr>
          <a:xfrm>
            <a:off x="1216152" y="4777740"/>
            <a:ext cx="101315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your conclusion using evidence.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37376"/>
            <a:ext cx="10268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Neonatologist · Career Awareness · South African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45952" y="6437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152" y="-987552"/>
            <a:ext cx="2148840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28832" y="274320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201168"/>
            <a:ext cx="11183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 TO BUILD · CONTINUED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02920" y="530352"/>
            <a:ext cx="98572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B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Develop Careful Problem-Solving</a:t>
            </a:r>
            <a:endParaRPr lang="en-US" sz="2800" dirty="0"/>
          </a:p>
        </p:txBody>
      </p:sp>
      <p:sp>
        <p:nvSpPr>
          <p:cNvPr id="10" name="Shape 6"/>
          <p:cNvSpPr/>
          <p:nvPr/>
        </p:nvSpPr>
        <p:spPr>
          <a:xfrm>
            <a:off x="502920" y="1261872"/>
            <a:ext cx="11183112" cy="893826"/>
          </a:xfrm>
          <a:prstGeom prst="roundRect">
            <a:avLst>
              <a:gd name="adj" fmla="val 9207"/>
            </a:avLst>
          </a:prstGeom>
          <a:solidFill>
            <a:srgbClr val="FDEEEB"/>
          </a:solidFill>
          <a:ln w="12700">
            <a:solidFill>
              <a:srgbClr val="F3CFC7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02920" y="1261872"/>
            <a:ext cx="82296" cy="893826"/>
          </a:xfrm>
          <a:prstGeom prst="rect">
            <a:avLst/>
          </a:prstGeom>
          <a:solidFill>
            <a:srgbClr val="E85D4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2376" y="1380744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24712" y="1344168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E85D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124712" y="1700784"/>
            <a:ext cx="10360152" cy="3451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steps require honesty, teamwork and attention to detail?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37376"/>
            <a:ext cx="10268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Neonatologist · Career Awareness · South African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45952" y="6437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152" y="-987552"/>
            <a:ext cx="2148840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28832" y="274320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201168"/>
            <a:ext cx="11183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 TO BUILD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02920" y="530352"/>
            <a:ext cx="98572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B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Study Habits That Last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502920" y="1261872"/>
            <a:ext cx="11183112" cy="3634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demanding career begins with manageable learning habits.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502920" y="1735074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7512" y="1890522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06424" y="1863090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realistic weekly study routine.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6204204" y="1735074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68796" y="1890522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07708" y="1863090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your understanding without looking at the answer.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502920" y="2772918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7512" y="2928366"/>
            <a:ext cx="310896" cy="31089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06424" y="2900934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Revisit mistakes and identify what caused them.</a:t>
            </a:r>
            <a:endParaRPr lang="en-US" sz="1800" dirty="0"/>
          </a:p>
        </p:txBody>
      </p:sp>
      <p:sp>
        <p:nvSpPr>
          <p:cNvPr id="20" name="Shape 13"/>
          <p:cNvSpPr/>
          <p:nvPr/>
        </p:nvSpPr>
        <p:spPr>
          <a:xfrm>
            <a:off x="6204204" y="2772918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68796" y="2928366"/>
            <a:ext cx="310896" cy="31089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807708" y="2900934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for help before confusion builds up.</a:t>
            </a:r>
            <a:endParaRPr lang="en-US" sz="1800" dirty="0"/>
          </a:p>
        </p:txBody>
      </p:sp>
      <p:sp>
        <p:nvSpPr>
          <p:cNvPr id="23" name="Shape 15"/>
          <p:cNvSpPr/>
          <p:nvPr/>
        </p:nvSpPr>
        <p:spPr>
          <a:xfrm>
            <a:off x="502920" y="3810762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7512" y="3966210"/>
            <a:ext cx="310896" cy="31089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106424" y="3938778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time for rest and activities you enjoy.</a:t>
            </a:r>
            <a:endParaRPr lang="en-US" sz="1800" dirty="0"/>
          </a:p>
        </p:txBody>
      </p:sp>
      <p:sp>
        <p:nvSpPr>
          <p:cNvPr id="26" name="Text 17"/>
          <p:cNvSpPr/>
          <p:nvPr/>
        </p:nvSpPr>
        <p:spPr>
          <a:xfrm>
            <a:off x="502920" y="4940046"/>
            <a:ext cx="11183112" cy="3634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 comes from consistent practice and useful feedback.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37376"/>
            <a:ext cx="10268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pPr indent="0" marL="0">
              <a:buNone/>
            </a:pPr>
            <a:r>
              <a:rPr lang="en-US" sz="1200" u="sng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Wits University</a:t>
            </a:r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·  Neonatologist · Career Awareness · South African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45952" y="6437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152" y="-987552"/>
            <a:ext cx="2148840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28832" y="274320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201168"/>
            <a:ext cx="11183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SCHOOL SUBJECTS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02920" y="530352"/>
            <a:ext cx="98572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B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Choose Subjects With the Pathway in Mind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61872"/>
          <a:ext cx="11183112" cy="914400"/>
        </p:xfrm>
        <a:graphic>
          <a:graphicData uri="http://schemas.openxmlformats.org/drawingml/2006/table">
            <a:tbl>
              <a:tblPr/>
              <a:tblGrid>
                <a:gridCol w="3354934"/>
                <a:gridCol w="7828178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Subject</a:t>
                      </a:r>
                      <a:endParaRPr lang="en-US" sz="18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0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Skills you can develop</a:t>
                      </a:r>
                      <a:endParaRPr lang="en-US" sz="18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074"/>
                    </a:solidFill>
                  </a:tcPr>
                </a:tc>
              </a:tr>
              <a:tr h="7818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3B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Mathematics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3B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Accurate reasoning, calculations and interpreting information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3B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Life Sciences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3B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Understanding living systems and the human body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</a:tr>
              <a:tr h="7818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3B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Physical Sciences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3B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Experimental thinking and understanding physical processes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3B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Languages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B3B4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Reading carefully, listening and explaining clearly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502920" y="4453128"/>
            <a:ext cx="11183112" cy="9806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Medical-school subject requirements vary. </a:t>
            </a:r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the current requirements of each university</a:t>
            </a:r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before making subject choices — for example, Wits Medicine and Surgery admissions (see source below).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37376"/>
            <a:ext cx="10268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pPr indent="0" marL="0">
              <a:buNone/>
            </a:pPr>
            <a:r>
              <a:rPr lang="en-US" sz="1200" u="sng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National Department of Health</a:t>
            </a:r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·  Neonatologist · Career Awareness · South African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45952" y="6437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152" y="-987552"/>
            <a:ext cx="2148840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28832" y="274320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201168"/>
            <a:ext cx="11183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PATHWAY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02920" y="530352"/>
            <a:ext cx="98572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B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South African Training Pathway</a:t>
            </a:r>
            <a:endParaRPr lang="en-US" sz="2800" dirty="0"/>
          </a:p>
        </p:txBody>
      </p:sp>
      <p:sp>
        <p:nvSpPr>
          <p:cNvPr id="10" name="Shape 6"/>
          <p:cNvSpPr/>
          <p:nvPr/>
        </p:nvSpPr>
        <p:spPr>
          <a:xfrm>
            <a:off x="731520" y="1700784"/>
            <a:ext cx="0" cy="475488"/>
          </a:xfrm>
          <a:prstGeom prst="line">
            <a:avLst/>
          </a:prstGeom>
          <a:noFill/>
          <a:ln w="25400">
            <a:solidFill>
              <a:srgbClr val="CBE5E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02920" y="1261872"/>
            <a:ext cx="457200" cy="457200"/>
          </a:xfrm>
          <a:prstGeom prst="ellipse">
            <a:avLst/>
          </a:prstGeom>
          <a:solidFill>
            <a:srgbClr val="0E8074"/>
          </a:solidFill>
          <a:ln/>
        </p:spPr>
      </p:sp>
      <p:sp>
        <p:nvSpPr>
          <p:cNvPr id="12" name="Text 8"/>
          <p:cNvSpPr/>
          <p:nvPr/>
        </p:nvSpPr>
        <p:spPr>
          <a:xfrm>
            <a:off x="502920" y="1261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1216152" y="1289304"/>
            <a:ext cx="101315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 degree:</a:t>
            </a:r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For example, the six-year MBBCh at Wits.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731520" y="2212848"/>
            <a:ext cx="0" cy="475488"/>
          </a:xfrm>
          <a:prstGeom prst="line">
            <a:avLst/>
          </a:prstGeom>
          <a:noFill/>
          <a:ln w="25400">
            <a:solidFill>
              <a:srgbClr val="CBE5E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02920" y="1773936"/>
            <a:ext cx="457200" cy="457200"/>
          </a:xfrm>
          <a:prstGeom prst="ellipse">
            <a:avLst/>
          </a:prstGeom>
          <a:solidFill>
            <a:srgbClr val="0E8074"/>
          </a:solidFill>
          <a:ln/>
        </p:spPr>
      </p:sp>
      <p:sp>
        <p:nvSpPr>
          <p:cNvPr id="16" name="Text 12"/>
          <p:cNvSpPr/>
          <p:nvPr/>
        </p:nvSpPr>
        <p:spPr>
          <a:xfrm>
            <a:off x="502920" y="1773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1216152" y="1801368"/>
            <a:ext cx="101315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 internship:</a:t>
            </a:r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Two years.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731520" y="2724912"/>
            <a:ext cx="0" cy="475488"/>
          </a:xfrm>
          <a:prstGeom prst="line">
            <a:avLst/>
          </a:prstGeom>
          <a:noFill/>
          <a:ln w="25400">
            <a:solidFill>
              <a:srgbClr val="CBE5E1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02920" y="2286000"/>
            <a:ext cx="457200" cy="457200"/>
          </a:xfrm>
          <a:prstGeom prst="ellipse">
            <a:avLst/>
          </a:prstGeom>
          <a:solidFill>
            <a:srgbClr val="0E8074"/>
          </a:solidFill>
          <a:ln/>
        </p:spPr>
      </p:sp>
      <p:sp>
        <p:nvSpPr>
          <p:cNvPr id="20" name="Text 16"/>
          <p:cNvSpPr/>
          <p:nvPr/>
        </p:nvSpPr>
        <p:spPr>
          <a:xfrm>
            <a:off x="50292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1216152" y="2313432"/>
            <a:ext cx="101315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 service:</a:t>
            </a:r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One year.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731520" y="3236976"/>
            <a:ext cx="0" cy="475488"/>
          </a:xfrm>
          <a:prstGeom prst="line">
            <a:avLst/>
          </a:prstGeom>
          <a:noFill/>
          <a:ln w="25400">
            <a:solidFill>
              <a:srgbClr val="CBE5E1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02920" y="2798064"/>
            <a:ext cx="457200" cy="457200"/>
          </a:xfrm>
          <a:prstGeom prst="ellipse">
            <a:avLst/>
          </a:prstGeom>
          <a:solidFill>
            <a:srgbClr val="0E8074"/>
          </a:solidFill>
          <a:ln/>
        </p:spPr>
      </p:sp>
      <p:sp>
        <p:nvSpPr>
          <p:cNvPr id="24" name="Text 20"/>
          <p:cNvSpPr/>
          <p:nvPr/>
        </p:nvSpPr>
        <p:spPr>
          <a:xfrm>
            <a:off x="502920" y="2798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1216152" y="2825496"/>
            <a:ext cx="1013155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Paediatric specialist training:</a:t>
            </a:r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UCT’s programme runs for four years.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502920" y="3310128"/>
            <a:ext cx="457200" cy="457200"/>
          </a:xfrm>
          <a:prstGeom prst="ellipse">
            <a:avLst/>
          </a:prstGeom>
          <a:solidFill>
            <a:srgbClr val="0E8074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1216152" y="3337560"/>
            <a:ext cx="10131552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Neonatology subspecialty training:</a:t>
            </a:r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Further supervised training and assessments.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502920" y="4146804"/>
            <a:ext cx="11183112" cy="9806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registration requirements apply. The overall journey can take longer because entry into training posts is </a:t>
            </a:r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</a:t>
            </a:r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Sources: Wits, Department of Health, UCT and the Colleges of Medicine of South Africa (see final slide).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37376"/>
            <a:ext cx="10268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pPr indent="0" marL="0">
              <a:buNone/>
            </a:pPr>
            <a:r>
              <a:rPr lang="en-US" sz="1200" u="sng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Wits University</a:t>
            </a:r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·  Neonatologist · Career Awareness · South African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45952" y="6437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60152" y="-987552"/>
            <a:ext cx="2148840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28832" y="274320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201168"/>
            <a:ext cx="11183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GETTING IN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02920" y="530352"/>
            <a:ext cx="98572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B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Prepare for University Applications</a:t>
            </a:r>
            <a:endParaRPr lang="en-US" sz="2800" dirty="0"/>
          </a:p>
        </p:txBody>
      </p:sp>
      <p:sp>
        <p:nvSpPr>
          <p:cNvPr id="10" name="Shape 6"/>
          <p:cNvSpPr/>
          <p:nvPr/>
        </p:nvSpPr>
        <p:spPr>
          <a:xfrm>
            <a:off x="502920" y="1261872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7512" y="1417320"/>
            <a:ext cx="310896" cy="3108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06424" y="1389888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admission requirements across several universities.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6204204" y="1261872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68796" y="1417320"/>
            <a:ext cx="310896" cy="3108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07708" y="1389888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towards the strongest academic results you can achieve.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502920" y="2299716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7512" y="2455164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06424" y="2427732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whether admission tests are required.</a:t>
            </a:r>
            <a:endParaRPr lang="en-US" sz="1800" dirty="0"/>
          </a:p>
        </p:txBody>
      </p:sp>
      <p:sp>
        <p:nvSpPr>
          <p:cNvPr id="19" name="Shape 12"/>
          <p:cNvSpPr/>
          <p:nvPr/>
        </p:nvSpPr>
        <p:spPr>
          <a:xfrm>
            <a:off x="6204204" y="2299716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68796" y="2455164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07708" y="2427732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application and supporting-document deadlines.</a:t>
            </a:r>
            <a:endParaRPr lang="en-US" sz="1800" dirty="0"/>
          </a:p>
        </p:txBody>
      </p:sp>
      <p:sp>
        <p:nvSpPr>
          <p:cNvPr id="22" name="Shape 14"/>
          <p:cNvSpPr/>
          <p:nvPr/>
        </p:nvSpPr>
        <p:spPr>
          <a:xfrm>
            <a:off x="502920" y="3337560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7512" y="3493008"/>
            <a:ext cx="310896" cy="310896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106424" y="3465576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copies of documents and submission confirmations.</a:t>
            </a:r>
            <a:endParaRPr lang="en-US" sz="1800" dirty="0"/>
          </a:p>
        </p:txBody>
      </p:sp>
      <p:sp>
        <p:nvSpPr>
          <p:cNvPr id="25" name="Shape 16"/>
          <p:cNvSpPr/>
          <p:nvPr/>
        </p:nvSpPr>
        <p:spPr>
          <a:xfrm>
            <a:off x="502920" y="4466844"/>
            <a:ext cx="11183112" cy="893826"/>
          </a:xfrm>
          <a:prstGeom prst="roundRect">
            <a:avLst>
              <a:gd name="adj" fmla="val 9207"/>
            </a:avLst>
          </a:prstGeom>
          <a:solidFill>
            <a:srgbClr val="FDEEEB"/>
          </a:solidFill>
          <a:ln w="12700">
            <a:solidFill>
              <a:srgbClr val="F3CFC7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sp>
        <p:nvSpPr>
          <p:cNvPr id="26" name="Shape 17"/>
          <p:cNvSpPr/>
          <p:nvPr/>
        </p:nvSpPr>
        <p:spPr>
          <a:xfrm>
            <a:off x="502920" y="4466844"/>
            <a:ext cx="82296" cy="893826"/>
          </a:xfrm>
          <a:prstGeom prst="rect">
            <a:avLst/>
          </a:prstGeom>
          <a:solidFill>
            <a:srgbClr val="E85D4A"/>
          </a:solidFill>
          <a:ln/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22376" y="4585716"/>
            <a:ext cx="292608" cy="29260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1124712" y="454914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E85D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</a:t>
            </a:r>
            <a:endParaRPr lang="en-US" sz="1800" dirty="0"/>
          </a:p>
        </p:txBody>
      </p:sp>
      <p:sp>
        <p:nvSpPr>
          <p:cNvPr id="29" name="Text 19"/>
          <p:cNvSpPr/>
          <p:nvPr/>
        </p:nvSpPr>
        <p:spPr>
          <a:xfrm>
            <a:off x="1124712" y="4905756"/>
            <a:ext cx="10360152" cy="3451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Meeting minimum requirements does </a:t>
            </a:r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</a:t>
            </a:r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guarantee admission.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37376"/>
            <a:ext cx="10268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Neonatologist · Career Awareness · South African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45952" y="6437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152" y="-987552"/>
            <a:ext cx="2148840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28832" y="274320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201168"/>
            <a:ext cx="11183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FUNDING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02920" y="530352"/>
            <a:ext cx="98572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B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for the Cost of Studying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502920" y="1261872"/>
            <a:ext cx="11183112" cy="3634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Consider the full cost of attending university: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502920" y="1735074"/>
            <a:ext cx="5481828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7512" y="1890522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06424" y="1863090"/>
            <a:ext cx="469544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Tuition and learning materials.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6204204" y="1735074"/>
            <a:ext cx="5481828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68796" y="1890522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07708" y="1863090"/>
            <a:ext cx="469544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Accommodation and meals.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502920" y="2521458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7512" y="2676906"/>
            <a:ext cx="310896" cy="31089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06424" y="2649474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 and internet access.</a:t>
            </a:r>
            <a:endParaRPr lang="en-US" sz="1800" dirty="0"/>
          </a:p>
        </p:txBody>
      </p:sp>
      <p:sp>
        <p:nvSpPr>
          <p:cNvPr id="20" name="Shape 13"/>
          <p:cNvSpPr/>
          <p:nvPr/>
        </p:nvSpPr>
        <p:spPr>
          <a:xfrm>
            <a:off x="6204204" y="2521458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68796" y="2676906"/>
            <a:ext cx="310896" cy="31089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807708" y="2649474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and other required fees.</a:t>
            </a:r>
            <a:endParaRPr lang="en-US" sz="1800" dirty="0"/>
          </a:p>
        </p:txBody>
      </p:sp>
      <p:sp>
        <p:nvSpPr>
          <p:cNvPr id="23" name="Text 15"/>
          <p:cNvSpPr/>
          <p:nvPr/>
        </p:nvSpPr>
        <p:spPr>
          <a:xfrm>
            <a:off x="502920" y="3632454"/>
            <a:ext cx="11183112" cy="6720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university financial-aid offices about current funding opportunities. Check </a:t>
            </a:r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eligibility, deadlines and any conditions</a:t>
            </a:r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attached to bursaries.</a:t>
            </a:r>
            <a:endParaRPr lang="en-US" sz="1800" dirty="0"/>
          </a:p>
        </p:txBody>
      </p:sp>
      <p:sp>
        <p:nvSpPr>
          <p:cNvPr id="24" name="Shape 16"/>
          <p:cNvSpPr/>
          <p:nvPr/>
        </p:nvSpPr>
        <p:spPr>
          <a:xfrm>
            <a:off x="502920" y="4377690"/>
            <a:ext cx="11183112" cy="893826"/>
          </a:xfrm>
          <a:prstGeom prst="roundRect">
            <a:avLst>
              <a:gd name="adj" fmla="val 9207"/>
            </a:avLst>
          </a:prstGeom>
          <a:solidFill>
            <a:srgbClr val="E6F4F2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502920" y="4377690"/>
            <a:ext cx="82296" cy="89382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22376" y="4496562"/>
            <a:ext cx="292608" cy="29260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124712" y="4459986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NOW</a:t>
            </a:r>
            <a:endParaRPr lang="en-US" sz="1800" dirty="0"/>
          </a:p>
        </p:txBody>
      </p:sp>
      <p:sp>
        <p:nvSpPr>
          <p:cNvPr id="28" name="Text 19"/>
          <p:cNvSpPr/>
          <p:nvPr/>
        </p:nvSpPr>
        <p:spPr>
          <a:xfrm>
            <a:off x="1124712" y="4816602"/>
            <a:ext cx="10360152" cy="3451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funding checklist with a school adviser, parent or guardian.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37376"/>
            <a:ext cx="10268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Neonatologist · Career Awareness · South African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45952" y="6437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152" y="-987552"/>
            <a:ext cx="2148840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28832" y="274320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201168"/>
            <a:ext cx="11183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02920" y="530352"/>
            <a:ext cx="98572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B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Explore the Career Before Committing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502920" y="1261872"/>
            <a:ext cx="11183112" cy="3634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learn about healthcare while still at school.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502920" y="1735074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7512" y="1890522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06424" y="1863090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Attend university open days.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6204204" y="1735074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68796" y="1890522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07708" y="1863090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 career talks and science events.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502920" y="2772918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7512" y="2928366"/>
            <a:ext cx="310896" cy="31089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06424" y="2900934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 healthcare professional about their working life.</a:t>
            </a:r>
            <a:endParaRPr lang="en-US" sz="1800" dirty="0"/>
          </a:p>
        </p:txBody>
      </p:sp>
      <p:sp>
        <p:nvSpPr>
          <p:cNvPr id="20" name="Shape 13"/>
          <p:cNvSpPr/>
          <p:nvPr/>
        </p:nvSpPr>
        <p:spPr>
          <a:xfrm>
            <a:off x="6204204" y="2772918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68796" y="2928366"/>
            <a:ext cx="310896" cy="31089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807708" y="2900934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 part in age-appropriate, supervised community service.</a:t>
            </a:r>
            <a:endParaRPr lang="en-US" sz="1800" dirty="0"/>
          </a:p>
        </p:txBody>
      </p:sp>
      <p:sp>
        <p:nvSpPr>
          <p:cNvPr id="23" name="Shape 15"/>
          <p:cNvSpPr/>
          <p:nvPr/>
        </p:nvSpPr>
        <p:spPr>
          <a:xfrm>
            <a:off x="502920" y="3810762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7512" y="3966210"/>
            <a:ext cx="310896" cy="31089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106424" y="3938778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a journal of what interests and challenges you.</a:t>
            </a:r>
            <a:endParaRPr lang="en-US" sz="1800" dirty="0"/>
          </a:p>
        </p:txBody>
      </p:sp>
      <p:sp>
        <p:nvSpPr>
          <p:cNvPr id="26" name="Text 17"/>
          <p:cNvSpPr/>
          <p:nvPr/>
        </p:nvSpPr>
        <p:spPr>
          <a:xfrm>
            <a:off x="502920" y="4921758"/>
            <a:ext cx="11183112" cy="3634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 observation depends on </a:t>
            </a:r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permission, age requirements and patient consent</a:t>
            </a:r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37376"/>
            <a:ext cx="10268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Neonatologist · Career Awareness · South African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45952" y="6437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152" y="-987552"/>
            <a:ext cx="2148840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28832" y="274320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201168"/>
            <a:ext cx="11183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REALITY CHECK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02920" y="530352"/>
            <a:ext cx="98572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B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Understand the Demands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502920" y="1261872"/>
            <a:ext cx="11183112" cy="3634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career requires a realistic understanding of its responsibilities.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502920" y="1735074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7512" y="1890522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06424" y="1863090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involves sustained study and assessments.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6204204" y="1735074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68796" y="1890522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07708" y="1863090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Hospital work may include nights and weekends.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502920" y="2772918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7512" y="2928366"/>
            <a:ext cx="310896" cy="31089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06424" y="2900934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Priorities can change quickly.</a:t>
            </a:r>
            <a:endParaRPr lang="en-US" sz="1800" dirty="0"/>
          </a:p>
        </p:txBody>
      </p:sp>
      <p:sp>
        <p:nvSpPr>
          <p:cNvPr id="20" name="Shape 13"/>
          <p:cNvSpPr/>
          <p:nvPr/>
        </p:nvSpPr>
        <p:spPr>
          <a:xfrm>
            <a:off x="6204204" y="2772918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68796" y="2928366"/>
            <a:ext cx="310896" cy="31089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807708" y="2900934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Caring for seriously unwell babies can be emotionally demanding.</a:t>
            </a:r>
            <a:endParaRPr lang="en-US" sz="1800" dirty="0"/>
          </a:p>
        </p:txBody>
      </p:sp>
      <p:sp>
        <p:nvSpPr>
          <p:cNvPr id="23" name="Shape 15"/>
          <p:cNvSpPr/>
          <p:nvPr/>
        </p:nvSpPr>
        <p:spPr>
          <a:xfrm>
            <a:off x="502920" y="3810762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7512" y="3966210"/>
            <a:ext cx="310896" cy="31089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106424" y="3938778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Ongoing learning continues after qualification.</a:t>
            </a:r>
            <a:endParaRPr lang="en-US" sz="1800" dirty="0"/>
          </a:p>
        </p:txBody>
      </p:sp>
      <p:sp>
        <p:nvSpPr>
          <p:cNvPr id="26" name="Shape 17"/>
          <p:cNvSpPr/>
          <p:nvPr/>
        </p:nvSpPr>
        <p:spPr>
          <a:xfrm>
            <a:off x="502920" y="4940046"/>
            <a:ext cx="11183112" cy="893826"/>
          </a:xfrm>
          <a:prstGeom prst="roundRect">
            <a:avLst>
              <a:gd name="adj" fmla="val 9207"/>
            </a:avLst>
          </a:prstGeom>
          <a:solidFill>
            <a:srgbClr val="E6F4F2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sp>
        <p:nvSpPr>
          <p:cNvPr id="27" name="Shape 18"/>
          <p:cNvSpPr/>
          <p:nvPr/>
        </p:nvSpPr>
        <p:spPr>
          <a:xfrm>
            <a:off x="502920" y="4940046"/>
            <a:ext cx="82296" cy="89382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22376" y="5058918"/>
            <a:ext cx="292608" cy="29260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1124712" y="5022342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USEFUL QUESTION</a:t>
            </a:r>
            <a:endParaRPr lang="en-US" sz="1800" dirty="0"/>
          </a:p>
        </p:txBody>
      </p:sp>
      <p:sp>
        <p:nvSpPr>
          <p:cNvPr id="30" name="Text 20"/>
          <p:cNvSpPr/>
          <p:nvPr/>
        </p:nvSpPr>
        <p:spPr>
          <a:xfrm>
            <a:off x="1124712" y="5378958"/>
            <a:ext cx="10360152" cy="3451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support helps professionals manage these demands?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37376"/>
            <a:ext cx="10268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Neonatologist · Career Awareness · South African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45952" y="6437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152" y="-987552"/>
            <a:ext cx="2148840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28832" y="274320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201168"/>
            <a:ext cx="11183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02920" y="530352"/>
            <a:ext cx="98572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B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Could Make This Career Rewarding?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502920" y="1261872"/>
            <a:ext cx="11183112" cy="3634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Possible sources of satisfaction include: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502920" y="1735074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7512" y="1890522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06424" y="1863090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Applying scientific knowledge to meaningful problems.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6204204" y="1735074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68796" y="1890522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07708" y="1863090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Contributing to the care of babies and families.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502920" y="2772918"/>
            <a:ext cx="5481828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7512" y="2928366"/>
            <a:ext cx="310896" cy="31089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06424" y="2900934"/>
            <a:ext cx="469544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with skilled colleagues.</a:t>
            </a:r>
            <a:endParaRPr lang="en-US" sz="1800" dirty="0"/>
          </a:p>
        </p:txBody>
      </p:sp>
      <p:sp>
        <p:nvSpPr>
          <p:cNvPr id="20" name="Shape 13"/>
          <p:cNvSpPr/>
          <p:nvPr/>
        </p:nvSpPr>
        <p:spPr>
          <a:xfrm>
            <a:off x="6204204" y="2772918"/>
            <a:ext cx="5481828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68796" y="2928366"/>
            <a:ext cx="310896" cy="31089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807708" y="2900934"/>
            <a:ext cx="469544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Developing expertise over time.</a:t>
            </a:r>
            <a:endParaRPr lang="en-US" sz="1800" dirty="0"/>
          </a:p>
        </p:txBody>
      </p:sp>
      <p:sp>
        <p:nvSpPr>
          <p:cNvPr id="23" name="Shape 15"/>
          <p:cNvSpPr/>
          <p:nvPr/>
        </p:nvSpPr>
        <p:spPr>
          <a:xfrm>
            <a:off x="502920" y="3559302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7512" y="3714750"/>
            <a:ext cx="310896" cy="31089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106424" y="3687318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Exploring interests in teaching, research or improving services.</a:t>
            </a:r>
            <a:endParaRPr lang="en-US" sz="1800" dirty="0"/>
          </a:p>
        </p:txBody>
      </p:sp>
      <p:sp>
        <p:nvSpPr>
          <p:cNvPr id="26" name="Shape 17"/>
          <p:cNvSpPr/>
          <p:nvPr/>
        </p:nvSpPr>
        <p:spPr>
          <a:xfrm>
            <a:off x="502920" y="4688586"/>
            <a:ext cx="11183112" cy="893826"/>
          </a:xfrm>
          <a:prstGeom prst="roundRect">
            <a:avLst>
              <a:gd name="adj" fmla="val 9207"/>
            </a:avLst>
          </a:prstGeom>
          <a:solidFill>
            <a:srgbClr val="E6F4F2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sp>
        <p:nvSpPr>
          <p:cNvPr id="27" name="Shape 18"/>
          <p:cNvSpPr/>
          <p:nvPr/>
        </p:nvSpPr>
        <p:spPr>
          <a:xfrm>
            <a:off x="502920" y="4688586"/>
            <a:ext cx="82296" cy="89382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22376" y="4807458"/>
            <a:ext cx="292608" cy="29260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1124712" y="4770882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REFLECT</a:t>
            </a:r>
            <a:endParaRPr lang="en-US" sz="1800" dirty="0"/>
          </a:p>
        </p:txBody>
      </p:sp>
      <p:sp>
        <p:nvSpPr>
          <p:cNvPr id="30" name="Text 20"/>
          <p:cNvSpPr/>
          <p:nvPr/>
        </p:nvSpPr>
        <p:spPr>
          <a:xfrm>
            <a:off x="1124712" y="5127498"/>
            <a:ext cx="10360152" cy="3451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of these would matter most to you?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37376"/>
            <a:ext cx="10268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Neonatologist · Career Awareness · South African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45952" y="6437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152" y="-987552"/>
            <a:ext cx="2148840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28832" y="274320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201168"/>
            <a:ext cx="11183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ALTERNATIVES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02920" y="530352"/>
            <a:ext cx="98572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B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Keep Related Careers in View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502920" y="1261872"/>
            <a:ext cx="11183112" cy="6720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 are several ways to contribute to children’s health. Each profession has its own education and registration pathway.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502920" y="2043684"/>
            <a:ext cx="5481828" cy="1040130"/>
          </a:xfrm>
          <a:prstGeom prst="roundRect">
            <a:avLst>
              <a:gd name="adj" fmla="val 7912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9224" y="2189988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2153412"/>
            <a:ext cx="474116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B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Paediatrics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49224" y="2610612"/>
            <a:ext cx="5189220" cy="4183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Medical care across childhood.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6204204" y="2043684"/>
            <a:ext cx="5481828" cy="1040130"/>
          </a:xfrm>
          <a:prstGeom prst="roundRect">
            <a:avLst>
              <a:gd name="adj" fmla="val 7912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0508" y="2189988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752844" y="2153412"/>
            <a:ext cx="474116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B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Neonatal nursing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6350508" y="2610612"/>
            <a:ext cx="5189220" cy="4183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Nursing care for newborn babies.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502920" y="3211830"/>
            <a:ext cx="5481828" cy="1348740"/>
          </a:xfrm>
          <a:prstGeom prst="roundRect">
            <a:avLst>
              <a:gd name="adj" fmla="val 6102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9224" y="3358134"/>
            <a:ext cx="310896" cy="31089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51560" y="3321558"/>
            <a:ext cx="474116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B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Midwifery</a:t>
            </a: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649224" y="3778758"/>
            <a:ext cx="5189220" cy="7269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 around pregnancy, birth and the postnatal period.</a:t>
            </a:r>
            <a:endParaRPr lang="en-US" sz="1800" dirty="0"/>
          </a:p>
        </p:txBody>
      </p:sp>
      <p:sp>
        <p:nvSpPr>
          <p:cNvPr id="23" name="Shape 16"/>
          <p:cNvSpPr/>
          <p:nvPr/>
        </p:nvSpPr>
        <p:spPr>
          <a:xfrm>
            <a:off x="6204204" y="3211830"/>
            <a:ext cx="5481828" cy="1348740"/>
          </a:xfrm>
          <a:prstGeom prst="roundRect">
            <a:avLst>
              <a:gd name="adj" fmla="val 6102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50508" y="3358134"/>
            <a:ext cx="310896" cy="31089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752844" y="3321558"/>
            <a:ext cx="474116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B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Biomedical research</a:t>
            </a:r>
            <a:endParaRPr lang="en-US" sz="1800" dirty="0"/>
          </a:p>
        </p:txBody>
      </p:sp>
      <p:sp>
        <p:nvSpPr>
          <p:cNvPr id="26" name="Text 18"/>
          <p:cNvSpPr/>
          <p:nvPr/>
        </p:nvSpPr>
        <p:spPr>
          <a:xfrm>
            <a:off x="6350508" y="3778758"/>
            <a:ext cx="5189220" cy="7269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Investigating questions that may improve health.</a:t>
            </a:r>
            <a:endParaRPr lang="en-US" sz="1800" dirty="0"/>
          </a:p>
        </p:txBody>
      </p:sp>
      <p:sp>
        <p:nvSpPr>
          <p:cNvPr id="27" name="Text 19"/>
          <p:cNvSpPr/>
          <p:nvPr/>
        </p:nvSpPr>
        <p:spPr>
          <a:xfrm>
            <a:off x="502920" y="4761738"/>
            <a:ext cx="11183112" cy="3634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Exploring alternatives helps you make an informed choice.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37376"/>
            <a:ext cx="10268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Neonatologist · Career Awareness · South African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45952" y="6437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152" y="-987552"/>
            <a:ext cx="2148840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28832" y="274320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201168"/>
            <a:ext cx="11183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PLAN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02920" y="530352"/>
            <a:ext cx="98572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B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Next 90 Days</a:t>
            </a:r>
            <a:endParaRPr lang="en-US" sz="2800" dirty="0"/>
          </a:p>
        </p:txBody>
      </p:sp>
      <p:sp>
        <p:nvSpPr>
          <p:cNvPr id="10" name="Shape 6"/>
          <p:cNvSpPr/>
          <p:nvPr/>
        </p:nvSpPr>
        <p:spPr>
          <a:xfrm>
            <a:off x="502920" y="1261872"/>
            <a:ext cx="3252216" cy="2695194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49224" y="1389888"/>
            <a:ext cx="2959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DAYS 1–30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49224" y="1737360"/>
            <a:ext cx="2959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Explore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649224" y="2212848"/>
            <a:ext cx="2959608" cy="15979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medical-school requirements and speak to a school adviser.</a:t>
            </a:r>
            <a:endParaRPr lang="en-US" sz="18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97936" y="1389888"/>
            <a:ext cx="310896" cy="31089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919728" y="2435733"/>
            <a:ext cx="384048" cy="347472"/>
          </a:xfrm>
          <a:prstGeom prst="rightArrow">
            <a:avLst/>
          </a:prstGeom>
          <a:solidFill>
            <a:srgbClr val="0E8074"/>
          </a:solidFill>
          <a:ln/>
        </p:spPr>
      </p:sp>
      <p:sp>
        <p:nvSpPr>
          <p:cNvPr id="16" name="Shape 11"/>
          <p:cNvSpPr/>
          <p:nvPr/>
        </p:nvSpPr>
        <p:spPr>
          <a:xfrm>
            <a:off x="4468368" y="1261872"/>
            <a:ext cx="3252216" cy="2695194"/>
          </a:xfrm>
          <a:prstGeom prst="roundRect">
            <a:avLst>
              <a:gd name="adj" fmla="val 3053"/>
            </a:avLst>
          </a:prstGeom>
          <a:solidFill>
            <a:srgbClr val="E6F4F2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4614672" y="1389888"/>
            <a:ext cx="2959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DAYS 31–60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4614672" y="1737360"/>
            <a:ext cx="2959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Practise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4614672" y="2212848"/>
            <a:ext cx="2959608" cy="15979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Strengthen one subject and practise explaining ideas clearly.</a:t>
            </a:r>
            <a:endParaRPr lang="en-US" sz="18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63384" y="1389888"/>
            <a:ext cx="310896" cy="310896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7885176" y="2435733"/>
            <a:ext cx="384048" cy="347472"/>
          </a:xfrm>
          <a:prstGeom prst="rightArrow">
            <a:avLst/>
          </a:prstGeom>
          <a:solidFill>
            <a:srgbClr val="0E8074"/>
          </a:solidFill>
          <a:ln/>
        </p:spPr>
      </p:sp>
      <p:sp>
        <p:nvSpPr>
          <p:cNvPr id="22" name="Shape 16"/>
          <p:cNvSpPr/>
          <p:nvPr/>
        </p:nvSpPr>
        <p:spPr>
          <a:xfrm>
            <a:off x="8433816" y="1261872"/>
            <a:ext cx="3252216" cy="2695194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8580120" y="1389888"/>
            <a:ext cx="2959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DAYS 61–90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8580120" y="1737360"/>
            <a:ext cx="2959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Reflect</a:t>
            </a:r>
            <a:endParaRPr lang="en-US" sz="2400" dirty="0"/>
          </a:p>
        </p:txBody>
      </p:sp>
      <p:sp>
        <p:nvSpPr>
          <p:cNvPr id="25" name="Text 19"/>
          <p:cNvSpPr/>
          <p:nvPr/>
        </p:nvSpPr>
        <p:spPr>
          <a:xfrm>
            <a:off x="8580120" y="2212848"/>
            <a:ext cx="2959608" cy="15979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Attend a career event or speak to a healthcare professional. Review what you learned.</a:t>
            </a:r>
            <a:endParaRPr lang="en-US" sz="18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228832" y="1389888"/>
            <a:ext cx="310896" cy="310896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502920" y="4194810"/>
            <a:ext cx="11183112" cy="893826"/>
          </a:xfrm>
          <a:prstGeom prst="roundRect">
            <a:avLst>
              <a:gd name="adj" fmla="val 9207"/>
            </a:avLst>
          </a:prstGeom>
          <a:solidFill>
            <a:srgbClr val="E6F4F2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502920" y="4194810"/>
            <a:ext cx="82296" cy="89382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2376" y="4313682"/>
            <a:ext cx="292608" cy="29260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124712" y="4277106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</a:t>
            </a:r>
            <a:endParaRPr lang="en-US" sz="1800" dirty="0"/>
          </a:p>
        </p:txBody>
      </p:sp>
      <p:sp>
        <p:nvSpPr>
          <p:cNvPr id="31" name="Text 23"/>
          <p:cNvSpPr/>
          <p:nvPr/>
        </p:nvSpPr>
        <p:spPr>
          <a:xfrm>
            <a:off x="1124712" y="4633722"/>
            <a:ext cx="10360152" cy="3451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</a:t>
            </a:r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one </a:t>
            </a:r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weekly action</a:t>
            </a:r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and one </a:t>
            </a:r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 who can support you</a:t>
            </a:r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37376"/>
            <a:ext cx="10268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Neonatologist · Career Awareness · South African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45952" y="6437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152" y="-987552"/>
            <a:ext cx="2148840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28832" y="274320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201168"/>
            <a:ext cx="11183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MOVE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02920" y="530352"/>
            <a:ext cx="98572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B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Choose One Next Step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502920" y="1261872"/>
            <a:ext cx="11183112" cy="3634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yourself: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502920" y="1735074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7512" y="1890522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06424" y="1863090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part of this career interests me most?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6204204" y="1735074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68796" y="1890522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07708" y="1863090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skill do I already enjoy using?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502920" y="2772918"/>
            <a:ext cx="5481828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7512" y="2928366"/>
            <a:ext cx="310896" cy="31089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06424" y="2900934"/>
            <a:ext cx="469544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skill could I improve?</a:t>
            </a:r>
            <a:endParaRPr lang="en-US" sz="1800" dirty="0"/>
          </a:p>
        </p:txBody>
      </p:sp>
      <p:sp>
        <p:nvSpPr>
          <p:cNvPr id="20" name="Shape 13"/>
          <p:cNvSpPr/>
          <p:nvPr/>
        </p:nvSpPr>
        <p:spPr>
          <a:xfrm>
            <a:off x="6204204" y="2772918"/>
            <a:ext cx="5481828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68796" y="2928366"/>
            <a:ext cx="310896" cy="31089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807708" y="2900934"/>
            <a:ext cx="469544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can I do this week?</a:t>
            </a:r>
            <a:endParaRPr lang="en-US" sz="1800" dirty="0"/>
          </a:p>
        </p:txBody>
      </p:sp>
      <p:sp>
        <p:nvSpPr>
          <p:cNvPr id="23" name="Shape 15"/>
          <p:cNvSpPr/>
          <p:nvPr/>
        </p:nvSpPr>
        <p:spPr>
          <a:xfrm>
            <a:off x="502920" y="3559302"/>
            <a:ext cx="5481828" cy="909828"/>
          </a:xfrm>
          <a:prstGeom prst="roundRect">
            <a:avLst>
              <a:gd name="adj" fmla="val 9045"/>
            </a:avLst>
          </a:prstGeom>
          <a:solidFill>
            <a:srgbClr val="FFFFFF"/>
          </a:solidFill>
          <a:ln w="12700">
            <a:solidFill>
              <a:srgbClr val="CBE5E1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7512" y="3714750"/>
            <a:ext cx="310896" cy="31089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106424" y="3687318"/>
            <a:ext cx="4695444" cy="690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can help me understand the next stage?</a:t>
            </a:r>
            <a:endParaRPr lang="en-US" sz="1800" dirty="0"/>
          </a:p>
        </p:txBody>
      </p:sp>
      <p:sp>
        <p:nvSpPr>
          <p:cNvPr id="26" name="Shape 17"/>
          <p:cNvSpPr/>
          <p:nvPr/>
        </p:nvSpPr>
        <p:spPr>
          <a:xfrm>
            <a:off x="502920" y="4688586"/>
            <a:ext cx="11183112" cy="893826"/>
          </a:xfrm>
          <a:prstGeom prst="roundRect">
            <a:avLst>
              <a:gd name="adj" fmla="val 9207"/>
            </a:avLst>
          </a:prstGeom>
          <a:solidFill>
            <a:srgbClr val="FDEEEB"/>
          </a:solidFill>
          <a:ln w="12700">
            <a:solidFill>
              <a:srgbClr val="F3CFC7"/>
            </a:solidFill>
            <a:prstDash val="solid"/>
          </a:ln>
          <a:effectLst>
            <a:outerShdw sx="100000" sy="100000" kx="0" ky="0" algn="bl" rotWithShape="0" blurRad="88900" dist="25400" dir="5400000">
              <a:srgbClr val="9CBFBA">
                <a:alpha val="30000"/>
              </a:srgbClr>
            </a:outerShdw>
          </a:effectLst>
        </p:spPr>
      </p:sp>
      <p:sp>
        <p:nvSpPr>
          <p:cNvPr id="27" name="Shape 18"/>
          <p:cNvSpPr/>
          <p:nvPr/>
        </p:nvSpPr>
        <p:spPr>
          <a:xfrm>
            <a:off x="502920" y="4688586"/>
            <a:ext cx="82296" cy="893826"/>
          </a:xfrm>
          <a:prstGeom prst="rect">
            <a:avLst/>
          </a:prstGeom>
          <a:solidFill>
            <a:srgbClr val="E85D4A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22376" y="4807458"/>
            <a:ext cx="292608" cy="29260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1124712" y="4770882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E85D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REMEMBER</a:t>
            </a:r>
            <a:endParaRPr lang="en-US" sz="1800" dirty="0"/>
          </a:p>
        </p:txBody>
      </p:sp>
      <p:sp>
        <p:nvSpPr>
          <p:cNvPr id="30" name="Text 20"/>
          <p:cNvSpPr/>
          <p:nvPr/>
        </p:nvSpPr>
        <p:spPr>
          <a:xfrm>
            <a:off x="1124712" y="5127498"/>
            <a:ext cx="10360152" cy="3451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do not need every answer today. </a:t>
            </a:r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0B3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 with one informed choice.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37376"/>
            <a:ext cx="102687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Neonatologist · Career Awareness · South African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045952" y="6437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60152" y="-987552"/>
            <a:ext cx="2148840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28832" y="274320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201168"/>
            <a:ext cx="11183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02920" y="530352"/>
            <a:ext cx="98572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0B3B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Sources and Further Reading</a:t>
            </a:r>
            <a:endParaRPr lang="en-US" sz="2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1208" y="1335024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23544" y="128016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u="sng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American Academy of Pediatrics — What Is a Neonatologist?</a:t>
            </a:r>
            <a:endParaRPr lang="en-US" sz="18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1208" y="1847088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23544" y="1792224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u="sng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World Health Organization — Preterm Birth</a:t>
            </a:r>
            <a:endParaRPr lang="en-US" sz="18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1208" y="2359152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23544" y="2304288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u="sng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Wits University — Medicine and Surgery</a:t>
            </a:r>
            <a:endParaRPr lang="en-US" sz="18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21208" y="2871216"/>
            <a:ext cx="274320" cy="27432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23544" y="2816352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u="sng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National Department of Health — Internship and Community Service</a:t>
            </a:r>
            <a:endParaRPr lang="en-US" sz="18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21208" y="3383280"/>
            <a:ext cx="274320" cy="27432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23544" y="3328416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u="sng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University of Cape Town — Paediatric Specialist Training</a:t>
            </a:r>
            <a:endParaRPr lang="en-US" sz="18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21208" y="3895344"/>
            <a:ext cx="274320" cy="27432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923544" y="384048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u="sng" dirty="0">
                <a:solidFill>
                  <a:srgbClr val="0E8074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Colleges of Medicine of South Africa — Neonatology</a:t>
            </a:r>
            <a:endParaRPr lang="en-US" sz="1800" dirty="0"/>
          </a:p>
        </p:txBody>
      </p:sp>
      <p:sp>
        <p:nvSpPr>
          <p:cNvPr id="22" name="Text 12"/>
          <p:cNvSpPr/>
          <p:nvPr/>
        </p:nvSpPr>
        <p:spPr>
          <a:xfrm>
            <a:off x="502920" y="4443984"/>
            <a:ext cx="11183112" cy="6720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checked in September 2026. Confirm current admission and training requirements when applying.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3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E807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19456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Small patients. A lasting impact.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02920" y="329184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DEA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future starts with what you practise now — curiosity, communication, teamwork, empathy and careful problem-solving.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02920" y="6291072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9D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Neonatologist · Career Awareness · South African Context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Neonatologist — Career Awareness (South African Context)</dc:title>
  <dc:subject>PptxGenJS Presentation</dc:subject>
  <dc:creator>Andre Snell</dc:creator>
  <cp:lastModifiedBy>Andre Snell</cp:lastModifiedBy>
  <cp:revision>1</cp:revision>
  <dcterms:created xsi:type="dcterms:W3CDTF">2026-09-15T08:05:40Z</dcterms:created>
  <dcterms:modified xsi:type="dcterms:W3CDTF">2026-09-15T08:05:40Z</dcterms:modified>
</cp:coreProperties>
</file>