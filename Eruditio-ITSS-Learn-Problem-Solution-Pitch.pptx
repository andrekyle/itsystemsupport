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8" r:id="rId3"/>
    <p:sldId id="260" r:id="rId4"/>
    <p:sldId id="261" r:id="rId5"/>
    <p:sldId id="262" r:id="rId6"/>
    <p:sldId id="263" r:id="rId7"/>
    <p:sldId id="264" r:id="rId8"/>
    <p:sldId id="265" r:id="rId9"/>
    <p:sldId id="266" r:id="rId10"/>
    <p:sldId id="267" r:id="rId11"/>
    <p:sldId id="268" r:id="rId12"/>
    <p:sldId id="269" r:id="rId13"/>
    <p:sldId id="270" r:id="rId14"/>
    <p:sldId id="271" r:id="rId15"/>
  </p:sldIdLst>
  <p:sldSz cx="12188825" cy="6858000"/>
  <p:notesSz cx="6858000" cy="1218882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6" d="100"/>
          <a:sy n="86" d="100"/>
        </p:scale>
        <p:origin x="533"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738048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and thank you for the time. Today I want to show you the platform we use to run the IT Systems Support learnership end to end — it is called ITSS Learn. One sentence summary: it is a single app in which learners are taught, assessed, tracked and supported, and in which all the administration, evidence and compliance paperwork produces itself. It is live today, runs on any device, and was purpose-built for this exact qualification — SAQA 48573, NQF Level 5, 148 credits, quality-assured under QCTO / MICT SETA.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ITSS Learn replaces all of that with one app doing five jobs. Teach — the full curriculum lives in the app as interactive lessons, with a live classroom presenter mode. Assess — quizzes and written answers are marked automatically, including by AI, with explained feedback. Track — progress records itself the moment work is done; nobody captures anything. Communicate — private chat, class Q&amp;A, announcements and broadcasts, all moderated. Comply — every register, form, portfolio and audit trail is generated by the platform, print-perfect. The key message: it is not five tools glued together — it is one system where each part feeds the others. A quiz taken in class instantly updates progress, analytics, the leaderboard and the compliance dashboard, with zero admin typing.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learner's side — this is what your learners live in every day. Lessons are interactive slide decks with photos, diagrams, pop-up glossary definitions and collapsible worked examples — not PDFs. Knowledge gating: the next slide can stay locked until the learner answers a checkpoint question correctly, so nobody can page through without engaging. The same material has a classroom presenter mode — full-screen slides with speaker notes — so what is taught live on Friday is exactly what learners revise on their phone on Monday. There is a personal logbook for workplace evidence, session notes, and a built-in training calendar that adds sessions to Outlook or Teams with one tap — no API keys, nothing leaves the device. Official slide decks and manuals are downloadable as PPTX / PDF for offline study. Everything works on the learner's own phone — no laptop required.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Assessment is where the platform saves the most staff time — and where learners feel the biggest difference. Four question types mark themselves instantly: multiple choice, select-all, drag-to-order and matching, with attempt history and best-score tracking. Written answers get a two-stage AI marker. Stage one is deterministic key-idea detection — it places a tick on the exact sentence that earned each mark. Stage two sends rejected answers to a large language model that judges meaning, so a learner who answers correctly in their own words still gets the credit. Feedback is explanatory: the app tells the learner which idea is missing and quotes the exact lesson line that teaches it — and a gentle in-browser spellchecker helps with typed answers. Marked attempts are capped and self-assessments lock after saving, with a staff-only unlock — results cannot be gamed. And there is full transparency: staff can open any learner and see every option picked and every sentence typed. Key line for the client: marking that used to take a facilitator evenings now happens in the second the learner presses submit.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Twelve months is a long programme — motivation is a real risk. The platform bakes it in. Learners earn XP across 8 levels, from Newcomer to Legend, plus badges — and every point is computed from real recorded work: quizzes passed, evidence uploaded, registers signed. It cannot be inflated, so the class leaderboard is honest and genuinely competitive. Community features keep the cohort connected between Fridays: class Q&amp;A with threaded replies, announcements from staff, live multiplayer quiz sessions, and a class photo wall for the social side. Every learner also has a private 1-to-1 chat line to the facilitator — with online presence, read receipts and message editing — so questions get asked early instead of festering. Staff can broadcast one message privately to every learner at once, and authorised staff can open any conversation read-only for safeguarding — enforced by the database itself.</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Portfolio of Evidence is usually the most painful part of any learnership — here it runs itself. Learners get a guided checklist: 8 sections, 37 evidence items, from certified ID copy to the signed learnership agreement to per-unit assignments. They photograph or upload documents straight from their phone — up to 10 files per item — into private cloud storage. Assessors review and sign off each item in the app, with a clear competent / not-yet-competent verdict workflow, so learners always see exactly what is outstanding. When the moderator or the SETA asks for a portfolio, staff export any learner's entire POE as a ZIP in one click — no more days of assembling paper files. The workplace logbook is digital too. And the dual accounting model — a lenient coaching view plus a strict auditable view — means you always know exactly what is claimable.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administrative side — first, the day-to-day running of a session. Attendance: the register is digital. Learners sign on their phone in seconds; a learner can even photograph their pen-on-paper signature and the platform extracts clean ink strokes automatically. Registers print as pixel-perfect replicas of the official paper form — every register at once if you like. Enrolment: the official registration form and the biographical enrolment form are digitised to match the paper originals exactly. Learners complete them once online; forms auto-fill from stored data and print exactly like the originals. Each new learner can be handed an auto-generated onboarding pack — programme overview, calendar, required documents, POE guide and app how-to — built in one click. Content management is central: staff upload slide decks and lesson figures and they sync to every device instantly. And one click sends a private broadcast to every learner — session reminders, venue changes, deadline nudges. The message: a facilitator runs the entire Friday session from one screen.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admin superpower: visibility. The analytics dashboard shows the whole cohort live in one sortable table — completion percentage, quiz and exercise averages, attendance rate, last-seen and XP for every learner. The early-warning engine flags at-risk learners automatically and states the reasons: low completion, poor attendance, inactivity, low scores. You intervene in week 3, not month 3. Drill into any learner and see their actual work — every quiz option picked, every sentence typed, every file uploaded, every register signed. The compliance dashboard tracks milestones and document completeness across the cohort. Everything exports: the full analytics table to CSV for your own reporting, and formal management reports can be served inside the app, restricted to the Super User. For a client, this is the difference between hoping the programme is on track and knowing it is.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admin pillar: compliance and paperwork that produces itself. Every significant action — sign-ins, enrolments, uploads, marks, reviews, deletions — lands in a shared audit trail with actor and timestamp, exportable to CSV. When the verifier asks 'who marked this and when', the answer is one click away. Certificates and statements of results generate as print-ready documents from real completion data. The provider deliverables — lesson plans before delivery, assessment records within five days, progress reports — are tracked against their deadlines. And because every register, form, portfolio and declaration is digital and print-perfect, a SETA or QCTO audit stops being a scramble: you print the evidence pack on demand. Position this as risk reduction for the client's compliance and HR teams.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and privacy — usually the first question from a corporate client. Privacy is enforced in the database itself with row-level security. A learner physically cannot query another learner's messages, files or records — even if they bypass the app entirely. That is a much stronger guarantee than app-side checks. Five roles — Learner, Facilitator, Assessor, Moderator, Super User — and every screen adapts to the role. Sensitive reports are Super User only. Files live in a private storage bucket, never on a public URL. Every significant action is audited: submissions, messages, deletions and sign-offs, with actor and timestamp. Accounts have a full lifecycle: email sign-up, password recovery, promotion and demotion, and remove-profile-from-device. Personal data in reports is kept out of the codebase and served only to authorised signed-in staff. This design directly supports POPIA obligations around minimising access to personal information.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platform itself removes every classic IT objection. It installs like an app on any phone, tablet or computer — but there is nothing to deploy: it is a progressive web app, no app store or MDM packaging needed. It keeps working offline — a local cache means learners in low-signal areas can keep studying, and work syncs when they reconnect. Real-time cloud sync means work saved on one device appears on every other — start on a PC in class, finish on the phone at home. Updates ship centrally: every user gets the newest version on next refresh — no versions to manage, no rollouts. Dark and light themes, print-optimised output for every document, and zero-secret integrations with Teams, Outlook and calendar apps — deep links and files only, so no API keys and no data leaving the device. Total infrastructure the client must install and maintain: none.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the operational summary — walk it row by row. Attendance: paper registers passed around and filed become digital signatures captured in seconds with print-perfect output. Marking: evenings of hand-marking become instant auto-marking plus AI marking of written answers. Progress capture: hand-updated spreadsheets disappear — progress records itself. Struggling learners: instead of month-end surprises, the platform flags them automatically with reasons. Moderation prep: days of assembling paper portfolios become a one-click ZIP. Stakeholder reporting: collation becomes on-demand CSV / PDF / ZIP exports. Onboarding: printed packs and re-typed forms become digital enrolment plus a generated welcome pack. Close with: the platform gives your staff their evenings back and gives you certainty the programme is on track.</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One-slide summary of the value on each side. For learners: everything in one app on their own phone — learning, instant marks with reasons including AI, self-updating progress, a private line to the facilitator, digital signing of the register, and forms they complete exactly once. For your team: live truth about every learner's answers, activity and risk status; zero manual marking or capture; audit-ready evidence on demand; one-click CSV / PDF / ZIP exports for SETA and QCTO reporting; broadcasts and read-only conversation moderation; and role-controlled access with a full audit trail. If the client remembers one thing: learners get a better course, and the provider team gets their time back — from the same system.</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ITSS Learn can run the entire learnership digitally — it teaches, marks, tracks, communicates, reports and audits on its own. It is not a concept: it is live today, running this exact qualification with the full curriculum, calendar and compliance pack inside. Suggested next step: a 30-minute live walkthrough — sign in as a learner, take a quiz and watch the AI mark a written answer, then sign in as a facilitator and watch the dashboard update in real time. Then leave the demo environment with them to explore.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sv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svg"/><Relationship Id="rId11" Type="http://schemas.openxmlformats.org/officeDocument/2006/relationships/image" Target="../media/image11.png"/><Relationship Id="rId5" Type="http://schemas.openxmlformats.org/officeDocument/2006/relationships/image" Target="../media/image5.png"/><Relationship Id="rId15" Type="http://schemas.openxmlformats.org/officeDocument/2006/relationships/image" Target="../media/image1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 Id="rId14" Type="http://schemas.openxmlformats.org/officeDocument/2006/relationships/image" Target="../media/image14.svg"/></Relationships>
</file>

<file path=ppt/slides/_rels/slide3.xml.rels><?xml version="1.0" encoding="UTF-8" standalone="yes"?>
<Relationships xmlns="http://schemas.openxmlformats.org/package/2006/relationships"><Relationship Id="rId8" Type="http://schemas.openxmlformats.org/officeDocument/2006/relationships/image" Target="../media/image21.svg"/><Relationship Id="rId13" Type="http://schemas.openxmlformats.org/officeDocument/2006/relationships/image" Target="../media/image24.png"/><Relationship Id="rId3" Type="http://schemas.openxmlformats.org/officeDocument/2006/relationships/image" Target="../media/image16.png"/><Relationship Id="rId7" Type="http://schemas.openxmlformats.org/officeDocument/2006/relationships/image" Target="../media/image20.png"/><Relationship Id="rId12" Type="http://schemas.openxmlformats.org/officeDocument/2006/relationships/image" Target="../media/image23.sv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9.svg"/><Relationship Id="rId11" Type="http://schemas.openxmlformats.org/officeDocument/2006/relationships/image" Target="../media/image22.png"/><Relationship Id="rId5" Type="http://schemas.openxmlformats.org/officeDocument/2006/relationships/image" Target="../media/image18.png"/><Relationship Id="rId15" Type="http://schemas.openxmlformats.org/officeDocument/2006/relationships/image" Target="../media/image26.png"/><Relationship Id="rId10" Type="http://schemas.openxmlformats.org/officeDocument/2006/relationships/image" Target="../media/image4.svg"/><Relationship Id="rId4" Type="http://schemas.openxmlformats.org/officeDocument/2006/relationships/image" Target="../media/image17.svg"/><Relationship Id="rId9" Type="http://schemas.openxmlformats.org/officeDocument/2006/relationships/image" Target="../media/image3.png"/><Relationship Id="rId14" Type="http://schemas.openxmlformats.org/officeDocument/2006/relationships/image" Target="../media/image25.svg"/></Relationships>
</file>

<file path=ppt/slides/_rels/slide4.xml.rels><?xml version="1.0" encoding="UTF-8" standalone="yes"?>
<Relationships xmlns="http://schemas.openxmlformats.org/package/2006/relationships"><Relationship Id="rId8" Type="http://schemas.openxmlformats.org/officeDocument/2006/relationships/image" Target="../media/image10.svg"/><Relationship Id="rId13" Type="http://schemas.openxmlformats.org/officeDocument/2006/relationships/image" Target="../media/image13.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30.sv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28.svg"/><Relationship Id="rId11" Type="http://schemas.openxmlformats.org/officeDocument/2006/relationships/image" Target="../media/image29.png"/><Relationship Id="rId5" Type="http://schemas.openxmlformats.org/officeDocument/2006/relationships/image" Target="../media/image27.png"/><Relationship Id="rId10" Type="http://schemas.openxmlformats.org/officeDocument/2006/relationships/image" Target="../media/image19.svg"/><Relationship Id="rId4" Type="http://schemas.openxmlformats.org/officeDocument/2006/relationships/image" Target="../media/image6.svg"/><Relationship Id="rId9" Type="http://schemas.openxmlformats.org/officeDocument/2006/relationships/image" Target="../media/image18.png"/><Relationship Id="rId14" Type="http://schemas.openxmlformats.org/officeDocument/2006/relationships/image" Target="../media/image14.svg"/></Relationships>
</file>

<file path=ppt/slides/_rels/slide5.xml.rels><?xml version="1.0" encoding="UTF-8" standalone="yes"?>
<Relationships xmlns="http://schemas.openxmlformats.org/package/2006/relationships"><Relationship Id="rId8" Type="http://schemas.openxmlformats.org/officeDocument/2006/relationships/image" Target="../media/image21.svg"/><Relationship Id="rId13" Type="http://schemas.openxmlformats.org/officeDocument/2006/relationships/image" Target="../media/image11.png"/><Relationship Id="rId3" Type="http://schemas.openxmlformats.org/officeDocument/2006/relationships/image" Target="../media/image31.png"/><Relationship Id="rId7" Type="http://schemas.openxmlformats.org/officeDocument/2006/relationships/image" Target="../media/image20.png"/><Relationship Id="rId12" Type="http://schemas.openxmlformats.org/officeDocument/2006/relationships/image" Target="../media/image36.sv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34.svg"/><Relationship Id="rId11" Type="http://schemas.openxmlformats.org/officeDocument/2006/relationships/image" Target="../media/image35.png"/><Relationship Id="rId5" Type="http://schemas.openxmlformats.org/officeDocument/2006/relationships/image" Target="../media/image33.png"/><Relationship Id="rId10" Type="http://schemas.openxmlformats.org/officeDocument/2006/relationships/image" Target="../media/image10.svg"/><Relationship Id="rId4" Type="http://schemas.openxmlformats.org/officeDocument/2006/relationships/image" Target="../media/image32.svg"/><Relationship Id="rId9" Type="http://schemas.openxmlformats.org/officeDocument/2006/relationships/image" Target="../media/image9.png"/><Relationship Id="rId14" Type="http://schemas.openxmlformats.org/officeDocument/2006/relationships/image" Target="../media/image12.svg"/></Relationships>
</file>

<file path=ppt/slides/_rels/slide6.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7.png"/><Relationship Id="rId3" Type="http://schemas.openxmlformats.org/officeDocument/2006/relationships/image" Target="../media/image37.png"/><Relationship Id="rId7" Type="http://schemas.openxmlformats.org/officeDocument/2006/relationships/image" Target="../media/image5.png"/><Relationship Id="rId12" Type="http://schemas.openxmlformats.org/officeDocument/2006/relationships/image" Target="../media/image4.sv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40.svg"/><Relationship Id="rId11" Type="http://schemas.openxmlformats.org/officeDocument/2006/relationships/image" Target="../media/image3.png"/><Relationship Id="rId5" Type="http://schemas.openxmlformats.org/officeDocument/2006/relationships/image" Target="../media/image39.png"/><Relationship Id="rId10" Type="http://schemas.openxmlformats.org/officeDocument/2006/relationships/image" Target="../media/image42.svg"/><Relationship Id="rId4" Type="http://schemas.openxmlformats.org/officeDocument/2006/relationships/image" Target="../media/image38.svg"/><Relationship Id="rId9" Type="http://schemas.openxmlformats.org/officeDocument/2006/relationships/image" Target="../media/image41.png"/><Relationship Id="rId14" Type="http://schemas.openxmlformats.org/officeDocument/2006/relationships/image" Target="../media/image8.svg"/></Relationships>
</file>

<file path=ppt/slides/_rels/slide7.xml.rels><?xml version="1.0" encoding="UTF-8" standalone="yes"?>
<Relationships xmlns="http://schemas.openxmlformats.org/package/2006/relationships"><Relationship Id="rId8" Type="http://schemas.openxmlformats.org/officeDocument/2006/relationships/image" Target="../media/image48.svg"/><Relationship Id="rId13" Type="http://schemas.openxmlformats.org/officeDocument/2006/relationships/image" Target="../media/image51.png"/><Relationship Id="rId3" Type="http://schemas.openxmlformats.org/officeDocument/2006/relationships/image" Target="../media/image43.png"/><Relationship Id="rId7" Type="http://schemas.openxmlformats.org/officeDocument/2006/relationships/image" Target="../media/image47.png"/><Relationship Id="rId12" Type="http://schemas.openxmlformats.org/officeDocument/2006/relationships/image" Target="../media/image25.sv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46.svg"/><Relationship Id="rId11" Type="http://schemas.openxmlformats.org/officeDocument/2006/relationships/image" Target="../media/image24.png"/><Relationship Id="rId5" Type="http://schemas.openxmlformats.org/officeDocument/2006/relationships/image" Target="../media/image45.png"/><Relationship Id="rId10" Type="http://schemas.openxmlformats.org/officeDocument/2006/relationships/image" Target="../media/image50.svg"/><Relationship Id="rId4" Type="http://schemas.openxmlformats.org/officeDocument/2006/relationships/image" Target="../media/image44.svg"/><Relationship Id="rId9" Type="http://schemas.openxmlformats.org/officeDocument/2006/relationships/image" Target="../media/image49.png"/><Relationship Id="rId14" Type="http://schemas.openxmlformats.org/officeDocument/2006/relationships/image" Target="../media/image52.svg"/></Relationships>
</file>

<file path=ppt/slides/_rels/slide8.xml.rels><?xml version="1.0" encoding="UTF-8" standalone="yes"?>
<Relationships xmlns="http://schemas.openxmlformats.org/package/2006/relationships"><Relationship Id="rId8" Type="http://schemas.openxmlformats.org/officeDocument/2006/relationships/image" Target="../media/image30.svg"/><Relationship Id="rId13" Type="http://schemas.openxmlformats.org/officeDocument/2006/relationships/image" Target="../media/image47.png"/><Relationship Id="rId3" Type="http://schemas.openxmlformats.org/officeDocument/2006/relationships/image" Target="../media/image37.png"/><Relationship Id="rId7" Type="http://schemas.openxmlformats.org/officeDocument/2006/relationships/image" Target="../media/image29.png"/><Relationship Id="rId12" Type="http://schemas.openxmlformats.org/officeDocument/2006/relationships/image" Target="../media/image8.sv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52.svg"/><Relationship Id="rId11" Type="http://schemas.openxmlformats.org/officeDocument/2006/relationships/image" Target="../media/image7.png"/><Relationship Id="rId5" Type="http://schemas.openxmlformats.org/officeDocument/2006/relationships/image" Target="../media/image51.png"/><Relationship Id="rId10" Type="http://schemas.openxmlformats.org/officeDocument/2006/relationships/image" Target="../media/image12.svg"/><Relationship Id="rId4" Type="http://schemas.openxmlformats.org/officeDocument/2006/relationships/image" Target="../media/image38.svg"/><Relationship Id="rId9" Type="http://schemas.openxmlformats.org/officeDocument/2006/relationships/image" Target="../media/image11.png"/><Relationship Id="rId14" Type="http://schemas.openxmlformats.org/officeDocument/2006/relationships/image" Target="../media/image48.svg"/></Relationships>
</file>

<file path=ppt/slides/_rels/slide9.xml.rels><?xml version="1.0" encoding="UTF-8" standalone="yes"?>
<Relationships xmlns="http://schemas.openxmlformats.org/package/2006/relationships"><Relationship Id="rId8" Type="http://schemas.openxmlformats.org/officeDocument/2006/relationships/image" Target="../media/image23.svg"/><Relationship Id="rId13" Type="http://schemas.openxmlformats.org/officeDocument/2006/relationships/image" Target="../media/image5.png"/><Relationship Id="rId3" Type="http://schemas.openxmlformats.org/officeDocument/2006/relationships/image" Target="../media/image53.png"/><Relationship Id="rId7" Type="http://schemas.openxmlformats.org/officeDocument/2006/relationships/image" Target="../media/image22.png"/><Relationship Id="rId12" Type="http://schemas.openxmlformats.org/officeDocument/2006/relationships/image" Target="../media/image42.sv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32.svg"/><Relationship Id="rId11" Type="http://schemas.openxmlformats.org/officeDocument/2006/relationships/image" Target="../media/image41.png"/><Relationship Id="rId5" Type="http://schemas.openxmlformats.org/officeDocument/2006/relationships/image" Target="../media/image31.png"/><Relationship Id="rId10" Type="http://schemas.openxmlformats.org/officeDocument/2006/relationships/image" Target="../media/image46.svg"/><Relationship Id="rId4" Type="http://schemas.openxmlformats.org/officeDocument/2006/relationships/image" Target="../media/image54.svg"/><Relationship Id="rId9" Type="http://schemas.openxmlformats.org/officeDocument/2006/relationships/image" Target="../media/image45.png"/><Relationship Id="rId14" Type="http://schemas.openxmlformats.org/officeDocument/2006/relationships/image" Target="../media/image6.svg"/></Relationships>
</file>

<file path=ppt/slides/_rels/slide10.xml.rels><?xml version="1.0" encoding="UTF-8" standalone="yes"?>
<Relationships xmlns="http://schemas.openxmlformats.org/package/2006/relationships"><Relationship Id="rId8" Type="http://schemas.openxmlformats.org/officeDocument/2006/relationships/image" Target="../media/image56.svg"/><Relationship Id="rId13" Type="http://schemas.openxmlformats.org/officeDocument/2006/relationships/image" Target="../media/image11.png"/><Relationship Id="rId3" Type="http://schemas.openxmlformats.org/officeDocument/2006/relationships/image" Target="../media/image18.png"/><Relationship Id="rId7" Type="http://schemas.openxmlformats.org/officeDocument/2006/relationships/image" Target="../media/image55.png"/><Relationship Id="rId12" Type="http://schemas.openxmlformats.org/officeDocument/2006/relationships/image" Target="../media/image58.sv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1.svg"/><Relationship Id="rId11" Type="http://schemas.openxmlformats.org/officeDocument/2006/relationships/image" Target="../media/image57.png"/><Relationship Id="rId5" Type="http://schemas.openxmlformats.org/officeDocument/2006/relationships/image" Target="../media/image20.png"/><Relationship Id="rId10" Type="http://schemas.openxmlformats.org/officeDocument/2006/relationships/image" Target="../media/image54.svg"/><Relationship Id="rId4" Type="http://schemas.openxmlformats.org/officeDocument/2006/relationships/image" Target="../media/image19.svg"/><Relationship Id="rId9" Type="http://schemas.openxmlformats.org/officeDocument/2006/relationships/image" Target="../media/image53.png"/><Relationship Id="rId14" Type="http://schemas.openxmlformats.org/officeDocument/2006/relationships/image" Target="../media/image12.svg"/></Relationships>
</file>

<file path=ppt/slides/_rels/slide11.xml.rels><?xml version="1.0" encoding="UTF-8" standalone="yes"?>
<Relationships xmlns="http://schemas.openxmlformats.org/package/2006/relationships"><Relationship Id="rId8" Type="http://schemas.openxmlformats.org/officeDocument/2006/relationships/image" Target="../media/image60.svg"/><Relationship Id="rId13" Type="http://schemas.openxmlformats.org/officeDocument/2006/relationships/image" Target="../media/image16.png"/><Relationship Id="rId3" Type="http://schemas.openxmlformats.org/officeDocument/2006/relationships/image" Target="../media/image39.png"/><Relationship Id="rId7" Type="http://schemas.openxmlformats.org/officeDocument/2006/relationships/image" Target="../media/image59.png"/><Relationship Id="rId12" Type="http://schemas.openxmlformats.org/officeDocument/2006/relationships/image" Target="../media/image23.sv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4.svg"/><Relationship Id="rId11" Type="http://schemas.openxmlformats.org/officeDocument/2006/relationships/image" Target="../media/image22.png"/><Relationship Id="rId5" Type="http://schemas.openxmlformats.org/officeDocument/2006/relationships/image" Target="../media/image13.png"/><Relationship Id="rId10" Type="http://schemas.openxmlformats.org/officeDocument/2006/relationships/image" Target="../media/image56.svg"/><Relationship Id="rId4" Type="http://schemas.openxmlformats.org/officeDocument/2006/relationships/image" Target="../media/image40.svg"/><Relationship Id="rId9" Type="http://schemas.openxmlformats.org/officeDocument/2006/relationships/image" Target="../media/image55.png"/><Relationship Id="rId14" Type="http://schemas.openxmlformats.org/officeDocument/2006/relationships/image" Target="../media/image17.sv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62.svg"/><Relationship Id="rId5" Type="http://schemas.openxmlformats.org/officeDocument/2006/relationships/image" Target="../media/image61.png"/><Relationship Id="rId4" Type="http://schemas.openxmlformats.org/officeDocument/2006/relationships/image" Target="../media/image50.svg"/></Relationships>
</file>

<file path=ppt/slides/_rels/slide1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64.sv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0" y="0"/>
            <a:ext cx="12188952" cy="109728"/>
          </a:xfrm>
          <a:prstGeom prst="rect">
            <a:avLst/>
          </a:prstGeom>
          <a:solidFill>
            <a:srgbClr val="0F6CBD"/>
          </a:solidFill>
          <a:ln/>
        </p:spPr>
      </p:sp>
      <p:sp>
        <p:nvSpPr>
          <p:cNvPr id="4" name="Shape 1"/>
          <p:cNvSpPr/>
          <p:nvPr/>
        </p:nvSpPr>
        <p:spPr>
          <a:xfrm>
            <a:off x="502920" y="960120"/>
            <a:ext cx="4480560" cy="512064"/>
          </a:xfrm>
          <a:prstGeom prst="roundRect">
            <a:avLst>
              <a:gd name="adj" fmla="val 50000"/>
            </a:avLst>
          </a:prstGeom>
          <a:solidFill>
            <a:srgbClr val="0F6CBD"/>
          </a:solidFill>
          <a:ln/>
        </p:spPr>
      </p:sp>
      <p:sp>
        <p:nvSpPr>
          <p:cNvPr id="5" name="Text 2"/>
          <p:cNvSpPr/>
          <p:nvPr/>
        </p:nvSpPr>
        <p:spPr>
          <a:xfrm>
            <a:off x="502920" y="960120"/>
            <a:ext cx="4480560" cy="512064"/>
          </a:xfrm>
          <a:prstGeom prst="rect">
            <a:avLst/>
          </a:prstGeom>
          <a:noFill/>
          <a:ln/>
        </p:spPr>
        <p:txBody>
          <a:bodyPr wrap="square" rtlCol="0" anchor="ctr"/>
          <a:lstStyle/>
          <a:p>
            <a:pPr marL="0" indent="0" algn="ctr">
              <a:buNone/>
            </a:pPr>
            <a:r>
              <a:rPr lang="en-US" sz="1800" b="1" kern="0" spc="100" dirty="0">
                <a:solidFill>
                  <a:srgbClr val="FFFFFF"/>
                </a:solidFill>
                <a:latin typeface="Aptos" pitchFamily="34" charset="0"/>
                <a:ea typeface="Aptos" pitchFamily="34" charset="-122"/>
                <a:cs typeface="Aptos" pitchFamily="34" charset="-120"/>
              </a:rPr>
              <a:t>ITSS LEARN · BUILT FOR ERUDITIO</a:t>
            </a:r>
            <a:endParaRPr lang="en-US" sz="1800" dirty="0"/>
          </a:p>
        </p:txBody>
      </p:sp>
      <p:sp>
        <p:nvSpPr>
          <p:cNvPr id="6" name="Text 3"/>
          <p:cNvSpPr/>
          <p:nvPr/>
        </p:nvSpPr>
        <p:spPr>
          <a:xfrm>
            <a:off x="502920" y="1645920"/>
            <a:ext cx="10241280" cy="1691640"/>
          </a:xfrm>
          <a:prstGeom prst="rect">
            <a:avLst/>
          </a:prstGeom>
          <a:noFill/>
          <a:ln/>
        </p:spPr>
        <p:txBody>
          <a:bodyPr wrap="square" rtlCol="0" anchor="ctr"/>
          <a:lstStyle/>
          <a:p>
            <a:pPr marL="0" indent="0">
              <a:buNone/>
            </a:pPr>
            <a:r>
              <a:rPr lang="en-US" sz="4000" b="1" dirty="0">
                <a:solidFill>
                  <a:srgbClr val="002050"/>
                </a:solidFill>
                <a:latin typeface="Aptos Display" pitchFamily="34" charset="0"/>
                <a:ea typeface="Aptos Display" pitchFamily="34" charset="-122"/>
                <a:cs typeface="Aptos Display" pitchFamily="34" charset="-120"/>
              </a:rPr>
              <a:t>Give Eruditio one operating system for every learnership.</a:t>
            </a:r>
            <a:endParaRPr lang="en-US" sz="4000" dirty="0"/>
          </a:p>
        </p:txBody>
      </p:sp>
      <p:sp>
        <p:nvSpPr>
          <p:cNvPr id="7" name="Text 4"/>
          <p:cNvSpPr/>
          <p:nvPr/>
        </p:nvSpPr>
        <p:spPr>
          <a:xfrm>
            <a:off x="502920" y="3383280"/>
            <a:ext cx="9326880" cy="777240"/>
          </a:xfrm>
          <a:prstGeom prst="rect">
            <a:avLst/>
          </a:prstGeom>
          <a:noFill/>
          <a:ln/>
        </p:spPr>
        <p:txBody>
          <a:bodyPr wrap="square" rtlCol="0" anchor="ctr"/>
          <a:lstStyle/>
          <a:p>
            <a:pPr marL="0" indent="0">
              <a:lnSpc>
                <a:spcPct val="112000"/>
              </a:lnSpc>
              <a:buNone/>
            </a:pPr>
            <a:r>
              <a:rPr lang="en-US" sz="2000" dirty="0">
                <a:solidFill>
                  <a:srgbClr val="6B7280"/>
                </a:solidFill>
                <a:latin typeface="Aptos" pitchFamily="34" charset="0"/>
                <a:ea typeface="Aptos" pitchFamily="34" charset="-122"/>
                <a:cs typeface="Aptos" pitchFamily="34" charset="-120"/>
              </a:rPr>
              <a:t>Teach, mark, track, communicate, report and audit in one place — so Eruditio can scale delivery without scaling paperwork.</a:t>
            </a:r>
            <a:endParaRPr lang="en-US" sz="2000" dirty="0"/>
          </a:p>
        </p:txBody>
      </p:sp>
      <p:pic>
        <p:nvPicPr>
          <p:cNvPr id="8"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241280" y="1051560"/>
            <a:ext cx="1554480" cy="1554480"/>
          </a:xfrm>
          <a:prstGeom prst="rect">
            <a:avLst/>
          </a:prstGeom>
        </p:spPr>
      </p:pic>
      <p:sp>
        <p:nvSpPr>
          <p:cNvPr id="9" name="Shape 5"/>
          <p:cNvSpPr/>
          <p:nvPr/>
        </p:nvSpPr>
        <p:spPr>
          <a:xfrm>
            <a:off x="502920" y="4315968"/>
            <a:ext cx="11183112" cy="0"/>
          </a:xfrm>
          <a:prstGeom prst="line">
            <a:avLst/>
          </a:prstGeom>
          <a:noFill/>
          <a:ln w="12700">
            <a:solidFill>
              <a:srgbClr val="D5E3F2"/>
            </a:solidFill>
            <a:prstDash val="solid"/>
          </a:ln>
        </p:spPr>
      </p:sp>
      <p:sp>
        <p:nvSpPr>
          <p:cNvPr id="10" name="Text 6"/>
          <p:cNvSpPr/>
          <p:nvPr/>
        </p:nvSpPr>
        <p:spPr>
          <a:xfrm>
            <a:off x="502920" y="4526280"/>
            <a:ext cx="2612898" cy="310896"/>
          </a:xfrm>
          <a:prstGeom prst="rect">
            <a:avLst/>
          </a:prstGeom>
          <a:noFill/>
          <a:ln/>
        </p:spPr>
        <p:txBody>
          <a:bodyPr wrap="square" rtlCol="0" anchor="ctr"/>
          <a:lstStyle/>
          <a:p>
            <a:pPr marL="0" indent="0">
              <a:buNone/>
            </a:pPr>
            <a:r>
              <a:rPr lang="en-US" sz="1800" b="1" kern="0" spc="100" dirty="0">
                <a:solidFill>
                  <a:srgbClr val="0F6CBD"/>
                </a:solidFill>
                <a:latin typeface="Aptos" pitchFamily="34" charset="0"/>
                <a:ea typeface="Aptos" pitchFamily="34" charset="-122"/>
                <a:cs typeface="Aptos" pitchFamily="34" charset="-120"/>
              </a:rPr>
              <a:t>BUILT FOR</a:t>
            </a:r>
            <a:endParaRPr lang="en-US" sz="1800" dirty="0"/>
          </a:p>
        </p:txBody>
      </p:sp>
      <p:sp>
        <p:nvSpPr>
          <p:cNvPr id="11" name="Text 7"/>
          <p:cNvSpPr/>
          <p:nvPr/>
        </p:nvSpPr>
        <p:spPr>
          <a:xfrm>
            <a:off x="502920" y="4846320"/>
            <a:ext cx="2612898" cy="868680"/>
          </a:xfrm>
          <a:prstGeom prst="rect">
            <a:avLst/>
          </a:prstGeom>
          <a:noFill/>
          <a:ln/>
        </p:spPr>
        <p:txBody>
          <a:bodyPr wrap="square" rtlCol="0" anchor="ctr"/>
          <a:lstStyle/>
          <a:p>
            <a:pPr marL="0" indent="0">
              <a:lnSpc>
                <a:spcPct val="112000"/>
              </a:lnSpc>
              <a:buNone/>
            </a:pPr>
            <a:r>
              <a:rPr lang="en-US" sz="1800" dirty="0">
                <a:solidFill>
                  <a:srgbClr val="002050"/>
                </a:solidFill>
                <a:latin typeface="Aptos" pitchFamily="34" charset="0"/>
                <a:ea typeface="Aptos" pitchFamily="34" charset="-122"/>
                <a:cs typeface="Aptos" pitchFamily="34" charset="-120"/>
              </a:rPr>
              <a:t>NC: IT Systems Support</a:t>
            </a:r>
            <a:endParaRPr lang="en-US" sz="1800" dirty="0"/>
          </a:p>
          <a:p>
            <a:pPr marL="0" indent="0">
              <a:lnSpc>
                <a:spcPct val="112000"/>
              </a:lnSpc>
              <a:buNone/>
            </a:pPr>
            <a:r>
              <a:rPr lang="en-US" sz="1800" dirty="0">
                <a:solidFill>
                  <a:srgbClr val="002050"/>
                </a:solidFill>
                <a:latin typeface="Aptos" pitchFamily="34" charset="0"/>
                <a:ea typeface="Aptos" pitchFamily="34" charset="-122"/>
                <a:cs typeface="Aptos" pitchFamily="34" charset="-120"/>
              </a:rPr>
              <a:t>SAQA 48573 · NQF 5</a:t>
            </a:r>
            <a:endParaRPr lang="en-US" sz="1800" dirty="0"/>
          </a:p>
        </p:txBody>
      </p:sp>
      <p:sp>
        <p:nvSpPr>
          <p:cNvPr id="12" name="Text 8"/>
          <p:cNvSpPr/>
          <p:nvPr/>
        </p:nvSpPr>
        <p:spPr>
          <a:xfrm>
            <a:off x="3298698" y="4526280"/>
            <a:ext cx="2612898" cy="310896"/>
          </a:xfrm>
          <a:prstGeom prst="rect">
            <a:avLst/>
          </a:prstGeom>
          <a:noFill/>
          <a:ln/>
        </p:spPr>
        <p:txBody>
          <a:bodyPr wrap="square" rtlCol="0" anchor="ctr"/>
          <a:lstStyle/>
          <a:p>
            <a:pPr marL="0" indent="0">
              <a:buNone/>
            </a:pPr>
            <a:r>
              <a:rPr lang="en-US" sz="1800" b="1" kern="0" spc="100" dirty="0">
                <a:solidFill>
                  <a:srgbClr val="0F6CBD"/>
                </a:solidFill>
                <a:latin typeface="Aptos" pitchFamily="34" charset="0"/>
                <a:ea typeface="Aptos" pitchFamily="34" charset="-122"/>
                <a:cs typeface="Aptos" pitchFamily="34" charset="-120"/>
              </a:rPr>
              <a:t>QUALITY ASSURED</a:t>
            </a:r>
            <a:endParaRPr lang="en-US" sz="1800" dirty="0"/>
          </a:p>
        </p:txBody>
      </p:sp>
      <p:sp>
        <p:nvSpPr>
          <p:cNvPr id="13" name="Text 9"/>
          <p:cNvSpPr/>
          <p:nvPr/>
        </p:nvSpPr>
        <p:spPr>
          <a:xfrm>
            <a:off x="3298698" y="4846320"/>
            <a:ext cx="2612898" cy="868680"/>
          </a:xfrm>
          <a:prstGeom prst="rect">
            <a:avLst/>
          </a:prstGeom>
          <a:noFill/>
          <a:ln/>
        </p:spPr>
        <p:txBody>
          <a:bodyPr wrap="square" rtlCol="0" anchor="ctr"/>
          <a:lstStyle/>
          <a:p>
            <a:pPr marL="0" indent="0">
              <a:lnSpc>
                <a:spcPct val="112000"/>
              </a:lnSpc>
              <a:buNone/>
            </a:pPr>
            <a:r>
              <a:rPr lang="en-US" sz="1800" dirty="0">
                <a:solidFill>
                  <a:srgbClr val="002050"/>
                </a:solidFill>
                <a:latin typeface="Aptos" pitchFamily="34" charset="0"/>
                <a:ea typeface="Aptos" pitchFamily="34" charset="-122"/>
                <a:cs typeface="Aptos" pitchFamily="34" charset="-120"/>
              </a:rPr>
              <a:t>QCTO / MICT SETA</a:t>
            </a:r>
            <a:endParaRPr lang="en-US" sz="1800" dirty="0"/>
          </a:p>
          <a:p>
            <a:pPr marL="0" indent="0">
              <a:lnSpc>
                <a:spcPct val="112000"/>
              </a:lnSpc>
              <a:buNone/>
            </a:pPr>
            <a:r>
              <a:rPr lang="en-US" sz="1800" dirty="0">
                <a:solidFill>
                  <a:srgbClr val="002050"/>
                </a:solidFill>
                <a:latin typeface="Aptos" pitchFamily="34" charset="0"/>
                <a:ea typeface="Aptos" pitchFamily="34" charset="-122"/>
                <a:cs typeface="Aptos" pitchFamily="34" charset="-120"/>
              </a:rPr>
              <a:t>audit-ready evidence</a:t>
            </a:r>
            <a:endParaRPr lang="en-US" sz="1800" dirty="0"/>
          </a:p>
        </p:txBody>
      </p:sp>
      <p:sp>
        <p:nvSpPr>
          <p:cNvPr id="14" name="Text 10"/>
          <p:cNvSpPr/>
          <p:nvPr/>
        </p:nvSpPr>
        <p:spPr>
          <a:xfrm>
            <a:off x="6094476" y="4526280"/>
            <a:ext cx="2612898" cy="310896"/>
          </a:xfrm>
          <a:prstGeom prst="rect">
            <a:avLst/>
          </a:prstGeom>
          <a:noFill/>
          <a:ln/>
        </p:spPr>
        <p:txBody>
          <a:bodyPr wrap="square" rtlCol="0" anchor="ctr"/>
          <a:lstStyle/>
          <a:p>
            <a:pPr marL="0" indent="0">
              <a:buNone/>
            </a:pPr>
            <a:r>
              <a:rPr lang="en-US" sz="1800" b="1" kern="0" spc="100" dirty="0">
                <a:solidFill>
                  <a:srgbClr val="0F6CBD"/>
                </a:solidFill>
                <a:latin typeface="Aptos" pitchFamily="34" charset="0"/>
                <a:ea typeface="Aptos" pitchFamily="34" charset="-122"/>
                <a:cs typeface="Aptos" pitchFamily="34" charset="-120"/>
              </a:rPr>
              <a:t>RUNS ON</a:t>
            </a:r>
            <a:endParaRPr lang="en-US" sz="1800" dirty="0"/>
          </a:p>
        </p:txBody>
      </p:sp>
      <p:sp>
        <p:nvSpPr>
          <p:cNvPr id="15" name="Text 11"/>
          <p:cNvSpPr/>
          <p:nvPr/>
        </p:nvSpPr>
        <p:spPr>
          <a:xfrm>
            <a:off x="6094476" y="4846320"/>
            <a:ext cx="2612898" cy="868680"/>
          </a:xfrm>
          <a:prstGeom prst="rect">
            <a:avLst/>
          </a:prstGeom>
          <a:noFill/>
          <a:ln/>
        </p:spPr>
        <p:txBody>
          <a:bodyPr wrap="square" rtlCol="0" anchor="ctr"/>
          <a:lstStyle/>
          <a:p>
            <a:pPr marL="0" indent="0">
              <a:lnSpc>
                <a:spcPct val="112000"/>
              </a:lnSpc>
              <a:buNone/>
            </a:pPr>
            <a:r>
              <a:rPr lang="en-US" sz="1800" dirty="0">
                <a:solidFill>
                  <a:srgbClr val="002050"/>
                </a:solidFill>
                <a:latin typeface="Aptos" pitchFamily="34" charset="0"/>
                <a:ea typeface="Aptos" pitchFamily="34" charset="-122"/>
                <a:cs typeface="Aptos" pitchFamily="34" charset="-120"/>
              </a:rPr>
              <a:t>Any device — installable,</a:t>
            </a:r>
            <a:endParaRPr lang="en-US" sz="1800" dirty="0"/>
          </a:p>
          <a:p>
            <a:pPr marL="0" indent="0">
              <a:lnSpc>
                <a:spcPct val="112000"/>
              </a:lnSpc>
              <a:buNone/>
            </a:pPr>
            <a:r>
              <a:rPr lang="en-US" sz="1800" dirty="0">
                <a:solidFill>
                  <a:srgbClr val="002050"/>
                </a:solidFill>
                <a:latin typeface="Aptos" pitchFamily="34" charset="0"/>
                <a:ea typeface="Aptos" pitchFamily="34" charset="-122"/>
                <a:cs typeface="Aptos" pitchFamily="34" charset="-120"/>
              </a:rPr>
              <a:t>works offline</a:t>
            </a:r>
            <a:endParaRPr lang="en-US" sz="1800" dirty="0"/>
          </a:p>
        </p:txBody>
      </p:sp>
      <p:sp>
        <p:nvSpPr>
          <p:cNvPr id="16" name="Text 12"/>
          <p:cNvSpPr/>
          <p:nvPr/>
        </p:nvSpPr>
        <p:spPr>
          <a:xfrm>
            <a:off x="8890254" y="4526280"/>
            <a:ext cx="2612898" cy="310896"/>
          </a:xfrm>
          <a:prstGeom prst="rect">
            <a:avLst/>
          </a:prstGeom>
          <a:noFill/>
          <a:ln/>
        </p:spPr>
        <p:txBody>
          <a:bodyPr wrap="square" rtlCol="0" anchor="ctr"/>
          <a:lstStyle/>
          <a:p>
            <a:pPr marL="0" indent="0">
              <a:buNone/>
            </a:pPr>
            <a:r>
              <a:rPr lang="en-US" sz="1800" b="1" kern="0" spc="100" dirty="0">
                <a:solidFill>
                  <a:srgbClr val="0F6CBD"/>
                </a:solidFill>
                <a:latin typeface="Aptos" pitchFamily="34" charset="0"/>
                <a:ea typeface="Aptos" pitchFamily="34" charset="-122"/>
                <a:cs typeface="Aptos" pitchFamily="34" charset="-120"/>
              </a:rPr>
              <a:t>WHO USES IT</a:t>
            </a:r>
            <a:endParaRPr lang="en-US" sz="1800" dirty="0"/>
          </a:p>
        </p:txBody>
      </p:sp>
      <p:sp>
        <p:nvSpPr>
          <p:cNvPr id="17" name="Text 13"/>
          <p:cNvSpPr/>
          <p:nvPr/>
        </p:nvSpPr>
        <p:spPr>
          <a:xfrm>
            <a:off x="8890254" y="4846320"/>
            <a:ext cx="2612898" cy="868680"/>
          </a:xfrm>
          <a:prstGeom prst="rect">
            <a:avLst/>
          </a:prstGeom>
          <a:noFill/>
          <a:ln/>
        </p:spPr>
        <p:txBody>
          <a:bodyPr wrap="square" rtlCol="0" anchor="ctr"/>
          <a:lstStyle/>
          <a:p>
            <a:pPr marL="0" indent="0">
              <a:lnSpc>
                <a:spcPct val="112000"/>
              </a:lnSpc>
              <a:buNone/>
            </a:pPr>
            <a:r>
              <a:rPr lang="en-US" sz="1800" dirty="0">
                <a:solidFill>
                  <a:srgbClr val="002050"/>
                </a:solidFill>
                <a:latin typeface="Aptos" pitchFamily="34" charset="0"/>
                <a:ea typeface="Aptos" pitchFamily="34" charset="-122"/>
                <a:cs typeface="Aptos" pitchFamily="34" charset="-120"/>
              </a:rPr>
              <a:t>Learners + 4 staff roles,</a:t>
            </a:r>
            <a:endParaRPr lang="en-US" sz="1800" dirty="0"/>
          </a:p>
          <a:p>
            <a:pPr marL="0" indent="0">
              <a:lnSpc>
                <a:spcPct val="112000"/>
              </a:lnSpc>
              <a:buNone/>
            </a:pPr>
            <a:r>
              <a:rPr lang="en-US" sz="1800" dirty="0">
                <a:solidFill>
                  <a:srgbClr val="002050"/>
                </a:solidFill>
                <a:latin typeface="Aptos" pitchFamily="34" charset="0"/>
                <a:ea typeface="Aptos" pitchFamily="34" charset="-122"/>
                <a:cs typeface="Aptos" pitchFamily="34" charset="-120"/>
              </a:rPr>
              <a:t>up to Super User</a:t>
            </a:r>
            <a:endParaRPr lang="en-US" sz="1800" dirty="0"/>
          </a:p>
        </p:txBody>
      </p:sp>
      <p:sp>
        <p:nvSpPr>
          <p:cNvPr id="18" name="Text 14"/>
          <p:cNvSpPr/>
          <p:nvPr/>
        </p:nvSpPr>
        <p:spPr>
          <a:xfrm>
            <a:off x="502920" y="6291072"/>
            <a:ext cx="11183112" cy="365760"/>
          </a:xfrm>
          <a:prstGeom prst="rect">
            <a:avLst/>
          </a:prstGeom>
          <a:noFill/>
          <a:ln/>
        </p:spPr>
        <p:txBody>
          <a:bodyPr wrap="square" rtlCol="0" anchor="ctr"/>
          <a:lstStyle/>
          <a:p>
            <a:pPr marL="0" indent="0">
              <a:buNone/>
            </a:pPr>
            <a:r>
              <a:rPr lang="en-US" sz="1800" dirty="0">
                <a:solidFill>
                  <a:srgbClr val="6B7280"/>
                </a:solidFill>
                <a:latin typeface="Aptos" pitchFamily="34" charset="0"/>
                <a:ea typeface="Aptos" pitchFamily="34" charset="-122"/>
                <a:cs typeface="Aptos" pitchFamily="34" charset="-120"/>
              </a:rPr>
              <a:t>Eruditio × ITSS Learn · Problem-to-outcome proposal</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045952" y="6437376"/>
            <a:ext cx="640080" cy="320040"/>
          </a:xfrm>
          <a:prstGeom prst="rect">
            <a:avLst/>
          </a:prstGeom>
          <a:noFill/>
          <a:ln/>
        </p:spPr>
        <p:txBody>
          <a:bodyPr wrap="square" rtlCol="0" anchor="ctr"/>
          <a:lstStyle/>
          <a:p>
            <a:pPr marL="0" indent="0" algn="r">
              <a:buNone/>
            </a:pPr>
            <a:r>
              <a:rPr lang="en-US" sz="1800" dirty="0">
                <a:solidFill>
                  <a:srgbClr val="6B7280"/>
                </a:solidFill>
                <a:latin typeface="Aptos" pitchFamily="34" charset="0"/>
                <a:ea typeface="Aptos" pitchFamily="34" charset="-122"/>
                <a:cs typeface="Aptos" pitchFamily="34" charset="-120"/>
              </a:rPr>
              <a:t>3</a:t>
            </a:r>
            <a:endParaRPr lang="en-US" sz="1800" dirty="0"/>
          </a:p>
        </p:txBody>
      </p:sp>
      <p:sp>
        <p:nvSpPr>
          <p:cNvPr id="3" name="Shape 1"/>
          <p:cNvSpPr/>
          <p:nvPr/>
        </p:nvSpPr>
        <p:spPr>
          <a:xfrm>
            <a:off x="0" y="0"/>
            <a:ext cx="12188952" cy="82296"/>
          </a:xfrm>
          <a:prstGeom prst="rect">
            <a:avLst/>
          </a:prstGeom>
          <a:solidFill>
            <a:srgbClr val="0F6CBD"/>
          </a:solidFill>
          <a:ln/>
        </p:spPr>
      </p:sp>
      <p:sp>
        <p:nvSpPr>
          <p:cNvPr id="5" name="Text 2"/>
          <p:cNvSpPr/>
          <p:nvPr/>
        </p:nvSpPr>
        <p:spPr>
          <a:xfrm>
            <a:off x="502920" y="237744"/>
            <a:ext cx="11183112" cy="347472"/>
          </a:xfrm>
          <a:prstGeom prst="rect">
            <a:avLst/>
          </a:prstGeom>
          <a:noFill/>
          <a:ln/>
        </p:spPr>
        <p:txBody>
          <a:bodyPr wrap="square" rtlCol="0" anchor="ctr"/>
          <a:lstStyle/>
          <a:p>
            <a:pPr marL="0" indent="0">
              <a:buNone/>
            </a:pPr>
            <a:r>
              <a:rPr lang="en-US" b="1" kern="0" spc="200" dirty="0">
                <a:solidFill>
                  <a:srgbClr val="0F6CBD"/>
                </a:solidFill>
                <a:latin typeface="Aptos" pitchFamily="34" charset="0"/>
              </a:rPr>
              <a:t>What the platform offers</a:t>
            </a:r>
            <a:endParaRPr lang="en-US" sz="1800" dirty="0"/>
          </a:p>
        </p:txBody>
      </p:sp>
      <p:sp>
        <p:nvSpPr>
          <p:cNvPr id="6" name="Text 3"/>
          <p:cNvSpPr/>
          <p:nvPr/>
        </p:nvSpPr>
        <p:spPr>
          <a:xfrm>
            <a:off x="502920" y="585216"/>
            <a:ext cx="11183112" cy="731520"/>
          </a:xfrm>
          <a:prstGeom prst="rect">
            <a:avLst/>
          </a:prstGeom>
          <a:noFill/>
          <a:ln/>
        </p:spPr>
        <p:txBody>
          <a:bodyPr wrap="square" rtlCol="0" anchor="ctr"/>
          <a:lstStyle/>
          <a:p>
            <a:pPr marL="0" indent="0">
              <a:buNone/>
            </a:pPr>
            <a:r>
              <a:rPr lang="en-US" sz="3000" b="1" dirty="0">
                <a:solidFill>
                  <a:srgbClr val="002050"/>
                </a:solidFill>
                <a:latin typeface="Aptos Display" pitchFamily="34" charset="0"/>
                <a:ea typeface="Aptos Display" pitchFamily="34" charset="-122"/>
                <a:cs typeface="Aptos Display" pitchFamily="34" charset="-120"/>
              </a:rPr>
              <a:t>One platform, five jobs</a:t>
            </a:r>
            <a:endParaRPr lang="en-US" sz="3000" dirty="0"/>
          </a:p>
        </p:txBody>
      </p:sp>
      <p:sp>
        <p:nvSpPr>
          <p:cNvPr id="7" name="Text 4"/>
          <p:cNvSpPr/>
          <p:nvPr/>
        </p:nvSpPr>
        <p:spPr>
          <a:xfrm>
            <a:off x="502920" y="1316736"/>
            <a:ext cx="11183112" cy="566928"/>
          </a:xfrm>
          <a:prstGeom prst="rect">
            <a:avLst/>
          </a:prstGeom>
          <a:noFill/>
          <a:ln/>
        </p:spPr>
        <p:txBody>
          <a:bodyPr wrap="square" rtlCol="0" anchor="t"/>
          <a:lstStyle/>
          <a:p>
            <a:pPr marL="0" indent="0">
              <a:lnSpc>
                <a:spcPct val="110000"/>
              </a:lnSpc>
              <a:buNone/>
            </a:pPr>
            <a:r>
              <a:rPr lang="en-US" sz="1800" dirty="0">
                <a:solidFill>
                  <a:srgbClr val="6B7280"/>
                </a:solidFill>
                <a:latin typeface="Aptos" pitchFamily="34" charset="0"/>
                <a:ea typeface="Aptos" pitchFamily="34" charset="-122"/>
                <a:cs typeface="Aptos" pitchFamily="34" charset="-120"/>
              </a:rPr>
              <a:t>ITSS Learn gives Eruditio one source of truth — work done once is captured everywhere.</a:t>
            </a:r>
            <a:endParaRPr lang="en-US" sz="1800" dirty="0"/>
          </a:p>
        </p:txBody>
      </p:sp>
      <p:sp>
        <p:nvSpPr>
          <p:cNvPr id="8" name="Shape 5"/>
          <p:cNvSpPr/>
          <p:nvPr/>
        </p:nvSpPr>
        <p:spPr>
          <a:xfrm>
            <a:off x="502920" y="1938528"/>
            <a:ext cx="11183112" cy="621792"/>
          </a:xfrm>
          <a:prstGeom prst="roundRect">
            <a:avLst>
              <a:gd name="adj" fmla="val 13235"/>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9"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85800" y="2084832"/>
            <a:ext cx="329184" cy="329184"/>
          </a:xfrm>
          <a:prstGeom prst="rect">
            <a:avLst/>
          </a:prstGeom>
        </p:spPr>
      </p:pic>
      <p:sp>
        <p:nvSpPr>
          <p:cNvPr id="10" name="Text 6"/>
          <p:cNvSpPr/>
          <p:nvPr/>
        </p:nvSpPr>
        <p:spPr>
          <a:xfrm>
            <a:off x="1161288" y="1938528"/>
            <a:ext cx="2423160" cy="621792"/>
          </a:xfrm>
          <a:prstGeom prst="rect">
            <a:avLst/>
          </a:prstGeom>
          <a:noFill/>
          <a:ln/>
        </p:spPr>
        <p:txBody>
          <a:bodyPr wrap="square" rtlCol="0" anchor="ctr"/>
          <a:lstStyle/>
          <a:p>
            <a:pPr marL="0" indent="0">
              <a:buNone/>
            </a:pPr>
            <a:r>
              <a:rPr lang="en-US" sz="2000" b="1" dirty="0">
                <a:solidFill>
                  <a:srgbClr val="002050"/>
                </a:solidFill>
                <a:latin typeface="Aptos Display" pitchFamily="34" charset="0"/>
                <a:ea typeface="Aptos Display" pitchFamily="34" charset="-122"/>
                <a:cs typeface="Aptos Display" pitchFamily="34" charset="-120"/>
              </a:rPr>
              <a:t>Teach</a:t>
            </a:r>
            <a:endParaRPr lang="en-US" sz="2000" dirty="0"/>
          </a:p>
        </p:txBody>
      </p:sp>
      <p:sp>
        <p:nvSpPr>
          <p:cNvPr id="11" name="Text 7"/>
          <p:cNvSpPr/>
          <p:nvPr/>
        </p:nvSpPr>
        <p:spPr>
          <a:xfrm>
            <a:off x="3657600" y="1938528"/>
            <a:ext cx="7799832" cy="621792"/>
          </a:xfrm>
          <a:prstGeom prst="rect">
            <a:avLst/>
          </a:prstGeom>
          <a:noFill/>
          <a:ln/>
        </p:spPr>
        <p:txBody>
          <a:bodyPr wrap="square" rtlCol="0" anchor="ctr"/>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The full curriculum as interactive lessons, plus live presenter mode.</a:t>
            </a:r>
            <a:endParaRPr lang="en-US" sz="1800" dirty="0"/>
          </a:p>
        </p:txBody>
      </p:sp>
      <p:sp>
        <p:nvSpPr>
          <p:cNvPr id="12" name="Shape 8"/>
          <p:cNvSpPr/>
          <p:nvPr/>
        </p:nvSpPr>
        <p:spPr>
          <a:xfrm>
            <a:off x="502920" y="2688336"/>
            <a:ext cx="11183112" cy="621792"/>
          </a:xfrm>
          <a:prstGeom prst="roundRect">
            <a:avLst>
              <a:gd name="adj" fmla="val 13235"/>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13"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85800" y="2834640"/>
            <a:ext cx="329184" cy="329184"/>
          </a:xfrm>
          <a:prstGeom prst="rect">
            <a:avLst/>
          </a:prstGeom>
        </p:spPr>
      </p:pic>
      <p:sp>
        <p:nvSpPr>
          <p:cNvPr id="14" name="Text 9"/>
          <p:cNvSpPr/>
          <p:nvPr/>
        </p:nvSpPr>
        <p:spPr>
          <a:xfrm>
            <a:off x="1161288" y="2688336"/>
            <a:ext cx="2423160" cy="621792"/>
          </a:xfrm>
          <a:prstGeom prst="rect">
            <a:avLst/>
          </a:prstGeom>
          <a:noFill/>
          <a:ln/>
        </p:spPr>
        <p:txBody>
          <a:bodyPr wrap="square" rtlCol="0" anchor="ctr"/>
          <a:lstStyle/>
          <a:p>
            <a:pPr marL="0" indent="0">
              <a:buNone/>
            </a:pPr>
            <a:r>
              <a:rPr lang="en-US" sz="2000" b="1" dirty="0">
                <a:solidFill>
                  <a:srgbClr val="002050"/>
                </a:solidFill>
                <a:latin typeface="Aptos Display" pitchFamily="34" charset="0"/>
                <a:ea typeface="Aptos Display" pitchFamily="34" charset="-122"/>
                <a:cs typeface="Aptos Display" pitchFamily="34" charset="-120"/>
              </a:rPr>
              <a:t>Assess</a:t>
            </a:r>
            <a:endParaRPr lang="en-US" sz="2000" dirty="0"/>
          </a:p>
        </p:txBody>
      </p:sp>
      <p:sp>
        <p:nvSpPr>
          <p:cNvPr id="15" name="Text 10"/>
          <p:cNvSpPr/>
          <p:nvPr/>
        </p:nvSpPr>
        <p:spPr>
          <a:xfrm>
            <a:off x="3657600" y="2688336"/>
            <a:ext cx="7799832" cy="621792"/>
          </a:xfrm>
          <a:prstGeom prst="rect">
            <a:avLst/>
          </a:prstGeom>
          <a:noFill/>
          <a:ln/>
        </p:spPr>
        <p:txBody>
          <a:bodyPr wrap="square" rtlCol="0" anchor="ctr"/>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Auto-marked quizzes and AI-marked written answers, explained.</a:t>
            </a:r>
            <a:endParaRPr lang="en-US" sz="1800" dirty="0"/>
          </a:p>
        </p:txBody>
      </p:sp>
      <p:sp>
        <p:nvSpPr>
          <p:cNvPr id="16" name="Shape 11"/>
          <p:cNvSpPr/>
          <p:nvPr/>
        </p:nvSpPr>
        <p:spPr>
          <a:xfrm>
            <a:off x="502920" y="3438144"/>
            <a:ext cx="11183112" cy="621792"/>
          </a:xfrm>
          <a:prstGeom prst="roundRect">
            <a:avLst>
              <a:gd name="adj" fmla="val 13235"/>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17"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85800" y="3584448"/>
            <a:ext cx="329184" cy="329184"/>
          </a:xfrm>
          <a:prstGeom prst="rect">
            <a:avLst/>
          </a:prstGeom>
        </p:spPr>
      </p:pic>
      <p:sp>
        <p:nvSpPr>
          <p:cNvPr id="18" name="Text 12"/>
          <p:cNvSpPr/>
          <p:nvPr/>
        </p:nvSpPr>
        <p:spPr>
          <a:xfrm>
            <a:off x="1161288" y="3438144"/>
            <a:ext cx="2423160" cy="621792"/>
          </a:xfrm>
          <a:prstGeom prst="rect">
            <a:avLst/>
          </a:prstGeom>
          <a:noFill/>
          <a:ln/>
        </p:spPr>
        <p:txBody>
          <a:bodyPr wrap="square" rtlCol="0" anchor="ctr"/>
          <a:lstStyle/>
          <a:p>
            <a:pPr marL="0" indent="0">
              <a:buNone/>
            </a:pPr>
            <a:r>
              <a:rPr lang="en-US" sz="2000" b="1" dirty="0">
                <a:solidFill>
                  <a:srgbClr val="002050"/>
                </a:solidFill>
                <a:latin typeface="Aptos Display" pitchFamily="34" charset="0"/>
                <a:ea typeface="Aptos Display" pitchFamily="34" charset="-122"/>
                <a:cs typeface="Aptos Display" pitchFamily="34" charset="-120"/>
              </a:rPr>
              <a:t>Track</a:t>
            </a:r>
            <a:endParaRPr lang="en-US" sz="2000" dirty="0"/>
          </a:p>
        </p:txBody>
      </p:sp>
      <p:sp>
        <p:nvSpPr>
          <p:cNvPr id="19" name="Text 13"/>
          <p:cNvSpPr/>
          <p:nvPr/>
        </p:nvSpPr>
        <p:spPr>
          <a:xfrm>
            <a:off x="3657600" y="3438144"/>
            <a:ext cx="7799832" cy="621792"/>
          </a:xfrm>
          <a:prstGeom prst="rect">
            <a:avLst/>
          </a:prstGeom>
          <a:noFill/>
          <a:ln/>
        </p:spPr>
        <p:txBody>
          <a:bodyPr wrap="square" rtlCol="0" anchor="ctr"/>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Progress and XP record themselves the moment work is done.</a:t>
            </a:r>
            <a:endParaRPr lang="en-US" sz="1800" dirty="0"/>
          </a:p>
        </p:txBody>
      </p:sp>
      <p:sp>
        <p:nvSpPr>
          <p:cNvPr id="20" name="Shape 14"/>
          <p:cNvSpPr/>
          <p:nvPr/>
        </p:nvSpPr>
        <p:spPr>
          <a:xfrm>
            <a:off x="502920" y="4187952"/>
            <a:ext cx="11183112" cy="621792"/>
          </a:xfrm>
          <a:prstGeom prst="roundRect">
            <a:avLst>
              <a:gd name="adj" fmla="val 13235"/>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21"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85800" y="4334256"/>
            <a:ext cx="329184" cy="329184"/>
          </a:xfrm>
          <a:prstGeom prst="rect">
            <a:avLst/>
          </a:prstGeom>
        </p:spPr>
      </p:pic>
      <p:sp>
        <p:nvSpPr>
          <p:cNvPr id="22" name="Text 15"/>
          <p:cNvSpPr/>
          <p:nvPr/>
        </p:nvSpPr>
        <p:spPr>
          <a:xfrm>
            <a:off x="1161288" y="4187952"/>
            <a:ext cx="2423160" cy="621792"/>
          </a:xfrm>
          <a:prstGeom prst="rect">
            <a:avLst/>
          </a:prstGeom>
          <a:noFill/>
          <a:ln/>
        </p:spPr>
        <p:txBody>
          <a:bodyPr wrap="square" rtlCol="0" anchor="ctr"/>
          <a:lstStyle/>
          <a:p>
            <a:pPr marL="0" indent="0">
              <a:buNone/>
            </a:pPr>
            <a:r>
              <a:rPr lang="en-US" sz="2000" b="1" dirty="0">
                <a:solidFill>
                  <a:srgbClr val="002050"/>
                </a:solidFill>
                <a:latin typeface="Aptos Display" pitchFamily="34" charset="0"/>
                <a:ea typeface="Aptos Display" pitchFamily="34" charset="-122"/>
                <a:cs typeface="Aptos Display" pitchFamily="34" charset="-120"/>
              </a:rPr>
              <a:t>Communicate</a:t>
            </a:r>
            <a:endParaRPr lang="en-US" sz="2000" dirty="0"/>
          </a:p>
        </p:txBody>
      </p:sp>
      <p:sp>
        <p:nvSpPr>
          <p:cNvPr id="23" name="Text 16"/>
          <p:cNvSpPr/>
          <p:nvPr/>
        </p:nvSpPr>
        <p:spPr>
          <a:xfrm>
            <a:off x="3657600" y="4187952"/>
            <a:ext cx="7799832" cy="621792"/>
          </a:xfrm>
          <a:prstGeom prst="rect">
            <a:avLst/>
          </a:prstGeom>
          <a:noFill/>
          <a:ln/>
        </p:spPr>
        <p:txBody>
          <a:bodyPr wrap="square" rtlCol="0" anchor="ctr"/>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Private chat, class Q&amp;A, announcements and broadcasts.</a:t>
            </a:r>
            <a:endParaRPr lang="en-US" sz="1800" dirty="0"/>
          </a:p>
        </p:txBody>
      </p:sp>
      <p:sp>
        <p:nvSpPr>
          <p:cNvPr id="24" name="Shape 17"/>
          <p:cNvSpPr/>
          <p:nvPr/>
        </p:nvSpPr>
        <p:spPr>
          <a:xfrm>
            <a:off x="502920" y="4937760"/>
            <a:ext cx="11183112" cy="621792"/>
          </a:xfrm>
          <a:prstGeom prst="roundRect">
            <a:avLst>
              <a:gd name="adj" fmla="val 13235"/>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25"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85800" y="5084064"/>
            <a:ext cx="329184" cy="329184"/>
          </a:xfrm>
          <a:prstGeom prst="rect">
            <a:avLst/>
          </a:prstGeom>
        </p:spPr>
      </p:pic>
      <p:sp>
        <p:nvSpPr>
          <p:cNvPr id="26" name="Text 18"/>
          <p:cNvSpPr/>
          <p:nvPr/>
        </p:nvSpPr>
        <p:spPr>
          <a:xfrm>
            <a:off x="1161288" y="4937760"/>
            <a:ext cx="2423160" cy="621792"/>
          </a:xfrm>
          <a:prstGeom prst="rect">
            <a:avLst/>
          </a:prstGeom>
          <a:noFill/>
          <a:ln/>
        </p:spPr>
        <p:txBody>
          <a:bodyPr wrap="square" rtlCol="0" anchor="ctr"/>
          <a:lstStyle/>
          <a:p>
            <a:pPr marL="0" indent="0">
              <a:buNone/>
            </a:pPr>
            <a:r>
              <a:rPr lang="en-US" sz="2000" b="1" dirty="0">
                <a:solidFill>
                  <a:srgbClr val="002050"/>
                </a:solidFill>
                <a:latin typeface="Aptos Display" pitchFamily="34" charset="0"/>
                <a:ea typeface="Aptos Display" pitchFamily="34" charset="-122"/>
                <a:cs typeface="Aptos Display" pitchFamily="34" charset="-120"/>
              </a:rPr>
              <a:t>Comply</a:t>
            </a:r>
            <a:endParaRPr lang="en-US" sz="2000" dirty="0"/>
          </a:p>
        </p:txBody>
      </p:sp>
      <p:sp>
        <p:nvSpPr>
          <p:cNvPr id="27" name="Text 19"/>
          <p:cNvSpPr/>
          <p:nvPr/>
        </p:nvSpPr>
        <p:spPr>
          <a:xfrm>
            <a:off x="3657600" y="4937760"/>
            <a:ext cx="7799832" cy="621792"/>
          </a:xfrm>
          <a:prstGeom prst="rect">
            <a:avLst/>
          </a:prstGeom>
          <a:noFill/>
          <a:ln/>
        </p:spPr>
        <p:txBody>
          <a:bodyPr wrap="square" rtlCol="0" anchor="ctr"/>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Registers, forms, portfolios and audit trail — print-ready.</a:t>
            </a:r>
            <a:endParaRPr lang="en-US" sz="1800" dirty="0"/>
          </a:p>
        </p:txBody>
      </p:sp>
      <p:sp>
        <p:nvSpPr>
          <p:cNvPr id="28" name="Shape 20"/>
          <p:cNvSpPr/>
          <p:nvPr/>
        </p:nvSpPr>
        <p:spPr>
          <a:xfrm>
            <a:off x="502920" y="5806440"/>
            <a:ext cx="11183112" cy="621792"/>
          </a:xfrm>
          <a:prstGeom prst="roundRect">
            <a:avLst>
              <a:gd name="adj" fmla="val 13235"/>
            </a:avLst>
          </a:prstGeom>
          <a:solidFill>
            <a:srgbClr val="EAF4FF"/>
          </a:solidFill>
          <a:ln w="12700">
            <a:solidFill>
              <a:srgbClr val="D5E3F2"/>
            </a:solidFill>
            <a:prstDash val="solid"/>
          </a:ln>
          <a:effectLst>
            <a:outerShdw blurRad="88900" dist="25400" dir="5400000" algn="bl" rotWithShape="0">
              <a:srgbClr val="9AB4CC">
                <a:alpha val="30000"/>
              </a:srgbClr>
            </a:outerShdw>
          </a:effectLst>
        </p:spPr>
      </p:sp>
      <p:pic>
        <p:nvPicPr>
          <p:cNvPr id="29" name="Image 5"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85800" y="5952744"/>
            <a:ext cx="329184" cy="329184"/>
          </a:xfrm>
          <a:prstGeom prst="rect">
            <a:avLst/>
          </a:prstGeom>
        </p:spPr>
      </p:pic>
      <p:sp>
        <p:nvSpPr>
          <p:cNvPr id="30" name="Text 21"/>
          <p:cNvSpPr/>
          <p:nvPr/>
        </p:nvSpPr>
        <p:spPr>
          <a:xfrm>
            <a:off x="1161288" y="5806440"/>
            <a:ext cx="10268712" cy="621792"/>
          </a:xfrm>
          <a:prstGeom prst="rect">
            <a:avLst/>
          </a:prstGeom>
          <a:noFill/>
          <a:ln/>
        </p:spPr>
        <p:txBody>
          <a:bodyPr wrap="square" rtlCol="0" anchor="ctr"/>
          <a:lstStyle/>
          <a:p>
            <a:pPr marL="0" indent="0">
              <a:buNone/>
            </a:pPr>
            <a:r>
              <a:rPr lang="en-US" sz="1800" b="1" dirty="0">
                <a:solidFill>
                  <a:srgbClr val="002050"/>
                </a:solidFill>
                <a:latin typeface="Aptos" pitchFamily="34" charset="0"/>
                <a:ea typeface="Aptos" pitchFamily="34" charset="-122"/>
                <a:cs typeface="Aptos" pitchFamily="34" charset="-120"/>
              </a:rPr>
              <a:t>Everything in one place — </a:t>
            </a:r>
            <a:r>
              <a:rPr lang="en-US" sz="1800" dirty="0">
                <a:solidFill>
                  <a:srgbClr val="6B7280"/>
                </a:solidFill>
                <a:latin typeface="Aptos" pitchFamily="34" charset="0"/>
                <a:ea typeface="Aptos" pitchFamily="34" charset="-122"/>
                <a:cs typeface="Aptos" pitchFamily="34" charset="-120"/>
              </a:rPr>
              <a:t>one quiz updates progress, analytics, leaderboard and compliance instantly.</a:t>
            </a:r>
            <a:endParaRPr lang="en-US" sz="1800" dirty="0"/>
          </a:p>
        </p:txBody>
      </p:sp>
      <p:pic>
        <p:nvPicPr>
          <p:cNvPr id="31" name="Picture 30">
            <a:extLst>
              <a:ext uri="{FF2B5EF4-FFF2-40B4-BE49-F238E27FC236}">
                <a16:creationId xmlns:a16="http://schemas.microsoft.com/office/drawing/2014/main" id="{17493055-D630-AF18-247B-5D7F331C06E0}"/>
              </a:ext>
            </a:extLst>
          </p:cNvPr>
          <p:cNvPicPr>
            <a:picLocks noChangeAspect="1"/>
          </p:cNvPicPr>
          <p:nvPr/>
        </p:nvPicPr>
        <p:blipFill>
          <a:blip r:embed="rId15"/>
          <a:srcRect t="7869"/>
          <a:stretch>
            <a:fillRect/>
          </a:stretch>
        </p:blipFill>
        <p:spPr>
          <a:xfrm>
            <a:off x="0" y="576072"/>
            <a:ext cx="12188825" cy="623871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045952" y="6437376"/>
            <a:ext cx="640080" cy="320040"/>
          </a:xfrm>
          <a:prstGeom prst="rect">
            <a:avLst/>
          </a:prstGeom>
          <a:noFill/>
          <a:ln/>
        </p:spPr>
        <p:txBody>
          <a:bodyPr wrap="square" rtlCol="0" anchor="ctr"/>
          <a:lstStyle/>
          <a:p>
            <a:pPr marL="0" indent="0" algn="r">
              <a:buNone/>
            </a:pPr>
            <a:r>
              <a:rPr lang="en-US" sz="1800" dirty="0">
                <a:solidFill>
                  <a:srgbClr val="6B7280"/>
                </a:solidFill>
                <a:latin typeface="Aptos" pitchFamily="34" charset="0"/>
                <a:ea typeface="Aptos" pitchFamily="34" charset="-122"/>
                <a:cs typeface="Aptos" pitchFamily="34" charset="-120"/>
              </a:rPr>
              <a:t>5</a:t>
            </a:r>
            <a:endParaRPr lang="en-US" sz="1800" dirty="0"/>
          </a:p>
        </p:txBody>
      </p:sp>
      <p:sp>
        <p:nvSpPr>
          <p:cNvPr id="3" name="Shape 1"/>
          <p:cNvSpPr/>
          <p:nvPr/>
        </p:nvSpPr>
        <p:spPr>
          <a:xfrm>
            <a:off x="0" y="0"/>
            <a:ext cx="12188952" cy="82296"/>
          </a:xfrm>
          <a:prstGeom prst="rect">
            <a:avLst/>
          </a:prstGeom>
          <a:solidFill>
            <a:srgbClr val="0F6CBD"/>
          </a:solidFill>
          <a:ln/>
        </p:spPr>
      </p:sp>
      <p:sp>
        <p:nvSpPr>
          <p:cNvPr id="5" name="Text 2"/>
          <p:cNvSpPr/>
          <p:nvPr/>
        </p:nvSpPr>
        <p:spPr>
          <a:xfrm>
            <a:off x="502920" y="237744"/>
            <a:ext cx="11183112" cy="347472"/>
          </a:xfrm>
          <a:prstGeom prst="rect">
            <a:avLst/>
          </a:prstGeom>
          <a:noFill/>
          <a:ln/>
        </p:spPr>
        <p:txBody>
          <a:bodyPr wrap="square" rtlCol="0" anchor="ctr"/>
          <a:lstStyle/>
          <a:p>
            <a:pPr marL="0" indent="0">
              <a:buNone/>
            </a:pPr>
            <a:r>
              <a:rPr lang="en-US" sz="1800" b="1" kern="0" spc="200" dirty="0">
                <a:solidFill>
                  <a:srgbClr val="0F6CBD"/>
                </a:solidFill>
                <a:latin typeface="Aptos" pitchFamily="34" charset="0"/>
                <a:ea typeface="Aptos" pitchFamily="34" charset="-122"/>
                <a:cs typeface="Aptos" pitchFamily="34" charset="-120"/>
              </a:rPr>
              <a:t>THE LEARNER EXPERIENCE</a:t>
            </a:r>
            <a:endParaRPr lang="en-US" sz="1800" dirty="0"/>
          </a:p>
        </p:txBody>
      </p:sp>
      <p:sp>
        <p:nvSpPr>
          <p:cNvPr id="6" name="Text 3"/>
          <p:cNvSpPr/>
          <p:nvPr/>
        </p:nvSpPr>
        <p:spPr>
          <a:xfrm>
            <a:off x="502920" y="585216"/>
            <a:ext cx="11183112" cy="731520"/>
          </a:xfrm>
          <a:prstGeom prst="rect">
            <a:avLst/>
          </a:prstGeom>
          <a:noFill/>
          <a:ln/>
        </p:spPr>
        <p:txBody>
          <a:bodyPr wrap="square" rtlCol="0" anchor="ctr"/>
          <a:lstStyle/>
          <a:p>
            <a:pPr marL="0" indent="0">
              <a:buNone/>
            </a:pPr>
            <a:r>
              <a:rPr lang="en-US" sz="3000" b="1" dirty="0">
                <a:solidFill>
                  <a:srgbClr val="002050"/>
                </a:solidFill>
                <a:latin typeface="Aptos Display" pitchFamily="34" charset="0"/>
                <a:ea typeface="Aptos Display" pitchFamily="34" charset="-122"/>
                <a:cs typeface="Aptos Display" pitchFamily="34" charset="-120"/>
              </a:rPr>
              <a:t>Learning that lives on their phone</a:t>
            </a:r>
            <a:endParaRPr lang="en-US" sz="3000" dirty="0"/>
          </a:p>
        </p:txBody>
      </p:sp>
      <p:sp>
        <p:nvSpPr>
          <p:cNvPr id="7" name="Text 4"/>
          <p:cNvSpPr/>
          <p:nvPr/>
        </p:nvSpPr>
        <p:spPr>
          <a:xfrm>
            <a:off x="502920" y="1316736"/>
            <a:ext cx="11183112" cy="566928"/>
          </a:xfrm>
          <a:prstGeom prst="rect">
            <a:avLst/>
          </a:prstGeom>
          <a:noFill/>
          <a:ln/>
        </p:spPr>
        <p:txBody>
          <a:bodyPr wrap="square" rtlCol="0" anchor="t"/>
          <a:lstStyle/>
          <a:p>
            <a:pPr marL="0" indent="0">
              <a:lnSpc>
                <a:spcPct val="110000"/>
              </a:lnSpc>
              <a:buNone/>
            </a:pPr>
            <a:r>
              <a:rPr lang="en-US" sz="1800" dirty="0">
                <a:solidFill>
                  <a:srgbClr val="6B7280"/>
                </a:solidFill>
                <a:latin typeface="Aptos" pitchFamily="34" charset="0"/>
                <a:ea typeface="Aptos" pitchFamily="34" charset="-122"/>
                <a:cs typeface="Aptos" pitchFamily="34" charset="-120"/>
              </a:rPr>
              <a:t>The full curriculum as interactive lessons — the same material the facilitator presents in class.</a:t>
            </a:r>
            <a:endParaRPr lang="en-US" sz="1800" dirty="0"/>
          </a:p>
        </p:txBody>
      </p:sp>
      <p:sp>
        <p:nvSpPr>
          <p:cNvPr id="8" name="Shape 5"/>
          <p:cNvSpPr/>
          <p:nvPr/>
        </p:nvSpPr>
        <p:spPr>
          <a:xfrm>
            <a:off x="502920" y="19385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9"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7512" y="2103120"/>
            <a:ext cx="329184" cy="329184"/>
          </a:xfrm>
          <a:prstGeom prst="rect">
            <a:avLst/>
          </a:prstGeom>
        </p:spPr>
      </p:pic>
      <p:sp>
        <p:nvSpPr>
          <p:cNvPr id="10" name="Text 6"/>
          <p:cNvSpPr/>
          <p:nvPr/>
        </p:nvSpPr>
        <p:spPr>
          <a:xfrm>
            <a:off x="1088136" y="20299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Interactive lessons</a:t>
            </a:r>
            <a:endParaRPr lang="en-US" sz="2000" dirty="0"/>
          </a:p>
        </p:txBody>
      </p:sp>
      <p:sp>
        <p:nvSpPr>
          <p:cNvPr id="11" name="Text 7"/>
          <p:cNvSpPr/>
          <p:nvPr/>
        </p:nvSpPr>
        <p:spPr>
          <a:xfrm>
            <a:off x="667512" y="26700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Slides with images, pop-up glossary and worked examples — built for phones.</a:t>
            </a:r>
            <a:endParaRPr lang="en-US" sz="1800" dirty="0"/>
          </a:p>
        </p:txBody>
      </p:sp>
      <p:sp>
        <p:nvSpPr>
          <p:cNvPr id="12" name="Shape 8"/>
          <p:cNvSpPr/>
          <p:nvPr/>
        </p:nvSpPr>
        <p:spPr>
          <a:xfrm>
            <a:off x="4291584" y="19385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13"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456176" y="2103120"/>
            <a:ext cx="329184" cy="329184"/>
          </a:xfrm>
          <a:prstGeom prst="rect">
            <a:avLst/>
          </a:prstGeom>
        </p:spPr>
      </p:pic>
      <p:sp>
        <p:nvSpPr>
          <p:cNvPr id="14" name="Text 9"/>
          <p:cNvSpPr/>
          <p:nvPr/>
        </p:nvSpPr>
        <p:spPr>
          <a:xfrm>
            <a:off x="4876800" y="20299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Knowledge gating</a:t>
            </a:r>
            <a:endParaRPr lang="en-US" sz="2000" dirty="0"/>
          </a:p>
        </p:txBody>
      </p:sp>
      <p:sp>
        <p:nvSpPr>
          <p:cNvPr id="15" name="Text 10"/>
          <p:cNvSpPr/>
          <p:nvPr/>
        </p:nvSpPr>
        <p:spPr>
          <a:xfrm>
            <a:off x="4456176" y="26700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The next slide unlocks only when checkpoint questions are answered.</a:t>
            </a:r>
            <a:endParaRPr lang="en-US" sz="1800" dirty="0"/>
          </a:p>
        </p:txBody>
      </p:sp>
      <p:sp>
        <p:nvSpPr>
          <p:cNvPr id="16" name="Shape 11"/>
          <p:cNvSpPr/>
          <p:nvPr/>
        </p:nvSpPr>
        <p:spPr>
          <a:xfrm>
            <a:off x="8080248" y="19385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17"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244840" y="2103120"/>
            <a:ext cx="329184" cy="329184"/>
          </a:xfrm>
          <a:prstGeom prst="rect">
            <a:avLst/>
          </a:prstGeom>
        </p:spPr>
      </p:pic>
      <p:sp>
        <p:nvSpPr>
          <p:cNvPr id="18" name="Text 12"/>
          <p:cNvSpPr/>
          <p:nvPr/>
        </p:nvSpPr>
        <p:spPr>
          <a:xfrm>
            <a:off x="8665464" y="20299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Presenter mode</a:t>
            </a:r>
            <a:endParaRPr lang="en-US" sz="2000" dirty="0"/>
          </a:p>
        </p:txBody>
      </p:sp>
      <p:sp>
        <p:nvSpPr>
          <p:cNvPr id="19" name="Text 13"/>
          <p:cNvSpPr/>
          <p:nvPr/>
        </p:nvSpPr>
        <p:spPr>
          <a:xfrm>
            <a:off x="8244840" y="26700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Full-screen slides with speaker notes — class and self-study match.</a:t>
            </a:r>
            <a:endParaRPr lang="en-US" sz="1800" dirty="0"/>
          </a:p>
        </p:txBody>
      </p:sp>
      <p:sp>
        <p:nvSpPr>
          <p:cNvPr id="20" name="Shape 14"/>
          <p:cNvSpPr/>
          <p:nvPr/>
        </p:nvSpPr>
        <p:spPr>
          <a:xfrm>
            <a:off x="502920" y="37673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21"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67512" y="3931920"/>
            <a:ext cx="329184" cy="329184"/>
          </a:xfrm>
          <a:prstGeom prst="rect">
            <a:avLst/>
          </a:prstGeom>
        </p:spPr>
      </p:pic>
      <p:sp>
        <p:nvSpPr>
          <p:cNvPr id="22" name="Text 15"/>
          <p:cNvSpPr/>
          <p:nvPr/>
        </p:nvSpPr>
        <p:spPr>
          <a:xfrm>
            <a:off x="1088136" y="38587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Notes &amp; logbook</a:t>
            </a:r>
            <a:endParaRPr lang="en-US" sz="2000" dirty="0"/>
          </a:p>
        </p:txBody>
      </p:sp>
      <p:sp>
        <p:nvSpPr>
          <p:cNvPr id="23" name="Text 16"/>
          <p:cNvSpPr/>
          <p:nvPr/>
        </p:nvSpPr>
        <p:spPr>
          <a:xfrm>
            <a:off x="667512" y="44988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Per-unit notes plus a workplace logbook that becomes POE evidence.</a:t>
            </a:r>
            <a:endParaRPr lang="en-US" sz="1800" dirty="0"/>
          </a:p>
        </p:txBody>
      </p:sp>
      <p:sp>
        <p:nvSpPr>
          <p:cNvPr id="24" name="Shape 17"/>
          <p:cNvSpPr/>
          <p:nvPr/>
        </p:nvSpPr>
        <p:spPr>
          <a:xfrm>
            <a:off x="4291584" y="37673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25"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456176" y="3931920"/>
            <a:ext cx="329184" cy="329184"/>
          </a:xfrm>
          <a:prstGeom prst="rect">
            <a:avLst/>
          </a:prstGeom>
        </p:spPr>
      </p:pic>
      <p:sp>
        <p:nvSpPr>
          <p:cNvPr id="26" name="Text 18"/>
          <p:cNvSpPr/>
          <p:nvPr/>
        </p:nvSpPr>
        <p:spPr>
          <a:xfrm>
            <a:off x="4876800" y="38587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Training calendar</a:t>
            </a:r>
            <a:endParaRPr lang="en-US" sz="2000" dirty="0"/>
          </a:p>
        </p:txBody>
      </p:sp>
      <p:sp>
        <p:nvSpPr>
          <p:cNvPr id="27" name="Text 19"/>
          <p:cNvSpPr/>
          <p:nvPr/>
        </p:nvSpPr>
        <p:spPr>
          <a:xfrm>
            <a:off x="4456176" y="44988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Every session preloaded; one tap adds it to Outlook or Teams.</a:t>
            </a:r>
            <a:endParaRPr lang="en-US" sz="1800" dirty="0"/>
          </a:p>
        </p:txBody>
      </p:sp>
      <p:sp>
        <p:nvSpPr>
          <p:cNvPr id="28" name="Shape 20"/>
          <p:cNvSpPr/>
          <p:nvPr/>
        </p:nvSpPr>
        <p:spPr>
          <a:xfrm>
            <a:off x="8080248" y="37673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29" name="Image 5"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244840" y="3931920"/>
            <a:ext cx="329184" cy="329184"/>
          </a:xfrm>
          <a:prstGeom prst="rect">
            <a:avLst/>
          </a:prstGeom>
        </p:spPr>
      </p:pic>
      <p:sp>
        <p:nvSpPr>
          <p:cNvPr id="30" name="Text 21"/>
          <p:cNvSpPr/>
          <p:nvPr/>
        </p:nvSpPr>
        <p:spPr>
          <a:xfrm>
            <a:off x="8665464" y="38587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Rich downloads</a:t>
            </a:r>
            <a:endParaRPr lang="en-US" sz="2000" dirty="0"/>
          </a:p>
        </p:txBody>
      </p:sp>
      <p:sp>
        <p:nvSpPr>
          <p:cNvPr id="31" name="Text 22"/>
          <p:cNvSpPr/>
          <p:nvPr/>
        </p:nvSpPr>
        <p:spPr>
          <a:xfrm>
            <a:off x="8244840" y="44988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Official decks and manuals (PPTX / PDF) for offline study.</a:t>
            </a:r>
            <a:endParaRPr lang="en-US" sz="1800" dirty="0"/>
          </a:p>
        </p:txBody>
      </p:sp>
      <p:sp>
        <p:nvSpPr>
          <p:cNvPr id="32" name="Text 23"/>
          <p:cNvSpPr/>
          <p:nvPr/>
        </p:nvSpPr>
        <p:spPr>
          <a:xfrm>
            <a:off x="502920" y="5779008"/>
            <a:ext cx="11183112" cy="411480"/>
          </a:xfrm>
          <a:prstGeom prst="rect">
            <a:avLst/>
          </a:prstGeom>
          <a:noFill/>
          <a:ln/>
        </p:spPr>
        <p:txBody>
          <a:bodyPr wrap="square" rtlCol="0" anchor="ctr"/>
          <a:lstStyle/>
          <a:p>
            <a:pPr marL="0" indent="0">
              <a:buNone/>
            </a:pPr>
            <a:r>
              <a:rPr lang="en-US" sz="1800" i="1" dirty="0">
                <a:solidFill>
                  <a:srgbClr val="6B7280"/>
                </a:solidFill>
                <a:latin typeface="Aptos" pitchFamily="34" charset="0"/>
                <a:ea typeface="Aptos" pitchFamily="34" charset="-122"/>
                <a:cs typeface="Aptos" pitchFamily="34" charset="-120"/>
              </a:rPr>
              <a:t>Learn on the bus or at home — the app installs on any phone and works offline.</a:t>
            </a:r>
            <a:endParaRPr lang="en-US" sz="1800" dirty="0"/>
          </a:p>
        </p:txBody>
      </p:sp>
      <p:pic>
        <p:nvPicPr>
          <p:cNvPr id="33" name="Picture 32">
            <a:extLst>
              <a:ext uri="{FF2B5EF4-FFF2-40B4-BE49-F238E27FC236}">
                <a16:creationId xmlns:a16="http://schemas.microsoft.com/office/drawing/2014/main" id="{A2901777-B219-AE0B-350A-D98B08301FA8}"/>
              </a:ext>
            </a:extLst>
          </p:cNvPr>
          <p:cNvPicPr>
            <a:picLocks noChangeAspect="1"/>
          </p:cNvPicPr>
          <p:nvPr/>
        </p:nvPicPr>
        <p:blipFill>
          <a:blip r:embed="rId15"/>
          <a:stretch>
            <a:fillRect/>
          </a:stretch>
        </p:blipFill>
        <p:spPr>
          <a:xfrm>
            <a:off x="0" y="35561"/>
            <a:ext cx="12188825" cy="678687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045952" y="6437376"/>
            <a:ext cx="640080" cy="320040"/>
          </a:xfrm>
          <a:prstGeom prst="rect">
            <a:avLst/>
          </a:prstGeom>
          <a:noFill/>
          <a:ln/>
        </p:spPr>
        <p:txBody>
          <a:bodyPr wrap="square" rtlCol="0" anchor="ctr"/>
          <a:lstStyle/>
          <a:p>
            <a:pPr marL="0" indent="0" algn="r">
              <a:buNone/>
            </a:pPr>
            <a:r>
              <a:rPr lang="en-US" sz="1800" dirty="0">
                <a:solidFill>
                  <a:srgbClr val="6B7280"/>
                </a:solidFill>
                <a:latin typeface="Aptos" pitchFamily="34" charset="0"/>
                <a:ea typeface="Aptos" pitchFamily="34" charset="-122"/>
                <a:cs typeface="Aptos" pitchFamily="34" charset="-120"/>
              </a:rPr>
              <a:t>6</a:t>
            </a:r>
            <a:endParaRPr lang="en-US" sz="1800" dirty="0"/>
          </a:p>
        </p:txBody>
      </p:sp>
      <p:sp>
        <p:nvSpPr>
          <p:cNvPr id="3" name="Shape 1"/>
          <p:cNvSpPr/>
          <p:nvPr/>
        </p:nvSpPr>
        <p:spPr>
          <a:xfrm>
            <a:off x="0" y="0"/>
            <a:ext cx="12188952" cy="82296"/>
          </a:xfrm>
          <a:prstGeom prst="rect">
            <a:avLst/>
          </a:prstGeom>
          <a:solidFill>
            <a:srgbClr val="0F6CBD"/>
          </a:solidFill>
          <a:ln/>
        </p:spPr>
      </p:sp>
      <p:sp>
        <p:nvSpPr>
          <p:cNvPr id="5" name="Text 2"/>
          <p:cNvSpPr/>
          <p:nvPr/>
        </p:nvSpPr>
        <p:spPr>
          <a:xfrm>
            <a:off x="502920" y="237744"/>
            <a:ext cx="11183112" cy="347472"/>
          </a:xfrm>
          <a:prstGeom prst="rect">
            <a:avLst/>
          </a:prstGeom>
          <a:noFill/>
          <a:ln/>
        </p:spPr>
        <p:txBody>
          <a:bodyPr wrap="square" rtlCol="0" anchor="ctr"/>
          <a:lstStyle/>
          <a:p>
            <a:pPr marL="0" indent="0">
              <a:buNone/>
            </a:pPr>
            <a:r>
              <a:rPr lang="en-US" sz="1800" b="1" kern="0" spc="200" dirty="0">
                <a:solidFill>
                  <a:srgbClr val="0F6CBD"/>
                </a:solidFill>
                <a:latin typeface="Aptos" pitchFamily="34" charset="0"/>
                <a:ea typeface="Aptos" pitchFamily="34" charset="-122"/>
                <a:cs typeface="Aptos" pitchFamily="34" charset="-120"/>
              </a:rPr>
              <a:t>THE LEARNER EXPERIENCE</a:t>
            </a:r>
            <a:endParaRPr lang="en-US" sz="1800" dirty="0"/>
          </a:p>
        </p:txBody>
      </p:sp>
      <p:sp>
        <p:nvSpPr>
          <p:cNvPr id="6" name="Text 3"/>
          <p:cNvSpPr/>
          <p:nvPr/>
        </p:nvSpPr>
        <p:spPr>
          <a:xfrm>
            <a:off x="502920" y="585216"/>
            <a:ext cx="11183112" cy="731520"/>
          </a:xfrm>
          <a:prstGeom prst="rect">
            <a:avLst/>
          </a:prstGeom>
          <a:noFill/>
          <a:ln/>
        </p:spPr>
        <p:txBody>
          <a:bodyPr wrap="square" rtlCol="0" anchor="ctr"/>
          <a:lstStyle/>
          <a:p>
            <a:pPr marL="0" indent="0">
              <a:buNone/>
            </a:pPr>
            <a:r>
              <a:rPr lang="en-US" sz="3000" b="1" dirty="0">
                <a:solidFill>
                  <a:srgbClr val="002050"/>
                </a:solidFill>
                <a:latin typeface="Aptos Display" pitchFamily="34" charset="0"/>
                <a:ea typeface="Aptos Display" pitchFamily="34" charset="-122"/>
                <a:cs typeface="Aptos Display" pitchFamily="34" charset="-120"/>
              </a:rPr>
              <a:t>Instant marking — even written answers</a:t>
            </a:r>
            <a:endParaRPr lang="en-US" sz="3000" dirty="0"/>
          </a:p>
        </p:txBody>
      </p:sp>
      <p:sp>
        <p:nvSpPr>
          <p:cNvPr id="7" name="Text 4"/>
          <p:cNvSpPr/>
          <p:nvPr/>
        </p:nvSpPr>
        <p:spPr>
          <a:xfrm>
            <a:off x="502920" y="1316736"/>
            <a:ext cx="11183112" cy="566928"/>
          </a:xfrm>
          <a:prstGeom prst="rect">
            <a:avLst/>
          </a:prstGeom>
          <a:noFill/>
          <a:ln/>
        </p:spPr>
        <p:txBody>
          <a:bodyPr wrap="square" rtlCol="0" anchor="t"/>
          <a:lstStyle/>
          <a:p>
            <a:pPr marL="0" indent="0">
              <a:lnSpc>
                <a:spcPct val="110000"/>
              </a:lnSpc>
              <a:buNone/>
            </a:pPr>
            <a:r>
              <a:rPr lang="en-US" sz="1800" dirty="0">
                <a:solidFill>
                  <a:srgbClr val="6B7280"/>
                </a:solidFill>
                <a:latin typeface="Aptos" pitchFamily="34" charset="0"/>
                <a:ea typeface="Aptos" pitchFamily="34" charset="-122"/>
                <a:cs typeface="Aptos" pitchFamily="34" charset="-120"/>
              </a:rPr>
              <a:t>Learners get marks and reasons the moment they submit. Staff never mark a script by hand.</a:t>
            </a:r>
            <a:endParaRPr lang="en-US" sz="1800" dirty="0"/>
          </a:p>
        </p:txBody>
      </p:sp>
      <p:sp>
        <p:nvSpPr>
          <p:cNvPr id="8" name="Shape 5"/>
          <p:cNvSpPr/>
          <p:nvPr/>
        </p:nvSpPr>
        <p:spPr>
          <a:xfrm>
            <a:off x="502920" y="19385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9"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7512" y="2103120"/>
            <a:ext cx="329184" cy="329184"/>
          </a:xfrm>
          <a:prstGeom prst="rect">
            <a:avLst/>
          </a:prstGeom>
        </p:spPr>
      </p:pic>
      <p:sp>
        <p:nvSpPr>
          <p:cNvPr id="10" name="Text 6"/>
          <p:cNvSpPr/>
          <p:nvPr/>
        </p:nvSpPr>
        <p:spPr>
          <a:xfrm>
            <a:off x="1088136" y="20299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4 auto-marked types</a:t>
            </a:r>
            <a:endParaRPr lang="en-US" sz="2000" dirty="0"/>
          </a:p>
        </p:txBody>
      </p:sp>
      <p:sp>
        <p:nvSpPr>
          <p:cNvPr id="11" name="Text 7"/>
          <p:cNvSpPr/>
          <p:nvPr/>
        </p:nvSpPr>
        <p:spPr>
          <a:xfrm>
            <a:off x="667512" y="26700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Multiple choice, select-all, ordering, matching — instant scores.</a:t>
            </a:r>
            <a:endParaRPr lang="en-US" sz="1800" dirty="0"/>
          </a:p>
        </p:txBody>
      </p:sp>
      <p:sp>
        <p:nvSpPr>
          <p:cNvPr id="12" name="Shape 8"/>
          <p:cNvSpPr/>
          <p:nvPr/>
        </p:nvSpPr>
        <p:spPr>
          <a:xfrm>
            <a:off x="4291584" y="19385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13"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456176" y="2103120"/>
            <a:ext cx="329184" cy="329184"/>
          </a:xfrm>
          <a:prstGeom prst="rect">
            <a:avLst/>
          </a:prstGeom>
        </p:spPr>
      </p:pic>
      <p:sp>
        <p:nvSpPr>
          <p:cNvPr id="14" name="Text 9"/>
          <p:cNvSpPr/>
          <p:nvPr/>
        </p:nvSpPr>
        <p:spPr>
          <a:xfrm>
            <a:off x="4876800" y="20299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AI marks written work</a:t>
            </a:r>
            <a:endParaRPr lang="en-US" sz="2000" dirty="0"/>
          </a:p>
        </p:txBody>
      </p:sp>
      <p:sp>
        <p:nvSpPr>
          <p:cNvPr id="15" name="Text 10"/>
          <p:cNvSpPr/>
          <p:nvPr/>
        </p:nvSpPr>
        <p:spPr>
          <a:xfrm>
            <a:off x="4456176" y="26700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Ticks the sentence that earned each mark; AI credits own-words answers.</a:t>
            </a:r>
            <a:endParaRPr lang="en-US" sz="1800" dirty="0"/>
          </a:p>
        </p:txBody>
      </p:sp>
      <p:sp>
        <p:nvSpPr>
          <p:cNvPr id="16" name="Shape 11"/>
          <p:cNvSpPr/>
          <p:nvPr/>
        </p:nvSpPr>
        <p:spPr>
          <a:xfrm>
            <a:off x="8080248" y="19385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17"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244840" y="2103120"/>
            <a:ext cx="329184" cy="329184"/>
          </a:xfrm>
          <a:prstGeom prst="rect">
            <a:avLst/>
          </a:prstGeom>
        </p:spPr>
      </p:pic>
      <p:sp>
        <p:nvSpPr>
          <p:cNvPr id="18" name="Text 12"/>
          <p:cNvSpPr/>
          <p:nvPr/>
        </p:nvSpPr>
        <p:spPr>
          <a:xfrm>
            <a:off x="8665464" y="20299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Feedback that teaches</a:t>
            </a:r>
            <a:endParaRPr lang="en-US" sz="2000" dirty="0"/>
          </a:p>
        </p:txBody>
      </p:sp>
      <p:sp>
        <p:nvSpPr>
          <p:cNvPr id="19" name="Text 13"/>
          <p:cNvSpPr/>
          <p:nvPr/>
        </p:nvSpPr>
        <p:spPr>
          <a:xfrm>
            <a:off x="8244840" y="26700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Names the missing idea and quotes the lesson line that covers it.</a:t>
            </a:r>
            <a:endParaRPr lang="en-US" sz="1800" dirty="0"/>
          </a:p>
        </p:txBody>
      </p:sp>
      <p:sp>
        <p:nvSpPr>
          <p:cNvPr id="20" name="Shape 14"/>
          <p:cNvSpPr/>
          <p:nvPr/>
        </p:nvSpPr>
        <p:spPr>
          <a:xfrm>
            <a:off x="502920" y="37673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21"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67512" y="3931920"/>
            <a:ext cx="329184" cy="329184"/>
          </a:xfrm>
          <a:prstGeom prst="rect">
            <a:avLst/>
          </a:prstGeom>
        </p:spPr>
      </p:pic>
      <p:sp>
        <p:nvSpPr>
          <p:cNvPr id="22" name="Text 15"/>
          <p:cNvSpPr/>
          <p:nvPr/>
        </p:nvSpPr>
        <p:spPr>
          <a:xfrm>
            <a:off x="1088136" y="38587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Attempts capped</a:t>
            </a:r>
            <a:endParaRPr lang="en-US" sz="2000" dirty="0"/>
          </a:p>
        </p:txBody>
      </p:sp>
      <p:sp>
        <p:nvSpPr>
          <p:cNvPr id="23" name="Text 16"/>
          <p:cNvSpPr/>
          <p:nvPr/>
        </p:nvSpPr>
        <p:spPr>
          <a:xfrm>
            <a:off x="667512" y="44988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Marked attempts limited; assessments lock with staff-only unlock.</a:t>
            </a:r>
            <a:endParaRPr lang="en-US" sz="1800" dirty="0"/>
          </a:p>
        </p:txBody>
      </p:sp>
      <p:sp>
        <p:nvSpPr>
          <p:cNvPr id="24" name="Shape 17"/>
          <p:cNvSpPr/>
          <p:nvPr/>
        </p:nvSpPr>
        <p:spPr>
          <a:xfrm>
            <a:off x="4291584" y="37673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25"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456176" y="3931920"/>
            <a:ext cx="329184" cy="329184"/>
          </a:xfrm>
          <a:prstGeom prst="rect">
            <a:avLst/>
          </a:prstGeom>
        </p:spPr>
      </p:pic>
      <p:sp>
        <p:nvSpPr>
          <p:cNvPr id="26" name="Text 18"/>
          <p:cNvSpPr/>
          <p:nvPr/>
        </p:nvSpPr>
        <p:spPr>
          <a:xfrm>
            <a:off x="4876800" y="38587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Full transparency</a:t>
            </a:r>
            <a:endParaRPr lang="en-US" sz="2000" dirty="0"/>
          </a:p>
        </p:txBody>
      </p:sp>
      <p:sp>
        <p:nvSpPr>
          <p:cNvPr id="27" name="Text 19"/>
          <p:cNvSpPr/>
          <p:nvPr/>
        </p:nvSpPr>
        <p:spPr>
          <a:xfrm>
            <a:off x="4456176" y="44988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Staff see every option picked and every sentence typed.</a:t>
            </a:r>
            <a:endParaRPr lang="en-US" sz="1800" dirty="0"/>
          </a:p>
        </p:txBody>
      </p:sp>
      <p:sp>
        <p:nvSpPr>
          <p:cNvPr id="28" name="Shape 20"/>
          <p:cNvSpPr/>
          <p:nvPr/>
        </p:nvSpPr>
        <p:spPr>
          <a:xfrm>
            <a:off x="8080248" y="37673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29" name="Image 5"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244840" y="3931920"/>
            <a:ext cx="329184" cy="329184"/>
          </a:xfrm>
          <a:prstGeom prst="rect">
            <a:avLst/>
          </a:prstGeom>
        </p:spPr>
      </p:pic>
      <p:sp>
        <p:nvSpPr>
          <p:cNvPr id="30" name="Text 21"/>
          <p:cNvSpPr/>
          <p:nvPr/>
        </p:nvSpPr>
        <p:spPr>
          <a:xfrm>
            <a:off x="8665464" y="38587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Zero marking backlog</a:t>
            </a:r>
            <a:endParaRPr lang="en-US" sz="2000" dirty="0"/>
          </a:p>
        </p:txBody>
      </p:sp>
      <p:sp>
        <p:nvSpPr>
          <p:cNvPr id="31" name="Text 22"/>
          <p:cNvSpPr/>
          <p:nvPr/>
        </p:nvSpPr>
        <p:spPr>
          <a:xfrm>
            <a:off x="8244840" y="44988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Marks and records exist the second a learner presses submit.</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045952" y="6437376"/>
            <a:ext cx="640080" cy="320040"/>
          </a:xfrm>
          <a:prstGeom prst="rect">
            <a:avLst/>
          </a:prstGeom>
          <a:noFill/>
          <a:ln/>
        </p:spPr>
        <p:txBody>
          <a:bodyPr wrap="square" rtlCol="0" anchor="ctr"/>
          <a:lstStyle/>
          <a:p>
            <a:pPr marL="0" indent="0" algn="r">
              <a:buNone/>
            </a:pPr>
            <a:r>
              <a:rPr lang="en-US" sz="1800" dirty="0">
                <a:solidFill>
                  <a:srgbClr val="6B7280"/>
                </a:solidFill>
                <a:latin typeface="Aptos" pitchFamily="34" charset="0"/>
                <a:ea typeface="Aptos" pitchFamily="34" charset="-122"/>
                <a:cs typeface="Aptos" pitchFamily="34" charset="-120"/>
              </a:rPr>
              <a:t>7</a:t>
            </a:r>
            <a:endParaRPr lang="en-US" sz="1800" dirty="0"/>
          </a:p>
        </p:txBody>
      </p:sp>
      <p:sp>
        <p:nvSpPr>
          <p:cNvPr id="3" name="Shape 1"/>
          <p:cNvSpPr/>
          <p:nvPr/>
        </p:nvSpPr>
        <p:spPr>
          <a:xfrm>
            <a:off x="0" y="0"/>
            <a:ext cx="12188952" cy="82296"/>
          </a:xfrm>
          <a:prstGeom prst="rect">
            <a:avLst/>
          </a:prstGeom>
          <a:solidFill>
            <a:srgbClr val="0F6CBD"/>
          </a:solidFill>
          <a:ln/>
        </p:spPr>
      </p:sp>
      <p:sp>
        <p:nvSpPr>
          <p:cNvPr id="5" name="Text 2"/>
          <p:cNvSpPr/>
          <p:nvPr/>
        </p:nvSpPr>
        <p:spPr>
          <a:xfrm>
            <a:off x="502920" y="237744"/>
            <a:ext cx="11183112" cy="347472"/>
          </a:xfrm>
          <a:prstGeom prst="rect">
            <a:avLst/>
          </a:prstGeom>
          <a:noFill/>
          <a:ln/>
        </p:spPr>
        <p:txBody>
          <a:bodyPr wrap="square" rtlCol="0" anchor="ctr"/>
          <a:lstStyle/>
          <a:p>
            <a:pPr marL="0" indent="0">
              <a:buNone/>
            </a:pPr>
            <a:r>
              <a:rPr lang="en-US" sz="1800" b="1" kern="0" spc="200" dirty="0">
                <a:solidFill>
                  <a:srgbClr val="0F6CBD"/>
                </a:solidFill>
                <a:latin typeface="Aptos" pitchFamily="34" charset="0"/>
                <a:ea typeface="Aptos" pitchFamily="34" charset="-122"/>
                <a:cs typeface="Aptos" pitchFamily="34" charset="-120"/>
              </a:rPr>
              <a:t>THE LEARNER EXPERIENCE</a:t>
            </a:r>
            <a:endParaRPr lang="en-US" sz="1800" dirty="0"/>
          </a:p>
        </p:txBody>
      </p:sp>
      <p:sp>
        <p:nvSpPr>
          <p:cNvPr id="6" name="Text 3"/>
          <p:cNvSpPr/>
          <p:nvPr/>
        </p:nvSpPr>
        <p:spPr>
          <a:xfrm>
            <a:off x="502920" y="585216"/>
            <a:ext cx="11183112" cy="731520"/>
          </a:xfrm>
          <a:prstGeom prst="rect">
            <a:avLst/>
          </a:prstGeom>
          <a:noFill/>
          <a:ln/>
        </p:spPr>
        <p:txBody>
          <a:bodyPr wrap="square" rtlCol="0" anchor="ctr"/>
          <a:lstStyle/>
          <a:p>
            <a:pPr marL="0" indent="0">
              <a:buNone/>
            </a:pPr>
            <a:r>
              <a:rPr lang="en-US" sz="3000" b="1" dirty="0">
                <a:solidFill>
                  <a:srgbClr val="002050"/>
                </a:solidFill>
                <a:latin typeface="Aptos Display" pitchFamily="34" charset="0"/>
                <a:ea typeface="Aptos Display" pitchFamily="34" charset="-122"/>
                <a:cs typeface="Aptos Display" pitchFamily="34" charset="-120"/>
              </a:rPr>
              <a:t>Motivation and community built in</a:t>
            </a:r>
            <a:endParaRPr lang="en-US" sz="3000" dirty="0"/>
          </a:p>
        </p:txBody>
      </p:sp>
      <p:sp>
        <p:nvSpPr>
          <p:cNvPr id="7" name="Text 4"/>
          <p:cNvSpPr/>
          <p:nvPr/>
        </p:nvSpPr>
        <p:spPr>
          <a:xfrm>
            <a:off x="502920" y="1316736"/>
            <a:ext cx="11183112" cy="566928"/>
          </a:xfrm>
          <a:prstGeom prst="rect">
            <a:avLst/>
          </a:prstGeom>
          <a:noFill/>
          <a:ln/>
        </p:spPr>
        <p:txBody>
          <a:bodyPr wrap="square" rtlCol="0" anchor="t"/>
          <a:lstStyle/>
          <a:p>
            <a:pPr marL="0" indent="0">
              <a:lnSpc>
                <a:spcPct val="110000"/>
              </a:lnSpc>
              <a:buNone/>
            </a:pPr>
            <a:r>
              <a:rPr lang="en-US" sz="1800" dirty="0">
                <a:solidFill>
                  <a:srgbClr val="6B7280"/>
                </a:solidFill>
                <a:latin typeface="Aptos" pitchFamily="34" charset="0"/>
                <a:ea typeface="Aptos" pitchFamily="34" charset="-122"/>
                <a:cs typeface="Aptos" pitchFamily="34" charset="-120"/>
              </a:rPr>
              <a:t>XP, badges and an honest leaderboard keep momentum; chat and Q&amp;A keep every learner supported.</a:t>
            </a:r>
            <a:endParaRPr lang="en-US" sz="1800" dirty="0"/>
          </a:p>
        </p:txBody>
      </p:sp>
      <p:sp>
        <p:nvSpPr>
          <p:cNvPr id="8" name="Shape 5"/>
          <p:cNvSpPr/>
          <p:nvPr/>
        </p:nvSpPr>
        <p:spPr>
          <a:xfrm>
            <a:off x="502920" y="19385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9"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7512" y="2103120"/>
            <a:ext cx="329184" cy="329184"/>
          </a:xfrm>
          <a:prstGeom prst="rect">
            <a:avLst/>
          </a:prstGeom>
        </p:spPr>
      </p:pic>
      <p:sp>
        <p:nvSpPr>
          <p:cNvPr id="10" name="Text 6"/>
          <p:cNvSpPr/>
          <p:nvPr/>
        </p:nvSpPr>
        <p:spPr>
          <a:xfrm>
            <a:off x="1088136" y="20299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XP, levels &amp; badges</a:t>
            </a:r>
            <a:endParaRPr lang="en-US" sz="2000" dirty="0"/>
          </a:p>
        </p:txBody>
      </p:sp>
      <p:sp>
        <p:nvSpPr>
          <p:cNvPr id="11" name="Text 7"/>
          <p:cNvSpPr/>
          <p:nvPr/>
        </p:nvSpPr>
        <p:spPr>
          <a:xfrm>
            <a:off x="667512" y="26700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Newcomer to Legend — computed only from real recorded work.</a:t>
            </a:r>
            <a:endParaRPr lang="en-US" sz="1800" dirty="0"/>
          </a:p>
        </p:txBody>
      </p:sp>
      <p:sp>
        <p:nvSpPr>
          <p:cNvPr id="12" name="Shape 8"/>
          <p:cNvSpPr/>
          <p:nvPr/>
        </p:nvSpPr>
        <p:spPr>
          <a:xfrm>
            <a:off x="4291584" y="19385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13"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456176" y="2103120"/>
            <a:ext cx="329184" cy="329184"/>
          </a:xfrm>
          <a:prstGeom prst="rect">
            <a:avLst/>
          </a:prstGeom>
        </p:spPr>
      </p:pic>
      <p:sp>
        <p:nvSpPr>
          <p:cNvPr id="14" name="Text 9"/>
          <p:cNvSpPr/>
          <p:nvPr/>
        </p:nvSpPr>
        <p:spPr>
          <a:xfrm>
            <a:off x="4876800" y="20299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Live leaderboard</a:t>
            </a:r>
            <a:endParaRPr lang="en-US" sz="2000" dirty="0"/>
          </a:p>
        </p:txBody>
      </p:sp>
      <p:sp>
        <p:nvSpPr>
          <p:cNvPr id="15" name="Text 10"/>
          <p:cNvSpPr/>
          <p:nvPr/>
        </p:nvSpPr>
        <p:spPr>
          <a:xfrm>
            <a:off x="4456176" y="26700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Honest competition on quizzes, evidence and attendance.</a:t>
            </a:r>
            <a:endParaRPr lang="en-US" sz="1800" dirty="0"/>
          </a:p>
        </p:txBody>
      </p:sp>
      <p:sp>
        <p:nvSpPr>
          <p:cNvPr id="16" name="Shape 11"/>
          <p:cNvSpPr/>
          <p:nvPr/>
        </p:nvSpPr>
        <p:spPr>
          <a:xfrm>
            <a:off x="8080248" y="19385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17"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244840" y="2103120"/>
            <a:ext cx="329184" cy="329184"/>
          </a:xfrm>
          <a:prstGeom prst="rect">
            <a:avLst/>
          </a:prstGeom>
        </p:spPr>
      </p:pic>
      <p:sp>
        <p:nvSpPr>
          <p:cNvPr id="18" name="Text 12"/>
          <p:cNvSpPr/>
          <p:nvPr/>
        </p:nvSpPr>
        <p:spPr>
          <a:xfrm>
            <a:off x="8665464" y="20299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Q&amp;A &amp; announcements</a:t>
            </a:r>
            <a:endParaRPr lang="en-US" sz="2000" dirty="0"/>
          </a:p>
        </p:txBody>
      </p:sp>
      <p:sp>
        <p:nvSpPr>
          <p:cNvPr id="19" name="Text 13"/>
          <p:cNvSpPr/>
          <p:nvPr/>
        </p:nvSpPr>
        <p:spPr>
          <a:xfrm>
            <a:off x="8244840" y="26700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Threaded class questions, staff announcements, live quizzes.</a:t>
            </a:r>
            <a:endParaRPr lang="en-US" sz="1800" dirty="0"/>
          </a:p>
        </p:txBody>
      </p:sp>
      <p:sp>
        <p:nvSpPr>
          <p:cNvPr id="20" name="Shape 14"/>
          <p:cNvSpPr/>
          <p:nvPr/>
        </p:nvSpPr>
        <p:spPr>
          <a:xfrm>
            <a:off x="502920" y="37673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21"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67512" y="3931920"/>
            <a:ext cx="329184" cy="329184"/>
          </a:xfrm>
          <a:prstGeom prst="rect">
            <a:avLst/>
          </a:prstGeom>
        </p:spPr>
      </p:pic>
      <p:sp>
        <p:nvSpPr>
          <p:cNvPr id="22" name="Text 15"/>
          <p:cNvSpPr/>
          <p:nvPr/>
        </p:nvSpPr>
        <p:spPr>
          <a:xfrm>
            <a:off x="1088136" y="38587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Private 1-to-1 chat</a:t>
            </a:r>
            <a:endParaRPr lang="en-US" sz="2000" dirty="0"/>
          </a:p>
        </p:txBody>
      </p:sp>
      <p:sp>
        <p:nvSpPr>
          <p:cNvPr id="23" name="Text 16"/>
          <p:cNvSpPr/>
          <p:nvPr/>
        </p:nvSpPr>
        <p:spPr>
          <a:xfrm>
            <a:off x="667512" y="44988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Direct line to the facilitator — presence, read receipts, broadcast.</a:t>
            </a:r>
            <a:endParaRPr lang="en-US" sz="1800" dirty="0"/>
          </a:p>
        </p:txBody>
      </p:sp>
      <p:sp>
        <p:nvSpPr>
          <p:cNvPr id="24" name="Shape 17"/>
          <p:cNvSpPr/>
          <p:nvPr/>
        </p:nvSpPr>
        <p:spPr>
          <a:xfrm>
            <a:off x="4291584" y="37673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25"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456176" y="3931920"/>
            <a:ext cx="329184" cy="329184"/>
          </a:xfrm>
          <a:prstGeom prst="rect">
            <a:avLst/>
          </a:prstGeom>
        </p:spPr>
      </p:pic>
      <p:sp>
        <p:nvSpPr>
          <p:cNvPr id="26" name="Text 18"/>
          <p:cNvSpPr/>
          <p:nvPr/>
        </p:nvSpPr>
        <p:spPr>
          <a:xfrm>
            <a:off x="4876800" y="38587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Class photo wall</a:t>
            </a:r>
            <a:endParaRPr lang="en-US" sz="2000" dirty="0"/>
          </a:p>
        </p:txBody>
      </p:sp>
      <p:sp>
        <p:nvSpPr>
          <p:cNvPr id="27" name="Text 19"/>
          <p:cNvSpPr/>
          <p:nvPr/>
        </p:nvSpPr>
        <p:spPr>
          <a:xfrm>
            <a:off x="4456176" y="44988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Shared course memories, played back as a slideshow.</a:t>
            </a:r>
            <a:endParaRPr lang="en-US" sz="1800" dirty="0"/>
          </a:p>
        </p:txBody>
      </p:sp>
      <p:sp>
        <p:nvSpPr>
          <p:cNvPr id="28" name="Shape 20"/>
          <p:cNvSpPr/>
          <p:nvPr/>
        </p:nvSpPr>
        <p:spPr>
          <a:xfrm>
            <a:off x="8080248" y="37673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29" name="Image 5"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244840" y="3931920"/>
            <a:ext cx="329184" cy="329184"/>
          </a:xfrm>
          <a:prstGeom prst="rect">
            <a:avLst/>
          </a:prstGeom>
        </p:spPr>
      </p:pic>
      <p:sp>
        <p:nvSpPr>
          <p:cNvPr id="30" name="Text 21"/>
          <p:cNvSpPr/>
          <p:nvPr/>
        </p:nvSpPr>
        <p:spPr>
          <a:xfrm>
            <a:off x="8665464" y="38587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Safe by design</a:t>
            </a:r>
            <a:endParaRPr lang="en-US" sz="2000" dirty="0"/>
          </a:p>
        </p:txBody>
      </p:sp>
      <p:sp>
        <p:nvSpPr>
          <p:cNvPr id="31" name="Text 22"/>
          <p:cNvSpPr/>
          <p:nvPr/>
        </p:nvSpPr>
        <p:spPr>
          <a:xfrm>
            <a:off x="8244840" y="44988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Staff can open any conversation read-only — database-enforced.</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045952" y="6437376"/>
            <a:ext cx="640080" cy="320040"/>
          </a:xfrm>
          <a:prstGeom prst="rect">
            <a:avLst/>
          </a:prstGeom>
          <a:noFill/>
          <a:ln/>
        </p:spPr>
        <p:txBody>
          <a:bodyPr wrap="square" rtlCol="0" anchor="ctr"/>
          <a:lstStyle/>
          <a:p>
            <a:pPr marL="0" indent="0" algn="r">
              <a:buNone/>
            </a:pPr>
            <a:r>
              <a:rPr lang="en-US" sz="1800" dirty="0">
                <a:solidFill>
                  <a:srgbClr val="6B7280"/>
                </a:solidFill>
                <a:latin typeface="Aptos" pitchFamily="34" charset="0"/>
                <a:ea typeface="Aptos" pitchFamily="34" charset="-122"/>
                <a:cs typeface="Aptos" pitchFamily="34" charset="-120"/>
              </a:rPr>
              <a:t>8</a:t>
            </a:r>
            <a:endParaRPr lang="en-US" sz="1800" dirty="0"/>
          </a:p>
        </p:txBody>
      </p:sp>
      <p:sp>
        <p:nvSpPr>
          <p:cNvPr id="3" name="Shape 1"/>
          <p:cNvSpPr/>
          <p:nvPr/>
        </p:nvSpPr>
        <p:spPr>
          <a:xfrm>
            <a:off x="0" y="0"/>
            <a:ext cx="12188952" cy="82296"/>
          </a:xfrm>
          <a:prstGeom prst="rect">
            <a:avLst/>
          </a:prstGeom>
          <a:solidFill>
            <a:srgbClr val="0F6CBD"/>
          </a:solidFill>
          <a:ln/>
        </p:spPr>
      </p:sp>
      <p:sp>
        <p:nvSpPr>
          <p:cNvPr id="5" name="Text 2"/>
          <p:cNvSpPr/>
          <p:nvPr/>
        </p:nvSpPr>
        <p:spPr>
          <a:xfrm>
            <a:off x="502920" y="237744"/>
            <a:ext cx="11183112" cy="347472"/>
          </a:xfrm>
          <a:prstGeom prst="rect">
            <a:avLst/>
          </a:prstGeom>
          <a:noFill/>
          <a:ln/>
        </p:spPr>
        <p:txBody>
          <a:bodyPr wrap="square" rtlCol="0" anchor="ctr"/>
          <a:lstStyle/>
          <a:p>
            <a:pPr marL="0" indent="0">
              <a:buNone/>
            </a:pPr>
            <a:r>
              <a:rPr lang="en-US" sz="1800" b="1" kern="0" spc="200" dirty="0">
                <a:solidFill>
                  <a:srgbClr val="0F6CBD"/>
                </a:solidFill>
                <a:latin typeface="Aptos" pitchFamily="34" charset="0"/>
                <a:ea typeface="Aptos" pitchFamily="34" charset="-122"/>
                <a:cs typeface="Aptos" pitchFamily="34" charset="-120"/>
              </a:rPr>
              <a:t>EVIDENCE</a:t>
            </a:r>
            <a:endParaRPr lang="en-US" sz="1800" dirty="0"/>
          </a:p>
        </p:txBody>
      </p:sp>
      <p:sp>
        <p:nvSpPr>
          <p:cNvPr id="6" name="Text 3"/>
          <p:cNvSpPr/>
          <p:nvPr/>
        </p:nvSpPr>
        <p:spPr>
          <a:xfrm>
            <a:off x="502920" y="585216"/>
            <a:ext cx="11183112" cy="731520"/>
          </a:xfrm>
          <a:prstGeom prst="rect">
            <a:avLst/>
          </a:prstGeom>
          <a:noFill/>
          <a:ln/>
        </p:spPr>
        <p:txBody>
          <a:bodyPr wrap="square" rtlCol="0" anchor="ctr"/>
          <a:lstStyle/>
          <a:p>
            <a:pPr marL="0" indent="0">
              <a:buNone/>
            </a:pPr>
            <a:r>
              <a:rPr lang="en-US" sz="3000" b="1" dirty="0">
                <a:solidFill>
                  <a:srgbClr val="002050"/>
                </a:solidFill>
                <a:latin typeface="Aptos Display" pitchFamily="34" charset="0"/>
                <a:ea typeface="Aptos Display" pitchFamily="34" charset="-122"/>
                <a:cs typeface="Aptos Display" pitchFamily="34" charset="-120"/>
              </a:rPr>
              <a:t>The Portfolio of Evidence runs itself</a:t>
            </a:r>
            <a:endParaRPr lang="en-US" sz="3000" dirty="0"/>
          </a:p>
        </p:txBody>
      </p:sp>
      <p:sp>
        <p:nvSpPr>
          <p:cNvPr id="7" name="Text 4"/>
          <p:cNvSpPr/>
          <p:nvPr/>
        </p:nvSpPr>
        <p:spPr>
          <a:xfrm>
            <a:off x="502920" y="1316736"/>
            <a:ext cx="11183112" cy="566928"/>
          </a:xfrm>
          <a:prstGeom prst="rect">
            <a:avLst/>
          </a:prstGeom>
          <a:noFill/>
          <a:ln/>
        </p:spPr>
        <p:txBody>
          <a:bodyPr wrap="square" rtlCol="0" anchor="t"/>
          <a:lstStyle/>
          <a:p>
            <a:pPr marL="0" indent="0">
              <a:lnSpc>
                <a:spcPct val="110000"/>
              </a:lnSpc>
              <a:buNone/>
            </a:pPr>
            <a:r>
              <a:rPr lang="en-US" sz="1800" dirty="0">
                <a:solidFill>
                  <a:srgbClr val="6B7280"/>
                </a:solidFill>
                <a:latin typeface="Aptos" pitchFamily="34" charset="0"/>
                <a:ea typeface="Aptos" pitchFamily="34" charset="-122"/>
                <a:cs typeface="Aptos" pitchFamily="34" charset="-120"/>
              </a:rPr>
              <a:t>A guided 37-item checklist, phone uploads to private cloud storage, in-app sign-off, one-click export.</a:t>
            </a:r>
            <a:endParaRPr lang="en-US" sz="1800" dirty="0"/>
          </a:p>
        </p:txBody>
      </p:sp>
      <p:sp>
        <p:nvSpPr>
          <p:cNvPr id="8" name="Shape 5"/>
          <p:cNvSpPr/>
          <p:nvPr/>
        </p:nvSpPr>
        <p:spPr>
          <a:xfrm>
            <a:off x="502920" y="19385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9"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7512" y="2103120"/>
            <a:ext cx="329184" cy="329184"/>
          </a:xfrm>
          <a:prstGeom prst="rect">
            <a:avLst/>
          </a:prstGeom>
        </p:spPr>
      </p:pic>
      <p:sp>
        <p:nvSpPr>
          <p:cNvPr id="10" name="Text 6"/>
          <p:cNvSpPr/>
          <p:nvPr/>
        </p:nvSpPr>
        <p:spPr>
          <a:xfrm>
            <a:off x="1088136" y="20299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Guided POE checklist</a:t>
            </a:r>
            <a:endParaRPr lang="en-US" sz="2000" dirty="0"/>
          </a:p>
        </p:txBody>
      </p:sp>
      <p:sp>
        <p:nvSpPr>
          <p:cNvPr id="11" name="Text 7"/>
          <p:cNvSpPr/>
          <p:nvPr/>
        </p:nvSpPr>
        <p:spPr>
          <a:xfrm>
            <a:off x="667512" y="26700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8 sections, 37 items — from certified ID to unit assignments.</a:t>
            </a:r>
            <a:endParaRPr lang="en-US" sz="1800" dirty="0"/>
          </a:p>
        </p:txBody>
      </p:sp>
      <p:sp>
        <p:nvSpPr>
          <p:cNvPr id="12" name="Shape 8"/>
          <p:cNvSpPr/>
          <p:nvPr/>
        </p:nvSpPr>
        <p:spPr>
          <a:xfrm>
            <a:off x="4291584" y="19385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13"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456176" y="2103120"/>
            <a:ext cx="329184" cy="329184"/>
          </a:xfrm>
          <a:prstGeom prst="rect">
            <a:avLst/>
          </a:prstGeom>
        </p:spPr>
      </p:pic>
      <p:sp>
        <p:nvSpPr>
          <p:cNvPr id="14" name="Text 9"/>
          <p:cNvSpPr/>
          <p:nvPr/>
        </p:nvSpPr>
        <p:spPr>
          <a:xfrm>
            <a:off x="4876800" y="20299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Upload from a phone</a:t>
            </a:r>
            <a:endParaRPr lang="en-US" sz="2000" dirty="0"/>
          </a:p>
        </p:txBody>
      </p:sp>
      <p:sp>
        <p:nvSpPr>
          <p:cNvPr id="15" name="Text 10"/>
          <p:cNvSpPr/>
          <p:nvPr/>
        </p:nvSpPr>
        <p:spPr>
          <a:xfrm>
            <a:off x="4456176" y="26700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Photos, PDFs and documents straight into private cloud storage.</a:t>
            </a:r>
            <a:endParaRPr lang="en-US" sz="1800" dirty="0"/>
          </a:p>
        </p:txBody>
      </p:sp>
      <p:sp>
        <p:nvSpPr>
          <p:cNvPr id="16" name="Shape 11"/>
          <p:cNvSpPr/>
          <p:nvPr/>
        </p:nvSpPr>
        <p:spPr>
          <a:xfrm>
            <a:off x="8080248" y="19385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17"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244840" y="2103120"/>
            <a:ext cx="329184" cy="329184"/>
          </a:xfrm>
          <a:prstGeom prst="rect">
            <a:avLst/>
          </a:prstGeom>
        </p:spPr>
      </p:pic>
      <p:sp>
        <p:nvSpPr>
          <p:cNvPr id="18" name="Text 12"/>
          <p:cNvSpPr/>
          <p:nvPr/>
        </p:nvSpPr>
        <p:spPr>
          <a:xfrm>
            <a:off x="8665464" y="20299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Review &amp; sign-off</a:t>
            </a:r>
            <a:endParaRPr lang="en-US" sz="2000" dirty="0"/>
          </a:p>
        </p:txBody>
      </p:sp>
      <p:sp>
        <p:nvSpPr>
          <p:cNvPr id="19" name="Text 13"/>
          <p:cNvSpPr/>
          <p:nvPr/>
        </p:nvSpPr>
        <p:spPr>
          <a:xfrm>
            <a:off x="8244840" y="26700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Assessors record competent / not-yet-competent on each item.</a:t>
            </a:r>
            <a:endParaRPr lang="en-US" sz="1800" dirty="0"/>
          </a:p>
        </p:txBody>
      </p:sp>
      <p:sp>
        <p:nvSpPr>
          <p:cNvPr id="20" name="Shape 14"/>
          <p:cNvSpPr/>
          <p:nvPr/>
        </p:nvSpPr>
        <p:spPr>
          <a:xfrm>
            <a:off x="502920" y="37673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21"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67512" y="3931920"/>
            <a:ext cx="329184" cy="329184"/>
          </a:xfrm>
          <a:prstGeom prst="rect">
            <a:avLst/>
          </a:prstGeom>
        </p:spPr>
      </p:pic>
      <p:sp>
        <p:nvSpPr>
          <p:cNvPr id="22" name="Text 15"/>
          <p:cNvSpPr/>
          <p:nvPr/>
        </p:nvSpPr>
        <p:spPr>
          <a:xfrm>
            <a:off x="1088136" y="38587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One-click ZIP export</a:t>
            </a:r>
            <a:endParaRPr lang="en-US" sz="2000" dirty="0"/>
          </a:p>
        </p:txBody>
      </p:sp>
      <p:sp>
        <p:nvSpPr>
          <p:cNvPr id="23" name="Text 16"/>
          <p:cNvSpPr/>
          <p:nvPr/>
        </p:nvSpPr>
        <p:spPr>
          <a:xfrm>
            <a:off x="667512" y="44988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A learner's complete portfolio in seconds — not days.</a:t>
            </a:r>
            <a:endParaRPr lang="en-US" sz="1800" dirty="0"/>
          </a:p>
        </p:txBody>
      </p:sp>
      <p:sp>
        <p:nvSpPr>
          <p:cNvPr id="24" name="Shape 17"/>
          <p:cNvSpPr/>
          <p:nvPr/>
        </p:nvSpPr>
        <p:spPr>
          <a:xfrm>
            <a:off x="4291584" y="37673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25"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456176" y="3931920"/>
            <a:ext cx="329184" cy="329184"/>
          </a:xfrm>
          <a:prstGeom prst="rect">
            <a:avLst/>
          </a:prstGeom>
        </p:spPr>
      </p:pic>
      <p:sp>
        <p:nvSpPr>
          <p:cNvPr id="26" name="Text 18"/>
          <p:cNvSpPr/>
          <p:nvPr/>
        </p:nvSpPr>
        <p:spPr>
          <a:xfrm>
            <a:off x="4876800" y="38587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Digital logbook</a:t>
            </a:r>
            <a:endParaRPr lang="en-US" sz="2000" dirty="0"/>
          </a:p>
        </p:txBody>
      </p:sp>
      <p:sp>
        <p:nvSpPr>
          <p:cNvPr id="27" name="Text 19"/>
          <p:cNvSpPr/>
          <p:nvPr/>
        </p:nvSpPr>
        <p:spPr>
          <a:xfrm>
            <a:off x="4456176" y="44988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Structured per-unit logbook, cloud-saved and printable.</a:t>
            </a:r>
            <a:endParaRPr lang="en-US" sz="1800" dirty="0"/>
          </a:p>
        </p:txBody>
      </p:sp>
      <p:sp>
        <p:nvSpPr>
          <p:cNvPr id="28" name="Shape 20"/>
          <p:cNvSpPr/>
          <p:nvPr/>
        </p:nvSpPr>
        <p:spPr>
          <a:xfrm>
            <a:off x="8080248" y="37673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29" name="Image 5"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244840" y="3931920"/>
            <a:ext cx="329184" cy="329184"/>
          </a:xfrm>
          <a:prstGeom prst="rect">
            <a:avLst/>
          </a:prstGeom>
        </p:spPr>
      </p:pic>
      <p:sp>
        <p:nvSpPr>
          <p:cNvPr id="30" name="Text 21"/>
          <p:cNvSpPr/>
          <p:nvPr/>
        </p:nvSpPr>
        <p:spPr>
          <a:xfrm>
            <a:off x="8665464" y="38587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Dual accounting</a:t>
            </a:r>
            <a:endParaRPr lang="en-US" sz="2000" dirty="0"/>
          </a:p>
        </p:txBody>
      </p:sp>
      <p:sp>
        <p:nvSpPr>
          <p:cNvPr id="31" name="Text 22"/>
          <p:cNvSpPr/>
          <p:nvPr/>
        </p:nvSpPr>
        <p:spPr>
          <a:xfrm>
            <a:off x="8244840" y="44988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A coaching view plus a strict, auditable view for credits.</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045952" y="6437376"/>
            <a:ext cx="640080" cy="320040"/>
          </a:xfrm>
          <a:prstGeom prst="rect">
            <a:avLst/>
          </a:prstGeom>
          <a:noFill/>
          <a:ln/>
        </p:spPr>
        <p:txBody>
          <a:bodyPr wrap="square" rtlCol="0" anchor="ctr"/>
          <a:lstStyle/>
          <a:p>
            <a:pPr marL="0" indent="0" algn="r">
              <a:buNone/>
            </a:pPr>
            <a:r>
              <a:rPr lang="en-US" sz="1800" dirty="0">
                <a:solidFill>
                  <a:srgbClr val="6B7280"/>
                </a:solidFill>
                <a:latin typeface="Aptos" pitchFamily="34" charset="0"/>
                <a:ea typeface="Aptos" pitchFamily="34" charset="-122"/>
                <a:cs typeface="Aptos" pitchFamily="34" charset="-120"/>
              </a:rPr>
              <a:t>9</a:t>
            </a:r>
            <a:endParaRPr lang="en-US" sz="1800" dirty="0"/>
          </a:p>
        </p:txBody>
      </p:sp>
      <p:sp>
        <p:nvSpPr>
          <p:cNvPr id="3" name="Shape 1"/>
          <p:cNvSpPr/>
          <p:nvPr/>
        </p:nvSpPr>
        <p:spPr>
          <a:xfrm>
            <a:off x="0" y="0"/>
            <a:ext cx="12188952" cy="82296"/>
          </a:xfrm>
          <a:prstGeom prst="rect">
            <a:avLst/>
          </a:prstGeom>
          <a:solidFill>
            <a:srgbClr val="0F6CBD"/>
          </a:solidFill>
          <a:ln/>
        </p:spPr>
      </p:sp>
      <p:sp>
        <p:nvSpPr>
          <p:cNvPr id="5" name="Text 2"/>
          <p:cNvSpPr/>
          <p:nvPr/>
        </p:nvSpPr>
        <p:spPr>
          <a:xfrm>
            <a:off x="502920" y="237744"/>
            <a:ext cx="11183112" cy="347472"/>
          </a:xfrm>
          <a:prstGeom prst="rect">
            <a:avLst/>
          </a:prstGeom>
          <a:noFill/>
          <a:ln/>
        </p:spPr>
        <p:txBody>
          <a:bodyPr wrap="square" rtlCol="0" anchor="ctr"/>
          <a:lstStyle/>
          <a:p>
            <a:pPr marL="0" indent="0">
              <a:buNone/>
            </a:pPr>
            <a:r>
              <a:rPr lang="en-US" sz="1800" b="1" kern="0" spc="200" dirty="0">
                <a:solidFill>
                  <a:srgbClr val="0F6CBD"/>
                </a:solidFill>
                <a:latin typeface="Aptos" pitchFamily="34" charset="0"/>
                <a:ea typeface="Aptos" pitchFamily="34" charset="-122"/>
                <a:cs typeface="Aptos" pitchFamily="34" charset="-120"/>
              </a:rPr>
              <a:t>THE ADMIN EXPERIENCE</a:t>
            </a:r>
            <a:endParaRPr lang="en-US" sz="1800" dirty="0"/>
          </a:p>
        </p:txBody>
      </p:sp>
      <p:sp>
        <p:nvSpPr>
          <p:cNvPr id="6" name="Text 3"/>
          <p:cNvSpPr/>
          <p:nvPr/>
        </p:nvSpPr>
        <p:spPr>
          <a:xfrm>
            <a:off x="502920" y="585216"/>
            <a:ext cx="11183112" cy="731520"/>
          </a:xfrm>
          <a:prstGeom prst="rect">
            <a:avLst/>
          </a:prstGeom>
          <a:noFill/>
          <a:ln/>
        </p:spPr>
        <p:txBody>
          <a:bodyPr wrap="square" rtlCol="0" anchor="ctr"/>
          <a:lstStyle/>
          <a:p>
            <a:pPr marL="0" indent="0">
              <a:buNone/>
            </a:pPr>
            <a:r>
              <a:rPr lang="en-US" sz="3000" b="1" dirty="0">
                <a:solidFill>
                  <a:srgbClr val="002050"/>
                </a:solidFill>
                <a:latin typeface="Aptos Display" pitchFamily="34" charset="0"/>
                <a:ea typeface="Aptos Display" pitchFamily="34" charset="-122"/>
                <a:cs typeface="Aptos Display" pitchFamily="34" charset="-120"/>
              </a:rPr>
              <a:t>Run the session from one screen</a:t>
            </a:r>
            <a:endParaRPr lang="en-US" sz="3000" dirty="0"/>
          </a:p>
        </p:txBody>
      </p:sp>
      <p:sp>
        <p:nvSpPr>
          <p:cNvPr id="7" name="Text 4"/>
          <p:cNvSpPr/>
          <p:nvPr/>
        </p:nvSpPr>
        <p:spPr>
          <a:xfrm>
            <a:off x="502920" y="1316736"/>
            <a:ext cx="11183112" cy="566928"/>
          </a:xfrm>
          <a:prstGeom prst="rect">
            <a:avLst/>
          </a:prstGeom>
          <a:noFill/>
          <a:ln/>
        </p:spPr>
        <p:txBody>
          <a:bodyPr wrap="square" rtlCol="0" anchor="t"/>
          <a:lstStyle/>
          <a:p>
            <a:pPr marL="0" indent="0">
              <a:lnSpc>
                <a:spcPct val="110000"/>
              </a:lnSpc>
              <a:buNone/>
            </a:pPr>
            <a:r>
              <a:rPr lang="en-US" sz="1800" dirty="0">
                <a:solidFill>
                  <a:srgbClr val="6B7280"/>
                </a:solidFill>
                <a:latin typeface="Aptos" pitchFamily="34" charset="0"/>
                <a:ea typeface="Aptos" pitchFamily="34" charset="-122"/>
                <a:cs typeface="Aptos" pitchFamily="34" charset="-120"/>
              </a:rPr>
              <a:t>Attendance, enrolment, onboarding and content — the daily mechanics of the course, automated.</a:t>
            </a:r>
            <a:endParaRPr lang="en-US" sz="1800" dirty="0"/>
          </a:p>
        </p:txBody>
      </p:sp>
      <p:sp>
        <p:nvSpPr>
          <p:cNvPr id="8" name="Shape 5"/>
          <p:cNvSpPr/>
          <p:nvPr/>
        </p:nvSpPr>
        <p:spPr>
          <a:xfrm>
            <a:off x="502920" y="19385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9"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7512" y="2103120"/>
            <a:ext cx="329184" cy="329184"/>
          </a:xfrm>
          <a:prstGeom prst="rect">
            <a:avLst/>
          </a:prstGeom>
        </p:spPr>
      </p:pic>
      <p:sp>
        <p:nvSpPr>
          <p:cNvPr id="10" name="Text 6"/>
          <p:cNvSpPr/>
          <p:nvPr/>
        </p:nvSpPr>
        <p:spPr>
          <a:xfrm>
            <a:off x="1088136" y="20299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Digital attendance</a:t>
            </a:r>
            <a:endParaRPr lang="en-US" sz="2000" dirty="0"/>
          </a:p>
        </p:txBody>
      </p:sp>
      <p:sp>
        <p:nvSpPr>
          <p:cNvPr id="11" name="Text 7"/>
          <p:cNvSpPr/>
          <p:nvPr/>
        </p:nvSpPr>
        <p:spPr>
          <a:xfrm>
            <a:off x="667512" y="26700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Signed on phones; ink extracted from a photographed signature.</a:t>
            </a:r>
            <a:endParaRPr lang="en-US" sz="1800" dirty="0"/>
          </a:p>
        </p:txBody>
      </p:sp>
      <p:sp>
        <p:nvSpPr>
          <p:cNvPr id="12" name="Shape 8"/>
          <p:cNvSpPr/>
          <p:nvPr/>
        </p:nvSpPr>
        <p:spPr>
          <a:xfrm>
            <a:off x="4291584" y="19385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13"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456176" y="2103120"/>
            <a:ext cx="329184" cy="329184"/>
          </a:xfrm>
          <a:prstGeom prst="rect">
            <a:avLst/>
          </a:prstGeom>
        </p:spPr>
      </p:pic>
      <p:sp>
        <p:nvSpPr>
          <p:cNvPr id="14" name="Text 9"/>
          <p:cNvSpPr/>
          <p:nvPr/>
        </p:nvSpPr>
        <p:spPr>
          <a:xfrm>
            <a:off x="4876800" y="20299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Print-perfect forms</a:t>
            </a:r>
            <a:endParaRPr lang="en-US" sz="2000" dirty="0"/>
          </a:p>
        </p:txBody>
      </p:sp>
      <p:sp>
        <p:nvSpPr>
          <p:cNvPr id="15" name="Text 10"/>
          <p:cNvSpPr/>
          <p:nvPr/>
        </p:nvSpPr>
        <p:spPr>
          <a:xfrm>
            <a:off x="4456176" y="26700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Pixel-accurate registers and registration forms, auto-filled.</a:t>
            </a:r>
            <a:endParaRPr lang="en-US" sz="1800" dirty="0"/>
          </a:p>
        </p:txBody>
      </p:sp>
      <p:sp>
        <p:nvSpPr>
          <p:cNvPr id="16" name="Shape 11"/>
          <p:cNvSpPr/>
          <p:nvPr/>
        </p:nvSpPr>
        <p:spPr>
          <a:xfrm>
            <a:off x="8080248" y="19385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17"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244840" y="2103120"/>
            <a:ext cx="329184" cy="329184"/>
          </a:xfrm>
          <a:prstGeom prst="rect">
            <a:avLst/>
          </a:prstGeom>
        </p:spPr>
      </p:pic>
      <p:sp>
        <p:nvSpPr>
          <p:cNvPr id="18" name="Text 12"/>
          <p:cNvSpPr/>
          <p:nvPr/>
        </p:nvSpPr>
        <p:spPr>
          <a:xfrm>
            <a:off x="8665464" y="20299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Digital enrolment</a:t>
            </a:r>
            <a:endParaRPr lang="en-US" sz="2000" dirty="0"/>
          </a:p>
        </p:txBody>
      </p:sp>
      <p:sp>
        <p:nvSpPr>
          <p:cNvPr id="19" name="Text 13"/>
          <p:cNvSpPr/>
          <p:nvPr/>
        </p:nvSpPr>
        <p:spPr>
          <a:xfrm>
            <a:off x="8244840" y="26700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Biographical form captured once — never re-typed.</a:t>
            </a:r>
            <a:endParaRPr lang="en-US" sz="1800" dirty="0"/>
          </a:p>
        </p:txBody>
      </p:sp>
      <p:sp>
        <p:nvSpPr>
          <p:cNvPr id="20" name="Shape 14"/>
          <p:cNvSpPr/>
          <p:nvPr/>
        </p:nvSpPr>
        <p:spPr>
          <a:xfrm>
            <a:off x="502920" y="37673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21"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67512" y="3931920"/>
            <a:ext cx="329184" cy="329184"/>
          </a:xfrm>
          <a:prstGeom prst="rect">
            <a:avLst/>
          </a:prstGeom>
        </p:spPr>
      </p:pic>
      <p:sp>
        <p:nvSpPr>
          <p:cNvPr id="22" name="Text 15"/>
          <p:cNvSpPr/>
          <p:nvPr/>
        </p:nvSpPr>
        <p:spPr>
          <a:xfrm>
            <a:off x="1088136" y="38587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Onboarding pack</a:t>
            </a:r>
            <a:endParaRPr lang="en-US" sz="2000" dirty="0"/>
          </a:p>
        </p:txBody>
      </p:sp>
      <p:sp>
        <p:nvSpPr>
          <p:cNvPr id="23" name="Text 16"/>
          <p:cNvSpPr/>
          <p:nvPr/>
        </p:nvSpPr>
        <p:spPr>
          <a:xfrm>
            <a:off x="667512" y="44988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Welcome document with calendar, POE guide and app how-to.</a:t>
            </a:r>
            <a:endParaRPr lang="en-US" sz="1800" dirty="0"/>
          </a:p>
        </p:txBody>
      </p:sp>
      <p:sp>
        <p:nvSpPr>
          <p:cNvPr id="24" name="Shape 17"/>
          <p:cNvSpPr/>
          <p:nvPr/>
        </p:nvSpPr>
        <p:spPr>
          <a:xfrm>
            <a:off x="4291584" y="37673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25"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456176" y="3931920"/>
            <a:ext cx="329184" cy="329184"/>
          </a:xfrm>
          <a:prstGeom prst="rect">
            <a:avLst/>
          </a:prstGeom>
        </p:spPr>
      </p:pic>
      <p:sp>
        <p:nvSpPr>
          <p:cNvPr id="26" name="Text 18"/>
          <p:cNvSpPr/>
          <p:nvPr/>
        </p:nvSpPr>
        <p:spPr>
          <a:xfrm>
            <a:off x="4876800" y="38587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Central content</a:t>
            </a:r>
            <a:endParaRPr lang="en-US" sz="2000" dirty="0"/>
          </a:p>
        </p:txBody>
      </p:sp>
      <p:sp>
        <p:nvSpPr>
          <p:cNvPr id="27" name="Text 19"/>
          <p:cNvSpPr/>
          <p:nvPr/>
        </p:nvSpPr>
        <p:spPr>
          <a:xfrm>
            <a:off x="4456176" y="44988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Upload decks and figures once — synced to every device.</a:t>
            </a:r>
            <a:endParaRPr lang="en-US" sz="1800" dirty="0"/>
          </a:p>
        </p:txBody>
      </p:sp>
      <p:sp>
        <p:nvSpPr>
          <p:cNvPr id="28" name="Shape 20"/>
          <p:cNvSpPr/>
          <p:nvPr/>
        </p:nvSpPr>
        <p:spPr>
          <a:xfrm>
            <a:off x="8080248" y="37673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29" name="Image 5"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244840" y="3931920"/>
            <a:ext cx="329184" cy="329184"/>
          </a:xfrm>
          <a:prstGeom prst="rect">
            <a:avLst/>
          </a:prstGeom>
        </p:spPr>
      </p:pic>
      <p:sp>
        <p:nvSpPr>
          <p:cNvPr id="30" name="Text 21"/>
          <p:cNvSpPr/>
          <p:nvPr/>
        </p:nvSpPr>
        <p:spPr>
          <a:xfrm>
            <a:off x="8665464" y="38587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1-click broadcast</a:t>
            </a:r>
            <a:endParaRPr lang="en-US" sz="2000" dirty="0"/>
          </a:p>
        </p:txBody>
      </p:sp>
      <p:sp>
        <p:nvSpPr>
          <p:cNvPr id="31" name="Text 22"/>
          <p:cNvSpPr/>
          <p:nvPr/>
        </p:nvSpPr>
        <p:spPr>
          <a:xfrm>
            <a:off x="8244840" y="44988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One private message to every learner at once.</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045952" y="6437376"/>
            <a:ext cx="640080" cy="320040"/>
          </a:xfrm>
          <a:prstGeom prst="rect">
            <a:avLst/>
          </a:prstGeom>
          <a:noFill/>
          <a:ln/>
        </p:spPr>
        <p:txBody>
          <a:bodyPr wrap="square" rtlCol="0" anchor="ctr"/>
          <a:lstStyle/>
          <a:p>
            <a:pPr marL="0" indent="0" algn="r">
              <a:buNone/>
            </a:pPr>
            <a:r>
              <a:rPr lang="en-US" sz="1800" dirty="0">
                <a:solidFill>
                  <a:srgbClr val="6B7280"/>
                </a:solidFill>
                <a:latin typeface="Aptos" pitchFamily="34" charset="0"/>
                <a:ea typeface="Aptos" pitchFamily="34" charset="-122"/>
                <a:cs typeface="Aptos" pitchFamily="34" charset="-120"/>
              </a:rPr>
              <a:t>10</a:t>
            </a:r>
            <a:endParaRPr lang="en-US" sz="1800" dirty="0"/>
          </a:p>
        </p:txBody>
      </p:sp>
      <p:sp>
        <p:nvSpPr>
          <p:cNvPr id="3" name="Shape 1"/>
          <p:cNvSpPr/>
          <p:nvPr/>
        </p:nvSpPr>
        <p:spPr>
          <a:xfrm>
            <a:off x="0" y="0"/>
            <a:ext cx="12188952" cy="82296"/>
          </a:xfrm>
          <a:prstGeom prst="rect">
            <a:avLst/>
          </a:prstGeom>
          <a:solidFill>
            <a:srgbClr val="0F6CBD"/>
          </a:solidFill>
          <a:ln/>
        </p:spPr>
      </p:sp>
      <p:sp>
        <p:nvSpPr>
          <p:cNvPr id="5" name="Text 2"/>
          <p:cNvSpPr/>
          <p:nvPr/>
        </p:nvSpPr>
        <p:spPr>
          <a:xfrm>
            <a:off x="502920" y="237744"/>
            <a:ext cx="11183112" cy="347472"/>
          </a:xfrm>
          <a:prstGeom prst="rect">
            <a:avLst/>
          </a:prstGeom>
          <a:noFill/>
          <a:ln/>
        </p:spPr>
        <p:txBody>
          <a:bodyPr wrap="square" rtlCol="0" anchor="ctr"/>
          <a:lstStyle/>
          <a:p>
            <a:pPr marL="0" indent="0">
              <a:buNone/>
            </a:pPr>
            <a:r>
              <a:rPr lang="en-US" sz="1800" b="1" kern="0" spc="200" dirty="0">
                <a:solidFill>
                  <a:srgbClr val="0F6CBD"/>
                </a:solidFill>
                <a:latin typeface="Aptos" pitchFamily="34" charset="0"/>
                <a:ea typeface="Aptos" pitchFamily="34" charset="-122"/>
                <a:cs typeface="Aptos" pitchFamily="34" charset="-120"/>
              </a:rPr>
              <a:t>THE ADMIN EXPERIENCE</a:t>
            </a:r>
            <a:endParaRPr lang="en-US" sz="1800" dirty="0"/>
          </a:p>
        </p:txBody>
      </p:sp>
      <p:sp>
        <p:nvSpPr>
          <p:cNvPr id="6" name="Text 3"/>
          <p:cNvSpPr/>
          <p:nvPr/>
        </p:nvSpPr>
        <p:spPr>
          <a:xfrm>
            <a:off x="502920" y="585216"/>
            <a:ext cx="11183112" cy="731520"/>
          </a:xfrm>
          <a:prstGeom prst="rect">
            <a:avLst/>
          </a:prstGeom>
          <a:noFill/>
          <a:ln/>
        </p:spPr>
        <p:txBody>
          <a:bodyPr wrap="square" rtlCol="0" anchor="ctr"/>
          <a:lstStyle/>
          <a:p>
            <a:pPr marL="0" indent="0">
              <a:buNone/>
            </a:pPr>
            <a:r>
              <a:rPr lang="en-US" sz="3000" b="1" dirty="0">
                <a:solidFill>
                  <a:srgbClr val="002050"/>
                </a:solidFill>
                <a:latin typeface="Aptos Display" pitchFamily="34" charset="0"/>
                <a:ea typeface="Aptos Display" pitchFamily="34" charset="-122"/>
                <a:cs typeface="Aptos Display" pitchFamily="34" charset="-120"/>
              </a:rPr>
              <a:t>See every learner, live</a:t>
            </a:r>
            <a:endParaRPr lang="en-US" sz="3000" dirty="0"/>
          </a:p>
        </p:txBody>
      </p:sp>
      <p:sp>
        <p:nvSpPr>
          <p:cNvPr id="7" name="Text 4"/>
          <p:cNvSpPr/>
          <p:nvPr/>
        </p:nvSpPr>
        <p:spPr>
          <a:xfrm>
            <a:off x="502920" y="1316736"/>
            <a:ext cx="11183112" cy="566928"/>
          </a:xfrm>
          <a:prstGeom prst="rect">
            <a:avLst/>
          </a:prstGeom>
          <a:noFill/>
          <a:ln/>
        </p:spPr>
        <p:txBody>
          <a:bodyPr wrap="square" rtlCol="0" anchor="t"/>
          <a:lstStyle/>
          <a:p>
            <a:pPr marL="0" indent="0">
              <a:lnSpc>
                <a:spcPct val="110000"/>
              </a:lnSpc>
              <a:buNone/>
            </a:pPr>
            <a:r>
              <a:rPr lang="en-US" sz="1800" dirty="0">
                <a:solidFill>
                  <a:srgbClr val="6B7280"/>
                </a:solidFill>
                <a:latin typeface="Aptos" pitchFamily="34" charset="0"/>
                <a:ea typeface="Aptos" pitchFamily="34" charset="-122"/>
                <a:cs typeface="Aptos" pitchFamily="34" charset="-120"/>
              </a:rPr>
              <a:t>A live cohort dashboard, automatic at-risk flags and drill-down to every learner's actual work.</a:t>
            </a:r>
            <a:endParaRPr lang="en-US" sz="1800" dirty="0"/>
          </a:p>
        </p:txBody>
      </p:sp>
      <p:sp>
        <p:nvSpPr>
          <p:cNvPr id="8" name="Shape 5"/>
          <p:cNvSpPr/>
          <p:nvPr/>
        </p:nvSpPr>
        <p:spPr>
          <a:xfrm>
            <a:off x="502920" y="19385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9"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7512" y="2103120"/>
            <a:ext cx="329184" cy="329184"/>
          </a:xfrm>
          <a:prstGeom prst="rect">
            <a:avLst/>
          </a:prstGeom>
        </p:spPr>
      </p:pic>
      <p:sp>
        <p:nvSpPr>
          <p:cNvPr id="10" name="Text 6"/>
          <p:cNvSpPr/>
          <p:nvPr/>
        </p:nvSpPr>
        <p:spPr>
          <a:xfrm>
            <a:off x="1088136" y="20299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Cohort dashboard</a:t>
            </a:r>
            <a:endParaRPr lang="en-US" sz="2000" dirty="0"/>
          </a:p>
        </p:txBody>
      </p:sp>
      <p:sp>
        <p:nvSpPr>
          <p:cNvPr id="11" name="Text 7"/>
          <p:cNvSpPr/>
          <p:nvPr/>
        </p:nvSpPr>
        <p:spPr>
          <a:xfrm>
            <a:off x="667512" y="26700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Completion, averages, attendance, last-seen and XP — one table.</a:t>
            </a:r>
            <a:endParaRPr lang="en-US" sz="1800" dirty="0"/>
          </a:p>
        </p:txBody>
      </p:sp>
      <p:sp>
        <p:nvSpPr>
          <p:cNvPr id="12" name="Shape 8"/>
          <p:cNvSpPr/>
          <p:nvPr/>
        </p:nvSpPr>
        <p:spPr>
          <a:xfrm>
            <a:off x="4291584" y="19385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13"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456176" y="2103120"/>
            <a:ext cx="329184" cy="329184"/>
          </a:xfrm>
          <a:prstGeom prst="rect">
            <a:avLst/>
          </a:prstGeom>
        </p:spPr>
      </p:pic>
      <p:sp>
        <p:nvSpPr>
          <p:cNvPr id="14" name="Text 9"/>
          <p:cNvSpPr/>
          <p:nvPr/>
        </p:nvSpPr>
        <p:spPr>
          <a:xfrm>
            <a:off x="4876800" y="20299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Early-warning flags</a:t>
            </a:r>
            <a:endParaRPr lang="en-US" sz="2000" dirty="0"/>
          </a:p>
        </p:txBody>
      </p:sp>
      <p:sp>
        <p:nvSpPr>
          <p:cNvPr id="15" name="Text 10"/>
          <p:cNvSpPr/>
          <p:nvPr/>
        </p:nvSpPr>
        <p:spPr>
          <a:xfrm>
            <a:off x="4456176" y="26700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At-risk learners flagged automatically, with reasons.</a:t>
            </a:r>
            <a:endParaRPr lang="en-US" sz="1800" dirty="0"/>
          </a:p>
        </p:txBody>
      </p:sp>
      <p:sp>
        <p:nvSpPr>
          <p:cNvPr id="16" name="Shape 11"/>
          <p:cNvSpPr/>
          <p:nvPr/>
        </p:nvSpPr>
        <p:spPr>
          <a:xfrm>
            <a:off x="8080248" y="19385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17"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244840" y="2103120"/>
            <a:ext cx="329184" cy="329184"/>
          </a:xfrm>
          <a:prstGeom prst="rect">
            <a:avLst/>
          </a:prstGeom>
        </p:spPr>
      </p:pic>
      <p:sp>
        <p:nvSpPr>
          <p:cNvPr id="18" name="Text 12"/>
          <p:cNvSpPr/>
          <p:nvPr/>
        </p:nvSpPr>
        <p:spPr>
          <a:xfrm>
            <a:off x="8665464" y="20299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Drill into anyone</a:t>
            </a:r>
            <a:endParaRPr lang="en-US" sz="2000" dirty="0"/>
          </a:p>
        </p:txBody>
      </p:sp>
      <p:sp>
        <p:nvSpPr>
          <p:cNvPr id="19" name="Text 13"/>
          <p:cNvSpPr/>
          <p:nvPr/>
        </p:nvSpPr>
        <p:spPr>
          <a:xfrm>
            <a:off x="8244840" y="26700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Every answer, upload and signed register on record.</a:t>
            </a:r>
            <a:endParaRPr lang="en-US" sz="1800" dirty="0"/>
          </a:p>
        </p:txBody>
      </p:sp>
      <p:sp>
        <p:nvSpPr>
          <p:cNvPr id="20" name="Shape 14"/>
          <p:cNvSpPr/>
          <p:nvPr/>
        </p:nvSpPr>
        <p:spPr>
          <a:xfrm>
            <a:off x="502920" y="37673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21"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67512" y="3931920"/>
            <a:ext cx="329184" cy="329184"/>
          </a:xfrm>
          <a:prstGeom prst="rect">
            <a:avLst/>
          </a:prstGeom>
        </p:spPr>
      </p:pic>
      <p:sp>
        <p:nvSpPr>
          <p:cNvPr id="22" name="Text 15"/>
          <p:cNvSpPr/>
          <p:nvPr/>
        </p:nvSpPr>
        <p:spPr>
          <a:xfrm>
            <a:off x="1088136" y="38587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Compliance view</a:t>
            </a:r>
            <a:endParaRPr lang="en-US" sz="2000" dirty="0"/>
          </a:p>
        </p:txBody>
      </p:sp>
      <p:sp>
        <p:nvSpPr>
          <p:cNvPr id="23" name="Text 16"/>
          <p:cNvSpPr/>
          <p:nvPr/>
        </p:nvSpPr>
        <p:spPr>
          <a:xfrm>
            <a:off x="667512" y="44988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Milestones and document completeness at a glance.</a:t>
            </a:r>
            <a:endParaRPr lang="en-US" sz="1800" dirty="0"/>
          </a:p>
        </p:txBody>
      </p:sp>
      <p:sp>
        <p:nvSpPr>
          <p:cNvPr id="24" name="Shape 17"/>
          <p:cNvSpPr/>
          <p:nvPr/>
        </p:nvSpPr>
        <p:spPr>
          <a:xfrm>
            <a:off x="4291584" y="37673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25"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456176" y="3931920"/>
            <a:ext cx="329184" cy="329184"/>
          </a:xfrm>
          <a:prstGeom prst="rect">
            <a:avLst/>
          </a:prstGeom>
        </p:spPr>
      </p:pic>
      <p:sp>
        <p:nvSpPr>
          <p:cNvPr id="26" name="Text 18"/>
          <p:cNvSpPr/>
          <p:nvPr/>
        </p:nvSpPr>
        <p:spPr>
          <a:xfrm>
            <a:off x="4876800" y="38587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CSV export</a:t>
            </a:r>
            <a:endParaRPr lang="en-US" sz="2000" dirty="0"/>
          </a:p>
        </p:txBody>
      </p:sp>
      <p:sp>
        <p:nvSpPr>
          <p:cNvPr id="27" name="Text 19"/>
          <p:cNvSpPr/>
          <p:nvPr/>
        </p:nvSpPr>
        <p:spPr>
          <a:xfrm>
            <a:off x="4456176" y="44988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Full analytics table for BI, board packs and SETA reports.</a:t>
            </a:r>
            <a:endParaRPr lang="en-US" sz="1800" dirty="0"/>
          </a:p>
        </p:txBody>
      </p:sp>
      <p:sp>
        <p:nvSpPr>
          <p:cNvPr id="28" name="Shape 20"/>
          <p:cNvSpPr/>
          <p:nvPr/>
        </p:nvSpPr>
        <p:spPr>
          <a:xfrm>
            <a:off x="8080248" y="37673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29" name="Image 5"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244840" y="3931920"/>
            <a:ext cx="329184" cy="329184"/>
          </a:xfrm>
          <a:prstGeom prst="rect">
            <a:avLst/>
          </a:prstGeom>
        </p:spPr>
      </p:pic>
      <p:sp>
        <p:nvSpPr>
          <p:cNvPr id="30" name="Text 21"/>
          <p:cNvSpPr/>
          <p:nvPr/>
        </p:nvSpPr>
        <p:spPr>
          <a:xfrm>
            <a:off x="8665464" y="38587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Management reports</a:t>
            </a:r>
            <a:endParaRPr lang="en-US" sz="2000" dirty="0"/>
          </a:p>
        </p:txBody>
      </p:sp>
      <p:sp>
        <p:nvSpPr>
          <p:cNvPr id="31" name="Text 22"/>
          <p:cNvSpPr/>
          <p:nvPr/>
        </p:nvSpPr>
        <p:spPr>
          <a:xfrm>
            <a:off x="8244840" y="44988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Formal reports served in-app, Super User only.</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045952" y="6437376"/>
            <a:ext cx="640080" cy="320040"/>
          </a:xfrm>
          <a:prstGeom prst="rect">
            <a:avLst/>
          </a:prstGeom>
          <a:noFill/>
          <a:ln/>
        </p:spPr>
        <p:txBody>
          <a:bodyPr wrap="square" rtlCol="0" anchor="ctr"/>
          <a:lstStyle/>
          <a:p>
            <a:pPr marL="0" indent="0" algn="r">
              <a:buNone/>
            </a:pPr>
            <a:r>
              <a:rPr lang="en-US" sz="1800" dirty="0">
                <a:solidFill>
                  <a:srgbClr val="6B7280"/>
                </a:solidFill>
                <a:latin typeface="Aptos" pitchFamily="34" charset="0"/>
                <a:ea typeface="Aptos" pitchFamily="34" charset="-122"/>
                <a:cs typeface="Aptos" pitchFamily="34" charset="-120"/>
              </a:rPr>
              <a:t>11</a:t>
            </a:r>
            <a:endParaRPr lang="en-US" sz="1800" dirty="0"/>
          </a:p>
        </p:txBody>
      </p:sp>
      <p:sp>
        <p:nvSpPr>
          <p:cNvPr id="3" name="Shape 1"/>
          <p:cNvSpPr/>
          <p:nvPr/>
        </p:nvSpPr>
        <p:spPr>
          <a:xfrm>
            <a:off x="0" y="0"/>
            <a:ext cx="12188952" cy="82296"/>
          </a:xfrm>
          <a:prstGeom prst="rect">
            <a:avLst/>
          </a:prstGeom>
          <a:solidFill>
            <a:srgbClr val="0F6CBD"/>
          </a:solidFill>
          <a:ln/>
        </p:spPr>
      </p:sp>
      <p:sp>
        <p:nvSpPr>
          <p:cNvPr id="5" name="Text 2"/>
          <p:cNvSpPr/>
          <p:nvPr/>
        </p:nvSpPr>
        <p:spPr>
          <a:xfrm>
            <a:off x="502920" y="237744"/>
            <a:ext cx="11183112" cy="347472"/>
          </a:xfrm>
          <a:prstGeom prst="rect">
            <a:avLst/>
          </a:prstGeom>
          <a:noFill/>
          <a:ln/>
        </p:spPr>
        <p:txBody>
          <a:bodyPr wrap="square" rtlCol="0" anchor="ctr"/>
          <a:lstStyle/>
          <a:p>
            <a:pPr marL="0" indent="0">
              <a:buNone/>
            </a:pPr>
            <a:r>
              <a:rPr lang="en-US" sz="1800" b="1" kern="0" spc="200" dirty="0">
                <a:solidFill>
                  <a:srgbClr val="0F6CBD"/>
                </a:solidFill>
                <a:latin typeface="Aptos" pitchFamily="34" charset="0"/>
                <a:ea typeface="Aptos" pitchFamily="34" charset="-122"/>
                <a:cs typeface="Aptos" pitchFamily="34" charset="-120"/>
              </a:rPr>
              <a:t>THE ADMIN EXPERIENCE</a:t>
            </a:r>
            <a:endParaRPr lang="en-US" sz="1800" dirty="0"/>
          </a:p>
        </p:txBody>
      </p:sp>
      <p:sp>
        <p:nvSpPr>
          <p:cNvPr id="6" name="Text 3"/>
          <p:cNvSpPr/>
          <p:nvPr/>
        </p:nvSpPr>
        <p:spPr>
          <a:xfrm>
            <a:off x="502920" y="585216"/>
            <a:ext cx="11183112" cy="731520"/>
          </a:xfrm>
          <a:prstGeom prst="rect">
            <a:avLst/>
          </a:prstGeom>
          <a:noFill/>
          <a:ln/>
        </p:spPr>
        <p:txBody>
          <a:bodyPr wrap="square" rtlCol="0" anchor="ctr"/>
          <a:lstStyle/>
          <a:p>
            <a:pPr marL="0" indent="0">
              <a:buNone/>
            </a:pPr>
            <a:r>
              <a:rPr lang="en-US" sz="3000" b="1" dirty="0">
                <a:solidFill>
                  <a:srgbClr val="002050"/>
                </a:solidFill>
                <a:latin typeface="Aptos Display" pitchFamily="34" charset="0"/>
                <a:ea typeface="Aptos Display" pitchFamily="34" charset="-122"/>
                <a:cs typeface="Aptos Display" pitchFamily="34" charset="-120"/>
              </a:rPr>
              <a:t>Audit-ready by default</a:t>
            </a:r>
            <a:endParaRPr lang="en-US" sz="3000" dirty="0"/>
          </a:p>
        </p:txBody>
      </p:sp>
      <p:sp>
        <p:nvSpPr>
          <p:cNvPr id="7" name="Text 4"/>
          <p:cNvSpPr/>
          <p:nvPr/>
        </p:nvSpPr>
        <p:spPr>
          <a:xfrm>
            <a:off x="502920" y="1316736"/>
            <a:ext cx="11183112" cy="566928"/>
          </a:xfrm>
          <a:prstGeom prst="rect">
            <a:avLst/>
          </a:prstGeom>
          <a:noFill/>
          <a:ln/>
        </p:spPr>
        <p:txBody>
          <a:bodyPr wrap="square" rtlCol="0" anchor="t"/>
          <a:lstStyle/>
          <a:p>
            <a:pPr marL="0" indent="0">
              <a:lnSpc>
                <a:spcPct val="110000"/>
              </a:lnSpc>
              <a:buNone/>
            </a:pPr>
            <a:r>
              <a:rPr lang="en-US" sz="1800" dirty="0">
                <a:solidFill>
                  <a:srgbClr val="6B7280"/>
                </a:solidFill>
                <a:latin typeface="Aptos" pitchFamily="34" charset="0"/>
                <a:ea typeface="Aptos" pitchFamily="34" charset="-122"/>
                <a:cs typeface="Aptos" pitchFamily="34" charset="-120"/>
              </a:rPr>
              <a:t>The paperwork a SETA / QCTO audit demands is generated, tracked and exportable — not reconstructed.</a:t>
            </a:r>
            <a:endParaRPr lang="en-US" sz="1800" dirty="0"/>
          </a:p>
        </p:txBody>
      </p:sp>
      <p:sp>
        <p:nvSpPr>
          <p:cNvPr id="8" name="Shape 5"/>
          <p:cNvSpPr/>
          <p:nvPr/>
        </p:nvSpPr>
        <p:spPr>
          <a:xfrm>
            <a:off x="502920" y="19385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9"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7512" y="2103120"/>
            <a:ext cx="329184" cy="329184"/>
          </a:xfrm>
          <a:prstGeom prst="rect">
            <a:avLst/>
          </a:prstGeom>
        </p:spPr>
      </p:pic>
      <p:sp>
        <p:nvSpPr>
          <p:cNvPr id="10" name="Text 6"/>
          <p:cNvSpPr/>
          <p:nvPr/>
        </p:nvSpPr>
        <p:spPr>
          <a:xfrm>
            <a:off x="1088136" y="20299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Full audit trail</a:t>
            </a:r>
            <a:endParaRPr lang="en-US" sz="2000" dirty="0"/>
          </a:p>
        </p:txBody>
      </p:sp>
      <p:sp>
        <p:nvSpPr>
          <p:cNvPr id="11" name="Text 7"/>
          <p:cNvSpPr/>
          <p:nvPr/>
        </p:nvSpPr>
        <p:spPr>
          <a:xfrm>
            <a:off x="667512" y="26700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Every action logged with actor and timestamp; CSV export.</a:t>
            </a:r>
            <a:endParaRPr lang="en-US" sz="1800" dirty="0"/>
          </a:p>
        </p:txBody>
      </p:sp>
      <p:sp>
        <p:nvSpPr>
          <p:cNvPr id="12" name="Shape 8"/>
          <p:cNvSpPr/>
          <p:nvPr/>
        </p:nvSpPr>
        <p:spPr>
          <a:xfrm>
            <a:off x="4291584" y="19385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13"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456176" y="2103120"/>
            <a:ext cx="329184" cy="329184"/>
          </a:xfrm>
          <a:prstGeom prst="rect">
            <a:avLst/>
          </a:prstGeom>
        </p:spPr>
      </p:pic>
      <p:sp>
        <p:nvSpPr>
          <p:cNvPr id="14" name="Text 9"/>
          <p:cNvSpPr/>
          <p:nvPr/>
        </p:nvSpPr>
        <p:spPr>
          <a:xfrm>
            <a:off x="4876800" y="20299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Certificates</a:t>
            </a:r>
            <a:endParaRPr lang="en-US" sz="2000" dirty="0"/>
          </a:p>
        </p:txBody>
      </p:sp>
      <p:sp>
        <p:nvSpPr>
          <p:cNvPr id="15" name="Text 10"/>
          <p:cNvSpPr/>
          <p:nvPr/>
        </p:nvSpPr>
        <p:spPr>
          <a:xfrm>
            <a:off x="4456176" y="26700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Statements of results and certificates, print-ready.</a:t>
            </a:r>
            <a:endParaRPr lang="en-US" sz="1800" dirty="0"/>
          </a:p>
        </p:txBody>
      </p:sp>
      <p:sp>
        <p:nvSpPr>
          <p:cNvPr id="16" name="Shape 11"/>
          <p:cNvSpPr/>
          <p:nvPr/>
        </p:nvSpPr>
        <p:spPr>
          <a:xfrm>
            <a:off x="8080248" y="19385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17"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244840" y="2103120"/>
            <a:ext cx="329184" cy="329184"/>
          </a:xfrm>
          <a:prstGeom prst="rect">
            <a:avLst/>
          </a:prstGeom>
        </p:spPr>
      </p:pic>
      <p:sp>
        <p:nvSpPr>
          <p:cNvPr id="18" name="Text 12"/>
          <p:cNvSpPr/>
          <p:nvPr/>
        </p:nvSpPr>
        <p:spPr>
          <a:xfrm>
            <a:off x="8665464" y="20299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Deliverables tracked</a:t>
            </a:r>
            <a:endParaRPr lang="en-US" sz="2000" dirty="0"/>
          </a:p>
        </p:txBody>
      </p:sp>
      <p:sp>
        <p:nvSpPr>
          <p:cNvPr id="19" name="Text 13"/>
          <p:cNvSpPr/>
          <p:nvPr/>
        </p:nvSpPr>
        <p:spPr>
          <a:xfrm>
            <a:off x="8244840" y="26700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Lesson plans and assessment records against deadlines.</a:t>
            </a:r>
            <a:endParaRPr lang="en-US" sz="1800" dirty="0"/>
          </a:p>
        </p:txBody>
      </p:sp>
      <p:sp>
        <p:nvSpPr>
          <p:cNvPr id="20" name="Shape 14"/>
          <p:cNvSpPr/>
          <p:nvPr/>
        </p:nvSpPr>
        <p:spPr>
          <a:xfrm>
            <a:off x="502920" y="37673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21"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67512" y="3931920"/>
            <a:ext cx="329184" cy="329184"/>
          </a:xfrm>
          <a:prstGeom prst="rect">
            <a:avLst/>
          </a:prstGeom>
        </p:spPr>
      </p:pic>
      <p:sp>
        <p:nvSpPr>
          <p:cNvPr id="22" name="Text 15"/>
          <p:cNvSpPr/>
          <p:nvPr/>
        </p:nvSpPr>
        <p:spPr>
          <a:xfrm>
            <a:off x="1088136" y="38587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Evidence on demand</a:t>
            </a:r>
            <a:endParaRPr lang="en-US" sz="2000" dirty="0"/>
          </a:p>
        </p:txBody>
      </p:sp>
      <p:sp>
        <p:nvSpPr>
          <p:cNvPr id="23" name="Text 16"/>
          <p:cNvSpPr/>
          <p:nvPr/>
        </p:nvSpPr>
        <p:spPr>
          <a:xfrm>
            <a:off x="667512" y="44988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Registers, forms and logbooks print like the originals.</a:t>
            </a:r>
            <a:endParaRPr lang="en-US" sz="1800" dirty="0"/>
          </a:p>
        </p:txBody>
      </p:sp>
      <p:sp>
        <p:nvSpPr>
          <p:cNvPr id="24" name="Shape 17"/>
          <p:cNvSpPr/>
          <p:nvPr/>
        </p:nvSpPr>
        <p:spPr>
          <a:xfrm>
            <a:off x="4291584" y="37673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25"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456176" y="3931920"/>
            <a:ext cx="329184" cy="329184"/>
          </a:xfrm>
          <a:prstGeom prst="rect">
            <a:avLst/>
          </a:prstGeom>
        </p:spPr>
      </p:pic>
      <p:sp>
        <p:nvSpPr>
          <p:cNvPr id="26" name="Text 18"/>
          <p:cNvSpPr/>
          <p:nvPr/>
        </p:nvSpPr>
        <p:spPr>
          <a:xfrm>
            <a:off x="4876800" y="38587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Moderation-ready POE</a:t>
            </a:r>
            <a:endParaRPr lang="en-US" sz="2000" dirty="0"/>
          </a:p>
        </p:txBody>
      </p:sp>
      <p:sp>
        <p:nvSpPr>
          <p:cNvPr id="27" name="Text 19"/>
          <p:cNvSpPr/>
          <p:nvPr/>
        </p:nvSpPr>
        <p:spPr>
          <a:xfrm>
            <a:off x="4456176" y="44988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Complete portfolio ZIPs with verdicts and sign-off history.</a:t>
            </a:r>
            <a:endParaRPr lang="en-US" sz="1800" dirty="0"/>
          </a:p>
        </p:txBody>
      </p:sp>
      <p:sp>
        <p:nvSpPr>
          <p:cNvPr id="28" name="Shape 20"/>
          <p:cNvSpPr/>
          <p:nvPr/>
        </p:nvSpPr>
        <p:spPr>
          <a:xfrm>
            <a:off x="8080248" y="37673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29" name="Image 5"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244840" y="3931920"/>
            <a:ext cx="329184" cy="329184"/>
          </a:xfrm>
          <a:prstGeom prst="rect">
            <a:avLst/>
          </a:prstGeom>
        </p:spPr>
      </p:pic>
      <p:sp>
        <p:nvSpPr>
          <p:cNvPr id="30" name="Text 21"/>
          <p:cNvSpPr/>
          <p:nvPr/>
        </p:nvSpPr>
        <p:spPr>
          <a:xfrm>
            <a:off x="8665464" y="38587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Honest credit</a:t>
            </a:r>
            <a:endParaRPr lang="en-US" sz="2000" dirty="0"/>
          </a:p>
        </p:txBody>
      </p:sp>
      <p:sp>
        <p:nvSpPr>
          <p:cNvPr id="31" name="Text 22"/>
          <p:cNvSpPr/>
          <p:nvPr/>
        </p:nvSpPr>
        <p:spPr>
          <a:xfrm>
            <a:off x="8244840" y="44988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Claimed credits always match recorded evidence.</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045952" y="6437376"/>
            <a:ext cx="640080" cy="320040"/>
          </a:xfrm>
          <a:prstGeom prst="rect">
            <a:avLst/>
          </a:prstGeom>
          <a:noFill/>
          <a:ln/>
        </p:spPr>
        <p:txBody>
          <a:bodyPr wrap="square" rtlCol="0" anchor="ctr"/>
          <a:lstStyle/>
          <a:p>
            <a:pPr marL="0" indent="0" algn="r">
              <a:buNone/>
            </a:pPr>
            <a:r>
              <a:rPr lang="en-US" sz="1800" dirty="0">
                <a:solidFill>
                  <a:srgbClr val="6B7280"/>
                </a:solidFill>
                <a:latin typeface="Aptos" pitchFamily="34" charset="0"/>
                <a:ea typeface="Aptos" pitchFamily="34" charset="-122"/>
                <a:cs typeface="Aptos" pitchFamily="34" charset="-120"/>
              </a:rPr>
              <a:t>12</a:t>
            </a:r>
            <a:endParaRPr lang="en-US" sz="1800" dirty="0"/>
          </a:p>
        </p:txBody>
      </p:sp>
      <p:sp>
        <p:nvSpPr>
          <p:cNvPr id="3" name="Shape 1"/>
          <p:cNvSpPr/>
          <p:nvPr/>
        </p:nvSpPr>
        <p:spPr>
          <a:xfrm>
            <a:off x="0" y="0"/>
            <a:ext cx="12188952" cy="82296"/>
          </a:xfrm>
          <a:prstGeom prst="rect">
            <a:avLst/>
          </a:prstGeom>
          <a:solidFill>
            <a:srgbClr val="0F6CBD"/>
          </a:solidFill>
          <a:ln/>
        </p:spPr>
      </p:sp>
      <p:sp>
        <p:nvSpPr>
          <p:cNvPr id="5" name="Text 2"/>
          <p:cNvSpPr/>
          <p:nvPr/>
        </p:nvSpPr>
        <p:spPr>
          <a:xfrm>
            <a:off x="502920" y="237744"/>
            <a:ext cx="11183112" cy="347472"/>
          </a:xfrm>
          <a:prstGeom prst="rect">
            <a:avLst/>
          </a:prstGeom>
          <a:noFill/>
          <a:ln/>
        </p:spPr>
        <p:txBody>
          <a:bodyPr wrap="square" rtlCol="0" anchor="ctr"/>
          <a:lstStyle/>
          <a:p>
            <a:pPr marL="0" indent="0">
              <a:buNone/>
            </a:pPr>
            <a:r>
              <a:rPr lang="en-US" sz="1800" b="1" kern="0" spc="200" dirty="0">
                <a:solidFill>
                  <a:srgbClr val="0F6CBD"/>
                </a:solidFill>
                <a:latin typeface="Aptos" pitchFamily="34" charset="0"/>
                <a:ea typeface="Aptos" pitchFamily="34" charset="-122"/>
                <a:cs typeface="Aptos" pitchFamily="34" charset="-120"/>
              </a:rPr>
              <a:t>TRUST</a:t>
            </a:r>
            <a:endParaRPr lang="en-US" sz="1800" dirty="0"/>
          </a:p>
        </p:txBody>
      </p:sp>
      <p:sp>
        <p:nvSpPr>
          <p:cNvPr id="6" name="Text 3"/>
          <p:cNvSpPr/>
          <p:nvPr/>
        </p:nvSpPr>
        <p:spPr>
          <a:xfrm>
            <a:off x="502920" y="585216"/>
            <a:ext cx="11183112" cy="731520"/>
          </a:xfrm>
          <a:prstGeom prst="rect">
            <a:avLst/>
          </a:prstGeom>
          <a:noFill/>
          <a:ln/>
        </p:spPr>
        <p:txBody>
          <a:bodyPr wrap="square" rtlCol="0" anchor="ctr"/>
          <a:lstStyle/>
          <a:p>
            <a:pPr marL="0" indent="0">
              <a:buNone/>
            </a:pPr>
            <a:r>
              <a:rPr lang="en-US" sz="3000" b="1" dirty="0">
                <a:solidFill>
                  <a:srgbClr val="002050"/>
                </a:solidFill>
                <a:latin typeface="Aptos Display" pitchFamily="34" charset="0"/>
                <a:ea typeface="Aptos Display" pitchFamily="34" charset="-122"/>
                <a:cs typeface="Aptos Display" pitchFamily="34" charset="-120"/>
              </a:rPr>
              <a:t>Security enforced by the database</a:t>
            </a:r>
            <a:endParaRPr lang="en-US" sz="3000" dirty="0"/>
          </a:p>
        </p:txBody>
      </p:sp>
      <p:sp>
        <p:nvSpPr>
          <p:cNvPr id="7" name="Text 4"/>
          <p:cNvSpPr/>
          <p:nvPr/>
        </p:nvSpPr>
        <p:spPr>
          <a:xfrm>
            <a:off x="502920" y="1316736"/>
            <a:ext cx="11183112" cy="566928"/>
          </a:xfrm>
          <a:prstGeom prst="rect">
            <a:avLst/>
          </a:prstGeom>
          <a:noFill/>
          <a:ln/>
        </p:spPr>
        <p:txBody>
          <a:bodyPr wrap="square" rtlCol="0" anchor="t"/>
          <a:lstStyle/>
          <a:p>
            <a:pPr marL="0" indent="0">
              <a:lnSpc>
                <a:spcPct val="110000"/>
              </a:lnSpc>
              <a:buNone/>
            </a:pPr>
            <a:r>
              <a:rPr lang="en-US" sz="1800" dirty="0">
                <a:solidFill>
                  <a:srgbClr val="6B7280"/>
                </a:solidFill>
                <a:latin typeface="Aptos" pitchFamily="34" charset="0"/>
                <a:ea typeface="Aptos" pitchFamily="34" charset="-122"/>
                <a:cs typeface="Aptos" pitchFamily="34" charset="-120"/>
              </a:rPr>
              <a:t>Learner privacy and role separation are guaranteed at the data layer — even outside the app.</a:t>
            </a:r>
            <a:endParaRPr lang="en-US" sz="1800" dirty="0"/>
          </a:p>
        </p:txBody>
      </p:sp>
      <p:sp>
        <p:nvSpPr>
          <p:cNvPr id="8" name="Shape 5"/>
          <p:cNvSpPr/>
          <p:nvPr/>
        </p:nvSpPr>
        <p:spPr>
          <a:xfrm>
            <a:off x="502920" y="19385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9"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7512" y="2103120"/>
            <a:ext cx="329184" cy="329184"/>
          </a:xfrm>
          <a:prstGeom prst="rect">
            <a:avLst/>
          </a:prstGeom>
        </p:spPr>
      </p:pic>
      <p:sp>
        <p:nvSpPr>
          <p:cNvPr id="10" name="Text 6"/>
          <p:cNvSpPr/>
          <p:nvPr/>
        </p:nvSpPr>
        <p:spPr>
          <a:xfrm>
            <a:off x="1088136" y="20299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Row-level security</a:t>
            </a:r>
            <a:endParaRPr lang="en-US" sz="2000" dirty="0"/>
          </a:p>
        </p:txBody>
      </p:sp>
      <p:sp>
        <p:nvSpPr>
          <p:cNvPr id="11" name="Text 7"/>
          <p:cNvSpPr/>
          <p:nvPr/>
        </p:nvSpPr>
        <p:spPr>
          <a:xfrm>
            <a:off x="667512" y="26700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The database itself blocks access to other learners' data.</a:t>
            </a:r>
            <a:endParaRPr lang="en-US" sz="1800" dirty="0"/>
          </a:p>
        </p:txBody>
      </p:sp>
      <p:sp>
        <p:nvSpPr>
          <p:cNvPr id="12" name="Shape 8"/>
          <p:cNvSpPr/>
          <p:nvPr/>
        </p:nvSpPr>
        <p:spPr>
          <a:xfrm>
            <a:off x="4291584" y="19385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13"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456176" y="2103120"/>
            <a:ext cx="329184" cy="329184"/>
          </a:xfrm>
          <a:prstGeom prst="rect">
            <a:avLst/>
          </a:prstGeom>
        </p:spPr>
      </p:pic>
      <p:sp>
        <p:nvSpPr>
          <p:cNvPr id="14" name="Text 9"/>
          <p:cNvSpPr/>
          <p:nvPr/>
        </p:nvSpPr>
        <p:spPr>
          <a:xfrm>
            <a:off x="4876800" y="20299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5-tier role system</a:t>
            </a:r>
            <a:endParaRPr lang="en-US" sz="2000" dirty="0"/>
          </a:p>
        </p:txBody>
      </p:sp>
      <p:sp>
        <p:nvSpPr>
          <p:cNvPr id="15" name="Text 10"/>
          <p:cNvSpPr/>
          <p:nvPr/>
        </p:nvSpPr>
        <p:spPr>
          <a:xfrm>
            <a:off x="4456176" y="26700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Every screen, action and report adapts to the role.</a:t>
            </a:r>
            <a:endParaRPr lang="en-US" sz="1800" dirty="0"/>
          </a:p>
        </p:txBody>
      </p:sp>
      <p:sp>
        <p:nvSpPr>
          <p:cNvPr id="16" name="Shape 11"/>
          <p:cNvSpPr/>
          <p:nvPr/>
        </p:nvSpPr>
        <p:spPr>
          <a:xfrm>
            <a:off x="8080248" y="19385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17"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244840" y="2103120"/>
            <a:ext cx="329184" cy="329184"/>
          </a:xfrm>
          <a:prstGeom prst="rect">
            <a:avLst/>
          </a:prstGeom>
        </p:spPr>
      </p:pic>
      <p:sp>
        <p:nvSpPr>
          <p:cNvPr id="18" name="Text 12"/>
          <p:cNvSpPr/>
          <p:nvPr/>
        </p:nvSpPr>
        <p:spPr>
          <a:xfrm>
            <a:off x="8665464" y="20299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Private storage</a:t>
            </a:r>
            <a:endParaRPr lang="en-US" sz="2000" dirty="0"/>
          </a:p>
        </p:txBody>
      </p:sp>
      <p:sp>
        <p:nvSpPr>
          <p:cNvPr id="19" name="Text 13"/>
          <p:cNvSpPr/>
          <p:nvPr/>
        </p:nvSpPr>
        <p:spPr>
          <a:xfrm>
            <a:off x="8244840" y="26700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Evidence behind authentication — no public links.</a:t>
            </a:r>
            <a:endParaRPr lang="en-US" sz="1800" dirty="0"/>
          </a:p>
        </p:txBody>
      </p:sp>
      <p:sp>
        <p:nvSpPr>
          <p:cNvPr id="20" name="Shape 14"/>
          <p:cNvSpPr/>
          <p:nvPr/>
        </p:nvSpPr>
        <p:spPr>
          <a:xfrm>
            <a:off x="502920" y="37673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21"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67512" y="3931920"/>
            <a:ext cx="329184" cy="329184"/>
          </a:xfrm>
          <a:prstGeom prst="rect">
            <a:avLst/>
          </a:prstGeom>
        </p:spPr>
      </p:pic>
      <p:sp>
        <p:nvSpPr>
          <p:cNvPr id="22" name="Text 15"/>
          <p:cNvSpPr/>
          <p:nvPr/>
        </p:nvSpPr>
        <p:spPr>
          <a:xfrm>
            <a:off x="1088136" y="38587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Everything audited</a:t>
            </a:r>
            <a:endParaRPr lang="en-US" sz="2000" dirty="0"/>
          </a:p>
        </p:txBody>
      </p:sp>
      <p:sp>
        <p:nvSpPr>
          <p:cNvPr id="23" name="Text 16"/>
          <p:cNvSpPr/>
          <p:nvPr/>
        </p:nvSpPr>
        <p:spPr>
          <a:xfrm>
            <a:off x="667512" y="44988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Submissions, messages and sign-offs logged with timestamps.</a:t>
            </a:r>
            <a:endParaRPr lang="en-US" sz="1800" dirty="0"/>
          </a:p>
        </p:txBody>
      </p:sp>
      <p:sp>
        <p:nvSpPr>
          <p:cNvPr id="24" name="Shape 17"/>
          <p:cNvSpPr/>
          <p:nvPr/>
        </p:nvSpPr>
        <p:spPr>
          <a:xfrm>
            <a:off x="4291584" y="37673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25"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456176" y="3931920"/>
            <a:ext cx="329184" cy="329184"/>
          </a:xfrm>
          <a:prstGeom prst="rect">
            <a:avLst/>
          </a:prstGeom>
        </p:spPr>
      </p:pic>
      <p:sp>
        <p:nvSpPr>
          <p:cNvPr id="26" name="Text 18"/>
          <p:cNvSpPr/>
          <p:nvPr/>
        </p:nvSpPr>
        <p:spPr>
          <a:xfrm>
            <a:off x="4876800" y="38587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Account lifecycle</a:t>
            </a:r>
            <a:endParaRPr lang="en-US" sz="2000" dirty="0"/>
          </a:p>
        </p:txBody>
      </p:sp>
      <p:sp>
        <p:nvSpPr>
          <p:cNvPr id="27" name="Text 19"/>
          <p:cNvSpPr/>
          <p:nvPr/>
        </p:nvSpPr>
        <p:spPr>
          <a:xfrm>
            <a:off x="4456176" y="44988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Sign-up, password recovery, promotion — self-service.</a:t>
            </a:r>
            <a:endParaRPr lang="en-US" sz="1800" dirty="0"/>
          </a:p>
        </p:txBody>
      </p:sp>
      <p:sp>
        <p:nvSpPr>
          <p:cNvPr id="28" name="Shape 20"/>
          <p:cNvSpPr/>
          <p:nvPr/>
        </p:nvSpPr>
        <p:spPr>
          <a:xfrm>
            <a:off x="8080248" y="37673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29" name="Image 5"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244840" y="3931920"/>
            <a:ext cx="329184" cy="329184"/>
          </a:xfrm>
          <a:prstGeom prst="rect">
            <a:avLst/>
          </a:prstGeom>
        </p:spPr>
      </p:pic>
      <p:sp>
        <p:nvSpPr>
          <p:cNvPr id="30" name="Text 21"/>
          <p:cNvSpPr/>
          <p:nvPr/>
        </p:nvSpPr>
        <p:spPr>
          <a:xfrm>
            <a:off x="8665464" y="38587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POPIA-conscious</a:t>
            </a:r>
            <a:endParaRPr lang="en-US" sz="2000" dirty="0"/>
          </a:p>
        </p:txBody>
      </p:sp>
      <p:sp>
        <p:nvSpPr>
          <p:cNvPr id="31" name="Text 22"/>
          <p:cNvSpPr/>
          <p:nvPr/>
        </p:nvSpPr>
        <p:spPr>
          <a:xfrm>
            <a:off x="8244840" y="44988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Personal-data reports served privately to authorised staff.</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045952" y="6437376"/>
            <a:ext cx="640080" cy="320040"/>
          </a:xfrm>
          <a:prstGeom prst="rect">
            <a:avLst/>
          </a:prstGeom>
          <a:noFill/>
          <a:ln/>
        </p:spPr>
        <p:txBody>
          <a:bodyPr wrap="square" rtlCol="0" anchor="ctr"/>
          <a:lstStyle/>
          <a:p>
            <a:pPr marL="0" indent="0" algn="r">
              <a:buNone/>
            </a:pPr>
            <a:r>
              <a:rPr lang="en-US" sz="1800" dirty="0">
                <a:solidFill>
                  <a:srgbClr val="6B7280"/>
                </a:solidFill>
                <a:latin typeface="Aptos" pitchFamily="34" charset="0"/>
                <a:ea typeface="Aptos" pitchFamily="34" charset="-122"/>
                <a:cs typeface="Aptos" pitchFamily="34" charset="-120"/>
              </a:rPr>
              <a:t>13</a:t>
            </a:r>
            <a:endParaRPr lang="en-US" sz="1800" dirty="0"/>
          </a:p>
        </p:txBody>
      </p:sp>
      <p:sp>
        <p:nvSpPr>
          <p:cNvPr id="3" name="Shape 1"/>
          <p:cNvSpPr/>
          <p:nvPr/>
        </p:nvSpPr>
        <p:spPr>
          <a:xfrm>
            <a:off x="0" y="0"/>
            <a:ext cx="12188952" cy="82296"/>
          </a:xfrm>
          <a:prstGeom prst="rect">
            <a:avLst/>
          </a:prstGeom>
          <a:solidFill>
            <a:srgbClr val="0F6CBD"/>
          </a:solidFill>
          <a:ln/>
        </p:spPr>
      </p:sp>
      <p:sp>
        <p:nvSpPr>
          <p:cNvPr id="5" name="Text 2"/>
          <p:cNvSpPr/>
          <p:nvPr/>
        </p:nvSpPr>
        <p:spPr>
          <a:xfrm>
            <a:off x="502920" y="237744"/>
            <a:ext cx="11183112" cy="347472"/>
          </a:xfrm>
          <a:prstGeom prst="rect">
            <a:avLst/>
          </a:prstGeom>
          <a:noFill/>
          <a:ln/>
        </p:spPr>
        <p:txBody>
          <a:bodyPr wrap="square" rtlCol="0" anchor="ctr"/>
          <a:lstStyle/>
          <a:p>
            <a:pPr marL="0" indent="0">
              <a:buNone/>
            </a:pPr>
            <a:r>
              <a:rPr lang="en-US" sz="1800" b="1" kern="0" spc="200" dirty="0">
                <a:solidFill>
                  <a:srgbClr val="0F6CBD"/>
                </a:solidFill>
                <a:latin typeface="Aptos" pitchFamily="34" charset="0"/>
                <a:ea typeface="Aptos" pitchFamily="34" charset="-122"/>
                <a:cs typeface="Aptos" pitchFamily="34" charset="-120"/>
              </a:rPr>
              <a:t>THE PLATFORM</a:t>
            </a:r>
            <a:endParaRPr lang="en-US" sz="1800" dirty="0"/>
          </a:p>
        </p:txBody>
      </p:sp>
      <p:sp>
        <p:nvSpPr>
          <p:cNvPr id="6" name="Text 3"/>
          <p:cNvSpPr/>
          <p:nvPr/>
        </p:nvSpPr>
        <p:spPr>
          <a:xfrm>
            <a:off x="502920" y="585216"/>
            <a:ext cx="11183112" cy="731520"/>
          </a:xfrm>
          <a:prstGeom prst="rect">
            <a:avLst/>
          </a:prstGeom>
          <a:noFill/>
          <a:ln/>
        </p:spPr>
        <p:txBody>
          <a:bodyPr wrap="square" rtlCol="0" anchor="ctr"/>
          <a:lstStyle/>
          <a:p>
            <a:pPr marL="0" indent="0">
              <a:buNone/>
            </a:pPr>
            <a:r>
              <a:rPr lang="en-US" sz="3000" b="1" dirty="0">
                <a:solidFill>
                  <a:srgbClr val="002050"/>
                </a:solidFill>
                <a:latin typeface="Aptos Display" pitchFamily="34" charset="0"/>
                <a:ea typeface="Aptos Display" pitchFamily="34" charset="-122"/>
                <a:cs typeface="Aptos Display" pitchFamily="34" charset="-120"/>
              </a:rPr>
              <a:t>Works everywhere, maintains itself</a:t>
            </a:r>
            <a:endParaRPr lang="en-US" sz="3000" dirty="0"/>
          </a:p>
        </p:txBody>
      </p:sp>
      <p:sp>
        <p:nvSpPr>
          <p:cNvPr id="7" name="Text 4"/>
          <p:cNvSpPr/>
          <p:nvPr/>
        </p:nvSpPr>
        <p:spPr>
          <a:xfrm>
            <a:off x="502920" y="1316736"/>
            <a:ext cx="11183112" cy="566928"/>
          </a:xfrm>
          <a:prstGeom prst="rect">
            <a:avLst/>
          </a:prstGeom>
          <a:noFill/>
          <a:ln/>
        </p:spPr>
        <p:txBody>
          <a:bodyPr wrap="square" rtlCol="0" anchor="t"/>
          <a:lstStyle/>
          <a:p>
            <a:pPr marL="0" indent="0">
              <a:lnSpc>
                <a:spcPct val="110000"/>
              </a:lnSpc>
              <a:buNone/>
            </a:pPr>
            <a:r>
              <a:rPr lang="en-US" sz="1800" dirty="0">
                <a:solidFill>
                  <a:srgbClr val="6B7280"/>
                </a:solidFill>
                <a:latin typeface="Aptos" pitchFamily="34" charset="0"/>
                <a:ea typeface="Aptos" pitchFamily="34" charset="-122"/>
                <a:cs typeface="Aptos" pitchFamily="34" charset="-120"/>
              </a:rPr>
              <a:t>An installable web app with offline support and central updates — nothing for IT to deploy or patch.</a:t>
            </a:r>
            <a:endParaRPr lang="en-US" sz="1800" dirty="0"/>
          </a:p>
        </p:txBody>
      </p:sp>
      <p:sp>
        <p:nvSpPr>
          <p:cNvPr id="8" name="Shape 5"/>
          <p:cNvSpPr/>
          <p:nvPr/>
        </p:nvSpPr>
        <p:spPr>
          <a:xfrm>
            <a:off x="502920" y="19385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9"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7512" y="2103120"/>
            <a:ext cx="329184" cy="329184"/>
          </a:xfrm>
          <a:prstGeom prst="rect">
            <a:avLst/>
          </a:prstGeom>
        </p:spPr>
      </p:pic>
      <p:sp>
        <p:nvSpPr>
          <p:cNvPr id="10" name="Text 6"/>
          <p:cNvSpPr/>
          <p:nvPr/>
        </p:nvSpPr>
        <p:spPr>
          <a:xfrm>
            <a:off x="1088136" y="20299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Installs like an app</a:t>
            </a:r>
            <a:endParaRPr lang="en-US" sz="2000" dirty="0"/>
          </a:p>
        </p:txBody>
      </p:sp>
      <p:sp>
        <p:nvSpPr>
          <p:cNvPr id="11" name="Text 7"/>
          <p:cNvSpPr/>
          <p:nvPr/>
        </p:nvSpPr>
        <p:spPr>
          <a:xfrm>
            <a:off x="667512" y="26700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Phone, tablet, laptop or desktop — no app store needed.</a:t>
            </a:r>
            <a:endParaRPr lang="en-US" sz="1800" dirty="0"/>
          </a:p>
        </p:txBody>
      </p:sp>
      <p:sp>
        <p:nvSpPr>
          <p:cNvPr id="12" name="Shape 8"/>
          <p:cNvSpPr/>
          <p:nvPr/>
        </p:nvSpPr>
        <p:spPr>
          <a:xfrm>
            <a:off x="4291584" y="19385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13"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456176" y="2103120"/>
            <a:ext cx="329184" cy="329184"/>
          </a:xfrm>
          <a:prstGeom prst="rect">
            <a:avLst/>
          </a:prstGeom>
        </p:spPr>
      </p:pic>
      <p:sp>
        <p:nvSpPr>
          <p:cNvPr id="14" name="Text 9"/>
          <p:cNvSpPr/>
          <p:nvPr/>
        </p:nvSpPr>
        <p:spPr>
          <a:xfrm>
            <a:off x="4876800" y="20299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Works offline</a:t>
            </a:r>
            <a:endParaRPr lang="en-US" sz="2000" dirty="0"/>
          </a:p>
        </p:txBody>
      </p:sp>
      <p:sp>
        <p:nvSpPr>
          <p:cNvPr id="15" name="Text 10"/>
          <p:cNvSpPr/>
          <p:nvPr/>
        </p:nvSpPr>
        <p:spPr>
          <a:xfrm>
            <a:off x="4456176" y="26700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Local cache keeps studying alive; syncs on reconnect.</a:t>
            </a:r>
            <a:endParaRPr lang="en-US" sz="1800" dirty="0"/>
          </a:p>
        </p:txBody>
      </p:sp>
      <p:sp>
        <p:nvSpPr>
          <p:cNvPr id="16" name="Shape 11"/>
          <p:cNvSpPr/>
          <p:nvPr/>
        </p:nvSpPr>
        <p:spPr>
          <a:xfrm>
            <a:off x="8080248" y="19385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17"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244840" y="2103120"/>
            <a:ext cx="329184" cy="329184"/>
          </a:xfrm>
          <a:prstGeom prst="rect">
            <a:avLst/>
          </a:prstGeom>
        </p:spPr>
      </p:pic>
      <p:sp>
        <p:nvSpPr>
          <p:cNvPr id="18" name="Text 12"/>
          <p:cNvSpPr/>
          <p:nvPr/>
        </p:nvSpPr>
        <p:spPr>
          <a:xfrm>
            <a:off x="8665464" y="20299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Real-time sync</a:t>
            </a:r>
            <a:endParaRPr lang="en-US" sz="2000" dirty="0"/>
          </a:p>
        </p:txBody>
      </p:sp>
      <p:sp>
        <p:nvSpPr>
          <p:cNvPr id="19" name="Text 13"/>
          <p:cNvSpPr/>
          <p:nvPr/>
        </p:nvSpPr>
        <p:spPr>
          <a:xfrm>
            <a:off x="8244840" y="26700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Start on a PC in class, finish on the phone at home.</a:t>
            </a:r>
            <a:endParaRPr lang="en-US" sz="1800" dirty="0"/>
          </a:p>
        </p:txBody>
      </p:sp>
      <p:sp>
        <p:nvSpPr>
          <p:cNvPr id="20" name="Shape 14"/>
          <p:cNvSpPr/>
          <p:nvPr/>
        </p:nvSpPr>
        <p:spPr>
          <a:xfrm>
            <a:off x="502920" y="37673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21"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67512" y="3931920"/>
            <a:ext cx="329184" cy="329184"/>
          </a:xfrm>
          <a:prstGeom prst="rect">
            <a:avLst/>
          </a:prstGeom>
        </p:spPr>
      </p:pic>
      <p:sp>
        <p:nvSpPr>
          <p:cNvPr id="22" name="Text 15"/>
          <p:cNvSpPr/>
          <p:nvPr/>
        </p:nvSpPr>
        <p:spPr>
          <a:xfrm>
            <a:off x="1088136" y="38587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Zero-install updates</a:t>
            </a:r>
            <a:endParaRPr lang="en-US" sz="2000" dirty="0"/>
          </a:p>
        </p:txBody>
      </p:sp>
      <p:sp>
        <p:nvSpPr>
          <p:cNvPr id="23" name="Text 16"/>
          <p:cNvSpPr/>
          <p:nvPr/>
        </p:nvSpPr>
        <p:spPr>
          <a:xfrm>
            <a:off x="667512" y="44988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Everyone is on the latest version at next refresh.</a:t>
            </a:r>
            <a:endParaRPr lang="en-US" sz="1800" dirty="0"/>
          </a:p>
        </p:txBody>
      </p:sp>
      <p:sp>
        <p:nvSpPr>
          <p:cNvPr id="24" name="Shape 17"/>
          <p:cNvSpPr/>
          <p:nvPr/>
        </p:nvSpPr>
        <p:spPr>
          <a:xfrm>
            <a:off x="4291584" y="37673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25"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456176" y="3931920"/>
            <a:ext cx="329184" cy="329184"/>
          </a:xfrm>
          <a:prstGeom prst="rect">
            <a:avLst/>
          </a:prstGeom>
        </p:spPr>
      </p:pic>
      <p:sp>
        <p:nvSpPr>
          <p:cNvPr id="26" name="Text 18"/>
          <p:cNvSpPr/>
          <p:nvPr/>
        </p:nvSpPr>
        <p:spPr>
          <a:xfrm>
            <a:off x="4876800" y="38587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Teams / Outlook</a:t>
            </a:r>
            <a:endParaRPr lang="en-US" sz="2000" dirty="0"/>
          </a:p>
        </p:txBody>
      </p:sp>
      <p:sp>
        <p:nvSpPr>
          <p:cNvPr id="27" name="Text 19"/>
          <p:cNvSpPr/>
          <p:nvPr/>
        </p:nvSpPr>
        <p:spPr>
          <a:xfrm>
            <a:off x="4456176" y="44988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Sessions deep-link into calendars — no API keys.</a:t>
            </a:r>
            <a:endParaRPr lang="en-US" sz="1800" dirty="0"/>
          </a:p>
        </p:txBody>
      </p:sp>
      <p:sp>
        <p:nvSpPr>
          <p:cNvPr id="28" name="Shape 20"/>
          <p:cNvSpPr/>
          <p:nvPr/>
        </p:nvSpPr>
        <p:spPr>
          <a:xfrm>
            <a:off x="8080248" y="3767328"/>
            <a:ext cx="3605784" cy="1645920"/>
          </a:xfrm>
          <a:prstGeom prst="roundRect">
            <a:avLst>
              <a:gd name="adj" fmla="val 5000"/>
            </a:avLst>
          </a:prstGeom>
          <a:solidFill>
            <a:srgbClr val="FFFFFF"/>
          </a:solidFill>
          <a:ln w="12700">
            <a:solidFill>
              <a:srgbClr val="D5E3F2"/>
            </a:solidFill>
            <a:prstDash val="solid"/>
          </a:ln>
          <a:effectLst>
            <a:outerShdw blurRad="88900" dist="25400" dir="5400000" algn="bl" rotWithShape="0">
              <a:srgbClr val="9AB4CC">
                <a:alpha val="30000"/>
              </a:srgbClr>
            </a:outerShdw>
          </a:effectLst>
        </p:spPr>
      </p:sp>
      <p:pic>
        <p:nvPicPr>
          <p:cNvPr id="29" name="Image 5"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244840" y="3931920"/>
            <a:ext cx="329184" cy="329184"/>
          </a:xfrm>
          <a:prstGeom prst="rect">
            <a:avLst/>
          </a:prstGeom>
        </p:spPr>
      </p:pic>
      <p:sp>
        <p:nvSpPr>
          <p:cNvPr id="30" name="Text 21"/>
          <p:cNvSpPr/>
          <p:nvPr/>
        </p:nvSpPr>
        <p:spPr>
          <a:xfrm>
            <a:off x="8665464" y="3858768"/>
            <a:ext cx="2855976" cy="585216"/>
          </a:xfrm>
          <a:prstGeom prst="rect">
            <a:avLst/>
          </a:prstGeom>
          <a:noFill/>
          <a:ln/>
        </p:spPr>
        <p:txBody>
          <a:bodyPr wrap="square" rtlCol="0" anchor="ctr"/>
          <a:lstStyle/>
          <a:p>
            <a:pPr marL="0" indent="0">
              <a:lnSpc>
                <a:spcPct val="98000"/>
              </a:lnSpc>
              <a:buNone/>
            </a:pPr>
            <a:r>
              <a:rPr lang="en-US" sz="2000" b="1" dirty="0">
                <a:solidFill>
                  <a:srgbClr val="002050"/>
                </a:solidFill>
                <a:latin typeface="Aptos Display" pitchFamily="34" charset="0"/>
                <a:ea typeface="Aptos Display" pitchFamily="34" charset="-122"/>
                <a:cs typeface="Aptos Display" pitchFamily="34" charset="-120"/>
              </a:rPr>
              <a:t>Polished experience</a:t>
            </a:r>
            <a:endParaRPr lang="en-US" sz="2000" dirty="0"/>
          </a:p>
        </p:txBody>
      </p:sp>
      <p:sp>
        <p:nvSpPr>
          <p:cNvPr id="31" name="Text 22"/>
          <p:cNvSpPr/>
          <p:nvPr/>
        </p:nvSpPr>
        <p:spPr>
          <a:xfrm>
            <a:off x="8244840" y="4498848"/>
            <a:ext cx="3276600" cy="804672"/>
          </a:xfrm>
          <a:prstGeom prst="rect">
            <a:avLst/>
          </a:prstGeom>
          <a:noFill/>
          <a:ln/>
        </p:spPr>
        <p:txBody>
          <a:bodyPr wrap="square" rtlCol="0" anchor="t"/>
          <a:lstStyle/>
          <a:p>
            <a:pPr marL="0" indent="0">
              <a:lnSpc>
                <a:spcPct val="105000"/>
              </a:lnSpc>
              <a:buNone/>
            </a:pPr>
            <a:r>
              <a:rPr lang="en-US" sz="1800" dirty="0">
                <a:solidFill>
                  <a:srgbClr val="6B7280"/>
                </a:solidFill>
                <a:latin typeface="Aptos" pitchFamily="34" charset="0"/>
                <a:ea typeface="Aptos" pitchFamily="34" charset="-122"/>
                <a:cs typeface="Aptos" pitchFamily="34" charset="-120"/>
              </a:rPr>
              <a:t>Dark &amp; light themes and print-optimised output.</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045952" y="6437376"/>
            <a:ext cx="640080" cy="320040"/>
          </a:xfrm>
          <a:prstGeom prst="rect">
            <a:avLst/>
          </a:prstGeom>
          <a:noFill/>
          <a:ln/>
        </p:spPr>
        <p:txBody>
          <a:bodyPr wrap="square" rtlCol="0" anchor="ctr"/>
          <a:lstStyle/>
          <a:p>
            <a:pPr marL="0" indent="0" algn="r">
              <a:buNone/>
            </a:pPr>
            <a:r>
              <a:rPr lang="en-US" sz="1800" dirty="0">
                <a:solidFill>
                  <a:srgbClr val="6B7280"/>
                </a:solidFill>
                <a:latin typeface="Aptos" pitchFamily="34" charset="0"/>
                <a:ea typeface="Aptos" pitchFamily="34" charset="-122"/>
                <a:cs typeface="Aptos" pitchFamily="34" charset="-120"/>
              </a:rPr>
              <a:t>14</a:t>
            </a:r>
            <a:endParaRPr lang="en-US" sz="1800" dirty="0"/>
          </a:p>
        </p:txBody>
      </p:sp>
      <p:sp>
        <p:nvSpPr>
          <p:cNvPr id="3" name="Shape 1"/>
          <p:cNvSpPr/>
          <p:nvPr/>
        </p:nvSpPr>
        <p:spPr>
          <a:xfrm>
            <a:off x="0" y="0"/>
            <a:ext cx="12188952" cy="82296"/>
          </a:xfrm>
          <a:prstGeom prst="rect">
            <a:avLst/>
          </a:prstGeom>
          <a:solidFill>
            <a:srgbClr val="0F6CBD"/>
          </a:solidFill>
          <a:ln/>
        </p:spPr>
      </p:sp>
      <p:sp>
        <p:nvSpPr>
          <p:cNvPr id="5" name="Text 2"/>
          <p:cNvSpPr/>
          <p:nvPr/>
        </p:nvSpPr>
        <p:spPr>
          <a:xfrm>
            <a:off x="502920" y="237744"/>
            <a:ext cx="11183112" cy="347472"/>
          </a:xfrm>
          <a:prstGeom prst="rect">
            <a:avLst/>
          </a:prstGeom>
          <a:noFill/>
          <a:ln/>
        </p:spPr>
        <p:txBody>
          <a:bodyPr wrap="square" rtlCol="0" anchor="ctr"/>
          <a:lstStyle/>
          <a:p>
            <a:pPr marL="0" indent="0">
              <a:buNone/>
            </a:pPr>
            <a:r>
              <a:rPr lang="en-US" sz="1800" b="1" kern="0" spc="200" dirty="0">
                <a:solidFill>
                  <a:srgbClr val="0F6CBD"/>
                </a:solidFill>
                <a:latin typeface="Aptos" pitchFamily="34" charset="0"/>
                <a:ea typeface="Aptos" pitchFamily="34" charset="-122"/>
                <a:cs typeface="Aptos" pitchFamily="34" charset="-120"/>
              </a:rPr>
              <a:t>THE ERUDITIO PAYOFF</a:t>
            </a:r>
            <a:endParaRPr lang="en-US" sz="1800" dirty="0"/>
          </a:p>
        </p:txBody>
      </p:sp>
      <p:sp>
        <p:nvSpPr>
          <p:cNvPr id="6" name="Text 3"/>
          <p:cNvSpPr/>
          <p:nvPr/>
        </p:nvSpPr>
        <p:spPr>
          <a:xfrm>
            <a:off x="502920" y="585216"/>
            <a:ext cx="11183112" cy="731520"/>
          </a:xfrm>
          <a:prstGeom prst="rect">
            <a:avLst/>
          </a:prstGeom>
          <a:noFill/>
          <a:ln/>
        </p:spPr>
        <p:txBody>
          <a:bodyPr wrap="square" rtlCol="0" anchor="ctr"/>
          <a:lstStyle/>
          <a:p>
            <a:pPr marL="0" indent="0">
              <a:buNone/>
            </a:pPr>
            <a:r>
              <a:rPr lang="en-US" sz="3000" b="1" dirty="0">
                <a:solidFill>
                  <a:srgbClr val="002050"/>
                </a:solidFill>
                <a:latin typeface="Aptos Display" pitchFamily="34" charset="0"/>
                <a:ea typeface="Aptos Display" pitchFamily="34" charset="-122"/>
                <a:cs typeface="Aptos Display" pitchFamily="34" charset="-120"/>
              </a:rPr>
              <a:t>Running the course: before and after</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02920" y="1572768"/>
          <a:ext cx="11183112" cy="3877056"/>
        </p:xfrm>
        <a:graphic>
          <a:graphicData uri="http://schemas.openxmlformats.org/drawingml/2006/table">
            <a:tbl>
              <a:tblPr/>
              <a:tblGrid>
                <a:gridCol w="265176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325112">
                  <a:extLst>
                    <a:ext uri="{9D8B030D-6E8A-4147-A177-3AD203B41FA5}">
                      <a16:colId xmlns:a16="http://schemas.microsoft.com/office/drawing/2014/main" val="20002"/>
                    </a:ext>
                  </a:extLst>
                </a:gridCol>
              </a:tblGrid>
              <a:tr h="484632">
                <a:tc>
                  <a:txBody>
                    <a:bodyPr/>
                    <a:lstStyle/>
                    <a:p>
                      <a:pPr marL="0" indent="0">
                        <a:buNone/>
                      </a:pPr>
                      <a:r>
                        <a:rPr lang="en-US" sz="1800" b="1" dirty="0">
                          <a:solidFill>
                            <a:srgbClr val="FFFFFF"/>
                          </a:solidFill>
                          <a:latin typeface="Aptos Display" pitchFamily="34" charset="0"/>
                          <a:ea typeface="Aptos Display" pitchFamily="34" charset="-122"/>
                          <a:cs typeface="Aptos Display" pitchFamily="34" charset="-120"/>
                        </a:rPr>
                        <a:t>Task</a:t>
                      </a:r>
                      <a:endParaRPr lang="en-US" sz="1800" dirty="0">
                        <a:latin typeface="Aptos Display" charset="0"/>
                        <a:ea typeface="Aptos Display" charset="0"/>
                        <a:cs typeface="Aptos Display"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c>
                  <a:txBody>
                    <a:bodyPr/>
                    <a:lstStyle/>
                    <a:p>
                      <a:pPr marL="0" indent="0">
                        <a:buNone/>
                      </a:pPr>
                      <a:r>
                        <a:rPr lang="en-US" sz="1800" b="1" dirty="0">
                          <a:solidFill>
                            <a:srgbClr val="FFFFFF"/>
                          </a:solidFill>
                          <a:latin typeface="Aptos Display" pitchFamily="34" charset="0"/>
                          <a:ea typeface="Aptos Display" pitchFamily="34" charset="-122"/>
                          <a:cs typeface="Aptos Display" pitchFamily="34" charset="-120"/>
                        </a:rPr>
                        <a:t>The paper way</a:t>
                      </a:r>
                      <a:endParaRPr lang="en-US" sz="1800" dirty="0">
                        <a:latin typeface="Aptos Display" charset="0"/>
                        <a:ea typeface="Aptos Display" charset="0"/>
                        <a:cs typeface="Aptos Display"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c>
                  <a:txBody>
                    <a:bodyPr/>
                    <a:lstStyle/>
                    <a:p>
                      <a:pPr marL="0" indent="0">
                        <a:buNone/>
                      </a:pPr>
                      <a:r>
                        <a:rPr lang="en-US" sz="1800" b="1" dirty="0">
                          <a:solidFill>
                            <a:srgbClr val="FFFFFF"/>
                          </a:solidFill>
                          <a:latin typeface="Aptos Display" pitchFamily="34" charset="0"/>
                          <a:ea typeface="Aptos Display" pitchFamily="34" charset="-122"/>
                          <a:cs typeface="Aptos Display" pitchFamily="34" charset="-120"/>
                        </a:rPr>
                        <a:t>With ITSS Learn</a:t>
                      </a:r>
                      <a:endParaRPr lang="en-US" sz="1800" dirty="0">
                        <a:latin typeface="Aptos Display" charset="0"/>
                        <a:ea typeface="Aptos Display" charset="0"/>
                        <a:cs typeface="Aptos Display"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extLst>
                  <a:ext uri="{0D108BD9-81ED-4DB2-BD59-A6C34878D82A}">
                    <a16:rowId xmlns:a16="http://schemas.microsoft.com/office/drawing/2014/main" val="10000"/>
                  </a:ext>
                </a:extLst>
              </a:tr>
              <a:tr h="484632">
                <a:tc>
                  <a:txBody>
                    <a:bodyPr/>
                    <a:lstStyle/>
                    <a:p>
                      <a:pPr marL="0" indent="0">
                        <a:buNone/>
                      </a:pPr>
                      <a:r>
                        <a:rPr lang="en-US" sz="1800" dirty="0">
                          <a:solidFill>
                            <a:srgbClr val="002050"/>
                          </a:solidFill>
                          <a:latin typeface="Aptos" pitchFamily="34" charset="0"/>
                          <a:ea typeface="Aptos" pitchFamily="34" charset="-122"/>
                          <a:cs typeface="Aptos" pitchFamily="34" charset="-120"/>
                        </a:rPr>
                        <a:t>Attendance</a:t>
                      </a:r>
                      <a:endParaRPr lang="en-US" sz="18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marL="0" indent="0">
                        <a:buNone/>
                      </a:pPr>
                      <a:r>
                        <a:rPr lang="en-US" sz="1800" dirty="0">
                          <a:solidFill>
                            <a:srgbClr val="002050"/>
                          </a:solidFill>
                          <a:latin typeface="Aptos" pitchFamily="34" charset="0"/>
                          <a:ea typeface="Aptos" pitchFamily="34" charset="-122"/>
                          <a:cs typeface="Aptos" pitchFamily="34" charset="-120"/>
                        </a:rPr>
                        <a:t>Paper register chased and filed</a:t>
                      </a:r>
                      <a:endParaRPr lang="en-US" sz="18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marL="0" indent="0">
                        <a:buNone/>
                      </a:pPr>
                      <a:r>
                        <a:rPr lang="en-US" sz="1800" dirty="0">
                          <a:solidFill>
                            <a:srgbClr val="002050"/>
                          </a:solidFill>
                          <a:latin typeface="Aptos" pitchFamily="34" charset="0"/>
                          <a:ea typeface="Aptos" pitchFamily="34" charset="-122"/>
                          <a:cs typeface="Aptos" pitchFamily="34" charset="-120"/>
                        </a:rPr>
                        <a:t>Signed on phones; prints itself</a:t>
                      </a:r>
                      <a:endParaRPr lang="en-US" sz="18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84632">
                <a:tc>
                  <a:txBody>
                    <a:bodyPr/>
                    <a:lstStyle/>
                    <a:p>
                      <a:pPr marL="0" indent="0">
                        <a:buNone/>
                      </a:pPr>
                      <a:r>
                        <a:rPr lang="en-US" sz="1800" dirty="0">
                          <a:solidFill>
                            <a:srgbClr val="002050"/>
                          </a:solidFill>
                          <a:latin typeface="Aptos" pitchFamily="34" charset="0"/>
                          <a:ea typeface="Aptos" pitchFamily="34" charset="-122"/>
                          <a:cs typeface="Aptos" pitchFamily="34" charset="-120"/>
                        </a:rPr>
                        <a:t>Marking</a:t>
                      </a:r>
                      <a:endParaRPr lang="en-US" sz="18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marL="0" indent="0">
                        <a:buNone/>
                      </a:pPr>
                      <a:r>
                        <a:rPr lang="en-US" sz="1800" dirty="0">
                          <a:solidFill>
                            <a:srgbClr val="002050"/>
                          </a:solidFill>
                          <a:latin typeface="Aptos" pitchFamily="34" charset="0"/>
                          <a:ea typeface="Aptos" pitchFamily="34" charset="-122"/>
                          <a:cs typeface="Aptos" pitchFamily="34" charset="-120"/>
                        </a:rPr>
                        <a:t>Evenings of hand-marking</a:t>
                      </a:r>
                      <a:endParaRPr lang="en-US" sz="18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marL="0" indent="0">
                        <a:buNone/>
                      </a:pPr>
                      <a:r>
                        <a:rPr lang="en-US" sz="1800" dirty="0">
                          <a:solidFill>
                            <a:srgbClr val="002050"/>
                          </a:solidFill>
                          <a:latin typeface="Aptos" pitchFamily="34" charset="0"/>
                          <a:ea typeface="Aptos" pitchFamily="34" charset="-122"/>
                          <a:cs typeface="Aptos" pitchFamily="34" charset="-120"/>
                        </a:rPr>
                        <a:t>Instant — AI marks written work</a:t>
                      </a:r>
                      <a:endParaRPr lang="en-US" sz="18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extLst>
                  <a:ext uri="{0D108BD9-81ED-4DB2-BD59-A6C34878D82A}">
                    <a16:rowId xmlns:a16="http://schemas.microsoft.com/office/drawing/2014/main" val="10002"/>
                  </a:ext>
                </a:extLst>
              </a:tr>
              <a:tr h="484632">
                <a:tc>
                  <a:txBody>
                    <a:bodyPr/>
                    <a:lstStyle/>
                    <a:p>
                      <a:pPr marL="0" indent="0">
                        <a:buNone/>
                      </a:pPr>
                      <a:r>
                        <a:rPr lang="en-US" sz="1800" dirty="0">
                          <a:solidFill>
                            <a:srgbClr val="002050"/>
                          </a:solidFill>
                          <a:latin typeface="Aptos" pitchFamily="34" charset="0"/>
                          <a:ea typeface="Aptos" pitchFamily="34" charset="-122"/>
                          <a:cs typeface="Aptos" pitchFamily="34" charset="-120"/>
                        </a:rPr>
                        <a:t>Progress capture</a:t>
                      </a:r>
                      <a:endParaRPr lang="en-US" sz="18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marL="0" indent="0">
                        <a:buNone/>
                      </a:pPr>
                      <a:r>
                        <a:rPr lang="en-US" sz="1800" dirty="0">
                          <a:solidFill>
                            <a:srgbClr val="002050"/>
                          </a:solidFill>
                          <a:latin typeface="Aptos" pitchFamily="34" charset="0"/>
                          <a:ea typeface="Aptos" pitchFamily="34" charset="-122"/>
                          <a:cs typeface="Aptos" pitchFamily="34" charset="-120"/>
                        </a:rPr>
                        <a:t>Hand-updated spreadsheets</a:t>
                      </a:r>
                      <a:endParaRPr lang="en-US" sz="18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marL="0" indent="0">
                        <a:buNone/>
                      </a:pPr>
                      <a:r>
                        <a:rPr lang="en-US" sz="1800" dirty="0">
                          <a:solidFill>
                            <a:srgbClr val="002050"/>
                          </a:solidFill>
                          <a:latin typeface="Aptos" pitchFamily="34" charset="0"/>
                          <a:ea typeface="Aptos" pitchFamily="34" charset="-122"/>
                          <a:cs typeface="Aptos" pitchFamily="34" charset="-120"/>
                        </a:rPr>
                        <a:t>Records itself as work is done</a:t>
                      </a:r>
                      <a:endParaRPr lang="en-US" sz="18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84632">
                <a:tc>
                  <a:txBody>
                    <a:bodyPr/>
                    <a:lstStyle/>
                    <a:p>
                      <a:pPr marL="0" indent="0">
                        <a:buNone/>
                      </a:pPr>
                      <a:r>
                        <a:rPr lang="en-US" sz="1800" dirty="0">
                          <a:solidFill>
                            <a:srgbClr val="002050"/>
                          </a:solidFill>
                          <a:latin typeface="Aptos" pitchFamily="34" charset="0"/>
                          <a:ea typeface="Aptos" pitchFamily="34" charset="-122"/>
                          <a:cs typeface="Aptos" pitchFamily="34" charset="-120"/>
                        </a:rPr>
                        <a:t>At-risk learners</a:t>
                      </a:r>
                      <a:endParaRPr lang="en-US" sz="18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marL="0" indent="0">
                        <a:buNone/>
                      </a:pPr>
                      <a:r>
                        <a:rPr lang="en-US" sz="1800" dirty="0">
                          <a:solidFill>
                            <a:srgbClr val="002050"/>
                          </a:solidFill>
                          <a:latin typeface="Aptos" pitchFamily="34" charset="0"/>
                          <a:ea typeface="Aptos" pitchFamily="34" charset="-122"/>
                          <a:cs typeface="Aptos" pitchFamily="34" charset="-120"/>
                        </a:rPr>
                        <a:t>Noticed at month-end — too late</a:t>
                      </a:r>
                      <a:endParaRPr lang="en-US" sz="18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marL="0" indent="0">
                        <a:buNone/>
                      </a:pPr>
                      <a:r>
                        <a:rPr lang="en-US" sz="1800" dirty="0">
                          <a:solidFill>
                            <a:srgbClr val="002050"/>
                          </a:solidFill>
                          <a:latin typeface="Aptos" pitchFamily="34" charset="0"/>
                          <a:ea typeface="Aptos" pitchFamily="34" charset="-122"/>
                          <a:cs typeface="Aptos" pitchFamily="34" charset="-120"/>
                        </a:rPr>
                        <a:t>Flagged automatically, with reasons</a:t>
                      </a:r>
                      <a:endParaRPr lang="en-US" sz="18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extLst>
                  <a:ext uri="{0D108BD9-81ED-4DB2-BD59-A6C34878D82A}">
                    <a16:rowId xmlns:a16="http://schemas.microsoft.com/office/drawing/2014/main" val="10004"/>
                  </a:ext>
                </a:extLst>
              </a:tr>
              <a:tr h="484632">
                <a:tc>
                  <a:txBody>
                    <a:bodyPr/>
                    <a:lstStyle/>
                    <a:p>
                      <a:pPr marL="0" indent="0">
                        <a:buNone/>
                      </a:pPr>
                      <a:r>
                        <a:rPr lang="en-US" sz="1800" dirty="0">
                          <a:solidFill>
                            <a:srgbClr val="002050"/>
                          </a:solidFill>
                          <a:latin typeface="Aptos" pitchFamily="34" charset="0"/>
                          <a:ea typeface="Aptos" pitchFamily="34" charset="-122"/>
                          <a:cs typeface="Aptos" pitchFamily="34" charset="-120"/>
                        </a:rPr>
                        <a:t>Moderation prep</a:t>
                      </a:r>
                      <a:endParaRPr lang="en-US" sz="18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marL="0" indent="0">
                        <a:buNone/>
                      </a:pPr>
                      <a:r>
                        <a:rPr lang="en-US" sz="1800" dirty="0">
                          <a:solidFill>
                            <a:srgbClr val="002050"/>
                          </a:solidFill>
                          <a:latin typeface="Aptos" pitchFamily="34" charset="0"/>
                          <a:ea typeface="Aptos" pitchFamily="34" charset="-122"/>
                          <a:cs typeface="Aptos" pitchFamily="34" charset="-120"/>
                        </a:rPr>
                        <a:t>Days assembling paper portfolios</a:t>
                      </a:r>
                      <a:endParaRPr lang="en-US" sz="18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marL="0" indent="0">
                        <a:buNone/>
                      </a:pPr>
                      <a:r>
                        <a:rPr lang="en-US" sz="1800" dirty="0">
                          <a:solidFill>
                            <a:srgbClr val="002050"/>
                          </a:solidFill>
                          <a:latin typeface="Aptos" pitchFamily="34" charset="0"/>
                          <a:ea typeface="Aptos" pitchFamily="34" charset="-122"/>
                          <a:cs typeface="Aptos" pitchFamily="34" charset="-120"/>
                        </a:rPr>
                        <a:t>One-click ZIP of the full POE</a:t>
                      </a:r>
                      <a:endParaRPr lang="en-US" sz="18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84632">
                <a:tc>
                  <a:txBody>
                    <a:bodyPr/>
                    <a:lstStyle/>
                    <a:p>
                      <a:pPr marL="0" indent="0">
                        <a:buNone/>
                      </a:pPr>
                      <a:r>
                        <a:rPr lang="en-US" sz="1800" dirty="0">
                          <a:solidFill>
                            <a:srgbClr val="002050"/>
                          </a:solidFill>
                          <a:latin typeface="Aptos" pitchFamily="34" charset="0"/>
                          <a:ea typeface="Aptos" pitchFamily="34" charset="-122"/>
                          <a:cs typeface="Aptos" pitchFamily="34" charset="-120"/>
                        </a:rPr>
                        <a:t>Reporting</a:t>
                      </a:r>
                      <a:endParaRPr lang="en-US" sz="18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marL="0" indent="0">
                        <a:buNone/>
                      </a:pPr>
                      <a:r>
                        <a:rPr lang="en-US" sz="1800" dirty="0">
                          <a:solidFill>
                            <a:srgbClr val="002050"/>
                          </a:solidFill>
                          <a:latin typeface="Aptos" pitchFamily="34" charset="0"/>
                          <a:ea typeface="Aptos" pitchFamily="34" charset="-122"/>
                          <a:cs typeface="Aptos" pitchFamily="34" charset="-120"/>
                        </a:rPr>
                        <a:t>Collating registers and marks</a:t>
                      </a:r>
                      <a:endParaRPr lang="en-US" sz="18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marL="0" indent="0">
                        <a:buNone/>
                      </a:pPr>
                      <a:r>
                        <a:rPr lang="en-US" sz="1800" dirty="0">
                          <a:solidFill>
                            <a:srgbClr val="002050"/>
                          </a:solidFill>
                          <a:latin typeface="Aptos" pitchFamily="34" charset="0"/>
                          <a:ea typeface="Aptos" pitchFamily="34" charset="-122"/>
                          <a:cs typeface="Aptos" pitchFamily="34" charset="-120"/>
                        </a:rPr>
                        <a:t>CSV / PDF / ZIP on demand</a:t>
                      </a:r>
                      <a:endParaRPr lang="en-US" sz="18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extLst>
                  <a:ext uri="{0D108BD9-81ED-4DB2-BD59-A6C34878D82A}">
                    <a16:rowId xmlns:a16="http://schemas.microsoft.com/office/drawing/2014/main" val="10006"/>
                  </a:ext>
                </a:extLst>
              </a:tr>
              <a:tr h="484632">
                <a:tc>
                  <a:txBody>
                    <a:bodyPr/>
                    <a:lstStyle/>
                    <a:p>
                      <a:pPr marL="0" indent="0">
                        <a:buNone/>
                      </a:pPr>
                      <a:r>
                        <a:rPr lang="en-US" sz="1800" dirty="0">
                          <a:solidFill>
                            <a:srgbClr val="002050"/>
                          </a:solidFill>
                          <a:latin typeface="Aptos" pitchFamily="34" charset="0"/>
                          <a:ea typeface="Aptos" pitchFamily="34" charset="-122"/>
                          <a:cs typeface="Aptos" pitchFamily="34" charset="-120"/>
                        </a:rPr>
                        <a:t>Onboarding</a:t>
                      </a:r>
                      <a:endParaRPr lang="en-US" sz="18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marL="0" indent="0">
                        <a:buNone/>
                      </a:pPr>
                      <a:r>
                        <a:rPr lang="en-US" sz="1800" dirty="0">
                          <a:solidFill>
                            <a:srgbClr val="002050"/>
                          </a:solidFill>
                          <a:latin typeface="Aptos" pitchFamily="34" charset="0"/>
                          <a:ea typeface="Aptos" pitchFamily="34" charset="-122"/>
                          <a:cs typeface="Aptos" pitchFamily="34" charset="-120"/>
                        </a:rPr>
                        <a:t>Printed packs, re-typed forms</a:t>
                      </a:r>
                      <a:endParaRPr lang="en-US" sz="18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marL="0" indent="0">
                        <a:buNone/>
                      </a:pPr>
                      <a:r>
                        <a:rPr lang="en-US" sz="1800" dirty="0">
                          <a:solidFill>
                            <a:srgbClr val="002050"/>
                          </a:solidFill>
                          <a:latin typeface="Aptos" pitchFamily="34" charset="0"/>
                          <a:ea typeface="Aptos" pitchFamily="34" charset="-122"/>
                          <a:cs typeface="Aptos" pitchFamily="34" charset="-120"/>
                        </a:rPr>
                        <a:t>Digital forms + welcome pack</a:t>
                      </a:r>
                      <a:endParaRPr lang="en-US" sz="18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8" name="Text 4"/>
          <p:cNvSpPr/>
          <p:nvPr/>
        </p:nvSpPr>
        <p:spPr>
          <a:xfrm>
            <a:off x="502920" y="5669280"/>
            <a:ext cx="11183112" cy="411480"/>
          </a:xfrm>
          <a:prstGeom prst="rect">
            <a:avLst/>
          </a:prstGeom>
          <a:noFill/>
          <a:ln/>
        </p:spPr>
        <p:txBody>
          <a:bodyPr wrap="square" rtlCol="0" anchor="ctr"/>
          <a:lstStyle/>
          <a:p>
            <a:pPr marL="0" indent="0">
              <a:buNone/>
            </a:pPr>
            <a:r>
              <a:rPr lang="en-US" sz="1800" i="1" dirty="0">
                <a:solidFill>
                  <a:srgbClr val="6B7280"/>
                </a:solidFill>
                <a:latin typeface="Aptos" pitchFamily="34" charset="0"/>
                <a:ea typeface="Aptos" pitchFamily="34" charset="-122"/>
                <a:cs typeface="Aptos" pitchFamily="34" charset="-120"/>
              </a:rPr>
              <a:t>Staff hours go back into coaching — the platform does the capture, marking and filing.</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045952" y="6437376"/>
            <a:ext cx="640080" cy="320040"/>
          </a:xfrm>
          <a:prstGeom prst="rect">
            <a:avLst/>
          </a:prstGeom>
          <a:noFill/>
          <a:ln/>
        </p:spPr>
        <p:txBody>
          <a:bodyPr wrap="square" rtlCol="0" anchor="ctr"/>
          <a:lstStyle/>
          <a:p>
            <a:pPr marL="0" indent="0" algn="r">
              <a:buNone/>
            </a:pPr>
            <a:r>
              <a:rPr lang="en-US" sz="1800" dirty="0">
                <a:solidFill>
                  <a:srgbClr val="6B7280"/>
                </a:solidFill>
                <a:latin typeface="Aptos" pitchFamily="34" charset="0"/>
                <a:ea typeface="Aptos" pitchFamily="34" charset="-122"/>
                <a:cs typeface="Aptos" pitchFamily="34" charset="-120"/>
              </a:rPr>
              <a:t>15</a:t>
            </a:r>
            <a:endParaRPr lang="en-US" sz="1800" dirty="0"/>
          </a:p>
        </p:txBody>
      </p:sp>
      <p:sp>
        <p:nvSpPr>
          <p:cNvPr id="3" name="Shape 1"/>
          <p:cNvSpPr/>
          <p:nvPr/>
        </p:nvSpPr>
        <p:spPr>
          <a:xfrm>
            <a:off x="0" y="0"/>
            <a:ext cx="12188952" cy="82296"/>
          </a:xfrm>
          <a:prstGeom prst="rect">
            <a:avLst/>
          </a:prstGeom>
          <a:solidFill>
            <a:srgbClr val="0F6CBD"/>
          </a:solidFill>
          <a:ln/>
        </p:spPr>
      </p:sp>
      <p:sp>
        <p:nvSpPr>
          <p:cNvPr id="5" name="Text 2"/>
          <p:cNvSpPr/>
          <p:nvPr/>
        </p:nvSpPr>
        <p:spPr>
          <a:xfrm>
            <a:off x="502920" y="237744"/>
            <a:ext cx="11183112" cy="347472"/>
          </a:xfrm>
          <a:prstGeom prst="rect">
            <a:avLst/>
          </a:prstGeom>
          <a:noFill/>
          <a:ln/>
        </p:spPr>
        <p:txBody>
          <a:bodyPr wrap="square" rtlCol="0" anchor="ctr"/>
          <a:lstStyle/>
          <a:p>
            <a:pPr marL="0" indent="0">
              <a:buNone/>
            </a:pPr>
            <a:r>
              <a:rPr lang="en-US" sz="1800" b="1" kern="0" spc="200" dirty="0">
                <a:solidFill>
                  <a:srgbClr val="0F6CBD"/>
                </a:solidFill>
                <a:latin typeface="Aptos" pitchFamily="34" charset="0"/>
                <a:ea typeface="Aptos" pitchFamily="34" charset="-122"/>
                <a:cs typeface="Aptos" pitchFamily="34" charset="-120"/>
              </a:rPr>
              <a:t>SUMMARY</a:t>
            </a:r>
            <a:endParaRPr lang="en-US" sz="1800" dirty="0"/>
          </a:p>
        </p:txBody>
      </p:sp>
      <p:sp>
        <p:nvSpPr>
          <p:cNvPr id="6" name="Text 3"/>
          <p:cNvSpPr/>
          <p:nvPr/>
        </p:nvSpPr>
        <p:spPr>
          <a:xfrm>
            <a:off x="502920" y="585216"/>
            <a:ext cx="11183112" cy="731520"/>
          </a:xfrm>
          <a:prstGeom prst="rect">
            <a:avLst/>
          </a:prstGeom>
          <a:noFill/>
          <a:ln/>
        </p:spPr>
        <p:txBody>
          <a:bodyPr wrap="square" rtlCol="0" anchor="ctr"/>
          <a:lstStyle/>
          <a:p>
            <a:pPr marL="0" indent="0">
              <a:buNone/>
            </a:pPr>
            <a:r>
              <a:rPr lang="en-US" sz="3000" b="1" dirty="0">
                <a:solidFill>
                  <a:srgbClr val="002050"/>
                </a:solidFill>
                <a:latin typeface="Aptos Display" pitchFamily="34" charset="0"/>
                <a:ea typeface="Aptos Display" pitchFamily="34" charset="-122"/>
                <a:cs typeface="Aptos Display" pitchFamily="34" charset="-120"/>
              </a:rPr>
              <a:t>What each side gets</a:t>
            </a:r>
            <a:endParaRPr lang="en-US" sz="3000" dirty="0"/>
          </a:p>
        </p:txBody>
      </p:sp>
      <p:sp>
        <p:nvSpPr>
          <p:cNvPr id="7" name="Shape 4"/>
          <p:cNvSpPr/>
          <p:nvPr/>
        </p:nvSpPr>
        <p:spPr>
          <a:xfrm>
            <a:off x="502920" y="1572768"/>
            <a:ext cx="5454396" cy="4343400"/>
          </a:xfrm>
          <a:prstGeom prst="roundRect">
            <a:avLst>
              <a:gd name="adj" fmla="val 1895"/>
            </a:avLst>
          </a:prstGeom>
          <a:solidFill>
            <a:srgbClr val="F7FBFF"/>
          </a:solidFill>
          <a:ln w="12700">
            <a:solidFill>
              <a:srgbClr val="D5E3F2"/>
            </a:solidFill>
            <a:prstDash val="solid"/>
          </a:ln>
          <a:effectLst>
            <a:outerShdw blurRad="88900" dist="25400" dir="5400000" algn="bl" rotWithShape="0">
              <a:srgbClr val="9AB4CC">
                <a:alpha val="30000"/>
              </a:srgbClr>
            </a:outerShdw>
          </a:effectLst>
        </p:spPr>
      </p:sp>
      <p:pic>
        <p:nvPicPr>
          <p:cNvPr id="8"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1520" y="1810512"/>
            <a:ext cx="384048" cy="384048"/>
          </a:xfrm>
          <a:prstGeom prst="rect">
            <a:avLst/>
          </a:prstGeom>
        </p:spPr>
      </p:pic>
      <p:sp>
        <p:nvSpPr>
          <p:cNvPr id="9" name="Text 5"/>
          <p:cNvSpPr/>
          <p:nvPr/>
        </p:nvSpPr>
        <p:spPr>
          <a:xfrm>
            <a:off x="1234440" y="1792224"/>
            <a:ext cx="4539996" cy="438912"/>
          </a:xfrm>
          <a:prstGeom prst="rect">
            <a:avLst/>
          </a:prstGeom>
          <a:noFill/>
          <a:ln/>
        </p:spPr>
        <p:txBody>
          <a:bodyPr wrap="square" rtlCol="0" anchor="ctr"/>
          <a:lstStyle/>
          <a:p>
            <a:pPr marL="0" indent="0">
              <a:buNone/>
            </a:pPr>
            <a:r>
              <a:rPr lang="en-US" sz="2200" b="1" dirty="0">
                <a:solidFill>
                  <a:srgbClr val="002050"/>
                </a:solidFill>
                <a:latin typeface="Aptos Display" pitchFamily="34" charset="0"/>
                <a:ea typeface="Aptos Display" pitchFamily="34" charset="-122"/>
                <a:cs typeface="Aptos Display" pitchFamily="34" charset="-120"/>
              </a:rPr>
              <a:t>In learners' hands</a:t>
            </a:r>
            <a:endParaRPr lang="en-US" sz="2200" dirty="0"/>
          </a:p>
        </p:txBody>
      </p:sp>
      <p:sp>
        <p:nvSpPr>
          <p:cNvPr id="10" name="Text 6"/>
          <p:cNvSpPr/>
          <p:nvPr/>
        </p:nvSpPr>
        <p:spPr>
          <a:xfrm>
            <a:off x="777240" y="2395728"/>
            <a:ext cx="4905756" cy="3383280"/>
          </a:xfrm>
          <a:prstGeom prst="rect">
            <a:avLst/>
          </a:prstGeom>
          <a:noFill/>
          <a:ln/>
        </p:spPr>
        <p:txBody>
          <a:bodyPr wrap="square" rtlCol="0" anchor="t"/>
          <a:lstStyle/>
          <a:p>
            <a:pPr marL="177800" indent="-177800">
              <a:lnSpc>
                <a:spcPct val="150000"/>
              </a:lnSpc>
              <a:buSzPct val="100000"/>
              <a:buChar char="•"/>
            </a:pPr>
            <a:r>
              <a:rPr lang="en-US" sz="1800" dirty="0">
                <a:solidFill>
                  <a:srgbClr val="002050"/>
                </a:solidFill>
                <a:latin typeface="Aptos" pitchFamily="34" charset="0"/>
                <a:ea typeface="Aptos" pitchFamily="34" charset="-122"/>
                <a:cs typeface="Aptos" pitchFamily="34" charset="-120"/>
              </a:rPr>
              <a:t>Learn, practise and submit from one app</a:t>
            </a:r>
            <a:endParaRPr lang="en-US" sz="1800" dirty="0"/>
          </a:p>
          <a:p>
            <a:pPr marL="177800" indent="-177800">
              <a:lnSpc>
                <a:spcPct val="150000"/>
              </a:lnSpc>
              <a:buSzPct val="100000"/>
              <a:buChar char="•"/>
            </a:pPr>
            <a:r>
              <a:rPr lang="en-US" sz="1800" dirty="0">
                <a:solidFill>
                  <a:srgbClr val="002050"/>
                </a:solidFill>
                <a:latin typeface="Aptos" pitchFamily="34" charset="0"/>
                <a:ea typeface="Aptos" pitchFamily="34" charset="-122"/>
                <a:cs typeface="Aptos" pitchFamily="34" charset="-120"/>
              </a:rPr>
              <a:t>Instant marks with reasons — AI included</a:t>
            </a:r>
            <a:endParaRPr lang="en-US" sz="1800" dirty="0"/>
          </a:p>
          <a:p>
            <a:pPr marL="177800" indent="-177800">
              <a:lnSpc>
                <a:spcPct val="150000"/>
              </a:lnSpc>
              <a:buSzPct val="100000"/>
              <a:buChar char="•"/>
            </a:pPr>
            <a:r>
              <a:rPr lang="en-US" sz="1800" dirty="0">
                <a:solidFill>
                  <a:srgbClr val="002050"/>
                </a:solidFill>
                <a:latin typeface="Aptos" pitchFamily="34" charset="0"/>
                <a:ea typeface="Aptos" pitchFamily="34" charset="-122"/>
                <a:cs typeface="Aptos" pitchFamily="34" charset="-120"/>
              </a:rPr>
              <a:t>Progress that updates itself</a:t>
            </a:r>
            <a:endParaRPr lang="en-US" sz="1800" dirty="0"/>
          </a:p>
          <a:p>
            <a:pPr marL="177800" indent="-177800">
              <a:lnSpc>
                <a:spcPct val="150000"/>
              </a:lnSpc>
              <a:buSzPct val="100000"/>
              <a:buChar char="•"/>
            </a:pPr>
            <a:r>
              <a:rPr lang="en-US" sz="1800" dirty="0">
                <a:solidFill>
                  <a:srgbClr val="002050"/>
                </a:solidFill>
                <a:latin typeface="Aptos" pitchFamily="34" charset="0"/>
                <a:ea typeface="Aptos" pitchFamily="34" charset="-122"/>
                <a:cs typeface="Aptos" pitchFamily="34" charset="-120"/>
              </a:rPr>
              <a:t>Private chat, Q&amp;A, XP and leaderboard</a:t>
            </a:r>
            <a:endParaRPr lang="en-US" sz="1800" dirty="0"/>
          </a:p>
          <a:p>
            <a:pPr marL="177800" indent="-177800">
              <a:lnSpc>
                <a:spcPct val="150000"/>
              </a:lnSpc>
              <a:buSzPct val="100000"/>
              <a:buChar char="•"/>
            </a:pPr>
            <a:r>
              <a:rPr lang="en-US" sz="1800" dirty="0">
                <a:solidFill>
                  <a:srgbClr val="002050"/>
                </a:solidFill>
                <a:latin typeface="Aptos" pitchFamily="34" charset="0"/>
                <a:ea typeface="Aptos" pitchFamily="34" charset="-122"/>
                <a:cs typeface="Aptos" pitchFamily="34" charset="-120"/>
              </a:rPr>
              <a:t>Sign the register in seconds</a:t>
            </a:r>
            <a:endParaRPr lang="en-US" sz="1800" dirty="0"/>
          </a:p>
          <a:p>
            <a:pPr marL="177800" indent="-177800">
              <a:lnSpc>
                <a:spcPct val="150000"/>
              </a:lnSpc>
              <a:buSzPct val="100000"/>
              <a:buChar char="•"/>
            </a:pPr>
            <a:r>
              <a:rPr lang="en-US" sz="1800" dirty="0">
                <a:solidFill>
                  <a:srgbClr val="002050"/>
                </a:solidFill>
                <a:latin typeface="Aptos" pitchFamily="34" charset="0"/>
                <a:ea typeface="Aptos" pitchFamily="34" charset="-122"/>
                <a:cs typeface="Aptos" pitchFamily="34" charset="-120"/>
              </a:rPr>
              <a:t>Forms completed once, never re-written</a:t>
            </a:r>
            <a:endParaRPr lang="en-US" sz="1800" dirty="0"/>
          </a:p>
        </p:txBody>
      </p:sp>
      <p:sp>
        <p:nvSpPr>
          <p:cNvPr id="11" name="Shape 7"/>
          <p:cNvSpPr/>
          <p:nvPr/>
        </p:nvSpPr>
        <p:spPr>
          <a:xfrm>
            <a:off x="6231636" y="1572768"/>
            <a:ext cx="5454396" cy="4343400"/>
          </a:xfrm>
          <a:prstGeom prst="roundRect">
            <a:avLst>
              <a:gd name="adj" fmla="val 1895"/>
            </a:avLst>
          </a:prstGeom>
          <a:solidFill>
            <a:srgbClr val="F0FAF2"/>
          </a:solidFill>
          <a:ln w="12700">
            <a:solidFill>
              <a:srgbClr val="CFE9D6"/>
            </a:solidFill>
            <a:prstDash val="solid"/>
          </a:ln>
          <a:effectLst>
            <a:outerShdw blurRad="88900" dist="25400" dir="5400000" algn="bl" rotWithShape="0">
              <a:srgbClr val="9AB4CC">
                <a:alpha val="30000"/>
              </a:srgbClr>
            </a:outerShdw>
          </a:effectLst>
        </p:spPr>
      </p:sp>
      <p:pic>
        <p:nvPicPr>
          <p:cNvPr id="12"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460236" y="1810512"/>
            <a:ext cx="384048" cy="384048"/>
          </a:xfrm>
          <a:prstGeom prst="rect">
            <a:avLst/>
          </a:prstGeom>
        </p:spPr>
      </p:pic>
      <p:sp>
        <p:nvSpPr>
          <p:cNvPr id="13" name="Text 8"/>
          <p:cNvSpPr/>
          <p:nvPr/>
        </p:nvSpPr>
        <p:spPr>
          <a:xfrm>
            <a:off x="6963156" y="1792224"/>
            <a:ext cx="4539996" cy="438912"/>
          </a:xfrm>
          <a:prstGeom prst="rect">
            <a:avLst/>
          </a:prstGeom>
          <a:noFill/>
          <a:ln/>
        </p:spPr>
        <p:txBody>
          <a:bodyPr wrap="square" rtlCol="0" anchor="ctr"/>
          <a:lstStyle/>
          <a:p>
            <a:pPr marL="0" indent="0">
              <a:buNone/>
            </a:pPr>
            <a:r>
              <a:rPr lang="en-US" sz="2200" b="1" dirty="0">
                <a:solidFill>
                  <a:srgbClr val="107C41"/>
                </a:solidFill>
                <a:latin typeface="Aptos Display" pitchFamily="34" charset="0"/>
                <a:ea typeface="Aptos Display" pitchFamily="34" charset="-122"/>
                <a:cs typeface="Aptos Display" pitchFamily="34" charset="-120"/>
              </a:rPr>
              <a:t>In your team's hands</a:t>
            </a:r>
            <a:endParaRPr lang="en-US" sz="2200" dirty="0"/>
          </a:p>
        </p:txBody>
      </p:sp>
      <p:sp>
        <p:nvSpPr>
          <p:cNvPr id="14" name="Text 9"/>
          <p:cNvSpPr/>
          <p:nvPr/>
        </p:nvSpPr>
        <p:spPr>
          <a:xfrm>
            <a:off x="6505956" y="2395728"/>
            <a:ext cx="4905756" cy="3383280"/>
          </a:xfrm>
          <a:prstGeom prst="rect">
            <a:avLst/>
          </a:prstGeom>
          <a:noFill/>
          <a:ln/>
        </p:spPr>
        <p:txBody>
          <a:bodyPr wrap="square" rtlCol="0" anchor="t"/>
          <a:lstStyle/>
          <a:p>
            <a:pPr marL="177800" indent="-177800">
              <a:lnSpc>
                <a:spcPct val="150000"/>
              </a:lnSpc>
              <a:buSzPct val="100000"/>
              <a:buChar char="•"/>
            </a:pPr>
            <a:r>
              <a:rPr lang="en-US" sz="1800" dirty="0">
                <a:solidFill>
                  <a:srgbClr val="002050"/>
                </a:solidFill>
                <a:latin typeface="Aptos" pitchFamily="34" charset="0"/>
                <a:ea typeface="Aptos" pitchFamily="34" charset="-122"/>
                <a:cs typeface="Aptos" pitchFamily="34" charset="-120"/>
              </a:rPr>
              <a:t>Live answers, activity and risk status</a:t>
            </a:r>
            <a:endParaRPr lang="en-US" sz="1800" dirty="0"/>
          </a:p>
          <a:p>
            <a:pPr marL="177800" indent="-177800">
              <a:lnSpc>
                <a:spcPct val="150000"/>
              </a:lnSpc>
              <a:buSzPct val="100000"/>
              <a:buChar char="•"/>
            </a:pPr>
            <a:r>
              <a:rPr lang="en-US" sz="1800" dirty="0">
                <a:solidFill>
                  <a:srgbClr val="002050"/>
                </a:solidFill>
                <a:latin typeface="Aptos" pitchFamily="34" charset="0"/>
                <a:ea typeface="Aptos" pitchFamily="34" charset="-122"/>
                <a:cs typeface="Aptos" pitchFamily="34" charset="-120"/>
              </a:rPr>
              <a:t>Zero manual marking or capture</a:t>
            </a:r>
            <a:endParaRPr lang="en-US" sz="1800" dirty="0"/>
          </a:p>
          <a:p>
            <a:pPr marL="177800" indent="-177800">
              <a:lnSpc>
                <a:spcPct val="150000"/>
              </a:lnSpc>
              <a:buSzPct val="100000"/>
              <a:buChar char="•"/>
            </a:pPr>
            <a:r>
              <a:rPr lang="en-US" sz="1800" dirty="0">
                <a:solidFill>
                  <a:srgbClr val="002050"/>
                </a:solidFill>
                <a:latin typeface="Aptos" pitchFamily="34" charset="0"/>
                <a:ea typeface="Aptos" pitchFamily="34" charset="-122"/>
                <a:cs typeface="Aptos" pitchFamily="34" charset="-120"/>
              </a:rPr>
              <a:t>Audit-ready evidence on demand</a:t>
            </a:r>
            <a:endParaRPr lang="en-US" sz="1800" dirty="0"/>
          </a:p>
          <a:p>
            <a:pPr marL="177800" indent="-177800">
              <a:lnSpc>
                <a:spcPct val="150000"/>
              </a:lnSpc>
              <a:buSzPct val="100000"/>
              <a:buChar char="•"/>
            </a:pPr>
            <a:r>
              <a:rPr lang="en-US" sz="1800" dirty="0">
                <a:solidFill>
                  <a:srgbClr val="002050"/>
                </a:solidFill>
                <a:latin typeface="Aptos" pitchFamily="34" charset="0"/>
                <a:ea typeface="Aptos" pitchFamily="34" charset="-122"/>
                <a:cs typeface="Aptos" pitchFamily="34" charset="-120"/>
              </a:rPr>
              <a:t>1-click CSV / PDF / ZIP for SETA &amp; QCTO</a:t>
            </a:r>
            <a:endParaRPr lang="en-US" sz="1800" dirty="0"/>
          </a:p>
          <a:p>
            <a:pPr marL="177800" indent="-177800">
              <a:lnSpc>
                <a:spcPct val="150000"/>
              </a:lnSpc>
              <a:buSzPct val="100000"/>
              <a:buChar char="•"/>
            </a:pPr>
            <a:r>
              <a:rPr lang="en-US" sz="1800" dirty="0">
                <a:solidFill>
                  <a:srgbClr val="002050"/>
                </a:solidFill>
                <a:latin typeface="Aptos" pitchFamily="34" charset="0"/>
                <a:ea typeface="Aptos" pitchFamily="34" charset="-122"/>
                <a:cs typeface="Aptos" pitchFamily="34" charset="-120"/>
              </a:rPr>
              <a:t>Broadcasts and read-only moderation</a:t>
            </a:r>
            <a:endParaRPr lang="en-US" sz="1800" dirty="0"/>
          </a:p>
          <a:p>
            <a:pPr marL="177800" indent="-177800">
              <a:lnSpc>
                <a:spcPct val="150000"/>
              </a:lnSpc>
              <a:buSzPct val="100000"/>
              <a:buChar char="•"/>
            </a:pPr>
            <a:r>
              <a:rPr lang="en-US" sz="1800" dirty="0">
                <a:solidFill>
                  <a:srgbClr val="002050"/>
                </a:solidFill>
                <a:latin typeface="Aptos" pitchFamily="34" charset="0"/>
                <a:ea typeface="Aptos" pitchFamily="34" charset="-122"/>
                <a:cs typeface="Aptos" pitchFamily="34" charset="-120"/>
              </a:rPr>
              <a:t>Role control with a full audit trail</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6">
    <p:bg>
      <p:bgPr>
        <a:solidFill>
          <a:srgbClr val="002050"/>
        </a:solidFill>
        <a:effectLst/>
      </p:bgPr>
    </p:bg>
    <p:spTree>
      <p:nvGrpSpPr>
        <p:cNvPr id="1" name=""/>
        <p:cNvGrpSpPr/>
        <p:nvPr/>
      </p:nvGrpSpPr>
      <p:grpSpPr>
        <a:xfrm>
          <a:off x="0" y="0"/>
          <a:ext cx="0" cy="0"/>
          <a:chOff x="0" y="0"/>
          <a:chExt cx="0" cy="0"/>
        </a:xfrm>
      </p:grpSpPr>
      <p:sp>
        <p:nvSpPr>
          <p:cNvPr id="2" name="Text 0"/>
          <p:cNvSpPr/>
          <p:nvPr/>
        </p:nvSpPr>
        <p:spPr>
          <a:xfrm>
            <a:off x="11045952" y="6437376"/>
            <a:ext cx="640080" cy="320040"/>
          </a:xfrm>
          <a:prstGeom prst="rect">
            <a:avLst/>
          </a:prstGeom>
          <a:noFill/>
          <a:ln/>
        </p:spPr>
        <p:txBody>
          <a:bodyPr wrap="square" rtlCol="0" anchor="ctr"/>
          <a:lstStyle/>
          <a:p>
            <a:pPr marL="0" indent="0" algn="r">
              <a:buNone/>
            </a:pPr>
            <a:r>
              <a:rPr lang="en-US" sz="1800" dirty="0">
                <a:solidFill>
                  <a:srgbClr val="6B7280"/>
                </a:solidFill>
                <a:latin typeface="Aptos" pitchFamily="34" charset="0"/>
                <a:ea typeface="Aptos" pitchFamily="34" charset="-122"/>
                <a:cs typeface="Aptos" pitchFamily="34" charset="-120"/>
              </a:rPr>
              <a:t>16</a:t>
            </a:r>
            <a:endParaRPr lang="en-US" sz="1800" dirty="0"/>
          </a:p>
        </p:txBody>
      </p:sp>
      <p:sp>
        <p:nvSpPr>
          <p:cNvPr id="3" name="Shape 1"/>
          <p:cNvSpPr/>
          <p:nvPr/>
        </p:nvSpPr>
        <p:spPr>
          <a:xfrm>
            <a:off x="0" y="0"/>
            <a:ext cx="12188952" cy="82296"/>
          </a:xfrm>
          <a:prstGeom prst="rect">
            <a:avLst/>
          </a:prstGeom>
          <a:solidFill>
            <a:srgbClr val="0F6CBD"/>
          </a:solidFill>
          <a:ln/>
        </p:spPr>
      </p:sp>
      <p:sp>
        <p:nvSpPr>
          <p:cNvPr id="5" name="Shape 2"/>
          <p:cNvSpPr/>
          <p:nvPr/>
        </p:nvSpPr>
        <p:spPr>
          <a:xfrm>
            <a:off x="0" y="0"/>
            <a:ext cx="12188952" cy="109728"/>
          </a:xfrm>
          <a:prstGeom prst="rect">
            <a:avLst/>
          </a:prstGeom>
          <a:solidFill>
            <a:srgbClr val="0F6CBD"/>
          </a:solidFill>
          <a:ln/>
        </p:spPr>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2920" y="1371600"/>
            <a:ext cx="594360" cy="594360"/>
          </a:xfrm>
          <a:prstGeom prst="rect">
            <a:avLst/>
          </a:prstGeom>
        </p:spPr>
      </p:pic>
      <p:sp>
        <p:nvSpPr>
          <p:cNvPr id="7" name="Text 3"/>
          <p:cNvSpPr/>
          <p:nvPr/>
        </p:nvSpPr>
        <p:spPr>
          <a:xfrm>
            <a:off x="502920" y="2103120"/>
            <a:ext cx="11183112" cy="1737360"/>
          </a:xfrm>
          <a:prstGeom prst="rect">
            <a:avLst/>
          </a:prstGeom>
          <a:noFill/>
          <a:ln/>
        </p:spPr>
        <p:txBody>
          <a:bodyPr wrap="square" rtlCol="0" anchor="ctr"/>
          <a:lstStyle/>
          <a:p>
            <a:pPr marL="0" indent="0">
              <a:lnSpc>
                <a:spcPct val="108000"/>
              </a:lnSpc>
              <a:buNone/>
            </a:pPr>
            <a:r>
              <a:rPr lang="en-US" sz="3600" b="1" dirty="0">
                <a:solidFill>
                  <a:srgbClr val="FFFFFF"/>
                </a:solidFill>
                <a:latin typeface="Aptos Display" pitchFamily="34" charset="0"/>
                <a:ea typeface="Aptos Display" pitchFamily="34" charset="-122"/>
                <a:cs typeface="Aptos Display" pitchFamily="34" charset="-120"/>
              </a:rPr>
              <a:t>It teaches, marks, tracks, communicates,</a:t>
            </a:r>
            <a:endParaRPr lang="en-US" sz="3600" dirty="0"/>
          </a:p>
          <a:p>
            <a:pPr marL="0" indent="0">
              <a:lnSpc>
                <a:spcPct val="108000"/>
              </a:lnSpc>
              <a:buNone/>
            </a:pPr>
            <a:r>
              <a:rPr lang="en-US" sz="3600" b="1" dirty="0">
                <a:solidFill>
                  <a:srgbClr val="FFFFFF"/>
                </a:solidFill>
                <a:latin typeface="Aptos Display" pitchFamily="34" charset="0"/>
                <a:ea typeface="Aptos Display" pitchFamily="34" charset="-122"/>
                <a:cs typeface="Aptos Display" pitchFamily="34" charset="-120"/>
              </a:rPr>
              <a:t>reports and audits — on its own.</a:t>
            </a:r>
            <a:endParaRPr lang="en-US" sz="3600" dirty="0"/>
          </a:p>
        </p:txBody>
      </p:sp>
      <p:sp>
        <p:nvSpPr>
          <p:cNvPr id="8" name="Text 4"/>
          <p:cNvSpPr/>
          <p:nvPr/>
        </p:nvSpPr>
        <p:spPr>
          <a:xfrm>
            <a:off x="502920" y="3931920"/>
            <a:ext cx="9509760" cy="914400"/>
          </a:xfrm>
          <a:prstGeom prst="rect">
            <a:avLst/>
          </a:prstGeom>
          <a:noFill/>
          <a:ln/>
        </p:spPr>
        <p:txBody>
          <a:bodyPr wrap="square" rtlCol="0" anchor="ctr"/>
          <a:lstStyle/>
          <a:p>
            <a:pPr marL="0" indent="0">
              <a:lnSpc>
                <a:spcPct val="120000"/>
              </a:lnSpc>
              <a:buNone/>
            </a:pPr>
            <a:r>
              <a:rPr lang="en-US" sz="2000" dirty="0">
                <a:solidFill>
                  <a:srgbClr val="B9D6F2"/>
                </a:solidFill>
                <a:latin typeface="Aptos" pitchFamily="34" charset="0"/>
                <a:ea typeface="Aptos" pitchFamily="34" charset="-122"/>
                <a:cs typeface="Aptos" pitchFamily="34" charset="-120"/>
              </a:rPr>
              <a:t>ITSS Learn is live today, running the National Certificate: IT Systems Support (NQF 5) end to end — ready to become Eruditio's digital delivery backbone.</a:t>
            </a:r>
            <a:endParaRPr lang="en-US" sz="2000" dirty="0"/>
          </a:p>
        </p:txBody>
      </p:sp>
      <p:sp>
        <p:nvSpPr>
          <p:cNvPr id="9" name="Shape 5"/>
          <p:cNvSpPr/>
          <p:nvPr/>
        </p:nvSpPr>
        <p:spPr>
          <a:xfrm>
            <a:off x="502920" y="5074920"/>
            <a:ext cx="5760720" cy="548640"/>
          </a:xfrm>
          <a:prstGeom prst="roundRect">
            <a:avLst>
              <a:gd name="adj" fmla="val 50000"/>
            </a:avLst>
          </a:prstGeom>
          <a:solidFill>
            <a:srgbClr val="0F6CBD"/>
          </a:solidFill>
          <a:ln/>
        </p:spPr>
      </p:sp>
      <p:sp>
        <p:nvSpPr>
          <p:cNvPr id="10" name="Text 6"/>
          <p:cNvSpPr/>
          <p:nvPr/>
        </p:nvSpPr>
        <p:spPr>
          <a:xfrm>
            <a:off x="502920" y="5074920"/>
            <a:ext cx="5760720" cy="548640"/>
          </a:xfrm>
          <a:prstGeom prst="rect">
            <a:avLst/>
          </a:prstGeom>
          <a:noFill/>
          <a:ln/>
        </p:spPr>
        <p:txBody>
          <a:bodyPr wrap="square" rtlCol="0" anchor="ctr"/>
          <a:lstStyle/>
          <a:p>
            <a:pPr marL="0" indent="0" algn="ctr">
              <a:buNone/>
            </a:pPr>
            <a:r>
              <a:rPr lang="en-US" sz="1800" b="1" dirty="0">
                <a:solidFill>
                  <a:srgbClr val="FFFFFF"/>
                </a:solidFill>
                <a:latin typeface="Aptos" pitchFamily="34" charset="0"/>
                <a:ea typeface="Aptos" pitchFamily="34" charset="-122"/>
                <a:cs typeface="Aptos" pitchFamily="34" charset="-120"/>
              </a:rPr>
              <a:t>Next step: a 30-minute live walkthrough</a:t>
            </a:r>
            <a:endParaRPr lang="en-US" sz="1800" dirty="0"/>
          </a:p>
        </p:txBody>
      </p:sp>
      <p:sp>
        <p:nvSpPr>
          <p:cNvPr id="11" name="Text 7"/>
          <p:cNvSpPr/>
          <p:nvPr/>
        </p:nvSpPr>
        <p:spPr>
          <a:xfrm>
            <a:off x="502920" y="6263640"/>
            <a:ext cx="11183112" cy="365760"/>
          </a:xfrm>
          <a:prstGeom prst="rect">
            <a:avLst/>
          </a:prstGeom>
          <a:noFill/>
          <a:ln/>
        </p:spPr>
        <p:txBody>
          <a:bodyPr wrap="square" rtlCol="0" anchor="ctr"/>
          <a:lstStyle/>
          <a:p>
            <a:pPr marL="0" indent="0">
              <a:buNone/>
            </a:pPr>
            <a:r>
              <a:rPr lang="en-US" sz="1800" dirty="0">
                <a:solidFill>
                  <a:srgbClr val="6E93BC"/>
                </a:solidFill>
                <a:latin typeface="Aptos" pitchFamily="34" charset="0"/>
                <a:ea typeface="Aptos" pitchFamily="34" charset="-122"/>
                <a:cs typeface="Aptos" pitchFamily="34" charset="-120"/>
              </a:rPr>
              <a:t>Eruditio × ITSS Learn · SAQA ID 48573 · QCTO / MICT SETA</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237</TotalTime>
  <Words>3560</Words>
  <Application>Microsoft Office PowerPoint</Application>
  <PresentationFormat>Custom</PresentationFormat>
  <Paragraphs>255</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Eruditio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ITSS Learn for Eruditio — Problem &amp; Solution Pitch</dc:title>
  <dc:subject>How ITSS Learn solves Eruditio's learnership delivery, evidence and compliance challenges</dc:subject>
  <dc:creator>Andre Snell</dc:creator>
  <cp:lastModifiedBy>ANDRE DOMINIC SNELL</cp:lastModifiedBy>
  <cp:revision>2</cp:revision>
  <dcterms:created xsi:type="dcterms:W3CDTF">2026-10-05T03:29:23Z</dcterms:created>
  <dcterms:modified xsi:type="dcterms:W3CDTF">2026-10-05T07:31:42Z</dcterms:modified>
</cp:coreProperties>
</file>