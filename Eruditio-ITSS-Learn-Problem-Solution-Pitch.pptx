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Today I want to show you the platform we use to run the IT Systems Support learnership end to end — it is called ITSS Learn. One sentence summary: it is a single app in which learners are taught, assessed, tracked and supported, and in which all the administration, evidence and compliance paperwork produces itself. It is live today, runs on any device, and was purpose-built for this exact qualification — SAQA 48573, NQF Level 5, 148 credits, quality-assured under QCTO / MICT SETA.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pain. Running a 12-month learnership the traditional way means six recurring problems. Paper everywhere — registers, registration forms, portfolios — that must be chased, filed and stored for audits. Marking backlogs — facilitators lose evenings hand-marking, and learners wait days for feedback. No live visibility — you only discover a struggling learner at month-end review, when it is often too late. Evidence chaos — POE documents scattered across email, WhatsApp and memory sticks; assembling one portfolio for moderation takes days. Compliance stress — every SETA/QCTO audit becomes a scramble to reconstruct evidence. And disengagement — learners get no instant feedback and no sense of progress, so momentum dies between sessions. Ask the client which of these they recognise — usually all six. Every one is a staff-hours cost, a quality risk, 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ITSS Learn replaces all of that with one app doing five jobs. Teach — the full curriculum lives in the app as interactive lessons, with a live classroom presenter mode. Assess — quizzes and written answers are marked automatically, including by AI, with explained feedback. Track — progress records itself the moment work is done; nobody captures anything. Communicate — private chat, class Q&amp;A, announcements and broadcasts, all moderated. Comply — every register, form, portfolio and audit trail is generated by the platform, print-perfect. The key message: it is not five tools glued together — it is one system where each part feeds the others. A quiz taken in class instantly updates progress, analytics, the leaderboard and the compliance dashboard, with zero admin typing.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headline numbers to anchor the scale. The entire qualification is preloaded: 6 modules, 24 unit standards, 148 credits, with the full one-year training calendar. Assessment: 4 auto-marked question types plus AI marking of written answers. Evidence: a guided 37-item portfolio checklist across 8 sections, reviewed and signed off in-app. Motivation: 8 levels and earnable badges computed only from real work. Access control: 5 roles from Learner to Super User. And reporting is one click: CSV analytics, PDF registers and forms, ZIP portfolios. Plus, as the bottom line says: it installs like an app, works offline, syncs in real time, and ships with 160+ illustrated teaching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learner's side — this is what your learners live in every day. Lessons are interactive slide decks with photos, diagrams, pop-up glossary definitions and collapsible worked examples — not PDFs. Knowledge gating: the next slide can stay locked until the learner answers a checkpoint question correctly, so nobody can page through without engaging. The same material has a classroom presenter mode — full-screen slides with speaker notes — so what is taught live on Friday is exactly what learners revise on their phone on Monday. There is a personal logbook for workplace evidence, session notes, and a built-in training calendar that adds sessions to Outlook or Teams with one tap — no API keys, nothing leaves the device. Official slide decks and manuals are downloadable as PPTX / PDF for offline study. Everything works on the learner's own phone — no laptop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is where the platform saves the most staff time — and where learners feel the biggest difference. Four question types mark themselves instantly: multiple choice, select-all, drag-to-order and matching, with attempt history and best-score tracking. Written answers get a two-stage AI marker. Stage one is deterministic key-idea detection — it places a tick on the exact sentence that earned each mark. Stage two sends rejected answers to a large language model that judges meaning, so a learner who answers correctly in their own words still gets the credit. Feedback is explanatory: the app tells the learner which idea is missing and quotes the exact lesson line that teaches it — and a gentle in-browser spellchecker helps with typed answers. Marked attempts are capped and self-assessments lock after saving, with a staff-only unlock — results cannot be gamed. And there is full transparency: staff can open any learner and see every option picked and every sentence typed. Key line for the client: marking that used to take a facilitator evenings now happens in the second the learner presses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months is a long programme — motivation is a real risk. The platform bakes it in. Learners earn XP across 8 levels, from Newcomer to Legend, plus badges — and every point is computed from real recorded work: quizzes passed, evidence uploaded, registers signed. It cannot be inflated, so the class leaderboard is honest and genuinely competitive. Community features keep the cohort connected between Fridays: class Q&amp;A with threaded replies, announcements from staff, live multiplayer quiz sessions, and a class photo wall for the social side. Every learner also has a private 1-to-1 chat line to the facilitator — with online presence, read receipts and message editing — so questions get asked early instead of festering. Staff can broadcast one message privately to every learner at once, and authorised staff can open any conversation read-only for safeguarding — enforced by the database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Portfolio of Evidence is usually the most painful part of any learnership — here it runs itself. Learners get a guided checklist: 8 sections, 37 evidence items, from certified ID copy to the signed learnership agreement to per-unit assignments. They photograph or upload documents straight from their phone — up to 10 files per item — into private cloud storage. Assessors review and sign off each item in the app, with a clear competent / not-yet-competent verdict workflow, so learners always see exactly what is outstanding. When the moderator or the SETA asks for a portfolio, staff export any learner's entire POE as a ZIP in one click — no more days of assembling paper files. The workplace logbook is digital too. And the dual accounting model — a lenient coaching view plus a strict auditable view — means you always know exactly what is claimable.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administrative side — first, the day-to-day running of a session. Attendance: the register is digital. Learners sign on their phone in seconds; a learner can even photograph their pen-on-paper signature and the platform extracts clean ink strokes automatically. Registers print as pixel-perfect replicas of the official paper form — every register at once if you like. Enrolment: the official registration form and the biographical enrolment form are digitised to match the paper originals exactly. Learners complete them once online; forms auto-fill from stored data and print exactly like the originals. Each new learner can be handed an auto-generated onboarding pack — programme overview, calendar, required documents, POE guide and app how-to — built in one click. Content management is central: staff upload slide decks and lesson figures and they sync to every device instantly. And one click sends a private broadcast to every learner — session reminders, venue changes, deadline nudges. The message: a facilitator runs the entire Friday session from one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admin superpower: visibility. The analytics dashboard shows the whole cohort live in one sortable table — completion percentage, quiz and exercise averages, attendance rate, last-seen and XP for every learner. The early-warning engine flags at-risk learners automatically and states the reasons: low completion, poor attendance, inactivity, low scores. You intervene in week 3, not month 3. Drill into any learner and see their actual work — every quiz option picked, every sentence typed, every file uploaded, every register signed. The compliance dashboard tracks milestones and document completeness across the cohort. Everything exports: the full analytics table to CSV for your own reporting, and formal management reports can be served inside the app, restricted to the Super User. For a client, this is the difference between hoping the programme is on track and knowing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admin pillar: compliance and paperwork that produces itself. Every significant action — sign-ins, enrolments, uploads, marks, reviews, deletions — lands in a shared audit trail with actor and timestamp, exportable to CSV. When the verifier asks 'who marked this and when', the answer is one click away. Certificates and statements of results generate as print-ready documents from real completion data. The provider deliverables — lesson plans before delivery, assessment records within five days, progress reports — are tracked against their deadlines. And because every register, form, portfolio and declaration is digital and print-perfect, a SETA or QCTO audit stops being a scramble: you print the evidence pack on demand. Position this as risk reduction for the client's compliance and HR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privacy — usually the first question from a corporate client. Privacy is enforced in the database itself with row-level security. A learner physically cannot query another learner's messages, files or records — even if they bypass the app entirely. That is a much stronger guarantee than app-side checks. Five roles — Learner, Facilitator, Assessor, Moderator, Super User — and every screen adapts to the role. Sensitive reports are Super User only. Files live in a private storage bucket, never on a public URL. Every significant action is audited: submissions, messages, deletions and sign-offs, with actor and timestamp. Accounts have a full lifecycle: email sign-up, password recovery, promotion and demotion, and remove-profile-from-device. Personal data in reports is kept out of the codebase and served only to authorised signed-in staff. This design directly supports POPIA obligations around minimising access to personal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itself removes every classic IT objection. It installs like an app on any phone, tablet or computer — but there is nothing to deploy: it is a progressive web app, no app store or MDM packaging needed. It keeps working offline — a local cache means learners in low-signal areas can keep studying, and work syncs when they reconnect. Real-time cloud sync means work saved on one device appears on every other — start on a PC in class, finish on the phone at home. Updates ship centrally: every user gets the newest version on next refresh — no versions to manage, no rollouts. Dark and light themes, print-optimised output for every document, and zero-secret integrations with Teams, Outlook and calendar apps — deep links and files only, so no API keys and no data leaving the device. Total infrastructure the client must install and maintain: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operational summary — walk it row by row. Attendance: paper registers passed around and filed become digital signatures captured in seconds with print-perfect output. Marking: evenings of hand-marking become instant auto-marking plus AI marking of written answers. Progress capture: hand-updated spreadsheets disappear — progress records itself. Struggling learners: instead of month-end surprises, the platform flags them automatically with reasons. Moderation prep: days of assembling paper portfolios become a one-click ZIP. Stakeholder reporting: collation becomes on-demand CSV / PDF / ZIP exports. Onboarding: printed packs and re-typed forms become digital enrolment plus a generated welcome pack. Close with: the platform gives your staff their evenings back and gives you certainty the programme is on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summary of the value on each side. For learners: everything in one app on their own phone — learning, instant marks with reasons including AI, self-updating progress, a private line to the facilitator, digital signing of the register, and forms they complete exactly once. For your team: live truth about every learner's answers, activity and risk status; zero manual marking or capture; audit-ready evidence on demand; one-click CSV / PDF / ZIP exports for SETA and QCTO reporting; broadcasts and read-only conversation moderation; and role-controlled access with a full audit trail. If the client remembers one thing: learners get a better course, and the provider team gets their time back — from the same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ITSS Learn can run the entire learnership digitally — it teaches, marks, tracks, communicates, reports and audits on its own. It is not a concept: it is live today, running this exact qualification with the full curriculum, calendar and compliance pack inside. Suggested next step: a 30-minute live walkthrough — sign in as a learner, take a quiz and watch the AI mark a written answer, then sign in as a facilitator and watch the dashboard update in real time. Then leave the demo environment with them to explore.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image" Target="../media/image-2-11.png"/><Relationship Id="rId12" Type="http://schemas.openxmlformats.org/officeDocument/2006/relationships/image" Target="../media/image-2-12.sv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9.png"/><Relationship Id="rId10" Type="http://schemas.openxmlformats.org/officeDocument/2006/relationships/image" Target="../media/image-3-10.svg"/><Relationship Id="rId11" Type="http://schemas.openxmlformats.org/officeDocument/2006/relationships/image" Target="../media/image-3-11.png"/><Relationship Id="rId12" Type="http://schemas.openxmlformats.org/officeDocument/2006/relationships/image" Target="../media/image-3-12.svg"/><Relationship Id="rId13" Type="http://schemas.openxmlformats.org/officeDocument/2006/relationships/slideLayout" Target="../slideLayouts/slideLayout1.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png"/><Relationship Id="rId12" Type="http://schemas.openxmlformats.org/officeDocument/2006/relationships/image" Target="../media/image-5-12.svg"/><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image" Target="../media/image-6-5.png"/><Relationship Id="rId6" Type="http://schemas.openxmlformats.org/officeDocument/2006/relationships/image" Target="../media/image-6-6.svg"/><Relationship Id="rId7" Type="http://schemas.openxmlformats.org/officeDocument/2006/relationships/image" Target="../media/image-6-7.png"/><Relationship Id="rId8" Type="http://schemas.openxmlformats.org/officeDocument/2006/relationships/image" Target="../media/image-6-8.svg"/><Relationship Id="rId9" Type="http://schemas.openxmlformats.org/officeDocument/2006/relationships/image" Target="../media/image-6-9.png"/><Relationship Id="rId10" Type="http://schemas.openxmlformats.org/officeDocument/2006/relationships/image" Target="../media/image-6-10.svg"/><Relationship Id="rId11" Type="http://schemas.openxmlformats.org/officeDocument/2006/relationships/image" Target="../media/image-6-11.png"/><Relationship Id="rId12" Type="http://schemas.openxmlformats.org/officeDocument/2006/relationships/image" Target="../media/image-6-12.sv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image" Target="../media/image-7-9.png"/><Relationship Id="rId10" Type="http://schemas.openxmlformats.org/officeDocument/2006/relationships/image" Target="../media/image-7-10.svg"/><Relationship Id="rId11" Type="http://schemas.openxmlformats.org/officeDocument/2006/relationships/image" Target="../media/image-7-11.png"/><Relationship Id="rId12" Type="http://schemas.openxmlformats.org/officeDocument/2006/relationships/image" Target="../media/image-7-12.svg"/><Relationship Id="rId13" Type="http://schemas.openxmlformats.org/officeDocument/2006/relationships/slideLayout" Target="../slideLayouts/slideLayout1.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image" Target="../media/image-8-11.png"/><Relationship Id="rId12" Type="http://schemas.openxmlformats.org/officeDocument/2006/relationships/image" Target="../media/image-8-12.sv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image" Target="../media/image-9-9.png"/><Relationship Id="rId10" Type="http://schemas.openxmlformats.org/officeDocument/2006/relationships/image" Target="../media/image-9-10.svg"/><Relationship Id="rId11" Type="http://schemas.openxmlformats.org/officeDocument/2006/relationships/image" Target="../media/image-9-11.png"/><Relationship Id="rId12" Type="http://schemas.openxmlformats.org/officeDocument/2006/relationships/image" Target="../media/image-9-12.sv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image" Target="../media/image-10-9.png"/><Relationship Id="rId10" Type="http://schemas.openxmlformats.org/officeDocument/2006/relationships/image" Target="../media/image-10-10.svg"/><Relationship Id="rId11" Type="http://schemas.openxmlformats.org/officeDocument/2006/relationships/image" Target="../media/image-10-11.png"/><Relationship Id="rId12" Type="http://schemas.openxmlformats.org/officeDocument/2006/relationships/image" Target="../media/image-10-12.sv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image" Target="../media/image-11-9.png"/><Relationship Id="rId10" Type="http://schemas.openxmlformats.org/officeDocument/2006/relationships/image" Target="../media/image-11-10.svg"/><Relationship Id="rId11" Type="http://schemas.openxmlformats.org/officeDocument/2006/relationships/image" Target="../media/image-11-11.png"/><Relationship Id="rId12" Type="http://schemas.openxmlformats.org/officeDocument/2006/relationships/image" Target="../media/image-11-12.svg"/><Relationship Id="rId13" Type="http://schemas.openxmlformats.org/officeDocument/2006/relationships/slideLayout" Target="../slideLayouts/slideLayout1.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image" Target="../media/image-12-11.png"/><Relationship Id="rId12" Type="http://schemas.openxmlformats.org/officeDocument/2006/relationships/image" Target="../media/image-12-12.svg"/><Relationship Id="rId13" Type="http://schemas.openxmlformats.org/officeDocument/2006/relationships/slideLayout" Target="../slideLayouts/slideLayout1.xml"/><Relationship Id="rId1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image" Target="../media/image-13-9.png"/><Relationship Id="rId10" Type="http://schemas.openxmlformats.org/officeDocument/2006/relationships/image" Target="../media/image-13-10.svg"/><Relationship Id="rId11" Type="http://schemas.openxmlformats.org/officeDocument/2006/relationships/image" Target="../media/image-13-11.png"/><Relationship Id="rId12" Type="http://schemas.openxmlformats.org/officeDocument/2006/relationships/image" Target="../media/image-13-12.sv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0" y="0"/>
            <a:ext cx="12188952" cy="109728"/>
          </a:xfrm>
          <a:prstGeom prst="rect">
            <a:avLst/>
          </a:prstGeom>
          <a:solidFill>
            <a:srgbClr val="0F6CBD"/>
          </a:solidFill>
          <a:ln/>
        </p:spPr>
      </p:sp>
      <p:sp>
        <p:nvSpPr>
          <p:cNvPr id="4" name="Shape 1"/>
          <p:cNvSpPr/>
          <p:nvPr/>
        </p:nvSpPr>
        <p:spPr>
          <a:xfrm>
            <a:off x="502920" y="960120"/>
            <a:ext cx="4480560" cy="512064"/>
          </a:xfrm>
          <a:prstGeom prst="roundRect">
            <a:avLst>
              <a:gd name="adj" fmla="val 50000"/>
            </a:avLst>
          </a:prstGeom>
          <a:solidFill>
            <a:srgbClr val="0F6CBD"/>
          </a:solidFill>
          <a:ln/>
        </p:spPr>
      </p:sp>
      <p:sp>
        <p:nvSpPr>
          <p:cNvPr id="5" name="Text 2"/>
          <p:cNvSpPr/>
          <p:nvPr/>
        </p:nvSpPr>
        <p:spPr>
          <a:xfrm>
            <a:off x="502920" y="960120"/>
            <a:ext cx="4480560" cy="512064"/>
          </a:xfrm>
          <a:prstGeom prst="rect">
            <a:avLst/>
          </a:prstGeom>
          <a:noFill/>
          <a:ln/>
        </p:spPr>
        <p:txBody>
          <a:bodyPr wrap="square" rtlCol="0" anchor="ctr"/>
          <a:lstStyle/>
          <a:p>
            <a:pPr algn="ctr" indent="0" marL="0">
              <a:buNone/>
            </a:pPr>
            <a:r>
              <a:rPr lang="en-US" sz="1800" b="1" spc="100" kern="0" dirty="0">
                <a:solidFill>
                  <a:srgbClr val="FFFFFF"/>
                </a:solidFill>
                <a:latin typeface="Aptos" pitchFamily="34" charset="0"/>
                <a:ea typeface="Aptos" pitchFamily="34" charset="-122"/>
                <a:cs typeface="Aptos" pitchFamily="34" charset="-120"/>
              </a:rPr>
              <a:t>ITSS LEARN · BUILT FOR ERUDITIO</a:t>
            </a:r>
            <a:endParaRPr lang="en-US" sz="1800" dirty="0"/>
          </a:p>
        </p:txBody>
      </p:sp>
      <p:sp>
        <p:nvSpPr>
          <p:cNvPr id="6" name="Text 3"/>
          <p:cNvSpPr/>
          <p:nvPr/>
        </p:nvSpPr>
        <p:spPr>
          <a:xfrm>
            <a:off x="502920" y="1645920"/>
            <a:ext cx="10241280" cy="169164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Give Eruditio one operating system for every learnership.</a:t>
            </a:r>
            <a:endParaRPr lang="en-US" sz="4000" dirty="0"/>
          </a:p>
        </p:txBody>
      </p:sp>
      <p:sp>
        <p:nvSpPr>
          <p:cNvPr id="7" name="Text 4"/>
          <p:cNvSpPr/>
          <p:nvPr/>
        </p:nvSpPr>
        <p:spPr>
          <a:xfrm>
            <a:off x="502920" y="3383280"/>
            <a:ext cx="9326880" cy="777240"/>
          </a:xfrm>
          <a:prstGeom prst="rect">
            <a:avLst/>
          </a:prstGeom>
          <a:noFill/>
          <a:ln/>
        </p:spPr>
        <p:txBody>
          <a:bodyPr wrap="square" rtlCol="0" anchor="ctr"/>
          <a:lstStyle/>
          <a:p>
            <a:pPr indent="0" marL="0">
              <a:lnSpc>
                <a:spcPct val="112000"/>
              </a:lnSpc>
              <a:buNone/>
            </a:pPr>
            <a:r>
              <a:rPr lang="en-US" sz="2000" dirty="0">
                <a:solidFill>
                  <a:srgbClr val="6B7280"/>
                </a:solidFill>
                <a:latin typeface="Aptos" pitchFamily="34" charset="0"/>
                <a:ea typeface="Aptos" pitchFamily="34" charset="-122"/>
                <a:cs typeface="Aptos" pitchFamily="34" charset="-120"/>
              </a:rPr>
              <a:t>Teach, mark, track, communicate, report and audit in one place — so Eruditio can scale delivery without scaling paperwork.</a:t>
            </a:r>
            <a:endParaRPr lang="en-US" sz="20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41280" y="1051560"/>
            <a:ext cx="1554480" cy="1554480"/>
          </a:xfrm>
          <a:prstGeom prst="rect">
            <a:avLst/>
          </a:prstGeom>
        </p:spPr>
      </p:pic>
      <p:sp>
        <p:nvSpPr>
          <p:cNvPr id="9" name="Shape 5"/>
          <p:cNvSpPr/>
          <p:nvPr/>
        </p:nvSpPr>
        <p:spPr>
          <a:xfrm>
            <a:off x="502920" y="4315968"/>
            <a:ext cx="11183112" cy="0"/>
          </a:xfrm>
          <a:prstGeom prst="line">
            <a:avLst/>
          </a:prstGeom>
          <a:noFill/>
          <a:ln w="12700">
            <a:solidFill>
              <a:srgbClr val="D5E3F2"/>
            </a:solidFill>
            <a:prstDash val="solid"/>
          </a:ln>
        </p:spPr>
      </p:sp>
      <p:sp>
        <p:nvSpPr>
          <p:cNvPr id="10" name="Text 6"/>
          <p:cNvSpPr/>
          <p:nvPr/>
        </p:nvSpPr>
        <p:spPr>
          <a:xfrm>
            <a:off x="502920" y="4526280"/>
            <a:ext cx="2612898" cy="310896"/>
          </a:xfrm>
          <a:prstGeom prst="rect">
            <a:avLst/>
          </a:prstGeom>
          <a:noFill/>
          <a:ln/>
        </p:spPr>
        <p:txBody>
          <a:bodyPr wrap="square" rtlCol="0" anchor="ctr"/>
          <a:lstStyle/>
          <a:p>
            <a:pPr indent="0" marL="0">
              <a:buNone/>
            </a:pPr>
            <a:r>
              <a:rPr lang="en-US" sz="1800" b="1" spc="100" kern="0" dirty="0">
                <a:solidFill>
                  <a:srgbClr val="0F6CBD"/>
                </a:solidFill>
                <a:latin typeface="Aptos" pitchFamily="34" charset="0"/>
                <a:ea typeface="Aptos" pitchFamily="34" charset="-122"/>
                <a:cs typeface="Aptos" pitchFamily="34" charset="-120"/>
              </a:rPr>
              <a:t>BUILT FOR</a:t>
            </a:r>
            <a:endParaRPr lang="en-US" sz="1800" dirty="0"/>
          </a:p>
        </p:txBody>
      </p:sp>
      <p:sp>
        <p:nvSpPr>
          <p:cNvPr id="11" name="Text 7"/>
          <p:cNvSpPr/>
          <p:nvPr/>
        </p:nvSpPr>
        <p:spPr>
          <a:xfrm>
            <a:off x="502920" y="4846320"/>
            <a:ext cx="2612898" cy="868680"/>
          </a:xfrm>
          <a:prstGeom prst="rect">
            <a:avLst/>
          </a:prstGeom>
          <a:noFill/>
          <a:ln/>
        </p:spPr>
        <p:txBody>
          <a:bodyPr wrap="square" rtlCol="0" anchor="ctr"/>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NC: IT Systems Support</a:t>
            </a:r>
            <a:endParaRPr lang="en-US" sz="1800" dirty="0"/>
          </a:p>
          <a:p>
            <a:pPr indent="0" marL="0">
              <a:lnSpc>
                <a:spcPct val="112000"/>
              </a:lnSpc>
              <a:buNone/>
            </a:pPr>
            <a:r>
              <a:rPr lang="en-US" sz="1800" dirty="0">
                <a:solidFill>
                  <a:srgbClr val="002050"/>
                </a:solidFill>
                <a:latin typeface="Aptos" pitchFamily="34" charset="0"/>
                <a:ea typeface="Aptos" pitchFamily="34" charset="-122"/>
                <a:cs typeface="Aptos" pitchFamily="34" charset="-120"/>
              </a:rPr>
              <a:t>SAQA 48573 · NQF 5</a:t>
            </a:r>
            <a:endParaRPr lang="en-US" sz="1800" dirty="0"/>
          </a:p>
        </p:txBody>
      </p:sp>
      <p:sp>
        <p:nvSpPr>
          <p:cNvPr id="12" name="Text 8"/>
          <p:cNvSpPr/>
          <p:nvPr/>
        </p:nvSpPr>
        <p:spPr>
          <a:xfrm>
            <a:off x="3298698" y="4526280"/>
            <a:ext cx="2612898" cy="310896"/>
          </a:xfrm>
          <a:prstGeom prst="rect">
            <a:avLst/>
          </a:prstGeom>
          <a:noFill/>
          <a:ln/>
        </p:spPr>
        <p:txBody>
          <a:bodyPr wrap="square" rtlCol="0" anchor="ctr"/>
          <a:lstStyle/>
          <a:p>
            <a:pPr indent="0" marL="0">
              <a:buNone/>
            </a:pPr>
            <a:r>
              <a:rPr lang="en-US" sz="1800" b="1" spc="100" kern="0" dirty="0">
                <a:solidFill>
                  <a:srgbClr val="0F6CBD"/>
                </a:solidFill>
                <a:latin typeface="Aptos" pitchFamily="34" charset="0"/>
                <a:ea typeface="Aptos" pitchFamily="34" charset="-122"/>
                <a:cs typeface="Aptos" pitchFamily="34" charset="-120"/>
              </a:rPr>
              <a:t>QUALITY ASSURED</a:t>
            </a:r>
            <a:endParaRPr lang="en-US" sz="1800" dirty="0"/>
          </a:p>
        </p:txBody>
      </p:sp>
      <p:sp>
        <p:nvSpPr>
          <p:cNvPr id="13" name="Text 9"/>
          <p:cNvSpPr/>
          <p:nvPr/>
        </p:nvSpPr>
        <p:spPr>
          <a:xfrm>
            <a:off x="3298698" y="4846320"/>
            <a:ext cx="2612898" cy="868680"/>
          </a:xfrm>
          <a:prstGeom prst="rect">
            <a:avLst/>
          </a:prstGeom>
          <a:noFill/>
          <a:ln/>
        </p:spPr>
        <p:txBody>
          <a:bodyPr wrap="square" rtlCol="0" anchor="ctr"/>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QCTO / MICT SETA</a:t>
            </a:r>
            <a:endParaRPr lang="en-US" sz="1800" dirty="0"/>
          </a:p>
          <a:p>
            <a:pPr indent="0" marL="0">
              <a:lnSpc>
                <a:spcPct val="112000"/>
              </a:lnSpc>
              <a:buNone/>
            </a:pPr>
            <a:r>
              <a:rPr lang="en-US" sz="1800" dirty="0">
                <a:solidFill>
                  <a:srgbClr val="002050"/>
                </a:solidFill>
                <a:latin typeface="Aptos" pitchFamily="34" charset="0"/>
                <a:ea typeface="Aptos" pitchFamily="34" charset="-122"/>
                <a:cs typeface="Aptos" pitchFamily="34" charset="-120"/>
              </a:rPr>
              <a:t>audit-ready evidence</a:t>
            </a:r>
            <a:endParaRPr lang="en-US" sz="1800" dirty="0"/>
          </a:p>
        </p:txBody>
      </p:sp>
      <p:sp>
        <p:nvSpPr>
          <p:cNvPr id="14" name="Text 10"/>
          <p:cNvSpPr/>
          <p:nvPr/>
        </p:nvSpPr>
        <p:spPr>
          <a:xfrm>
            <a:off x="6094476" y="4526280"/>
            <a:ext cx="2612898" cy="310896"/>
          </a:xfrm>
          <a:prstGeom prst="rect">
            <a:avLst/>
          </a:prstGeom>
          <a:noFill/>
          <a:ln/>
        </p:spPr>
        <p:txBody>
          <a:bodyPr wrap="square" rtlCol="0" anchor="ctr"/>
          <a:lstStyle/>
          <a:p>
            <a:pPr indent="0" marL="0">
              <a:buNone/>
            </a:pPr>
            <a:r>
              <a:rPr lang="en-US" sz="1800" b="1" spc="100" kern="0" dirty="0">
                <a:solidFill>
                  <a:srgbClr val="0F6CBD"/>
                </a:solidFill>
                <a:latin typeface="Aptos" pitchFamily="34" charset="0"/>
                <a:ea typeface="Aptos" pitchFamily="34" charset="-122"/>
                <a:cs typeface="Aptos" pitchFamily="34" charset="-120"/>
              </a:rPr>
              <a:t>RUNS ON</a:t>
            </a:r>
            <a:endParaRPr lang="en-US" sz="1800" dirty="0"/>
          </a:p>
        </p:txBody>
      </p:sp>
      <p:sp>
        <p:nvSpPr>
          <p:cNvPr id="15" name="Text 11"/>
          <p:cNvSpPr/>
          <p:nvPr/>
        </p:nvSpPr>
        <p:spPr>
          <a:xfrm>
            <a:off x="6094476" y="4846320"/>
            <a:ext cx="2612898" cy="868680"/>
          </a:xfrm>
          <a:prstGeom prst="rect">
            <a:avLst/>
          </a:prstGeom>
          <a:noFill/>
          <a:ln/>
        </p:spPr>
        <p:txBody>
          <a:bodyPr wrap="square" rtlCol="0" anchor="ctr"/>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Any device — installable,</a:t>
            </a:r>
            <a:endParaRPr lang="en-US" sz="1800" dirty="0"/>
          </a:p>
          <a:p>
            <a:pPr indent="0" marL="0">
              <a:lnSpc>
                <a:spcPct val="112000"/>
              </a:lnSpc>
              <a:buNone/>
            </a:pPr>
            <a:r>
              <a:rPr lang="en-US" sz="1800" dirty="0">
                <a:solidFill>
                  <a:srgbClr val="002050"/>
                </a:solidFill>
                <a:latin typeface="Aptos" pitchFamily="34" charset="0"/>
                <a:ea typeface="Aptos" pitchFamily="34" charset="-122"/>
                <a:cs typeface="Aptos" pitchFamily="34" charset="-120"/>
              </a:rPr>
              <a:t>works offline</a:t>
            </a:r>
            <a:endParaRPr lang="en-US" sz="1800" dirty="0"/>
          </a:p>
        </p:txBody>
      </p:sp>
      <p:sp>
        <p:nvSpPr>
          <p:cNvPr id="16" name="Text 12"/>
          <p:cNvSpPr/>
          <p:nvPr/>
        </p:nvSpPr>
        <p:spPr>
          <a:xfrm>
            <a:off x="8890254" y="4526280"/>
            <a:ext cx="2612898" cy="310896"/>
          </a:xfrm>
          <a:prstGeom prst="rect">
            <a:avLst/>
          </a:prstGeom>
          <a:noFill/>
          <a:ln/>
        </p:spPr>
        <p:txBody>
          <a:bodyPr wrap="square" rtlCol="0" anchor="ctr"/>
          <a:lstStyle/>
          <a:p>
            <a:pPr indent="0" marL="0">
              <a:buNone/>
            </a:pPr>
            <a:r>
              <a:rPr lang="en-US" sz="1800" b="1" spc="100" kern="0" dirty="0">
                <a:solidFill>
                  <a:srgbClr val="0F6CBD"/>
                </a:solidFill>
                <a:latin typeface="Aptos" pitchFamily="34" charset="0"/>
                <a:ea typeface="Aptos" pitchFamily="34" charset="-122"/>
                <a:cs typeface="Aptos" pitchFamily="34" charset="-120"/>
              </a:rPr>
              <a:t>WHO USES IT</a:t>
            </a:r>
            <a:endParaRPr lang="en-US" sz="1800" dirty="0"/>
          </a:p>
        </p:txBody>
      </p:sp>
      <p:sp>
        <p:nvSpPr>
          <p:cNvPr id="17" name="Text 13"/>
          <p:cNvSpPr/>
          <p:nvPr/>
        </p:nvSpPr>
        <p:spPr>
          <a:xfrm>
            <a:off x="8890254" y="4846320"/>
            <a:ext cx="2612898" cy="868680"/>
          </a:xfrm>
          <a:prstGeom prst="rect">
            <a:avLst/>
          </a:prstGeom>
          <a:noFill/>
          <a:ln/>
        </p:spPr>
        <p:txBody>
          <a:bodyPr wrap="square" rtlCol="0" anchor="ctr"/>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Learners + 4 staff roles,</a:t>
            </a:r>
            <a:endParaRPr lang="en-US" sz="1800" dirty="0"/>
          </a:p>
          <a:p>
            <a:pPr indent="0" marL="0">
              <a:lnSpc>
                <a:spcPct val="112000"/>
              </a:lnSpc>
              <a:buNone/>
            </a:pPr>
            <a:r>
              <a:rPr lang="en-US" sz="1800" dirty="0">
                <a:solidFill>
                  <a:srgbClr val="002050"/>
                </a:solidFill>
                <a:latin typeface="Aptos" pitchFamily="34" charset="0"/>
                <a:ea typeface="Aptos" pitchFamily="34" charset="-122"/>
                <a:cs typeface="Aptos" pitchFamily="34" charset="-120"/>
              </a:rPr>
              <a:t>up to Super User</a:t>
            </a:r>
            <a:endParaRPr lang="en-US" sz="1800" dirty="0"/>
          </a:p>
        </p:txBody>
      </p:sp>
      <p:sp>
        <p:nvSpPr>
          <p:cNvPr id="18" name="Text 14"/>
          <p:cNvSpPr/>
          <p:nvPr/>
        </p:nvSpPr>
        <p:spPr>
          <a:xfrm>
            <a:off x="502920" y="6291072"/>
            <a:ext cx="11183112" cy="365760"/>
          </a:xfrm>
          <a:prstGeom prst="rect">
            <a:avLst/>
          </a:prstGeom>
          <a:noFill/>
          <a:ln/>
        </p:spPr>
        <p:txBody>
          <a:bodyPr wrap="square" rtlCol="0" anchor="ctr"/>
          <a:lstStyle/>
          <a:p>
            <a:pPr indent="0" marL="0">
              <a:buNone/>
            </a:pPr>
            <a:r>
              <a:rPr lang="en-US" sz="1800" dirty="0">
                <a:solidFill>
                  <a:srgbClr val="6B7280"/>
                </a:solidFill>
                <a:latin typeface="Aptos" pitchFamily="34" charset="0"/>
                <a:ea typeface="Aptos" pitchFamily="34" charset="-122"/>
                <a:cs typeface="Aptos" pitchFamily="34" charset="-120"/>
              </a:rPr>
              <a:t>Eruditio × ITSS Learn · Problem-to-outcome proposal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2</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ERUDITIO'S CHALLENGE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Growth should not multiply administration</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Every new cohort adds delivery pressure, evidence volume and compliance risk unless the operating model changes.</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Paper everywhere</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Registers, forms and portfolios to chase, file and find again at audit time.</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Marking backlogs</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Staff hand-mark every script; learners get feedback days later.</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No live visibility</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Progress sits in after-the-fact spreadsheets; strugglers surface too late.</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Evidence chaos</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POE files arrive by email, WhatsApp and memory stick — moderation prep takes days.</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Compliance stress</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Every SETA / QCTO audit is a scramble to reconstruct paper evidence.</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Disengagement</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No instant marks, no visible progress — momentum dies between sessions.</a:t>
            </a:r>
            <a:endParaRPr lang="en-US" sz="1800" dirty="0"/>
          </a:p>
        </p:txBody>
      </p:sp>
      <p:sp>
        <p:nvSpPr>
          <p:cNvPr id="32" name="Text 23"/>
          <p:cNvSpPr/>
          <p:nvPr/>
        </p:nvSpPr>
        <p:spPr>
          <a:xfrm>
            <a:off x="502920" y="5779008"/>
            <a:ext cx="11183112" cy="411480"/>
          </a:xfrm>
          <a:prstGeom prst="rect">
            <a:avLst/>
          </a:prstGeom>
          <a:noFill/>
          <a:ln/>
        </p:spPr>
        <p:txBody>
          <a:bodyPr wrap="square" rtlCol="0" anchor="ctr"/>
          <a:lstStyle/>
          <a:p>
            <a:pPr indent="0" marL="0">
              <a:buNone/>
            </a:pPr>
            <a:r>
              <a:rPr lang="en-US" sz="1800" i="1" dirty="0">
                <a:solidFill>
                  <a:srgbClr val="6B7280"/>
                </a:solidFill>
                <a:latin typeface="Aptos" pitchFamily="34" charset="0"/>
                <a:ea typeface="Aptos" pitchFamily="34" charset="-122"/>
                <a:cs typeface="Aptos" pitchFamily="34" charset="-120"/>
              </a:rPr>
              <a:t>Every one of these is a staff-hours cost, a quality risk, or both.</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3</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ERUDITIO ANSWER</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One platform, five jobs</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ITSS Learn gives Eruditio one source of truth — work done once is captured everywhere.</a:t>
            </a:r>
            <a:endParaRPr lang="en-US" sz="1800" dirty="0"/>
          </a:p>
        </p:txBody>
      </p:sp>
      <p:sp>
        <p:nvSpPr>
          <p:cNvPr id="8" name="Shape 5"/>
          <p:cNvSpPr/>
          <p:nvPr/>
        </p:nvSpPr>
        <p:spPr>
          <a:xfrm>
            <a:off x="502920" y="1938528"/>
            <a:ext cx="11183112" cy="621792"/>
          </a:xfrm>
          <a:prstGeom prst="roundRect">
            <a:avLst>
              <a:gd name="adj" fmla="val 1323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 y="2084832"/>
            <a:ext cx="329184" cy="329184"/>
          </a:xfrm>
          <a:prstGeom prst="rect">
            <a:avLst/>
          </a:prstGeom>
        </p:spPr>
      </p:pic>
      <p:sp>
        <p:nvSpPr>
          <p:cNvPr id="10" name="Text 6"/>
          <p:cNvSpPr/>
          <p:nvPr/>
        </p:nvSpPr>
        <p:spPr>
          <a:xfrm>
            <a:off x="1161288" y="1938528"/>
            <a:ext cx="2423160" cy="621792"/>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Teach</a:t>
            </a:r>
            <a:endParaRPr lang="en-US" sz="2000" dirty="0"/>
          </a:p>
        </p:txBody>
      </p:sp>
      <p:sp>
        <p:nvSpPr>
          <p:cNvPr id="11" name="Text 7"/>
          <p:cNvSpPr/>
          <p:nvPr/>
        </p:nvSpPr>
        <p:spPr>
          <a:xfrm>
            <a:off x="3657600" y="1938528"/>
            <a:ext cx="7799832" cy="621792"/>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The full curriculum as interactive lessons, plus live presenter mode.</a:t>
            </a:r>
            <a:endParaRPr lang="en-US" sz="1800" dirty="0"/>
          </a:p>
        </p:txBody>
      </p:sp>
      <p:sp>
        <p:nvSpPr>
          <p:cNvPr id="12" name="Shape 8"/>
          <p:cNvSpPr/>
          <p:nvPr/>
        </p:nvSpPr>
        <p:spPr>
          <a:xfrm>
            <a:off x="502920" y="2688336"/>
            <a:ext cx="11183112" cy="621792"/>
          </a:xfrm>
          <a:prstGeom prst="roundRect">
            <a:avLst>
              <a:gd name="adj" fmla="val 1323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5800" y="2834640"/>
            <a:ext cx="329184" cy="329184"/>
          </a:xfrm>
          <a:prstGeom prst="rect">
            <a:avLst/>
          </a:prstGeom>
        </p:spPr>
      </p:pic>
      <p:sp>
        <p:nvSpPr>
          <p:cNvPr id="14" name="Text 9"/>
          <p:cNvSpPr/>
          <p:nvPr/>
        </p:nvSpPr>
        <p:spPr>
          <a:xfrm>
            <a:off x="1161288" y="2688336"/>
            <a:ext cx="2423160" cy="621792"/>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Assess</a:t>
            </a:r>
            <a:endParaRPr lang="en-US" sz="2000" dirty="0"/>
          </a:p>
        </p:txBody>
      </p:sp>
      <p:sp>
        <p:nvSpPr>
          <p:cNvPr id="15" name="Text 10"/>
          <p:cNvSpPr/>
          <p:nvPr/>
        </p:nvSpPr>
        <p:spPr>
          <a:xfrm>
            <a:off x="3657600" y="2688336"/>
            <a:ext cx="7799832" cy="621792"/>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Auto-marked quizzes and AI-marked written answers, explained.</a:t>
            </a:r>
            <a:endParaRPr lang="en-US" sz="1800" dirty="0"/>
          </a:p>
        </p:txBody>
      </p:sp>
      <p:sp>
        <p:nvSpPr>
          <p:cNvPr id="16" name="Shape 11"/>
          <p:cNvSpPr/>
          <p:nvPr/>
        </p:nvSpPr>
        <p:spPr>
          <a:xfrm>
            <a:off x="502920" y="3438144"/>
            <a:ext cx="11183112" cy="621792"/>
          </a:xfrm>
          <a:prstGeom prst="roundRect">
            <a:avLst>
              <a:gd name="adj" fmla="val 1323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5800" y="3584448"/>
            <a:ext cx="329184" cy="329184"/>
          </a:xfrm>
          <a:prstGeom prst="rect">
            <a:avLst/>
          </a:prstGeom>
        </p:spPr>
      </p:pic>
      <p:sp>
        <p:nvSpPr>
          <p:cNvPr id="18" name="Text 12"/>
          <p:cNvSpPr/>
          <p:nvPr/>
        </p:nvSpPr>
        <p:spPr>
          <a:xfrm>
            <a:off x="1161288" y="3438144"/>
            <a:ext cx="2423160" cy="621792"/>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Track</a:t>
            </a:r>
            <a:endParaRPr lang="en-US" sz="2000" dirty="0"/>
          </a:p>
        </p:txBody>
      </p:sp>
      <p:sp>
        <p:nvSpPr>
          <p:cNvPr id="19" name="Text 13"/>
          <p:cNvSpPr/>
          <p:nvPr/>
        </p:nvSpPr>
        <p:spPr>
          <a:xfrm>
            <a:off x="3657600" y="3438144"/>
            <a:ext cx="7799832" cy="621792"/>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Progress and XP record themselves the moment work is done.</a:t>
            </a:r>
            <a:endParaRPr lang="en-US" sz="1800" dirty="0"/>
          </a:p>
        </p:txBody>
      </p:sp>
      <p:sp>
        <p:nvSpPr>
          <p:cNvPr id="20" name="Shape 14"/>
          <p:cNvSpPr/>
          <p:nvPr/>
        </p:nvSpPr>
        <p:spPr>
          <a:xfrm>
            <a:off x="502920" y="4187952"/>
            <a:ext cx="11183112" cy="621792"/>
          </a:xfrm>
          <a:prstGeom prst="roundRect">
            <a:avLst>
              <a:gd name="adj" fmla="val 1323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5800" y="4334256"/>
            <a:ext cx="329184" cy="329184"/>
          </a:xfrm>
          <a:prstGeom prst="rect">
            <a:avLst/>
          </a:prstGeom>
        </p:spPr>
      </p:pic>
      <p:sp>
        <p:nvSpPr>
          <p:cNvPr id="22" name="Text 15"/>
          <p:cNvSpPr/>
          <p:nvPr/>
        </p:nvSpPr>
        <p:spPr>
          <a:xfrm>
            <a:off x="1161288" y="4187952"/>
            <a:ext cx="2423160" cy="621792"/>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Communicate</a:t>
            </a:r>
            <a:endParaRPr lang="en-US" sz="2000" dirty="0"/>
          </a:p>
        </p:txBody>
      </p:sp>
      <p:sp>
        <p:nvSpPr>
          <p:cNvPr id="23" name="Text 16"/>
          <p:cNvSpPr/>
          <p:nvPr/>
        </p:nvSpPr>
        <p:spPr>
          <a:xfrm>
            <a:off x="3657600" y="4187952"/>
            <a:ext cx="7799832" cy="621792"/>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Private chat, class Q&amp;A, announcements and broadcasts.</a:t>
            </a:r>
            <a:endParaRPr lang="en-US" sz="1800" dirty="0"/>
          </a:p>
        </p:txBody>
      </p:sp>
      <p:sp>
        <p:nvSpPr>
          <p:cNvPr id="24" name="Shape 17"/>
          <p:cNvSpPr/>
          <p:nvPr/>
        </p:nvSpPr>
        <p:spPr>
          <a:xfrm>
            <a:off x="502920" y="4937760"/>
            <a:ext cx="11183112" cy="621792"/>
          </a:xfrm>
          <a:prstGeom prst="roundRect">
            <a:avLst>
              <a:gd name="adj" fmla="val 1323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85800" y="5084064"/>
            <a:ext cx="329184" cy="329184"/>
          </a:xfrm>
          <a:prstGeom prst="rect">
            <a:avLst/>
          </a:prstGeom>
        </p:spPr>
      </p:pic>
      <p:sp>
        <p:nvSpPr>
          <p:cNvPr id="26" name="Text 18"/>
          <p:cNvSpPr/>
          <p:nvPr/>
        </p:nvSpPr>
        <p:spPr>
          <a:xfrm>
            <a:off x="1161288" y="4937760"/>
            <a:ext cx="2423160" cy="621792"/>
          </a:xfrm>
          <a:prstGeom prst="rect">
            <a:avLst/>
          </a:prstGeom>
          <a:noFill/>
          <a:ln/>
        </p:spPr>
        <p:txBody>
          <a:bodyPr wrap="square" rtlCol="0" anchor="ctr"/>
          <a:lstStyle/>
          <a:p>
            <a:pPr indent="0" marL="0">
              <a:buNone/>
            </a:pPr>
            <a:r>
              <a:rPr lang="en-US" sz="2000" b="1" dirty="0">
                <a:solidFill>
                  <a:srgbClr val="002050"/>
                </a:solidFill>
                <a:latin typeface="Aptos Display" pitchFamily="34" charset="0"/>
                <a:ea typeface="Aptos Display" pitchFamily="34" charset="-122"/>
                <a:cs typeface="Aptos Display" pitchFamily="34" charset="-120"/>
              </a:rPr>
              <a:t>Comply</a:t>
            </a:r>
            <a:endParaRPr lang="en-US" sz="2000" dirty="0"/>
          </a:p>
        </p:txBody>
      </p:sp>
      <p:sp>
        <p:nvSpPr>
          <p:cNvPr id="27" name="Text 19"/>
          <p:cNvSpPr/>
          <p:nvPr/>
        </p:nvSpPr>
        <p:spPr>
          <a:xfrm>
            <a:off x="3657600" y="4937760"/>
            <a:ext cx="7799832" cy="621792"/>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Registers, forms, portfolios and audit trail — print-ready.</a:t>
            </a:r>
            <a:endParaRPr lang="en-US" sz="1800" dirty="0"/>
          </a:p>
        </p:txBody>
      </p:sp>
      <p:sp>
        <p:nvSpPr>
          <p:cNvPr id="28" name="Shape 20"/>
          <p:cNvSpPr/>
          <p:nvPr/>
        </p:nvSpPr>
        <p:spPr>
          <a:xfrm>
            <a:off x="502920" y="5806440"/>
            <a:ext cx="11183112" cy="621792"/>
          </a:xfrm>
          <a:prstGeom prst="roundRect">
            <a:avLst>
              <a:gd name="adj" fmla="val 13235"/>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85800" y="5952744"/>
            <a:ext cx="329184" cy="329184"/>
          </a:xfrm>
          <a:prstGeom prst="rect">
            <a:avLst/>
          </a:prstGeom>
        </p:spPr>
      </p:pic>
      <p:sp>
        <p:nvSpPr>
          <p:cNvPr id="30" name="Text 21"/>
          <p:cNvSpPr/>
          <p:nvPr/>
        </p:nvSpPr>
        <p:spPr>
          <a:xfrm>
            <a:off x="1161288" y="5806440"/>
            <a:ext cx="10268712" cy="621792"/>
          </a:xfrm>
          <a:prstGeom prst="rect">
            <a:avLst/>
          </a:prstGeom>
          <a:noFill/>
          <a:ln/>
        </p:spPr>
        <p:txBody>
          <a:bodyPr wrap="square" rtlCol="0" anchor="ctr"/>
          <a:lstStyle/>
          <a:p>
            <a:pPr indent="0" marL="0">
              <a:buNone/>
            </a:pPr>
            <a:r>
              <a:rPr lang="en-US" sz="1800" b="1" dirty="0">
                <a:solidFill>
                  <a:srgbClr val="002050"/>
                </a:solidFill>
                <a:latin typeface="Aptos" pitchFamily="34" charset="0"/>
                <a:ea typeface="Aptos" pitchFamily="34" charset="-122"/>
                <a:cs typeface="Aptos" pitchFamily="34" charset="-120"/>
              </a:rPr>
              <a:t>Everything in one place — </a:t>
            </a:r>
            <a:pPr indent="0" marL="0">
              <a:buNone/>
            </a:pPr>
            <a:r>
              <a:rPr lang="en-US" sz="1800" dirty="0">
                <a:solidFill>
                  <a:srgbClr val="6B7280"/>
                </a:solidFill>
                <a:latin typeface="Aptos" pitchFamily="34" charset="0"/>
                <a:ea typeface="Aptos" pitchFamily="34" charset="-122"/>
                <a:cs typeface="Aptos" pitchFamily="34" charset="-120"/>
              </a:rPr>
              <a:t>one quiz updates progress, analytics, leaderboard and compliance instantly.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4</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AT A GLANCE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The whole qualification, already inside</a:t>
            </a:r>
            <a:endParaRPr lang="en-US" sz="3000" dirty="0"/>
          </a:p>
        </p:txBody>
      </p:sp>
      <p:sp>
        <p:nvSpPr>
          <p:cNvPr id="7" name="Shape 4"/>
          <p:cNvSpPr/>
          <p:nvPr/>
        </p:nvSpPr>
        <p:spPr>
          <a:xfrm>
            <a:off x="502920" y="1783080"/>
            <a:ext cx="3605784"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Text 5"/>
          <p:cNvSpPr/>
          <p:nvPr/>
        </p:nvSpPr>
        <p:spPr>
          <a:xfrm>
            <a:off x="667512" y="1874520"/>
            <a:ext cx="3276600" cy="512064"/>
          </a:xfrm>
          <a:prstGeom prst="rect">
            <a:avLst/>
          </a:prstGeom>
          <a:noFill/>
          <a:ln/>
        </p:spPr>
        <p:txBody>
          <a:bodyPr wrap="square" rtlCol="0" anchor="ctr"/>
          <a:lstStyle/>
          <a:p>
            <a:pPr indent="0" marL="0">
              <a:buNone/>
            </a:pPr>
            <a:r>
              <a:rPr lang="en-US" sz="3000" b="1" dirty="0">
                <a:solidFill>
                  <a:srgbClr val="0F6CBD"/>
                </a:solidFill>
                <a:latin typeface="Aptos Display" pitchFamily="34" charset="0"/>
                <a:ea typeface="Aptos Display" pitchFamily="34" charset="-122"/>
                <a:cs typeface="Aptos Display" pitchFamily="34" charset="-120"/>
              </a:rPr>
              <a:t>6 · 24 · 148</a:t>
            </a:r>
            <a:endParaRPr lang="en-US" sz="3000" dirty="0"/>
          </a:p>
        </p:txBody>
      </p:sp>
      <p:sp>
        <p:nvSpPr>
          <p:cNvPr id="9" name="Text 6"/>
          <p:cNvSpPr/>
          <p:nvPr/>
        </p:nvSpPr>
        <p:spPr>
          <a:xfrm>
            <a:off x="667512" y="2404872"/>
            <a:ext cx="3276600" cy="292608"/>
          </a:xfrm>
          <a:prstGeom prst="rect">
            <a:avLst/>
          </a:prstGeom>
          <a:noFill/>
          <a:ln/>
        </p:spPr>
        <p:txBody>
          <a:bodyPr wrap="square" rtlCol="0" anchor="ctr"/>
          <a:lstStyle/>
          <a:p>
            <a:pPr indent="0" marL="0">
              <a:buNone/>
            </a:pPr>
            <a:r>
              <a:rPr lang="en-US" sz="1800" b="1" spc="100" kern="0" dirty="0">
                <a:solidFill>
                  <a:srgbClr val="002050"/>
                </a:solidFill>
                <a:latin typeface="Aptos" pitchFamily="34" charset="0"/>
                <a:ea typeface="Aptos" pitchFamily="34" charset="-122"/>
                <a:cs typeface="Aptos" pitchFamily="34" charset="-120"/>
              </a:rPr>
              <a:t>THE FULL CURRICULUM</a:t>
            </a:r>
            <a:endParaRPr lang="en-US" sz="1800" dirty="0"/>
          </a:p>
        </p:txBody>
      </p:sp>
      <p:sp>
        <p:nvSpPr>
          <p:cNvPr id="10" name="Text 7"/>
          <p:cNvSpPr/>
          <p:nvPr/>
        </p:nvSpPr>
        <p:spPr>
          <a:xfrm>
            <a:off x="667512" y="2734056"/>
            <a:ext cx="3276600" cy="658368"/>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Modules, unit standards and credits preloaded</a:t>
            </a:r>
            <a:endParaRPr lang="en-US" sz="1800" dirty="0"/>
          </a:p>
        </p:txBody>
      </p:sp>
      <p:sp>
        <p:nvSpPr>
          <p:cNvPr id="11" name="Shape 8"/>
          <p:cNvSpPr/>
          <p:nvPr/>
        </p:nvSpPr>
        <p:spPr>
          <a:xfrm>
            <a:off x="4291584" y="1783080"/>
            <a:ext cx="3605784"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Text 9"/>
          <p:cNvSpPr/>
          <p:nvPr/>
        </p:nvSpPr>
        <p:spPr>
          <a:xfrm>
            <a:off x="4456176" y="1874520"/>
            <a:ext cx="3276600" cy="512064"/>
          </a:xfrm>
          <a:prstGeom prst="rect">
            <a:avLst/>
          </a:prstGeom>
          <a:noFill/>
          <a:ln/>
        </p:spPr>
        <p:txBody>
          <a:bodyPr wrap="square" rtlCol="0" anchor="ctr"/>
          <a:lstStyle/>
          <a:p>
            <a:pPr indent="0" marL="0">
              <a:buNone/>
            </a:pPr>
            <a:r>
              <a:rPr lang="en-US" sz="3000" b="1" dirty="0">
                <a:solidFill>
                  <a:srgbClr val="0F6CBD"/>
                </a:solidFill>
                <a:latin typeface="Aptos Display" pitchFamily="34" charset="0"/>
                <a:ea typeface="Aptos Display" pitchFamily="34" charset="-122"/>
                <a:cs typeface="Aptos Display" pitchFamily="34" charset="-120"/>
              </a:rPr>
              <a:t>4 + AI</a:t>
            </a:r>
            <a:endParaRPr lang="en-US" sz="3000" dirty="0"/>
          </a:p>
        </p:txBody>
      </p:sp>
      <p:sp>
        <p:nvSpPr>
          <p:cNvPr id="13" name="Text 10"/>
          <p:cNvSpPr/>
          <p:nvPr/>
        </p:nvSpPr>
        <p:spPr>
          <a:xfrm>
            <a:off x="4456176" y="2404872"/>
            <a:ext cx="3276600" cy="292608"/>
          </a:xfrm>
          <a:prstGeom prst="rect">
            <a:avLst/>
          </a:prstGeom>
          <a:noFill/>
          <a:ln/>
        </p:spPr>
        <p:txBody>
          <a:bodyPr wrap="square" rtlCol="0" anchor="ctr"/>
          <a:lstStyle/>
          <a:p>
            <a:pPr indent="0" marL="0">
              <a:buNone/>
            </a:pPr>
            <a:r>
              <a:rPr lang="en-US" sz="1800" b="1" spc="100" kern="0" dirty="0">
                <a:solidFill>
                  <a:srgbClr val="002050"/>
                </a:solidFill>
                <a:latin typeface="Aptos" pitchFamily="34" charset="0"/>
                <a:ea typeface="Aptos" pitchFamily="34" charset="-122"/>
                <a:cs typeface="Aptos" pitchFamily="34" charset="-120"/>
              </a:rPr>
              <a:t>ASSESSMENT ENGINES</a:t>
            </a:r>
            <a:endParaRPr lang="en-US" sz="1800" dirty="0"/>
          </a:p>
        </p:txBody>
      </p:sp>
      <p:sp>
        <p:nvSpPr>
          <p:cNvPr id="14" name="Text 11"/>
          <p:cNvSpPr/>
          <p:nvPr/>
        </p:nvSpPr>
        <p:spPr>
          <a:xfrm>
            <a:off x="4456176" y="2734056"/>
            <a:ext cx="3276600" cy="658368"/>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Four auto-marked types plus AI-marked written answers</a:t>
            </a:r>
            <a:endParaRPr lang="en-US" sz="1800" dirty="0"/>
          </a:p>
        </p:txBody>
      </p:sp>
      <p:sp>
        <p:nvSpPr>
          <p:cNvPr id="15" name="Shape 12"/>
          <p:cNvSpPr/>
          <p:nvPr/>
        </p:nvSpPr>
        <p:spPr>
          <a:xfrm>
            <a:off x="8080248" y="1783080"/>
            <a:ext cx="3605784"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Text 13"/>
          <p:cNvSpPr/>
          <p:nvPr/>
        </p:nvSpPr>
        <p:spPr>
          <a:xfrm>
            <a:off x="8244840" y="1874520"/>
            <a:ext cx="3276600" cy="512064"/>
          </a:xfrm>
          <a:prstGeom prst="rect">
            <a:avLst/>
          </a:prstGeom>
          <a:noFill/>
          <a:ln/>
        </p:spPr>
        <p:txBody>
          <a:bodyPr wrap="square" rtlCol="0" anchor="ctr"/>
          <a:lstStyle/>
          <a:p>
            <a:pPr indent="0" marL="0">
              <a:buNone/>
            </a:pPr>
            <a:r>
              <a:rPr lang="en-US" sz="3000" b="1" dirty="0">
                <a:solidFill>
                  <a:srgbClr val="0F6CBD"/>
                </a:solidFill>
                <a:latin typeface="Aptos Display" pitchFamily="34" charset="0"/>
                <a:ea typeface="Aptos Display" pitchFamily="34" charset="-122"/>
                <a:cs typeface="Aptos Display" pitchFamily="34" charset="-120"/>
              </a:rPr>
              <a:t>37</a:t>
            </a:r>
            <a:endParaRPr lang="en-US" sz="3000" dirty="0"/>
          </a:p>
        </p:txBody>
      </p:sp>
      <p:sp>
        <p:nvSpPr>
          <p:cNvPr id="17" name="Text 14"/>
          <p:cNvSpPr/>
          <p:nvPr/>
        </p:nvSpPr>
        <p:spPr>
          <a:xfrm>
            <a:off x="8244840" y="2404872"/>
            <a:ext cx="3276600" cy="292608"/>
          </a:xfrm>
          <a:prstGeom prst="rect">
            <a:avLst/>
          </a:prstGeom>
          <a:noFill/>
          <a:ln/>
        </p:spPr>
        <p:txBody>
          <a:bodyPr wrap="square" rtlCol="0" anchor="ctr"/>
          <a:lstStyle/>
          <a:p>
            <a:pPr indent="0" marL="0">
              <a:buNone/>
            </a:pPr>
            <a:r>
              <a:rPr lang="en-US" sz="1800" b="1" spc="100" kern="0" dirty="0">
                <a:solidFill>
                  <a:srgbClr val="002050"/>
                </a:solidFill>
                <a:latin typeface="Aptos" pitchFamily="34" charset="0"/>
                <a:ea typeface="Aptos" pitchFamily="34" charset="-122"/>
                <a:cs typeface="Aptos" pitchFamily="34" charset="-120"/>
              </a:rPr>
              <a:t>POE EVIDENCE ITEMS</a:t>
            </a:r>
            <a:endParaRPr lang="en-US" sz="1800" dirty="0"/>
          </a:p>
        </p:txBody>
      </p:sp>
      <p:sp>
        <p:nvSpPr>
          <p:cNvPr id="18" name="Text 15"/>
          <p:cNvSpPr/>
          <p:nvPr/>
        </p:nvSpPr>
        <p:spPr>
          <a:xfrm>
            <a:off x="8244840" y="2734056"/>
            <a:ext cx="3276600" cy="658368"/>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Guided checklist, signed off in-app</a:t>
            </a:r>
            <a:endParaRPr lang="en-US" sz="1800" dirty="0"/>
          </a:p>
        </p:txBody>
      </p:sp>
      <p:sp>
        <p:nvSpPr>
          <p:cNvPr id="19" name="Shape 16"/>
          <p:cNvSpPr/>
          <p:nvPr/>
        </p:nvSpPr>
        <p:spPr>
          <a:xfrm>
            <a:off x="502920" y="3657600"/>
            <a:ext cx="3605784"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0" name="Text 17"/>
          <p:cNvSpPr/>
          <p:nvPr/>
        </p:nvSpPr>
        <p:spPr>
          <a:xfrm>
            <a:off x="667512" y="3749040"/>
            <a:ext cx="3276600" cy="512064"/>
          </a:xfrm>
          <a:prstGeom prst="rect">
            <a:avLst/>
          </a:prstGeom>
          <a:noFill/>
          <a:ln/>
        </p:spPr>
        <p:txBody>
          <a:bodyPr wrap="square" rtlCol="0" anchor="ctr"/>
          <a:lstStyle/>
          <a:p>
            <a:pPr indent="0" marL="0">
              <a:buNone/>
            </a:pPr>
            <a:r>
              <a:rPr lang="en-US" sz="3000" b="1" dirty="0">
                <a:solidFill>
                  <a:srgbClr val="0F6CBD"/>
                </a:solidFill>
                <a:latin typeface="Aptos Display" pitchFamily="34" charset="0"/>
                <a:ea typeface="Aptos Display" pitchFamily="34" charset="-122"/>
                <a:cs typeface="Aptos Display" pitchFamily="34" charset="-120"/>
              </a:rPr>
              <a:t>8</a:t>
            </a:r>
            <a:endParaRPr lang="en-US" sz="3000" dirty="0"/>
          </a:p>
        </p:txBody>
      </p:sp>
      <p:sp>
        <p:nvSpPr>
          <p:cNvPr id="21" name="Text 18"/>
          <p:cNvSpPr/>
          <p:nvPr/>
        </p:nvSpPr>
        <p:spPr>
          <a:xfrm>
            <a:off x="667512" y="4279392"/>
            <a:ext cx="3276600" cy="292608"/>
          </a:xfrm>
          <a:prstGeom prst="rect">
            <a:avLst/>
          </a:prstGeom>
          <a:noFill/>
          <a:ln/>
        </p:spPr>
        <p:txBody>
          <a:bodyPr wrap="square" rtlCol="0" anchor="ctr"/>
          <a:lstStyle/>
          <a:p>
            <a:pPr indent="0" marL="0">
              <a:buNone/>
            </a:pPr>
            <a:r>
              <a:rPr lang="en-US" sz="1800" b="1" spc="100" kern="0" dirty="0">
                <a:solidFill>
                  <a:srgbClr val="002050"/>
                </a:solidFill>
                <a:latin typeface="Aptos" pitchFamily="34" charset="0"/>
                <a:ea typeface="Aptos" pitchFamily="34" charset="-122"/>
                <a:cs typeface="Aptos" pitchFamily="34" charset="-120"/>
              </a:rPr>
              <a:t>LEVELS &amp; BADGES</a:t>
            </a:r>
            <a:endParaRPr lang="en-US" sz="1800" dirty="0"/>
          </a:p>
        </p:txBody>
      </p:sp>
      <p:sp>
        <p:nvSpPr>
          <p:cNvPr id="22" name="Text 19"/>
          <p:cNvSpPr/>
          <p:nvPr/>
        </p:nvSpPr>
        <p:spPr>
          <a:xfrm>
            <a:off x="667512" y="4608576"/>
            <a:ext cx="3276600" cy="658368"/>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XP earned only from real recorded work</a:t>
            </a:r>
            <a:endParaRPr lang="en-US" sz="1800" dirty="0"/>
          </a:p>
        </p:txBody>
      </p:sp>
      <p:sp>
        <p:nvSpPr>
          <p:cNvPr id="23" name="Shape 20"/>
          <p:cNvSpPr/>
          <p:nvPr/>
        </p:nvSpPr>
        <p:spPr>
          <a:xfrm>
            <a:off x="4291584" y="3657600"/>
            <a:ext cx="3605784"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4" name="Text 21"/>
          <p:cNvSpPr/>
          <p:nvPr/>
        </p:nvSpPr>
        <p:spPr>
          <a:xfrm>
            <a:off x="4456176" y="3749040"/>
            <a:ext cx="3276600" cy="512064"/>
          </a:xfrm>
          <a:prstGeom prst="rect">
            <a:avLst/>
          </a:prstGeom>
          <a:noFill/>
          <a:ln/>
        </p:spPr>
        <p:txBody>
          <a:bodyPr wrap="square" rtlCol="0" anchor="ctr"/>
          <a:lstStyle/>
          <a:p>
            <a:pPr indent="0" marL="0">
              <a:buNone/>
            </a:pPr>
            <a:r>
              <a:rPr lang="en-US" sz="3000" b="1" dirty="0">
                <a:solidFill>
                  <a:srgbClr val="0F6CBD"/>
                </a:solidFill>
                <a:latin typeface="Aptos Display" pitchFamily="34" charset="0"/>
                <a:ea typeface="Aptos Display" pitchFamily="34" charset="-122"/>
                <a:cs typeface="Aptos Display" pitchFamily="34" charset="-120"/>
              </a:rPr>
              <a:t>5</a:t>
            </a:r>
            <a:endParaRPr lang="en-US" sz="3000" dirty="0"/>
          </a:p>
        </p:txBody>
      </p:sp>
      <p:sp>
        <p:nvSpPr>
          <p:cNvPr id="25" name="Text 22"/>
          <p:cNvSpPr/>
          <p:nvPr/>
        </p:nvSpPr>
        <p:spPr>
          <a:xfrm>
            <a:off x="4456176" y="4279392"/>
            <a:ext cx="3276600" cy="292608"/>
          </a:xfrm>
          <a:prstGeom prst="rect">
            <a:avLst/>
          </a:prstGeom>
          <a:noFill/>
          <a:ln/>
        </p:spPr>
        <p:txBody>
          <a:bodyPr wrap="square" rtlCol="0" anchor="ctr"/>
          <a:lstStyle/>
          <a:p>
            <a:pPr indent="0" marL="0">
              <a:buNone/>
            </a:pPr>
            <a:r>
              <a:rPr lang="en-US" sz="1800" b="1" spc="100" kern="0" dirty="0">
                <a:solidFill>
                  <a:srgbClr val="002050"/>
                </a:solidFill>
                <a:latin typeface="Aptos" pitchFamily="34" charset="0"/>
                <a:ea typeface="Aptos" pitchFamily="34" charset="-122"/>
                <a:cs typeface="Aptos" pitchFamily="34" charset="-120"/>
              </a:rPr>
              <a:t>USER ROLES</a:t>
            </a:r>
            <a:endParaRPr lang="en-US" sz="1800" dirty="0"/>
          </a:p>
        </p:txBody>
      </p:sp>
      <p:sp>
        <p:nvSpPr>
          <p:cNvPr id="26" name="Text 23"/>
          <p:cNvSpPr/>
          <p:nvPr/>
        </p:nvSpPr>
        <p:spPr>
          <a:xfrm>
            <a:off x="4456176" y="4608576"/>
            <a:ext cx="3276600" cy="658368"/>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Learner to Super User — screens adapt</a:t>
            </a:r>
            <a:endParaRPr lang="en-US" sz="1800" dirty="0"/>
          </a:p>
        </p:txBody>
      </p:sp>
      <p:sp>
        <p:nvSpPr>
          <p:cNvPr id="27" name="Shape 24"/>
          <p:cNvSpPr/>
          <p:nvPr/>
        </p:nvSpPr>
        <p:spPr>
          <a:xfrm>
            <a:off x="8080248" y="3657600"/>
            <a:ext cx="3605784"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8" name="Text 25"/>
          <p:cNvSpPr/>
          <p:nvPr/>
        </p:nvSpPr>
        <p:spPr>
          <a:xfrm>
            <a:off x="8244840" y="3749040"/>
            <a:ext cx="3276600" cy="512064"/>
          </a:xfrm>
          <a:prstGeom prst="rect">
            <a:avLst/>
          </a:prstGeom>
          <a:noFill/>
          <a:ln/>
        </p:spPr>
        <p:txBody>
          <a:bodyPr wrap="square" rtlCol="0" anchor="ctr"/>
          <a:lstStyle/>
          <a:p>
            <a:pPr indent="0" marL="0">
              <a:buNone/>
            </a:pPr>
            <a:r>
              <a:rPr lang="en-US" sz="3000" b="1" dirty="0">
                <a:solidFill>
                  <a:srgbClr val="0F6CBD"/>
                </a:solidFill>
                <a:latin typeface="Aptos Display" pitchFamily="34" charset="0"/>
                <a:ea typeface="Aptos Display" pitchFamily="34" charset="-122"/>
                <a:cs typeface="Aptos Display" pitchFamily="34" charset="-120"/>
              </a:rPr>
              <a:t>1-click</a:t>
            </a:r>
            <a:endParaRPr lang="en-US" sz="3000" dirty="0"/>
          </a:p>
        </p:txBody>
      </p:sp>
      <p:sp>
        <p:nvSpPr>
          <p:cNvPr id="29" name="Text 26"/>
          <p:cNvSpPr/>
          <p:nvPr/>
        </p:nvSpPr>
        <p:spPr>
          <a:xfrm>
            <a:off x="8244840" y="4279392"/>
            <a:ext cx="3276600" cy="292608"/>
          </a:xfrm>
          <a:prstGeom prst="rect">
            <a:avLst/>
          </a:prstGeom>
          <a:noFill/>
          <a:ln/>
        </p:spPr>
        <p:txBody>
          <a:bodyPr wrap="square" rtlCol="0" anchor="ctr"/>
          <a:lstStyle/>
          <a:p>
            <a:pPr indent="0" marL="0">
              <a:buNone/>
            </a:pPr>
            <a:r>
              <a:rPr lang="en-US" sz="1800" b="1" spc="100" kern="0" dirty="0">
                <a:solidFill>
                  <a:srgbClr val="002050"/>
                </a:solidFill>
                <a:latin typeface="Aptos" pitchFamily="34" charset="0"/>
                <a:ea typeface="Aptos" pitchFamily="34" charset="-122"/>
                <a:cs typeface="Aptos" pitchFamily="34" charset="-120"/>
              </a:rPr>
              <a:t>EXPORTS ON DEMAND</a:t>
            </a:r>
            <a:endParaRPr lang="en-US" sz="1800" dirty="0"/>
          </a:p>
        </p:txBody>
      </p:sp>
      <p:sp>
        <p:nvSpPr>
          <p:cNvPr id="30" name="Text 27"/>
          <p:cNvSpPr/>
          <p:nvPr/>
        </p:nvSpPr>
        <p:spPr>
          <a:xfrm>
            <a:off x="8244840" y="4608576"/>
            <a:ext cx="3276600" cy="658368"/>
          </a:xfrm>
          <a:prstGeom prst="rect">
            <a:avLst/>
          </a:prstGeom>
          <a:noFill/>
          <a:ln/>
        </p:spPr>
        <p:txBody>
          <a:bodyPr wrap="square" rtlCol="0" anchor="ctr"/>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CSV, PDF and ZIP evidence in one click</a:t>
            </a:r>
            <a:endParaRPr lang="en-US" sz="1800" dirty="0"/>
          </a:p>
        </p:txBody>
      </p:sp>
      <p:sp>
        <p:nvSpPr>
          <p:cNvPr id="31" name="Text 28"/>
          <p:cNvSpPr/>
          <p:nvPr/>
        </p:nvSpPr>
        <p:spPr>
          <a:xfrm>
            <a:off x="502920" y="5623560"/>
            <a:ext cx="11183112" cy="411480"/>
          </a:xfrm>
          <a:prstGeom prst="rect">
            <a:avLst/>
          </a:prstGeom>
          <a:noFill/>
          <a:ln/>
        </p:spPr>
        <p:txBody>
          <a:bodyPr wrap="square" rtlCol="0" anchor="ctr"/>
          <a:lstStyle/>
          <a:p>
            <a:pPr indent="0" marL="0">
              <a:buNone/>
            </a:pPr>
            <a:r>
              <a:rPr lang="en-US" sz="1800" i="1" dirty="0">
                <a:solidFill>
                  <a:srgbClr val="6B7280"/>
                </a:solidFill>
                <a:latin typeface="Aptos" pitchFamily="34" charset="0"/>
                <a:ea typeface="Aptos" pitchFamily="34" charset="-122"/>
                <a:cs typeface="Aptos" pitchFamily="34" charset="-120"/>
              </a:rPr>
              <a:t>Plus: installable app · works offline · real-time sync · 160+ illustrated figures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5</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LEARNER EXPERIENCE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Learning that lives on their phone</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The full curriculum as interactive lessons — the same material the facilitator presents in class.</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Interactive lessons</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Slides with images, pop-up glossary and worked examples — built for phones.</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Knowledge gating</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The next slide unlocks only when checkpoint questions are answered.</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Presenter mode</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Full-screen slides with speaker notes — class and self-study match.</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Notes &amp; logbook</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Per-unit notes plus a workplace logbook that becomes POE evidence.</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Training calendar</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Every session preloaded; one tap adds it to Outlook or Teams.</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Rich downloads</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Official decks and manuals (PPTX / PDF) for offline study.</a:t>
            </a:r>
            <a:endParaRPr lang="en-US" sz="1800" dirty="0"/>
          </a:p>
        </p:txBody>
      </p:sp>
      <p:sp>
        <p:nvSpPr>
          <p:cNvPr id="32" name="Text 23"/>
          <p:cNvSpPr/>
          <p:nvPr/>
        </p:nvSpPr>
        <p:spPr>
          <a:xfrm>
            <a:off x="502920" y="5779008"/>
            <a:ext cx="11183112" cy="411480"/>
          </a:xfrm>
          <a:prstGeom prst="rect">
            <a:avLst/>
          </a:prstGeom>
          <a:noFill/>
          <a:ln/>
        </p:spPr>
        <p:txBody>
          <a:bodyPr wrap="square" rtlCol="0" anchor="ctr"/>
          <a:lstStyle/>
          <a:p>
            <a:pPr indent="0" marL="0">
              <a:buNone/>
            </a:pPr>
            <a:r>
              <a:rPr lang="en-US" sz="1800" i="1" dirty="0">
                <a:solidFill>
                  <a:srgbClr val="6B7280"/>
                </a:solidFill>
                <a:latin typeface="Aptos" pitchFamily="34" charset="0"/>
                <a:ea typeface="Aptos" pitchFamily="34" charset="-122"/>
                <a:cs typeface="Aptos" pitchFamily="34" charset="-120"/>
              </a:rPr>
              <a:t>Learn on the bus or at home — the app installs on any phone and works offline.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6</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LEARNER EXPERIENCE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Instant marking — even written answers</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Learners get marks and reasons the moment they submit. Staff never mark a script by hand.</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4 auto-marked types</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Multiple choice, select-all, ordering, matching — instant scores.</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AI marks written work</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Ticks the sentence that earned each mark; AI credits own-words answers.</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Feedback that teaches</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Names the missing idea and quotes the lesson line that covers it.</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Attempts capped</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Marked attempts limited; assessments lock with staff-only unlock.</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Full transparency</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Staff see every option picked and every sentence typed.</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Zero marking backlog</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Marks and records exist the second a learner presses submit.</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7</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LEARNER EXPERIENCE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Motivation and community built in</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XP, badges and an honest leaderboard keep momentum; chat and Q&amp;A keep every learner supported.</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XP, levels &amp; badges</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Newcomer to Legend — computed only from real recorded work.</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Live leaderboard</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Honest competition on quizzes, evidence and attendance.</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Q&amp;A &amp; announcements</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Threaded class questions, staff announcements, live quizzes.</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Private 1-to-1 chat</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Direct line to the facilitator — presence, read receipts, broadcast.</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Class photo wall</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Shared course memories, played back as a slideshow.</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Safe by design</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Staff can open any conversation read-only — database-enforced.</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8</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EVIDENCE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The Portfolio of Evidence runs itself</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A guided 37-item checklist, phone uploads to private cloud storage, in-app sign-off, one-click export.</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Guided POE checklist</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8 sections, 37 items — from certified ID to unit assignments.</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Upload from a phone</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Photos, PDFs and documents straight into private cloud storage.</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Review &amp; sign-off</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Assessors record competent / not-yet-competent on each item.</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One-click ZIP export</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A learner's complete portfolio in seconds — not days.</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Digital logbook</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Structured per-unit logbook, cloud-saved and printable.</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Dual accounting</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A coaching view plus a strict, auditable view for credits.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9</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ADMIN EXPERIENCE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Run the session from one screen</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Attendance, enrolment, onboarding and content — the daily mechanics of the course, automated.</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Digital attendance</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Signed on phones; ink extracted from a photographed signature.</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Print-perfect forms</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Pixel-accurate registers and registration forms, auto-filled.</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Digital enrolment</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Biographical form captured once — never re-typed.</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Onboarding pack</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Welcome document with calendar, POE guide and app how-to.</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Central content</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Upload decks and figures once — synced to every device.</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1-click broadcast</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One private message to every learner at once.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10</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ADMIN EXPERIENCE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See every learner, live</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A live cohort dashboard, automatic at-risk flags and drill-down to every learner's actual work.</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Cohort dashboard</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Completion, averages, attendance, last-seen and XP — one table.</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Early-warning flags</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At-risk learners flagged automatically, with reasons.</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Drill into anyone</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Every answer, upload and signed register on record.</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Compliance view</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Milestones and document completeness at a glance.</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CSV export</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Full analytics table for BI, board packs and SETA reports.</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Management reports</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Formal reports served in-app, Super User only.</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11</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ADMIN EXPERIENCE</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Audit-ready by default</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The paperwork a SETA / QCTO audit demands is generated, tracked and exportable — not reconstructed.</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Full audit trail</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Every action logged with actor and timestamp; CSV export.</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Certificates</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Statements of results and certificates, print-ready.</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Deliverables tracked</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Lesson plans and assessment records against deadlines.</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Evidence on demand</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Registers, forms and logbooks print like the originals.</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Moderation-ready POE</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Complete portfolio ZIPs with verdicts and sign-off history.</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Honest credit</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Claimed credits always match recorded evidence.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12</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TRUST</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Security enforced by the database</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Learner privacy and role separation are guaranteed at the data layer — even outside the app.</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Row-level security</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The database itself blocks access to other learners' data.</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5-tier role system</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Every screen, action and report adapts to the role.</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Private storage</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Evidence behind authentication — no public links.</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Everything audited</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Submissions, messages and sign-offs logged with timestamps.</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Account lifecycle</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Sign-up, password recovery, promotion — self-service.</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POPIA-conscious</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Personal-data reports served privately to authorised staff.</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13</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PLATFORM</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Works everywhere, maintains itself</a:t>
            </a:r>
            <a:endParaRPr lang="en-US" sz="3000" dirty="0"/>
          </a:p>
        </p:txBody>
      </p:sp>
      <p:sp>
        <p:nvSpPr>
          <p:cNvPr id="7" name="Text 4"/>
          <p:cNvSpPr/>
          <p:nvPr/>
        </p:nvSpPr>
        <p:spPr>
          <a:xfrm>
            <a:off x="502920" y="1316736"/>
            <a:ext cx="11183112" cy="56692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An installable web app with offline support and central updates — nothing for IT to deploy or patch.</a:t>
            </a:r>
            <a:endParaRPr lang="en-US" sz="1800" dirty="0"/>
          </a:p>
        </p:txBody>
      </p:sp>
      <p:sp>
        <p:nvSpPr>
          <p:cNvPr id="8" name="Shape 5"/>
          <p:cNvSpPr/>
          <p:nvPr/>
        </p:nvSpPr>
        <p:spPr>
          <a:xfrm>
            <a:off x="502920"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7512" y="2103120"/>
            <a:ext cx="329184" cy="329184"/>
          </a:xfrm>
          <a:prstGeom prst="rect">
            <a:avLst/>
          </a:prstGeom>
        </p:spPr>
      </p:pic>
      <p:sp>
        <p:nvSpPr>
          <p:cNvPr id="10" name="Text 6"/>
          <p:cNvSpPr/>
          <p:nvPr/>
        </p:nvSpPr>
        <p:spPr>
          <a:xfrm>
            <a:off x="1088136"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Installs like an app</a:t>
            </a:r>
            <a:endParaRPr lang="en-US" sz="2000" dirty="0"/>
          </a:p>
        </p:txBody>
      </p:sp>
      <p:sp>
        <p:nvSpPr>
          <p:cNvPr id="11" name="Text 7"/>
          <p:cNvSpPr/>
          <p:nvPr/>
        </p:nvSpPr>
        <p:spPr>
          <a:xfrm>
            <a:off x="667512"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Phone, tablet, laptop or desktop — no app store needed.</a:t>
            </a:r>
            <a:endParaRPr lang="en-US" sz="1800" dirty="0"/>
          </a:p>
        </p:txBody>
      </p:sp>
      <p:sp>
        <p:nvSpPr>
          <p:cNvPr id="12" name="Shape 8"/>
          <p:cNvSpPr/>
          <p:nvPr/>
        </p:nvSpPr>
        <p:spPr>
          <a:xfrm>
            <a:off x="4291584"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56176" y="2103120"/>
            <a:ext cx="329184" cy="329184"/>
          </a:xfrm>
          <a:prstGeom prst="rect">
            <a:avLst/>
          </a:prstGeom>
        </p:spPr>
      </p:pic>
      <p:sp>
        <p:nvSpPr>
          <p:cNvPr id="14" name="Text 9"/>
          <p:cNvSpPr/>
          <p:nvPr/>
        </p:nvSpPr>
        <p:spPr>
          <a:xfrm>
            <a:off x="4876800"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Works offline</a:t>
            </a:r>
            <a:endParaRPr lang="en-US" sz="2000" dirty="0"/>
          </a:p>
        </p:txBody>
      </p:sp>
      <p:sp>
        <p:nvSpPr>
          <p:cNvPr id="15" name="Text 10"/>
          <p:cNvSpPr/>
          <p:nvPr/>
        </p:nvSpPr>
        <p:spPr>
          <a:xfrm>
            <a:off x="4456176"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Local cache keeps studying alive; syncs on reconnect.</a:t>
            </a:r>
            <a:endParaRPr lang="en-US" sz="1800" dirty="0"/>
          </a:p>
        </p:txBody>
      </p:sp>
      <p:sp>
        <p:nvSpPr>
          <p:cNvPr id="16" name="Shape 11"/>
          <p:cNvSpPr/>
          <p:nvPr/>
        </p:nvSpPr>
        <p:spPr>
          <a:xfrm>
            <a:off x="8080248" y="19385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244840" y="2103120"/>
            <a:ext cx="329184" cy="329184"/>
          </a:xfrm>
          <a:prstGeom prst="rect">
            <a:avLst/>
          </a:prstGeom>
        </p:spPr>
      </p:pic>
      <p:sp>
        <p:nvSpPr>
          <p:cNvPr id="18" name="Text 12"/>
          <p:cNvSpPr/>
          <p:nvPr/>
        </p:nvSpPr>
        <p:spPr>
          <a:xfrm>
            <a:off x="8665464" y="20299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Real-time sync</a:t>
            </a:r>
            <a:endParaRPr lang="en-US" sz="2000" dirty="0"/>
          </a:p>
        </p:txBody>
      </p:sp>
      <p:sp>
        <p:nvSpPr>
          <p:cNvPr id="19" name="Text 13"/>
          <p:cNvSpPr/>
          <p:nvPr/>
        </p:nvSpPr>
        <p:spPr>
          <a:xfrm>
            <a:off x="8244840" y="26700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Start on a PC in class, finish on the phone at home.</a:t>
            </a:r>
            <a:endParaRPr lang="en-US" sz="1800" dirty="0"/>
          </a:p>
        </p:txBody>
      </p:sp>
      <p:sp>
        <p:nvSpPr>
          <p:cNvPr id="20" name="Shape 14"/>
          <p:cNvSpPr/>
          <p:nvPr/>
        </p:nvSpPr>
        <p:spPr>
          <a:xfrm>
            <a:off x="502920"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67512" y="3931920"/>
            <a:ext cx="329184" cy="329184"/>
          </a:xfrm>
          <a:prstGeom prst="rect">
            <a:avLst/>
          </a:prstGeom>
        </p:spPr>
      </p:pic>
      <p:sp>
        <p:nvSpPr>
          <p:cNvPr id="22" name="Text 15"/>
          <p:cNvSpPr/>
          <p:nvPr/>
        </p:nvSpPr>
        <p:spPr>
          <a:xfrm>
            <a:off x="1088136"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Zero-install updates</a:t>
            </a:r>
            <a:endParaRPr lang="en-US" sz="2000" dirty="0"/>
          </a:p>
        </p:txBody>
      </p:sp>
      <p:sp>
        <p:nvSpPr>
          <p:cNvPr id="23" name="Text 16"/>
          <p:cNvSpPr/>
          <p:nvPr/>
        </p:nvSpPr>
        <p:spPr>
          <a:xfrm>
            <a:off x="667512"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Everyone is on the latest version at next refresh.</a:t>
            </a:r>
            <a:endParaRPr lang="en-US" sz="1800" dirty="0"/>
          </a:p>
        </p:txBody>
      </p:sp>
      <p:sp>
        <p:nvSpPr>
          <p:cNvPr id="24" name="Shape 17"/>
          <p:cNvSpPr/>
          <p:nvPr/>
        </p:nvSpPr>
        <p:spPr>
          <a:xfrm>
            <a:off x="4291584"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456176" y="3931920"/>
            <a:ext cx="329184" cy="329184"/>
          </a:xfrm>
          <a:prstGeom prst="rect">
            <a:avLst/>
          </a:prstGeom>
        </p:spPr>
      </p:pic>
      <p:sp>
        <p:nvSpPr>
          <p:cNvPr id="26" name="Text 18"/>
          <p:cNvSpPr/>
          <p:nvPr/>
        </p:nvSpPr>
        <p:spPr>
          <a:xfrm>
            <a:off x="4876800"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Teams / Outlook</a:t>
            </a:r>
            <a:endParaRPr lang="en-US" sz="2000" dirty="0"/>
          </a:p>
        </p:txBody>
      </p:sp>
      <p:sp>
        <p:nvSpPr>
          <p:cNvPr id="27" name="Text 19"/>
          <p:cNvSpPr/>
          <p:nvPr/>
        </p:nvSpPr>
        <p:spPr>
          <a:xfrm>
            <a:off x="4456176"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Sessions deep-link into calendars — no API keys.</a:t>
            </a:r>
            <a:endParaRPr lang="en-US" sz="1800" dirty="0"/>
          </a:p>
        </p:txBody>
      </p:sp>
      <p:sp>
        <p:nvSpPr>
          <p:cNvPr id="28" name="Shape 20"/>
          <p:cNvSpPr/>
          <p:nvPr/>
        </p:nvSpPr>
        <p:spPr>
          <a:xfrm>
            <a:off x="8080248" y="3767328"/>
            <a:ext cx="3605784" cy="1645920"/>
          </a:xfrm>
          <a:prstGeom prst="roundRect">
            <a:avLst>
              <a:gd name="adj" fmla="val 50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9"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44840" y="3931920"/>
            <a:ext cx="329184" cy="329184"/>
          </a:xfrm>
          <a:prstGeom prst="rect">
            <a:avLst/>
          </a:prstGeom>
        </p:spPr>
      </p:pic>
      <p:sp>
        <p:nvSpPr>
          <p:cNvPr id="30" name="Text 21"/>
          <p:cNvSpPr/>
          <p:nvPr/>
        </p:nvSpPr>
        <p:spPr>
          <a:xfrm>
            <a:off x="8665464" y="3858768"/>
            <a:ext cx="2855976" cy="585216"/>
          </a:xfrm>
          <a:prstGeom prst="rect">
            <a:avLst/>
          </a:prstGeom>
          <a:noFill/>
          <a:ln/>
        </p:spPr>
        <p:txBody>
          <a:bodyPr wrap="square" rtlCol="0" anchor="ctr"/>
          <a:lstStyle/>
          <a:p>
            <a:pPr indent="0" marL="0">
              <a:lnSpc>
                <a:spcPct val="98000"/>
              </a:lnSpc>
              <a:buNone/>
            </a:pPr>
            <a:r>
              <a:rPr lang="en-US" sz="2000" b="1" dirty="0">
                <a:solidFill>
                  <a:srgbClr val="002050"/>
                </a:solidFill>
                <a:latin typeface="Aptos Display" pitchFamily="34" charset="0"/>
                <a:ea typeface="Aptos Display" pitchFamily="34" charset="-122"/>
                <a:cs typeface="Aptos Display" pitchFamily="34" charset="-120"/>
              </a:rPr>
              <a:t>Polished experience</a:t>
            </a:r>
            <a:endParaRPr lang="en-US" sz="2000" dirty="0"/>
          </a:p>
        </p:txBody>
      </p:sp>
      <p:sp>
        <p:nvSpPr>
          <p:cNvPr id="31" name="Text 22"/>
          <p:cNvSpPr/>
          <p:nvPr/>
        </p:nvSpPr>
        <p:spPr>
          <a:xfrm>
            <a:off x="8244840" y="4498848"/>
            <a:ext cx="3276600" cy="804672"/>
          </a:xfrm>
          <a:prstGeom prst="rect">
            <a:avLst/>
          </a:prstGeom>
          <a:noFill/>
          <a:ln/>
        </p:spPr>
        <p:txBody>
          <a:bodyPr wrap="square" rtlCol="0" anchor="t"/>
          <a:lstStyle/>
          <a:p>
            <a:pPr indent="0" marL="0">
              <a:lnSpc>
                <a:spcPct val="105000"/>
              </a:lnSpc>
              <a:buNone/>
            </a:pPr>
            <a:r>
              <a:rPr lang="en-US" sz="1800" dirty="0">
                <a:solidFill>
                  <a:srgbClr val="6B7280"/>
                </a:solidFill>
                <a:latin typeface="Aptos" pitchFamily="34" charset="0"/>
                <a:ea typeface="Aptos" pitchFamily="34" charset="-122"/>
                <a:cs typeface="Aptos" pitchFamily="34" charset="-120"/>
              </a:rPr>
              <a:t>Dark &amp; light themes and print-optimised output.</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14</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THE ERUDITIO PAYOFF</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Running the course: before and after</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183112" cy="914400"/>
        </p:xfrm>
        <a:graphic>
          <a:graphicData uri="http://schemas.openxmlformats.org/drawingml/2006/table">
            <a:tbl>
              <a:tblPr/>
              <a:tblGrid>
                <a:gridCol w="2651760"/>
                <a:gridCol w="4206240"/>
                <a:gridCol w="4325112"/>
              </a:tblGrid>
              <a:tr h="48463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Task</a:t>
                      </a:r>
                      <a:endParaRPr lang="en-US" sz="1800" dirty="0">
                        <a:latin typeface="Aptos Display" charset="0"/>
                        <a:ea typeface="Aptos Display" charset="0"/>
                        <a:cs typeface="Aptos Display"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The paper way</a:t>
                      </a:r>
                      <a:endParaRPr lang="en-US" sz="1800" dirty="0">
                        <a:latin typeface="Aptos Display" charset="0"/>
                        <a:ea typeface="Aptos Display" charset="0"/>
                        <a:cs typeface="Aptos Display"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With ITSS Learn</a:t>
                      </a:r>
                      <a:endParaRPr lang="en-US" sz="1800" dirty="0">
                        <a:latin typeface="Aptos Display" charset="0"/>
                        <a:ea typeface="Aptos Display" charset="0"/>
                        <a:cs typeface="Aptos Display"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484632">
                <a:tc>
                  <a:txBody>
                    <a:bodyPr/>
                    <a:lstStyle/>
                    <a:p>
                      <a:pPr indent="0" marL="0">
                        <a:buNone/>
                      </a:pPr>
                      <a:r>
                        <a:rPr lang="en-US" sz="1800" dirty="0">
                          <a:solidFill>
                            <a:srgbClr val="002050"/>
                          </a:solidFill>
                          <a:latin typeface="Aptos" pitchFamily="34" charset="0"/>
                          <a:ea typeface="Aptos" pitchFamily="34" charset="-122"/>
                          <a:cs typeface="Aptos" pitchFamily="34" charset="-120"/>
                        </a:rPr>
                        <a:t>Attendance</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Paper register chased and filed</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Signed on phones; prints itself</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84632">
                <a:tc>
                  <a:txBody>
                    <a:bodyPr/>
                    <a:lstStyle/>
                    <a:p>
                      <a:pPr indent="0" marL="0">
                        <a:buNone/>
                      </a:pPr>
                      <a:r>
                        <a:rPr lang="en-US" sz="1800" dirty="0">
                          <a:solidFill>
                            <a:srgbClr val="002050"/>
                          </a:solidFill>
                          <a:latin typeface="Aptos" pitchFamily="34" charset="0"/>
                          <a:ea typeface="Aptos" pitchFamily="34" charset="-122"/>
                          <a:cs typeface="Aptos" pitchFamily="34" charset="-120"/>
                        </a:rPr>
                        <a:t>Marking</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Evenings of hand-marking</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Instant — AI marks written work</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84632">
                <a:tc>
                  <a:txBody>
                    <a:bodyPr/>
                    <a:lstStyle/>
                    <a:p>
                      <a:pPr indent="0" marL="0">
                        <a:buNone/>
                      </a:pPr>
                      <a:r>
                        <a:rPr lang="en-US" sz="1800" dirty="0">
                          <a:solidFill>
                            <a:srgbClr val="002050"/>
                          </a:solidFill>
                          <a:latin typeface="Aptos" pitchFamily="34" charset="0"/>
                          <a:ea typeface="Aptos" pitchFamily="34" charset="-122"/>
                          <a:cs typeface="Aptos" pitchFamily="34" charset="-120"/>
                        </a:rPr>
                        <a:t>Progress capture</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Hand-updated spreadsheets</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Records itself as work is done</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84632">
                <a:tc>
                  <a:txBody>
                    <a:bodyPr/>
                    <a:lstStyle/>
                    <a:p>
                      <a:pPr indent="0" marL="0">
                        <a:buNone/>
                      </a:pPr>
                      <a:r>
                        <a:rPr lang="en-US" sz="1800" dirty="0">
                          <a:solidFill>
                            <a:srgbClr val="002050"/>
                          </a:solidFill>
                          <a:latin typeface="Aptos" pitchFamily="34" charset="0"/>
                          <a:ea typeface="Aptos" pitchFamily="34" charset="-122"/>
                          <a:cs typeface="Aptos" pitchFamily="34" charset="-120"/>
                        </a:rPr>
                        <a:t>At-risk learners</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Noticed at month-end — too late</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Flagged automatically, with reasons</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84632">
                <a:tc>
                  <a:txBody>
                    <a:bodyPr/>
                    <a:lstStyle/>
                    <a:p>
                      <a:pPr indent="0" marL="0">
                        <a:buNone/>
                      </a:pPr>
                      <a:r>
                        <a:rPr lang="en-US" sz="1800" dirty="0">
                          <a:solidFill>
                            <a:srgbClr val="002050"/>
                          </a:solidFill>
                          <a:latin typeface="Aptos" pitchFamily="34" charset="0"/>
                          <a:ea typeface="Aptos" pitchFamily="34" charset="-122"/>
                          <a:cs typeface="Aptos" pitchFamily="34" charset="-120"/>
                        </a:rPr>
                        <a:t>Moderation prep</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Days assembling paper portfolios</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One-click ZIP of the full POE</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84632">
                <a:tc>
                  <a:txBody>
                    <a:bodyPr/>
                    <a:lstStyle/>
                    <a:p>
                      <a:pPr indent="0" marL="0">
                        <a:buNone/>
                      </a:pPr>
                      <a:r>
                        <a:rPr lang="en-US" sz="1800" dirty="0">
                          <a:solidFill>
                            <a:srgbClr val="002050"/>
                          </a:solidFill>
                          <a:latin typeface="Aptos" pitchFamily="34" charset="0"/>
                          <a:ea typeface="Aptos" pitchFamily="34" charset="-122"/>
                          <a:cs typeface="Aptos" pitchFamily="34" charset="-120"/>
                        </a:rPr>
                        <a:t>Reporting</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Collating registers and marks</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CSV / PDF / ZIP on demand</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84632">
                <a:tc>
                  <a:txBody>
                    <a:bodyPr/>
                    <a:lstStyle/>
                    <a:p>
                      <a:pPr indent="0" marL="0">
                        <a:buNone/>
                      </a:pPr>
                      <a:r>
                        <a:rPr lang="en-US" sz="1800" dirty="0">
                          <a:solidFill>
                            <a:srgbClr val="002050"/>
                          </a:solidFill>
                          <a:latin typeface="Aptos" pitchFamily="34" charset="0"/>
                          <a:ea typeface="Aptos" pitchFamily="34" charset="-122"/>
                          <a:cs typeface="Aptos" pitchFamily="34" charset="-120"/>
                        </a:rPr>
                        <a:t>Onboarding</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Printed packs, re-typed forms</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Digital forms + welcome pack</a:t>
                      </a:r>
                      <a:endParaRPr lang="en-US" sz="1800" dirty="0">
                        <a:latin typeface="Aptos" charset="0"/>
                        <a:ea typeface="Aptos" charset="0"/>
                        <a:cs typeface="Aptos" charset="0"/>
                      </a:endParaRPr>
                    </a:p>
                  </a:txBody>
                  <a:tcPr marL="64008" marR="64008" marT="64008" marB="64008"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
        <p:nvSpPr>
          <p:cNvPr id="8" name="Text 4"/>
          <p:cNvSpPr/>
          <p:nvPr/>
        </p:nvSpPr>
        <p:spPr>
          <a:xfrm>
            <a:off x="502920" y="5669280"/>
            <a:ext cx="11183112" cy="411480"/>
          </a:xfrm>
          <a:prstGeom prst="rect">
            <a:avLst/>
          </a:prstGeom>
          <a:noFill/>
          <a:ln/>
        </p:spPr>
        <p:txBody>
          <a:bodyPr wrap="square" rtlCol="0" anchor="ctr"/>
          <a:lstStyle/>
          <a:p>
            <a:pPr indent="0" marL="0">
              <a:buNone/>
            </a:pPr>
            <a:r>
              <a:rPr lang="en-US" sz="1800" i="1" dirty="0">
                <a:solidFill>
                  <a:srgbClr val="6B7280"/>
                </a:solidFill>
                <a:latin typeface="Aptos" pitchFamily="34" charset="0"/>
                <a:ea typeface="Aptos" pitchFamily="34" charset="-122"/>
                <a:cs typeface="Aptos" pitchFamily="34" charset="-120"/>
              </a:rPr>
              <a:t>Staff hours go back into coaching — the platform does the capture, marking and filing.</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15</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Text 2"/>
          <p:cNvSpPr/>
          <p:nvPr/>
        </p:nvSpPr>
        <p:spPr>
          <a:xfrm>
            <a:off x="502920" y="237744"/>
            <a:ext cx="11183112" cy="347472"/>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SUMMARY</a:t>
            </a:r>
            <a:endParaRPr lang="en-US" sz="1800" dirty="0"/>
          </a:p>
        </p:txBody>
      </p:sp>
      <p:sp>
        <p:nvSpPr>
          <p:cNvPr id="6" name="Text 3"/>
          <p:cNvSpPr/>
          <p:nvPr/>
        </p:nvSpPr>
        <p:spPr>
          <a:xfrm>
            <a:off x="502920" y="585216"/>
            <a:ext cx="11183112" cy="731520"/>
          </a:xfrm>
          <a:prstGeom prst="rect">
            <a:avLst/>
          </a:prstGeom>
          <a:noFill/>
          <a:ln/>
        </p:spPr>
        <p:txBody>
          <a:bodyPr wrap="square" rtlCol="0" anchor="ctr"/>
          <a:lstStyle/>
          <a:p>
            <a:pPr indent="0" marL="0">
              <a:buNone/>
            </a:pPr>
            <a:r>
              <a:rPr lang="en-US" sz="3000" b="1" dirty="0">
                <a:solidFill>
                  <a:srgbClr val="002050"/>
                </a:solidFill>
                <a:latin typeface="Aptos Display" pitchFamily="34" charset="0"/>
                <a:ea typeface="Aptos Display" pitchFamily="34" charset="-122"/>
                <a:cs typeface="Aptos Display" pitchFamily="34" charset="-120"/>
              </a:rPr>
              <a:t>What each side gets</a:t>
            </a:r>
            <a:endParaRPr lang="en-US" sz="3000" dirty="0"/>
          </a:p>
        </p:txBody>
      </p:sp>
      <p:sp>
        <p:nvSpPr>
          <p:cNvPr id="7" name="Shape 4"/>
          <p:cNvSpPr/>
          <p:nvPr/>
        </p:nvSpPr>
        <p:spPr>
          <a:xfrm>
            <a:off x="502920" y="1572768"/>
            <a:ext cx="5454396" cy="4343400"/>
          </a:xfrm>
          <a:prstGeom prst="roundRect">
            <a:avLst>
              <a:gd name="adj" fmla="val 1895"/>
            </a:avLst>
          </a:prstGeom>
          <a:solidFill>
            <a:srgbClr val="F7FB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1810512"/>
            <a:ext cx="384048" cy="384048"/>
          </a:xfrm>
          <a:prstGeom prst="rect">
            <a:avLst/>
          </a:prstGeom>
        </p:spPr>
      </p:pic>
      <p:sp>
        <p:nvSpPr>
          <p:cNvPr id="9" name="Text 5"/>
          <p:cNvSpPr/>
          <p:nvPr/>
        </p:nvSpPr>
        <p:spPr>
          <a:xfrm>
            <a:off x="1234440" y="1792224"/>
            <a:ext cx="4539996" cy="438912"/>
          </a:xfrm>
          <a:prstGeom prst="rect">
            <a:avLst/>
          </a:prstGeom>
          <a:noFill/>
          <a:ln/>
        </p:spPr>
        <p:txBody>
          <a:bodyPr wrap="square" rtlCol="0" anchor="ctr"/>
          <a:lstStyle/>
          <a:p>
            <a:pPr indent="0" marL="0">
              <a:buNone/>
            </a:pPr>
            <a:r>
              <a:rPr lang="en-US" sz="2200" b="1" dirty="0">
                <a:solidFill>
                  <a:srgbClr val="002050"/>
                </a:solidFill>
                <a:latin typeface="Aptos Display" pitchFamily="34" charset="0"/>
                <a:ea typeface="Aptos Display" pitchFamily="34" charset="-122"/>
                <a:cs typeface="Aptos Display" pitchFamily="34" charset="-120"/>
              </a:rPr>
              <a:t>In learners' hands</a:t>
            </a:r>
            <a:endParaRPr lang="en-US" sz="2200" dirty="0"/>
          </a:p>
        </p:txBody>
      </p:sp>
      <p:sp>
        <p:nvSpPr>
          <p:cNvPr id="10" name="Text 6"/>
          <p:cNvSpPr/>
          <p:nvPr/>
        </p:nvSpPr>
        <p:spPr>
          <a:xfrm>
            <a:off x="777240" y="2395728"/>
            <a:ext cx="4905756" cy="3383280"/>
          </a:xfrm>
          <a:prstGeom prst="rect">
            <a:avLst/>
          </a:prstGeom>
          <a:noFill/>
          <a:ln/>
        </p:spPr>
        <p:txBody>
          <a:bodyPr wrap="square" rtlCol="0" anchor="t"/>
          <a:lstStyle/>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Learn, practise and submit from one app</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Instant marks with reasons — AI included</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Progress that updates itself</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Private chat, Q&amp;A, XP and leaderboard</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Sign the register in seconds</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Forms completed once, never re-written</a:t>
            </a:r>
            <a:endParaRPr lang="en-US" sz="1800" dirty="0"/>
          </a:p>
        </p:txBody>
      </p:sp>
      <p:sp>
        <p:nvSpPr>
          <p:cNvPr id="11" name="Shape 7"/>
          <p:cNvSpPr/>
          <p:nvPr/>
        </p:nvSpPr>
        <p:spPr>
          <a:xfrm>
            <a:off x="6231636" y="1572768"/>
            <a:ext cx="5454396" cy="4343400"/>
          </a:xfrm>
          <a:prstGeom prst="roundRect">
            <a:avLst>
              <a:gd name="adj" fmla="val 1895"/>
            </a:avLst>
          </a:prstGeom>
          <a:solidFill>
            <a:srgbClr val="F0FAF2"/>
          </a:solidFill>
          <a:ln w="12700">
            <a:solidFill>
              <a:srgbClr val="CFE9D6"/>
            </a:solidFill>
            <a:prstDash val="solid"/>
          </a:ln>
          <a:effectLst>
            <a:outerShdw sx="100000" sy="100000" kx="0" ky="0" algn="bl" rotWithShape="0" blurRad="88900" dist="25400" dir="5400000">
              <a:srgbClr val="9AB4CC">
                <a:alpha val="30000"/>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60236" y="1810512"/>
            <a:ext cx="384048" cy="384048"/>
          </a:xfrm>
          <a:prstGeom prst="rect">
            <a:avLst/>
          </a:prstGeom>
        </p:spPr>
      </p:pic>
      <p:sp>
        <p:nvSpPr>
          <p:cNvPr id="13" name="Text 8"/>
          <p:cNvSpPr/>
          <p:nvPr/>
        </p:nvSpPr>
        <p:spPr>
          <a:xfrm>
            <a:off x="6963156" y="1792224"/>
            <a:ext cx="4539996" cy="438912"/>
          </a:xfrm>
          <a:prstGeom prst="rect">
            <a:avLst/>
          </a:prstGeom>
          <a:noFill/>
          <a:ln/>
        </p:spPr>
        <p:txBody>
          <a:bodyPr wrap="square" rtlCol="0" anchor="ctr"/>
          <a:lstStyle/>
          <a:p>
            <a:pPr indent="0" marL="0">
              <a:buNone/>
            </a:pPr>
            <a:r>
              <a:rPr lang="en-US" sz="2200" b="1" dirty="0">
                <a:solidFill>
                  <a:srgbClr val="107C41"/>
                </a:solidFill>
                <a:latin typeface="Aptos Display" pitchFamily="34" charset="0"/>
                <a:ea typeface="Aptos Display" pitchFamily="34" charset="-122"/>
                <a:cs typeface="Aptos Display" pitchFamily="34" charset="-120"/>
              </a:rPr>
              <a:t>In your team's hands</a:t>
            </a:r>
            <a:endParaRPr lang="en-US" sz="2200" dirty="0"/>
          </a:p>
        </p:txBody>
      </p:sp>
      <p:sp>
        <p:nvSpPr>
          <p:cNvPr id="14" name="Text 9"/>
          <p:cNvSpPr/>
          <p:nvPr/>
        </p:nvSpPr>
        <p:spPr>
          <a:xfrm>
            <a:off x="6505956" y="2395728"/>
            <a:ext cx="4905756" cy="3383280"/>
          </a:xfrm>
          <a:prstGeom prst="rect">
            <a:avLst/>
          </a:prstGeom>
          <a:noFill/>
          <a:ln/>
        </p:spPr>
        <p:txBody>
          <a:bodyPr wrap="square" rtlCol="0" anchor="t"/>
          <a:lstStyle/>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Live answers, activity and risk status</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Zero manual marking or capture</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Audit-ready evidence on demand</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1-click CSV / PDF / ZIP for SETA &amp; QCTO</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Broadcasts and read-only moderation</a:t>
            </a:r>
            <a:endParaRPr lang="en-US" sz="1800" dirty="0"/>
          </a:p>
          <a:p>
            <a:pPr marL="177800" indent="-177800">
              <a:lnSpc>
                <a:spcPct val="150000"/>
              </a:lnSpc>
              <a:buSzPct val="100000"/>
              <a:buChar char="•"/>
            </a:pPr>
            <a:r>
              <a:rPr lang="en-US" sz="1800" dirty="0">
                <a:solidFill>
                  <a:srgbClr val="002050"/>
                </a:solidFill>
                <a:latin typeface="Aptos" pitchFamily="34" charset="0"/>
                <a:ea typeface="Aptos" pitchFamily="34" charset="-122"/>
                <a:cs typeface="Aptos" pitchFamily="34" charset="-120"/>
              </a:rPr>
              <a:t>Role control with a full audit trail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11045952" y="6437376"/>
            <a:ext cx="640080" cy="320040"/>
          </a:xfrm>
          <a:prstGeom prst="rect">
            <a:avLst/>
          </a:prstGeom>
          <a:noFill/>
          <a:ln/>
        </p:spPr>
        <p:txBody>
          <a:bodyPr wrap="square" rtlCol="0" anchor="ctr"/>
          <a:lstStyle/>
          <a:p>
            <a:pPr algn="r" indent="0" marL="0">
              <a:buNone/>
            </a:pPr>
            <a:r>
              <a:rPr lang="en-US" sz="1800" dirty="0">
                <a:solidFill>
                  <a:srgbClr val="6B7280"/>
                </a:solidFill>
                <a:latin typeface="Aptos" pitchFamily="34" charset="0"/>
                <a:ea typeface="Aptos" pitchFamily="34" charset="-122"/>
                <a:cs typeface="Aptos" pitchFamily="34" charset="-120"/>
              </a:rPr>
              <a:t>16</a:t>
            </a:r>
            <a:endParaRPr lang="en-US" sz="1800" dirty="0"/>
          </a:p>
        </p:txBody>
      </p:sp>
      <p:sp>
        <p:nvSpPr>
          <p:cNvPr id="3" name="Shape 1"/>
          <p:cNvSpPr/>
          <p:nvPr/>
        </p:nvSpPr>
        <p:spPr>
          <a:xfrm>
            <a:off x="0" y="0"/>
            <a:ext cx="12188952" cy="82296"/>
          </a:xfrm>
          <a:prstGeom prst="rect">
            <a:avLst/>
          </a:prstGeom>
          <a:solidFill>
            <a:srgbClr val="0F6CBD"/>
          </a:solidFill>
          <a:ln/>
        </p:spPr>
      </p:sp>
      <p:sp>
        <p:nvSpPr>
          <p:cNvPr id="5" name="Shape 2"/>
          <p:cNvSpPr/>
          <p:nvPr/>
        </p:nvSpPr>
        <p:spPr>
          <a:xfrm>
            <a:off x="0" y="0"/>
            <a:ext cx="12188952" cy="109728"/>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371600"/>
            <a:ext cx="594360" cy="594360"/>
          </a:xfrm>
          <a:prstGeom prst="rect">
            <a:avLst/>
          </a:prstGeom>
        </p:spPr>
      </p:pic>
      <p:sp>
        <p:nvSpPr>
          <p:cNvPr id="7" name="Text 3"/>
          <p:cNvSpPr/>
          <p:nvPr/>
        </p:nvSpPr>
        <p:spPr>
          <a:xfrm>
            <a:off x="502920" y="2103120"/>
            <a:ext cx="11183112" cy="1737360"/>
          </a:xfrm>
          <a:prstGeom prst="rect">
            <a:avLst/>
          </a:prstGeom>
          <a:noFill/>
          <a:ln/>
        </p:spPr>
        <p:txBody>
          <a:bodyPr wrap="square" rtlCol="0" anchor="ctr"/>
          <a:lstStyle/>
          <a:p>
            <a:pPr indent="0" marL="0">
              <a:lnSpc>
                <a:spcPct val="108000"/>
              </a:lnSpc>
              <a:buNone/>
            </a:pPr>
            <a:r>
              <a:rPr lang="en-US" sz="3600" b="1" dirty="0">
                <a:solidFill>
                  <a:srgbClr val="FFFFFF"/>
                </a:solidFill>
                <a:latin typeface="Aptos Display" pitchFamily="34" charset="0"/>
                <a:ea typeface="Aptos Display" pitchFamily="34" charset="-122"/>
                <a:cs typeface="Aptos Display" pitchFamily="34" charset="-120"/>
              </a:rPr>
              <a:t>It teaches, marks, tracks, communicates,</a:t>
            </a:r>
            <a:endParaRPr lang="en-US" sz="3600" dirty="0"/>
          </a:p>
          <a:p>
            <a:pPr indent="0" marL="0">
              <a:lnSpc>
                <a:spcPct val="108000"/>
              </a:lnSpc>
              <a:buNone/>
            </a:pPr>
            <a:r>
              <a:rPr lang="en-US" sz="3600" b="1" dirty="0">
                <a:solidFill>
                  <a:srgbClr val="FFFFFF"/>
                </a:solidFill>
                <a:latin typeface="Aptos Display" pitchFamily="34" charset="0"/>
                <a:ea typeface="Aptos Display" pitchFamily="34" charset="-122"/>
                <a:cs typeface="Aptos Display" pitchFamily="34" charset="-120"/>
              </a:rPr>
              <a:t>reports and audits — on its own.</a:t>
            </a:r>
            <a:endParaRPr lang="en-US" sz="3600" dirty="0"/>
          </a:p>
        </p:txBody>
      </p:sp>
      <p:sp>
        <p:nvSpPr>
          <p:cNvPr id="8" name="Text 4"/>
          <p:cNvSpPr/>
          <p:nvPr/>
        </p:nvSpPr>
        <p:spPr>
          <a:xfrm>
            <a:off x="502920" y="3931920"/>
            <a:ext cx="9509760" cy="914400"/>
          </a:xfrm>
          <a:prstGeom prst="rect">
            <a:avLst/>
          </a:prstGeom>
          <a:noFill/>
          <a:ln/>
        </p:spPr>
        <p:txBody>
          <a:bodyPr wrap="square" rtlCol="0" anchor="ctr"/>
          <a:lstStyle/>
          <a:p>
            <a:pPr indent="0" marL="0">
              <a:lnSpc>
                <a:spcPct val="120000"/>
              </a:lnSpc>
              <a:buNone/>
            </a:pPr>
            <a:r>
              <a:rPr lang="en-US" sz="2000" dirty="0">
                <a:solidFill>
                  <a:srgbClr val="B9D6F2"/>
                </a:solidFill>
                <a:latin typeface="Aptos" pitchFamily="34" charset="0"/>
                <a:ea typeface="Aptos" pitchFamily="34" charset="-122"/>
                <a:cs typeface="Aptos" pitchFamily="34" charset="-120"/>
              </a:rPr>
              <a:t>ITSS Learn is live today, running the National Certificate: IT Systems Support (NQF 5) end to end — ready to become Eruditio's digital delivery backbone.</a:t>
            </a:r>
            <a:endParaRPr lang="en-US" sz="2000" dirty="0"/>
          </a:p>
        </p:txBody>
      </p:sp>
      <p:sp>
        <p:nvSpPr>
          <p:cNvPr id="9" name="Shape 5"/>
          <p:cNvSpPr/>
          <p:nvPr/>
        </p:nvSpPr>
        <p:spPr>
          <a:xfrm>
            <a:off x="502920" y="5074920"/>
            <a:ext cx="5760720" cy="548640"/>
          </a:xfrm>
          <a:prstGeom prst="roundRect">
            <a:avLst>
              <a:gd name="adj" fmla="val 50000"/>
            </a:avLst>
          </a:prstGeom>
          <a:solidFill>
            <a:srgbClr val="0F6CBD"/>
          </a:solidFill>
          <a:ln/>
        </p:spPr>
      </p:sp>
      <p:sp>
        <p:nvSpPr>
          <p:cNvPr id="10" name="Text 6"/>
          <p:cNvSpPr/>
          <p:nvPr/>
        </p:nvSpPr>
        <p:spPr>
          <a:xfrm>
            <a:off x="502920" y="5074920"/>
            <a:ext cx="5760720" cy="548640"/>
          </a:xfrm>
          <a:prstGeom prst="rect">
            <a:avLst/>
          </a:prstGeom>
          <a:noFill/>
          <a:ln/>
        </p:spPr>
        <p:txBody>
          <a:bodyPr wrap="square" rtlCol="0" anchor="ctr"/>
          <a:lstStyle/>
          <a:p>
            <a:pPr algn="ctr" indent="0" marL="0">
              <a:buNone/>
            </a:pPr>
            <a:r>
              <a:rPr lang="en-US" sz="1800" b="1" dirty="0">
                <a:solidFill>
                  <a:srgbClr val="FFFFFF"/>
                </a:solidFill>
                <a:latin typeface="Aptos" pitchFamily="34" charset="0"/>
                <a:ea typeface="Aptos" pitchFamily="34" charset="-122"/>
                <a:cs typeface="Aptos" pitchFamily="34" charset="-120"/>
              </a:rPr>
              <a:t>Next step: a 30-minute live walkthrough</a:t>
            </a:r>
            <a:endParaRPr lang="en-US" sz="1800" dirty="0"/>
          </a:p>
        </p:txBody>
      </p:sp>
      <p:sp>
        <p:nvSpPr>
          <p:cNvPr id="11" name="Text 7"/>
          <p:cNvSpPr/>
          <p:nvPr/>
        </p:nvSpPr>
        <p:spPr>
          <a:xfrm>
            <a:off x="502920" y="6263640"/>
            <a:ext cx="11183112" cy="365760"/>
          </a:xfrm>
          <a:prstGeom prst="rect">
            <a:avLst/>
          </a:prstGeom>
          <a:noFill/>
          <a:ln/>
        </p:spPr>
        <p:txBody>
          <a:bodyPr wrap="square" rtlCol="0" anchor="ctr"/>
          <a:lstStyle/>
          <a:p>
            <a:pPr indent="0" marL="0">
              <a:buNone/>
            </a:pPr>
            <a:r>
              <a:rPr lang="en-US" sz="1800" dirty="0">
                <a:solidFill>
                  <a:srgbClr val="6E93BC"/>
                </a:solidFill>
                <a:latin typeface="Aptos" pitchFamily="34" charset="0"/>
                <a:ea typeface="Aptos" pitchFamily="34" charset="-122"/>
                <a:cs typeface="Aptos" pitchFamily="34" charset="-120"/>
              </a:rPr>
              <a:t>Eruditio × ITSS Learn · SAQA ID 48573 · QCTO / MICT SETA</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Eruditio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ITSS Learn for Eruditio — Problem &amp; Solution Pitch</dc:title>
  <dc:subject>How ITSS Learn solves Eruditio's learnership delivery, evidence and compliance challenges</dc:subject>
  <dc:creator>Andre Snell</dc:creator>
  <cp:lastModifiedBy>Andre Snell</cp:lastModifiedBy>
  <cp:revision>1</cp:revision>
  <dcterms:created xsi:type="dcterms:W3CDTF">2026-10-05T03:29:23Z</dcterms:created>
  <dcterms:modified xsi:type="dcterms:W3CDTF">2026-10-05T03:29:23Z</dcterms:modified>
</cp:coreProperties>
</file>